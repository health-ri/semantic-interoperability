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44"/>
  </p:notesMasterIdLst>
  <p:sldIdLst>
    <p:sldId id="256" r:id="rId5"/>
    <p:sldId id="470" r:id="rId6"/>
    <p:sldId id="425" r:id="rId7"/>
    <p:sldId id="457" r:id="rId8"/>
    <p:sldId id="356" r:id="rId9"/>
    <p:sldId id="378" r:id="rId10"/>
    <p:sldId id="2147472818" r:id="rId11"/>
    <p:sldId id="438" r:id="rId12"/>
    <p:sldId id="418" r:id="rId13"/>
    <p:sldId id="592" r:id="rId14"/>
    <p:sldId id="593" r:id="rId15"/>
    <p:sldId id="473" r:id="rId16"/>
    <p:sldId id="376" r:id="rId17"/>
    <p:sldId id="366" r:id="rId18"/>
    <p:sldId id="377" r:id="rId19"/>
    <p:sldId id="426" r:id="rId20"/>
    <p:sldId id="458" r:id="rId21"/>
    <p:sldId id="384" r:id="rId22"/>
    <p:sldId id="385" r:id="rId23"/>
    <p:sldId id="386" r:id="rId24"/>
    <p:sldId id="388" r:id="rId25"/>
    <p:sldId id="440" r:id="rId26"/>
    <p:sldId id="474" r:id="rId27"/>
    <p:sldId id="441" r:id="rId28"/>
    <p:sldId id="427" r:id="rId29"/>
    <p:sldId id="471" r:id="rId30"/>
    <p:sldId id="447" r:id="rId31"/>
    <p:sldId id="446" r:id="rId32"/>
    <p:sldId id="475" r:id="rId33"/>
    <p:sldId id="450" r:id="rId34"/>
    <p:sldId id="451" r:id="rId35"/>
    <p:sldId id="472" r:id="rId36"/>
    <p:sldId id="460" r:id="rId37"/>
    <p:sldId id="2147472821" r:id="rId38"/>
    <p:sldId id="455" r:id="rId39"/>
    <p:sldId id="2147472820" r:id="rId40"/>
    <p:sldId id="2147472814" r:id="rId41"/>
    <p:sldId id="2147472815" r:id="rId42"/>
    <p:sldId id="2147472816"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DF2BB9C-7D79-0E79-BA9A-4CC595044F8E}" name="Douwe Spaanderman (Health-RI)" initials="D(" userId="S::douwe.spaanderman@health-ri.nl::5a360af9-85f9-4284-9c15-810be2352c85" providerId="AD"/>
  <p188:author id="{9FA9BBA4-F686-BB8B-2EC0-40EB24FB56FC}" name="Pedro Paulo Favato Barcelos" initials="PB" userId="S::Pedro.Barcelos@health-ri.nl::f2dd2075-64ee-4747-932a-1cb86b6dbe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E4D9"/>
    <a:srgbClr val="E30614"/>
    <a:srgbClr val="F2F2F2"/>
    <a:srgbClr val="BCC1CB"/>
    <a:srgbClr val="FFFFFF"/>
    <a:srgbClr val="DEF1DC"/>
    <a:srgbClr val="15467B"/>
    <a:srgbClr val="000000"/>
    <a:srgbClr val="F8A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6484" autoAdjust="0"/>
  </p:normalViewPr>
  <p:slideViewPr>
    <p:cSldViewPr snapToGrid="0">
      <p:cViewPr varScale="1">
        <p:scale>
          <a:sx n="81" d="100"/>
          <a:sy n="81" d="100"/>
        </p:scale>
        <p:origin x="1056" y="84"/>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Use the correct sex/gender-related variable to create a cohort that can support trustworthy analysis.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Similar-looking variables across datasets may represent different meanings, making reuse risky.</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avoid risky reuse when similar-looking variables may represent different meanings?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Find the dataset column for biological sex so he can build a cohort that fits his research question.</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Several datasets appear relevant, but their sex/gender-related columns represent different meanings, making label-based selection unsafe.</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Which dataset contains the variable that represents biological sex?</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Apply reusable mappings to relate dataset variables, standard concepts, and explicit meanings.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The meanings are explicit and machine-readable, but these relationships must be captured as reusable mappings.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mappings turn these relationships into reusable knowledge?</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Query semantic context, mappings, and inferred knowledge to support data reuse decisions.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Amir needs to move from connected semantic knowledge to queries that support concrete reuse decisions.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query semantic knowledge to support practical data reuse decisions?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34801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Use the correct sex/gender-related variable to create a cohort that can support trustworthy analysis.</a:t>
          </a:r>
          <a:endParaRPr lang="en-NL" sz="1600" kern="1200" dirty="0"/>
        </a:p>
      </dsp:txBody>
      <dsp:txXfrm>
        <a:off x="0" y="348017"/>
        <a:ext cx="5610226" cy="957600"/>
      </dsp:txXfrm>
    </dsp:sp>
    <dsp:sp modelId="{1896D6C0-E9DC-4DD7-B530-F34E35DCE937}">
      <dsp:nvSpPr>
        <dsp:cNvPr id="0" name=""/>
        <dsp:cNvSpPr/>
      </dsp:nvSpPr>
      <dsp:spPr>
        <a:xfrm>
          <a:off x="280511" y="6757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7891" y="94957"/>
        <a:ext cx="3872398" cy="506120"/>
      </dsp:txXfrm>
    </dsp:sp>
    <dsp:sp modelId="{29199882-8BA9-4FD0-A527-B04ADB500502}">
      <dsp:nvSpPr>
        <dsp:cNvPr id="0" name=""/>
        <dsp:cNvSpPr/>
      </dsp:nvSpPr>
      <dsp:spPr>
        <a:xfrm>
          <a:off x="0" y="168865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Similar-looking variables across datasets may represent different meanings, making reuse risky.</a:t>
          </a:r>
          <a:endParaRPr lang="en-NL" sz="1600" kern="1200" dirty="0"/>
        </a:p>
      </dsp:txBody>
      <dsp:txXfrm>
        <a:off x="0" y="1688657"/>
        <a:ext cx="5610226" cy="957600"/>
      </dsp:txXfrm>
    </dsp:sp>
    <dsp:sp modelId="{0CF6AE3D-03CE-431F-A922-A447EA781693}">
      <dsp:nvSpPr>
        <dsp:cNvPr id="0" name=""/>
        <dsp:cNvSpPr/>
      </dsp:nvSpPr>
      <dsp:spPr>
        <a:xfrm>
          <a:off x="280511" y="140821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7891" y="1435597"/>
        <a:ext cx="3872398" cy="506120"/>
      </dsp:txXfrm>
    </dsp:sp>
    <dsp:sp modelId="{7270368B-11BF-43FD-856C-9A4B99956B80}">
      <dsp:nvSpPr>
        <dsp:cNvPr id="0" name=""/>
        <dsp:cNvSpPr/>
      </dsp:nvSpPr>
      <dsp:spPr>
        <a:xfrm>
          <a:off x="0" y="302929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avoid risky reuse when similar-looking variables may represent different meanings?</a:t>
          </a:r>
          <a:endParaRPr lang="en-NL" sz="1600" kern="1200" dirty="0"/>
        </a:p>
      </dsp:txBody>
      <dsp:txXfrm>
        <a:off x="0" y="3029297"/>
        <a:ext cx="5610226" cy="957600"/>
      </dsp:txXfrm>
    </dsp:sp>
    <dsp:sp modelId="{03B6A27A-BCF3-4996-BE8C-329DFF7660A8}">
      <dsp:nvSpPr>
        <dsp:cNvPr id="0" name=""/>
        <dsp:cNvSpPr/>
      </dsp:nvSpPr>
      <dsp:spPr>
        <a:xfrm>
          <a:off x="280511" y="274885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7891" y="2776237"/>
        <a:ext cx="387239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Find the dataset column for biological sex so he can build a cohort that fits his research question.</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Several datasets appear relevant, but their sex/gender-related columns represent different meanings, making label-based selection unsafe.</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Which dataset contains the variable that represents biological sex?</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Apply reusable mappings to relate dataset variables, standard concepts, and explicit meanings.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The meanings are explicit and machine-readable, but these relationships must be captured as reusable mappings.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mappings turn these relationships into reusable knowledge?</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Query semantic context, mappings, and inferred knowledge to support data reuse decisions.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Amir needs to move from connected semantic knowledge to queries that support concrete reuse decisions.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query semantic knowledge to support practical data reuse decisions?</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5/22/2026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a concrete user journey through a series of scenarios and show how meaning can be made explicit, compared,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introduce the primary user for the presentation: Dr. Amir Hassan, a researcher preparing to reuse health data for analysis.</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Before selecting or combining datasets, Amir needs to understand the landscape of related concepts. 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a:p>
            <a:endParaRPr lang="en-US" dirty="0"/>
          </a:p>
          <a:p>
            <a:r>
              <a:rPr lang="en-US" dirty="0"/>
              <a:t>This is the first step in Amir’s workflow toward a more defensible decision about data reuse.</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question explicit.</a:t>
            </a:r>
          </a:p>
          <a:p>
            <a:endParaRPr lang="en-US" dirty="0"/>
          </a:p>
          <a:p>
            <a:r>
              <a:rPr lang="en-US" dirty="0"/>
              <a:t>He wants to build a valid cohort by using the sex- or gender-related variable that best fits his research question.</a:t>
            </a:r>
          </a:p>
          <a:p>
            <a:endParaRPr lang="en-US" dirty="0"/>
          </a:p>
          <a:p>
            <a:r>
              <a:rPr lang="en-US" dirty="0"/>
              <a:t>The challenge is that several datasets may appear to contain similar information. But if those variables represent different meanings, treating them as equivalent could distort the study results.</a:t>
            </a:r>
          </a:p>
          <a:p>
            <a:endParaRPr lang="en-US" dirty="0"/>
          </a:p>
          <a:p>
            <a:r>
              <a:rPr lang="en-US" dirty="0"/>
              <a:t>So Amir’s guiding question is: how can he understand the relevant semantic differences before comparing or reusing these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24516494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is now looking at three illustrative dataset options. These are fictional examples, designed to make the scenario realistic while keeping the focus on the semantic problem.</a:t>
            </a:r>
          </a:p>
          <a:p>
            <a:endParaRPr lang="en-US" dirty="0"/>
          </a:p>
          <a:p>
            <a:r>
              <a:rPr lang="en-US" dirty="0"/>
              <a:t>The first dataset is the NPR Demographic Extract. It includes a variable from Care-SM: </a:t>
            </a:r>
            <a:r>
              <a:rPr lang="en-US" dirty="0" err="1"/>
              <a:t>care-sm:Sex</a:t>
            </a:r>
            <a:r>
              <a:rPr lang="en-US" dirty="0"/>
              <a:t>, labeled “Biological sex.”</a:t>
            </a:r>
          </a:p>
          <a:p>
            <a:endParaRPr lang="en-US" dirty="0"/>
          </a:p>
          <a:p>
            <a:r>
              <a:rPr lang="en-US" dirty="0"/>
              <a:t>The second is the Hospital Registration Extract. It includes an openEHR-based variable: </a:t>
            </a:r>
            <a:r>
              <a:rPr lang="en-US" dirty="0" err="1"/>
              <a:t>hri-openehr:legal-gender</a:t>
            </a:r>
            <a:r>
              <a:rPr lang="en-US" dirty="0"/>
              <a:t>, labeled “Legal gender.”</a:t>
            </a:r>
          </a:p>
          <a:p>
            <a:endParaRPr lang="en-US" dirty="0"/>
          </a:p>
          <a:p>
            <a:r>
              <a:rPr lang="en-US" dirty="0"/>
              <a:t>The third is the Administrative Intake Extract. It includes a LOINC variable, labeled “Administrative gender.”</a:t>
            </a:r>
          </a:p>
          <a:p>
            <a:endParaRPr lang="en-US" dirty="0"/>
          </a:p>
          <a:p>
            <a:r>
              <a:rPr lang="en-US" dirty="0"/>
              <a:t>At first glance, all three datasets seem relevant to Amir’s question. But they do not necessarily represent the same kind of information. This is the point Amir needs to clarify before deciding which dataset can support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5</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datasets now show why labels alone are not enough.</a:t>
            </a:r>
          </a:p>
          <a:p>
            <a:endParaRPr lang="en-US" dirty="0"/>
          </a:p>
          <a:p>
            <a:r>
              <a:rPr lang="en-US" dirty="0"/>
              <a:t>For example, the value “female” appears in more than one dataset. But “female” in a biological sex column is not necessarily equivalent to “female” in a legal gender column.</a:t>
            </a:r>
          </a:p>
          <a:p>
            <a:endParaRPr lang="en-US" dirty="0"/>
          </a:p>
          <a:p>
            <a:r>
              <a:rPr lang="en-US" dirty="0"/>
              <a:t>We also see related terms such as “man” and “male.” These may look similar,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Amir should not only ask whether labels match. He needs to know whether the underlying meanings align.</a:t>
            </a:r>
          </a:p>
          <a:p>
            <a:endParaRPr lang="en-US" dirty="0"/>
          </a:p>
          <a:p>
            <a:r>
              <a:rPr lang="en-US"/>
              <a:t>This is why precise and explicit definitions are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male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can see that sex and gender are not single, uniform meanings. Each can be specialized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The Health-RI Ontology makes the intended meanings of variables precise and explicit. It uses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the HRIO taxonomies for sex and gender.</a:t>
            </a:r>
          </a:p>
          <a:p>
            <a:endParaRPr lang="en-US"/>
          </a:p>
          <a:p>
            <a:r>
              <a:rPr lang="en-US"/>
              <a:t>The details of the diagrams are not the main focus at this point. What this slide shows is that HRIO organizes these meanings into clear taxonomies.</a:t>
            </a:r>
          </a:p>
          <a:p>
            <a:endParaRPr lang="en-US"/>
          </a:p>
          <a:p>
            <a:r>
              <a:rPr lang="en-US"/>
              <a:t>Instead of treating all sex- and gender-related variables as one flat group, HRIO separates them into precise categories and makes their distinctions explicit.</a:t>
            </a:r>
          </a:p>
          <a:p>
            <a:endParaRPr lang="en-US"/>
          </a:p>
          <a:p>
            <a:r>
              <a:rPr lang="en-US"/>
              <a:t>This gives Amir a reference structure for asking better questions. For example, instead of simply asking for “gender,” he can now see that there are different kinds of gender-related concepts, connected in different ways, and identify which one best fits his study.</a:t>
            </a:r>
            <a:endParaRPr lang="en-US" dirty="0"/>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The Care-SM variable, labeled “Biological sex,” is linked to HRIO’s Sex concept. The openEHR-based variable, labeled “Legal gender,” is linked to HRIO’s Legal Gender concept. And the LOINC variable, labeled “Administrative gender,” is linked to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moving from conceptual clarification to dataset selection.</a:t>
            </a:r>
          </a:p>
          <a:p>
            <a:endParaRPr lang="en-US" dirty="0"/>
          </a:p>
          <a:p>
            <a:r>
              <a:rPr lang="en-US" dirty="0"/>
              <a:t>For Amir, the issue is no longer only whether meanings differ. The next question is how those clarified meanings can help him identify the dataset that fits his study.</a:t>
            </a:r>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16</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scenario, Amir wants to identify the datasets that contain the right variable for his study: a column representing biological sex.</a:t>
            </a:r>
          </a:p>
          <a:p>
            <a:endParaRPr lang="en-US" dirty="0"/>
          </a:p>
          <a:p>
            <a:r>
              <a:rPr lang="en-US" dirty="0"/>
              <a:t>Several datasets may look relevant at first glance. They all contain sex- or gender-related columns, and some of their values may look familiar. But Amir knows that visible labels alone are not enough.</a:t>
            </a:r>
          </a:p>
          <a:p>
            <a:endParaRPr lang="en-US" dirty="0"/>
          </a:p>
          <a:p>
            <a:r>
              <a:rPr lang="en-US" dirty="0"/>
              <a:t>So the guiding question becomes: which datasets contain the variable that actually represents biological sex?</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2737149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standard concept.</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3914237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a:t>
            </a:r>
          </a:p>
          <a:p>
            <a:endParaRPr lang="en-US" dirty="0"/>
          </a:p>
          <a:p>
            <a:r>
              <a:rPr lang="en-US" dirty="0"/>
              <a:t>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becomes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1418327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20</a:t>
            </a:fld>
            <a:endParaRPr lang="en-US" dirty="0"/>
          </a:p>
        </p:txBody>
      </p:sp>
    </p:spTree>
    <p:extLst>
      <p:ext uri="{BB962C8B-B14F-4D97-AF65-F5344CB8AC3E}">
        <p14:creationId xmlns:p14="http://schemas.microsoft.com/office/powerpoint/2010/main" val="30447075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2429760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we introduced HRIO as a way to support conceptual clarification: meanings are made precise and explicit.</a:t>
            </a:r>
          </a:p>
          <a:p>
            <a:endParaRPr lang="en-US" dirty="0"/>
          </a:p>
          <a:p>
            <a:r>
              <a:rPr lang="en-US" dirty="0"/>
              <a:t>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24</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pPr rtl="0"/>
            <a:r>
              <a:rPr lang="en-US" sz="1200" kern="1200" dirty="0">
                <a:solidFill>
                  <a:schemeClr val="tx1"/>
                </a:solidFill>
                <a:latin typeface="+mn-lt"/>
                <a:ea typeface="+mn-ea"/>
                <a:cs typeface="+mn-cs"/>
              </a:rPr>
              <a:t>Scenario 3 introduces mappings as reusable knowledge for data reuse.</a:t>
            </a:r>
          </a:p>
          <a:p>
            <a:pPr rtl="0"/>
            <a:endParaRPr lang="en-US" sz="1200" kern="1200" dirty="0">
              <a:solidFill>
                <a:schemeClr val="tx1"/>
              </a:solidFill>
              <a:latin typeface="+mn-lt"/>
              <a:ea typeface="+mn-ea"/>
              <a:cs typeface="+mn-cs"/>
            </a:endParaRPr>
          </a:p>
          <a:p>
            <a:pPr rtl="0"/>
            <a:r>
              <a:rPr lang="en-US" sz="1200" kern="1200" dirty="0">
                <a:solidFill>
                  <a:schemeClr val="tx1"/>
                </a:solidFill>
                <a:latin typeface="+mn-lt"/>
                <a:ea typeface="+mn-ea"/>
                <a:cs typeface="+mn-cs"/>
              </a:rPr>
              <a:t>In Scenario 2, Amir used explicit meanings to identify the dataset column that represents biological sex. The next step is to reuse existing mapping knowledge.</a:t>
            </a:r>
          </a:p>
          <a:p>
            <a:pPr rtl="0"/>
            <a:endParaRPr lang="en-US" sz="1200" kern="1200" dirty="0">
              <a:solidFill>
                <a:schemeClr val="tx1"/>
              </a:solidFill>
              <a:latin typeface="+mn-lt"/>
              <a:ea typeface="+mn-ea"/>
              <a:cs typeface="+mn-cs"/>
            </a:endParaRPr>
          </a:p>
          <a:p>
            <a:pPr rtl="0"/>
            <a:r>
              <a:rPr lang="en-US" sz="1200" kern="1200" dirty="0">
                <a:solidFill>
                  <a:schemeClr val="tx1"/>
                </a:solidFill>
                <a:latin typeface="+mn-lt"/>
                <a:ea typeface="+mn-ea"/>
                <a:cs typeface="+mn-cs"/>
              </a:rPr>
              <a:t>In this scenario, Amir will use external mappings not as isolated links, but as resources that can support later reuse decisions.</a:t>
            </a:r>
            <a:endParaRPr lang="en-US"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25</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Amir’s goal and challenge in Scenario 3.</a:t>
            </a:r>
          </a:p>
          <a:p>
            <a:endParaRPr lang="en-US" dirty="0"/>
          </a:p>
          <a:p>
            <a:r>
              <a:rPr lang="en-US" dirty="0"/>
              <a:t>Amir wants to apply reusable mappings to relate dataset variables, standard concepts, and explicit meanings. The meanings are already clear and machine-readable, but the relationships between them still need to be captured in a reusable form.</a:t>
            </a:r>
          </a:p>
          <a:p>
            <a:endParaRPr lang="en-US" dirty="0"/>
          </a:p>
          <a:p>
            <a:r>
              <a:rPr lang="en-US" dirty="0"/>
              <a:t>So the guiding question is: how can mappings turn these relationships into reusable knowledge, rather than leaving Amir dependent on one-off comparisons between individual concepts or datasets?</a:t>
            </a:r>
          </a:p>
        </p:txBody>
      </p:sp>
      <p:sp>
        <p:nvSpPr>
          <p:cNvPr id="4" name="Slide Number Placeholder 3"/>
          <p:cNvSpPr>
            <a:spLocks noGrp="1"/>
          </p:cNvSpPr>
          <p:nvPr>
            <p:ph type="sldNum" sz="quarter" idx="5"/>
          </p:nvPr>
        </p:nvSpPr>
        <p:spPr/>
        <p:txBody>
          <a:bodyPr/>
          <a:lstStyle/>
          <a:p>
            <a:fld id="{4B725628-3A68-42F4-BA86-981817953149}" type="slidenum">
              <a:rPr lang="en-US" smtClean="0"/>
              <a:t>26</a:t>
            </a:fld>
            <a:endParaRPr lang="en-US" dirty="0"/>
          </a:p>
        </p:txBody>
      </p:sp>
    </p:spTree>
    <p:extLst>
      <p:ext uri="{BB962C8B-B14F-4D97-AF65-F5344CB8AC3E}">
        <p14:creationId xmlns:p14="http://schemas.microsoft.com/office/powerpoint/2010/main" val="818712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external mappings available to Amir in Scenario 3.</a:t>
            </a:r>
          </a:p>
          <a:p>
            <a:endParaRPr lang="en-US" dirty="0"/>
          </a:p>
          <a:p>
            <a:r>
              <a:rPr lang="en-US" dirty="0"/>
              <a:t>The three original datasets remain the starting point. What changes here is the addition of mapping sets from different communities, including clinical research standards, administrative gender standards, and Dutch health data stewardship.</a:t>
            </a:r>
          </a:p>
          <a:p>
            <a:endParaRPr lang="en-US" dirty="0"/>
          </a:p>
          <a:p>
            <a:r>
              <a:rPr lang="en-US" dirty="0"/>
              <a:t>These mapping sets provide existing links between dataset variables, standard concepts, and related representations.</a:t>
            </a:r>
          </a:p>
          <a:p>
            <a:endParaRPr lang="en-US" dirty="0"/>
          </a:p>
          <a:p>
            <a:r>
              <a:rPr lang="en-US" dirty="0"/>
              <a:t>In the next slides, we will use them to show how Amir can reuse existing mapping knowledge.</a:t>
            </a:r>
          </a:p>
        </p:txBody>
      </p:sp>
      <p:sp>
        <p:nvSpPr>
          <p:cNvPr id="4" name="Slide Number Placeholder 3"/>
          <p:cNvSpPr>
            <a:spLocks noGrp="1"/>
          </p:cNvSpPr>
          <p:nvPr>
            <p:ph type="sldNum" sz="quarter" idx="5"/>
          </p:nvPr>
        </p:nvSpPr>
        <p:spPr/>
        <p:txBody>
          <a:bodyPr/>
          <a:lstStyle/>
          <a:p>
            <a:fld id="{4B725628-3A68-42F4-BA86-981817953149}" type="slidenum">
              <a:rPr lang="en-US" smtClean="0"/>
              <a:t>27</a:t>
            </a:fld>
            <a:endParaRPr lang="en-US" dirty="0"/>
          </a:p>
        </p:txBody>
      </p:sp>
    </p:spTree>
    <p:extLst>
      <p:ext uri="{BB962C8B-B14F-4D97-AF65-F5344CB8AC3E}">
        <p14:creationId xmlns:p14="http://schemas.microsoft.com/office/powerpoint/2010/main" val="2579184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concepts in the mapping sets are represented as letters so that the mapping structure is easier to see.</a:t>
            </a:r>
          </a:p>
          <a:p>
            <a:endParaRPr lang="en-US" dirty="0"/>
          </a:p>
          <a:p>
            <a:r>
              <a:rPr lang="en-US" dirty="0"/>
              <a:t>The main point is that pairwise mappings create a network of concept-to-concept links. To assess reuse, Amir may need to reconstruct a path by following several mappings from one concept to another. In the current network, the path from E to A already takes three steps. When another concept is added, as illustrated by J, the path can become even longer.</a:t>
            </a:r>
          </a:p>
          <a:p>
            <a:endParaRPr lang="en-US" dirty="0"/>
          </a:p>
          <a:p>
            <a:r>
              <a:rPr lang="en-US" dirty="0"/>
              <a:t>The problem is not only the number of steps. A path may look like evidence of semantic alignment, but it only shows that concepts are connected through mappings. It does not guarantee that the intended meaning is preserved from end to end. If the mappings are fragile or driven mainly by labels rather than explicit meanings, Amir cannot safely rely on that path for reuse decisions.</a:t>
            </a:r>
          </a:p>
          <a:p>
            <a:endParaRPr lang="en-US" dirty="0"/>
          </a:p>
          <a:p>
            <a:r>
              <a:rPr lang="en-US" dirty="0"/>
              <a:t>This same risk compounds as the network grows. Each new concept can introduce more paths that appear to support reuse, while still depending on the quality of each pairwise mapping. The result is a network that becomes harder to scale, harder to maintain, and harder to interpret safely.</a:t>
            </a:r>
          </a:p>
        </p:txBody>
      </p:sp>
      <p:sp>
        <p:nvSpPr>
          <p:cNvPr id="4" name="Slide Number Placeholder 3"/>
          <p:cNvSpPr>
            <a:spLocks noGrp="1"/>
          </p:cNvSpPr>
          <p:nvPr>
            <p:ph type="sldNum" sz="quarter" idx="5"/>
          </p:nvPr>
        </p:nvSpPr>
        <p:spPr/>
        <p:txBody>
          <a:bodyPr/>
          <a:lstStyle/>
          <a:p>
            <a:fld id="{4B725628-3A68-42F4-BA86-981817953149}" type="slidenum">
              <a:rPr lang="en-US" smtClean="0"/>
              <a:t>28</a:t>
            </a:fld>
            <a:endParaRPr lang="en-US" dirty="0"/>
          </a:p>
        </p:txBody>
      </p:sp>
    </p:spTree>
    <p:extLst>
      <p:ext uri="{BB962C8B-B14F-4D97-AF65-F5344CB8AC3E}">
        <p14:creationId xmlns:p14="http://schemas.microsoft.com/office/powerpoint/2010/main" val="2168020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introduce the third deliverable of the initiative: the Health-RI SSSOM Mapping Set.</a:t>
            </a:r>
          </a:p>
          <a:p>
            <a:endParaRPr lang="en-US" dirty="0"/>
          </a:p>
          <a:p>
            <a:r>
              <a:rPr lang="en-US" dirty="0"/>
              <a:t>This is a curated collection of mappings that links external terms, dataset variables, and standard concepts to explicit HRIO meanings. It uses SSSOM as a structured, machine-readable format, so the mappings can be published, inspected, and reused.</a:t>
            </a:r>
          </a:p>
          <a:p>
            <a:endParaRPr lang="en-US" dirty="0"/>
          </a:p>
          <a:p>
            <a:r>
              <a:rPr lang="en-US" dirty="0"/>
              <a:t>This matters because mapping knowledge becomes an explicit artifact. Amir does not only see an isolated connection; he can rely on a traceable mapping record as part of a more defensible reuse decision.</a:t>
            </a:r>
          </a:p>
        </p:txBody>
      </p:sp>
      <p:sp>
        <p:nvSpPr>
          <p:cNvPr id="4" name="Slide Number Placeholder 3"/>
          <p:cNvSpPr>
            <a:spLocks noGrp="1"/>
          </p:cNvSpPr>
          <p:nvPr>
            <p:ph type="sldNum" sz="quarter" idx="5"/>
          </p:nvPr>
        </p:nvSpPr>
        <p:spPr/>
        <p:txBody>
          <a:bodyPr/>
          <a:lstStyle/>
          <a:p>
            <a:fld id="{4B725628-3A68-42F4-BA86-981817953149}" type="slidenum">
              <a:rPr lang="en-US" smtClean="0"/>
              <a:t>29</a:t>
            </a:fld>
            <a:endParaRPr lang="en-US" dirty="0"/>
          </a:p>
        </p:txBody>
      </p:sp>
    </p:spTree>
    <p:extLst>
      <p:ext uri="{BB962C8B-B14F-4D97-AF65-F5344CB8AC3E}">
        <p14:creationId xmlns:p14="http://schemas.microsoft.com/office/powerpoint/2010/main" val="2933766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DFB1-7F0B-7FCF-72FA-A6F8C25E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4772-FC0B-4591-DD7A-E82215525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3E085-85FA-6084-4C07-5C7B0CEB78AE}"/>
              </a:ext>
            </a:extLst>
          </p:cNvPr>
          <p:cNvSpPr>
            <a:spLocks noGrp="1"/>
          </p:cNvSpPr>
          <p:nvPr>
            <p:ph type="body" idx="1"/>
          </p:nvPr>
        </p:nvSpPr>
        <p:spPr/>
        <p:txBody>
          <a:bodyPr/>
          <a:lstStyle/>
          <a:p>
            <a:r>
              <a:rPr lang="en-US" dirty="0"/>
              <a:t>This slide shows the architecture proposed by the initiative: a move from pairwise mappings to a meaning-based hub-and-spoke structure.</a:t>
            </a:r>
          </a:p>
          <a:p>
            <a:endParaRPr lang="en-US" dirty="0"/>
          </a:p>
          <a:p>
            <a:r>
              <a:rPr lang="en-US" dirty="0"/>
              <a:t>In the previous slide, Amir had to follow chains of mappings from one concept to another. Here, the meaning layer becomes the central access point. Each standard concept connects to an explicit meaning, and concepts can then be compared through that shared semantic hub.</a:t>
            </a:r>
          </a:p>
          <a:p>
            <a:endParaRPr lang="en-US" dirty="0"/>
          </a:p>
          <a:p>
            <a:r>
              <a:rPr lang="en-US" dirty="0"/>
              <a:t>This makes reuse paths shorter and more predictable. The path from E to A is now two steps. And if a new concept is added later, as illustrated by J, it can also connect through the meaning layer without creating a longer chain of pairwise mappings.</a:t>
            </a:r>
          </a:p>
          <a:p>
            <a:endParaRPr lang="en-US" dirty="0"/>
          </a:p>
          <a:p>
            <a:r>
              <a:rPr lang="en-US" dirty="0"/>
              <a:t>This makes the mapping structure easier to interpret, easier to maintain, and more scalable for future reuse.</a:t>
            </a:r>
            <a:endParaRPr lang="en-NL" dirty="0"/>
          </a:p>
        </p:txBody>
      </p:sp>
      <p:sp>
        <p:nvSpPr>
          <p:cNvPr id="4" name="Slide Number Placeholder 3">
            <a:extLst>
              <a:ext uri="{FF2B5EF4-FFF2-40B4-BE49-F238E27FC236}">
                <a16:creationId xmlns:a16="http://schemas.microsoft.com/office/drawing/2014/main" id="{25A4FCA8-E5ED-5515-6615-BDC4057C8583}"/>
              </a:ext>
            </a:extLst>
          </p:cNvPr>
          <p:cNvSpPr>
            <a:spLocks noGrp="1"/>
          </p:cNvSpPr>
          <p:nvPr>
            <p:ph type="sldNum" sz="quarter" idx="5"/>
          </p:nvPr>
        </p:nvSpPr>
        <p:spPr/>
        <p:txBody>
          <a:bodyPr/>
          <a:lstStyle/>
          <a:p>
            <a:fld id="{4B725628-3A68-42F4-BA86-981817953149}" type="slidenum">
              <a:rPr lang="en-US" smtClean="0"/>
              <a:t>30</a:t>
            </a:fld>
            <a:endParaRPr lang="en-US" dirty="0"/>
          </a:p>
        </p:txBody>
      </p:sp>
    </p:spTree>
    <p:extLst>
      <p:ext uri="{BB962C8B-B14F-4D97-AF65-F5344CB8AC3E}">
        <p14:creationId xmlns:p14="http://schemas.microsoft.com/office/powerpoint/2010/main" val="1602718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D2CC-4923-08DF-2D75-F4184D44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8C4A-AA7A-AE08-B579-0A59E6368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913D-ABA4-8B92-6D9C-9EAF9130E62B}"/>
              </a:ext>
            </a:extLst>
          </p:cNvPr>
          <p:cNvSpPr>
            <a:spLocks noGrp="1"/>
          </p:cNvSpPr>
          <p:nvPr>
            <p:ph type="body" idx="1"/>
          </p:nvPr>
        </p:nvSpPr>
        <p:spPr/>
        <p:txBody>
          <a:bodyPr/>
          <a:lstStyle/>
          <a:p>
            <a:r>
              <a:rPr lang="en-US" dirty="0"/>
              <a:t>We now return to Amir’s case and use the semantic relations to assess reuse.</a:t>
            </a:r>
          </a:p>
          <a:p>
            <a:endParaRPr lang="en-US" dirty="0"/>
          </a:p>
          <a:p>
            <a:r>
              <a:rPr lang="en-US" dirty="0"/>
              <a:t>The result is clear. The biological sex variable does not align with the gender-based variables. Legal gender and administrative gender are related, but only partially aligned.</a:t>
            </a:r>
          </a:p>
          <a:p>
            <a:endParaRPr lang="en-US" dirty="0"/>
          </a:p>
          <a:p>
            <a:r>
              <a:rPr lang="en-US" dirty="0"/>
              <a:t>This is the key conclusion of Scenario 3. The mappings do not simply show that concepts are connected. They help Amir distinguish where variables align, where they only partially overlap, and where reuse should be ruled out.</a:t>
            </a:r>
          </a:p>
          <a:p>
            <a:endParaRPr lang="en-US" dirty="0"/>
          </a:p>
          <a:p>
            <a:r>
              <a:rPr lang="en-US" dirty="0"/>
              <a:t>With this, Amir can move from interpreting individual mappings to using mapping knowledge as reusable evidence for safer data reuse decisions.</a:t>
            </a:r>
            <a:endParaRPr lang="en-NL" dirty="0"/>
          </a:p>
        </p:txBody>
      </p:sp>
      <p:sp>
        <p:nvSpPr>
          <p:cNvPr id="4" name="Slide Number Placeholder 3">
            <a:extLst>
              <a:ext uri="{FF2B5EF4-FFF2-40B4-BE49-F238E27FC236}">
                <a16:creationId xmlns:a16="http://schemas.microsoft.com/office/drawing/2014/main" id="{B246BF1B-CEF1-D4F8-370B-4FCA4918010D}"/>
              </a:ext>
            </a:extLst>
          </p:cNvPr>
          <p:cNvSpPr>
            <a:spLocks noGrp="1"/>
          </p:cNvSpPr>
          <p:nvPr>
            <p:ph type="sldNum" sz="quarter" idx="5"/>
          </p:nvPr>
        </p:nvSpPr>
        <p:spPr/>
        <p:txBody>
          <a:bodyPr/>
          <a:lstStyle/>
          <a:p>
            <a:fld id="{4B725628-3A68-42F4-BA86-981817953149}" type="slidenum">
              <a:rPr lang="en-US" smtClean="0"/>
              <a:t>31</a:t>
            </a:fld>
            <a:endParaRPr lang="en-US" dirty="0"/>
          </a:p>
        </p:txBody>
      </p:sp>
    </p:spTree>
    <p:extLst>
      <p:ext uri="{BB962C8B-B14F-4D97-AF65-F5344CB8AC3E}">
        <p14:creationId xmlns:p14="http://schemas.microsoft.com/office/powerpoint/2010/main" val="3578971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2555-3006-BD34-ECD4-80A781C8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D376E-A88C-1AEB-9067-DFD7D59E4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32AA3-64F2-9CD2-71F3-0D10914F025D}"/>
              </a:ext>
            </a:extLst>
          </p:cNvPr>
          <p:cNvSpPr>
            <a:spLocks noGrp="1"/>
          </p:cNvSpPr>
          <p:nvPr>
            <p:ph type="body" idx="1"/>
          </p:nvPr>
        </p:nvSpPr>
        <p:spPr/>
        <p:txBody>
          <a:bodyPr/>
          <a:lstStyle/>
          <a:p>
            <a:r>
              <a:rPr lang="en-US" dirty="0"/>
              <a:t>We now enter the final scenario.</a:t>
            </a:r>
          </a:p>
          <a:p>
            <a:endParaRPr lang="en-US" dirty="0"/>
          </a:p>
          <a:p>
            <a:r>
              <a:rPr lang="en-US" dirty="0"/>
              <a:t>So far, Amir has built the semantic context needed for reuse. He has clarified the meanings of the variables, identified which ones match his study needs, and used mappings to distinguish alignment, partial overlap, and unsafe reuse.</a:t>
            </a:r>
          </a:p>
          <a:p>
            <a:endParaRPr lang="en-US" dirty="0"/>
          </a:p>
          <a:p>
            <a:r>
              <a:rPr lang="en-US" dirty="0"/>
              <a:t>Scenario 4 brings this context into action. Amir can now query the connected semantic knowledge to support concrete reuse decisions.</a:t>
            </a:r>
            <a:endParaRPr lang="en-NL" dirty="0"/>
          </a:p>
        </p:txBody>
      </p:sp>
      <p:sp>
        <p:nvSpPr>
          <p:cNvPr id="4" name="Slide Number Placeholder 3">
            <a:extLst>
              <a:ext uri="{FF2B5EF4-FFF2-40B4-BE49-F238E27FC236}">
                <a16:creationId xmlns:a16="http://schemas.microsoft.com/office/drawing/2014/main" id="{5D39C06D-53BD-334C-E283-66EE9C034D16}"/>
              </a:ext>
            </a:extLst>
          </p:cNvPr>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2894212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Amir’s final task explicit.</a:t>
            </a:r>
          </a:p>
          <a:p>
            <a:endParaRPr lang="en-US" dirty="0"/>
          </a:p>
          <a:p>
            <a:r>
              <a:rPr lang="en-US" dirty="0"/>
              <a:t>Amir now wants to query the available semantic knowledge: dataset variables, standard concepts, HRIO meanings, mappings, and inferred relations.</a:t>
            </a:r>
          </a:p>
          <a:p>
            <a:endParaRPr lang="en-US" dirty="0"/>
          </a:p>
          <a:p>
            <a:r>
              <a:rPr lang="en-US" dirty="0"/>
              <a:t>The challenge is to turn this connected knowledge into practical support for reuse decisions. Amir needs queries that can help him find relevant variables, compare concepts, and assess whether reuse is safe, partial, or inappropriate.</a:t>
            </a:r>
          </a:p>
          <a:p>
            <a:endParaRPr lang="en-US" dirty="0"/>
          </a:p>
          <a:p>
            <a:r>
              <a:rPr lang="en-US" dirty="0"/>
              <a:t>So the guiding question is: how can Amir query semantic knowledge to support practical data reuse decisions?</a:t>
            </a:r>
          </a:p>
        </p:txBody>
      </p:sp>
      <p:sp>
        <p:nvSpPr>
          <p:cNvPr id="4" name="Slide Number Placeholder 3"/>
          <p:cNvSpPr>
            <a:spLocks noGrp="1"/>
          </p:cNvSpPr>
          <p:nvPr>
            <p:ph type="sldNum" sz="quarter" idx="5"/>
          </p:nvPr>
        </p:nvSpPr>
        <p:spPr/>
        <p:txBody>
          <a:bodyPr/>
          <a:lstStyle/>
          <a:p>
            <a:fld id="{4B725628-3A68-42F4-BA86-981817953149}" type="slidenum">
              <a:rPr lang="en-US" smtClean="0"/>
              <a:t>33</a:t>
            </a:fld>
            <a:endParaRPr lang="en-US" dirty="0"/>
          </a:p>
        </p:txBody>
      </p:sp>
    </p:spTree>
    <p:extLst>
      <p:ext uri="{BB962C8B-B14F-4D97-AF65-F5344CB8AC3E}">
        <p14:creationId xmlns:p14="http://schemas.microsoft.com/office/powerpoint/2010/main" val="39308105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kinds of questions Amir can now ask with the connected semantic knowledge.</a:t>
            </a:r>
          </a:p>
          <a:p>
            <a:endParaRPr lang="en-US" dirty="0"/>
          </a:p>
          <a:p>
            <a:r>
              <a:rPr lang="en-US" dirty="0"/>
              <a:t>The four panels move from discovery to decision support. First, Amir can discover which meanings, variables, and standards are available. He can then retrieve patient records together with their dataset variable, standard concept, and meaning. Next, he can assess semantic compatibility: which variables align, which only partially overlap, and which should be ruled out. Finally, he can use inferred knowledge to discover reuse relations that were not stated directly.</a:t>
            </a:r>
          </a:p>
          <a:p>
            <a:endParaRPr lang="en-US" dirty="0"/>
          </a:p>
          <a:p>
            <a:r>
              <a:rPr lang="en-US" dirty="0"/>
              <a:t>The goal is not to walk through every example. The goal is to show that Amir can now ask more precise, traceable, and decision-oriented questions about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34</a:t>
            </a:fld>
            <a:endParaRPr lang="en-US" dirty="0"/>
          </a:p>
        </p:txBody>
      </p:sp>
    </p:spTree>
    <p:extLst>
      <p:ext uri="{BB962C8B-B14F-4D97-AF65-F5344CB8AC3E}">
        <p14:creationId xmlns:p14="http://schemas.microsoft.com/office/powerpoint/2010/main" val="258551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B4D5-6C00-C451-E0E6-AD5CA295E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478A7-4C55-2D1B-065F-2B9633C9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8C91-BC8D-8838-873F-E7F7852E98AA}"/>
              </a:ext>
            </a:extLst>
          </p:cNvPr>
          <p:cNvSpPr>
            <a:spLocks noGrp="1"/>
          </p:cNvSpPr>
          <p:nvPr>
            <p:ph type="body" idx="1"/>
          </p:nvPr>
        </p:nvSpPr>
        <p:spPr/>
        <p:txBody>
          <a:bodyPr/>
          <a:lstStyle/>
          <a:p>
            <a:r>
              <a:rPr lang="en-US" dirty="0"/>
              <a:t>This final slide closes Amir’s workflow.</a:t>
            </a:r>
          </a:p>
          <a:p>
            <a:endParaRPr lang="en-US" dirty="0"/>
          </a:p>
          <a:p>
            <a:r>
              <a:rPr lang="en-US" dirty="0"/>
              <a:t>He started with a common reuse problem: several datasets appeared to contain relevant sex- or gender-related variables, but their meanings were not necessarily the same.</a:t>
            </a:r>
          </a:p>
          <a:p>
            <a:endParaRPr lang="en-US" dirty="0"/>
          </a:p>
          <a:p>
            <a:r>
              <a:rPr lang="en-US" dirty="0"/>
              <a:t>Across the workflow, Amir moved from label-based uncertainty to explicit meanings, from conceptual clarification to dataset selection, from reusable mappings to query-supported reuse decisions.</a:t>
            </a:r>
          </a:p>
          <a:p>
            <a:endParaRPr lang="en-US" dirty="0"/>
          </a:p>
          <a:p>
            <a:r>
              <a:rPr lang="en-US" dirty="0"/>
              <a:t>The result is not just better documentation. Amir can use semantic knowledge as evidence for reuse: to find relevant variables, compare concepts, and assess where variables align, partially overlap, or should not be reused together.</a:t>
            </a:r>
          </a:p>
          <a:p>
            <a:endParaRPr lang="en-US" dirty="0"/>
          </a:p>
          <a:p>
            <a:r>
              <a:rPr lang="en-US" dirty="0"/>
              <a:t>That is the value of the workflow: data reuse decisions become more precise, more traceable, and more defensible.</a:t>
            </a:r>
            <a:endParaRPr lang="en-NL" dirty="0"/>
          </a:p>
        </p:txBody>
      </p:sp>
      <p:sp>
        <p:nvSpPr>
          <p:cNvPr id="4" name="Slide Number Placeholder 3">
            <a:extLst>
              <a:ext uri="{FF2B5EF4-FFF2-40B4-BE49-F238E27FC236}">
                <a16:creationId xmlns:a16="http://schemas.microsoft.com/office/drawing/2014/main" id="{E85AA02C-77E9-8175-2250-25174B19B15B}"/>
              </a:ext>
            </a:extLst>
          </p:cNvPr>
          <p:cNvSpPr>
            <a:spLocks noGrp="1"/>
          </p:cNvSpPr>
          <p:nvPr>
            <p:ph type="sldNum" sz="quarter" idx="5"/>
          </p:nvPr>
        </p:nvSpPr>
        <p:spPr/>
        <p:txBody>
          <a:bodyPr/>
          <a:lstStyle/>
          <a:p>
            <a:fld id="{4B725628-3A68-42F4-BA86-981817953149}" type="slidenum">
              <a:rPr lang="en-US" smtClean="0"/>
              <a:t>35</a:t>
            </a:fld>
            <a:endParaRPr lang="en-US" dirty="0"/>
          </a:p>
        </p:txBody>
      </p:sp>
    </p:spTree>
    <p:extLst>
      <p:ext uri="{BB962C8B-B14F-4D97-AF65-F5344CB8AC3E}">
        <p14:creationId xmlns:p14="http://schemas.microsoft.com/office/powerpoint/2010/main" val="3719483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a:t>
            </a:r>
          </a:p>
          <a:p>
            <a:endParaRPr lang="en-US" dirty="0"/>
          </a:p>
          <a:p>
            <a:r>
              <a:rPr lang="en-US" dirty="0"/>
              <a:t>You can find more information about the Health-RI Semantic Interoperability Initiative using the link or QR code shown on this slide.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36</a:t>
            </a:fld>
            <a:endParaRPr lang="en-US" dirty="0"/>
          </a:p>
        </p:txBody>
      </p:sp>
    </p:spTree>
    <p:extLst>
      <p:ext uri="{BB962C8B-B14F-4D97-AF65-F5344CB8AC3E}">
        <p14:creationId xmlns:p14="http://schemas.microsoft.com/office/powerpoint/2010/main" val="39100088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37</a:t>
            </a:fld>
            <a:endParaRPr lang="en-US" dirty="0"/>
          </a:p>
        </p:txBody>
      </p:sp>
    </p:spTree>
    <p:extLst>
      <p:ext uri="{BB962C8B-B14F-4D97-AF65-F5344CB8AC3E}">
        <p14:creationId xmlns:p14="http://schemas.microsoft.com/office/powerpoint/2010/main" val="39759021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38</a:t>
            </a:fld>
            <a:endParaRPr lang="en-US" dirty="0"/>
          </a:p>
        </p:txBody>
      </p:sp>
    </p:spTree>
    <p:extLst>
      <p:ext uri="{BB962C8B-B14F-4D97-AF65-F5344CB8AC3E}">
        <p14:creationId xmlns:p14="http://schemas.microsoft.com/office/powerpoint/2010/main" val="20127720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BE DONE.</a:t>
            </a:r>
            <a:endParaRPr lang="en-NL" dirty="0"/>
          </a:p>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39</a:t>
            </a:fld>
            <a:endParaRPr lang="en-US" dirty="0"/>
          </a:p>
        </p:txBody>
      </p:sp>
    </p:spTree>
    <p:extLst>
      <p:ext uri="{BB962C8B-B14F-4D97-AF65-F5344CB8AC3E}">
        <p14:creationId xmlns:p14="http://schemas.microsoft.com/office/powerpoint/2010/main" val="3175764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5/22/2026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5/22/2026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6.pn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6.png"/><Relationship Id="rId7" Type="http://schemas.openxmlformats.org/officeDocument/2006/relationships/diagramColors" Target="../diagrams/colors4.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6.png"/><Relationship Id="rId7" Type="http://schemas.openxmlformats.org/officeDocument/2006/relationships/diagramColors" Target="../diagrams/colors5.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3.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6.png"/><Relationship Id="rId7" Type="http://schemas.openxmlformats.org/officeDocument/2006/relationships/diagramColors" Target="../diagrams/colors6.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microsoft.com/office/2007/relationships/hdphoto" Target="../media/hdphoto2.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b="1" i="1" dirty="0">
                <a:solidFill>
                  <a:srgbClr val="FFFFFF"/>
                </a:solidFill>
              </a:rPr>
              <a:t>Pedro Paulo F. Barcelos</a:t>
            </a:r>
            <a:r>
              <a:rPr lang="en-US" sz="2000" i="1" dirty="0">
                <a:solidFill>
                  <a:srgbClr val="FFFFFF"/>
                </a:solidFill>
              </a:rPr>
              <a:t> {Pedro.Barcelos@health-ri.nl},</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a:t>
            </a:r>
          </a:p>
          <a:p>
            <a:pPr algn="r"/>
            <a:r>
              <a:rPr lang="en-US" sz="2000" i="1" dirty="0">
                <a:solidFill>
                  <a:srgbClr val="FFFFFF"/>
                </a:solidFill>
              </a:rPr>
              <a:t>Reinier Groeneveld, 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
        <p:nvSpPr>
          <p:cNvPr id="6" name="Octagon 5">
            <a:extLst>
              <a:ext uri="{FF2B5EF4-FFF2-40B4-BE49-F238E27FC236}">
                <a16:creationId xmlns:a16="http://schemas.microsoft.com/office/drawing/2014/main" id="{E4B55545-320B-558D-3386-5BD005DBB3FA}"/>
              </a:ext>
            </a:extLst>
          </p:cNvPr>
          <p:cNvSpPr/>
          <p:nvPr/>
        </p:nvSpPr>
        <p:spPr>
          <a:xfrm>
            <a:off x="3455720" y="2973923"/>
            <a:ext cx="2196935" cy="774162"/>
          </a:xfrm>
          <a:prstGeom prst="octagon">
            <a:avLst/>
          </a:prstGeom>
          <a:ln w="76200">
            <a:solidFill>
              <a:schemeClr val="accent1"/>
            </a:solidFill>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b="1" dirty="0"/>
              <a:t>Status:</a:t>
            </a:r>
            <a:r>
              <a:rPr lang="en-US" dirty="0"/>
              <a:t> paused as of May 1, 2026.</a:t>
            </a:r>
          </a:p>
        </p:txBody>
      </p:sp>
    </p:spTree>
    <p:extLst>
      <p:ext uri="{BB962C8B-B14F-4D97-AF65-F5344CB8AC3E}">
        <p14:creationId xmlns:p14="http://schemas.microsoft.com/office/powerpoint/2010/main" val="28062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4196"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variable for his study.</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1268209" y="5427622"/>
            <a:ext cx="4253103" cy="400110"/>
          </a:xfrm>
          <a:prstGeom prst="rect">
            <a:avLst/>
          </a:prstGeom>
          <a:solidFill>
            <a:schemeClr val="bg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15000"/>
            </a:schemeClr>
          </a:lnRef>
          <a:fillRef idx="1">
            <a:schemeClr val="dk1"/>
          </a:fillRef>
          <a:effectRef idx="0">
            <a:schemeClr val="dk1"/>
          </a:effectRef>
          <a:fontRef idx="minor">
            <a:schemeClr val="lt1"/>
          </a:fontRef>
        </p:style>
        <p:txBody>
          <a:bodyPr wrap="square" rtlCol="0" anchor="ctr">
            <a:spAutoFit/>
          </a:bodyPr>
          <a:lstStyle/>
          <a:p>
            <a:pPr algn="ctr"/>
            <a:r>
              <a:rPr lang="en-US" sz="2000" b="1" dirty="0">
                <a:solidFill>
                  <a:schemeClr val="accent1">
                    <a:lumMod val="50000"/>
                  </a:schemeClr>
                </a:solidFill>
                <a:latin typeface="Atkinson Hyperlegible" pitchFamily="2" charset="0"/>
              </a:rPr>
              <a:t>Dr. Amir Hassan — Researcher</a:t>
            </a:r>
            <a:endParaRPr lang="en-US" sz="2000" dirty="0">
              <a:solidFill>
                <a:schemeClr val="accent1">
                  <a:lumMod val="50000"/>
                </a:schemeClr>
              </a:solidFill>
              <a:latin typeface="Atkinson Hyperlegible" pitchFamily="2" charset="0"/>
            </a:endParaRPr>
          </a:p>
        </p:txBody>
      </p:sp>
    </p:spTree>
    <p:extLst>
      <p:ext uri="{BB962C8B-B14F-4D97-AF65-F5344CB8AC3E}">
        <p14:creationId xmlns:p14="http://schemas.microsoft.com/office/powerpoint/2010/main" val="2391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67D9D9-F5CF-9060-2A72-D314E2ACA508}"/>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3</a:t>
            </a:fld>
            <a:endParaRPr lang="en-US" dirty="0"/>
          </a:p>
        </p:txBody>
      </p:sp>
      <p:sp>
        <p:nvSpPr>
          <p:cNvPr id="56" name="Rectangle 55">
            <a:extLst>
              <a:ext uri="{FF2B5EF4-FFF2-40B4-BE49-F238E27FC236}">
                <a16:creationId xmlns:a16="http://schemas.microsoft.com/office/drawing/2014/main" id="{AF5941AA-173D-35AA-9986-4F36C3215CD4}"/>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58" name="Connector: Elbow 57">
            <a:extLst>
              <a:ext uri="{FF2B5EF4-FFF2-40B4-BE49-F238E27FC236}">
                <a16:creationId xmlns:a16="http://schemas.microsoft.com/office/drawing/2014/main" id="{2E0CB26B-C1DB-4B3D-640A-399DCC470432}"/>
              </a:ext>
            </a:extLst>
          </p:cNvPr>
          <p:cNvCxnSpPr>
            <a:cxnSpLocks/>
            <a:stCxn id="61" idx="1"/>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A38C2BAF-9008-D084-E1D7-B07D006DE2A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60" name="Freeform: Shape 59">
            <a:extLst>
              <a:ext uri="{FF2B5EF4-FFF2-40B4-BE49-F238E27FC236}">
                <a16:creationId xmlns:a16="http://schemas.microsoft.com/office/drawing/2014/main" id="{4B81EBE0-17DB-EB52-8615-4FB10AC7E195}"/>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1" name="Freeform: Shape 60">
            <a:extLst>
              <a:ext uri="{FF2B5EF4-FFF2-40B4-BE49-F238E27FC236}">
                <a16:creationId xmlns:a16="http://schemas.microsoft.com/office/drawing/2014/main" id="{99694235-D1F7-5123-D26B-7B18318B94BC}"/>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62" name="Freeform: Shape 61">
            <a:extLst>
              <a:ext uri="{FF2B5EF4-FFF2-40B4-BE49-F238E27FC236}">
                <a16:creationId xmlns:a16="http://schemas.microsoft.com/office/drawing/2014/main" id="{C5E5C407-26ED-742E-6EDA-EF2C49FFD02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65" name="Freeform: Shape 64">
            <a:extLst>
              <a:ext uri="{FF2B5EF4-FFF2-40B4-BE49-F238E27FC236}">
                <a16:creationId xmlns:a16="http://schemas.microsoft.com/office/drawing/2014/main" id="{4409DAD3-C5ED-26F6-AEA2-3B702ECFEDFF}"/>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u="none" kern="1200" dirty="0"/>
              <a:t>Scenario 2</a:t>
            </a:r>
            <a:endParaRPr lang="en-NL" sz="1200" b="0" u="none" kern="1200" dirty="0"/>
          </a:p>
        </p:txBody>
      </p:sp>
      <p:sp>
        <p:nvSpPr>
          <p:cNvPr id="64" name="Freeform: Shape 63">
            <a:extLst>
              <a:ext uri="{FF2B5EF4-FFF2-40B4-BE49-F238E27FC236}">
                <a16:creationId xmlns:a16="http://schemas.microsoft.com/office/drawing/2014/main" id="{D7688457-4D03-9DB0-0117-7FF0679BF5C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grpSp>
        <p:nvGrpSpPr>
          <p:cNvPr id="3" name="Group 2">
            <a:extLst>
              <a:ext uri="{FF2B5EF4-FFF2-40B4-BE49-F238E27FC236}">
                <a16:creationId xmlns:a16="http://schemas.microsoft.com/office/drawing/2014/main" id="{F5090104-3508-C574-F183-56B41790C724}"/>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05AF157E-08C4-D30A-4178-CAE703AB9A21}"/>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US" sz="1200" dirty="0">
                <a:solidFill>
                  <a:schemeClr val="accent1"/>
                </a:solidFill>
              </a:endParaRPr>
            </a:p>
          </p:txBody>
        </p:sp>
        <p:pic>
          <p:nvPicPr>
            <p:cNvPr id="6" name="Graphic 5" descr="Completed with solid fill">
              <a:extLst>
                <a:ext uri="{FF2B5EF4-FFF2-40B4-BE49-F238E27FC236}">
                  <a16:creationId xmlns:a16="http://schemas.microsoft.com/office/drawing/2014/main" id="{BED7C84B-566A-D08B-D686-56B1C4783A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
        <p:nvSpPr>
          <p:cNvPr id="10" name="Rectangle 9">
            <a:extLst>
              <a:ext uri="{FF2B5EF4-FFF2-40B4-BE49-F238E27FC236}">
                <a16:creationId xmlns:a16="http://schemas.microsoft.com/office/drawing/2014/main" id="{71E08B15-9613-B5B6-CCB6-E4C9C1D6E944}"/>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63" name="Freeform: Shape 62">
            <a:extLst>
              <a:ext uri="{FF2B5EF4-FFF2-40B4-BE49-F238E27FC236}">
                <a16:creationId xmlns:a16="http://schemas.microsoft.com/office/drawing/2014/main" id="{BC53090F-F62E-39E1-235B-630DF2BEBFE8}"/>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Tree>
    <p:extLst>
      <p:ext uri="{BB962C8B-B14F-4D97-AF65-F5344CB8AC3E}">
        <p14:creationId xmlns:p14="http://schemas.microsoft.com/office/powerpoint/2010/main" val="800951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64"/>
                                        </p:tgtEl>
                                      </p:cBhvr>
                                      <p:by x="125000" y="125000"/>
                                    </p:animScale>
                                  </p:childTnLst>
                                </p:cTn>
                              </p:par>
                              <p:par>
                                <p:cTn id="7" presetID="9" presetClass="emph" presetSubtype="0" grpId="0" nodeType="withEffect">
                                  <p:stCondLst>
                                    <p:cond delay="0"/>
                                  </p:stCondLst>
                                  <p:childTnLst>
                                    <p:set>
                                      <p:cBhvr>
                                        <p:cTn id="8" dur="indefinite"/>
                                        <p:tgtEl>
                                          <p:spTgt spid="65"/>
                                        </p:tgtEl>
                                        <p:attrNameLst>
                                          <p:attrName>style.opacity</p:attrName>
                                        </p:attrNameLst>
                                      </p:cBhvr>
                                      <p:to>
                                        <p:strVal val="0.5"/>
                                      </p:to>
                                    </p:set>
                                    <p:animEffect filter="image" prLst="opacity: 0.5">
                                      <p:cBhvr rctx="IE">
                                        <p:cTn id="9" dur="indefinite"/>
                                        <p:tgtEl>
                                          <p:spTgt spid="65"/>
                                        </p:tgtEl>
                                      </p:cBhvr>
                                    </p:animEffect>
                                  </p:childTnLst>
                                </p:cTn>
                              </p:par>
                              <p:par>
                                <p:cTn id="10" presetID="9" presetClass="emph" presetSubtype="0" grpId="0" nodeType="withEffect">
                                  <p:stCondLst>
                                    <p:cond delay="0"/>
                                  </p:stCondLst>
                                  <p:childTnLst>
                                    <p:set>
                                      <p:cBhvr>
                                        <p:cTn id="11" dur="indefinite"/>
                                        <p:tgtEl>
                                          <p:spTgt spid="62"/>
                                        </p:tgtEl>
                                        <p:attrNameLst>
                                          <p:attrName>style.opacity</p:attrName>
                                        </p:attrNameLst>
                                      </p:cBhvr>
                                      <p:to>
                                        <p:strVal val="0.5"/>
                                      </p:to>
                                    </p:set>
                                    <p:animEffect filter="image" prLst="opacity: 0.5">
                                      <p:cBhvr rctx="IE">
                                        <p:cTn id="12" dur="indefinite"/>
                                        <p:tgtEl>
                                          <p:spTgt spid="62"/>
                                        </p:tgtEl>
                                      </p:cBhvr>
                                    </p:animEffect>
                                  </p:childTnLst>
                                </p:cTn>
                              </p:par>
                              <p:par>
                                <p:cTn id="13" presetID="9" presetClass="emph" presetSubtype="0" grpId="0" nodeType="withEffect">
                                  <p:stCondLst>
                                    <p:cond delay="0"/>
                                  </p:stCondLst>
                                  <p:childTnLst>
                                    <p:set>
                                      <p:cBhvr>
                                        <p:cTn id="14" dur="indefinite"/>
                                        <p:tgtEl>
                                          <p:spTgt spid="63"/>
                                        </p:tgtEl>
                                        <p:attrNameLst>
                                          <p:attrName>style.opacity</p:attrName>
                                        </p:attrNameLst>
                                      </p:cBhvr>
                                      <p:to>
                                        <p:strVal val="0.5"/>
                                      </p:to>
                                    </p:set>
                                    <p:animEffect filter="image" prLst="opacity: 0.5">
                                      <p:cBhvr rctx="IE">
                                        <p:cTn id="15" dur="indefinite"/>
                                        <p:tgtEl>
                                          <p:spTgt spid="63"/>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5" grpId="0" animBg="1"/>
      <p:bldP spid="64" grpId="0" animBg="1"/>
      <p:bldP spid="6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A7E5-4080-A25A-79A2-61287E862279}"/>
              </a:ext>
            </a:extLst>
          </p:cNvPr>
          <p:cNvSpPr>
            <a:spLocks noGrp="1"/>
          </p:cNvSpPr>
          <p:nvPr>
            <p:ph type="title"/>
          </p:nvPr>
        </p:nvSpPr>
        <p:spPr>
          <a:xfrm>
            <a:off x="695327" y="386001"/>
            <a:ext cx="9296398" cy="929259"/>
          </a:xfrm>
        </p:spPr>
        <p:txBody>
          <a:bodyPr/>
          <a:lstStyle/>
          <a:p>
            <a:r>
              <a:rPr lang="en-US" sz="3600" dirty="0"/>
              <a:t>Scenario 1: Amir’s Question and Challenge</a:t>
            </a:r>
            <a:endParaRPr lang="en-NL" sz="3600" dirty="0"/>
          </a:p>
        </p:txBody>
      </p:sp>
      <p:sp>
        <p:nvSpPr>
          <p:cNvPr id="4" name="Slide Number Placeholder 3">
            <a:extLst>
              <a:ext uri="{FF2B5EF4-FFF2-40B4-BE49-F238E27FC236}">
                <a16:creationId xmlns:a16="http://schemas.microsoft.com/office/drawing/2014/main" id="{F0A66C19-BBA6-DAAC-13D6-57C7DFBC9A8A}"/>
              </a:ext>
            </a:extLst>
          </p:cNvPr>
          <p:cNvSpPr>
            <a:spLocks noGrp="1"/>
          </p:cNvSpPr>
          <p:nvPr>
            <p:ph type="sldNum" sz="quarter" idx="12"/>
          </p:nvPr>
        </p:nvSpPr>
        <p:spPr/>
        <p:txBody>
          <a:bodyPr/>
          <a:lstStyle/>
          <a:p>
            <a:fld id="{4FAB73BC-B049-4115-A692-8D63A059BFB8}" type="slidenum">
              <a:rPr lang="en-US" smtClean="0"/>
              <a:pPr/>
              <a:t>4</a:t>
            </a:fld>
            <a:endParaRPr lang="en-US" dirty="0"/>
          </a:p>
        </p:txBody>
      </p:sp>
      <p:pic>
        <p:nvPicPr>
          <p:cNvPr id="5" name="Picture 4">
            <a:extLst>
              <a:ext uri="{FF2B5EF4-FFF2-40B4-BE49-F238E27FC236}">
                <a16:creationId xmlns:a16="http://schemas.microsoft.com/office/drawing/2014/main" id="{8256AEAD-C060-1504-EFA0-F008E768897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3577E347-6D69-A479-0102-6572A3578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5CC4DFE0-4E79-1CDE-DC03-725E0EEDA845}"/>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455250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5</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err="1">
                  <a:solidFill>
                    <a:schemeClr val="tx1"/>
                  </a:solidFill>
                </a:rPr>
                <a:t>hri-openehr:legal-gender</a:t>
              </a:r>
              <a:endParaRPr lang="en-NL" sz="900" dirty="0">
                <a:solidFill>
                  <a:schemeClr val="tx1"/>
                </a:solidFill>
              </a:endParaRPr>
            </a:p>
            <a:p>
              <a:r>
                <a:rPr lang="en-US" sz="900" b="1" dirty="0">
                  <a:solidFill>
                    <a:schemeClr val="tx1"/>
                  </a:solidFill>
                </a:rPr>
                <a:t>("Legal gender"@</a:t>
              </a:r>
              <a:r>
                <a:rPr lang="en-US" sz="900" b="1" dirty="0" err="1">
                  <a:solidFill>
                    <a:schemeClr val="tx1"/>
                  </a:solidFill>
                </a:rPr>
                <a:t>en</a:t>
              </a:r>
              <a:r>
                <a:rPr lang="en-US" sz="900" b="1" dirty="0">
                  <a:solidFill>
                    <a:schemeClr val="tx1"/>
                  </a:solidFill>
                </a:rPr>
                <a:t>)</a:t>
              </a:r>
              <a:endParaRPr lang="en-NL" sz="9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F5E666-B4E5-5C50-A3F3-BC58DF6311A9}"/>
              </a:ext>
            </a:extLst>
          </p:cNvPr>
          <p:cNvSpPr>
            <a:spLocks noGrp="1"/>
          </p:cNvSpPr>
          <p:nvPr>
            <p:ph type="sldNum" sz="quarter" idx="12"/>
          </p:nvPr>
        </p:nvSpPr>
        <p:spPr/>
        <p:txBody>
          <a:bodyPr/>
          <a:lstStyle/>
          <a:p>
            <a:fld id="{4FAB73BC-B049-4115-A692-8D63A059BFB8}" type="slidenum">
              <a:rPr lang="en-US" smtClean="0"/>
              <a:pPr/>
              <a:t>10</a:t>
            </a:fld>
            <a:endParaRPr lang="en-US" dirty="0"/>
          </a:p>
        </p:txBody>
      </p:sp>
      <p:pic>
        <p:nvPicPr>
          <p:cNvPr id="18" name="Content Placeholder 17">
            <a:extLst>
              <a:ext uri="{FF2B5EF4-FFF2-40B4-BE49-F238E27FC236}">
                <a16:creationId xmlns:a16="http://schemas.microsoft.com/office/drawing/2014/main" id="{46FDB77C-2343-A0BC-226F-524CE8694947}"/>
              </a:ext>
            </a:extLst>
          </p:cNvPr>
          <p:cNvPicPr>
            <a:picLocks noGrp="1" noChangeAspect="1"/>
          </p:cNvPicPr>
          <p:nvPr>
            <p:ph idx="1"/>
          </p:nvPr>
        </p:nvPicPr>
        <p:blipFill>
          <a:blip r:embed="rId2"/>
          <a:stretch>
            <a:fillRect/>
          </a:stretch>
        </p:blipFill>
        <p:spPr>
          <a:xfrm>
            <a:off x="1942431" y="1628775"/>
            <a:ext cx="8307138" cy="4321175"/>
          </a:xfrm>
          <a:prstGeom prst="rect">
            <a:avLst/>
          </a:prstGeom>
        </p:spPr>
      </p:pic>
      <p:sp>
        <p:nvSpPr>
          <p:cNvPr id="7" name="Title 1">
            <a:extLst>
              <a:ext uri="{FF2B5EF4-FFF2-40B4-BE49-F238E27FC236}">
                <a16:creationId xmlns:a16="http://schemas.microsoft.com/office/drawing/2014/main" id="{A34F4622-91F6-AB25-4AB6-7259D147CCD9}"/>
              </a:ext>
            </a:extLst>
          </p:cNvPr>
          <p:cNvSpPr>
            <a:spLocks noGrp="1"/>
          </p:cNvSpPr>
          <p:nvPr>
            <p:ph type="title"/>
          </p:nvPr>
        </p:nvSpPr>
        <p:spPr>
          <a:xfrm>
            <a:off x="695325" y="385763"/>
            <a:ext cx="10801350" cy="930275"/>
          </a:xfrm>
        </p:spPr>
        <p:txBody>
          <a:bodyPr/>
          <a:lstStyle/>
          <a:p>
            <a:r>
              <a:rPr lang="en-US" sz="3600" dirty="0"/>
              <a:t>One Label, Many Possible Meanings</a:t>
            </a:r>
            <a:br>
              <a:rPr lang="en-US" sz="3600" dirty="0"/>
            </a:br>
            <a:r>
              <a:rPr lang="en-US" sz="2400" dirty="0">
                <a:solidFill>
                  <a:schemeClr val="accent6"/>
                </a:solidFill>
              </a:rPr>
              <a:t>unpacking meanings</a:t>
            </a:r>
            <a:endParaRPr lang="en-NL" sz="2400" dirty="0">
              <a:solidFill>
                <a:schemeClr val="accent6"/>
              </a:solidFill>
            </a:endParaRPr>
          </a:p>
        </p:txBody>
      </p:sp>
    </p:spTree>
    <p:extLst>
      <p:ext uri="{BB962C8B-B14F-4D97-AF65-F5344CB8AC3E}">
        <p14:creationId xmlns:p14="http://schemas.microsoft.com/office/powerpoint/2010/main" val="4146590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16671-620E-286D-3390-DCBBE47F2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87532-F3B9-3CC8-93CA-93408D5759AD}"/>
              </a:ext>
            </a:extLst>
          </p:cNvPr>
          <p:cNvSpPr>
            <a:spLocks noGrp="1"/>
          </p:cNvSpPr>
          <p:nvPr>
            <p:ph type="title"/>
          </p:nvPr>
        </p:nvSpPr>
        <p:spPr/>
        <p:txBody>
          <a:bodyPr/>
          <a:lstStyle/>
          <a:p>
            <a:r>
              <a:rPr lang="en-US" sz="3600" dirty="0"/>
              <a:t>One Label, Many Possible Meanings</a:t>
            </a:r>
            <a:br>
              <a:rPr lang="en-US" sz="3600" dirty="0"/>
            </a:br>
            <a:r>
              <a:rPr lang="en-US" sz="2400" dirty="0">
                <a:solidFill>
                  <a:schemeClr val="accent6"/>
                </a:solidFill>
              </a:rPr>
              <a:t>unpacking meanings</a:t>
            </a:r>
            <a:endParaRPr lang="en-NL" sz="2400" dirty="0">
              <a:solidFill>
                <a:schemeClr val="accent6"/>
              </a:solidFill>
            </a:endParaRPr>
          </a:p>
        </p:txBody>
      </p:sp>
      <p:sp>
        <p:nvSpPr>
          <p:cNvPr id="4" name="Slide Number Placeholder 3">
            <a:extLst>
              <a:ext uri="{FF2B5EF4-FFF2-40B4-BE49-F238E27FC236}">
                <a16:creationId xmlns:a16="http://schemas.microsoft.com/office/drawing/2014/main" id="{61C72438-64C1-64F4-83B7-D064B09E3584}"/>
              </a:ext>
            </a:extLst>
          </p:cNvPr>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18" name="Content Placeholder 17">
            <a:extLst>
              <a:ext uri="{FF2B5EF4-FFF2-40B4-BE49-F238E27FC236}">
                <a16:creationId xmlns:a16="http://schemas.microsoft.com/office/drawing/2014/main" id="{3E5205E8-0B8C-7494-DA35-D554B6426565}"/>
              </a:ext>
            </a:extLst>
          </p:cNvPr>
          <p:cNvPicPr>
            <a:picLocks noGrp="1" noChangeAspect="1"/>
          </p:cNvPicPr>
          <p:nvPr>
            <p:ph idx="1"/>
          </p:nvPr>
        </p:nvPicPr>
        <p:blipFill>
          <a:blip r:embed="rId2"/>
          <a:stretch>
            <a:fillRect/>
          </a:stretch>
        </p:blipFill>
        <p:spPr>
          <a:xfrm>
            <a:off x="1942431" y="1628775"/>
            <a:ext cx="8307138" cy="4321175"/>
          </a:xfrm>
          <a:prstGeom prst="rect">
            <a:avLst/>
          </a:prstGeom>
        </p:spPr>
      </p:pic>
      <p:sp>
        <p:nvSpPr>
          <p:cNvPr id="3" name="TextBox 2">
            <a:extLst>
              <a:ext uri="{FF2B5EF4-FFF2-40B4-BE49-F238E27FC236}">
                <a16:creationId xmlns:a16="http://schemas.microsoft.com/office/drawing/2014/main" id="{ECDC5BD4-558E-5ADA-5294-600101676E08}"/>
              </a:ext>
            </a:extLst>
          </p:cNvPr>
          <p:cNvSpPr txBox="1"/>
          <p:nvPr/>
        </p:nvSpPr>
        <p:spPr>
          <a:xfrm rot="19936175">
            <a:off x="936000" y="3886590"/>
            <a:ext cx="2542492" cy="892552"/>
          </a:xfrm>
          <a:prstGeom prst="rect">
            <a:avLst/>
          </a:prstGeom>
          <a:noFill/>
          <a:scene3d>
            <a:camera prst="orthographicFront">
              <a:rot lat="0" lon="0" rev="0"/>
            </a:camera>
            <a:lightRig rig="threePt" dir="t"/>
          </a:scene3d>
        </p:spPr>
        <p:txBody>
          <a:bodyPr wrap="none" rtlCol="0">
            <a:spAutoFit/>
          </a:bodyPr>
          <a:lstStyle/>
          <a:p>
            <a:pPr algn="ctr"/>
            <a:r>
              <a:rPr lang="en-US" sz="3200" b="1" dirty="0"/>
              <a:t>Patient</a:t>
            </a:r>
            <a:endParaRPr lang="en-US" sz="2000" b="1" dirty="0"/>
          </a:p>
          <a:p>
            <a:pPr algn="ctr"/>
            <a:r>
              <a:rPr lang="en-US" sz="2000" dirty="0"/>
              <a:t>(overloaded concept)</a:t>
            </a:r>
            <a:endParaRPr lang="en-NL" sz="2000" dirty="0"/>
          </a:p>
        </p:txBody>
      </p:sp>
      <p:sp>
        <p:nvSpPr>
          <p:cNvPr id="5" name="TextBox 4">
            <a:extLst>
              <a:ext uri="{FF2B5EF4-FFF2-40B4-BE49-F238E27FC236}">
                <a16:creationId xmlns:a16="http://schemas.microsoft.com/office/drawing/2014/main" id="{1662C1C0-502A-9A88-400A-CFF4CAB35CF9}"/>
              </a:ext>
            </a:extLst>
          </p:cNvPr>
          <p:cNvSpPr txBox="1"/>
          <p:nvPr/>
        </p:nvSpPr>
        <p:spPr>
          <a:xfrm>
            <a:off x="9321212" y="2980476"/>
            <a:ext cx="2610458" cy="2492990"/>
          </a:xfrm>
          <a:prstGeom prst="rect">
            <a:avLst/>
          </a:prstGeom>
          <a:solidFill>
            <a:schemeClr val="bg1"/>
          </a:solidFill>
        </p:spPr>
        <p:txBody>
          <a:bodyPr wrap="none" rtlCol="0" anchor="ctr">
            <a:spAutoFit/>
          </a:bodyPr>
          <a:lstStyle/>
          <a:p>
            <a:pPr marL="285750" indent="-285750">
              <a:spcBef>
                <a:spcPts val="600"/>
              </a:spcBef>
              <a:buFont typeface="Wingdings" panose="05000000000000000000" pitchFamily="2" charset="2"/>
              <a:buChar char="§"/>
            </a:pPr>
            <a:r>
              <a:rPr lang="en-US" dirty="0"/>
              <a:t>current care recipient</a:t>
            </a:r>
          </a:p>
          <a:p>
            <a:pPr marL="285750" indent="-285750">
              <a:spcBef>
                <a:spcPts val="600"/>
              </a:spcBef>
              <a:buFont typeface="Wingdings" panose="05000000000000000000" pitchFamily="2" charset="2"/>
              <a:buChar char="§"/>
            </a:pPr>
            <a:r>
              <a:rPr lang="en-US" dirty="0"/>
              <a:t>historical patient</a:t>
            </a:r>
          </a:p>
          <a:p>
            <a:pPr marL="285750" indent="-285750">
              <a:spcBef>
                <a:spcPts val="600"/>
              </a:spcBef>
              <a:buFont typeface="Wingdings" panose="05000000000000000000" pitchFamily="2" charset="2"/>
              <a:buChar char="§"/>
            </a:pPr>
            <a:r>
              <a:rPr lang="en-US" dirty="0"/>
              <a:t>registered patient</a:t>
            </a:r>
          </a:p>
          <a:p>
            <a:pPr marL="285750" indent="-285750">
              <a:spcBef>
                <a:spcPts val="600"/>
              </a:spcBef>
              <a:buFont typeface="Wingdings" panose="05000000000000000000" pitchFamily="2" charset="2"/>
              <a:buChar char="§"/>
            </a:pPr>
            <a:r>
              <a:rPr lang="en-US" dirty="0"/>
              <a:t>insured beneficiary</a:t>
            </a:r>
          </a:p>
          <a:p>
            <a:pPr marL="285750" indent="-285750">
              <a:spcBef>
                <a:spcPts val="600"/>
              </a:spcBef>
              <a:buFont typeface="Wingdings" panose="05000000000000000000" pitchFamily="2" charset="2"/>
              <a:buChar char="§"/>
            </a:pPr>
            <a:r>
              <a:rPr lang="en-US" dirty="0"/>
              <a:t>referred patient</a:t>
            </a:r>
          </a:p>
          <a:p>
            <a:pPr marL="285750" indent="-285750">
              <a:spcBef>
                <a:spcPts val="600"/>
              </a:spcBef>
              <a:buFont typeface="Wingdings" panose="05000000000000000000" pitchFamily="2" charset="2"/>
              <a:buChar char="§"/>
            </a:pPr>
            <a:r>
              <a:rPr lang="en-US" dirty="0"/>
              <a:t>admitted patient</a:t>
            </a:r>
          </a:p>
          <a:p>
            <a:pPr marL="285750" indent="-285750">
              <a:spcBef>
                <a:spcPts val="600"/>
              </a:spcBef>
              <a:buFont typeface="Wingdings" panose="05000000000000000000" pitchFamily="2" charset="2"/>
              <a:buChar char="§"/>
            </a:pPr>
            <a:r>
              <a:rPr lang="en-US" dirty="0"/>
              <a:t>waitlisted patient</a:t>
            </a:r>
          </a:p>
        </p:txBody>
      </p:sp>
      <p:sp>
        <p:nvSpPr>
          <p:cNvPr id="20" name="Rectangle 19">
            <a:extLst>
              <a:ext uri="{FF2B5EF4-FFF2-40B4-BE49-F238E27FC236}">
                <a16:creationId xmlns:a16="http://schemas.microsoft.com/office/drawing/2014/main" id="{050256AD-91E0-00E5-4A60-1173DAFC59C4}"/>
              </a:ext>
            </a:extLst>
          </p:cNvPr>
          <p:cNvSpPr/>
          <p:nvPr/>
        </p:nvSpPr>
        <p:spPr>
          <a:xfrm>
            <a:off x="5109882" y="5531224"/>
            <a:ext cx="1129553" cy="242047"/>
          </a:xfrm>
          <a:prstGeom prst="rect">
            <a:avLst/>
          </a:prstGeom>
          <a:gradFill>
            <a:gsLst>
              <a:gs pos="46000">
                <a:srgbClr val="79D4FA"/>
              </a:gs>
              <a:gs pos="0">
                <a:srgbClr val="7FD6FA"/>
              </a:gs>
              <a:gs pos="100000">
                <a:srgbClr val="77D9FF"/>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3A7AA3A0-F3EE-7BDF-A8EE-26A8328B427C}"/>
              </a:ext>
            </a:extLst>
          </p:cNvPr>
          <p:cNvSpPr/>
          <p:nvPr/>
        </p:nvSpPr>
        <p:spPr>
          <a:xfrm rot="19974011">
            <a:off x="1878872" y="4668876"/>
            <a:ext cx="1743075" cy="71437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0" name="TextBox 9">
            <a:extLst>
              <a:ext uri="{FF2B5EF4-FFF2-40B4-BE49-F238E27FC236}">
                <a16:creationId xmlns:a16="http://schemas.microsoft.com/office/drawing/2014/main" id="{42D48CFD-BA62-46E8-4996-2EC94B35421F}"/>
              </a:ext>
            </a:extLst>
          </p:cNvPr>
          <p:cNvSpPr txBox="1"/>
          <p:nvPr/>
        </p:nvSpPr>
        <p:spPr>
          <a:xfrm>
            <a:off x="5788611" y="1272566"/>
            <a:ext cx="6392277" cy="992579"/>
          </a:xfrm>
          <a:prstGeom prst="rect">
            <a:avLst/>
          </a:prstGeom>
          <a:noFill/>
          <a:ln>
            <a:noFill/>
          </a:ln>
          <a:effectLst>
            <a:innerShdw blurRad="63500" dist="50800" dir="13500000">
              <a:prstClr val="black">
                <a:alpha val="50000"/>
              </a:prstClr>
            </a:innerShdw>
          </a:effectLst>
        </p:spPr>
        <p:txBody>
          <a:bodyPr wrap="square">
            <a:spAutoFit/>
          </a:bodyPr>
          <a:lstStyle/>
          <a:p>
            <a:pPr algn="ctr"/>
            <a:r>
              <a:rPr lang="en-US" sz="2000" dirty="0">
                <a:latin typeface="Georgia Pro" panose="02040502050405020303" pitchFamily="18" charset="0"/>
                <a:ea typeface="Calibri" panose="020F0502020204030204" pitchFamily="34" charset="0"/>
                <a:cs typeface="Calibri" panose="020F0502020204030204" pitchFamily="34" charset="0"/>
              </a:rPr>
              <a:t>“The opposite of </a:t>
            </a:r>
            <a:r>
              <a:rPr lang="en-US" sz="2000" b="1" dirty="0">
                <a:solidFill>
                  <a:schemeClr val="accent4"/>
                </a:solidFill>
                <a:latin typeface="Georgia Pro" panose="02040502050405020303" pitchFamily="18" charset="0"/>
                <a:ea typeface="Calibri" panose="020F0502020204030204" pitchFamily="34" charset="0"/>
                <a:cs typeface="Calibri" panose="020F0502020204030204" pitchFamily="34" charset="0"/>
              </a:rPr>
              <a:t>ontology</a:t>
            </a:r>
            <a:r>
              <a:rPr lang="en-US" sz="2000" dirty="0">
                <a:latin typeface="Georgia Pro" panose="02040502050405020303" pitchFamily="18" charset="0"/>
                <a:ea typeface="Calibri" panose="020F0502020204030204" pitchFamily="34" charset="0"/>
                <a:cs typeface="Calibri" panose="020F0502020204030204" pitchFamily="34" charset="0"/>
              </a:rPr>
              <a:t> is not non-ontology, </a:t>
            </a:r>
          </a:p>
          <a:p>
            <a:pPr algn="ctr"/>
            <a:r>
              <a:rPr lang="en-US" sz="2000" dirty="0">
                <a:latin typeface="Georgia Pro" panose="02040502050405020303" pitchFamily="18" charset="0"/>
                <a:ea typeface="Calibri" panose="020F0502020204030204" pitchFamily="34" charset="0"/>
                <a:cs typeface="Calibri" panose="020F0502020204030204" pitchFamily="34" charset="0"/>
              </a:rPr>
              <a:t>but just </a:t>
            </a:r>
            <a:r>
              <a:rPr lang="en-US" sz="2000" b="1" dirty="0">
                <a:solidFill>
                  <a:schemeClr val="accent6"/>
                </a:solidFill>
                <a:latin typeface="Georgia Pro" panose="02040502050405020303" pitchFamily="18" charset="0"/>
                <a:ea typeface="Calibri" panose="020F0502020204030204" pitchFamily="34" charset="0"/>
                <a:cs typeface="Calibri" panose="020F0502020204030204" pitchFamily="34" charset="0"/>
              </a:rPr>
              <a:t>bad ontology</a:t>
            </a:r>
            <a:r>
              <a:rPr lang="en-US" sz="2000" dirty="0">
                <a:latin typeface="Georgia Pro" panose="02040502050405020303" pitchFamily="18" charset="0"/>
                <a:ea typeface="Calibri" panose="020F0502020204030204" pitchFamily="34" charset="0"/>
                <a:cs typeface="Calibri" panose="020F0502020204030204" pitchFamily="34" charset="0"/>
              </a:rPr>
              <a:t>.” </a:t>
            </a:r>
          </a:p>
          <a:p>
            <a:pPr algn="ctr">
              <a:spcBef>
                <a:spcPts val="300"/>
              </a:spcBef>
            </a:pPr>
            <a:r>
              <a:rPr lang="en-US" sz="1600" i="1" dirty="0">
                <a:latin typeface="Georgia Pro" panose="02040502050405020303" pitchFamily="18" charset="0"/>
                <a:ea typeface="Calibri" panose="020F0502020204030204" pitchFamily="34" charset="0"/>
                <a:cs typeface="Calibri" panose="020F0502020204030204" pitchFamily="34" charset="0"/>
              </a:rPr>
              <a:t>(prof. Guizzardi, creator of UFO and OntoUML)</a:t>
            </a:r>
            <a:endParaRPr lang="en-NL" sz="1600" i="1" dirty="0">
              <a:latin typeface="Georgia Pro" panose="02040502050405020303" pitchFamily="18"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08D7195A-4693-8462-1E47-BFFC0F3FEF0C}"/>
              </a:ext>
            </a:extLst>
          </p:cNvPr>
          <p:cNvSpPr txBox="1"/>
          <p:nvPr/>
        </p:nvSpPr>
        <p:spPr>
          <a:xfrm>
            <a:off x="695324" y="1628775"/>
            <a:ext cx="4414557" cy="400110"/>
          </a:xfrm>
          <a:prstGeom prst="rect">
            <a:avLst/>
          </a:prstGeom>
          <a:noFill/>
          <a:ln>
            <a:noFill/>
          </a:ln>
          <a:effectLst>
            <a:innerShdw blurRad="63500" dist="50800" dir="13500000">
              <a:prstClr val="black">
                <a:alpha val="50000"/>
              </a:prstClr>
            </a:innerShdw>
          </a:effectLst>
        </p:spPr>
        <p:txBody>
          <a:bodyPr wrap="square">
            <a:spAutoFit/>
          </a:bodyPr>
          <a:lstStyle>
            <a:defPPr>
              <a:defRPr lang="en-US"/>
            </a:defPPr>
            <a:lvl1pPr algn="ctr">
              <a:defRPr sz="2000">
                <a:latin typeface="Georgia Pro" panose="02040502050405020303" pitchFamily="18" charset="0"/>
                <a:ea typeface="Calibri" panose="020F0502020204030204" pitchFamily="34" charset="0"/>
                <a:cs typeface="Calibri" panose="020F0502020204030204" pitchFamily="34" charset="0"/>
              </a:defRPr>
            </a:lvl1pPr>
          </a:lstStyle>
          <a:p>
            <a:pPr algn="l"/>
            <a:r>
              <a:rPr lang="en-US" b="1" dirty="0">
                <a:latin typeface="+mn-lt"/>
              </a:rPr>
              <a:t>Labels</a:t>
            </a:r>
            <a:r>
              <a:rPr lang="en-US" dirty="0">
                <a:latin typeface="+mn-lt"/>
              </a:rPr>
              <a:t> do not determine meanings.</a:t>
            </a:r>
          </a:p>
        </p:txBody>
      </p:sp>
      <p:sp>
        <p:nvSpPr>
          <p:cNvPr id="8" name="TextBox 7">
            <a:extLst>
              <a:ext uri="{FF2B5EF4-FFF2-40B4-BE49-F238E27FC236}">
                <a16:creationId xmlns:a16="http://schemas.microsoft.com/office/drawing/2014/main" id="{159C736B-A0D3-6072-94F9-7D07519DE320}"/>
              </a:ext>
            </a:extLst>
          </p:cNvPr>
          <p:cNvSpPr txBox="1"/>
          <p:nvPr/>
        </p:nvSpPr>
        <p:spPr>
          <a:xfrm>
            <a:off x="695324" y="1903760"/>
            <a:ext cx="6096000" cy="369332"/>
          </a:xfrm>
          <a:prstGeom prst="rect">
            <a:avLst/>
          </a:prstGeom>
          <a:noFill/>
        </p:spPr>
        <p:txBody>
          <a:bodyPr wrap="square">
            <a:spAutoFit/>
          </a:bodyPr>
          <a:lstStyle/>
          <a:p>
            <a:pPr algn="l"/>
            <a:r>
              <a:rPr lang="en-US" b="1" dirty="0">
                <a:solidFill>
                  <a:schemeClr val="accent6"/>
                </a:solidFill>
                <a:latin typeface="+mn-lt"/>
              </a:rPr>
              <a:t>We need ontologies!</a:t>
            </a:r>
            <a:endParaRPr lang="en-NL" b="1" dirty="0">
              <a:solidFill>
                <a:schemeClr val="accent6"/>
              </a:solidFill>
              <a:latin typeface="+mn-lt"/>
            </a:endParaRPr>
          </a:p>
        </p:txBody>
      </p:sp>
      <p:sp>
        <p:nvSpPr>
          <p:cNvPr id="9" name="TextBox 8">
            <a:extLst>
              <a:ext uri="{FF2B5EF4-FFF2-40B4-BE49-F238E27FC236}">
                <a16:creationId xmlns:a16="http://schemas.microsoft.com/office/drawing/2014/main" id="{2626FEFC-8E87-0B2A-046C-37D4E49897F1}"/>
              </a:ext>
            </a:extLst>
          </p:cNvPr>
          <p:cNvSpPr txBox="1"/>
          <p:nvPr/>
        </p:nvSpPr>
        <p:spPr>
          <a:xfrm>
            <a:off x="695325" y="1899787"/>
            <a:ext cx="4755449" cy="369332"/>
          </a:xfrm>
          <a:prstGeom prst="rect">
            <a:avLst/>
          </a:prstGeom>
          <a:noFill/>
        </p:spPr>
        <p:txBody>
          <a:bodyPr wrap="square">
            <a:spAutoFit/>
          </a:bodyPr>
          <a:lstStyle/>
          <a:p>
            <a:pPr algn="l"/>
            <a:r>
              <a:rPr lang="en-US" b="1" dirty="0">
                <a:solidFill>
                  <a:schemeClr val="accent6"/>
                </a:solidFill>
                <a:latin typeface="+mn-lt"/>
              </a:rPr>
              <a:t>We need </a:t>
            </a:r>
            <a:r>
              <a:rPr lang="en-US" b="1" dirty="0">
                <a:solidFill>
                  <a:srgbClr val="00B050"/>
                </a:solidFill>
                <a:latin typeface="+mn-lt"/>
              </a:rPr>
              <a:t>expressive and precise</a:t>
            </a:r>
            <a:r>
              <a:rPr lang="en-US" b="1" dirty="0">
                <a:latin typeface="+mn-lt"/>
              </a:rPr>
              <a:t> </a:t>
            </a:r>
            <a:r>
              <a:rPr lang="en-US" b="1" dirty="0">
                <a:solidFill>
                  <a:schemeClr val="accent6"/>
                </a:solidFill>
                <a:latin typeface="+mn-lt"/>
              </a:rPr>
              <a:t>ontologies!</a:t>
            </a:r>
            <a:endParaRPr lang="en-NL" b="1" dirty="0">
              <a:solidFill>
                <a:schemeClr val="accent6"/>
              </a:solidFill>
              <a:latin typeface="+mn-lt"/>
            </a:endParaRPr>
          </a:p>
        </p:txBody>
      </p:sp>
    </p:spTree>
    <p:extLst>
      <p:ext uri="{BB962C8B-B14F-4D97-AF65-F5344CB8AC3E}">
        <p14:creationId xmlns:p14="http://schemas.microsoft.com/office/powerpoint/2010/main" val="6201093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xit" presetSubtype="0" fill="hold" grpId="1" nodeType="withEffect">
                                  <p:stCondLst>
                                    <p:cond delay="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8" grpId="0"/>
      <p:bldP spid="8" grpId="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bg1"/>
                  </a:solidFill>
                </a:ln>
                <a:solidFill>
                  <a:schemeClr val="bg1"/>
                </a:solidFill>
                <a:latin typeface="Neue Haas Grotesk Text Pro Blac" panose="020B0504020202020204" pitchFamily="34" charset="0"/>
              </a:rPr>
              <a:t>HRIO</a:t>
            </a:r>
          </a:p>
          <a:p>
            <a:pPr algn="ctr"/>
            <a:r>
              <a:rPr lang="en-US" sz="1200" b="1" dirty="0">
                <a:ln>
                  <a:solidFill>
                    <a:schemeClr val="bg1"/>
                  </a:solidFill>
                </a:ln>
                <a:solidFill>
                  <a:schemeClr val="bg1"/>
                </a:solidFill>
              </a:rPr>
              <a:t>Computational</a:t>
            </a:r>
            <a:endParaRPr lang="en-NL" sz="1200" b="1" dirty="0">
              <a:ln>
                <a:solidFill>
                  <a:schemeClr val="bg1"/>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52579" y="2406142"/>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116565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13</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14</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C0CBF1-AC22-E1BD-85CC-A437099F0022}"/>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31" name="Rectangle 30">
            <a:extLst>
              <a:ext uri="{FF2B5EF4-FFF2-40B4-BE49-F238E27FC236}">
                <a16:creationId xmlns:a16="http://schemas.microsoft.com/office/drawing/2014/main" id="{EAC637E0-837B-4EDC-485A-FFDE3A178643}"/>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8" name="Connector: Elbow 7">
            <a:extLst>
              <a:ext uri="{FF2B5EF4-FFF2-40B4-BE49-F238E27FC236}">
                <a16:creationId xmlns:a16="http://schemas.microsoft.com/office/drawing/2014/main" id="{C697A515-B751-E3E0-17FF-660284D9B91A}"/>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9" name="Rectangle 8">
            <a:extLst>
              <a:ext uri="{FF2B5EF4-FFF2-40B4-BE49-F238E27FC236}">
                <a16:creationId xmlns:a16="http://schemas.microsoft.com/office/drawing/2014/main" id="{463301BA-782A-BCD2-22D8-178E438ABAF3}"/>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datasets that represent the right meaning</a:t>
            </a: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16</a:t>
            </a:fld>
            <a:endParaRPr lang="en-US" dirty="0"/>
          </a:p>
        </p:txBody>
      </p:sp>
      <p:sp>
        <p:nvSpPr>
          <p:cNvPr id="35" name="Freeform: Shape 34">
            <a:extLst>
              <a:ext uri="{FF2B5EF4-FFF2-40B4-BE49-F238E27FC236}">
                <a16:creationId xmlns:a16="http://schemas.microsoft.com/office/drawing/2014/main" id="{FEF10B4E-575F-803C-F98D-51B12CCFF913}"/>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36" name="Freeform: Shape 35">
            <a:extLst>
              <a:ext uri="{FF2B5EF4-FFF2-40B4-BE49-F238E27FC236}">
                <a16:creationId xmlns:a16="http://schemas.microsoft.com/office/drawing/2014/main" id="{5C21F144-EEF6-6F32-7D0D-6C59B8629612}"/>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7" name="Freeform: Shape 36">
            <a:extLst>
              <a:ext uri="{FF2B5EF4-FFF2-40B4-BE49-F238E27FC236}">
                <a16:creationId xmlns:a16="http://schemas.microsoft.com/office/drawing/2014/main" id="{1852A353-EF9E-D46B-C45A-F9B4DBC1C25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38" name="Freeform: Shape 37">
            <a:extLst>
              <a:ext uri="{FF2B5EF4-FFF2-40B4-BE49-F238E27FC236}">
                <a16:creationId xmlns:a16="http://schemas.microsoft.com/office/drawing/2014/main" id="{64006475-0CC8-D21C-EBFC-EE6A85FBE50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t>Scenario 3</a:t>
            </a:r>
            <a:endParaRPr lang="en-NL" sz="1200" dirty="0"/>
          </a:p>
        </p:txBody>
      </p:sp>
      <p:sp>
        <p:nvSpPr>
          <p:cNvPr id="39" name="Freeform: Shape 38">
            <a:extLst>
              <a:ext uri="{FF2B5EF4-FFF2-40B4-BE49-F238E27FC236}">
                <a16:creationId xmlns:a16="http://schemas.microsoft.com/office/drawing/2014/main" id="{F66B3474-711B-1CCD-ACA4-34824807F83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40" name="Freeform: Shape 39">
            <a:extLst>
              <a:ext uri="{FF2B5EF4-FFF2-40B4-BE49-F238E27FC236}">
                <a16:creationId xmlns:a16="http://schemas.microsoft.com/office/drawing/2014/main" id="{64129995-E07B-57F1-86F8-25097CDB6DF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41" name="Freeform: Shape 40">
            <a:extLst>
              <a:ext uri="{FF2B5EF4-FFF2-40B4-BE49-F238E27FC236}">
                <a16:creationId xmlns:a16="http://schemas.microsoft.com/office/drawing/2014/main" id="{73C9D5E3-7D92-265D-FCB9-64C220623909}"/>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grpSp>
        <p:nvGrpSpPr>
          <p:cNvPr id="3" name="Group 2">
            <a:extLst>
              <a:ext uri="{FF2B5EF4-FFF2-40B4-BE49-F238E27FC236}">
                <a16:creationId xmlns:a16="http://schemas.microsoft.com/office/drawing/2014/main" id="{BD6EB000-1F93-2518-B91C-4618B53A56A9}"/>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FD4847A8-D945-35DD-32EA-CBEB670AAF8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6" name="Graphic 5" descr="Completed with solid fill">
              <a:extLst>
                <a:ext uri="{FF2B5EF4-FFF2-40B4-BE49-F238E27FC236}">
                  <a16:creationId xmlns:a16="http://schemas.microsoft.com/office/drawing/2014/main" id="{DAF69F25-3B52-0462-B051-A101C5FC97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41"/>
                                        </p:tgtEl>
                                      </p:cBhvr>
                                      <p:by x="125000" y="125000"/>
                                    </p:animScale>
                                  </p:childTnLst>
                                </p:cTn>
                              </p:par>
                              <p:par>
                                <p:cTn id="7" presetID="9" presetClass="emph" presetSubtype="0" grpId="0" nodeType="withEffect">
                                  <p:stCondLst>
                                    <p:cond delay="0"/>
                                  </p:stCondLst>
                                  <p:childTnLst>
                                    <p:set>
                                      <p:cBhvr>
                                        <p:cTn id="8" dur="indefinite"/>
                                        <p:tgtEl>
                                          <p:spTgt spid="40"/>
                                        </p:tgtEl>
                                        <p:attrNameLst>
                                          <p:attrName>style.opacity</p:attrName>
                                        </p:attrNameLst>
                                      </p:cBhvr>
                                      <p:to>
                                        <p:strVal val="0.5"/>
                                      </p:to>
                                    </p:set>
                                    <p:animEffect filter="image" prLst="opacity: 0.5">
                                      <p:cBhvr rctx="IE">
                                        <p:cTn id="9" dur="indefinite"/>
                                        <p:tgtEl>
                                          <p:spTgt spid="40"/>
                                        </p:tgtEl>
                                      </p:cBhvr>
                                    </p:animEffect>
                                  </p:childTnLst>
                                </p:cTn>
                              </p:par>
                              <p:par>
                                <p:cTn id="10" presetID="9" presetClass="emph" presetSubtype="0" grpId="0" nodeType="withEffect">
                                  <p:stCondLst>
                                    <p:cond delay="0"/>
                                  </p:stCondLst>
                                  <p:childTnLst>
                                    <p:set>
                                      <p:cBhvr>
                                        <p:cTn id="11" dur="indefinite"/>
                                        <p:tgtEl>
                                          <p:spTgt spid="38"/>
                                        </p:tgtEl>
                                        <p:attrNameLst>
                                          <p:attrName>style.opacity</p:attrName>
                                        </p:attrNameLst>
                                      </p:cBhvr>
                                      <p:to>
                                        <p:strVal val="0.5"/>
                                      </p:to>
                                    </p:set>
                                    <p:animEffect filter="image" prLst="opacity: 0.5">
                                      <p:cBhvr rctx="IE">
                                        <p:cTn id="12" dur="indefinite"/>
                                        <p:tgtEl>
                                          <p:spTgt spid="38"/>
                                        </p:tgtEl>
                                      </p:cBhvr>
                                    </p:animEffect>
                                  </p:childTnLst>
                                </p:cTn>
                              </p:par>
                              <p:par>
                                <p:cTn id="13" presetID="9" presetClass="emph" presetSubtype="0" grpId="0" nodeType="withEffect">
                                  <p:stCondLst>
                                    <p:cond delay="0"/>
                                  </p:stCondLst>
                                  <p:childTnLst>
                                    <p:set>
                                      <p:cBhvr>
                                        <p:cTn id="14" dur="indefinite"/>
                                        <p:tgtEl>
                                          <p:spTgt spid="39"/>
                                        </p:tgtEl>
                                        <p:attrNameLst>
                                          <p:attrName>style.opacity</p:attrName>
                                        </p:attrNameLst>
                                      </p:cBhvr>
                                      <p:to>
                                        <p:strVal val="0.5"/>
                                      </p:to>
                                    </p:set>
                                    <p:animEffect filter="image" prLst="opacity: 0.5">
                                      <p:cBhvr rctx="IE">
                                        <p:cTn id="15" dur="indefinite"/>
                                        <p:tgtEl>
                                          <p:spTgt spid="39"/>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FC34-85CB-A95B-2E9C-021956247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DDB5-D479-D255-3F47-8D1E7902661B}"/>
              </a:ext>
            </a:extLst>
          </p:cNvPr>
          <p:cNvSpPr>
            <a:spLocks noGrp="1"/>
          </p:cNvSpPr>
          <p:nvPr>
            <p:ph type="title"/>
          </p:nvPr>
        </p:nvSpPr>
        <p:spPr>
          <a:xfrm>
            <a:off x="695327" y="386001"/>
            <a:ext cx="9296398" cy="929259"/>
          </a:xfrm>
        </p:spPr>
        <p:txBody>
          <a:bodyPr/>
          <a:lstStyle/>
          <a:p>
            <a:r>
              <a:rPr lang="en-US" sz="3600" dirty="0"/>
              <a:t>Scenario 2: Amir’s Question and Challenge</a:t>
            </a:r>
            <a:endParaRPr lang="en-NL" sz="3600" dirty="0"/>
          </a:p>
        </p:txBody>
      </p:sp>
      <p:sp>
        <p:nvSpPr>
          <p:cNvPr id="4" name="Slide Number Placeholder 3">
            <a:extLst>
              <a:ext uri="{FF2B5EF4-FFF2-40B4-BE49-F238E27FC236}">
                <a16:creationId xmlns:a16="http://schemas.microsoft.com/office/drawing/2014/main" id="{0C663118-9FB4-D93E-81C9-F778B4484E00}"/>
              </a:ext>
            </a:extLst>
          </p:cNvPr>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5" name="Picture 4">
            <a:extLst>
              <a:ext uri="{FF2B5EF4-FFF2-40B4-BE49-F238E27FC236}">
                <a16:creationId xmlns:a16="http://schemas.microsoft.com/office/drawing/2014/main" id="{146220A7-E1D6-4292-B02C-562D631FF53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DD969938-B7FD-42C8-3652-769C8E2EE06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767C028-E9BD-A74A-0072-B2FD80F956E2}"/>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88835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18</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307921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19</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76113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20</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32376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21</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26118679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cxnSp>
        <p:nvCxnSpPr>
          <p:cNvPr id="7" name="Straight Connector 6">
            <a:extLst>
              <a:ext uri="{FF2B5EF4-FFF2-40B4-BE49-F238E27FC236}">
                <a16:creationId xmlns:a16="http://schemas.microsoft.com/office/drawing/2014/main" id="{2C630D9A-ECAC-11C4-1A8E-1E744C7D3BB5}"/>
              </a:ext>
            </a:extLst>
          </p:cNvPr>
          <p:cNvCxnSpPr/>
          <p:nvPr/>
        </p:nvCxnSpPr>
        <p:spPr>
          <a:xfrm>
            <a:off x="11313795" y="167551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C972586-4D87-38A4-A350-A774715DC44C}"/>
              </a:ext>
            </a:extLst>
          </p:cNvPr>
          <p:cNvCxnSpPr/>
          <p:nvPr/>
        </p:nvCxnSpPr>
        <p:spPr>
          <a:xfrm>
            <a:off x="9865622" y="292152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295988" y="238196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76057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24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CE399F-78CA-52C2-D4E8-87AB5549F9E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51875250-ACFA-3DD9-D104-507D9F2C425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6" name="Connector: Elbow 5">
            <a:extLst>
              <a:ext uri="{FF2B5EF4-FFF2-40B4-BE49-F238E27FC236}">
                <a16:creationId xmlns:a16="http://schemas.microsoft.com/office/drawing/2014/main" id="{708C64BD-9F91-D06E-A60A-DBCCFA1F37AE}"/>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 name="Rectangle 6">
            <a:extLst>
              <a:ext uri="{FF2B5EF4-FFF2-40B4-BE49-F238E27FC236}">
                <a16:creationId xmlns:a16="http://schemas.microsoft.com/office/drawing/2014/main" id="{583AC777-DB3A-1DC2-3871-049CF43C4EC0}"/>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25</a:t>
            </a:fld>
            <a:endParaRPr lang="en-US" dirty="0"/>
          </a:p>
        </p:txBody>
      </p:sp>
      <p:sp>
        <p:nvSpPr>
          <p:cNvPr id="47" name="Title 1">
            <a:extLst>
              <a:ext uri="{FF2B5EF4-FFF2-40B4-BE49-F238E27FC236}">
                <a16:creationId xmlns:a16="http://schemas.microsoft.com/office/drawing/2014/main" id="{5DDE3956-41CE-B477-AA42-71A1165DF0A0}"/>
              </a:ext>
            </a:extLst>
          </p:cNvPr>
          <p:cNvSpPr>
            <a:spLocks noGrp="1"/>
          </p:cNvSpPr>
          <p:nvPr>
            <p:ph type="title"/>
          </p:nvPr>
        </p:nvSpPr>
        <p:spPr>
          <a:xfrm>
            <a:off x="695327" y="386001"/>
            <a:ext cx="9153523" cy="929259"/>
          </a:xfrm>
        </p:spPr>
        <p:txBody>
          <a:bodyPr/>
          <a:lstStyle/>
          <a:p>
            <a:r>
              <a:rPr lang="en-US" sz="3600" b="1" dirty="0"/>
              <a:t>Scenario 3: Use Mappings to Connect Data and Infer Reuse Knowledge</a:t>
            </a:r>
          </a:p>
        </p:txBody>
      </p:sp>
      <p:sp>
        <p:nvSpPr>
          <p:cNvPr id="74" name="Freeform: Shape 73">
            <a:extLst>
              <a:ext uri="{FF2B5EF4-FFF2-40B4-BE49-F238E27FC236}">
                <a16:creationId xmlns:a16="http://schemas.microsoft.com/office/drawing/2014/main" id="{EF424985-D59E-34F3-A8C1-83E320AC368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B0405DD8-8AAB-1BBC-B75D-DFD42DFBA15B}"/>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6799E349-3F79-E7F1-AAE8-1BE054A80271}"/>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1DF2A802-DF7C-A4F7-DDCC-5801BA76E130}"/>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algn="ctr" defTabSz="400050">
              <a:lnSpc>
                <a:spcPct val="90000"/>
              </a:lnSpc>
              <a:spcBef>
                <a:spcPct val="0"/>
              </a:spcBef>
              <a:spcAft>
                <a:spcPct val="35000"/>
              </a:spcAft>
            </a:pPr>
            <a:r>
              <a:rPr lang="en-US" sz="1200" b="1" dirty="0">
                <a:solidFill>
                  <a:schemeClr val="bg1"/>
                </a:solidFill>
              </a:rPr>
              <a:t>Scenario 4</a:t>
            </a:r>
            <a:endParaRPr lang="en-NL" sz="1200" dirty="0">
              <a:solidFill>
                <a:schemeClr val="bg1"/>
              </a:solidFill>
            </a:endParaRPr>
          </a:p>
        </p:txBody>
      </p:sp>
      <p:sp>
        <p:nvSpPr>
          <p:cNvPr id="79" name="Freeform: Shape 78">
            <a:extLst>
              <a:ext uri="{FF2B5EF4-FFF2-40B4-BE49-F238E27FC236}">
                <a16:creationId xmlns:a16="http://schemas.microsoft.com/office/drawing/2014/main" id="{BBB1BC9A-6C2E-776D-29C3-C1FD549623F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0743C1CA-FDE8-AF21-9BB1-B1FBA08BEF2E}"/>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A8D5F007-0F61-5DC0-B0F3-979ACBB9BE59}"/>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3" name="Group 2">
            <a:extLst>
              <a:ext uri="{FF2B5EF4-FFF2-40B4-BE49-F238E27FC236}">
                <a16:creationId xmlns:a16="http://schemas.microsoft.com/office/drawing/2014/main" id="{BDC2FD09-9AFF-A8AF-75C9-74A4F8C03281}"/>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F166211B-62D9-0B0A-86D3-4562019D9FB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algn="ctr" defTabSz="400050">
                <a:spcBef>
                  <a:spcPct val="0"/>
                </a:spcBef>
                <a:spcAft>
                  <a:spcPts val="600"/>
                </a:spcAft>
              </a:pPr>
              <a:r>
                <a:rPr lang="en-US" sz="1200" b="1" dirty="0">
                  <a:solidFill>
                    <a:schemeClr val="accent1"/>
                  </a:solidFill>
                </a:rPr>
                <a:t>Result</a:t>
              </a:r>
              <a:endParaRPr lang="en-NL" sz="1200" dirty="0">
                <a:solidFill>
                  <a:schemeClr val="accent1"/>
                </a:solidFill>
              </a:endParaRPr>
            </a:p>
          </p:txBody>
        </p:sp>
        <p:pic>
          <p:nvPicPr>
            <p:cNvPr id="2" name="Graphic 1" descr="Completed with solid fill">
              <a:extLst>
                <a:ext uri="{FF2B5EF4-FFF2-40B4-BE49-F238E27FC236}">
                  <a16:creationId xmlns:a16="http://schemas.microsoft.com/office/drawing/2014/main" id="{EE6F3863-35E7-2337-83E9-C5A7EBCFC8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7"/>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8"/>
                                        </p:tgtEl>
                                        <p:attrNameLst>
                                          <p:attrName>style.opacity</p:attrName>
                                        </p:attrNameLst>
                                      </p:cBhvr>
                                      <p:to>
                                        <p:strVal val="0.5"/>
                                      </p:to>
                                    </p:set>
                                    <p:animEffect filter="image" prLst="opacity: 0.5">
                                      <p:cBhvr rctx="IE">
                                        <p:cTn id="15" dur="indefinite"/>
                                        <p:tgtEl>
                                          <p:spTgt spid="78"/>
                                        </p:tgtEl>
                                      </p:cBhvr>
                                    </p:animEffect>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7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9176-46D6-2887-044D-F643F8959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BEDF1-0E41-582E-8ABA-D1B1D3AE664F}"/>
              </a:ext>
            </a:extLst>
          </p:cNvPr>
          <p:cNvSpPr>
            <a:spLocks noGrp="1"/>
          </p:cNvSpPr>
          <p:nvPr>
            <p:ph type="title"/>
          </p:nvPr>
        </p:nvSpPr>
        <p:spPr>
          <a:xfrm>
            <a:off x="695327" y="386001"/>
            <a:ext cx="9296398" cy="929259"/>
          </a:xfrm>
        </p:spPr>
        <p:txBody>
          <a:bodyPr/>
          <a:lstStyle/>
          <a:p>
            <a:r>
              <a:rPr lang="en-US" sz="3600" dirty="0"/>
              <a:t>Scenario 3: Amir’s Question and Challenge</a:t>
            </a:r>
            <a:endParaRPr lang="en-NL" sz="3600" dirty="0"/>
          </a:p>
        </p:txBody>
      </p:sp>
      <p:sp>
        <p:nvSpPr>
          <p:cNvPr id="4" name="Slide Number Placeholder 3">
            <a:extLst>
              <a:ext uri="{FF2B5EF4-FFF2-40B4-BE49-F238E27FC236}">
                <a16:creationId xmlns:a16="http://schemas.microsoft.com/office/drawing/2014/main" id="{2A6CEB91-2B56-975E-1810-48301904B67F}"/>
              </a:ext>
            </a:extLst>
          </p:cNvPr>
          <p:cNvSpPr>
            <a:spLocks noGrp="1"/>
          </p:cNvSpPr>
          <p:nvPr>
            <p:ph type="sldNum" sz="quarter" idx="12"/>
          </p:nvPr>
        </p:nvSpPr>
        <p:spPr/>
        <p:txBody>
          <a:bodyPr/>
          <a:lstStyle/>
          <a:p>
            <a:fld id="{4FAB73BC-B049-4115-A692-8D63A059BFB8}" type="slidenum">
              <a:rPr lang="en-US" smtClean="0"/>
              <a:pPr/>
              <a:t>26</a:t>
            </a:fld>
            <a:endParaRPr lang="en-US" dirty="0"/>
          </a:p>
        </p:txBody>
      </p:sp>
      <p:pic>
        <p:nvPicPr>
          <p:cNvPr id="5" name="Picture 4">
            <a:extLst>
              <a:ext uri="{FF2B5EF4-FFF2-40B4-BE49-F238E27FC236}">
                <a16:creationId xmlns:a16="http://schemas.microsoft.com/office/drawing/2014/main" id="{5511CD26-7B2E-5D27-18CA-D193E3DE898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516E2AD2-D642-2BFC-F4DB-076FFF5660E8}"/>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1021245-0E81-C6B1-AA34-FE9C8EA7B3F9}"/>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251132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19CE-A64E-046B-9DAB-7CA2213E7503}"/>
              </a:ext>
            </a:extLst>
          </p:cNvPr>
          <p:cNvSpPr>
            <a:spLocks noGrp="1"/>
          </p:cNvSpPr>
          <p:nvPr>
            <p:ph type="title"/>
          </p:nvPr>
        </p:nvSpPr>
        <p:spPr/>
        <p:txBody>
          <a:bodyPr/>
          <a:lstStyle/>
          <a:p>
            <a:r>
              <a:rPr lang="en-US" dirty="0"/>
              <a:t>External Mappings</a:t>
            </a:r>
            <a:endParaRPr lang="en-NL" dirty="0"/>
          </a:p>
        </p:txBody>
      </p:sp>
      <p:graphicFrame>
        <p:nvGraphicFramePr>
          <p:cNvPr id="5" name="Content Placeholder 4">
            <a:extLst>
              <a:ext uri="{FF2B5EF4-FFF2-40B4-BE49-F238E27FC236}">
                <a16:creationId xmlns:a16="http://schemas.microsoft.com/office/drawing/2014/main" id="{E614D15D-E7F3-226F-D29F-D88E5AC36F07}"/>
              </a:ext>
            </a:extLst>
          </p:cNvPr>
          <p:cNvGraphicFramePr>
            <a:graphicFrameLocks noGrp="1"/>
          </p:cNvGraphicFramePr>
          <p:nvPr>
            <p:ph idx="1"/>
          </p:nvPr>
        </p:nvGraphicFramePr>
        <p:xfrm>
          <a:off x="1426844" y="1695020"/>
          <a:ext cx="5790820" cy="1112400"/>
        </p:xfrm>
        <a:graphic>
          <a:graphicData uri="http://schemas.openxmlformats.org/drawingml/2006/table">
            <a:tbl>
              <a:tblPr firstRow="1" bandRow="1">
                <a:tableStyleId>{69012ECD-51FC-41F1-AA8D-1B2483CD663E}</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050" b="0" dirty="0" err="1"/>
                        <a:t>cdisc-sdtm:DM.SEX</a:t>
                      </a:r>
                      <a:endParaRPr lang="en-US" sz="1050" b="0" dirty="0"/>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buNone/>
                      </a:pPr>
                      <a:r>
                        <a:rPr lang="en-US" sz="1050" b="0" dirty="0"/>
                        <a:t>ncit:C28421</a:t>
                      </a:r>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654241099"/>
                  </a:ext>
                </a:extLst>
              </a:tr>
            </a:tbl>
          </a:graphicData>
        </a:graphic>
      </p:graphicFrame>
      <p:sp>
        <p:nvSpPr>
          <p:cNvPr id="4" name="Slide Number Placeholder 3">
            <a:extLst>
              <a:ext uri="{FF2B5EF4-FFF2-40B4-BE49-F238E27FC236}">
                <a16:creationId xmlns:a16="http://schemas.microsoft.com/office/drawing/2014/main" id="{E1728587-1E22-BE77-6E80-DC3D8D3CBAEE}"/>
              </a:ext>
            </a:extLst>
          </p:cNvPr>
          <p:cNvSpPr>
            <a:spLocks noGrp="1"/>
          </p:cNvSpPr>
          <p:nvPr>
            <p:ph type="sldNum" sz="quarter" idx="12"/>
          </p:nvPr>
        </p:nvSpPr>
        <p:spPr/>
        <p:txBody>
          <a:bodyPr/>
          <a:lstStyle/>
          <a:p>
            <a:fld id="{4FAB73BC-B049-4115-A692-8D63A059BFB8}" type="slidenum">
              <a:rPr lang="en-US" smtClean="0"/>
              <a:pPr/>
              <a:t>27</a:t>
            </a:fld>
            <a:endParaRPr lang="en-US" dirty="0"/>
          </a:p>
        </p:txBody>
      </p:sp>
      <p:graphicFrame>
        <p:nvGraphicFramePr>
          <p:cNvPr id="7" name="Content Placeholder 4">
            <a:extLst>
              <a:ext uri="{FF2B5EF4-FFF2-40B4-BE49-F238E27FC236}">
                <a16:creationId xmlns:a16="http://schemas.microsoft.com/office/drawing/2014/main" id="{F2829BF7-2B68-EACE-4DBB-B58619367C88}"/>
              </a:ext>
            </a:extLst>
          </p:cNvPr>
          <p:cNvGraphicFramePr>
            <a:graphicFrameLocks/>
          </p:cNvGraphicFramePr>
          <p:nvPr/>
        </p:nvGraphicFramePr>
        <p:xfrm>
          <a:off x="1426844" y="4711442"/>
          <a:ext cx="5790820" cy="1112520"/>
        </p:xfrm>
        <a:graphic>
          <a:graphicData uri="http://schemas.openxmlformats.org/drawingml/2006/table">
            <a:tbl>
              <a:tblPr firstRow="1" bandRow="1">
                <a:tableStyleId>{17292A2E-F333-43FB-9621-5CBBE7FDCDCB}</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extLst>
                  <a:ext uri="{0D108BD9-81ED-4DB2-BD59-A6C34878D82A}">
                    <a16:rowId xmlns:a16="http://schemas.microsoft.com/office/drawing/2014/main" val="1418268279"/>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a:t>hl7v2:0001</a:t>
                      </a:r>
                      <a:endParaRPr lang="en-NL" sz="1050" dirty="0"/>
                    </a:p>
                  </a:txBody>
                  <a:tcPr anchor="ctr"/>
                </a:tc>
                <a:tc>
                  <a:txBody>
                    <a:bodyPr/>
                    <a:lstStyle/>
                    <a:p>
                      <a:r>
                        <a:rPr lang="en-US" sz="1050" dirty="0"/>
                        <a:t>Administrative sex</a:t>
                      </a:r>
                      <a:endParaRPr lang="en-NL" sz="1050" dirty="0"/>
                    </a:p>
                  </a:txBody>
                  <a:tcPr anchor="ctr"/>
                </a:tc>
                <a:extLst>
                  <a:ext uri="{0D108BD9-81ED-4DB2-BD59-A6C34878D82A}">
                    <a16:rowId xmlns:a16="http://schemas.microsoft.com/office/drawing/2014/main" val="1654241099"/>
                  </a:ext>
                </a:extLst>
              </a:tr>
            </a:tbl>
          </a:graphicData>
        </a:graphic>
      </p:graphicFrame>
      <p:graphicFrame>
        <p:nvGraphicFramePr>
          <p:cNvPr id="8" name="Content Placeholder 4">
            <a:extLst>
              <a:ext uri="{FF2B5EF4-FFF2-40B4-BE49-F238E27FC236}">
                <a16:creationId xmlns:a16="http://schemas.microsoft.com/office/drawing/2014/main" id="{83BA5654-98AF-EE95-658A-9C8CD399A8B0}"/>
              </a:ext>
            </a:extLst>
          </p:cNvPr>
          <p:cNvGraphicFramePr>
            <a:graphicFrameLocks/>
          </p:cNvGraphicFramePr>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B3E6CCD4-99C2-65DD-D5B7-C2E562B72DC5}"/>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B390E7D8-FF81-D01B-7A0D-3A871CF1254A}"/>
              </a:ext>
            </a:extLst>
          </p:cNvPr>
          <p:cNvGraphicFramePr>
            <a:graphicFrameLocks/>
          </p:cNvGraphicFramePr>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D4C0FF67-C48C-BB05-F7C9-38CD6803EBF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21AE9662-B0E1-A041-5929-E5A23E93D016}"/>
              </a:ext>
            </a:extLst>
          </p:cNvPr>
          <p:cNvGraphicFramePr>
            <a:graphicFrameLocks/>
          </p:cNvGraphicFramePr>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Rounded Corners 12">
            <a:extLst>
              <a:ext uri="{FF2B5EF4-FFF2-40B4-BE49-F238E27FC236}">
                <a16:creationId xmlns:a16="http://schemas.microsoft.com/office/drawing/2014/main" id="{909B233F-3FAB-9465-55C0-E270C5FFD55F}"/>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4" name="Picture 13">
            <a:extLst>
              <a:ext uri="{FF2B5EF4-FFF2-40B4-BE49-F238E27FC236}">
                <a16:creationId xmlns:a16="http://schemas.microsoft.com/office/drawing/2014/main" id="{2137F7A1-632E-6C2B-1144-68873EF13E5B}"/>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5" name="Picture 14">
            <a:extLst>
              <a:ext uri="{FF2B5EF4-FFF2-40B4-BE49-F238E27FC236}">
                <a16:creationId xmlns:a16="http://schemas.microsoft.com/office/drawing/2014/main" id="{80CED00E-5F36-8002-1E93-ECEAAFFE15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6" name="Picture 15">
            <a:extLst>
              <a:ext uri="{FF2B5EF4-FFF2-40B4-BE49-F238E27FC236}">
                <a16:creationId xmlns:a16="http://schemas.microsoft.com/office/drawing/2014/main" id="{3357A704-35A2-71AA-2E95-CEA0181C00E3}"/>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17" name="TextBox 16">
            <a:extLst>
              <a:ext uri="{FF2B5EF4-FFF2-40B4-BE49-F238E27FC236}">
                <a16:creationId xmlns:a16="http://schemas.microsoft.com/office/drawing/2014/main" id="{EFCD9820-DFDD-917F-1A57-E728C1D9C49C}"/>
              </a:ext>
            </a:extLst>
          </p:cNvPr>
          <p:cNvSpPr txBox="1"/>
          <p:nvPr/>
        </p:nvSpPr>
        <p:spPr>
          <a:xfrm rot="16200000">
            <a:off x="282648" y="1982881"/>
            <a:ext cx="1483199" cy="553998"/>
          </a:xfrm>
          <a:prstGeom prst="rect">
            <a:avLst/>
          </a:prstGeom>
          <a:noFill/>
        </p:spPr>
        <p:txBody>
          <a:bodyPr wrap="square" rtlCol="0">
            <a:spAutoFit/>
          </a:bodyPr>
          <a:lstStyle/>
          <a:p>
            <a:pPr algn="ctr"/>
            <a:r>
              <a:rPr lang="en-US" sz="1000" b="1" dirty="0">
                <a:solidFill>
                  <a:schemeClr val="accent1"/>
                </a:solidFill>
              </a:rPr>
              <a:t>Clinical Research Standards Mapping Community</a:t>
            </a:r>
            <a:endParaRPr lang="en-NL" sz="1000" b="1" dirty="0">
              <a:solidFill>
                <a:schemeClr val="accent1"/>
              </a:solidFill>
            </a:endParaRPr>
          </a:p>
        </p:txBody>
      </p:sp>
      <p:graphicFrame>
        <p:nvGraphicFramePr>
          <p:cNvPr id="6" name="Content Placeholder 4">
            <a:extLst>
              <a:ext uri="{FF2B5EF4-FFF2-40B4-BE49-F238E27FC236}">
                <a16:creationId xmlns:a16="http://schemas.microsoft.com/office/drawing/2014/main" id="{9B4AE73D-09C1-FB36-7431-552697C6D6C2}"/>
              </a:ext>
            </a:extLst>
          </p:cNvPr>
          <p:cNvGraphicFramePr>
            <a:graphicFrameLocks/>
          </p:cNvGraphicFramePr>
          <p:nvPr/>
        </p:nvGraphicFramePr>
        <p:xfrm>
          <a:off x="1426844" y="3017831"/>
          <a:ext cx="5790820" cy="1483200"/>
        </p:xfrm>
        <a:graphic>
          <a:graphicData uri="http://schemas.openxmlformats.org/drawingml/2006/table">
            <a:tbl>
              <a:tblPr firstRow="1" bandRow="1">
                <a:tableStyleId>{7E9639D4-E3E2-4D34-9284-5A2195B3D0D7}</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endParaRPr lang="en-NL" sz="1050" dirty="0"/>
                    </a:p>
                  </a:txBody>
                  <a:tcPr anchor="ctr"/>
                </a:tc>
                <a:tc>
                  <a:txBody>
                    <a:bodyPr/>
                    <a:lstStyle/>
                    <a:p>
                      <a:pPr algn="l">
                        <a:buNone/>
                      </a:pPr>
                      <a:r>
                        <a:rPr lang="en-US" sz="1050" b="1" dirty="0" err="1"/>
                        <a:t>care-sm:Sex</a:t>
                      </a:r>
                      <a:endParaRPr lang="en-US" sz="1050" b="1" dirty="0"/>
                    </a:p>
                  </a:txBody>
                  <a:tcPr anchor="ctr">
                    <a:solidFill>
                      <a:schemeClr val="accent1">
                        <a:lumMod val="20000"/>
                        <a:lumOff val="80000"/>
                      </a:schemeClr>
                    </a:solidFill>
                  </a:tcPr>
                </a:tc>
                <a:tc>
                  <a:txBody>
                    <a:bodyPr/>
                    <a:lstStyle/>
                    <a:p>
                      <a:pPr algn="l">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p>
                  </a:txBody>
                  <a:tcPr anchor="ctr"/>
                </a:tc>
                <a:tc>
                  <a:txBody>
                    <a:bodyPr/>
                    <a:lstStyle/>
                    <a:p>
                      <a:pPr algn="l">
                        <a:buNone/>
                      </a:pPr>
                      <a:r>
                        <a:rPr lang="en-US" sz="1050" b="0" dirty="0" err="1"/>
                        <a:t>registry:resident.sex</a:t>
                      </a:r>
                      <a:endParaRPr lang="en-US" sz="1050" b="0" dirty="0"/>
                    </a:p>
                  </a:txBody>
                  <a:tcPr anchor="ctr"/>
                </a:tc>
                <a:tc>
                  <a:txBody>
                    <a:bodyPr/>
                    <a:lstStyle/>
                    <a:p>
                      <a:pPr algn="l">
                        <a:buNone/>
                      </a:pPr>
                      <a:r>
                        <a:rPr lang="en-US" sz="1050" b="0" dirty="0"/>
                        <a:t>Resident sex</a:t>
                      </a:r>
                    </a:p>
                  </a:txBody>
                  <a:tcPr anchor="ctr"/>
                </a:tc>
                <a:extLst>
                  <a:ext uri="{0D108BD9-81ED-4DB2-BD59-A6C34878D82A}">
                    <a16:rowId xmlns:a16="http://schemas.microsoft.com/office/drawing/2014/main" val="1269809659"/>
                  </a:ext>
                </a:extLst>
              </a:tr>
              <a:tr h="370800">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tc>
                  <a:txBody>
                    <a:bodyPr/>
                    <a:lstStyle/>
                    <a:p>
                      <a:pPr algn="l">
                        <a:buNone/>
                      </a:pPr>
                      <a:r>
                        <a:rPr lang="en-US" sz="1050" b="0" dirty="0"/>
                        <a:t>hl7v3:AdmGender</a:t>
                      </a:r>
                    </a:p>
                  </a:txBody>
                  <a:tcPr anchor="ctr"/>
                </a:tc>
                <a:tc>
                  <a:txBody>
                    <a:bodyPr/>
                    <a:lstStyle/>
                    <a:p>
                      <a:pPr algn="l">
                        <a:buNone/>
                      </a:pPr>
                      <a:r>
                        <a:rPr lang="en-US" sz="1050" b="0" dirty="0"/>
                        <a:t>Administrative gender</a:t>
                      </a:r>
                    </a:p>
                  </a:txBody>
                  <a:tcPr anchor="ctr"/>
                </a:tc>
                <a:extLst>
                  <a:ext uri="{0D108BD9-81ED-4DB2-BD59-A6C34878D82A}">
                    <a16:rowId xmlns:a16="http://schemas.microsoft.com/office/drawing/2014/main" val="1386821321"/>
                  </a:ext>
                </a:extLst>
              </a:tr>
            </a:tbl>
          </a:graphicData>
        </a:graphic>
      </p:graphicFrame>
      <p:sp>
        <p:nvSpPr>
          <p:cNvPr id="18" name="TextBox 17">
            <a:extLst>
              <a:ext uri="{FF2B5EF4-FFF2-40B4-BE49-F238E27FC236}">
                <a16:creationId xmlns:a16="http://schemas.microsoft.com/office/drawing/2014/main" id="{0728AEBC-F983-1D5C-D475-F085483E2D32}"/>
              </a:ext>
            </a:extLst>
          </p:cNvPr>
          <p:cNvSpPr txBox="1"/>
          <p:nvPr/>
        </p:nvSpPr>
        <p:spPr>
          <a:xfrm rot="16200000">
            <a:off x="282648" y="3491463"/>
            <a:ext cx="1483199" cy="553998"/>
          </a:xfrm>
          <a:prstGeom prst="rect">
            <a:avLst/>
          </a:prstGeom>
          <a:noFill/>
        </p:spPr>
        <p:txBody>
          <a:bodyPr wrap="square" rtlCol="0">
            <a:spAutoFit/>
          </a:bodyPr>
          <a:lstStyle/>
          <a:p>
            <a:pPr algn="ctr"/>
            <a:r>
              <a:rPr lang="en-US" sz="1000" b="1" dirty="0">
                <a:solidFill>
                  <a:sysClr val="windowText" lastClr="000000"/>
                </a:solidFill>
              </a:rPr>
              <a:t>Dutch Health Data Stewardship Community</a:t>
            </a:r>
            <a:endParaRPr lang="en-NL" sz="1000" b="1" dirty="0">
              <a:solidFill>
                <a:sysClr val="windowText" lastClr="000000"/>
              </a:solidFill>
            </a:endParaRPr>
          </a:p>
        </p:txBody>
      </p:sp>
      <p:sp>
        <p:nvSpPr>
          <p:cNvPr id="20" name="TextBox 19">
            <a:extLst>
              <a:ext uri="{FF2B5EF4-FFF2-40B4-BE49-F238E27FC236}">
                <a16:creationId xmlns:a16="http://schemas.microsoft.com/office/drawing/2014/main" id="{5976559A-8C14-952B-3E3E-D11451AF8099}"/>
              </a:ext>
            </a:extLst>
          </p:cNvPr>
          <p:cNvSpPr txBox="1"/>
          <p:nvPr/>
        </p:nvSpPr>
        <p:spPr>
          <a:xfrm rot="16200000">
            <a:off x="282648" y="5078705"/>
            <a:ext cx="1483199" cy="400110"/>
          </a:xfrm>
          <a:prstGeom prst="rect">
            <a:avLst/>
          </a:prstGeom>
          <a:noFill/>
        </p:spPr>
        <p:txBody>
          <a:bodyPr wrap="square" rtlCol="0">
            <a:spAutoFit/>
          </a:bodyPr>
          <a:lstStyle/>
          <a:p>
            <a:pPr algn="ctr"/>
            <a:r>
              <a:rPr lang="en-US" sz="1000" b="1" dirty="0">
                <a:solidFill>
                  <a:schemeClr val="accent4"/>
                </a:solidFill>
              </a:rPr>
              <a:t>Administrative Gender Standards Community</a:t>
            </a:r>
            <a:endParaRPr lang="en-NL" sz="1000" b="1" dirty="0">
              <a:solidFill>
                <a:schemeClr val="accent4"/>
              </a:solidFill>
            </a:endParaRPr>
          </a:p>
        </p:txBody>
      </p:sp>
      <p:sp>
        <p:nvSpPr>
          <p:cNvPr id="3" name="TextBox 2">
            <a:extLst>
              <a:ext uri="{FF2B5EF4-FFF2-40B4-BE49-F238E27FC236}">
                <a16:creationId xmlns:a16="http://schemas.microsoft.com/office/drawing/2014/main" id="{BAC941B3-33D4-B7A1-108A-5B60BB6484A0}"/>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1311861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A276-EDF6-E1E2-7516-79FCF3CB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4336-B231-F4D5-F695-D326D783704A}"/>
              </a:ext>
            </a:extLst>
          </p:cNvPr>
          <p:cNvSpPr>
            <a:spLocks noGrp="1"/>
          </p:cNvSpPr>
          <p:nvPr>
            <p:ph type="title"/>
          </p:nvPr>
        </p:nvSpPr>
        <p:spPr/>
        <p:txBody>
          <a:bodyPr/>
          <a:lstStyle/>
          <a:p>
            <a:r>
              <a:rPr lang="en-US" sz="3600" dirty="0"/>
              <a:t>Pairwise Mappings Require Multiple Steps</a:t>
            </a:r>
            <a:endParaRPr lang="en-NL" sz="3600" dirty="0"/>
          </a:p>
        </p:txBody>
      </p:sp>
      <p:sp>
        <p:nvSpPr>
          <p:cNvPr id="4" name="Slide Number Placeholder 3">
            <a:extLst>
              <a:ext uri="{FF2B5EF4-FFF2-40B4-BE49-F238E27FC236}">
                <a16:creationId xmlns:a16="http://schemas.microsoft.com/office/drawing/2014/main" id="{4355C849-5238-1C1D-3E51-7F247FFB1C92}"/>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6" name="Parallelogram 5">
            <a:extLst>
              <a:ext uri="{FF2B5EF4-FFF2-40B4-BE49-F238E27FC236}">
                <a16:creationId xmlns:a16="http://schemas.microsoft.com/office/drawing/2014/main" id="{F8346B9F-EE3F-3541-E3EA-F6D6C6C208C2}"/>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41142F6E-BB84-248C-36C6-7839549DF00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38CF9E90-62B6-029F-A4FF-CE1E66236331}"/>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6D1EE0B8-B727-F44D-6365-DEFA31EA2B57}"/>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EED58D00-659A-DDDD-3978-B6E41E1F035E}"/>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7CB09F0-D98E-6403-57D9-F95B275E5898}"/>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8EB0EA7D-6671-5346-C79C-00316FF14C2F}"/>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6F00186B-F070-7646-9C27-423008CDCE86}"/>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6C88F470-74FD-905C-8832-1503E5203729}"/>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4283C03-D703-7F6D-795D-C6AADFC64E2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E02D59A1-91E9-2BB0-AC6E-538F15942147}"/>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932EF50-EAF4-A69E-CCF2-9C190BCD5CC4}"/>
              </a:ext>
            </a:extLst>
          </p:cNvPr>
          <p:cNvGraphicFramePr>
            <a:graphicFrameLocks/>
          </p:cNvGraphicFramePr>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107425BD-8CAD-64DD-4317-2F3CDBB86F8F}"/>
              </a:ext>
            </a:extLst>
          </p:cNvPr>
          <p:cNvGraphicFramePr>
            <a:graphicFrameLocks/>
          </p:cNvGraphicFramePr>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0875606A-AC7F-7008-ECDF-6C534CC6BB0B}"/>
              </a:ext>
            </a:extLst>
          </p:cNvPr>
          <p:cNvGraphicFramePr>
            <a:graphicFrameLocks/>
          </p:cNvGraphicFramePr>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915D8098-88B9-A9E2-6F64-0530358173F1}"/>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99C85BC6-24E2-E0F2-918B-825A1DEB0F99}"/>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698E3D-B3D3-39FF-72FE-EF8A5DB6A41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8DA51A55-848F-A35F-B7ED-9B0BC726B224}"/>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25A570-18B4-D39D-B5C5-174CFC178A36}"/>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4FA769E-9E3B-32E0-D109-A9D82394E994}"/>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965CC53-BF9F-451F-17A7-EAA91BB3A0EE}"/>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Oval 201">
            <a:extLst>
              <a:ext uri="{FF2B5EF4-FFF2-40B4-BE49-F238E27FC236}">
                <a16:creationId xmlns:a16="http://schemas.microsoft.com/office/drawing/2014/main" id="{48907A01-62A0-9163-168E-CBB8C7E70234}"/>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03" name="Straight Arrow Connector 202">
            <a:extLst>
              <a:ext uri="{FF2B5EF4-FFF2-40B4-BE49-F238E27FC236}">
                <a16:creationId xmlns:a16="http://schemas.microsoft.com/office/drawing/2014/main" id="{CF3B7C31-A605-2E49-1089-8BEE3C3030AB}"/>
              </a:ext>
            </a:extLst>
          </p:cNvPr>
          <p:cNvCxnSpPr>
            <a:cxnSpLocks/>
            <a:stCxn id="20" idx="5"/>
            <a:endCxn id="202" idx="1"/>
          </p:cNvCxnSpPr>
          <p:nvPr/>
        </p:nvCxnSpPr>
        <p:spPr>
          <a:xfrm>
            <a:off x="4193702" y="4378508"/>
            <a:ext cx="524872" cy="401257"/>
          </a:xfrm>
          <a:prstGeom prst="straightConnector1">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07" name="Speech Bubble: Rectangle 206">
            <a:extLst>
              <a:ext uri="{FF2B5EF4-FFF2-40B4-BE49-F238E27FC236}">
                <a16:creationId xmlns:a16="http://schemas.microsoft.com/office/drawing/2014/main" id="{A3148E26-4F8F-3C87-8A40-0CC017539E08}"/>
              </a:ext>
            </a:extLst>
          </p:cNvPr>
          <p:cNvSpPr/>
          <p:nvPr/>
        </p:nvSpPr>
        <p:spPr>
          <a:xfrm>
            <a:off x="704849" y="1648634"/>
            <a:ext cx="7277101" cy="1036735"/>
          </a:xfrm>
          <a:prstGeom prst="wedgeRectCallout">
            <a:avLst>
              <a:gd name="adj1" fmla="val -21179"/>
              <a:gd name="adj2" fmla="val 76797"/>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marL="285750" indent="-285750">
              <a:spcBef>
                <a:spcPts val="300"/>
              </a:spcBef>
              <a:spcAft>
                <a:spcPts val="300"/>
              </a:spcAft>
              <a:buFont typeface="Arial" panose="020B0604020202020204" pitchFamily="34" charset="0"/>
              <a:buChar char="•"/>
            </a:pPr>
            <a:r>
              <a:rPr lang="en-US" sz="1400" dirty="0"/>
              <a:t>Without a meaning layer, reuse depends on chains of concept-to-concept mappings.</a:t>
            </a:r>
          </a:p>
          <a:p>
            <a:pPr marL="285750" indent="-285750">
              <a:spcBef>
                <a:spcPts val="300"/>
              </a:spcBef>
              <a:spcAft>
                <a:spcPts val="300"/>
              </a:spcAft>
              <a:buFont typeface="Arial" panose="020B0604020202020204" pitchFamily="34" charset="0"/>
              <a:buChar char="•"/>
            </a:pPr>
            <a:r>
              <a:rPr lang="en-US" sz="1400" dirty="0"/>
              <a:t>These mappings are often fragile and label-driven.</a:t>
            </a:r>
          </a:p>
          <a:p>
            <a:pPr marL="285750" indent="-285750">
              <a:spcBef>
                <a:spcPts val="300"/>
              </a:spcBef>
              <a:spcAft>
                <a:spcPts val="300"/>
              </a:spcAft>
              <a:buFont typeface="Arial" panose="020B0604020202020204" pitchFamily="34" charset="0"/>
              <a:buChar char="•"/>
            </a:pPr>
            <a:r>
              <a:rPr lang="en-US" sz="1400" dirty="0"/>
              <a:t>Each new concept adds complexity, making maintenance harder.</a:t>
            </a:r>
          </a:p>
        </p:txBody>
      </p:sp>
      <p:sp>
        <p:nvSpPr>
          <p:cNvPr id="208" name="TextBox 207">
            <a:extLst>
              <a:ext uri="{FF2B5EF4-FFF2-40B4-BE49-F238E27FC236}">
                <a16:creationId xmlns:a16="http://schemas.microsoft.com/office/drawing/2014/main" id="{183E9AFB-5028-7139-ECD6-F90D57E23179}"/>
              </a:ext>
            </a:extLst>
          </p:cNvPr>
          <p:cNvSpPr txBox="1"/>
          <p:nvPr/>
        </p:nvSpPr>
        <p:spPr>
          <a:xfrm>
            <a:off x="5437411" y="264461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3 steps</a:t>
            </a:r>
            <a:endParaRPr lang="en-NL" sz="1600" dirty="0">
              <a:solidFill>
                <a:sysClr val="windowText" lastClr="000000"/>
              </a:solidFill>
            </a:endParaRPr>
          </a:p>
        </p:txBody>
      </p:sp>
      <p:sp>
        <p:nvSpPr>
          <p:cNvPr id="209" name="TextBox 208">
            <a:extLst>
              <a:ext uri="{FF2B5EF4-FFF2-40B4-BE49-F238E27FC236}">
                <a16:creationId xmlns:a16="http://schemas.microsoft.com/office/drawing/2014/main" id="{339725B4-D9CF-A4C2-6D04-CA8EE0FE9562}"/>
              </a:ext>
            </a:extLst>
          </p:cNvPr>
          <p:cNvSpPr txBox="1"/>
          <p:nvPr/>
        </p:nvSpPr>
        <p:spPr>
          <a:xfrm>
            <a:off x="5437410" y="3092062"/>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4 steps</a:t>
            </a:r>
            <a:endParaRPr lang="en-NL" sz="1600" dirty="0">
              <a:solidFill>
                <a:sysClr val="windowText" lastClr="000000"/>
              </a:solidFill>
            </a:endParaRPr>
          </a:p>
        </p:txBody>
      </p:sp>
      <p:sp>
        <p:nvSpPr>
          <p:cNvPr id="3" name="Oval 2">
            <a:extLst>
              <a:ext uri="{FF2B5EF4-FFF2-40B4-BE49-F238E27FC236}">
                <a16:creationId xmlns:a16="http://schemas.microsoft.com/office/drawing/2014/main" id="{D10A43A9-C33C-9489-78EA-DC7C1098DE0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3F66A6D1-5AB6-8E37-FB32-647D1023C198}"/>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D20E783-14B9-50CB-29F5-F8420E776A03}"/>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CDD9CD16-BB7F-15C6-ADE7-4AA4E0866C6E}"/>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2E36E310-2B45-29E5-FF31-7168A51AC395}"/>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DF1AE96D-6275-3B60-FE9D-61951E963E23}"/>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CCA7035-5316-1976-4BC8-FCE5A7364240}"/>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8AEA6C18-B3D0-E122-F3AD-3FEE36F0C156}"/>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D643663-B8C3-E3DF-02E3-FEE15972D85A}"/>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TextBox 18">
            <a:extLst>
              <a:ext uri="{FF2B5EF4-FFF2-40B4-BE49-F238E27FC236}">
                <a16:creationId xmlns:a16="http://schemas.microsoft.com/office/drawing/2014/main" id="{FD890DDE-7003-BCA4-1430-CE750F867107}"/>
              </a:ext>
            </a:extLst>
          </p:cNvPr>
          <p:cNvSpPr txBox="1"/>
          <p:nvPr/>
        </p:nvSpPr>
        <p:spPr>
          <a:xfrm>
            <a:off x="5437410" y="3539508"/>
            <a:ext cx="2838290"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N steps</a:t>
            </a:r>
            <a:endParaRPr lang="en-NL" sz="1600" dirty="0">
              <a:solidFill>
                <a:schemeClr val="bg2"/>
              </a:solidFill>
            </a:endParaRPr>
          </a:p>
        </p:txBody>
      </p:sp>
      <p:sp>
        <p:nvSpPr>
          <p:cNvPr id="21" name="TextBox 20">
            <a:extLst>
              <a:ext uri="{FF2B5EF4-FFF2-40B4-BE49-F238E27FC236}">
                <a16:creationId xmlns:a16="http://schemas.microsoft.com/office/drawing/2014/main" id="{8B3053C8-DFE5-73FC-CD70-22EB470CFAE1}"/>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22685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fade">
                                      <p:cBhvr>
                                        <p:cTn id="11" dur="500"/>
                                        <p:tgtEl>
                                          <p:spTgt spid="2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9"/>
                                        </p:tgtEl>
                                        <p:attrNameLst>
                                          <p:attrName>style.visibility</p:attrName>
                                        </p:attrNameLst>
                                      </p:cBhvr>
                                      <p:to>
                                        <p:strVal val="visible"/>
                                      </p:to>
                                    </p:set>
                                    <p:animEffect transition="in" filter="fade">
                                      <p:cBhvr>
                                        <p:cTn id="14" dur="500"/>
                                        <p:tgtEl>
                                          <p:spTgt spid="20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9"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HRIM</a:t>
            </a:r>
          </a:p>
          <a:p>
            <a:pPr algn="ctr"/>
            <a:r>
              <a:rPr lang="en-US" sz="1200" b="1" dirty="0">
                <a:solidFill>
                  <a:schemeClr val="bg1"/>
                </a:solidFill>
              </a:rPr>
              <a:t>Mapping Set</a:t>
            </a:r>
            <a:endParaRPr lang="en-NL" sz="1200" b="1" dirty="0">
              <a:solidFill>
                <a:schemeClr val="bg1"/>
              </a:solidFill>
            </a:endParaRPr>
          </a:p>
        </p:txBody>
      </p:sp>
      <p:grpSp>
        <p:nvGrpSpPr>
          <p:cNvPr id="8" name="Group 7">
            <a:extLst>
              <a:ext uri="{FF2B5EF4-FFF2-40B4-BE49-F238E27FC236}">
                <a16:creationId xmlns:a16="http://schemas.microsoft.com/office/drawing/2014/main" id="{80DB5062-FB77-AC46-B4E1-A1FBE9622B36}"/>
              </a:ext>
            </a:extLst>
          </p:cNvPr>
          <p:cNvGrpSpPr/>
          <p:nvPr/>
        </p:nvGrpSpPr>
        <p:grpSpPr>
          <a:xfrm>
            <a:off x="802062" y="4661339"/>
            <a:ext cx="4186747" cy="1224496"/>
            <a:chOff x="1170435" y="3751324"/>
            <a:chExt cx="4186747"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346806" y="3973037"/>
              <a:ext cx="3010376" cy="830997"/>
            </a:xfrm>
            <a:prstGeom prst="rect">
              <a:avLst/>
            </a:prstGeom>
            <a:noFill/>
          </p:spPr>
          <p:txBody>
            <a:bodyPr wrap="none" rtlCol="0">
              <a:spAutoFit/>
            </a:bodyPr>
            <a:lstStyle/>
            <a:p>
              <a:r>
                <a:rPr lang="en-US" sz="1600" dirty="0">
                  <a:solidFill>
                    <a:srgbClr val="00B050"/>
                  </a:solidFill>
                </a:rPr>
                <a:t>Semantic mappings move reuse</a:t>
              </a:r>
            </a:p>
            <a:p>
              <a:r>
                <a:rPr lang="en-US" sz="1600" dirty="0">
                  <a:solidFill>
                    <a:srgbClr val="00B050"/>
                  </a:solidFill>
                </a:rPr>
                <a:t>from fragile pairwise mappings</a:t>
              </a:r>
            </a:p>
            <a:p>
              <a:r>
                <a:rPr lang="en-US" sz="1600" dirty="0">
                  <a:solidFill>
                    <a:srgbClr val="00B050"/>
                  </a:solidFill>
                </a:rPr>
                <a:t>to a hub-and-spoke model.</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170435" y="3751324"/>
              <a:ext cx="1224496" cy="1224496"/>
              <a:chOff x="1170435" y="3751324"/>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70435" y="3751324"/>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607795" y="4132740"/>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
        <p:nvSpPr>
          <p:cNvPr id="24" name="Rectangle 23">
            <a:extLst>
              <a:ext uri="{FF2B5EF4-FFF2-40B4-BE49-F238E27FC236}">
                <a16:creationId xmlns:a16="http://schemas.microsoft.com/office/drawing/2014/main" id="{3D3C6131-9F96-C5AD-3DDF-155486C550B7}"/>
              </a:ext>
            </a:extLst>
          </p:cNvPr>
          <p:cNvSpPr/>
          <p:nvPr/>
        </p:nvSpPr>
        <p:spPr>
          <a:xfrm>
            <a:off x="2109437" y="2404703"/>
            <a:ext cx="4298350" cy="242242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TextBox 2">
            <a:extLst>
              <a:ext uri="{FF2B5EF4-FFF2-40B4-BE49-F238E27FC236}">
                <a16:creationId xmlns:a16="http://schemas.microsoft.com/office/drawing/2014/main" id="{7A50F099-2F2A-2833-0F7F-9EC6115705B7}"/>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231165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896-AA4F-54F7-07D5-E6B3A98CCD29}"/>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2DD58F5C-3709-D555-213C-7F1D5064350D}"/>
              </a:ext>
            </a:extLst>
          </p:cNvPr>
          <p:cNvCxnSpPr>
            <a:cxnSpLocks/>
          </p:cNvCxnSpPr>
          <p:nvPr/>
        </p:nvCxnSpPr>
        <p:spPr>
          <a:xfrm>
            <a:off x="1917106" y="3291840"/>
            <a:ext cx="0" cy="5829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29F2487-155A-2009-0956-C5B943E8BEDF}"/>
              </a:ext>
            </a:extLst>
          </p:cNvPr>
          <p:cNvSpPr>
            <a:spLocks noGrp="1"/>
          </p:cNvSpPr>
          <p:nvPr>
            <p:ph type="title"/>
          </p:nvPr>
        </p:nvSpPr>
        <p:spPr>
          <a:xfrm>
            <a:off x="695327" y="386001"/>
            <a:ext cx="9686408" cy="929259"/>
          </a:xfrm>
        </p:spPr>
        <p:txBody>
          <a:bodyPr/>
          <a:lstStyle/>
          <a:p>
            <a:r>
              <a:rPr lang="en-US" sz="3600" dirty="0"/>
              <a:t>Meaning-Based Mappings Shorten Reuse Paths</a:t>
            </a:r>
            <a:endParaRPr lang="en-NL" sz="3600" dirty="0"/>
          </a:p>
        </p:txBody>
      </p:sp>
      <p:sp>
        <p:nvSpPr>
          <p:cNvPr id="4" name="Slide Number Placeholder 3">
            <a:extLst>
              <a:ext uri="{FF2B5EF4-FFF2-40B4-BE49-F238E27FC236}">
                <a16:creationId xmlns:a16="http://schemas.microsoft.com/office/drawing/2014/main" id="{76BB98FA-8958-BDA9-5360-70052AB650DB}"/>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6" name="Parallelogram 5">
            <a:extLst>
              <a:ext uri="{FF2B5EF4-FFF2-40B4-BE49-F238E27FC236}">
                <a16:creationId xmlns:a16="http://schemas.microsoft.com/office/drawing/2014/main" id="{58AC9542-817F-1896-839E-338F963D2C0D}"/>
              </a:ext>
            </a:extLst>
          </p:cNvPr>
          <p:cNvSpPr/>
          <p:nvPr/>
        </p:nvSpPr>
        <p:spPr>
          <a:xfrm>
            <a:off x="70433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824644DE-0D36-0D6A-3B96-812F2DD072B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5" name="Parallelogram 4">
            <a:extLst>
              <a:ext uri="{FF2B5EF4-FFF2-40B4-BE49-F238E27FC236}">
                <a16:creationId xmlns:a16="http://schemas.microsoft.com/office/drawing/2014/main" id="{1266E690-E297-56FF-5AAC-5C3D44A82736}"/>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7" name="Straight Connector 6">
            <a:extLst>
              <a:ext uri="{FF2B5EF4-FFF2-40B4-BE49-F238E27FC236}">
                <a16:creationId xmlns:a16="http://schemas.microsoft.com/office/drawing/2014/main" id="{7F9EEC1E-EC80-0A1B-EAD5-C835D9D17302}"/>
              </a:ext>
            </a:extLst>
          </p:cNvPr>
          <p:cNvCxnSpPr>
            <a:cxnSpLocks/>
          </p:cNvCxnSpPr>
          <p:nvPr/>
        </p:nvCxnSpPr>
        <p:spPr>
          <a:xfrm>
            <a:off x="8275186" y="1646413"/>
            <a:ext cx="515" cy="221889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62DE54-12CD-1540-5BD1-5B6D03E16D83}"/>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18" name="Straight Connector 17">
            <a:extLst>
              <a:ext uri="{FF2B5EF4-FFF2-40B4-BE49-F238E27FC236}">
                <a16:creationId xmlns:a16="http://schemas.microsoft.com/office/drawing/2014/main" id="{2294FB75-4D39-2FF0-BB54-7253DC4360D1}"/>
              </a:ext>
            </a:extLst>
          </p:cNvPr>
          <p:cNvCxnSpPr>
            <a:cxnSpLocks/>
          </p:cNvCxnSpPr>
          <p:nvPr/>
        </p:nvCxnSpPr>
        <p:spPr>
          <a:xfrm>
            <a:off x="7048500" y="3712844"/>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F323FC5-5E75-FC46-B3FD-95ADEDB4C67C}"/>
              </a:ext>
            </a:extLst>
          </p:cNvPr>
          <p:cNvCxnSpPr>
            <a:cxnSpLocks/>
          </p:cNvCxnSpPr>
          <p:nvPr/>
        </p:nvCxnSpPr>
        <p:spPr>
          <a:xfrm>
            <a:off x="704336" y="3721576"/>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1F1299C-8229-FD24-28A4-4C77A2D31D4F}"/>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Y</a:t>
            </a:r>
            <a:endParaRPr lang="en-NL" b="1" dirty="0">
              <a:solidFill>
                <a:schemeClr val="bg1"/>
              </a:solidFill>
            </a:endParaRPr>
          </a:p>
        </p:txBody>
      </p:sp>
      <p:sp>
        <p:nvSpPr>
          <p:cNvPr id="33" name="Oval 32">
            <a:extLst>
              <a:ext uri="{FF2B5EF4-FFF2-40B4-BE49-F238E27FC236}">
                <a16:creationId xmlns:a16="http://schemas.microsoft.com/office/drawing/2014/main" id="{199F655E-7947-AAC1-E114-F4D7D3B2ADC4}"/>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X</a:t>
            </a:r>
            <a:endParaRPr lang="en-NL" b="1" dirty="0">
              <a:solidFill>
                <a:schemeClr val="bg1"/>
              </a:solidFill>
            </a:endParaRPr>
          </a:p>
        </p:txBody>
      </p:sp>
      <p:cxnSp>
        <p:nvCxnSpPr>
          <p:cNvPr id="152" name="Connector: Curved 151">
            <a:extLst>
              <a:ext uri="{FF2B5EF4-FFF2-40B4-BE49-F238E27FC236}">
                <a16:creationId xmlns:a16="http://schemas.microsoft.com/office/drawing/2014/main" id="{8B706728-E684-24F9-3B8F-61514BCCE93F}"/>
              </a:ext>
            </a:extLst>
          </p:cNvPr>
          <p:cNvCxnSpPr>
            <a:cxnSpLocks/>
            <a:stCxn id="33" idx="4"/>
          </p:cNvCxnSpPr>
          <p:nvPr/>
        </p:nvCxnSpPr>
        <p:spPr>
          <a:xfrm rot="5400000">
            <a:off x="2289194" y="3245557"/>
            <a:ext cx="139160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a:extLst>
              <a:ext uri="{FF2B5EF4-FFF2-40B4-BE49-F238E27FC236}">
                <a16:creationId xmlns:a16="http://schemas.microsoft.com/office/drawing/2014/main" id="{05874F88-E664-20DC-839C-BF817F80FCED}"/>
              </a:ext>
            </a:extLst>
          </p:cNvPr>
          <p:cNvCxnSpPr>
            <a:cxnSpLocks/>
            <a:stCxn id="33" idx="4"/>
          </p:cNvCxnSpPr>
          <p:nvPr/>
        </p:nvCxnSpPr>
        <p:spPr>
          <a:xfrm rot="16200000" flipH="1">
            <a:off x="2239029" y="3915464"/>
            <a:ext cx="270323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nector: Curved 164">
            <a:extLst>
              <a:ext uri="{FF2B5EF4-FFF2-40B4-BE49-F238E27FC236}">
                <a16:creationId xmlns:a16="http://schemas.microsoft.com/office/drawing/2014/main" id="{334A2901-2A82-F4F5-D5E4-5C96B40BB9DF}"/>
              </a:ext>
            </a:extLst>
          </p:cNvPr>
          <p:cNvCxnSpPr>
            <a:cxnSpLocks/>
            <a:stCxn id="33" idx="4"/>
          </p:cNvCxnSpPr>
          <p:nvPr/>
        </p:nvCxnSpPr>
        <p:spPr>
          <a:xfrm rot="16200000" flipH="1">
            <a:off x="2894844" y="3259649"/>
            <a:ext cx="139160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Curved 172">
            <a:extLst>
              <a:ext uri="{FF2B5EF4-FFF2-40B4-BE49-F238E27FC236}">
                <a16:creationId xmlns:a16="http://schemas.microsoft.com/office/drawing/2014/main" id="{6A3B9840-999E-B2BC-355C-7AB1827B4256}"/>
              </a:ext>
            </a:extLst>
          </p:cNvPr>
          <p:cNvCxnSpPr>
            <a:cxnSpLocks/>
            <a:stCxn id="33" idx="4"/>
          </p:cNvCxnSpPr>
          <p:nvPr/>
        </p:nvCxnSpPr>
        <p:spPr>
          <a:xfrm rot="5400000">
            <a:off x="1633379" y="3901372"/>
            <a:ext cx="270323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14808991-B08C-04C2-1BB5-B419524E9A69}"/>
              </a:ext>
            </a:extLst>
          </p:cNvPr>
          <p:cNvCxnSpPr>
            <a:cxnSpLocks/>
            <a:stCxn id="33" idx="4"/>
          </p:cNvCxnSpPr>
          <p:nvPr/>
        </p:nvCxnSpPr>
        <p:spPr>
          <a:xfrm>
            <a:off x="3294865" y="2859628"/>
            <a:ext cx="0"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2DE969CD-B274-E5EA-2D14-4193C9ACD1FD}"/>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82" name="Oval 181">
            <a:extLst>
              <a:ext uri="{FF2B5EF4-FFF2-40B4-BE49-F238E27FC236}">
                <a16:creationId xmlns:a16="http://schemas.microsoft.com/office/drawing/2014/main" id="{6B290E01-2340-2D4B-782F-510EFDF2C62A}"/>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183" name="Oval 182">
            <a:extLst>
              <a:ext uri="{FF2B5EF4-FFF2-40B4-BE49-F238E27FC236}">
                <a16:creationId xmlns:a16="http://schemas.microsoft.com/office/drawing/2014/main" id="{FFDC9460-83B8-88FB-0BD3-05ACC9952E02}"/>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184" name="Oval 183">
            <a:extLst>
              <a:ext uri="{FF2B5EF4-FFF2-40B4-BE49-F238E27FC236}">
                <a16:creationId xmlns:a16="http://schemas.microsoft.com/office/drawing/2014/main" id="{73C2851E-120D-CDB6-2F6A-5F12E01EC274}"/>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185" name="Oval 184">
            <a:extLst>
              <a:ext uri="{FF2B5EF4-FFF2-40B4-BE49-F238E27FC236}">
                <a16:creationId xmlns:a16="http://schemas.microsoft.com/office/drawing/2014/main" id="{7AEC86F1-1137-19AC-84AD-E15A2E4B1BB3}"/>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186" name="Oval 185">
            <a:extLst>
              <a:ext uri="{FF2B5EF4-FFF2-40B4-BE49-F238E27FC236}">
                <a16:creationId xmlns:a16="http://schemas.microsoft.com/office/drawing/2014/main" id="{1E887EAB-AE50-BD0A-C6F9-A402F3322040}"/>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87" name="Oval 186">
            <a:extLst>
              <a:ext uri="{FF2B5EF4-FFF2-40B4-BE49-F238E27FC236}">
                <a16:creationId xmlns:a16="http://schemas.microsoft.com/office/drawing/2014/main" id="{7581E74E-6AA9-F259-50AE-E63A2C2F7E3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188" name="Oval 187">
            <a:extLst>
              <a:ext uri="{FF2B5EF4-FFF2-40B4-BE49-F238E27FC236}">
                <a16:creationId xmlns:a16="http://schemas.microsoft.com/office/drawing/2014/main" id="{649C762C-FB3A-7F7F-918D-0D49CD81B1B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189" name="Oval 188">
            <a:extLst>
              <a:ext uri="{FF2B5EF4-FFF2-40B4-BE49-F238E27FC236}">
                <a16:creationId xmlns:a16="http://schemas.microsoft.com/office/drawing/2014/main" id="{ABE6F95D-304C-4181-A9E4-4A5A0E20B7BC}"/>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cxnSp>
        <p:nvCxnSpPr>
          <p:cNvPr id="190" name="Connector: Curved 189">
            <a:extLst>
              <a:ext uri="{FF2B5EF4-FFF2-40B4-BE49-F238E27FC236}">
                <a16:creationId xmlns:a16="http://schemas.microsoft.com/office/drawing/2014/main" id="{F882DCFF-1400-D6B8-9CFE-9CD0ADA93F6A}"/>
              </a:ext>
            </a:extLst>
          </p:cNvPr>
          <p:cNvCxnSpPr>
            <a:cxnSpLocks/>
            <a:stCxn id="32" idx="4"/>
            <a:endCxn id="189" idx="6"/>
          </p:cNvCxnSpPr>
          <p:nvPr/>
        </p:nvCxnSpPr>
        <p:spPr>
          <a:xfrm rot="5400000">
            <a:off x="5398700" y="3258338"/>
            <a:ext cx="139160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Curved 192">
            <a:extLst>
              <a:ext uri="{FF2B5EF4-FFF2-40B4-BE49-F238E27FC236}">
                <a16:creationId xmlns:a16="http://schemas.microsoft.com/office/drawing/2014/main" id="{14A373DF-AFDF-87AE-DC3F-AEF7405C117D}"/>
              </a:ext>
            </a:extLst>
          </p:cNvPr>
          <p:cNvCxnSpPr>
            <a:cxnSpLocks/>
            <a:stCxn id="32" idx="4"/>
            <a:endCxn id="186" idx="2"/>
          </p:cNvCxnSpPr>
          <p:nvPr/>
        </p:nvCxnSpPr>
        <p:spPr>
          <a:xfrm rot="16200000" flipH="1">
            <a:off x="5992881" y="3258337"/>
            <a:ext cx="1391601" cy="59418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Curved 195">
            <a:extLst>
              <a:ext uri="{FF2B5EF4-FFF2-40B4-BE49-F238E27FC236}">
                <a16:creationId xmlns:a16="http://schemas.microsoft.com/office/drawing/2014/main" id="{5FE2280E-5443-007B-1A04-BEDCC7DC7B11}"/>
              </a:ext>
            </a:extLst>
          </p:cNvPr>
          <p:cNvCxnSpPr>
            <a:cxnSpLocks/>
            <a:stCxn id="32" idx="4"/>
            <a:endCxn id="185" idx="6"/>
          </p:cNvCxnSpPr>
          <p:nvPr/>
        </p:nvCxnSpPr>
        <p:spPr>
          <a:xfrm rot="5400000">
            <a:off x="4742885" y="3914153"/>
            <a:ext cx="270323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823CCC4-C61F-6D53-544B-B0D3916CF9A0}"/>
              </a:ext>
            </a:extLst>
          </p:cNvPr>
          <p:cNvCxnSpPr>
            <a:cxnSpLocks/>
            <a:stCxn id="32" idx="4"/>
            <a:endCxn id="181"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8" name="Oval 207">
            <a:extLst>
              <a:ext uri="{FF2B5EF4-FFF2-40B4-BE49-F238E27FC236}">
                <a16:creationId xmlns:a16="http://schemas.microsoft.com/office/drawing/2014/main" id="{2C7321EF-F76D-C48C-8390-C443E3411ACA}"/>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10" name="Connector: Curved 209">
            <a:extLst>
              <a:ext uri="{FF2B5EF4-FFF2-40B4-BE49-F238E27FC236}">
                <a16:creationId xmlns:a16="http://schemas.microsoft.com/office/drawing/2014/main" id="{716332DA-6028-3A20-A633-82AD05CED0AD}"/>
              </a:ext>
            </a:extLst>
          </p:cNvPr>
          <p:cNvCxnSpPr>
            <a:cxnSpLocks/>
            <a:stCxn id="33" idx="6"/>
            <a:endCxn id="208" idx="0"/>
          </p:cNvCxnSpPr>
          <p:nvPr/>
        </p:nvCxnSpPr>
        <p:spPr>
          <a:xfrm>
            <a:off x="3474865" y="2679628"/>
            <a:ext cx="1370988" cy="20474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2627D7C-8AE4-A693-AFB9-11072E1044F3}"/>
              </a:ext>
            </a:extLst>
          </p:cNvPr>
          <p:cNvSpPr txBox="1"/>
          <p:nvPr/>
        </p:nvSpPr>
        <p:spPr>
          <a:xfrm>
            <a:off x="8536079" y="1654926"/>
            <a:ext cx="2951586" cy="3816261"/>
          </a:xfrm>
          <a:prstGeom prst="rect">
            <a:avLst/>
          </a:prstGeom>
          <a:ln/>
        </p:spPr>
        <p:style>
          <a:lnRef idx="0">
            <a:schemeClr val="accent4"/>
          </a:lnRef>
          <a:fillRef idx="3">
            <a:schemeClr val="accent4"/>
          </a:fillRef>
          <a:effectRef idx="3">
            <a:schemeClr val="accent4"/>
          </a:effectRef>
          <a:fontRef idx="minor">
            <a:schemeClr val="lt1"/>
          </a:fontRef>
        </p:style>
        <p:txBody>
          <a:bodyPr wrap="square" lIns="36000" tIns="180000" bIns="180000">
            <a:spAutoFit/>
          </a:bodyPr>
          <a:lstStyle/>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Shared meanings create a common semantic hub. </a:t>
            </a:r>
            <a:r>
              <a:rPr lang="en-US" sz="1600" dirty="0"/>
              <a:t>Paths are shorter and clearer.</a:t>
            </a:r>
            <a:endParaRPr lang="en-US" sz="1600" dirty="0">
              <a:solidFill>
                <a:schemeClr val="bg1"/>
              </a:solidFill>
            </a:endParaRP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Semantic alignment is based on explicit meanings, not labels.</a:t>
            </a: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Adding concepts creates more reusable knowledge for future queries, enriching the network without increasing path complexity.</a:t>
            </a:r>
            <a:endParaRPr lang="en-NL" sz="1600" dirty="0">
              <a:solidFill>
                <a:schemeClr val="bg1"/>
              </a:solidFill>
            </a:endParaRPr>
          </a:p>
        </p:txBody>
      </p:sp>
      <p:sp>
        <p:nvSpPr>
          <p:cNvPr id="215" name="TextBox 214">
            <a:extLst>
              <a:ext uri="{FF2B5EF4-FFF2-40B4-BE49-F238E27FC236}">
                <a16:creationId xmlns:a16="http://schemas.microsoft.com/office/drawing/2014/main" id="{C86FE6E8-D139-2E9D-8A71-624D4C697409}"/>
              </a:ext>
            </a:extLst>
          </p:cNvPr>
          <p:cNvSpPr txBox="1"/>
          <p:nvPr/>
        </p:nvSpPr>
        <p:spPr>
          <a:xfrm>
            <a:off x="4455882" y="165492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216" name="TextBox 215">
            <a:extLst>
              <a:ext uri="{FF2B5EF4-FFF2-40B4-BE49-F238E27FC236}">
                <a16:creationId xmlns:a16="http://schemas.microsoft.com/office/drawing/2014/main" id="{8F961ED4-FA80-4B8A-8473-4D6A820DBD60}"/>
              </a:ext>
            </a:extLst>
          </p:cNvPr>
          <p:cNvSpPr txBox="1"/>
          <p:nvPr/>
        </p:nvSpPr>
        <p:spPr>
          <a:xfrm>
            <a:off x="4455880" y="2073460"/>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3" name="TextBox 2">
            <a:extLst>
              <a:ext uri="{FF2B5EF4-FFF2-40B4-BE49-F238E27FC236}">
                <a16:creationId xmlns:a16="http://schemas.microsoft.com/office/drawing/2014/main" id="{90A41E36-16A4-954E-605D-519D50D7AA1E}"/>
              </a:ext>
            </a:extLst>
          </p:cNvPr>
          <p:cNvSpPr txBox="1"/>
          <p:nvPr/>
        </p:nvSpPr>
        <p:spPr>
          <a:xfrm>
            <a:off x="4455880" y="2493961"/>
            <a:ext cx="2838290"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2 steps</a:t>
            </a:r>
            <a:endParaRPr lang="en-NL" sz="1600" dirty="0">
              <a:solidFill>
                <a:schemeClr val="bg2"/>
              </a:solidFill>
            </a:endParaRPr>
          </a:p>
        </p:txBody>
      </p:sp>
      <p:sp>
        <p:nvSpPr>
          <p:cNvPr id="8" name="TextBox 7">
            <a:extLst>
              <a:ext uri="{FF2B5EF4-FFF2-40B4-BE49-F238E27FC236}">
                <a16:creationId xmlns:a16="http://schemas.microsoft.com/office/drawing/2014/main" id="{A0A8E09E-2F79-956D-1A5B-93F4029EB15D}"/>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Tree>
    <p:extLst>
      <p:ext uri="{BB962C8B-B14F-4D97-AF65-F5344CB8AC3E}">
        <p14:creationId xmlns:p14="http://schemas.microsoft.com/office/powerpoint/2010/main" val="389304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0"/>
                                        </p:tgtEl>
                                        <p:attrNameLst>
                                          <p:attrName>style.visibility</p:attrName>
                                        </p:attrNameLst>
                                      </p:cBhvr>
                                      <p:to>
                                        <p:strVal val="visible"/>
                                      </p:to>
                                    </p:set>
                                    <p:animEffect transition="in" filter="fade">
                                      <p:cBhvr>
                                        <p:cTn id="11" dur="500"/>
                                        <p:tgtEl>
                                          <p:spTgt spid="2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6"/>
                                        </p:tgtEl>
                                        <p:attrNameLst>
                                          <p:attrName>style.visibility</p:attrName>
                                        </p:attrNameLst>
                                      </p:cBhvr>
                                      <p:to>
                                        <p:strVal val="visible"/>
                                      </p:to>
                                    </p:set>
                                    <p:animEffect transition="in" filter="fade">
                                      <p:cBhvr>
                                        <p:cTn id="14" dur="500"/>
                                        <p:tgtEl>
                                          <p:spTgt spid="2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6"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9C57-B199-A756-96C2-20E65C1FD5D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592F051-7B6C-E4A1-F96A-C600E39A0BA6}"/>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70E9527-26D3-46FD-FC6A-77E8F52EBF2B}"/>
              </a:ext>
            </a:extLst>
          </p:cNvPr>
          <p:cNvSpPr>
            <a:spLocks noGrp="1"/>
          </p:cNvSpPr>
          <p:nvPr>
            <p:ph type="title"/>
          </p:nvPr>
        </p:nvSpPr>
        <p:spPr>
          <a:xfrm>
            <a:off x="695327" y="386001"/>
            <a:ext cx="9351540" cy="929259"/>
          </a:xfrm>
        </p:spPr>
        <p:txBody>
          <a:bodyPr/>
          <a:lstStyle/>
          <a:p>
            <a:r>
              <a:rPr lang="en-US" sz="3200" dirty="0"/>
              <a:t>Amir Assesses Reuse Through Semantic Relations</a:t>
            </a:r>
            <a:endParaRPr lang="en-NL" sz="3200" dirty="0"/>
          </a:p>
        </p:txBody>
      </p:sp>
      <p:sp>
        <p:nvSpPr>
          <p:cNvPr id="4" name="Slide Number Placeholder 3">
            <a:extLst>
              <a:ext uri="{FF2B5EF4-FFF2-40B4-BE49-F238E27FC236}">
                <a16:creationId xmlns:a16="http://schemas.microsoft.com/office/drawing/2014/main" id="{CDCB8226-6F0D-37A5-9E4F-B37994E28898}"/>
              </a:ext>
            </a:extLst>
          </p:cNvPr>
          <p:cNvSpPr>
            <a:spLocks noGrp="1"/>
          </p:cNvSpPr>
          <p:nvPr>
            <p:ph type="sldNum" sz="quarter" idx="12"/>
          </p:nvPr>
        </p:nvSpPr>
        <p:spPr/>
        <p:txBody>
          <a:bodyPr/>
          <a:lstStyle/>
          <a:p>
            <a:fld id="{4FAB73BC-B049-4115-A692-8D63A059BFB8}" type="slidenum">
              <a:rPr lang="en-US" smtClean="0"/>
              <a:pPr/>
              <a:t>31</a:t>
            </a:fld>
            <a:endParaRPr lang="en-US" dirty="0"/>
          </a:p>
        </p:txBody>
      </p:sp>
      <p:sp>
        <p:nvSpPr>
          <p:cNvPr id="30" name="Parallelogram 29">
            <a:extLst>
              <a:ext uri="{FF2B5EF4-FFF2-40B4-BE49-F238E27FC236}">
                <a16:creationId xmlns:a16="http://schemas.microsoft.com/office/drawing/2014/main" id="{20ABDBF9-D352-E6C9-CFE6-63385CA6510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92EA785-71A5-CE65-9D66-F7A504AA0A6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B43630C-0F17-D383-D46B-0FA3E117A882}"/>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0CDB7A82-7FFF-4221-4DC7-00EAEE407BF2}"/>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4202E53F-1385-0C6A-8D17-3A00B90BAED2}"/>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0631C933-E8EF-7088-ED7F-99874654FA10}"/>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8D6F2841-FA4A-C37E-44CC-1D5C5373E35F}"/>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E0F03B-F305-35C3-A2FD-C26AC62DE836}"/>
              </a:ext>
            </a:extLst>
          </p:cNvPr>
          <p:cNvCxnSpPr>
            <a:cxnSpLocks/>
          </p:cNvCxnSpPr>
          <p:nvPr/>
        </p:nvCxnSpPr>
        <p:spPr>
          <a:xfrm>
            <a:off x="9865943" y="2921524"/>
            <a:ext cx="0" cy="30235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E1AEB5BF-4DEC-CA87-5552-C3917FBD672D}"/>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solidFill>
                  <a:schemeClr val="bg1">
                    <a:lumMod val="65000"/>
                  </a:schemeClr>
                </a:solidFill>
              </a:rPr>
              <a:t>hrio:Sex</a:t>
            </a:r>
            <a:endParaRPr lang="en-NL" sz="1200" dirty="0">
              <a:solidFill>
                <a:schemeClr val="bg1">
                  <a:lumMod val="65000"/>
                </a:schemeClr>
              </a:solidFill>
            </a:endParaRPr>
          </a:p>
        </p:txBody>
      </p:sp>
      <p:sp>
        <p:nvSpPr>
          <p:cNvPr id="5" name="TextBox 4">
            <a:extLst>
              <a:ext uri="{FF2B5EF4-FFF2-40B4-BE49-F238E27FC236}">
                <a16:creationId xmlns:a16="http://schemas.microsoft.com/office/drawing/2014/main" id="{0ECD8A2E-EAF8-3B78-8C19-B3FA136075FB}"/>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solidFill>
                  <a:schemeClr val="bg1">
                    <a:lumMod val="65000"/>
                  </a:schemeClr>
                </a:solidFill>
              </a:rPr>
              <a:t>care-sm:Sex</a:t>
            </a:r>
            <a:endParaRPr lang="en-NL" sz="1200" dirty="0">
              <a:solidFill>
                <a:schemeClr val="bg1">
                  <a:lumMod val="65000"/>
                </a:schemeClr>
              </a:solidFill>
            </a:endParaRPr>
          </a:p>
        </p:txBody>
      </p:sp>
      <p:sp>
        <p:nvSpPr>
          <p:cNvPr id="24" name="TextBox 23">
            <a:extLst>
              <a:ext uri="{FF2B5EF4-FFF2-40B4-BE49-F238E27FC236}">
                <a16:creationId xmlns:a16="http://schemas.microsoft.com/office/drawing/2014/main" id="{D07A166E-F6AA-3201-A2CC-4CE06025F670}"/>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solidFill>
                  <a:schemeClr val="bg1">
                    <a:lumMod val="65000"/>
                  </a:schemeClr>
                </a:solidFill>
              </a:rPr>
              <a:t>hrio:LegalGender</a:t>
            </a:r>
            <a:endParaRPr lang="en-NL" sz="1200" dirty="0">
              <a:solidFill>
                <a:schemeClr val="bg1">
                  <a:lumMod val="65000"/>
                </a:schemeClr>
              </a:solidFill>
            </a:endParaRPr>
          </a:p>
        </p:txBody>
      </p:sp>
      <p:sp>
        <p:nvSpPr>
          <p:cNvPr id="54" name="TextBox 53">
            <a:extLst>
              <a:ext uri="{FF2B5EF4-FFF2-40B4-BE49-F238E27FC236}">
                <a16:creationId xmlns:a16="http://schemas.microsoft.com/office/drawing/2014/main" id="{AFCA0E64-46A7-1A57-5F87-48524E89ED98}"/>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solidFill>
                  <a:schemeClr val="bg1">
                    <a:lumMod val="65000"/>
                  </a:schemeClr>
                </a:solidFill>
              </a:rPr>
              <a:t>hri-openehr:legal-gender</a:t>
            </a:r>
            <a:endParaRPr lang="en-NL" sz="1200" dirty="0">
              <a:solidFill>
                <a:schemeClr val="bg1">
                  <a:lumMod val="65000"/>
                </a:schemeClr>
              </a:solidFill>
            </a:endParaRPr>
          </a:p>
        </p:txBody>
      </p:sp>
      <p:sp>
        <p:nvSpPr>
          <p:cNvPr id="78" name="TextBox 77">
            <a:extLst>
              <a:ext uri="{FF2B5EF4-FFF2-40B4-BE49-F238E27FC236}">
                <a16:creationId xmlns:a16="http://schemas.microsoft.com/office/drawing/2014/main" id="{D28BDC3A-E387-D044-CB7D-1AEC90B9E830}"/>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loinc:107454-1</a:t>
            </a:r>
            <a:endParaRPr lang="en-NL" sz="1200" dirty="0">
              <a:solidFill>
                <a:schemeClr val="bg1">
                  <a:lumMod val="65000"/>
                </a:schemeClr>
              </a:solidFill>
            </a:endParaRPr>
          </a:p>
        </p:txBody>
      </p:sp>
      <p:sp>
        <p:nvSpPr>
          <p:cNvPr id="80" name="TextBox 79">
            <a:extLst>
              <a:ext uri="{FF2B5EF4-FFF2-40B4-BE49-F238E27FC236}">
                <a16:creationId xmlns:a16="http://schemas.microsoft.com/office/drawing/2014/main" id="{0B75FDFF-1BAC-71DB-6451-795A91AB03F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NPR Demographic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3" name="TextBox 2">
            <a:extLst>
              <a:ext uri="{FF2B5EF4-FFF2-40B4-BE49-F238E27FC236}">
                <a16:creationId xmlns:a16="http://schemas.microsoft.com/office/drawing/2014/main" id="{C6158A0E-0B03-E85D-E81A-8C488DF44831}"/>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Administrative Intake </a:t>
            </a:r>
          </a:p>
          <a:p>
            <a:r>
              <a:rPr lang="en-US" sz="1200" dirty="0">
                <a:solidFill>
                  <a:schemeClr val="bg1">
                    <a:lumMod val="65000"/>
                  </a:schemeClr>
                </a:solidFill>
              </a:rPr>
              <a:t>Extract</a:t>
            </a:r>
            <a:endParaRPr lang="en-NL" sz="1100" dirty="0">
              <a:solidFill>
                <a:schemeClr val="bg1">
                  <a:lumMod val="65000"/>
                </a:schemeClr>
              </a:solidFill>
              <a:effectLst/>
            </a:endParaRPr>
          </a:p>
        </p:txBody>
      </p:sp>
      <p:sp>
        <p:nvSpPr>
          <p:cNvPr id="6" name="TextBox 5">
            <a:extLst>
              <a:ext uri="{FF2B5EF4-FFF2-40B4-BE49-F238E27FC236}">
                <a16:creationId xmlns:a16="http://schemas.microsoft.com/office/drawing/2014/main" id="{2667D2C1-443E-FB12-44EF-51C5AE3DDE5A}"/>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Hospital Registration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12" name="TextBox 11">
            <a:extLst>
              <a:ext uri="{FF2B5EF4-FFF2-40B4-BE49-F238E27FC236}">
                <a16:creationId xmlns:a16="http://schemas.microsoft.com/office/drawing/2014/main" id="{A2530F16-1E0A-06AA-6F83-AA0F16B22CB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3</a:t>
            </a:r>
            <a:endParaRPr lang="en-NL" sz="1000" b="1" dirty="0"/>
          </a:p>
        </p:txBody>
      </p:sp>
      <p:sp>
        <p:nvSpPr>
          <p:cNvPr id="56" name="Oval 55">
            <a:extLst>
              <a:ext uri="{FF2B5EF4-FFF2-40B4-BE49-F238E27FC236}">
                <a16:creationId xmlns:a16="http://schemas.microsoft.com/office/drawing/2014/main" id="{452BDB55-FAB0-4F5B-88B1-46B7DE7C9E65}"/>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D3E7B706-5853-FA14-2A25-40C2FC6925F9}"/>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BA9418DA-FC41-97ED-76C9-25D7572DF496}"/>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036789A3-F5AC-3ABA-7AB0-670B82FC8D77}"/>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A4CDC3F1-26BD-B3E9-AEA0-EA8509A98B97}"/>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8BE8E10-E6DD-CAD9-259E-55E4BF22B89D}"/>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938A373D-58B1-E4B7-69C6-C61953C32C3D}"/>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62DD0E02-7FA6-82D0-2A1A-7D6B0F4FA4F4}"/>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88" name="Oval 87">
            <a:extLst>
              <a:ext uri="{FF2B5EF4-FFF2-40B4-BE49-F238E27FC236}">
                <a16:creationId xmlns:a16="http://schemas.microsoft.com/office/drawing/2014/main" id="{20644FBB-6431-9581-E11B-461744EC5426}"/>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14" name="Content Placeholder 2">
            <a:extLst>
              <a:ext uri="{FF2B5EF4-FFF2-40B4-BE49-F238E27FC236}">
                <a16:creationId xmlns:a16="http://schemas.microsoft.com/office/drawing/2014/main" id="{8D998FD9-EF58-12CB-3891-C021F82BB5B6}"/>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Biological sex does not align with the gender-based variables.</a:t>
            </a:r>
          </a:p>
          <a:p>
            <a:pPr>
              <a:lnSpc>
                <a:spcPct val="85000"/>
              </a:lnSpc>
              <a:spcAft>
                <a:spcPts val="1800"/>
              </a:spcAft>
            </a:pPr>
            <a:r>
              <a:rPr lang="en-US" sz="2000" dirty="0"/>
              <a:t>Legal gender and administrative gender are related, but only partially align.</a:t>
            </a:r>
          </a:p>
          <a:p>
            <a:pPr>
              <a:lnSpc>
                <a:spcPct val="85000"/>
              </a:lnSpc>
              <a:spcAft>
                <a:spcPts val="1800"/>
              </a:spcAft>
            </a:pPr>
            <a:r>
              <a:rPr lang="en-US" sz="2000" dirty="0"/>
              <a:t>Amir can now rule out unsafe reuse.</a:t>
            </a:r>
            <a:endParaRPr lang="en-NL" sz="2000" dirty="0"/>
          </a:p>
        </p:txBody>
      </p:sp>
      <p:cxnSp>
        <p:nvCxnSpPr>
          <p:cNvPr id="29" name="Straight Connector 28">
            <a:extLst>
              <a:ext uri="{FF2B5EF4-FFF2-40B4-BE49-F238E27FC236}">
                <a16:creationId xmlns:a16="http://schemas.microsoft.com/office/drawing/2014/main" id="{22654AB0-6AC5-F145-B8B4-8E95CA81E684}"/>
              </a:ext>
            </a:extLst>
          </p:cNvPr>
          <p:cNvCxnSpPr>
            <a:cxnSpLocks/>
          </p:cNvCxnSpPr>
          <p:nvPr/>
        </p:nvCxnSpPr>
        <p:spPr>
          <a:xfrm>
            <a:off x="11321146" y="1639416"/>
            <a:ext cx="0" cy="30450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B1104ED-340A-A5B2-26AC-DEA52FBDF4FC}"/>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solidFill>
                  <a:schemeClr val="bg1">
                    <a:lumMod val="65000"/>
                  </a:schemeClr>
                </a:solidFill>
              </a:rPr>
              <a:t>hrio:AdministrativeGender</a:t>
            </a:r>
            <a:endParaRPr lang="en-NL" sz="1200" dirty="0">
              <a:solidFill>
                <a:schemeClr val="bg1">
                  <a:lumMod val="65000"/>
                </a:schemeClr>
              </a:solidFill>
            </a:endParaRPr>
          </a:p>
        </p:txBody>
      </p:sp>
      <p:cxnSp>
        <p:nvCxnSpPr>
          <p:cNvPr id="40" name="Straight Arrow Connector 39">
            <a:extLst>
              <a:ext uri="{FF2B5EF4-FFF2-40B4-BE49-F238E27FC236}">
                <a16:creationId xmlns:a16="http://schemas.microsoft.com/office/drawing/2014/main" id="{BD6DCCDD-1657-B117-33F6-BE6933CF2323}"/>
              </a:ext>
            </a:extLst>
          </p:cNvPr>
          <p:cNvCxnSpPr>
            <a:cxnSpLocks/>
            <a:stCxn id="74" idx="2"/>
            <a:endCxn id="73" idx="6"/>
          </p:cNvCxnSpPr>
          <p:nvPr/>
        </p:nvCxnSpPr>
        <p:spPr>
          <a:xfrm flipH="1">
            <a:off x="8368672" y="5322662"/>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E604BA72-AA9B-DAC4-7ABD-7C223FEA757A}"/>
              </a:ext>
            </a:extLst>
          </p:cNvPr>
          <p:cNvCxnSpPr>
            <a:cxnSpLocks/>
            <a:stCxn id="49" idx="2"/>
            <a:endCxn id="58" idx="6"/>
          </p:cNvCxnSpPr>
          <p:nvPr/>
        </p:nvCxnSpPr>
        <p:spPr>
          <a:xfrm flipH="1">
            <a:off x="8368672" y="3803006"/>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33814FB-6B62-2B34-DB44-EF3728727745}"/>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E5BB9C-F047-9DCE-9DA3-015F3D33A800}"/>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4BBC9AB-69D4-CAD4-9949-F5D7662C1C62}"/>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D3012C-7827-1F1D-3195-227F4BE3968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7862837-D7AB-499B-C407-3A189EE19BB4}"/>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1EA228-FFCB-69F1-FF0A-7ED4F47DEEBE}"/>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2AEDF3-6A51-DF84-7E85-4AFFA75872B1}"/>
              </a:ext>
            </a:extLst>
          </p:cNvPr>
          <p:cNvCxnSpPr>
            <a:cxnSpLocks/>
            <a:stCxn id="88" idx="6"/>
            <a:endCxn id="21" idx="2"/>
          </p:cNvCxnSpPr>
          <p:nvPr/>
        </p:nvCxnSpPr>
        <p:spPr>
          <a:xfrm flipV="1">
            <a:off x="8368671" y="2283351"/>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0DB50-02A2-AB02-8550-93F9D22F82D7}"/>
              </a:ext>
            </a:extLst>
          </p:cNvPr>
          <p:cNvCxnSpPr>
            <a:cxnSpLocks/>
            <a:stCxn id="73" idx="2"/>
            <a:endCxn id="72" idx="6"/>
          </p:cNvCxnSpPr>
          <p:nvPr/>
        </p:nvCxnSpPr>
        <p:spPr>
          <a:xfrm flipH="1">
            <a:off x="6933542" y="5322662"/>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9CD9C69F-32B3-F43D-611B-C808B9C4F225}"/>
              </a:ext>
            </a:extLst>
          </p:cNvPr>
          <p:cNvCxnSpPr>
            <a:cxnSpLocks/>
            <a:stCxn id="58" idx="2"/>
            <a:endCxn id="56" idx="6"/>
          </p:cNvCxnSpPr>
          <p:nvPr/>
        </p:nvCxnSpPr>
        <p:spPr>
          <a:xfrm flipH="1">
            <a:off x="6933542" y="3803006"/>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D1167D46-E8E8-31D5-355E-097AA2FF8699}"/>
              </a:ext>
            </a:extLst>
          </p:cNvPr>
          <p:cNvCxnSpPr>
            <a:stCxn id="72" idx="5"/>
            <a:endCxn id="74" idx="3"/>
          </p:cNvCxnSpPr>
          <p:nvPr/>
        </p:nvCxnSpPr>
        <p:spPr>
          <a:xfrm rot="16200000" flipH="1">
            <a:off x="8163884" y="4177145"/>
            <a:ext cx="12700" cy="2580646"/>
          </a:xfrm>
          <a:prstGeom prst="curvedConnector3">
            <a:avLst>
              <a:gd name="adj1" fmla="val 25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9" name="Connector: Curved 58">
            <a:extLst>
              <a:ext uri="{FF2B5EF4-FFF2-40B4-BE49-F238E27FC236}">
                <a16:creationId xmlns:a16="http://schemas.microsoft.com/office/drawing/2014/main" id="{BAC636D5-FC72-3F44-AFA4-E69FACF9CB62}"/>
              </a:ext>
            </a:extLst>
          </p:cNvPr>
          <p:cNvCxnSpPr>
            <a:cxnSpLocks/>
            <a:stCxn id="56" idx="5"/>
            <a:endCxn id="49" idx="3"/>
          </p:cNvCxnSpPr>
          <p:nvPr/>
        </p:nvCxnSpPr>
        <p:spPr>
          <a:xfrm rot="16200000" flipH="1">
            <a:off x="8163884" y="2657489"/>
            <a:ext cx="12700" cy="2580646"/>
          </a:xfrm>
          <a:prstGeom prst="curvedConnector3">
            <a:avLst>
              <a:gd name="adj1" fmla="val 26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1034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2919-E793-4622-0B22-68FB9FE356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92FABE-9252-A737-3D85-129E99DD4E9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F14A8E9A-0A39-DC7C-18E0-0AC90E0E85C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3" name="Connector: Elbow 2">
            <a:extLst>
              <a:ext uri="{FF2B5EF4-FFF2-40B4-BE49-F238E27FC236}">
                <a16:creationId xmlns:a16="http://schemas.microsoft.com/office/drawing/2014/main" id="{115B74EF-7A54-4501-F1C3-DEA48EB4F7D6}"/>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 name="Rectangle 4">
            <a:extLst>
              <a:ext uri="{FF2B5EF4-FFF2-40B4-BE49-F238E27FC236}">
                <a16:creationId xmlns:a16="http://schemas.microsoft.com/office/drawing/2014/main" id="{0A5E642B-14C9-18BB-2108-F108819B49F1}"/>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284E5E81-AF18-DCB7-3FF7-93652390DBD1}"/>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
        <p:nvSpPr>
          <p:cNvPr id="47" name="Title 1">
            <a:extLst>
              <a:ext uri="{FF2B5EF4-FFF2-40B4-BE49-F238E27FC236}">
                <a16:creationId xmlns:a16="http://schemas.microsoft.com/office/drawing/2014/main" id="{9DBFE7AF-389F-3103-AD35-F730CE96FE25}"/>
              </a:ext>
            </a:extLst>
          </p:cNvPr>
          <p:cNvSpPr>
            <a:spLocks noGrp="1"/>
          </p:cNvSpPr>
          <p:nvPr>
            <p:ph type="title"/>
          </p:nvPr>
        </p:nvSpPr>
        <p:spPr>
          <a:xfrm>
            <a:off x="695327" y="386001"/>
            <a:ext cx="9153523" cy="929259"/>
          </a:xfrm>
        </p:spPr>
        <p:txBody>
          <a:bodyPr/>
          <a:lstStyle/>
          <a:p>
            <a:r>
              <a:rPr lang="en-US" sz="3600" b="1" dirty="0"/>
              <a:t>Scenario 4: Query Semantic Knowledge Across Variables and Meanings</a:t>
            </a:r>
          </a:p>
        </p:txBody>
      </p:sp>
      <p:sp>
        <p:nvSpPr>
          <p:cNvPr id="74" name="Freeform: Shape 73">
            <a:extLst>
              <a:ext uri="{FF2B5EF4-FFF2-40B4-BE49-F238E27FC236}">
                <a16:creationId xmlns:a16="http://schemas.microsoft.com/office/drawing/2014/main" id="{EFADF616-2275-0117-7E58-C61EE672FA3B}"/>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81C3F893-73D1-28B1-E2DC-98EEBCECC356}"/>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096AAC1E-62B3-4596-749C-8E24AEB63E94}"/>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9" name="Freeform: Shape 78">
            <a:extLst>
              <a:ext uri="{FF2B5EF4-FFF2-40B4-BE49-F238E27FC236}">
                <a16:creationId xmlns:a16="http://schemas.microsoft.com/office/drawing/2014/main" id="{3536AA09-FE9D-0B56-B6FD-45336037A89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EEBFA083-7735-0A2C-95B3-1B5F4FBD13AB}"/>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0944DFD3-38D1-D5F9-DA0F-64E18260ABEB}"/>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sp>
        <p:nvSpPr>
          <p:cNvPr id="78" name="Freeform: Shape 77">
            <a:extLst>
              <a:ext uri="{FF2B5EF4-FFF2-40B4-BE49-F238E27FC236}">
                <a16:creationId xmlns:a16="http://schemas.microsoft.com/office/drawing/2014/main" id="{765079D2-5B08-0D37-BAAD-19E02905C747}"/>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grpSp>
        <p:nvGrpSpPr>
          <p:cNvPr id="6" name="Group 5">
            <a:extLst>
              <a:ext uri="{FF2B5EF4-FFF2-40B4-BE49-F238E27FC236}">
                <a16:creationId xmlns:a16="http://schemas.microsoft.com/office/drawing/2014/main" id="{C0B61ED2-7945-6256-3450-0123CD6C1C71}"/>
              </a:ext>
            </a:extLst>
          </p:cNvPr>
          <p:cNvGrpSpPr/>
          <p:nvPr/>
        </p:nvGrpSpPr>
        <p:grpSpPr>
          <a:xfrm>
            <a:off x="9704903" y="2357067"/>
            <a:ext cx="1554653" cy="2783013"/>
            <a:chOff x="9704903" y="2357067"/>
            <a:chExt cx="1554653" cy="2783013"/>
          </a:xfrm>
        </p:grpSpPr>
        <p:sp>
          <p:nvSpPr>
            <p:cNvPr id="7" name="Freeform: Shape 6">
              <a:extLst>
                <a:ext uri="{FF2B5EF4-FFF2-40B4-BE49-F238E27FC236}">
                  <a16:creationId xmlns:a16="http://schemas.microsoft.com/office/drawing/2014/main" id="{EF620FA0-4505-E092-8EAD-C3A022D37717}"/>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algn="ctr" defTabSz="400050">
                <a:spcBef>
                  <a:spcPct val="0"/>
                </a:spcBef>
                <a:spcAft>
                  <a:spcPts val="600"/>
                </a:spcAft>
                <a:buNone/>
              </a:pPr>
              <a:r>
                <a:rPr lang="en-US" sz="1200" b="1" kern="1200" dirty="0">
                  <a:solidFill>
                    <a:schemeClr val="accent1"/>
                  </a:solidFill>
                </a:rPr>
                <a:t>Result</a:t>
              </a:r>
              <a:endParaRPr lang="en-NL" sz="1200" kern="1200" dirty="0">
                <a:solidFill>
                  <a:schemeClr val="accent1"/>
                </a:solidFill>
              </a:endParaRPr>
            </a:p>
          </p:txBody>
        </p:sp>
        <p:pic>
          <p:nvPicPr>
            <p:cNvPr id="8" name="Graphic 7" descr="Completed with solid fill">
              <a:extLst>
                <a:ext uri="{FF2B5EF4-FFF2-40B4-BE49-F238E27FC236}">
                  <a16:creationId xmlns:a16="http://schemas.microsoft.com/office/drawing/2014/main" id="{806029C7-A01B-C982-B6C5-070844E376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72357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grpId="0" nodeType="withEffect">
                                  <p:stCondLst>
                                    <p:cond delay="0"/>
                                  </p:stCondLst>
                                  <p:childTnLst>
                                    <p:animScale>
                                      <p:cBhvr>
                                        <p:cTn id="6" dur="1000" fill="hold"/>
                                        <p:tgtEl>
                                          <p:spTgt spid="78"/>
                                        </p:tgtEl>
                                      </p:cBhvr>
                                      <p:by x="125000" y="125000"/>
                                    </p:animScale>
                                  </p:childTnLst>
                                </p:cTn>
                              </p:par>
                              <p:par>
                                <p:cTn id="7" presetID="9" presetClass="emph" presetSubtype="0" grpId="0" nodeType="withEffect">
                                  <p:stCondLst>
                                    <p:cond delay="0"/>
                                  </p:stCondLst>
                                  <p:childTnLst>
                                    <p:set>
                                      <p:cBhvr>
                                        <p:cTn id="8" dur="indefinite"/>
                                        <p:tgtEl>
                                          <p:spTgt spid="79"/>
                                        </p:tgtEl>
                                        <p:attrNameLst>
                                          <p:attrName>style.opacity</p:attrName>
                                        </p:attrNameLst>
                                      </p:cBhvr>
                                      <p:to>
                                        <p:strVal val="0.5"/>
                                      </p:to>
                                    </p:set>
                                    <p:animEffect filter="image" prLst="opacity: 0.5">
                                      <p:cBhvr rctx="IE">
                                        <p:cTn id="9" dur="indefinite"/>
                                        <p:tgtEl>
                                          <p:spTgt spid="79"/>
                                        </p:tgtEl>
                                      </p:cBhvr>
                                    </p:animEffect>
                                  </p:childTnLst>
                                </p:cTn>
                              </p:par>
                              <p:par>
                                <p:cTn id="10" presetID="9" presetClass="emph" presetSubtype="0" grpId="0" nodeType="withEffect">
                                  <p:stCondLst>
                                    <p:cond delay="0"/>
                                  </p:stCondLst>
                                  <p:childTnLst>
                                    <p:set>
                                      <p:cBhvr>
                                        <p:cTn id="11" dur="indefinite"/>
                                        <p:tgtEl>
                                          <p:spTgt spid="80"/>
                                        </p:tgtEl>
                                        <p:attrNameLst>
                                          <p:attrName>style.opacity</p:attrName>
                                        </p:attrNameLst>
                                      </p:cBhvr>
                                      <p:to>
                                        <p:strVal val="0.5"/>
                                      </p:to>
                                    </p:set>
                                    <p:animEffect filter="image" prLst="opacity: 0.5">
                                      <p:cBhvr rctx="IE">
                                        <p:cTn id="12" dur="indefinite"/>
                                        <p:tgtEl>
                                          <p:spTgt spid="80"/>
                                        </p:tgtEl>
                                      </p:cBhvr>
                                    </p:animEffect>
                                  </p:childTnLst>
                                </p:cTn>
                              </p:par>
                              <p:par>
                                <p:cTn id="13" presetID="9" presetClass="emph" presetSubtype="0" grpId="0" nodeType="withEffect">
                                  <p:stCondLst>
                                    <p:cond delay="0"/>
                                  </p:stCondLst>
                                  <p:childTnLst>
                                    <p:set>
                                      <p:cBhvr>
                                        <p:cTn id="14" dur="indefinite"/>
                                        <p:tgtEl>
                                          <p:spTgt spid="77"/>
                                        </p:tgtEl>
                                        <p:attrNameLst>
                                          <p:attrName>style.opacity</p:attrName>
                                        </p:attrNameLst>
                                      </p:cBhvr>
                                      <p:to>
                                        <p:strVal val="0.5"/>
                                      </p:to>
                                    </p:set>
                                    <p:animEffect filter="image" prLst="opacity: 0.5">
                                      <p:cBhvr rctx="IE">
                                        <p:cTn id="15" dur="indefinite"/>
                                        <p:tgtEl>
                                          <p:spTgt spid="77"/>
                                        </p:tgtEl>
                                      </p:cBhvr>
                                    </p:animEffect>
                                  </p:childTnLst>
                                </p:cTn>
                              </p:par>
                              <p:par>
                                <p:cTn id="16" presetID="9" presetClass="emph" presetSubtype="0" nodeType="withEffect">
                                  <p:stCondLst>
                                    <p:cond delay="0"/>
                                  </p:stCondLst>
                                  <p:childTnLst>
                                    <p:set>
                                      <p:cBhvr>
                                        <p:cTn id="17" dur="indefinite"/>
                                        <p:tgtEl>
                                          <p:spTgt spid="6"/>
                                        </p:tgtEl>
                                        <p:attrNameLst>
                                          <p:attrName>style.opacity</p:attrName>
                                        </p:attrNameLst>
                                      </p:cBhvr>
                                      <p:to>
                                        <p:strVal val="0.5"/>
                                      </p:to>
                                    </p:set>
                                    <p:animEffect filter="image" prLst="opacity: 0.5">
                                      <p:cBhvr rctx="IE">
                                        <p:cTn id="18"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77" grpId="0" animBg="1"/>
      <p:bldP spid="7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EE2D-2985-3510-C5F6-D87E59092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B50D0-84FE-4877-62F5-D30CFAC551B5}"/>
              </a:ext>
            </a:extLst>
          </p:cNvPr>
          <p:cNvSpPr>
            <a:spLocks noGrp="1"/>
          </p:cNvSpPr>
          <p:nvPr>
            <p:ph type="title"/>
          </p:nvPr>
        </p:nvSpPr>
        <p:spPr>
          <a:xfrm>
            <a:off x="695327" y="386001"/>
            <a:ext cx="9296398" cy="929259"/>
          </a:xfrm>
        </p:spPr>
        <p:txBody>
          <a:bodyPr/>
          <a:lstStyle/>
          <a:p>
            <a:r>
              <a:rPr lang="en-US" sz="3600" dirty="0"/>
              <a:t>Scenario 4: Amir’s Question and Challenge</a:t>
            </a:r>
            <a:endParaRPr lang="en-NL" sz="3600" dirty="0"/>
          </a:p>
        </p:txBody>
      </p:sp>
      <p:sp>
        <p:nvSpPr>
          <p:cNvPr id="4" name="Slide Number Placeholder 3">
            <a:extLst>
              <a:ext uri="{FF2B5EF4-FFF2-40B4-BE49-F238E27FC236}">
                <a16:creationId xmlns:a16="http://schemas.microsoft.com/office/drawing/2014/main" id="{13CCBF46-A37B-0A7A-350F-17A78A859781}"/>
              </a:ext>
            </a:extLst>
          </p:cNvPr>
          <p:cNvSpPr>
            <a:spLocks noGrp="1"/>
          </p:cNvSpPr>
          <p:nvPr>
            <p:ph type="sldNum" sz="quarter" idx="12"/>
          </p:nvPr>
        </p:nvSpPr>
        <p:spPr/>
        <p:txBody>
          <a:bodyPr/>
          <a:lstStyle/>
          <a:p>
            <a:fld id="{4FAB73BC-B049-4115-A692-8D63A059BFB8}" type="slidenum">
              <a:rPr lang="en-US" smtClean="0"/>
              <a:pPr/>
              <a:t>33</a:t>
            </a:fld>
            <a:endParaRPr lang="en-US" dirty="0"/>
          </a:p>
        </p:txBody>
      </p:sp>
      <p:pic>
        <p:nvPicPr>
          <p:cNvPr id="5" name="Picture 4">
            <a:extLst>
              <a:ext uri="{FF2B5EF4-FFF2-40B4-BE49-F238E27FC236}">
                <a16:creationId xmlns:a16="http://schemas.microsoft.com/office/drawing/2014/main" id="{32C54517-4A84-BC00-2CFA-322CDA5D381A}"/>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E148D748-8B46-F28D-69AC-B7C4DFC38C6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D8F7ADB0-132B-1CA7-F446-E153F353A93B}"/>
              </a:ext>
            </a:extLst>
          </p:cNvPr>
          <p:cNvGraphicFramePr>
            <a:graphicFrameLocks noGrp="1"/>
          </p:cNvGraphicFramePr>
          <p:nvPr>
            <p:ph idx="1"/>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526847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D3F1B-700F-8C82-8A85-AE8EA7027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E2E32-3B04-D752-27CB-36E72F5382D4}"/>
              </a:ext>
            </a:extLst>
          </p:cNvPr>
          <p:cNvSpPr>
            <a:spLocks noGrp="1"/>
          </p:cNvSpPr>
          <p:nvPr>
            <p:ph type="title"/>
          </p:nvPr>
        </p:nvSpPr>
        <p:spPr/>
        <p:txBody>
          <a:bodyPr/>
          <a:lstStyle/>
          <a:p>
            <a:r>
              <a:rPr lang="en-US" dirty="0"/>
              <a:t>Amir’s Possible Queries</a:t>
            </a:r>
            <a:endParaRPr lang="en-NL" dirty="0"/>
          </a:p>
        </p:txBody>
      </p:sp>
      <p:sp>
        <p:nvSpPr>
          <p:cNvPr id="4" name="Slide Number Placeholder 3">
            <a:extLst>
              <a:ext uri="{FF2B5EF4-FFF2-40B4-BE49-F238E27FC236}">
                <a16:creationId xmlns:a16="http://schemas.microsoft.com/office/drawing/2014/main" id="{88412E1A-A150-29DA-CF96-B669E137223D}"/>
              </a:ext>
            </a:extLst>
          </p:cNvPr>
          <p:cNvSpPr>
            <a:spLocks noGrp="1"/>
          </p:cNvSpPr>
          <p:nvPr>
            <p:ph type="sldNum" sz="quarter" idx="12"/>
          </p:nvPr>
        </p:nvSpPr>
        <p:spPr/>
        <p:txBody>
          <a:bodyPr/>
          <a:lstStyle/>
          <a:p>
            <a:fld id="{4FAB73BC-B049-4115-A692-8D63A059BFB8}" type="slidenum">
              <a:rPr lang="en-US" smtClean="0"/>
              <a:pPr/>
              <a:t>34</a:t>
            </a:fld>
            <a:endParaRPr lang="en-US" dirty="0"/>
          </a:p>
        </p:txBody>
      </p:sp>
      <p:pic>
        <p:nvPicPr>
          <p:cNvPr id="10" name="Picture 9">
            <a:extLst>
              <a:ext uri="{FF2B5EF4-FFF2-40B4-BE49-F238E27FC236}">
                <a16:creationId xmlns:a16="http://schemas.microsoft.com/office/drawing/2014/main" id="{2AAEC9D1-FE01-531D-0A76-94B50561E66C}"/>
              </a:ext>
            </a:extLst>
          </p:cNvPr>
          <p:cNvPicPr>
            <a:picLocks noChangeAspect="1"/>
          </p:cNvPicPr>
          <p:nvPr/>
        </p:nvPicPr>
        <p:blipFill>
          <a:blip r:embed="rId3"/>
          <a:stretch>
            <a:fillRect/>
          </a:stretch>
        </p:blipFill>
        <p:spPr>
          <a:xfrm>
            <a:off x="610253" y="1618615"/>
            <a:ext cx="10991813" cy="4396105"/>
          </a:xfrm>
          <a:prstGeom prst="rect">
            <a:avLst/>
          </a:prstGeom>
        </p:spPr>
      </p:pic>
    </p:spTree>
    <p:extLst>
      <p:ext uri="{BB962C8B-B14F-4D97-AF65-F5344CB8AC3E}">
        <p14:creationId xmlns:p14="http://schemas.microsoft.com/office/powerpoint/2010/main" val="2516814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AA60-928A-67E9-12AD-817A239B69B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04A66E1-C91A-0643-0DC7-73F3FE46310C}"/>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CCAFB986-611B-E99B-722F-02725136E0C6}"/>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7" name="Connector: Elbow 6">
            <a:extLst>
              <a:ext uri="{FF2B5EF4-FFF2-40B4-BE49-F238E27FC236}">
                <a16:creationId xmlns:a16="http://schemas.microsoft.com/office/drawing/2014/main" id="{01A00D2B-BE73-5D22-3FB2-183F9263E6B3}"/>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8" name="Rectangle 7">
            <a:extLst>
              <a:ext uri="{FF2B5EF4-FFF2-40B4-BE49-F238E27FC236}">
                <a16:creationId xmlns:a16="http://schemas.microsoft.com/office/drawing/2014/main" id="{F6D77E66-4FF7-8437-17C4-2D86652942AC}"/>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1200" i="1">
              <a:solidFill>
                <a:schemeClr val="tx1"/>
              </a:solidFill>
            </a:endParaRPr>
          </a:p>
        </p:txBody>
      </p:sp>
      <p:sp>
        <p:nvSpPr>
          <p:cNvPr id="4" name="Slide Number Placeholder 3">
            <a:extLst>
              <a:ext uri="{FF2B5EF4-FFF2-40B4-BE49-F238E27FC236}">
                <a16:creationId xmlns:a16="http://schemas.microsoft.com/office/drawing/2014/main" id="{39D15CFC-24E6-33C4-DFF3-D4F789019E6E}"/>
              </a:ext>
            </a:extLst>
          </p:cNvPr>
          <p:cNvSpPr>
            <a:spLocks noGrp="1"/>
          </p:cNvSpPr>
          <p:nvPr>
            <p:ph type="sldNum" sz="quarter" idx="12"/>
          </p:nvPr>
        </p:nvSpPr>
        <p:spPr/>
        <p:txBody>
          <a:bodyPr/>
          <a:lstStyle/>
          <a:p>
            <a:fld id="{4FAB73BC-B049-4115-A692-8D63A059BFB8}" type="slidenum">
              <a:rPr lang="en-US" smtClean="0"/>
              <a:pPr/>
              <a:t>35</a:t>
            </a:fld>
            <a:endParaRPr lang="en-US" dirty="0"/>
          </a:p>
        </p:txBody>
      </p:sp>
      <p:sp>
        <p:nvSpPr>
          <p:cNvPr id="47" name="Title 1">
            <a:extLst>
              <a:ext uri="{FF2B5EF4-FFF2-40B4-BE49-F238E27FC236}">
                <a16:creationId xmlns:a16="http://schemas.microsoft.com/office/drawing/2014/main" id="{221F0484-811C-8861-73B4-A86ADACF82FF}"/>
              </a:ext>
            </a:extLst>
          </p:cNvPr>
          <p:cNvSpPr>
            <a:spLocks noGrp="1"/>
          </p:cNvSpPr>
          <p:nvPr>
            <p:ph type="title"/>
          </p:nvPr>
        </p:nvSpPr>
        <p:spPr>
          <a:xfrm>
            <a:off x="695327" y="386001"/>
            <a:ext cx="9153523" cy="929259"/>
          </a:xfrm>
        </p:spPr>
        <p:txBody>
          <a:bodyPr/>
          <a:lstStyle/>
          <a:p>
            <a:r>
              <a:rPr lang="en-US" sz="3600" dirty="0"/>
              <a:t>Result of Amir’s Workflow</a:t>
            </a:r>
            <a:endParaRPr lang="en-US" sz="3600" b="1" dirty="0"/>
          </a:p>
        </p:txBody>
      </p:sp>
      <p:sp>
        <p:nvSpPr>
          <p:cNvPr id="74" name="Freeform: Shape 73">
            <a:extLst>
              <a:ext uri="{FF2B5EF4-FFF2-40B4-BE49-F238E27FC236}">
                <a16:creationId xmlns:a16="http://schemas.microsoft.com/office/drawing/2014/main" id="{A1678DF3-24E2-FE0C-54F6-53EAD43D4358}"/>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dirty="0"/>
          </a:p>
        </p:txBody>
      </p:sp>
      <p:sp>
        <p:nvSpPr>
          <p:cNvPr id="75" name="Freeform: Shape 74">
            <a:extLst>
              <a:ext uri="{FF2B5EF4-FFF2-40B4-BE49-F238E27FC236}">
                <a16:creationId xmlns:a16="http://schemas.microsoft.com/office/drawing/2014/main" id="{4E3864AD-2693-B3EB-2DEA-5AA967F467A9}"/>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6" name="Freeform: Shape 75">
            <a:extLst>
              <a:ext uri="{FF2B5EF4-FFF2-40B4-BE49-F238E27FC236}">
                <a16:creationId xmlns:a16="http://schemas.microsoft.com/office/drawing/2014/main" id="{C30B27C3-2E53-B895-2218-EEFCFADD8C9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1200" kern="1200"/>
          </a:p>
        </p:txBody>
      </p:sp>
      <p:sp>
        <p:nvSpPr>
          <p:cNvPr id="78" name="Freeform: Shape 77">
            <a:extLst>
              <a:ext uri="{FF2B5EF4-FFF2-40B4-BE49-F238E27FC236}">
                <a16:creationId xmlns:a16="http://schemas.microsoft.com/office/drawing/2014/main" id="{75C53550-1800-6231-AFFC-AC79C4BDF2CF}"/>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solidFill>
                  <a:schemeClr val="bg1"/>
                </a:solidFill>
              </a:rPr>
              <a:t>Scenario 4:</a:t>
            </a:r>
            <a:r>
              <a:rPr lang="en-US" sz="1200" b="0" u="none" kern="1200" dirty="0">
                <a:solidFill>
                  <a:schemeClr val="bg1"/>
                </a:solidFill>
              </a:rPr>
              <a:t> </a:t>
            </a:r>
            <a:r>
              <a:rPr lang="en-US" sz="1200" dirty="0">
                <a:solidFill>
                  <a:schemeClr val="bg1"/>
                </a:solidFill>
              </a:rPr>
              <a:t>Query Semantic Knowledge Across Variables and Meanings</a:t>
            </a:r>
            <a:endParaRPr lang="en-NL" sz="1200" kern="1200" dirty="0">
              <a:solidFill>
                <a:schemeClr val="bg1"/>
              </a:solidFill>
            </a:endParaRPr>
          </a:p>
        </p:txBody>
      </p:sp>
      <p:sp>
        <p:nvSpPr>
          <p:cNvPr id="79" name="Freeform: Shape 78">
            <a:extLst>
              <a:ext uri="{FF2B5EF4-FFF2-40B4-BE49-F238E27FC236}">
                <a16:creationId xmlns:a16="http://schemas.microsoft.com/office/drawing/2014/main" id="{E4EEB2B9-325B-817C-57B7-929A1ABFEFB3}"/>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200" b="1" dirty="0"/>
              <a:t>Scenario 1: </a:t>
            </a:r>
            <a:r>
              <a:rPr lang="en-US" sz="1200" dirty="0"/>
              <a:t>Clarify Meanings Before Reuse</a:t>
            </a:r>
            <a:endParaRPr lang="en-NL" sz="1200" dirty="0"/>
          </a:p>
        </p:txBody>
      </p:sp>
      <p:sp>
        <p:nvSpPr>
          <p:cNvPr id="80" name="Freeform: Shape 79">
            <a:extLst>
              <a:ext uri="{FF2B5EF4-FFF2-40B4-BE49-F238E27FC236}">
                <a16:creationId xmlns:a16="http://schemas.microsoft.com/office/drawing/2014/main" id="{D7E8E613-495E-9516-4E47-3380B3184C6C}"/>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u="none" kern="1200" dirty="0"/>
              <a:t>Scenario 2: </a:t>
            </a:r>
            <a:r>
              <a:rPr lang="en-US" sz="1200" dirty="0"/>
              <a:t>Identify the datasets that represent the right meaning</a:t>
            </a:r>
            <a:endParaRPr lang="en-NL" sz="1200" b="0" u="none" kern="1200" dirty="0"/>
          </a:p>
        </p:txBody>
      </p:sp>
      <p:sp>
        <p:nvSpPr>
          <p:cNvPr id="77" name="Freeform: Shape 76">
            <a:extLst>
              <a:ext uri="{FF2B5EF4-FFF2-40B4-BE49-F238E27FC236}">
                <a16:creationId xmlns:a16="http://schemas.microsoft.com/office/drawing/2014/main" id="{1552F14C-1D61-4883-E0DE-28E666BCAB8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200" b="1" dirty="0"/>
              <a:t>Scenario 3: </a:t>
            </a:r>
            <a:r>
              <a:rPr lang="en-US" sz="1200" dirty="0"/>
              <a:t>Use Mappings to Connect Data and Infer Reuse Knowledge</a:t>
            </a:r>
            <a:endParaRPr lang="en-NL" sz="1200" dirty="0"/>
          </a:p>
        </p:txBody>
      </p:sp>
      <p:grpSp>
        <p:nvGrpSpPr>
          <p:cNvPr id="5" name="Group 4">
            <a:extLst>
              <a:ext uri="{FF2B5EF4-FFF2-40B4-BE49-F238E27FC236}">
                <a16:creationId xmlns:a16="http://schemas.microsoft.com/office/drawing/2014/main" id="{BDA21660-83C9-A5A3-5838-3124698E472C}"/>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E3EAEBDD-6641-6119-58C7-6BCB88809598}"/>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query relevant variables, compare concepts, and assess which ones align, partially overlap, or should not be reused together.</a:t>
              </a:r>
              <a:endParaRPr lang="en-NL" sz="1100" kern="1200" dirty="0">
                <a:solidFill>
                  <a:schemeClr val="accent1"/>
                </a:solidFill>
              </a:endParaRPr>
            </a:p>
          </p:txBody>
        </p:sp>
        <p:pic>
          <p:nvPicPr>
            <p:cNvPr id="3" name="Graphic 2" descr="Completed with solid fill">
              <a:extLst>
                <a:ext uri="{FF2B5EF4-FFF2-40B4-BE49-F238E27FC236}">
                  <a16:creationId xmlns:a16="http://schemas.microsoft.com/office/drawing/2014/main" id="{21DAC5F3-C417-7189-DF17-74CDA06437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89808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1000" fill="hold"/>
                                        <p:tgtEl>
                                          <p:spTgt spid="5"/>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a:ea typeface="+mn-ea"/>
              <a:cs typeface="+mn-cs"/>
            </a:endParaRPr>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ptos"/>
              <a:ea typeface="+mn-ea"/>
              <a:cs typeface="+mn-cs"/>
            </a:endParaRPr>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lvl="0" algn="r">
              <a:buClr>
                <a:srgbClr val="15467B"/>
              </a:buClr>
              <a:defRPr/>
            </a:pPr>
            <a:r>
              <a:rPr lang="pt-BR" sz="1400" b="1" i="1" dirty="0">
                <a:solidFill>
                  <a:srgbClr val="FFFFFF"/>
                </a:solidFill>
              </a:rPr>
              <a:t>Pedro Paulo F. Barcelos</a:t>
            </a:r>
            <a:r>
              <a:rPr lang="pt-BR" sz="1400" i="1" dirty="0">
                <a:solidFill>
                  <a:srgbClr val="FFFFFF"/>
                </a:solidFill>
              </a:rPr>
              <a:t> {Pedro.Barcelos@health-ri.nl},</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Niek van </a:t>
            </a:r>
            <a:r>
              <a:rPr kumimoji="0" lang="en-US" sz="1400" b="0" i="1" u="none" strike="noStrike" kern="1200" cap="none" spc="0" normalizeH="0" baseline="0" noProof="0" dirty="0" err="1">
                <a:ln>
                  <a:noFill/>
                </a:ln>
                <a:solidFill>
                  <a:srgbClr val="FFFFFF"/>
                </a:solidFill>
                <a:effectLst/>
                <a:uLnTx/>
                <a:uFillTx/>
                <a:latin typeface="Aptos" panose="020B0004020202020204" pitchFamily="34" charset="0"/>
                <a:ea typeface="+mn-ea"/>
                <a:cs typeface="+mn-cs"/>
              </a:rPr>
              <a:t>Ulzen</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a:t>
            </a:r>
          </a:p>
          <a:p>
            <a:pPr lvl="0" algn="r">
              <a:buClr>
                <a:srgbClr val="15467B"/>
              </a:buClr>
              <a:defRPr/>
            </a:pP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Reinier Groeneveld, Ana Konrad, Douwe </a:t>
            </a:r>
            <a:r>
              <a:rPr kumimoji="0" lang="en-US" sz="1400" b="0" i="1" u="none" strike="noStrike" kern="1200" cap="none" spc="0" normalizeH="0" baseline="0" noProof="0" dirty="0" err="1">
                <a:ln>
                  <a:noFill/>
                </a:ln>
                <a:solidFill>
                  <a:srgbClr val="FFFFFF"/>
                </a:solidFill>
                <a:effectLst/>
                <a:uLnTx/>
                <a:uFillTx/>
                <a:latin typeface="Aptos" panose="020B0004020202020204" pitchFamily="34" charset="0"/>
                <a:ea typeface="+mn-ea"/>
                <a:cs typeface="+mn-cs"/>
              </a:rPr>
              <a:t>Spaanderman</a:t>
            </a:r>
            <a:r>
              <a:rPr kumimoji="0" lang="en-US" sz="1400" b="0" i="1" u="none" strike="noStrike" kern="1200" cap="none" spc="0" normalizeH="0" baseline="0" noProof="0" dirty="0">
                <a:ln>
                  <a:noFill/>
                </a:ln>
                <a:solidFill>
                  <a:srgbClr val="FFFFFF"/>
                </a:solidFill>
                <a:effectLst/>
                <a:uLnTx/>
                <a:uFillTx/>
                <a:latin typeface="Aptos" panose="020B0004020202020204" pitchFamily="34" charset="0"/>
                <a:ea typeface="+mn-ea"/>
                <a:cs typeface="+mn-cs"/>
              </a:rPr>
              <a:t>, and Shuxin Zhang</a:t>
            </a: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https://w3id.org/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health-</a:t>
            </a:r>
            <a:r>
              <a:rPr kumimoji="0" lang="en-US" sz="1400" b="0" i="0" u="none" strike="noStrike" kern="1200" cap="none" spc="0" normalizeH="0" baseline="0" noProof="0" dirty="0" err="1">
                <a:ln>
                  <a:noFill/>
                </a:ln>
                <a:solidFill>
                  <a:srgbClr val="F8AF00"/>
                </a:solidFill>
                <a:effectLst/>
                <a:uLnTx/>
                <a:uFillTx/>
                <a:latin typeface="Atkinson Hyperlegible" pitchFamily="2" charset="0"/>
                <a:ea typeface="+mn-ea"/>
                <a:cs typeface="+mn-cs"/>
              </a:rPr>
              <a:t>ri</a:t>
            </a:r>
            <a:r>
              <a:rPr kumimoji="0" lang="en-US" sz="1400" b="0" i="0" u="none" strike="noStrike" kern="1200" cap="none" spc="0" normalizeH="0" baseline="0" noProof="0" dirty="0">
                <a:ln>
                  <a:noFill/>
                </a:ln>
                <a:solidFill>
                  <a:srgbClr val="F8AF00"/>
                </a:solidFill>
                <a:effectLst/>
                <a:uLnTx/>
                <a:uFillTx/>
                <a:latin typeface="Atkinson Hyperlegible" pitchFamily="2" charset="0"/>
                <a:ea typeface="+mn-ea"/>
                <a:cs typeface="+mn-cs"/>
              </a:rPr>
              <a:t>/semantic-interoperability</a:t>
            </a:r>
            <a:endParaRPr kumimoji="0" lang="en-NL" sz="1400" b="0" i="0" u="none" strike="noStrike" kern="1200" cap="none" spc="0" normalizeH="0" baseline="0" noProof="0" dirty="0">
              <a:ln>
                <a:noFill/>
              </a:ln>
              <a:solidFill>
                <a:srgbClr val="F8AF00"/>
              </a:solidFill>
              <a:effectLst/>
              <a:uLnTx/>
              <a:uFillTx/>
              <a:latin typeface="Atkinson Hyperlegible" pitchFamily="2" charset="0"/>
              <a:ea typeface="+mn-ea"/>
              <a:cs typeface="+mn-cs"/>
            </a:endParaRPr>
          </a:p>
        </p:txBody>
      </p:sp>
    </p:spTree>
    <p:extLst>
      <p:ext uri="{BB962C8B-B14F-4D97-AF65-F5344CB8AC3E}">
        <p14:creationId xmlns:p14="http://schemas.microsoft.com/office/powerpoint/2010/main" val="3011118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DF6D8-F0F9-A3ED-0503-F5FD0C110CBF}"/>
              </a:ext>
            </a:extLst>
          </p:cNvPr>
          <p:cNvSpPr>
            <a:spLocks noGrp="1"/>
          </p:cNvSpPr>
          <p:nvPr>
            <p:ph type="title"/>
          </p:nvPr>
        </p:nvSpPr>
        <p:spPr/>
        <p:txBody>
          <a:bodyPr/>
          <a:lstStyle/>
          <a:p>
            <a:r>
              <a:rPr lang="en-US" sz="3600" dirty="0"/>
              <a:t>Meanings Are Necessary, but not Sufficient</a:t>
            </a:r>
            <a:endParaRPr lang="en-NL" sz="3600" dirty="0"/>
          </a:p>
        </p:txBody>
      </p:sp>
      <p:sp>
        <p:nvSpPr>
          <p:cNvPr id="4" name="Slide Number Placeholder 3">
            <a:extLst>
              <a:ext uri="{FF2B5EF4-FFF2-40B4-BE49-F238E27FC236}">
                <a16:creationId xmlns:a16="http://schemas.microsoft.com/office/drawing/2014/main" id="{F02B3677-4A13-3CD5-2CAE-1D002415B344}"/>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
        <p:nvSpPr>
          <p:cNvPr id="20" name="Freeform: Shape 19">
            <a:extLst>
              <a:ext uri="{FF2B5EF4-FFF2-40B4-BE49-F238E27FC236}">
                <a16:creationId xmlns:a16="http://schemas.microsoft.com/office/drawing/2014/main" id="{C7B7C7C5-C973-F79A-4190-AA14F0AE5FB7}"/>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Intersecting </a:t>
            </a:r>
            <a:r>
              <a:rPr lang="en-US" sz="2000" dirty="0"/>
              <a:t>meanings</a:t>
            </a:r>
            <a:endParaRPr lang="en-NL" sz="2000" dirty="0"/>
          </a:p>
        </p:txBody>
      </p:sp>
      <p:sp>
        <p:nvSpPr>
          <p:cNvPr id="21" name="Rectangle 20">
            <a:extLst>
              <a:ext uri="{FF2B5EF4-FFF2-40B4-BE49-F238E27FC236}">
                <a16:creationId xmlns:a16="http://schemas.microsoft.com/office/drawing/2014/main" id="{5B9AA96B-AC09-ECCE-C06E-DB97E6B034DA}"/>
              </a:ext>
            </a:extLst>
          </p:cNvPr>
          <p:cNvSpPr/>
          <p:nvPr/>
        </p:nvSpPr>
        <p:spPr>
          <a:xfrm>
            <a:off x="698700"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2" name="Freeform: Shape 21">
            <a:extLst>
              <a:ext uri="{FF2B5EF4-FFF2-40B4-BE49-F238E27FC236}">
                <a16:creationId xmlns:a16="http://schemas.microsoft.com/office/drawing/2014/main" id="{B93BDCC2-80A4-1C87-F7D9-06AEBA657E1E}"/>
              </a:ext>
            </a:extLst>
          </p:cNvPr>
          <p:cNvSpPr/>
          <p:nvPr/>
        </p:nvSpPr>
        <p:spPr>
          <a:xfrm>
            <a:off x="4450481"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a:t>Disjoint </a:t>
            </a:r>
            <a:r>
              <a:rPr lang="en-US" sz="2000" dirty="0"/>
              <a:t>meanings</a:t>
            </a:r>
            <a:endParaRPr lang="en-NL" sz="2000" dirty="0"/>
          </a:p>
        </p:txBody>
      </p:sp>
      <p:sp>
        <p:nvSpPr>
          <p:cNvPr id="23" name="Rectangle 22">
            <a:extLst>
              <a:ext uri="{FF2B5EF4-FFF2-40B4-BE49-F238E27FC236}">
                <a16:creationId xmlns:a16="http://schemas.microsoft.com/office/drawing/2014/main" id="{D427DE21-E4E9-3B19-B808-5EC8F0B23BD3}"/>
              </a:ext>
            </a:extLst>
          </p:cNvPr>
          <p:cNvSpPr/>
          <p:nvPr/>
        </p:nvSpPr>
        <p:spPr>
          <a:xfrm>
            <a:off x="4450481"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24" name="Freeform: Shape 23">
            <a:extLst>
              <a:ext uri="{FF2B5EF4-FFF2-40B4-BE49-F238E27FC236}">
                <a16:creationId xmlns:a16="http://schemas.microsoft.com/office/drawing/2014/main" id="{73CB7E9B-D1F0-FD06-1D00-47C2CE1A5FA0}"/>
              </a:ext>
            </a:extLst>
          </p:cNvPr>
          <p:cNvSpPr/>
          <p:nvPr/>
        </p:nvSpPr>
        <p:spPr>
          <a:xfrm>
            <a:off x="8202262"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lvl="0" algn="ctr" defTabSz="2622550">
              <a:lnSpc>
                <a:spcPct val="90000"/>
              </a:lnSpc>
              <a:spcBef>
                <a:spcPct val="0"/>
              </a:spcBef>
              <a:spcAft>
                <a:spcPct val="35000"/>
              </a:spcAft>
            </a:pPr>
            <a:r>
              <a:rPr lang="en-US" sz="2000" dirty="0"/>
              <a:t>Subset relation</a:t>
            </a:r>
            <a:endParaRPr lang="en-NL" sz="2000" kern="1200" dirty="0"/>
          </a:p>
        </p:txBody>
      </p:sp>
      <p:sp>
        <p:nvSpPr>
          <p:cNvPr id="25" name="Rectangle 24">
            <a:extLst>
              <a:ext uri="{FF2B5EF4-FFF2-40B4-BE49-F238E27FC236}">
                <a16:creationId xmlns:a16="http://schemas.microsoft.com/office/drawing/2014/main" id="{6843A9E1-D060-A06E-0E9D-2302994D4A72}"/>
              </a:ext>
            </a:extLst>
          </p:cNvPr>
          <p:cNvSpPr/>
          <p:nvPr/>
        </p:nvSpPr>
        <p:spPr>
          <a:xfrm>
            <a:off x="8202262" y="2740672"/>
            <a:ext cx="3291036" cy="1740397"/>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59" name="Freeform: Shape 58">
            <a:extLst>
              <a:ext uri="{FF2B5EF4-FFF2-40B4-BE49-F238E27FC236}">
                <a16:creationId xmlns:a16="http://schemas.microsoft.com/office/drawing/2014/main" id="{33D899DB-BA25-BBCA-E4CB-02F284C29CF9}"/>
              </a:ext>
            </a:extLst>
          </p:cNvPr>
          <p:cNvSpPr/>
          <p:nvPr/>
        </p:nvSpPr>
        <p:spPr>
          <a:xfrm>
            <a:off x="2191818" y="3382032"/>
            <a:ext cx="327660" cy="766885"/>
          </a:xfrm>
          <a:custGeom>
            <a:avLst/>
            <a:gdLst>
              <a:gd name="csX0" fmla="*/ 163830 w 327660"/>
              <a:gd name="csY0" fmla="*/ 0 h 766885"/>
              <a:gd name="csX1" fmla="*/ 171431 w 327660"/>
              <a:gd name="csY1" fmla="*/ 6271 h 766885"/>
              <a:gd name="csX2" fmla="*/ 327660 w 327660"/>
              <a:gd name="csY2" fmla="*/ 383442 h 766885"/>
              <a:gd name="csX3" fmla="*/ 171431 w 327660"/>
              <a:gd name="csY3" fmla="*/ 760613 h 766885"/>
              <a:gd name="csX4" fmla="*/ 163830 w 327660"/>
              <a:gd name="csY4" fmla="*/ 766885 h 766885"/>
              <a:gd name="csX5" fmla="*/ 156229 w 327660"/>
              <a:gd name="csY5" fmla="*/ 760613 h 766885"/>
              <a:gd name="csX6" fmla="*/ 0 w 327660"/>
              <a:gd name="csY6" fmla="*/ 383442 h 766885"/>
              <a:gd name="csX7" fmla="*/ 156229 w 327660"/>
              <a:gd name="csY7" fmla="*/ 6271 h 766885"/>
              <a:gd name="csX8" fmla="*/ 163830 w 327660"/>
              <a:gd name="csY8" fmla="*/ 0 h 7668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7660" h="766885">
                <a:moveTo>
                  <a:pt x="163830" y="0"/>
                </a:moveTo>
                <a:lnTo>
                  <a:pt x="171431" y="6271"/>
                </a:lnTo>
                <a:cubicBezTo>
                  <a:pt x="267957" y="102798"/>
                  <a:pt x="327660" y="236148"/>
                  <a:pt x="327660" y="383442"/>
                </a:cubicBezTo>
                <a:cubicBezTo>
                  <a:pt x="327660" y="530737"/>
                  <a:pt x="267957" y="664087"/>
                  <a:pt x="171431" y="760613"/>
                </a:cubicBezTo>
                <a:lnTo>
                  <a:pt x="163830" y="766885"/>
                </a:lnTo>
                <a:lnTo>
                  <a:pt x="156229" y="760613"/>
                </a:lnTo>
                <a:cubicBezTo>
                  <a:pt x="59703" y="664087"/>
                  <a:pt x="0" y="530737"/>
                  <a:pt x="0" y="383442"/>
                </a:cubicBezTo>
                <a:cubicBezTo>
                  <a:pt x="0" y="236148"/>
                  <a:pt x="59703" y="102798"/>
                  <a:pt x="156229" y="6271"/>
                </a:cubicBezTo>
                <a:lnTo>
                  <a:pt x="163830" y="0"/>
                </a:lnTo>
                <a:close/>
              </a:path>
            </a:pathLst>
          </a:cu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8" name="Freeform: Shape 57">
            <a:extLst>
              <a:ext uri="{FF2B5EF4-FFF2-40B4-BE49-F238E27FC236}">
                <a16:creationId xmlns:a16="http://schemas.microsoft.com/office/drawing/2014/main" id="{18421C1A-B995-CD17-E13C-321EA5DF7733}"/>
              </a:ext>
            </a:extLst>
          </p:cNvPr>
          <p:cNvSpPr/>
          <p:nvPr/>
        </p:nvSpPr>
        <p:spPr>
          <a:xfrm>
            <a:off x="1452678" y="3232073"/>
            <a:ext cx="902970" cy="1066800"/>
          </a:xfrm>
          <a:custGeom>
            <a:avLst/>
            <a:gdLst>
              <a:gd name="csX0" fmla="*/ 533400 w 902970"/>
              <a:gd name="csY0" fmla="*/ 0 h 1066800"/>
              <a:gd name="csX1" fmla="*/ 831629 w 902970"/>
              <a:gd name="csY1" fmla="*/ 91096 h 1066800"/>
              <a:gd name="csX2" fmla="*/ 902970 w 902970"/>
              <a:gd name="csY2" fmla="*/ 149958 h 1066800"/>
              <a:gd name="csX3" fmla="*/ 895369 w 902970"/>
              <a:gd name="csY3" fmla="*/ 156229 h 1066800"/>
              <a:gd name="csX4" fmla="*/ 739140 w 902970"/>
              <a:gd name="csY4" fmla="*/ 533400 h 1066800"/>
              <a:gd name="csX5" fmla="*/ 895369 w 902970"/>
              <a:gd name="csY5" fmla="*/ 910571 h 1066800"/>
              <a:gd name="csX6" fmla="*/ 902970 w 902970"/>
              <a:gd name="csY6" fmla="*/ 916843 h 1066800"/>
              <a:gd name="csX7" fmla="*/ 831629 w 902970"/>
              <a:gd name="csY7" fmla="*/ 975704 h 1066800"/>
              <a:gd name="csX8" fmla="*/ 533400 w 902970"/>
              <a:gd name="csY8" fmla="*/ 1066800 h 1066800"/>
              <a:gd name="csX9" fmla="*/ 0 w 902970"/>
              <a:gd name="csY9" fmla="*/ 533400 h 1066800"/>
              <a:gd name="csX10" fmla="*/ 53340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533400" y="0"/>
                </a:moveTo>
                <a:cubicBezTo>
                  <a:pt x="643871" y="0"/>
                  <a:pt x="746498" y="33583"/>
                  <a:pt x="831629" y="91096"/>
                </a:cubicBezTo>
                <a:lnTo>
                  <a:pt x="902970" y="149958"/>
                </a:lnTo>
                <a:lnTo>
                  <a:pt x="895369" y="156229"/>
                </a:lnTo>
                <a:cubicBezTo>
                  <a:pt x="798843" y="252756"/>
                  <a:pt x="739140" y="386106"/>
                  <a:pt x="739140" y="533400"/>
                </a:cubicBezTo>
                <a:cubicBezTo>
                  <a:pt x="739140" y="680695"/>
                  <a:pt x="798843" y="814045"/>
                  <a:pt x="895369" y="910571"/>
                </a:cubicBezTo>
                <a:lnTo>
                  <a:pt x="902970" y="916843"/>
                </a:lnTo>
                <a:lnTo>
                  <a:pt x="831629" y="975704"/>
                </a:lnTo>
                <a:cubicBezTo>
                  <a:pt x="746498" y="1033217"/>
                  <a:pt x="643871" y="1066800"/>
                  <a:pt x="533400" y="1066800"/>
                </a:cubicBezTo>
                <a:cubicBezTo>
                  <a:pt x="238811" y="1066800"/>
                  <a:pt x="0" y="827989"/>
                  <a:pt x="0" y="533400"/>
                </a:cubicBezTo>
                <a:cubicBezTo>
                  <a:pt x="0" y="238811"/>
                  <a:pt x="238811" y="0"/>
                  <a:pt x="53340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57" name="Freeform: Shape 56">
            <a:extLst>
              <a:ext uri="{FF2B5EF4-FFF2-40B4-BE49-F238E27FC236}">
                <a16:creationId xmlns:a16="http://schemas.microsoft.com/office/drawing/2014/main" id="{D75B1AFE-EE90-E062-D1CE-FDCA3D8C0340}"/>
              </a:ext>
            </a:extLst>
          </p:cNvPr>
          <p:cNvSpPr/>
          <p:nvPr/>
        </p:nvSpPr>
        <p:spPr>
          <a:xfrm>
            <a:off x="2355648" y="3232073"/>
            <a:ext cx="902970" cy="1066800"/>
          </a:xfrm>
          <a:custGeom>
            <a:avLst/>
            <a:gdLst>
              <a:gd name="csX0" fmla="*/ 369570 w 902970"/>
              <a:gd name="csY0" fmla="*/ 0 h 1066800"/>
              <a:gd name="csX1" fmla="*/ 902970 w 902970"/>
              <a:gd name="csY1" fmla="*/ 533400 h 1066800"/>
              <a:gd name="csX2" fmla="*/ 369570 w 902970"/>
              <a:gd name="csY2" fmla="*/ 1066800 h 1066800"/>
              <a:gd name="csX3" fmla="*/ 71341 w 902970"/>
              <a:gd name="csY3" fmla="*/ 975704 h 1066800"/>
              <a:gd name="csX4" fmla="*/ 0 w 902970"/>
              <a:gd name="csY4" fmla="*/ 916843 h 1066800"/>
              <a:gd name="csX5" fmla="*/ 7601 w 902970"/>
              <a:gd name="csY5" fmla="*/ 910571 h 1066800"/>
              <a:gd name="csX6" fmla="*/ 163830 w 902970"/>
              <a:gd name="csY6" fmla="*/ 533400 h 1066800"/>
              <a:gd name="csX7" fmla="*/ 7601 w 902970"/>
              <a:gd name="csY7" fmla="*/ 156229 h 1066800"/>
              <a:gd name="csX8" fmla="*/ 0 w 902970"/>
              <a:gd name="csY8" fmla="*/ 149958 h 1066800"/>
              <a:gd name="csX9" fmla="*/ 71341 w 902970"/>
              <a:gd name="csY9" fmla="*/ 91096 h 1066800"/>
              <a:gd name="csX10" fmla="*/ 369570 w 902970"/>
              <a:gd name="csY10" fmla="*/ 0 h 1066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2970" h="1066800">
                <a:moveTo>
                  <a:pt x="369570" y="0"/>
                </a:moveTo>
                <a:cubicBezTo>
                  <a:pt x="664159" y="0"/>
                  <a:pt x="902970" y="238811"/>
                  <a:pt x="902970" y="533400"/>
                </a:cubicBezTo>
                <a:cubicBezTo>
                  <a:pt x="902970" y="827989"/>
                  <a:pt x="664159" y="1066800"/>
                  <a:pt x="369570" y="1066800"/>
                </a:cubicBezTo>
                <a:cubicBezTo>
                  <a:pt x="259099" y="1066800"/>
                  <a:pt x="156472" y="1033217"/>
                  <a:pt x="71341" y="975704"/>
                </a:cubicBezTo>
                <a:lnTo>
                  <a:pt x="0" y="916843"/>
                </a:lnTo>
                <a:lnTo>
                  <a:pt x="7601" y="910571"/>
                </a:lnTo>
                <a:cubicBezTo>
                  <a:pt x="104127" y="814045"/>
                  <a:pt x="163830" y="680695"/>
                  <a:pt x="163830" y="533400"/>
                </a:cubicBezTo>
                <a:cubicBezTo>
                  <a:pt x="163830" y="386106"/>
                  <a:pt x="104127" y="252756"/>
                  <a:pt x="7601" y="156229"/>
                </a:cubicBezTo>
                <a:lnTo>
                  <a:pt x="0" y="149958"/>
                </a:lnTo>
                <a:lnTo>
                  <a:pt x="71341" y="91096"/>
                </a:lnTo>
                <a:cubicBezTo>
                  <a:pt x="156472" y="33583"/>
                  <a:pt x="259099" y="0"/>
                  <a:pt x="369570" y="0"/>
                </a:cubicBezTo>
                <a:close/>
              </a:path>
            </a:pathLst>
          </a:cu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NL"/>
          </a:p>
        </p:txBody>
      </p:sp>
      <p:sp>
        <p:nvSpPr>
          <p:cNvPr id="30" name="Oval 29">
            <a:extLst>
              <a:ext uri="{FF2B5EF4-FFF2-40B4-BE49-F238E27FC236}">
                <a16:creationId xmlns:a16="http://schemas.microsoft.com/office/drawing/2014/main" id="{3492FD7A-AF5C-FDFF-9AD0-E33188A7AF7C}"/>
              </a:ext>
            </a:extLst>
          </p:cNvPr>
          <p:cNvSpPr/>
          <p:nvPr/>
        </p:nvSpPr>
        <p:spPr>
          <a:xfrm>
            <a:off x="485775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1" name="Oval 30">
            <a:extLst>
              <a:ext uri="{FF2B5EF4-FFF2-40B4-BE49-F238E27FC236}">
                <a16:creationId xmlns:a16="http://schemas.microsoft.com/office/drawing/2014/main" id="{8C527ACE-4C3E-23B2-D68D-BF8BD42534E3}"/>
              </a:ext>
            </a:extLst>
          </p:cNvPr>
          <p:cNvSpPr/>
          <p:nvPr/>
        </p:nvSpPr>
        <p:spPr>
          <a:xfrm>
            <a:off x="6236569"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Oval 32">
            <a:extLst>
              <a:ext uri="{FF2B5EF4-FFF2-40B4-BE49-F238E27FC236}">
                <a16:creationId xmlns:a16="http://schemas.microsoft.com/office/drawing/2014/main" id="{ABD009F6-083F-3E79-20DD-3555635995D2}"/>
              </a:ext>
            </a:extLst>
          </p:cNvPr>
          <p:cNvSpPr/>
          <p:nvPr/>
        </p:nvSpPr>
        <p:spPr>
          <a:xfrm>
            <a:off x="9314380" y="3232073"/>
            <a:ext cx="1066800" cy="1066800"/>
          </a:xfrm>
          <a:prstGeom prst="ellipse">
            <a:avLst/>
          </a:prstGeom>
          <a:solidFill>
            <a:schemeClr val="accent2">
              <a:lumMod val="20000"/>
              <a:lumOff val="80000"/>
            </a:schemeClr>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Oval 33">
            <a:extLst>
              <a:ext uri="{FF2B5EF4-FFF2-40B4-BE49-F238E27FC236}">
                <a16:creationId xmlns:a16="http://schemas.microsoft.com/office/drawing/2014/main" id="{6115B2DB-99D7-FAB9-C514-4A42EDDFF4E5}"/>
              </a:ext>
            </a:extLst>
          </p:cNvPr>
          <p:cNvSpPr/>
          <p:nvPr/>
        </p:nvSpPr>
        <p:spPr>
          <a:xfrm>
            <a:off x="9539409" y="3457102"/>
            <a:ext cx="616742" cy="616742"/>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47" name="Straight Connector 46">
            <a:extLst>
              <a:ext uri="{FF2B5EF4-FFF2-40B4-BE49-F238E27FC236}">
                <a16:creationId xmlns:a16="http://schemas.microsoft.com/office/drawing/2014/main" id="{52CBE46D-9DF6-464B-B4CE-2C459764A01D}"/>
              </a:ext>
            </a:extLst>
          </p:cNvPr>
          <p:cNvCxnSpPr>
            <a:cxnSpLocks/>
          </p:cNvCxnSpPr>
          <p:nvPr/>
        </p:nvCxnSpPr>
        <p:spPr>
          <a:xfrm>
            <a:off x="5924550"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A230264E-BFDC-3012-AC15-1D7FA8408E8F}"/>
              </a:ext>
            </a:extLst>
          </p:cNvPr>
          <p:cNvCxnSpPr>
            <a:cxnSpLocks/>
          </p:cNvCxnSpPr>
          <p:nvPr/>
        </p:nvCxnSpPr>
        <p:spPr>
          <a:xfrm>
            <a:off x="592455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a:extLst>
              <a:ext uri="{FF2B5EF4-FFF2-40B4-BE49-F238E27FC236}">
                <a16:creationId xmlns:a16="http://schemas.microsoft.com/office/drawing/2014/main" id="{ED30277F-D957-5229-93F9-E58532B375CB}"/>
              </a:ext>
            </a:extLst>
          </p:cNvPr>
          <p:cNvCxnSpPr>
            <a:cxnSpLocks/>
          </p:cNvCxnSpPr>
          <p:nvPr/>
        </p:nvCxnSpPr>
        <p:spPr>
          <a:xfrm>
            <a:off x="6276542"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F2A65E79-7FFD-9766-A52A-2FABC50B9044}"/>
              </a:ext>
            </a:extLst>
          </p:cNvPr>
          <p:cNvCxnSpPr>
            <a:cxnSpLocks/>
          </p:cNvCxnSpPr>
          <p:nvPr/>
        </p:nvCxnSpPr>
        <p:spPr>
          <a:xfrm>
            <a:off x="2191818" y="2991103"/>
            <a:ext cx="351992" cy="0"/>
          </a:xfrm>
          <a:prstGeom prst="line">
            <a:avLst/>
          </a:prstGeom>
          <a:ln w="28575" cap="flat" cmpd="sng" algn="ctr">
            <a:solidFill>
              <a:schemeClr val="dk1"/>
            </a:solidFill>
            <a:prstDash val="sys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2" name="Straight Connector 51">
            <a:extLst>
              <a:ext uri="{FF2B5EF4-FFF2-40B4-BE49-F238E27FC236}">
                <a16:creationId xmlns:a16="http://schemas.microsoft.com/office/drawing/2014/main" id="{56CA6C67-EC50-1314-1EB2-898108CEEECF}"/>
              </a:ext>
            </a:extLst>
          </p:cNvPr>
          <p:cNvCxnSpPr>
            <a:cxnSpLocks/>
          </p:cNvCxnSpPr>
          <p:nvPr/>
        </p:nvCxnSpPr>
        <p:spPr>
          <a:xfrm>
            <a:off x="2191818"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3" name="Straight Connector 52">
            <a:extLst>
              <a:ext uri="{FF2B5EF4-FFF2-40B4-BE49-F238E27FC236}">
                <a16:creationId xmlns:a16="http://schemas.microsoft.com/office/drawing/2014/main" id="{20C0CEB8-A0FB-23AE-214A-FEB8DD26B990}"/>
              </a:ext>
            </a:extLst>
          </p:cNvPr>
          <p:cNvCxnSpPr>
            <a:cxnSpLocks/>
          </p:cNvCxnSpPr>
          <p:nvPr/>
        </p:nvCxnSpPr>
        <p:spPr>
          <a:xfrm>
            <a:off x="2543810" y="2886328"/>
            <a:ext cx="0" cy="209550"/>
          </a:xfrm>
          <a:prstGeom prst="line">
            <a:avLst/>
          </a:prstGeom>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5" name="TextBox 54">
            <a:extLst>
              <a:ext uri="{FF2B5EF4-FFF2-40B4-BE49-F238E27FC236}">
                <a16:creationId xmlns:a16="http://schemas.microsoft.com/office/drawing/2014/main" id="{908DB6BC-CFA7-B996-1320-21B472DB037E}"/>
              </a:ext>
            </a:extLst>
          </p:cNvPr>
          <p:cNvSpPr txBox="1"/>
          <p:nvPr/>
        </p:nvSpPr>
        <p:spPr>
          <a:xfrm>
            <a:off x="695325" y="1635704"/>
            <a:ext cx="8791061" cy="369332"/>
          </a:xfrm>
          <a:prstGeom prst="rect">
            <a:avLst/>
          </a:prstGeom>
          <a:noFill/>
        </p:spPr>
        <p:txBody>
          <a:bodyPr wrap="none" rtlCol="0">
            <a:spAutoFit/>
          </a:bodyPr>
          <a:lstStyle/>
          <a:p>
            <a:r>
              <a:rPr lang="en-US" dirty="0"/>
              <a:t>Semantic alignment </a:t>
            </a:r>
            <a:r>
              <a:rPr lang="en-US" b="1" dirty="0">
                <a:solidFill>
                  <a:schemeClr val="accent2"/>
                </a:solidFill>
              </a:rPr>
              <a:t>is</a:t>
            </a:r>
            <a:r>
              <a:rPr lang="en-US" dirty="0">
                <a:solidFill>
                  <a:schemeClr val="accent2"/>
                </a:solidFill>
              </a:rPr>
              <a:t> </a:t>
            </a:r>
            <a:r>
              <a:rPr lang="en-US" b="1" dirty="0">
                <a:solidFill>
                  <a:schemeClr val="accent2"/>
                </a:solidFill>
              </a:rPr>
              <a:t>necessary</a:t>
            </a:r>
            <a:r>
              <a:rPr lang="en-US" dirty="0"/>
              <a:t> for interoperability, but it </a:t>
            </a:r>
            <a:r>
              <a:rPr lang="en-US" b="1" dirty="0">
                <a:solidFill>
                  <a:schemeClr val="accent6"/>
                </a:solidFill>
              </a:rPr>
              <a:t>is not sufficient</a:t>
            </a:r>
            <a:r>
              <a:rPr lang="en-US" b="1" dirty="0"/>
              <a:t> </a:t>
            </a:r>
            <a:r>
              <a:rPr lang="en-US" dirty="0"/>
              <a:t>on its own.</a:t>
            </a:r>
            <a:endParaRPr lang="en-NL" dirty="0"/>
          </a:p>
        </p:txBody>
      </p:sp>
      <p:sp>
        <p:nvSpPr>
          <p:cNvPr id="63" name="Content Placeholder 2">
            <a:extLst>
              <a:ext uri="{FF2B5EF4-FFF2-40B4-BE49-F238E27FC236}">
                <a16:creationId xmlns:a16="http://schemas.microsoft.com/office/drawing/2014/main" id="{C4F6D07E-2F55-7EDC-AE12-F2050A38459B}"/>
              </a:ext>
            </a:extLst>
          </p:cNvPr>
          <p:cNvSpPr>
            <a:spLocks noGrp="1"/>
          </p:cNvSpPr>
          <p:nvPr>
            <p:ph idx="1"/>
          </p:nvPr>
        </p:nvSpPr>
        <p:spPr>
          <a:xfrm>
            <a:off x="695325" y="4706098"/>
            <a:ext cx="10801349" cy="1243851"/>
          </a:xfrm>
        </p:spPr>
        <p:txBody>
          <a:bodyPr>
            <a:normAutofit fontScale="77500" lnSpcReduction="20000"/>
          </a:bodyPr>
          <a:lstStyle/>
          <a:p>
            <a:pPr indent="0">
              <a:lnSpc>
                <a:spcPct val="120000"/>
              </a:lnSpc>
              <a:spcBef>
                <a:spcPts val="0"/>
              </a:spcBef>
              <a:spcAft>
                <a:spcPts val="300"/>
              </a:spcAft>
              <a:buNone/>
            </a:pPr>
            <a:r>
              <a:rPr lang="en-US" dirty="0"/>
              <a:t>Semantic relationship between concepts:</a:t>
            </a:r>
          </a:p>
          <a:p>
            <a:pPr lvl="1">
              <a:lnSpc>
                <a:spcPct val="120000"/>
              </a:lnSpc>
              <a:spcBef>
                <a:spcPts val="0"/>
              </a:spcBef>
              <a:spcAft>
                <a:spcPts val="300"/>
              </a:spcAft>
            </a:pPr>
            <a:r>
              <a:rPr lang="en-US" b="1" dirty="0"/>
              <a:t>Strong overlap:</a:t>
            </a:r>
            <a:r>
              <a:rPr lang="en-US" dirty="0"/>
              <a:t> interoperability is more likely, though full preservation of meaning is not guaranteed.</a:t>
            </a:r>
          </a:p>
          <a:p>
            <a:pPr lvl="1">
              <a:lnSpc>
                <a:spcPct val="120000"/>
              </a:lnSpc>
              <a:spcBef>
                <a:spcPts val="0"/>
              </a:spcBef>
              <a:spcAft>
                <a:spcPts val="300"/>
              </a:spcAft>
            </a:pPr>
            <a:r>
              <a:rPr lang="en-US" b="1" dirty="0"/>
              <a:t>Partial overlap:</a:t>
            </a:r>
            <a:r>
              <a:rPr lang="en-US" dirty="0"/>
              <a:t> interoperability is possible, but carries a significant risk of semantic distortion.</a:t>
            </a:r>
          </a:p>
          <a:p>
            <a:pPr lvl="1">
              <a:lnSpc>
                <a:spcPct val="120000"/>
              </a:lnSpc>
              <a:spcBef>
                <a:spcPts val="0"/>
              </a:spcBef>
              <a:spcAft>
                <a:spcPts val="300"/>
              </a:spcAft>
            </a:pPr>
            <a:r>
              <a:rPr lang="en-US" b="1" dirty="0"/>
              <a:t>No overlap:</a:t>
            </a:r>
            <a:r>
              <a:rPr lang="en-US" dirty="0"/>
              <a:t> semantic interoperability is not possible.</a:t>
            </a:r>
          </a:p>
        </p:txBody>
      </p:sp>
      <p:sp>
        <p:nvSpPr>
          <p:cNvPr id="5" name="TextBox 4">
            <a:extLst>
              <a:ext uri="{FF2B5EF4-FFF2-40B4-BE49-F238E27FC236}">
                <a16:creationId xmlns:a16="http://schemas.microsoft.com/office/drawing/2014/main" id="{EC022021-284C-2D3E-4FE9-BFB5F37433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885243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AB525-D7EF-85FB-D31B-45CE0B0C5FAE}"/>
              </a:ext>
            </a:extLst>
          </p:cNvPr>
          <p:cNvSpPr>
            <a:spLocks noGrp="1"/>
          </p:cNvSpPr>
          <p:nvPr>
            <p:ph type="title"/>
          </p:nvPr>
        </p:nvSpPr>
        <p:spPr/>
        <p:txBody>
          <a:bodyPr/>
          <a:lstStyle/>
          <a:p>
            <a:r>
              <a:rPr lang="en-US" sz="3200" dirty="0"/>
              <a:t>Examples of Semantic Similarity and Difference</a:t>
            </a:r>
            <a:endParaRPr lang="en-NL" sz="3200" dirty="0"/>
          </a:p>
        </p:txBody>
      </p:sp>
      <p:pic>
        <p:nvPicPr>
          <p:cNvPr id="6" name="Content Placeholder 5">
            <a:extLst>
              <a:ext uri="{FF2B5EF4-FFF2-40B4-BE49-F238E27FC236}">
                <a16:creationId xmlns:a16="http://schemas.microsoft.com/office/drawing/2014/main" id="{EA0A33E6-BC83-3307-2AF9-64438684EB5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10000"/>
                    </a14:imgEffect>
                    <a14:imgEffect>
                      <a14:brightnessContrast contrast="-20000"/>
                    </a14:imgEffect>
                  </a14:imgLayer>
                </a14:imgProps>
              </a:ext>
            </a:extLst>
          </a:blip>
          <a:srcRect t="14860" b="3286"/>
          <a:stretch>
            <a:fillRect/>
          </a:stretch>
        </p:blipFill>
        <p:spPr>
          <a:xfrm>
            <a:off x="1315460" y="1628775"/>
            <a:ext cx="9576956" cy="4321175"/>
          </a:xfrm>
          <a:prstGeom prst="rect">
            <a:avLst/>
          </a:prstGeom>
        </p:spPr>
      </p:pic>
      <p:sp>
        <p:nvSpPr>
          <p:cNvPr id="4" name="Slide Number Placeholder 3">
            <a:extLst>
              <a:ext uri="{FF2B5EF4-FFF2-40B4-BE49-F238E27FC236}">
                <a16:creationId xmlns:a16="http://schemas.microsoft.com/office/drawing/2014/main" id="{830E07BF-EDC0-1F5F-DCE6-C910D6F46597}"/>
              </a:ext>
            </a:extLst>
          </p:cNvPr>
          <p:cNvSpPr>
            <a:spLocks noGrp="1"/>
          </p:cNvSpPr>
          <p:nvPr>
            <p:ph type="sldNum" sz="quarter" idx="12"/>
          </p:nvPr>
        </p:nvSpPr>
        <p:spPr/>
        <p:txBody>
          <a:bodyPr/>
          <a:lstStyle/>
          <a:p>
            <a:fld id="{4FAB73BC-B049-4115-A692-8D63A059BFB8}" type="slidenum">
              <a:rPr lang="en-US" smtClean="0"/>
              <a:pPr/>
              <a:t>38</a:t>
            </a:fld>
            <a:endParaRPr lang="en-US" dirty="0"/>
          </a:p>
        </p:txBody>
      </p:sp>
      <p:sp>
        <p:nvSpPr>
          <p:cNvPr id="7" name="TextBox 6">
            <a:extLst>
              <a:ext uri="{FF2B5EF4-FFF2-40B4-BE49-F238E27FC236}">
                <a16:creationId xmlns:a16="http://schemas.microsoft.com/office/drawing/2014/main" id="{4809DB47-3DED-2030-5BF5-39DC6AE0B2F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10413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BCB6B-B15A-C9A9-B36D-E685EFD1A232}"/>
              </a:ext>
            </a:extLst>
          </p:cNvPr>
          <p:cNvSpPr>
            <a:spLocks noGrp="1"/>
          </p:cNvSpPr>
          <p:nvPr>
            <p:ph type="title"/>
          </p:nvPr>
        </p:nvSpPr>
        <p:spPr/>
        <p:txBody>
          <a:bodyPr/>
          <a:lstStyle/>
          <a:p>
            <a:r>
              <a:rPr lang="en-US" sz="3600" dirty="0"/>
              <a:t>Exact Meaning is not Enough</a:t>
            </a:r>
            <a:endParaRPr lang="en-NL" sz="3600" dirty="0"/>
          </a:p>
        </p:txBody>
      </p:sp>
      <p:sp>
        <p:nvSpPr>
          <p:cNvPr id="4" name="Slide Number Placeholder 3">
            <a:extLst>
              <a:ext uri="{FF2B5EF4-FFF2-40B4-BE49-F238E27FC236}">
                <a16:creationId xmlns:a16="http://schemas.microsoft.com/office/drawing/2014/main" id="{DB4F4FFC-7ACB-BE9B-D8F5-85E2E62E8505}"/>
              </a:ext>
            </a:extLst>
          </p:cNvPr>
          <p:cNvSpPr>
            <a:spLocks noGrp="1"/>
          </p:cNvSpPr>
          <p:nvPr>
            <p:ph type="sldNum" sz="quarter" idx="12"/>
          </p:nvPr>
        </p:nvSpPr>
        <p:spPr/>
        <p:txBody>
          <a:bodyPr/>
          <a:lstStyle/>
          <a:p>
            <a:fld id="{4FAB73BC-B049-4115-A692-8D63A059BFB8}" type="slidenum">
              <a:rPr lang="en-US" smtClean="0"/>
              <a:pPr/>
              <a:t>39</a:t>
            </a:fld>
            <a:endParaRPr lang="en-US" dirty="0"/>
          </a:p>
        </p:txBody>
      </p:sp>
      <p:grpSp>
        <p:nvGrpSpPr>
          <p:cNvPr id="13" name="Group 12">
            <a:extLst>
              <a:ext uri="{FF2B5EF4-FFF2-40B4-BE49-F238E27FC236}">
                <a16:creationId xmlns:a16="http://schemas.microsoft.com/office/drawing/2014/main" id="{34D08A09-1FFB-E6A5-8733-51B49AC3DA24}"/>
              </a:ext>
            </a:extLst>
          </p:cNvPr>
          <p:cNvGrpSpPr/>
          <p:nvPr/>
        </p:nvGrpSpPr>
        <p:grpSpPr>
          <a:xfrm>
            <a:off x="755613" y="2818992"/>
            <a:ext cx="3291036" cy="2869882"/>
            <a:chOff x="698700" y="2244729"/>
            <a:chExt cx="3291036" cy="2869882"/>
          </a:xfrm>
        </p:grpSpPr>
        <p:sp>
          <p:nvSpPr>
            <p:cNvPr id="9" name="Freeform: Shape 8">
              <a:extLst>
                <a:ext uri="{FF2B5EF4-FFF2-40B4-BE49-F238E27FC236}">
                  <a16:creationId xmlns:a16="http://schemas.microsoft.com/office/drawing/2014/main" id="{7B37942D-1E25-C8EA-4D21-C0F44A94594C}"/>
                </a:ext>
              </a:extLst>
            </p:cNvPr>
            <p:cNvSpPr/>
            <p:nvPr/>
          </p:nvSpPr>
          <p:spPr>
            <a:xfrm>
              <a:off x="698700" y="2244729"/>
              <a:ext cx="3291036" cy="440379"/>
            </a:xfrm>
            <a:custGeom>
              <a:avLst/>
              <a:gdLst>
                <a:gd name="csX0" fmla="*/ 0 w 3291036"/>
                <a:gd name="csY0" fmla="*/ 0 h 1316414"/>
                <a:gd name="csX1" fmla="*/ 3291036 w 3291036"/>
                <a:gd name="csY1" fmla="*/ 0 h 1316414"/>
                <a:gd name="csX2" fmla="*/ 3291036 w 3291036"/>
                <a:gd name="csY2" fmla="*/ 1316414 h 1316414"/>
                <a:gd name="csX3" fmla="*/ 0 w 3291036"/>
                <a:gd name="csY3" fmla="*/ 1316414 h 1316414"/>
                <a:gd name="csX4" fmla="*/ 0 w 3291036"/>
                <a:gd name="csY4" fmla="*/ 0 h 1316414"/>
              </a:gdLst>
              <a:ahLst/>
              <a:cxnLst>
                <a:cxn ang="0">
                  <a:pos x="csX0" y="csY0"/>
                </a:cxn>
                <a:cxn ang="0">
                  <a:pos x="csX1" y="csY1"/>
                </a:cxn>
                <a:cxn ang="0">
                  <a:pos x="csX2" y="csY2"/>
                </a:cxn>
                <a:cxn ang="0">
                  <a:pos x="csX3" y="csY3"/>
                </a:cxn>
                <a:cxn ang="0">
                  <a:pos x="csX4" y="csY4"/>
                </a:cxn>
              </a:cxnLst>
              <a:rect l="l" t="t" r="r" b="b"/>
              <a:pathLst>
                <a:path w="3291036" h="1316414">
                  <a:moveTo>
                    <a:pt x="0" y="0"/>
                  </a:moveTo>
                  <a:lnTo>
                    <a:pt x="3291036" y="0"/>
                  </a:lnTo>
                  <a:lnTo>
                    <a:pt x="3291036" y="1316414"/>
                  </a:lnTo>
                  <a:lnTo>
                    <a:pt x="0" y="1316414"/>
                  </a:lnTo>
                  <a:lnTo>
                    <a:pt x="0" y="0"/>
                  </a:lnTo>
                  <a:close/>
                </a:path>
              </a:pathLst>
            </a:custGeom>
            <a:ln>
              <a:noFill/>
            </a:ln>
            <a:effectLst/>
            <a:scene3d>
              <a:camera prst="orthographicFront">
                <a:rot lat="0" lon="0" rev="0"/>
              </a:camera>
              <a:lightRig rig="contrasting" dir="t">
                <a:rot lat="0" lon="0" rev="7800000"/>
              </a:lightRig>
            </a:scene3d>
            <a:sp3d>
              <a:bevelT w="139700" h="139700"/>
            </a:sp3d>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419608" tIns="239776" rIns="419608" bIns="239776" numCol="1" spcCol="1270" anchor="ctr" anchorCtr="0">
              <a:noAutofit/>
            </a:bodyPr>
            <a:lstStyle/>
            <a:p>
              <a:pPr algn="ctr" defTabSz="2622550">
                <a:lnSpc>
                  <a:spcPct val="90000"/>
                </a:lnSpc>
                <a:spcBef>
                  <a:spcPct val="0"/>
                </a:spcBef>
                <a:spcAft>
                  <a:spcPct val="35000"/>
                </a:spcAft>
              </a:pPr>
              <a:r>
                <a:rPr lang="en-US" sz="2000" dirty="0"/>
                <a:t>Exact meanings</a:t>
              </a:r>
              <a:endParaRPr lang="en-NL" sz="2000" dirty="0"/>
            </a:p>
          </p:txBody>
        </p:sp>
        <p:sp>
          <p:nvSpPr>
            <p:cNvPr id="10" name="Rectangle 9">
              <a:extLst>
                <a:ext uri="{FF2B5EF4-FFF2-40B4-BE49-F238E27FC236}">
                  <a16:creationId xmlns:a16="http://schemas.microsoft.com/office/drawing/2014/main" id="{C7E03EEE-96FF-A43C-F8BD-35E54F7AB2E8}"/>
                </a:ext>
              </a:extLst>
            </p:cNvPr>
            <p:cNvSpPr/>
            <p:nvPr/>
          </p:nvSpPr>
          <p:spPr>
            <a:xfrm>
              <a:off x="698700" y="2740672"/>
              <a:ext cx="3291036" cy="2373939"/>
            </a:xfrm>
            <a:prstGeom prst="rect">
              <a:avLst/>
            </a:prstGeom>
            <a:solidFill>
              <a:schemeClr val="accent6">
                <a:lumMod val="20000"/>
                <a:lumOff val="80000"/>
                <a:alpha val="90000"/>
              </a:schemeClr>
            </a:solidFill>
            <a:ln>
              <a:solidFill>
                <a:schemeClr val="tx1">
                  <a:lumMod val="65000"/>
                  <a:lumOff val="35000"/>
                  <a:alpha val="90000"/>
                </a:schemeClr>
              </a:solidFill>
            </a:ln>
            <a:effectLst>
              <a:outerShdw blurRad="50800" dist="38100" dir="2700000" algn="tl" rotWithShape="0">
                <a:prstClr val="black">
                  <a:alpha val="40000"/>
                </a:prstClr>
              </a:outerShdw>
            </a:effectLst>
          </p:spPr>
          <p:style>
            <a:lnRef idx="2">
              <a:schemeClr val="dk2">
                <a:alpha val="90000"/>
                <a:tint val="40000"/>
                <a:hueOff val="0"/>
                <a:satOff val="0"/>
                <a:lumOff val="0"/>
                <a:alphaOff val="0"/>
              </a:schemeClr>
            </a:lnRef>
            <a:fillRef idx="1">
              <a:schemeClr val="dk2">
                <a:alpha val="90000"/>
                <a:tint val="40000"/>
                <a:hueOff val="0"/>
                <a:satOff val="0"/>
                <a:lumOff val="0"/>
                <a:alphaOff val="0"/>
              </a:schemeClr>
            </a:fillRef>
            <a:effectRef idx="0">
              <a:schemeClr val="dk2">
                <a:alpha val="90000"/>
                <a:tint val="40000"/>
                <a:hueOff val="0"/>
                <a:satOff val="0"/>
                <a:lumOff val="0"/>
                <a:alphaOff val="0"/>
              </a:schemeClr>
            </a:effectRef>
            <a:fontRef idx="minor">
              <a:schemeClr val="dk1">
                <a:hueOff val="0"/>
                <a:satOff val="0"/>
                <a:lumOff val="0"/>
                <a:alphaOff val="0"/>
              </a:schemeClr>
            </a:fontRef>
          </p:style>
          <p:txBody>
            <a:bodyPr/>
            <a:lstStyle/>
            <a:p>
              <a:endParaRPr lang="en-NL"/>
            </a:p>
          </p:txBody>
        </p:sp>
        <p:sp>
          <p:nvSpPr>
            <p:cNvPr id="11" name="Oval 10">
              <a:extLst>
                <a:ext uri="{FF2B5EF4-FFF2-40B4-BE49-F238E27FC236}">
                  <a16:creationId xmlns:a16="http://schemas.microsoft.com/office/drawing/2014/main" id="{33199A99-60D2-8F86-C7E0-F3AB3B68C342}"/>
                </a:ext>
              </a:extLst>
            </p:cNvPr>
            <p:cNvSpPr/>
            <p:nvPr/>
          </p:nvSpPr>
          <p:spPr>
            <a:xfrm>
              <a:off x="1591649" y="3175072"/>
              <a:ext cx="1505138" cy="1505138"/>
            </a:xfrm>
            <a:prstGeom prst="ellipse">
              <a:avLst/>
            </a:prstGeom>
            <a:solidFill>
              <a:schemeClr val="accent3"/>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A=B</a:t>
              </a:r>
              <a:endParaRPr lang="en-NL" dirty="0"/>
            </a:p>
          </p:txBody>
        </p:sp>
      </p:grpSp>
      <p:sp>
        <p:nvSpPr>
          <p:cNvPr id="12" name="Content Placeholder 2">
            <a:extLst>
              <a:ext uri="{FF2B5EF4-FFF2-40B4-BE49-F238E27FC236}">
                <a16:creationId xmlns:a16="http://schemas.microsoft.com/office/drawing/2014/main" id="{7332A361-BC14-A384-E2C3-9003E569160B}"/>
              </a:ext>
            </a:extLst>
          </p:cNvPr>
          <p:cNvSpPr>
            <a:spLocks noGrp="1"/>
          </p:cNvSpPr>
          <p:nvPr>
            <p:ph idx="1"/>
          </p:nvPr>
        </p:nvSpPr>
        <p:spPr>
          <a:xfrm>
            <a:off x="695325" y="1628776"/>
            <a:ext cx="10801349" cy="4321174"/>
          </a:xfrm>
        </p:spPr>
        <p:txBody>
          <a:bodyPr/>
          <a:lstStyle/>
          <a:p>
            <a:r>
              <a:rPr lang="en-US" dirty="0"/>
              <a:t>If two concepts share exactly the same meaning, that supports semantic interoperability, but it still does not guarantee interoperability overall.</a:t>
            </a:r>
            <a:endParaRPr lang="en-NL" dirty="0"/>
          </a:p>
        </p:txBody>
      </p:sp>
      <p:grpSp>
        <p:nvGrpSpPr>
          <p:cNvPr id="30" name="Group 29">
            <a:extLst>
              <a:ext uri="{FF2B5EF4-FFF2-40B4-BE49-F238E27FC236}">
                <a16:creationId xmlns:a16="http://schemas.microsoft.com/office/drawing/2014/main" id="{7918E919-3E65-74E2-C9B5-E59218E483FD}"/>
              </a:ext>
            </a:extLst>
          </p:cNvPr>
          <p:cNvGrpSpPr/>
          <p:nvPr/>
        </p:nvGrpSpPr>
        <p:grpSpPr>
          <a:xfrm>
            <a:off x="4568624" y="2899019"/>
            <a:ext cx="6856349" cy="2789855"/>
            <a:chOff x="4508336" y="2876286"/>
            <a:chExt cx="6856349" cy="2789855"/>
          </a:xfrm>
        </p:grpSpPr>
        <p:sp>
          <p:nvSpPr>
            <p:cNvPr id="16" name="Freeform: Shape 15">
              <a:extLst>
                <a:ext uri="{FF2B5EF4-FFF2-40B4-BE49-F238E27FC236}">
                  <a16:creationId xmlns:a16="http://schemas.microsoft.com/office/drawing/2014/main" id="{51430092-E9C0-1232-0A8A-48417EF4A59F}"/>
                </a:ext>
              </a:extLst>
            </p:cNvPr>
            <p:cNvSpPr/>
            <p:nvPr/>
          </p:nvSpPr>
          <p:spPr>
            <a:xfrm>
              <a:off x="7214716" y="287628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JSON vs XML vs CSV</a:t>
              </a:r>
              <a:endParaRPr lang="en-NL" sz="1600" kern="1200" dirty="0"/>
            </a:p>
          </p:txBody>
        </p:sp>
        <p:sp>
          <p:nvSpPr>
            <p:cNvPr id="17" name="Freeform: Shape 16">
              <a:extLst>
                <a:ext uri="{FF2B5EF4-FFF2-40B4-BE49-F238E27FC236}">
                  <a16:creationId xmlns:a16="http://schemas.microsoft.com/office/drawing/2014/main" id="{56B6D6A3-1D96-989A-4AE8-A0AC28410CF4}"/>
                </a:ext>
              </a:extLst>
            </p:cNvPr>
            <p:cNvSpPr/>
            <p:nvPr/>
          </p:nvSpPr>
          <p:spPr>
            <a:xfrm>
              <a:off x="4508336" y="287628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Format/syntax:</a:t>
              </a:r>
              <a:endParaRPr lang="en-NL" sz="1600" kern="1200" dirty="0"/>
            </a:p>
          </p:txBody>
        </p:sp>
        <p:sp>
          <p:nvSpPr>
            <p:cNvPr id="18" name="Freeform: Shape 17">
              <a:extLst>
                <a:ext uri="{FF2B5EF4-FFF2-40B4-BE49-F238E27FC236}">
                  <a16:creationId xmlns:a16="http://schemas.microsoft.com/office/drawing/2014/main" id="{69003029-480E-AAA7-8BD2-42FA101A87D1}"/>
                </a:ext>
              </a:extLst>
            </p:cNvPr>
            <p:cNvSpPr/>
            <p:nvPr/>
          </p:nvSpPr>
          <p:spPr>
            <a:xfrm>
              <a:off x="7214716" y="3280081"/>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fields, nesting, cardinalities</a:t>
              </a:r>
              <a:endParaRPr lang="en-NL" sz="1600" kern="1200" dirty="0"/>
            </a:p>
          </p:txBody>
        </p:sp>
        <p:sp>
          <p:nvSpPr>
            <p:cNvPr id="19" name="Freeform: Shape 18">
              <a:extLst>
                <a:ext uri="{FF2B5EF4-FFF2-40B4-BE49-F238E27FC236}">
                  <a16:creationId xmlns:a16="http://schemas.microsoft.com/office/drawing/2014/main" id="{7A5BA93C-A947-415B-F24D-CE2694B7FB58}"/>
                </a:ext>
              </a:extLst>
            </p:cNvPr>
            <p:cNvSpPr/>
            <p:nvPr/>
          </p:nvSpPr>
          <p:spPr>
            <a:xfrm>
              <a:off x="4508336" y="3280081"/>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Data model/structure:</a:t>
              </a:r>
              <a:endParaRPr lang="en-NL" sz="1600" kern="1200" dirty="0"/>
            </a:p>
          </p:txBody>
        </p:sp>
        <p:sp>
          <p:nvSpPr>
            <p:cNvPr id="20" name="Freeform: Shape 19">
              <a:extLst>
                <a:ext uri="{FF2B5EF4-FFF2-40B4-BE49-F238E27FC236}">
                  <a16:creationId xmlns:a16="http://schemas.microsoft.com/office/drawing/2014/main" id="{D57965C5-A0DD-623B-E704-B283E9D753DF}"/>
                </a:ext>
              </a:extLst>
            </p:cNvPr>
            <p:cNvSpPr/>
            <p:nvPr/>
          </p:nvSpPr>
          <p:spPr>
            <a:xfrm>
              <a:off x="7214716" y="3683876"/>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codes, labels, datatypes, date formats</a:t>
              </a:r>
              <a:endParaRPr lang="en-NL" sz="1600" kern="1200" dirty="0"/>
            </a:p>
          </p:txBody>
        </p:sp>
        <p:sp>
          <p:nvSpPr>
            <p:cNvPr id="21" name="Freeform: Shape 20">
              <a:extLst>
                <a:ext uri="{FF2B5EF4-FFF2-40B4-BE49-F238E27FC236}">
                  <a16:creationId xmlns:a16="http://schemas.microsoft.com/office/drawing/2014/main" id="{F331B44D-99DA-53B6-458E-64D24306237C}"/>
                </a:ext>
              </a:extLst>
            </p:cNvPr>
            <p:cNvSpPr/>
            <p:nvPr/>
          </p:nvSpPr>
          <p:spPr>
            <a:xfrm>
              <a:off x="4508336" y="3683876"/>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Value representation:</a:t>
              </a:r>
              <a:endParaRPr lang="en-NL" sz="1600" kern="1200" dirty="0"/>
            </a:p>
          </p:txBody>
        </p:sp>
        <p:sp>
          <p:nvSpPr>
            <p:cNvPr id="22" name="Freeform: Shape 21">
              <a:extLst>
                <a:ext uri="{FF2B5EF4-FFF2-40B4-BE49-F238E27FC236}">
                  <a16:creationId xmlns:a16="http://schemas.microsoft.com/office/drawing/2014/main" id="{F3E2D2A9-6CD1-940E-5702-BD6F9983E2F8}"/>
                </a:ext>
              </a:extLst>
            </p:cNvPr>
            <p:cNvSpPr/>
            <p:nvPr/>
          </p:nvSpPr>
          <p:spPr>
            <a:xfrm>
              <a:off x="7214716" y="408767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kg vs </a:t>
              </a:r>
              <a:r>
                <a:rPr lang="en-US" sz="1600" kern="1200" dirty="0" err="1"/>
                <a:t>lb</a:t>
              </a:r>
              <a:r>
                <a:rPr lang="en-US" sz="1600" kern="1200" dirty="0"/>
                <a:t>, Celsius vs Fahrenheit</a:t>
              </a:r>
              <a:endParaRPr lang="en-NL" sz="1600" kern="1200" dirty="0"/>
            </a:p>
          </p:txBody>
        </p:sp>
        <p:sp>
          <p:nvSpPr>
            <p:cNvPr id="23" name="Freeform: Shape 22">
              <a:extLst>
                <a:ext uri="{FF2B5EF4-FFF2-40B4-BE49-F238E27FC236}">
                  <a16:creationId xmlns:a16="http://schemas.microsoft.com/office/drawing/2014/main" id="{8ACD19C1-F3CC-7CBB-04FC-996539B814FF}"/>
                </a:ext>
              </a:extLst>
            </p:cNvPr>
            <p:cNvSpPr/>
            <p:nvPr/>
          </p:nvSpPr>
          <p:spPr>
            <a:xfrm>
              <a:off x="4508336" y="408767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Units/scales:</a:t>
              </a:r>
              <a:endParaRPr lang="en-NL" sz="1600" kern="1200" dirty="0"/>
            </a:p>
          </p:txBody>
        </p:sp>
        <p:sp>
          <p:nvSpPr>
            <p:cNvPr id="24" name="Freeform: Shape 23">
              <a:extLst>
                <a:ext uri="{FF2B5EF4-FFF2-40B4-BE49-F238E27FC236}">
                  <a16:creationId xmlns:a16="http://schemas.microsoft.com/office/drawing/2014/main" id="{BACBD285-9FC8-95D4-66B4-9C202E67766C}"/>
                </a:ext>
              </a:extLst>
            </p:cNvPr>
            <p:cNvSpPr/>
            <p:nvPr/>
          </p:nvSpPr>
          <p:spPr>
            <a:xfrm>
              <a:off x="7214716" y="449146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different IDs for the same entity</a:t>
              </a:r>
              <a:endParaRPr lang="en-NL" sz="1600" kern="1200" dirty="0"/>
            </a:p>
          </p:txBody>
        </p:sp>
        <p:sp>
          <p:nvSpPr>
            <p:cNvPr id="25" name="Freeform: Shape 24">
              <a:extLst>
                <a:ext uri="{FF2B5EF4-FFF2-40B4-BE49-F238E27FC236}">
                  <a16:creationId xmlns:a16="http://schemas.microsoft.com/office/drawing/2014/main" id="{6859E0C8-3301-B08F-18F8-34CFD6E9E6E2}"/>
                </a:ext>
              </a:extLst>
            </p:cNvPr>
            <p:cNvSpPr/>
            <p:nvPr/>
          </p:nvSpPr>
          <p:spPr>
            <a:xfrm>
              <a:off x="4508336" y="449146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Identifiers/references:</a:t>
              </a:r>
              <a:endParaRPr lang="en-NL" sz="1600" kern="1200" dirty="0"/>
            </a:p>
          </p:txBody>
        </p:sp>
        <p:sp>
          <p:nvSpPr>
            <p:cNvPr id="26" name="Freeform: Shape 25">
              <a:extLst>
                <a:ext uri="{FF2B5EF4-FFF2-40B4-BE49-F238E27FC236}">
                  <a16:creationId xmlns:a16="http://schemas.microsoft.com/office/drawing/2014/main" id="{D60B440C-CBAA-4762-C55F-4699D8001739}"/>
                </a:ext>
              </a:extLst>
            </p:cNvPr>
            <p:cNvSpPr/>
            <p:nvPr/>
          </p:nvSpPr>
          <p:spPr>
            <a:xfrm>
              <a:off x="7214716" y="4895260"/>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required fields, validation rules</a:t>
              </a:r>
              <a:endParaRPr lang="en-NL" sz="1600" kern="1200" dirty="0"/>
            </a:p>
          </p:txBody>
        </p:sp>
        <p:sp>
          <p:nvSpPr>
            <p:cNvPr id="27" name="Freeform: Shape 26">
              <a:extLst>
                <a:ext uri="{FF2B5EF4-FFF2-40B4-BE49-F238E27FC236}">
                  <a16:creationId xmlns:a16="http://schemas.microsoft.com/office/drawing/2014/main" id="{5E1320CD-B178-C172-5033-F0BA6C95FF98}"/>
                </a:ext>
              </a:extLst>
            </p:cNvPr>
            <p:cNvSpPr/>
            <p:nvPr/>
          </p:nvSpPr>
          <p:spPr>
            <a:xfrm>
              <a:off x="4508336" y="4895260"/>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Constraints/business rules:</a:t>
              </a:r>
              <a:endParaRPr lang="en-NL" sz="1600" kern="1200" dirty="0"/>
            </a:p>
          </p:txBody>
        </p:sp>
        <p:sp>
          <p:nvSpPr>
            <p:cNvPr id="28" name="Freeform: Shape 27">
              <a:extLst>
                <a:ext uri="{FF2B5EF4-FFF2-40B4-BE49-F238E27FC236}">
                  <a16:creationId xmlns:a16="http://schemas.microsoft.com/office/drawing/2014/main" id="{10F87F8E-F13C-FE56-2AC6-7C86A7615215}"/>
                </a:ext>
              </a:extLst>
            </p:cNvPr>
            <p:cNvSpPr/>
            <p:nvPr/>
          </p:nvSpPr>
          <p:spPr>
            <a:xfrm>
              <a:off x="7214716" y="5299055"/>
              <a:ext cx="4149969" cy="367086"/>
            </a:xfrm>
            <a:custGeom>
              <a:avLst/>
              <a:gdLst>
                <a:gd name="csX0" fmla="*/ 0 w 4190978"/>
                <a:gd name="csY0" fmla="*/ 61182 h 367086"/>
                <a:gd name="csX1" fmla="*/ 61182 w 4190978"/>
                <a:gd name="csY1" fmla="*/ 0 h 367086"/>
                <a:gd name="csX2" fmla="*/ 4129796 w 4190978"/>
                <a:gd name="csY2" fmla="*/ 0 h 367086"/>
                <a:gd name="csX3" fmla="*/ 4190978 w 4190978"/>
                <a:gd name="csY3" fmla="*/ 61182 h 367086"/>
                <a:gd name="csX4" fmla="*/ 4190978 w 4190978"/>
                <a:gd name="csY4" fmla="*/ 305904 h 367086"/>
                <a:gd name="csX5" fmla="*/ 4129796 w 4190978"/>
                <a:gd name="csY5" fmla="*/ 367086 h 367086"/>
                <a:gd name="csX6" fmla="*/ 61182 w 4190978"/>
                <a:gd name="csY6" fmla="*/ 367086 h 367086"/>
                <a:gd name="csX7" fmla="*/ 0 w 4190978"/>
                <a:gd name="csY7" fmla="*/ 305904 h 367086"/>
                <a:gd name="csX8" fmla="*/ 0 w 4190978"/>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190978" h="367086">
                  <a:moveTo>
                    <a:pt x="0" y="61182"/>
                  </a:moveTo>
                  <a:cubicBezTo>
                    <a:pt x="0" y="27392"/>
                    <a:pt x="27392" y="0"/>
                    <a:pt x="61182" y="0"/>
                  </a:cubicBezTo>
                  <a:lnTo>
                    <a:pt x="4129796" y="0"/>
                  </a:lnTo>
                  <a:cubicBezTo>
                    <a:pt x="4163586" y="0"/>
                    <a:pt x="4190978" y="27392"/>
                    <a:pt x="4190978" y="61182"/>
                  </a:cubicBezTo>
                  <a:lnTo>
                    <a:pt x="4190978" y="305904"/>
                  </a:lnTo>
                  <a:cubicBezTo>
                    <a:pt x="4190978" y="339694"/>
                    <a:pt x="4163586" y="367086"/>
                    <a:pt x="4129796" y="367086"/>
                  </a:cubicBezTo>
                  <a:lnTo>
                    <a:pt x="61182" y="367086"/>
                  </a:lnTo>
                  <a:cubicBezTo>
                    <a:pt x="27392" y="367086"/>
                    <a:pt x="0" y="339694"/>
                    <a:pt x="0" y="305904"/>
                  </a:cubicBezTo>
                  <a:lnTo>
                    <a:pt x="0" y="61182"/>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8715" tIns="28715" rIns="28715" bIns="28715" numCol="1" spcCol="1270" anchor="ctr" anchorCtr="0">
              <a:noAutofit/>
            </a:bodyPr>
            <a:lstStyle/>
            <a:p>
              <a:pPr marL="0" lvl="1" algn="ctr" defTabSz="755650">
                <a:lnSpc>
                  <a:spcPct val="90000"/>
                </a:lnSpc>
                <a:spcBef>
                  <a:spcPct val="0"/>
                </a:spcBef>
                <a:spcAft>
                  <a:spcPct val="15000"/>
                </a:spcAft>
              </a:pPr>
              <a:r>
                <a:rPr lang="en-US" sz="1600" kern="1200" dirty="0"/>
                <a:t>API, file exchange, messaging differences</a:t>
              </a:r>
              <a:endParaRPr lang="en-NL" sz="1600" kern="1200" dirty="0"/>
            </a:p>
          </p:txBody>
        </p:sp>
        <p:sp>
          <p:nvSpPr>
            <p:cNvPr id="29" name="Freeform: Shape 28">
              <a:extLst>
                <a:ext uri="{FF2B5EF4-FFF2-40B4-BE49-F238E27FC236}">
                  <a16:creationId xmlns:a16="http://schemas.microsoft.com/office/drawing/2014/main" id="{7B643992-6C8F-B358-43EE-4C14C77589E3}"/>
                </a:ext>
              </a:extLst>
            </p:cNvPr>
            <p:cNvSpPr/>
            <p:nvPr/>
          </p:nvSpPr>
          <p:spPr>
            <a:xfrm>
              <a:off x="4508336" y="5299055"/>
              <a:ext cx="2793985" cy="367086"/>
            </a:xfrm>
            <a:custGeom>
              <a:avLst/>
              <a:gdLst>
                <a:gd name="csX0" fmla="*/ 0 w 2793985"/>
                <a:gd name="csY0" fmla="*/ 61182 h 367086"/>
                <a:gd name="csX1" fmla="*/ 61182 w 2793985"/>
                <a:gd name="csY1" fmla="*/ 0 h 367086"/>
                <a:gd name="csX2" fmla="*/ 2732803 w 2793985"/>
                <a:gd name="csY2" fmla="*/ 0 h 367086"/>
                <a:gd name="csX3" fmla="*/ 2793985 w 2793985"/>
                <a:gd name="csY3" fmla="*/ 61182 h 367086"/>
                <a:gd name="csX4" fmla="*/ 2793985 w 2793985"/>
                <a:gd name="csY4" fmla="*/ 305904 h 367086"/>
                <a:gd name="csX5" fmla="*/ 2732803 w 2793985"/>
                <a:gd name="csY5" fmla="*/ 367086 h 367086"/>
                <a:gd name="csX6" fmla="*/ 61182 w 2793985"/>
                <a:gd name="csY6" fmla="*/ 367086 h 367086"/>
                <a:gd name="csX7" fmla="*/ 0 w 2793985"/>
                <a:gd name="csY7" fmla="*/ 305904 h 367086"/>
                <a:gd name="csX8" fmla="*/ 0 w 2793985"/>
                <a:gd name="csY8" fmla="*/ 61182 h 3670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93985" h="367086">
                  <a:moveTo>
                    <a:pt x="0" y="61182"/>
                  </a:moveTo>
                  <a:cubicBezTo>
                    <a:pt x="0" y="27392"/>
                    <a:pt x="27392" y="0"/>
                    <a:pt x="61182" y="0"/>
                  </a:cubicBezTo>
                  <a:lnTo>
                    <a:pt x="2732803" y="0"/>
                  </a:lnTo>
                  <a:cubicBezTo>
                    <a:pt x="2766593" y="0"/>
                    <a:pt x="2793985" y="27392"/>
                    <a:pt x="2793985" y="61182"/>
                  </a:cubicBezTo>
                  <a:lnTo>
                    <a:pt x="2793985" y="305904"/>
                  </a:lnTo>
                  <a:cubicBezTo>
                    <a:pt x="2793985" y="339694"/>
                    <a:pt x="2766593" y="367086"/>
                    <a:pt x="2732803" y="367086"/>
                  </a:cubicBezTo>
                  <a:lnTo>
                    <a:pt x="61182" y="367086"/>
                  </a:lnTo>
                  <a:cubicBezTo>
                    <a:pt x="27392" y="367086"/>
                    <a:pt x="0" y="339694"/>
                    <a:pt x="0" y="305904"/>
                  </a:cubicBezTo>
                  <a:lnTo>
                    <a:pt x="0" y="61182"/>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82690" tIns="50305" rIns="82690" bIns="50305" numCol="1" spcCol="1270" anchor="ctr" anchorCtr="0">
              <a:noAutofit/>
            </a:bodyPr>
            <a:lstStyle/>
            <a:p>
              <a:pPr marL="0" lvl="0" indent="0" algn="ctr" defTabSz="755650">
                <a:lnSpc>
                  <a:spcPct val="90000"/>
                </a:lnSpc>
                <a:spcBef>
                  <a:spcPct val="0"/>
                </a:spcBef>
                <a:spcAft>
                  <a:spcPct val="35000"/>
                </a:spcAft>
                <a:buNone/>
              </a:pPr>
              <a:r>
                <a:rPr lang="en-US" sz="1600" kern="1200" dirty="0"/>
                <a:t>Protocol/transport:</a:t>
              </a:r>
              <a:endParaRPr lang="en-NL" sz="1600" kern="1200" dirty="0"/>
            </a:p>
          </p:txBody>
        </p:sp>
      </p:grpSp>
      <p:sp>
        <p:nvSpPr>
          <p:cNvPr id="5" name="TextBox 4">
            <a:extLst>
              <a:ext uri="{FF2B5EF4-FFF2-40B4-BE49-F238E27FC236}">
                <a16:creationId xmlns:a16="http://schemas.microsoft.com/office/drawing/2014/main" id="{72A41129-F4BF-321B-CC83-F56DB9B11F6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41422881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purl.org/dc/elements/1.1/"/>
    <ds:schemaRef ds:uri="http://schemas.microsoft.com/office/2006/documentManagement/types"/>
    <ds:schemaRef ds:uri="71af3243-3dd4-4a8d-8c0d-dd76da1f02a5"/>
    <ds:schemaRef ds:uri="http://schemas.microsoft.com/office/infopath/2007/PartnerControls"/>
    <ds:schemaRef ds:uri="http://schemas.openxmlformats.org/package/2006/metadata/core-properties"/>
    <ds:schemaRef ds:uri="http://purl.org/dc/terms/"/>
    <ds:schemaRef ds:uri="http://www.w3.org/XML/1998/namespace"/>
    <ds:schemaRef ds:uri="16c05727-aa75-4e4a-9b5f-8a80a116589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6967</TotalTime>
  <Words>6108</Words>
  <Application>Microsoft Office PowerPoint</Application>
  <PresentationFormat>Widescreen</PresentationFormat>
  <Paragraphs>926</Paragraphs>
  <Slides>39</Slides>
  <Notes>37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39</vt:i4>
      </vt:variant>
    </vt:vector>
  </HeadingPairs>
  <TitlesOfParts>
    <vt:vector size="52" baseType="lpstr">
      <vt:lpstr>Amasis MT Pro Black</vt:lpstr>
      <vt:lpstr>Aptos</vt:lpstr>
      <vt:lpstr>Arial</vt:lpstr>
      <vt:lpstr>Atkinson Hyperlegible</vt:lpstr>
      <vt:lpstr>Atkinson Hyperlegible Mono</vt:lpstr>
      <vt:lpstr>Calibri</vt:lpstr>
      <vt:lpstr>Courier New</vt:lpstr>
      <vt:lpstr>Georgia Pro</vt:lpstr>
      <vt:lpstr>Neue Haas Grotesk Text Pro Blac</vt:lpstr>
      <vt:lpstr>Tw Cen MT</vt:lpstr>
      <vt:lpstr>Wingdings</vt:lpstr>
      <vt:lpstr>Wingdings 3</vt:lpstr>
      <vt:lpstr>Integral</vt:lpstr>
      <vt:lpstr>Applied Use Cases of  the Health-RI Semantic Interoperability Initiative</vt:lpstr>
      <vt:lpstr>Amir Hassan: Research Goal and Challenge</vt:lpstr>
      <vt:lpstr>Scenario 1: Clarify Meanings Before Reuse</vt:lpstr>
      <vt:lpstr>Scenario 1: Amir’s Question and Challenge</vt:lpstr>
      <vt:lpstr>Available Sex and Gender Variables by Dataset</vt:lpstr>
      <vt:lpstr>Labels and their Meanings</vt:lpstr>
      <vt:lpstr>Similar Labels Can Mislead Reuse</vt:lpstr>
      <vt:lpstr>Similar Labels Can Mislead Reuse</vt:lpstr>
      <vt:lpstr>Distinct Concepts Within Sex and Gender</vt:lpstr>
      <vt:lpstr>One Label, Many Possible Meanings unpacking meanings</vt:lpstr>
      <vt:lpstr>One Label, Many Possible Meanings unpacking meanings</vt:lpstr>
      <vt:lpstr>The Health-RI Conceptual Ontology</vt:lpstr>
      <vt:lpstr>HRIO Taxonomies for Sex and Gender</vt:lpstr>
      <vt:lpstr>Variables Map to Distinct Meanings</vt:lpstr>
      <vt:lpstr>Similar Variables, Different Meanings</vt:lpstr>
      <vt:lpstr>Scenario 2: Identify the datasets that represent the right meaning</vt:lpstr>
      <vt:lpstr>Scenario 2: Amir’s Question and Challenge</vt:lpstr>
      <vt:lpstr>When are two datasets interoperable?</vt:lpstr>
      <vt:lpstr>When are two datasets interoperable?</vt:lpstr>
      <vt:lpstr>Semantic Interoperability Conditions</vt:lpstr>
      <vt:lpstr>Semantic Interoperability Conditions</vt:lpstr>
      <vt:lpstr>From Conceptual Clarity to Actionable Semantics</vt:lpstr>
      <vt:lpstr>The Health-RI Computational Ontology</vt:lpstr>
      <vt:lpstr>From Conceptual Clarity to Actionable Semantics</vt:lpstr>
      <vt:lpstr>Scenario 3: Use Mappings to Connect Data and Infer Reuse Knowledge</vt:lpstr>
      <vt:lpstr>Scenario 3: Amir’s Question and Challenge</vt:lpstr>
      <vt:lpstr>External Mappings</vt:lpstr>
      <vt:lpstr>Pairwise Mappings Require Multiple Steps</vt:lpstr>
      <vt:lpstr>The Health-RI SSSOM Mapping Set (HRIM)</vt:lpstr>
      <vt:lpstr>Meaning-Based Mappings Shorten Reuse Paths</vt:lpstr>
      <vt:lpstr>Amir Assesses Reuse Through Semantic Relations</vt:lpstr>
      <vt:lpstr>Scenario 4: Query Semantic Knowledge Across Variables and Meanings</vt:lpstr>
      <vt:lpstr>Scenario 4: Amir’s Question and Challenge</vt:lpstr>
      <vt:lpstr>Amir’s Possible Queries</vt:lpstr>
      <vt:lpstr>Result of Amir’s Workflow</vt:lpstr>
      <vt:lpstr>Thank you!</vt:lpstr>
      <vt:lpstr>Meanings Are Necessary, but not Sufficient</vt:lpstr>
      <vt:lpstr>Examples of Semantic Similarity and Difference</vt:lpstr>
      <vt:lpstr>Exact Meaning is not Enough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729</cp:revision>
  <dcterms:created xsi:type="dcterms:W3CDTF">2026-04-15T11:32:55Z</dcterms:created>
  <dcterms:modified xsi:type="dcterms:W3CDTF">2026-05-22T07:47:32Z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