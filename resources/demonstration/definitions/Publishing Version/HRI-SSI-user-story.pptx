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39"/>
  </p:notesMasterIdLst>
  <p:sldIdLst>
    <p:sldId id="256" r:id="rId5"/>
    <p:sldId id="470" r:id="rId6"/>
    <p:sldId id="425" r:id="rId7"/>
    <p:sldId id="457" r:id="rId8"/>
    <p:sldId id="356" r:id="rId9"/>
    <p:sldId id="378" r:id="rId10"/>
    <p:sldId id="2147472818" r:id="rId11"/>
    <p:sldId id="438" r:id="rId12"/>
    <p:sldId id="418" r:id="rId13"/>
    <p:sldId id="473" r:id="rId14"/>
    <p:sldId id="376" r:id="rId15"/>
    <p:sldId id="366" r:id="rId16"/>
    <p:sldId id="377" r:id="rId17"/>
    <p:sldId id="426" r:id="rId18"/>
    <p:sldId id="458" r:id="rId19"/>
    <p:sldId id="384" r:id="rId20"/>
    <p:sldId id="385" r:id="rId21"/>
    <p:sldId id="386" r:id="rId22"/>
    <p:sldId id="388" r:id="rId23"/>
    <p:sldId id="440" r:id="rId24"/>
    <p:sldId id="474" r:id="rId25"/>
    <p:sldId id="441" r:id="rId26"/>
    <p:sldId id="427" r:id="rId27"/>
    <p:sldId id="471" r:id="rId28"/>
    <p:sldId id="447" r:id="rId29"/>
    <p:sldId id="446" r:id="rId30"/>
    <p:sldId id="475" r:id="rId31"/>
    <p:sldId id="450" r:id="rId32"/>
    <p:sldId id="451" r:id="rId33"/>
    <p:sldId id="472" r:id="rId34"/>
    <p:sldId id="460" r:id="rId35"/>
    <p:sldId id="2147472821" r:id="rId36"/>
    <p:sldId id="455" r:id="rId37"/>
    <p:sldId id="2147472820" r:id="rId3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DF2BB9C-7D79-0E79-BA9A-4CC595044F8E}" name="Douwe Spaanderman (Health-RI)" initials="D(" userId="S::douwe.spaanderman@health-ri.nl::5a360af9-85f9-4284-9c15-810be2352c85" providerId="AD"/>
  <p188:author id="{9FA9BBA4-F686-BB8B-2EC0-40EB24FB56FC}" name="Pedro Paulo Favato Barcelos" initials="PB" userId="S::Pedro.Barcelos@health-ri.nl::f2dd2075-64ee-4747-932a-1cb86b6dbe3b"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717171"/>
    <a:srgbClr val="FFE4D9"/>
    <a:srgbClr val="E30614"/>
    <a:srgbClr val="F2F2F2"/>
    <a:srgbClr val="BCC1CB"/>
    <a:srgbClr val="FFFFFF"/>
    <a:srgbClr val="DEF1DC"/>
    <a:srgbClr val="15467B"/>
    <a:srgbClr val="000000"/>
    <a:srgbClr val="F8A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76484" autoAdjust="0"/>
  </p:normalViewPr>
  <p:slideViewPr>
    <p:cSldViewPr snapToGrid="0">
      <p:cViewPr varScale="1">
        <p:scale>
          <a:sx n="81" d="100"/>
          <a:sy n="81" d="100"/>
        </p:scale>
        <p:origin x="1614" y="84"/>
      </p:cViewPr>
      <p:guideLst/>
    </p:cSldViewPr>
  </p:slideViewPr>
  <p:notesTextViewPr>
    <p:cViewPr>
      <p:scale>
        <a:sx n="3" d="2"/>
        <a:sy n="3" d="2"/>
      </p:scale>
      <p:origin x="0" y="0"/>
    </p:cViewPr>
  </p:notesTextViewPr>
  <p:sorterViewPr>
    <p:cViewPr>
      <p:scale>
        <a:sx n="100" d="100"/>
        <a:sy n="100" d="100"/>
      </p:scale>
      <p:origin x="0" y="0"/>
    </p:cViewPr>
  </p:sorterViewPr>
  <p:notesViewPr>
    <p:cSldViewPr snapToGrid="0" showGuides="1">
      <p:cViewPr varScale="1">
        <p:scale>
          <a:sx n="81" d="100"/>
          <a:sy n="81" d="100"/>
        </p:scale>
        <p:origin x="3894"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s>
</file>

<file path=ppt/diagrams/_rels/data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diagrams/_rels/data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diagrams/_rels/drawing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diagrams/_rels/drawing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A8184BF-63E2-429E-8747-65CBDE3FC26E}" type="doc">
      <dgm:prSet loTypeId="urn:microsoft.com/office/officeart/2005/8/layout/list1" loCatId="list" qsTypeId="urn:microsoft.com/office/officeart/2005/8/quickstyle/simple4" qsCatId="simple" csTypeId="urn:microsoft.com/office/officeart/2005/8/colors/accent1_2" csCatId="accent1" phldr="1"/>
      <dgm:spPr/>
      <dgm:t>
        <a:bodyPr/>
        <a:lstStyle/>
        <a:p>
          <a:endParaRPr lang="en-NL"/>
        </a:p>
      </dgm:t>
    </dgm:pt>
    <dgm:pt modelId="{A415B67E-F104-42EA-A9A3-BFEC406D7D64}">
      <dgm:prSet phldrT="[Text]" custT="1"/>
      <dgm:spPr/>
      <dgm:t>
        <a:bodyPr/>
        <a:lstStyle/>
        <a:p>
          <a:r>
            <a:rPr lang="en-US" sz="1600" b="1" dirty="0"/>
            <a:t>What Amir wants</a:t>
          </a:r>
          <a:endParaRPr lang="en-NL" sz="1600" b="1" dirty="0"/>
        </a:p>
      </dgm:t>
    </dgm:pt>
    <dgm:pt modelId="{4B9F91CA-B1E7-49DA-AE16-B2F1CC218D07}" type="parTrans" cxnId="{265D1EEB-83FB-4E33-866E-502035E6B645}">
      <dgm:prSet/>
      <dgm:spPr/>
      <dgm:t>
        <a:bodyPr/>
        <a:lstStyle/>
        <a:p>
          <a:endParaRPr lang="en-NL" sz="2000"/>
        </a:p>
      </dgm:t>
    </dgm:pt>
    <dgm:pt modelId="{093F009A-2733-4BFD-8392-D91CA2262EDD}" type="sibTrans" cxnId="{265D1EEB-83FB-4E33-866E-502035E6B645}">
      <dgm:prSet/>
      <dgm:spPr/>
      <dgm:t>
        <a:bodyPr/>
        <a:lstStyle/>
        <a:p>
          <a:endParaRPr lang="en-NL" sz="2000"/>
        </a:p>
      </dgm:t>
    </dgm:pt>
    <dgm:pt modelId="{4E9CED58-F85B-47DC-BE97-7CBD780D01DB}">
      <dgm:prSet custT="1"/>
      <dgm:spPr/>
      <dgm:t>
        <a:bodyPr rIns="360000"/>
        <a:lstStyle/>
        <a:p>
          <a:r>
            <a:rPr lang="en-US" sz="1600" dirty="0"/>
            <a:t>Use the correct sex/gender-related variable to create a cohort that can support trustworthy analysis.</a:t>
          </a:r>
          <a:endParaRPr lang="en-NL" sz="1600" dirty="0"/>
        </a:p>
      </dgm:t>
    </dgm:pt>
    <dgm:pt modelId="{60371E05-67CA-472D-B789-54B3ED2FEFE7}" type="parTrans" cxnId="{DEF70732-B649-43CF-BED8-70DC2DEE0D4B}">
      <dgm:prSet/>
      <dgm:spPr/>
      <dgm:t>
        <a:bodyPr/>
        <a:lstStyle/>
        <a:p>
          <a:endParaRPr lang="en-NL" sz="2000"/>
        </a:p>
      </dgm:t>
    </dgm:pt>
    <dgm:pt modelId="{D6CF6D9D-77F7-40FA-BE15-0717A86A4F98}" type="sibTrans" cxnId="{DEF70732-B649-43CF-BED8-70DC2DEE0D4B}">
      <dgm:prSet/>
      <dgm:spPr/>
      <dgm:t>
        <a:bodyPr/>
        <a:lstStyle/>
        <a:p>
          <a:endParaRPr lang="en-NL" sz="2000"/>
        </a:p>
      </dgm:t>
    </dgm:pt>
    <dgm:pt modelId="{1E4A9A01-86F4-474F-89B1-FF6775CEC3BB}">
      <dgm:prSet custT="1"/>
      <dgm:spPr/>
      <dgm:t>
        <a:bodyPr/>
        <a:lstStyle/>
        <a:p>
          <a:r>
            <a:rPr lang="en-US" sz="1600" b="1" dirty="0"/>
            <a:t>Amir’s challenge</a:t>
          </a:r>
          <a:endParaRPr lang="en-NL" sz="1600" b="1" dirty="0"/>
        </a:p>
      </dgm:t>
    </dgm:pt>
    <dgm:pt modelId="{B39439A0-CEA2-4214-BF45-C2F538C15ED9}" type="parTrans" cxnId="{452CFD26-4462-4A20-AF8D-7D609A50201D}">
      <dgm:prSet/>
      <dgm:spPr/>
      <dgm:t>
        <a:bodyPr/>
        <a:lstStyle/>
        <a:p>
          <a:endParaRPr lang="en-NL" sz="2000"/>
        </a:p>
      </dgm:t>
    </dgm:pt>
    <dgm:pt modelId="{9B87EF37-EC94-44ED-9A8C-877793FDCD3A}" type="sibTrans" cxnId="{452CFD26-4462-4A20-AF8D-7D609A50201D}">
      <dgm:prSet/>
      <dgm:spPr/>
      <dgm:t>
        <a:bodyPr/>
        <a:lstStyle/>
        <a:p>
          <a:endParaRPr lang="en-NL" sz="2000"/>
        </a:p>
      </dgm:t>
    </dgm:pt>
    <dgm:pt modelId="{A1E51513-186F-4AAE-9201-E66DF47E63FA}">
      <dgm:prSet custT="1"/>
      <dgm:spPr/>
      <dgm:t>
        <a:bodyPr rIns="360000"/>
        <a:lstStyle/>
        <a:p>
          <a:r>
            <a:rPr lang="en-US" sz="1600" dirty="0"/>
            <a:t>Similar-looking variables across datasets may represent different meanings, making reuse risky.</a:t>
          </a:r>
          <a:endParaRPr lang="en-NL" sz="1600" dirty="0"/>
        </a:p>
      </dgm:t>
    </dgm:pt>
    <dgm:pt modelId="{935CE4F4-2F72-4EFB-84BA-B25A84312BF6}" type="parTrans" cxnId="{488F43D1-A627-49FE-9B2A-70118C52431A}">
      <dgm:prSet/>
      <dgm:spPr/>
      <dgm:t>
        <a:bodyPr/>
        <a:lstStyle/>
        <a:p>
          <a:endParaRPr lang="en-NL" sz="2000"/>
        </a:p>
      </dgm:t>
    </dgm:pt>
    <dgm:pt modelId="{44BD7164-0609-473B-B2C7-9A9EBDC632F3}" type="sibTrans" cxnId="{488F43D1-A627-49FE-9B2A-70118C52431A}">
      <dgm:prSet/>
      <dgm:spPr/>
      <dgm:t>
        <a:bodyPr/>
        <a:lstStyle/>
        <a:p>
          <a:endParaRPr lang="en-NL" sz="2000"/>
        </a:p>
      </dgm:t>
    </dgm:pt>
    <dgm:pt modelId="{C62D59E6-7871-46F1-8420-9A12EC95A362}">
      <dgm:prSet custT="1"/>
      <dgm:spPr/>
      <dgm:t>
        <a:bodyPr/>
        <a:lstStyle/>
        <a:p>
          <a:r>
            <a:rPr lang="en-US" sz="1600" b="1" dirty="0"/>
            <a:t>Guiding question</a:t>
          </a:r>
          <a:endParaRPr lang="en-NL" sz="1600" b="1" dirty="0"/>
        </a:p>
      </dgm:t>
    </dgm:pt>
    <dgm:pt modelId="{FD6851B4-0B39-41B2-A9C1-3561324E4540}" type="parTrans" cxnId="{B05E24E6-EB14-46C0-BE67-1B3E6EC1C329}">
      <dgm:prSet/>
      <dgm:spPr/>
      <dgm:t>
        <a:bodyPr/>
        <a:lstStyle/>
        <a:p>
          <a:endParaRPr lang="en-NL" sz="2000"/>
        </a:p>
      </dgm:t>
    </dgm:pt>
    <dgm:pt modelId="{1072FA27-DCC8-4833-A515-48D846CF4D74}" type="sibTrans" cxnId="{B05E24E6-EB14-46C0-BE67-1B3E6EC1C329}">
      <dgm:prSet/>
      <dgm:spPr/>
      <dgm:t>
        <a:bodyPr/>
        <a:lstStyle/>
        <a:p>
          <a:endParaRPr lang="en-NL" sz="2000"/>
        </a:p>
      </dgm:t>
    </dgm:pt>
    <dgm:pt modelId="{E29D86F5-5350-4022-A1D1-67962E8E8A24}">
      <dgm:prSet custT="1"/>
      <dgm:spPr/>
      <dgm:t>
        <a:bodyPr rIns="360000"/>
        <a:lstStyle/>
        <a:p>
          <a:r>
            <a:rPr lang="en-US" sz="1600" dirty="0"/>
            <a:t>How can Amir avoid risky reuse when similar-looking variables may represent different meanings?</a:t>
          </a:r>
          <a:endParaRPr lang="en-NL" sz="1600" dirty="0"/>
        </a:p>
      </dgm:t>
    </dgm:pt>
    <dgm:pt modelId="{C2C0C560-089A-4F19-A5FA-C0CEBA6B94DF}" type="parTrans" cxnId="{17A3D074-36B5-4A50-9687-62A55E114A3B}">
      <dgm:prSet/>
      <dgm:spPr/>
      <dgm:t>
        <a:bodyPr/>
        <a:lstStyle/>
        <a:p>
          <a:endParaRPr lang="en-NL" sz="2000"/>
        </a:p>
      </dgm:t>
    </dgm:pt>
    <dgm:pt modelId="{D39ABD6A-F148-412F-A67E-AB02D137C166}" type="sibTrans" cxnId="{17A3D074-36B5-4A50-9687-62A55E114A3B}">
      <dgm:prSet/>
      <dgm:spPr/>
      <dgm:t>
        <a:bodyPr/>
        <a:lstStyle/>
        <a:p>
          <a:endParaRPr lang="en-NL" sz="2000"/>
        </a:p>
      </dgm:t>
    </dgm:pt>
    <dgm:pt modelId="{70760479-1BFC-4D55-8DB3-D1D5148801F4}" type="pres">
      <dgm:prSet presAssocID="{DA8184BF-63E2-429E-8747-65CBDE3FC26E}" presName="linear" presStyleCnt="0">
        <dgm:presLayoutVars>
          <dgm:dir/>
          <dgm:animLvl val="lvl"/>
          <dgm:resizeHandles val="exact"/>
        </dgm:presLayoutVars>
      </dgm:prSet>
      <dgm:spPr/>
    </dgm:pt>
    <dgm:pt modelId="{0FB47452-0B64-44DE-9F99-5904AEC477D1}" type="pres">
      <dgm:prSet presAssocID="{A415B67E-F104-42EA-A9A3-BFEC406D7D64}" presName="parentLin" presStyleCnt="0"/>
      <dgm:spPr/>
    </dgm:pt>
    <dgm:pt modelId="{F6B01EF7-6244-47A9-BD13-2BCE9C94FD64}" type="pres">
      <dgm:prSet presAssocID="{A415B67E-F104-42EA-A9A3-BFEC406D7D64}" presName="parentLeftMargin" presStyleLbl="node1" presStyleIdx="0" presStyleCnt="3"/>
      <dgm:spPr/>
    </dgm:pt>
    <dgm:pt modelId="{1896D6C0-E9DC-4DD7-B530-F34E35DCE937}" type="pres">
      <dgm:prSet presAssocID="{A415B67E-F104-42EA-A9A3-BFEC406D7D64}" presName="parentText" presStyleLbl="node1" presStyleIdx="0" presStyleCnt="3">
        <dgm:presLayoutVars>
          <dgm:chMax val="0"/>
          <dgm:bulletEnabled val="1"/>
        </dgm:presLayoutVars>
      </dgm:prSet>
      <dgm:spPr/>
    </dgm:pt>
    <dgm:pt modelId="{5997FC83-DE70-4548-A57D-070067EF1758}" type="pres">
      <dgm:prSet presAssocID="{A415B67E-F104-42EA-A9A3-BFEC406D7D64}" presName="negativeSpace" presStyleCnt="0"/>
      <dgm:spPr/>
    </dgm:pt>
    <dgm:pt modelId="{55671F25-5BBC-4F6F-89C4-299D3C530187}" type="pres">
      <dgm:prSet presAssocID="{A415B67E-F104-42EA-A9A3-BFEC406D7D64}" presName="childText" presStyleLbl="conFgAcc1" presStyleIdx="0" presStyleCnt="3">
        <dgm:presLayoutVars>
          <dgm:bulletEnabled val="1"/>
        </dgm:presLayoutVars>
      </dgm:prSet>
      <dgm:spPr/>
    </dgm:pt>
    <dgm:pt modelId="{C6AFABC9-A8C2-41BF-9038-592ECD416A05}" type="pres">
      <dgm:prSet presAssocID="{093F009A-2733-4BFD-8392-D91CA2262EDD}" presName="spaceBetweenRectangles" presStyleCnt="0"/>
      <dgm:spPr/>
    </dgm:pt>
    <dgm:pt modelId="{AD6E64AD-11D3-472E-A155-7390E5951BAD}" type="pres">
      <dgm:prSet presAssocID="{1E4A9A01-86F4-474F-89B1-FF6775CEC3BB}" presName="parentLin" presStyleCnt="0"/>
      <dgm:spPr/>
    </dgm:pt>
    <dgm:pt modelId="{61C4A0F6-CA49-417A-A9DB-41D7B37FF99C}" type="pres">
      <dgm:prSet presAssocID="{1E4A9A01-86F4-474F-89B1-FF6775CEC3BB}" presName="parentLeftMargin" presStyleLbl="node1" presStyleIdx="0" presStyleCnt="3"/>
      <dgm:spPr/>
    </dgm:pt>
    <dgm:pt modelId="{0CF6AE3D-03CE-431F-A922-A447EA781693}" type="pres">
      <dgm:prSet presAssocID="{1E4A9A01-86F4-474F-89B1-FF6775CEC3BB}" presName="parentText" presStyleLbl="node1" presStyleIdx="1" presStyleCnt="3">
        <dgm:presLayoutVars>
          <dgm:chMax val="0"/>
          <dgm:bulletEnabled val="1"/>
        </dgm:presLayoutVars>
      </dgm:prSet>
      <dgm:spPr/>
    </dgm:pt>
    <dgm:pt modelId="{9619BC65-8D39-4121-8B55-C5E294232E59}" type="pres">
      <dgm:prSet presAssocID="{1E4A9A01-86F4-474F-89B1-FF6775CEC3BB}" presName="negativeSpace" presStyleCnt="0"/>
      <dgm:spPr/>
    </dgm:pt>
    <dgm:pt modelId="{29199882-8BA9-4FD0-A527-B04ADB500502}" type="pres">
      <dgm:prSet presAssocID="{1E4A9A01-86F4-474F-89B1-FF6775CEC3BB}" presName="childText" presStyleLbl="conFgAcc1" presStyleIdx="1" presStyleCnt="3">
        <dgm:presLayoutVars>
          <dgm:bulletEnabled val="1"/>
        </dgm:presLayoutVars>
      </dgm:prSet>
      <dgm:spPr/>
    </dgm:pt>
    <dgm:pt modelId="{F163B1A3-644B-4D0B-A3E4-089D4005A057}" type="pres">
      <dgm:prSet presAssocID="{9B87EF37-EC94-44ED-9A8C-877793FDCD3A}" presName="spaceBetweenRectangles" presStyleCnt="0"/>
      <dgm:spPr/>
    </dgm:pt>
    <dgm:pt modelId="{8D476E7B-2C6C-4381-8A2E-6A546A3D28CB}" type="pres">
      <dgm:prSet presAssocID="{C62D59E6-7871-46F1-8420-9A12EC95A362}" presName="parentLin" presStyleCnt="0"/>
      <dgm:spPr/>
    </dgm:pt>
    <dgm:pt modelId="{85022BC7-25BB-41B4-82F5-31AFAB987AFF}" type="pres">
      <dgm:prSet presAssocID="{C62D59E6-7871-46F1-8420-9A12EC95A362}" presName="parentLeftMargin" presStyleLbl="node1" presStyleIdx="1" presStyleCnt="3"/>
      <dgm:spPr/>
    </dgm:pt>
    <dgm:pt modelId="{03B6A27A-BCF3-4996-BE8C-329DFF7660A8}" type="pres">
      <dgm:prSet presAssocID="{C62D59E6-7871-46F1-8420-9A12EC95A362}" presName="parentText" presStyleLbl="node1" presStyleIdx="2" presStyleCnt="3">
        <dgm:presLayoutVars>
          <dgm:chMax val="0"/>
          <dgm:bulletEnabled val="1"/>
        </dgm:presLayoutVars>
      </dgm:prSet>
      <dgm:spPr/>
    </dgm:pt>
    <dgm:pt modelId="{9E8E8BE6-5823-48C7-9E77-5332502C7E0F}" type="pres">
      <dgm:prSet presAssocID="{C62D59E6-7871-46F1-8420-9A12EC95A362}" presName="negativeSpace" presStyleCnt="0"/>
      <dgm:spPr/>
    </dgm:pt>
    <dgm:pt modelId="{7270368B-11BF-43FD-856C-9A4B99956B80}" type="pres">
      <dgm:prSet presAssocID="{C62D59E6-7871-46F1-8420-9A12EC95A362}" presName="childText" presStyleLbl="conFgAcc1" presStyleIdx="2" presStyleCnt="3">
        <dgm:presLayoutVars>
          <dgm:bulletEnabled val="1"/>
        </dgm:presLayoutVars>
      </dgm:prSet>
      <dgm:spPr/>
    </dgm:pt>
  </dgm:ptLst>
  <dgm:cxnLst>
    <dgm:cxn modelId="{452CFD26-4462-4A20-AF8D-7D609A50201D}" srcId="{DA8184BF-63E2-429E-8747-65CBDE3FC26E}" destId="{1E4A9A01-86F4-474F-89B1-FF6775CEC3BB}" srcOrd="1" destOrd="0" parTransId="{B39439A0-CEA2-4214-BF45-C2F538C15ED9}" sibTransId="{9B87EF37-EC94-44ED-9A8C-877793FDCD3A}"/>
    <dgm:cxn modelId="{DEF70732-B649-43CF-BED8-70DC2DEE0D4B}" srcId="{A415B67E-F104-42EA-A9A3-BFEC406D7D64}" destId="{4E9CED58-F85B-47DC-BE97-7CBD780D01DB}" srcOrd="0" destOrd="0" parTransId="{60371E05-67CA-472D-B789-54B3ED2FEFE7}" sibTransId="{D6CF6D9D-77F7-40FA-BE15-0717A86A4F98}"/>
    <dgm:cxn modelId="{67F7C73C-8F92-4FF7-BC30-C5BA9679B5CA}" type="presOf" srcId="{A415B67E-F104-42EA-A9A3-BFEC406D7D64}" destId="{F6B01EF7-6244-47A9-BD13-2BCE9C94FD64}" srcOrd="0" destOrd="0" presId="urn:microsoft.com/office/officeart/2005/8/layout/list1"/>
    <dgm:cxn modelId="{4C668344-6BD9-49B6-B087-20C70B9CD6A1}" type="presOf" srcId="{4E9CED58-F85B-47DC-BE97-7CBD780D01DB}" destId="{55671F25-5BBC-4F6F-89C4-299D3C530187}" srcOrd="0" destOrd="0" presId="urn:microsoft.com/office/officeart/2005/8/layout/list1"/>
    <dgm:cxn modelId="{133C626E-AC0B-4118-9157-C3F011003F55}" type="presOf" srcId="{C62D59E6-7871-46F1-8420-9A12EC95A362}" destId="{85022BC7-25BB-41B4-82F5-31AFAB987AFF}" srcOrd="0" destOrd="0" presId="urn:microsoft.com/office/officeart/2005/8/layout/list1"/>
    <dgm:cxn modelId="{969E3F52-538C-4038-9480-980EFEDC226A}" type="presOf" srcId="{C62D59E6-7871-46F1-8420-9A12EC95A362}" destId="{03B6A27A-BCF3-4996-BE8C-329DFF7660A8}" srcOrd="1" destOrd="0" presId="urn:microsoft.com/office/officeart/2005/8/layout/list1"/>
    <dgm:cxn modelId="{17A3D074-36B5-4A50-9687-62A55E114A3B}" srcId="{C62D59E6-7871-46F1-8420-9A12EC95A362}" destId="{E29D86F5-5350-4022-A1D1-67962E8E8A24}" srcOrd="0" destOrd="0" parTransId="{C2C0C560-089A-4F19-A5FA-C0CEBA6B94DF}" sibTransId="{D39ABD6A-F148-412F-A67E-AB02D137C166}"/>
    <dgm:cxn modelId="{44B00A80-21DF-4227-9F43-217BB02B1949}" type="presOf" srcId="{1E4A9A01-86F4-474F-89B1-FF6775CEC3BB}" destId="{61C4A0F6-CA49-417A-A9DB-41D7B37FF99C}" srcOrd="0" destOrd="0" presId="urn:microsoft.com/office/officeart/2005/8/layout/list1"/>
    <dgm:cxn modelId="{5EE2C388-D987-45A5-8070-37ECD98E12AC}" type="presOf" srcId="{E29D86F5-5350-4022-A1D1-67962E8E8A24}" destId="{7270368B-11BF-43FD-856C-9A4B99956B80}" srcOrd="0" destOrd="0" presId="urn:microsoft.com/office/officeart/2005/8/layout/list1"/>
    <dgm:cxn modelId="{26DE0D8F-9B38-4137-BC99-15E260969512}" type="presOf" srcId="{A415B67E-F104-42EA-A9A3-BFEC406D7D64}" destId="{1896D6C0-E9DC-4DD7-B530-F34E35DCE937}" srcOrd="1" destOrd="0" presId="urn:microsoft.com/office/officeart/2005/8/layout/list1"/>
    <dgm:cxn modelId="{2560A595-CC6A-46E8-B35E-723EC2181297}" type="presOf" srcId="{1E4A9A01-86F4-474F-89B1-FF6775CEC3BB}" destId="{0CF6AE3D-03CE-431F-A922-A447EA781693}" srcOrd="1" destOrd="0" presId="urn:microsoft.com/office/officeart/2005/8/layout/list1"/>
    <dgm:cxn modelId="{2200D897-4D2B-4DA1-BA5C-B3532C5DBBE3}" type="presOf" srcId="{DA8184BF-63E2-429E-8747-65CBDE3FC26E}" destId="{70760479-1BFC-4D55-8DB3-D1D5148801F4}" srcOrd="0" destOrd="0" presId="urn:microsoft.com/office/officeart/2005/8/layout/list1"/>
    <dgm:cxn modelId="{D83105B9-4FB7-4F58-8351-FC07D9DBE5AF}" type="presOf" srcId="{A1E51513-186F-4AAE-9201-E66DF47E63FA}" destId="{29199882-8BA9-4FD0-A527-B04ADB500502}" srcOrd="0" destOrd="0" presId="urn:microsoft.com/office/officeart/2005/8/layout/list1"/>
    <dgm:cxn modelId="{488F43D1-A627-49FE-9B2A-70118C52431A}" srcId="{1E4A9A01-86F4-474F-89B1-FF6775CEC3BB}" destId="{A1E51513-186F-4AAE-9201-E66DF47E63FA}" srcOrd="0" destOrd="0" parTransId="{935CE4F4-2F72-4EFB-84BA-B25A84312BF6}" sibTransId="{44BD7164-0609-473B-B2C7-9A9EBDC632F3}"/>
    <dgm:cxn modelId="{B05E24E6-EB14-46C0-BE67-1B3E6EC1C329}" srcId="{DA8184BF-63E2-429E-8747-65CBDE3FC26E}" destId="{C62D59E6-7871-46F1-8420-9A12EC95A362}" srcOrd="2" destOrd="0" parTransId="{FD6851B4-0B39-41B2-A9C1-3561324E4540}" sibTransId="{1072FA27-DCC8-4833-A515-48D846CF4D74}"/>
    <dgm:cxn modelId="{265D1EEB-83FB-4E33-866E-502035E6B645}" srcId="{DA8184BF-63E2-429E-8747-65CBDE3FC26E}" destId="{A415B67E-F104-42EA-A9A3-BFEC406D7D64}" srcOrd="0" destOrd="0" parTransId="{4B9F91CA-B1E7-49DA-AE16-B2F1CC218D07}" sibTransId="{093F009A-2733-4BFD-8392-D91CA2262EDD}"/>
    <dgm:cxn modelId="{471F5CF0-DC9B-4DA8-A2B1-7BF7AF50F7D0}" type="presParOf" srcId="{70760479-1BFC-4D55-8DB3-D1D5148801F4}" destId="{0FB47452-0B64-44DE-9F99-5904AEC477D1}" srcOrd="0" destOrd="0" presId="urn:microsoft.com/office/officeart/2005/8/layout/list1"/>
    <dgm:cxn modelId="{E2D2D6A1-DABF-4D2A-91BD-6BB6A8B32BCE}" type="presParOf" srcId="{0FB47452-0B64-44DE-9F99-5904AEC477D1}" destId="{F6B01EF7-6244-47A9-BD13-2BCE9C94FD64}" srcOrd="0" destOrd="0" presId="urn:microsoft.com/office/officeart/2005/8/layout/list1"/>
    <dgm:cxn modelId="{FF382C37-2900-48E0-96C2-2FBA31D8EE84}" type="presParOf" srcId="{0FB47452-0B64-44DE-9F99-5904AEC477D1}" destId="{1896D6C0-E9DC-4DD7-B530-F34E35DCE937}" srcOrd="1" destOrd="0" presId="urn:microsoft.com/office/officeart/2005/8/layout/list1"/>
    <dgm:cxn modelId="{D9AEDF43-C58B-4407-B0F1-FA366398D9B2}" type="presParOf" srcId="{70760479-1BFC-4D55-8DB3-D1D5148801F4}" destId="{5997FC83-DE70-4548-A57D-070067EF1758}" srcOrd="1" destOrd="0" presId="urn:microsoft.com/office/officeart/2005/8/layout/list1"/>
    <dgm:cxn modelId="{78F14564-B7C0-4DD8-A3E4-A343C5C29585}" type="presParOf" srcId="{70760479-1BFC-4D55-8DB3-D1D5148801F4}" destId="{55671F25-5BBC-4F6F-89C4-299D3C530187}" srcOrd="2" destOrd="0" presId="urn:microsoft.com/office/officeart/2005/8/layout/list1"/>
    <dgm:cxn modelId="{C6533C29-346D-430B-94AB-EE6EF31E0EAA}" type="presParOf" srcId="{70760479-1BFC-4D55-8DB3-D1D5148801F4}" destId="{C6AFABC9-A8C2-41BF-9038-592ECD416A05}" srcOrd="3" destOrd="0" presId="urn:microsoft.com/office/officeart/2005/8/layout/list1"/>
    <dgm:cxn modelId="{1563CCC4-7B21-4436-9AA4-AC00C7E065BF}" type="presParOf" srcId="{70760479-1BFC-4D55-8DB3-D1D5148801F4}" destId="{AD6E64AD-11D3-472E-A155-7390E5951BAD}" srcOrd="4" destOrd="0" presId="urn:microsoft.com/office/officeart/2005/8/layout/list1"/>
    <dgm:cxn modelId="{42CD15E3-3A82-40C7-954E-C4098E438859}" type="presParOf" srcId="{AD6E64AD-11D3-472E-A155-7390E5951BAD}" destId="{61C4A0F6-CA49-417A-A9DB-41D7B37FF99C}" srcOrd="0" destOrd="0" presId="urn:microsoft.com/office/officeart/2005/8/layout/list1"/>
    <dgm:cxn modelId="{30A380E2-0AF4-484C-9173-A5DD8A145553}" type="presParOf" srcId="{AD6E64AD-11D3-472E-A155-7390E5951BAD}" destId="{0CF6AE3D-03CE-431F-A922-A447EA781693}" srcOrd="1" destOrd="0" presId="urn:microsoft.com/office/officeart/2005/8/layout/list1"/>
    <dgm:cxn modelId="{2C4FAF93-9AFD-44FA-BCCA-01B658FFE77F}" type="presParOf" srcId="{70760479-1BFC-4D55-8DB3-D1D5148801F4}" destId="{9619BC65-8D39-4121-8B55-C5E294232E59}" srcOrd="5" destOrd="0" presId="urn:microsoft.com/office/officeart/2005/8/layout/list1"/>
    <dgm:cxn modelId="{B56D0BF3-3546-4972-8E22-4E060021B011}" type="presParOf" srcId="{70760479-1BFC-4D55-8DB3-D1D5148801F4}" destId="{29199882-8BA9-4FD0-A527-B04ADB500502}" srcOrd="6" destOrd="0" presId="urn:microsoft.com/office/officeart/2005/8/layout/list1"/>
    <dgm:cxn modelId="{8E66D612-20E4-4040-83EA-FB910ED0BDA7}" type="presParOf" srcId="{70760479-1BFC-4D55-8DB3-D1D5148801F4}" destId="{F163B1A3-644B-4D0B-A3E4-089D4005A057}" srcOrd="7" destOrd="0" presId="urn:microsoft.com/office/officeart/2005/8/layout/list1"/>
    <dgm:cxn modelId="{FECD9CE0-2B92-4698-83BB-DF00948439BA}" type="presParOf" srcId="{70760479-1BFC-4D55-8DB3-D1D5148801F4}" destId="{8D476E7B-2C6C-4381-8A2E-6A546A3D28CB}" srcOrd="8" destOrd="0" presId="urn:microsoft.com/office/officeart/2005/8/layout/list1"/>
    <dgm:cxn modelId="{1F00B64F-18C1-48E4-91DA-C67576626910}" type="presParOf" srcId="{8D476E7B-2C6C-4381-8A2E-6A546A3D28CB}" destId="{85022BC7-25BB-41B4-82F5-31AFAB987AFF}" srcOrd="0" destOrd="0" presId="urn:microsoft.com/office/officeart/2005/8/layout/list1"/>
    <dgm:cxn modelId="{BDEE5DAA-9B31-47C2-B953-E56023C8A514}" type="presParOf" srcId="{8D476E7B-2C6C-4381-8A2E-6A546A3D28CB}" destId="{03B6A27A-BCF3-4996-BE8C-329DFF7660A8}" srcOrd="1" destOrd="0" presId="urn:microsoft.com/office/officeart/2005/8/layout/list1"/>
    <dgm:cxn modelId="{07F4C534-ACF4-4685-92FA-A11690BDC96A}" type="presParOf" srcId="{70760479-1BFC-4D55-8DB3-D1D5148801F4}" destId="{9E8E8BE6-5823-48C7-9E77-5332502C7E0F}" srcOrd="9" destOrd="0" presId="urn:microsoft.com/office/officeart/2005/8/layout/list1"/>
    <dgm:cxn modelId="{B7197201-A894-46B6-8C2F-37BC3CB57D6B}" type="presParOf" srcId="{70760479-1BFC-4D55-8DB3-D1D5148801F4}" destId="{7270368B-11BF-43FD-856C-9A4B99956B80}" srcOrd="10" destOrd="0" presId="urn:microsoft.com/office/officeart/2005/8/layout/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5C19C58-31BA-49AC-8B8F-ECE045733DBA}" type="doc">
      <dgm:prSet loTypeId="urn:microsoft.com/office/officeart/2008/layout/CaptionedPictures" loCatId="picture" qsTypeId="urn:microsoft.com/office/officeart/2005/8/quickstyle/simple4" qsCatId="simple" csTypeId="urn:microsoft.com/office/officeart/2005/8/colors/accent1_2" csCatId="accent1" phldr="1"/>
      <dgm:spPr/>
      <dgm:t>
        <a:bodyPr/>
        <a:lstStyle/>
        <a:p>
          <a:endParaRPr lang="en-NL"/>
        </a:p>
      </dgm:t>
    </dgm:pt>
    <dgm:pt modelId="{607D5BF2-DFEC-4B74-8D38-C28442FAFFF5}">
      <dgm:prSet phldrT="[Text]" phldr="0"/>
      <dgm:spPr/>
      <dgm:t>
        <a:bodyPr/>
        <a:lstStyle/>
        <a:p>
          <a:r>
            <a:rPr lang="en-US" dirty="0"/>
            <a:t>(Biological) Sex: Male</a:t>
          </a:r>
          <a:endParaRPr lang="en-NL" dirty="0"/>
        </a:p>
      </dgm:t>
    </dgm:pt>
    <dgm:pt modelId="{6BD3EEC5-6560-466C-83D8-B26481A66F53}" type="parTrans" cxnId="{9A33EFF8-4BB2-4E66-92B7-8C0D8B454901}">
      <dgm:prSet/>
      <dgm:spPr/>
      <dgm:t>
        <a:bodyPr/>
        <a:lstStyle/>
        <a:p>
          <a:endParaRPr lang="en-NL"/>
        </a:p>
      </dgm:t>
    </dgm:pt>
    <dgm:pt modelId="{F833CBFA-4F00-4356-96C5-4FDBAB56AF74}" type="sibTrans" cxnId="{9A33EFF8-4BB2-4E66-92B7-8C0D8B454901}">
      <dgm:prSet/>
      <dgm:spPr/>
      <dgm:t>
        <a:bodyPr/>
        <a:lstStyle/>
        <a:p>
          <a:endParaRPr lang="en-NL"/>
        </a:p>
      </dgm:t>
    </dgm:pt>
    <dgm:pt modelId="{6B222F87-7DBD-4E68-9102-89C6C90DDAEF}">
      <dgm:prSet phldrT="[Text]"/>
      <dgm:spPr/>
      <dgm:t>
        <a:bodyPr/>
        <a:lstStyle/>
        <a:p>
          <a:r>
            <a:rPr lang="en-US" b="1"/>
            <a:t>Patient-002</a:t>
          </a:r>
          <a:endParaRPr lang="en-NL" b="1" dirty="0"/>
        </a:p>
      </dgm:t>
    </dgm:pt>
    <dgm:pt modelId="{AB266ED0-F401-4CFD-BB85-40D2CEC47E3F}" type="parTrans" cxnId="{D0842D9E-317E-4AE8-B51E-BBA34196C449}">
      <dgm:prSet/>
      <dgm:spPr/>
      <dgm:t>
        <a:bodyPr/>
        <a:lstStyle/>
        <a:p>
          <a:endParaRPr lang="en-NL"/>
        </a:p>
      </dgm:t>
    </dgm:pt>
    <dgm:pt modelId="{4BC6B5FD-9D81-4147-B352-B53DAC4964E7}" type="sibTrans" cxnId="{D0842D9E-317E-4AE8-B51E-BBA34196C449}">
      <dgm:prSet/>
      <dgm:spPr/>
      <dgm:t>
        <a:bodyPr/>
        <a:lstStyle/>
        <a:p>
          <a:endParaRPr lang="en-NL"/>
        </a:p>
      </dgm:t>
    </dgm:pt>
    <dgm:pt modelId="{16EA0510-5088-44C5-B017-1C99132E19EF}">
      <dgm:prSet phldrT="[Text]" phldr="0"/>
      <dgm:spPr/>
      <dgm:t>
        <a:bodyPr/>
        <a:lstStyle/>
        <a:p>
          <a:r>
            <a:rPr lang="en-US" dirty="0"/>
            <a:t>(Biological) Sex: Male</a:t>
          </a:r>
          <a:endParaRPr lang="en-NL" dirty="0"/>
        </a:p>
      </dgm:t>
    </dgm:pt>
    <dgm:pt modelId="{4DDD4E8B-7904-413C-A151-6B055270DBD8}" type="parTrans" cxnId="{1B14BF2C-A52E-4100-B57A-E7283A8A9BD5}">
      <dgm:prSet/>
      <dgm:spPr/>
      <dgm:t>
        <a:bodyPr/>
        <a:lstStyle/>
        <a:p>
          <a:endParaRPr lang="en-NL"/>
        </a:p>
      </dgm:t>
    </dgm:pt>
    <dgm:pt modelId="{E6F30FBE-D1FB-4842-B735-612BBDECFBE8}" type="sibTrans" cxnId="{1B14BF2C-A52E-4100-B57A-E7283A8A9BD5}">
      <dgm:prSet/>
      <dgm:spPr/>
      <dgm:t>
        <a:bodyPr/>
        <a:lstStyle/>
        <a:p>
          <a:endParaRPr lang="en-NL"/>
        </a:p>
      </dgm:t>
    </dgm:pt>
    <dgm:pt modelId="{BC7CCC39-99B3-4077-92E4-B4C54FFE7DBF}">
      <dgm:prSet phldrT="[Text]"/>
      <dgm:spPr/>
      <dgm:t>
        <a:bodyPr/>
        <a:lstStyle/>
        <a:p>
          <a:r>
            <a:rPr lang="en-US" b="1" dirty="0"/>
            <a:t>Patient-001</a:t>
          </a:r>
          <a:endParaRPr lang="en-NL" b="1" dirty="0"/>
        </a:p>
      </dgm:t>
    </dgm:pt>
    <dgm:pt modelId="{507E72B2-D876-417F-B8FE-ADFAD0B758D0}" type="parTrans" cxnId="{D44F90AE-BAC4-4C9B-8C14-F60C12CF9614}">
      <dgm:prSet/>
      <dgm:spPr/>
      <dgm:t>
        <a:bodyPr/>
        <a:lstStyle/>
        <a:p>
          <a:endParaRPr lang="en-NL"/>
        </a:p>
      </dgm:t>
    </dgm:pt>
    <dgm:pt modelId="{4592CE00-5DF3-4ED2-9FD3-D2000E67DBA7}" type="sibTrans" cxnId="{D44F90AE-BAC4-4C9B-8C14-F60C12CF9614}">
      <dgm:prSet/>
      <dgm:spPr/>
      <dgm:t>
        <a:bodyPr/>
        <a:lstStyle/>
        <a:p>
          <a:endParaRPr lang="en-NL"/>
        </a:p>
      </dgm:t>
    </dgm:pt>
    <dgm:pt modelId="{8050DAC1-72D7-4A2E-9179-1D67416B9325}">
      <dgm:prSet phldrT="[Text]" phldr="0"/>
      <dgm:spPr/>
      <dgm:t>
        <a:bodyPr/>
        <a:lstStyle/>
        <a:p>
          <a:r>
            <a:rPr lang="en-US" dirty="0"/>
            <a:t>(Social) Gender: Male</a:t>
          </a:r>
          <a:endParaRPr lang="en-NL" dirty="0"/>
        </a:p>
      </dgm:t>
    </dgm:pt>
    <dgm:pt modelId="{48F32C56-269D-488E-B259-5FE5F9F51A4F}" type="parTrans" cxnId="{F960A859-0BB1-4604-8739-E05173933F85}">
      <dgm:prSet/>
      <dgm:spPr/>
      <dgm:t>
        <a:bodyPr/>
        <a:lstStyle/>
        <a:p>
          <a:endParaRPr lang="en-NL"/>
        </a:p>
      </dgm:t>
    </dgm:pt>
    <dgm:pt modelId="{74BF0334-AFB5-46E8-8970-62468C854C0C}" type="sibTrans" cxnId="{F960A859-0BB1-4604-8739-E05173933F85}">
      <dgm:prSet/>
      <dgm:spPr/>
      <dgm:t>
        <a:bodyPr/>
        <a:lstStyle/>
        <a:p>
          <a:endParaRPr lang="en-NL"/>
        </a:p>
      </dgm:t>
    </dgm:pt>
    <dgm:pt modelId="{5F75A165-9718-46D3-8880-1938ED8FD2DB}">
      <dgm:prSet phldrT="[Text]" phldr="0"/>
      <dgm:spPr/>
      <dgm:t>
        <a:bodyPr/>
        <a:lstStyle/>
        <a:p>
          <a:r>
            <a:rPr lang="en-US" dirty="0"/>
            <a:t>(Social) Gender: Female (Trans)</a:t>
          </a:r>
          <a:endParaRPr lang="en-NL" dirty="0"/>
        </a:p>
      </dgm:t>
    </dgm:pt>
    <dgm:pt modelId="{A414B49E-9DB0-4DC4-A5D8-0805FD76FFCC}" type="parTrans" cxnId="{11F01769-8291-4F80-9205-8B6B5D0C4F8B}">
      <dgm:prSet/>
      <dgm:spPr/>
      <dgm:t>
        <a:bodyPr/>
        <a:lstStyle/>
        <a:p>
          <a:endParaRPr lang="en-NL"/>
        </a:p>
      </dgm:t>
    </dgm:pt>
    <dgm:pt modelId="{13094134-587E-4CCA-B415-1F1DD4571C7F}" type="sibTrans" cxnId="{11F01769-8291-4F80-9205-8B6B5D0C4F8B}">
      <dgm:prSet/>
      <dgm:spPr/>
      <dgm:t>
        <a:bodyPr/>
        <a:lstStyle/>
        <a:p>
          <a:endParaRPr lang="en-NL"/>
        </a:p>
      </dgm:t>
    </dgm:pt>
    <dgm:pt modelId="{E2B0BA4C-3342-42F5-ADB3-C2A2329BE835}">
      <dgm:prSet phldrT="[Text]"/>
      <dgm:spPr/>
      <dgm:t>
        <a:bodyPr/>
        <a:lstStyle/>
        <a:p>
          <a:r>
            <a:rPr lang="en-US" b="1"/>
            <a:t>Patient-003</a:t>
          </a:r>
          <a:endParaRPr lang="en-NL" b="1" dirty="0"/>
        </a:p>
      </dgm:t>
    </dgm:pt>
    <dgm:pt modelId="{2B516BBF-D87F-4CBF-BBBF-B5D1F411CD34}" type="sibTrans" cxnId="{6C7AC91F-8E8B-487D-B7BB-835C02EA45CA}">
      <dgm:prSet/>
      <dgm:spPr/>
      <dgm:t>
        <a:bodyPr/>
        <a:lstStyle/>
        <a:p>
          <a:endParaRPr lang="en-NL"/>
        </a:p>
      </dgm:t>
    </dgm:pt>
    <dgm:pt modelId="{67C4BCDC-C388-4B7C-A287-371CC1E00B38}" type="parTrans" cxnId="{6C7AC91F-8E8B-487D-B7BB-835C02EA45CA}">
      <dgm:prSet/>
      <dgm:spPr/>
      <dgm:t>
        <a:bodyPr/>
        <a:lstStyle/>
        <a:p>
          <a:endParaRPr lang="en-NL"/>
        </a:p>
      </dgm:t>
    </dgm:pt>
    <dgm:pt modelId="{0190DE36-2851-409D-83F0-8E42955A2707}">
      <dgm:prSet phldrT="[Text]" phldr="0"/>
      <dgm:spPr/>
      <dgm:t>
        <a:bodyPr/>
        <a:lstStyle/>
        <a:p>
          <a:r>
            <a:rPr lang="en-US" dirty="0"/>
            <a:t>(Biological) Sex: Female</a:t>
          </a:r>
          <a:endParaRPr lang="en-NL" dirty="0"/>
        </a:p>
      </dgm:t>
    </dgm:pt>
    <dgm:pt modelId="{799C1BBF-58CE-406D-9A03-24C1885776E6}" type="sibTrans" cxnId="{2910DD94-5143-4C03-9D6A-97980AB65928}">
      <dgm:prSet/>
      <dgm:spPr/>
      <dgm:t>
        <a:bodyPr/>
        <a:lstStyle/>
        <a:p>
          <a:endParaRPr lang="en-NL"/>
        </a:p>
      </dgm:t>
    </dgm:pt>
    <dgm:pt modelId="{325BCC62-BE2D-463D-BC40-3122B7EE094F}" type="parTrans" cxnId="{2910DD94-5143-4C03-9D6A-97980AB65928}">
      <dgm:prSet/>
      <dgm:spPr/>
      <dgm:t>
        <a:bodyPr/>
        <a:lstStyle/>
        <a:p>
          <a:endParaRPr lang="en-NL"/>
        </a:p>
      </dgm:t>
    </dgm:pt>
    <dgm:pt modelId="{8FCE1C56-5EA3-4C18-9549-A9D08E09023E}">
      <dgm:prSet phldrT="[Text]" phldr="0"/>
      <dgm:spPr/>
      <dgm:t>
        <a:bodyPr/>
        <a:lstStyle/>
        <a:p>
          <a:r>
            <a:rPr lang="en-US" dirty="0"/>
            <a:t>(Social) Gender: Non-binary</a:t>
          </a:r>
          <a:endParaRPr lang="en-NL" dirty="0"/>
        </a:p>
      </dgm:t>
    </dgm:pt>
    <dgm:pt modelId="{1B0E8543-B5F4-4FA1-84ED-3B99E041EA54}" type="sibTrans" cxnId="{827FA79E-E21C-4897-98BB-E69BD3E460EA}">
      <dgm:prSet/>
      <dgm:spPr/>
      <dgm:t>
        <a:bodyPr/>
        <a:lstStyle/>
        <a:p>
          <a:endParaRPr lang="en-NL"/>
        </a:p>
      </dgm:t>
    </dgm:pt>
    <dgm:pt modelId="{6F621260-10B0-40C6-BCF1-A15CCCF78D35}" type="parTrans" cxnId="{827FA79E-E21C-4897-98BB-E69BD3E460EA}">
      <dgm:prSet/>
      <dgm:spPr/>
      <dgm:t>
        <a:bodyPr/>
        <a:lstStyle/>
        <a:p>
          <a:endParaRPr lang="en-NL"/>
        </a:p>
      </dgm:t>
    </dgm:pt>
    <dgm:pt modelId="{7A04C77A-5726-4FED-9967-83B038E7E84B}" type="pres">
      <dgm:prSet presAssocID="{65C19C58-31BA-49AC-8B8F-ECE045733DBA}" presName="Name0" presStyleCnt="0">
        <dgm:presLayoutVars>
          <dgm:chMax/>
          <dgm:chPref/>
          <dgm:dir/>
        </dgm:presLayoutVars>
      </dgm:prSet>
      <dgm:spPr/>
    </dgm:pt>
    <dgm:pt modelId="{1C570E93-47A0-436A-9418-B76F5CDDD29F}" type="pres">
      <dgm:prSet presAssocID="{BC7CCC39-99B3-4077-92E4-B4C54FFE7DBF}" presName="composite" presStyleCnt="0">
        <dgm:presLayoutVars>
          <dgm:chMax val="1"/>
          <dgm:chPref val="1"/>
        </dgm:presLayoutVars>
      </dgm:prSet>
      <dgm:spPr/>
    </dgm:pt>
    <dgm:pt modelId="{CE7BAC15-DC59-4FF0-A35E-63B19A7584AF}" type="pres">
      <dgm:prSet presAssocID="{BC7CCC39-99B3-4077-92E4-B4C54FFE7DBF}" presName="Accent" presStyleLbl="trAlignAcc1" presStyleIdx="0" presStyleCnt="3">
        <dgm:presLayoutVars>
          <dgm:chMax val="0"/>
          <dgm:chPref val="0"/>
        </dgm:presLayoutVars>
      </dgm:prSet>
      <dgm:spPr/>
    </dgm:pt>
    <dgm:pt modelId="{2DF05040-81DA-48BC-9673-8AF4C20552F0}" type="pres">
      <dgm:prSet presAssocID="{BC7CCC39-99B3-4077-92E4-B4C54FFE7DBF}" presName="Image" presStyleLbl="alignImgPlace1" presStyleIdx="0" presStyleCnt="3">
        <dgm:presLayoutVars>
          <dgm:chMax val="0"/>
          <dgm:chPref val="0"/>
        </dgm:presLayoutVars>
      </dgm:prSet>
      <dgm:spPr>
        <a:blipFill>
          <a:blip xmlns:r="http://schemas.openxmlformats.org/officeDocument/2006/relationships" r:embed="rId1"/>
          <a:srcRect/>
          <a:stretch>
            <a:fillRect t="-9000" b="-9000"/>
          </a:stretch>
        </a:blipFill>
        <a:ln>
          <a:solidFill>
            <a:schemeClr val="bg2">
              <a:lumMod val="90000"/>
            </a:schemeClr>
          </a:solidFill>
        </a:ln>
      </dgm:spPr>
    </dgm:pt>
    <dgm:pt modelId="{3CCE2650-1700-4130-B8E0-C7411250E7B3}" type="pres">
      <dgm:prSet presAssocID="{BC7CCC39-99B3-4077-92E4-B4C54FFE7DBF}" presName="ChildComposite" presStyleCnt="0"/>
      <dgm:spPr/>
    </dgm:pt>
    <dgm:pt modelId="{30369D29-5851-4F5A-89A8-A1FEF75330DD}" type="pres">
      <dgm:prSet presAssocID="{BC7CCC39-99B3-4077-92E4-B4C54FFE7DBF}" presName="Child" presStyleLbl="node1" presStyleIdx="0" presStyleCnt="3">
        <dgm:presLayoutVars>
          <dgm:chMax val="0"/>
          <dgm:chPref val="0"/>
          <dgm:bulletEnabled val="1"/>
        </dgm:presLayoutVars>
      </dgm:prSet>
      <dgm:spPr/>
    </dgm:pt>
    <dgm:pt modelId="{E136DF8C-D1DB-4C48-9240-BD42223BD201}" type="pres">
      <dgm:prSet presAssocID="{BC7CCC39-99B3-4077-92E4-B4C54FFE7DBF}" presName="Parent" presStyleLbl="revTx" presStyleIdx="0" presStyleCnt="3">
        <dgm:presLayoutVars>
          <dgm:chMax val="1"/>
          <dgm:chPref val="0"/>
          <dgm:bulletEnabled val="1"/>
        </dgm:presLayoutVars>
      </dgm:prSet>
      <dgm:spPr/>
    </dgm:pt>
    <dgm:pt modelId="{ED046396-4612-4499-963C-C3C762166ECB}" type="pres">
      <dgm:prSet presAssocID="{4592CE00-5DF3-4ED2-9FD3-D2000E67DBA7}" presName="sibTrans" presStyleCnt="0"/>
      <dgm:spPr/>
    </dgm:pt>
    <dgm:pt modelId="{E6BE8F6E-EA3A-4EE8-959B-6DBA66C138FA}" type="pres">
      <dgm:prSet presAssocID="{6B222F87-7DBD-4E68-9102-89C6C90DDAEF}" presName="composite" presStyleCnt="0">
        <dgm:presLayoutVars>
          <dgm:chMax val="1"/>
          <dgm:chPref val="1"/>
        </dgm:presLayoutVars>
      </dgm:prSet>
      <dgm:spPr/>
    </dgm:pt>
    <dgm:pt modelId="{BE5F1572-A447-4997-B7C1-2B8E87C28E09}" type="pres">
      <dgm:prSet presAssocID="{6B222F87-7DBD-4E68-9102-89C6C90DDAEF}" presName="Accent" presStyleLbl="trAlignAcc1" presStyleIdx="1" presStyleCnt="3">
        <dgm:presLayoutVars>
          <dgm:chMax val="0"/>
          <dgm:chPref val="0"/>
        </dgm:presLayoutVars>
      </dgm:prSet>
      <dgm:spPr/>
    </dgm:pt>
    <dgm:pt modelId="{0B8A85D8-4111-4B5E-94D3-3398FD061187}" type="pres">
      <dgm:prSet presAssocID="{6B222F87-7DBD-4E68-9102-89C6C90DDAEF}" presName="Image" presStyleLbl="alignImgPlace1" presStyleIdx="1" presStyleCnt="3">
        <dgm:presLayoutVars>
          <dgm:chMax val="0"/>
          <dgm:chPref val="0"/>
        </dgm:presLayoutVars>
      </dgm:prSet>
      <dgm:spPr>
        <a:blipFill>
          <a:blip xmlns:r="http://schemas.openxmlformats.org/officeDocument/2006/relationships" r:embed="rId2"/>
          <a:srcRect/>
          <a:stretch>
            <a:fillRect t="-9000" b="-9000"/>
          </a:stretch>
        </a:blipFill>
        <a:ln>
          <a:solidFill>
            <a:schemeClr val="bg2">
              <a:lumMod val="90000"/>
            </a:schemeClr>
          </a:solidFill>
        </a:ln>
      </dgm:spPr>
    </dgm:pt>
    <dgm:pt modelId="{CAA051D4-2E60-48F4-86C2-BD43857BEC5E}" type="pres">
      <dgm:prSet presAssocID="{6B222F87-7DBD-4E68-9102-89C6C90DDAEF}" presName="ChildComposite" presStyleCnt="0"/>
      <dgm:spPr/>
    </dgm:pt>
    <dgm:pt modelId="{4D0764FE-A32F-4969-8A80-EC1C58EFDB9C}" type="pres">
      <dgm:prSet presAssocID="{6B222F87-7DBD-4E68-9102-89C6C90DDAEF}" presName="Child" presStyleLbl="node1" presStyleIdx="1" presStyleCnt="3">
        <dgm:presLayoutVars>
          <dgm:chMax val="0"/>
          <dgm:chPref val="0"/>
          <dgm:bulletEnabled val="1"/>
        </dgm:presLayoutVars>
      </dgm:prSet>
      <dgm:spPr/>
    </dgm:pt>
    <dgm:pt modelId="{01877ED6-BA92-43FC-A70B-E91E700CFB37}" type="pres">
      <dgm:prSet presAssocID="{6B222F87-7DBD-4E68-9102-89C6C90DDAEF}" presName="Parent" presStyleLbl="revTx" presStyleIdx="1" presStyleCnt="3">
        <dgm:presLayoutVars>
          <dgm:chMax val="1"/>
          <dgm:chPref val="0"/>
          <dgm:bulletEnabled val="1"/>
        </dgm:presLayoutVars>
      </dgm:prSet>
      <dgm:spPr/>
    </dgm:pt>
    <dgm:pt modelId="{01C955DA-55D9-47F3-A11A-72386F7FF6E7}" type="pres">
      <dgm:prSet presAssocID="{4BC6B5FD-9D81-4147-B352-B53DAC4964E7}" presName="sibTrans" presStyleCnt="0"/>
      <dgm:spPr/>
    </dgm:pt>
    <dgm:pt modelId="{E67F7DF9-CAEF-499A-BFB1-F5C67C667EB2}" type="pres">
      <dgm:prSet presAssocID="{E2B0BA4C-3342-42F5-ADB3-C2A2329BE835}" presName="composite" presStyleCnt="0">
        <dgm:presLayoutVars>
          <dgm:chMax val="1"/>
          <dgm:chPref val="1"/>
        </dgm:presLayoutVars>
      </dgm:prSet>
      <dgm:spPr/>
    </dgm:pt>
    <dgm:pt modelId="{8CCC9092-02C7-4EFA-BE32-E14222A62392}" type="pres">
      <dgm:prSet presAssocID="{E2B0BA4C-3342-42F5-ADB3-C2A2329BE835}" presName="Accent" presStyleLbl="trAlignAcc1" presStyleIdx="2" presStyleCnt="3">
        <dgm:presLayoutVars>
          <dgm:chMax val="0"/>
          <dgm:chPref val="0"/>
        </dgm:presLayoutVars>
      </dgm:prSet>
      <dgm:spPr/>
    </dgm:pt>
    <dgm:pt modelId="{92ED66F0-881F-41E1-96A9-763D5D5A48B5}" type="pres">
      <dgm:prSet presAssocID="{E2B0BA4C-3342-42F5-ADB3-C2A2329BE835}" presName="Image" presStyleLbl="alignImgPlace1" presStyleIdx="2" presStyleCnt="3">
        <dgm:presLayoutVars>
          <dgm:chMax val="0"/>
          <dgm:chPref val="0"/>
        </dgm:presLayoutVars>
      </dgm:prSet>
      <dgm:spPr>
        <a:blipFill>
          <a:blip xmlns:r="http://schemas.openxmlformats.org/officeDocument/2006/relationships" r:embed="rId3"/>
          <a:srcRect/>
          <a:stretch>
            <a:fillRect t="-9000" b="-9000"/>
          </a:stretch>
        </a:blipFill>
        <a:ln>
          <a:solidFill>
            <a:schemeClr val="bg2">
              <a:lumMod val="90000"/>
            </a:schemeClr>
          </a:solidFill>
        </a:ln>
      </dgm:spPr>
    </dgm:pt>
    <dgm:pt modelId="{994F22B7-E841-489F-B4A6-5FFD1CE00462}" type="pres">
      <dgm:prSet presAssocID="{E2B0BA4C-3342-42F5-ADB3-C2A2329BE835}" presName="ChildComposite" presStyleCnt="0"/>
      <dgm:spPr/>
    </dgm:pt>
    <dgm:pt modelId="{7482A5E8-BC8F-4AEE-9D6D-EC66E1A46D4C}" type="pres">
      <dgm:prSet presAssocID="{E2B0BA4C-3342-42F5-ADB3-C2A2329BE835}" presName="Child" presStyleLbl="node1" presStyleIdx="2" presStyleCnt="3">
        <dgm:presLayoutVars>
          <dgm:chMax val="0"/>
          <dgm:chPref val="0"/>
          <dgm:bulletEnabled val="1"/>
        </dgm:presLayoutVars>
      </dgm:prSet>
      <dgm:spPr/>
    </dgm:pt>
    <dgm:pt modelId="{0CA4B0F1-8C27-4F9D-A3DD-07465492F2D6}" type="pres">
      <dgm:prSet presAssocID="{E2B0BA4C-3342-42F5-ADB3-C2A2329BE835}" presName="Parent" presStyleLbl="revTx" presStyleIdx="2" presStyleCnt="3">
        <dgm:presLayoutVars>
          <dgm:chMax val="1"/>
          <dgm:chPref val="0"/>
          <dgm:bulletEnabled val="1"/>
        </dgm:presLayoutVars>
      </dgm:prSet>
      <dgm:spPr/>
    </dgm:pt>
  </dgm:ptLst>
  <dgm:cxnLst>
    <dgm:cxn modelId="{1571A01C-08F6-42C8-9D1B-DB4F85ED193F}" type="presOf" srcId="{5F75A165-9718-46D3-8880-1938ED8FD2DB}" destId="{4D0764FE-A32F-4969-8A80-EC1C58EFDB9C}" srcOrd="0" destOrd="1" presId="urn:microsoft.com/office/officeart/2008/layout/CaptionedPictures"/>
    <dgm:cxn modelId="{6C7AC91F-8E8B-487D-B7BB-835C02EA45CA}" srcId="{65C19C58-31BA-49AC-8B8F-ECE045733DBA}" destId="{E2B0BA4C-3342-42F5-ADB3-C2A2329BE835}" srcOrd="2" destOrd="0" parTransId="{67C4BCDC-C388-4B7C-A287-371CC1E00B38}" sibTransId="{2B516BBF-D87F-4CBF-BBBF-B5D1F411CD34}"/>
    <dgm:cxn modelId="{1B14BF2C-A52E-4100-B57A-E7283A8A9BD5}" srcId="{6B222F87-7DBD-4E68-9102-89C6C90DDAEF}" destId="{16EA0510-5088-44C5-B017-1C99132E19EF}" srcOrd="0" destOrd="0" parTransId="{4DDD4E8B-7904-413C-A151-6B055270DBD8}" sibTransId="{E6F30FBE-D1FB-4842-B735-612BBDECFBE8}"/>
    <dgm:cxn modelId="{CBAA9A33-D257-45EF-8FB5-7DA97A1FAF72}" type="presOf" srcId="{607D5BF2-DFEC-4B74-8D38-C28442FAFFF5}" destId="{30369D29-5851-4F5A-89A8-A1FEF75330DD}" srcOrd="0" destOrd="0" presId="urn:microsoft.com/office/officeart/2008/layout/CaptionedPictures"/>
    <dgm:cxn modelId="{B55CD03E-B1FF-4121-9A20-DCAF244EBCBA}" type="presOf" srcId="{0190DE36-2851-409D-83F0-8E42955A2707}" destId="{7482A5E8-BC8F-4AEE-9D6D-EC66E1A46D4C}" srcOrd="0" destOrd="0" presId="urn:microsoft.com/office/officeart/2008/layout/CaptionedPictures"/>
    <dgm:cxn modelId="{1017D063-AD15-4E25-B520-0DF942F2B106}" type="presOf" srcId="{BC7CCC39-99B3-4077-92E4-B4C54FFE7DBF}" destId="{E136DF8C-D1DB-4C48-9240-BD42223BD201}" srcOrd="0" destOrd="0" presId="urn:microsoft.com/office/officeart/2008/layout/CaptionedPictures"/>
    <dgm:cxn modelId="{11F01769-8291-4F80-9205-8B6B5D0C4F8B}" srcId="{6B222F87-7DBD-4E68-9102-89C6C90DDAEF}" destId="{5F75A165-9718-46D3-8880-1938ED8FD2DB}" srcOrd="1" destOrd="0" parTransId="{A414B49E-9DB0-4DC4-A5D8-0805FD76FFCC}" sibTransId="{13094134-587E-4CCA-B415-1F1DD4571C7F}"/>
    <dgm:cxn modelId="{8CE8EF6B-0890-4216-96B1-13192A97AC16}" type="presOf" srcId="{6B222F87-7DBD-4E68-9102-89C6C90DDAEF}" destId="{01877ED6-BA92-43FC-A70B-E91E700CFB37}" srcOrd="0" destOrd="0" presId="urn:microsoft.com/office/officeart/2008/layout/CaptionedPictures"/>
    <dgm:cxn modelId="{A1834C52-F995-4B1E-8F3B-D25D5073CFD6}" type="presOf" srcId="{65C19C58-31BA-49AC-8B8F-ECE045733DBA}" destId="{7A04C77A-5726-4FED-9967-83B038E7E84B}" srcOrd="0" destOrd="0" presId="urn:microsoft.com/office/officeart/2008/layout/CaptionedPictures"/>
    <dgm:cxn modelId="{F960A859-0BB1-4604-8739-E05173933F85}" srcId="{BC7CCC39-99B3-4077-92E4-B4C54FFE7DBF}" destId="{8050DAC1-72D7-4A2E-9179-1D67416B9325}" srcOrd="1" destOrd="0" parTransId="{48F32C56-269D-488E-B259-5FE5F9F51A4F}" sibTransId="{74BF0334-AFB5-46E8-8970-62468C854C0C}"/>
    <dgm:cxn modelId="{2910DD94-5143-4C03-9D6A-97980AB65928}" srcId="{E2B0BA4C-3342-42F5-ADB3-C2A2329BE835}" destId="{0190DE36-2851-409D-83F0-8E42955A2707}" srcOrd="0" destOrd="0" parTransId="{325BCC62-BE2D-463D-BC40-3122B7EE094F}" sibTransId="{799C1BBF-58CE-406D-9A03-24C1885776E6}"/>
    <dgm:cxn modelId="{D0842D9E-317E-4AE8-B51E-BBA34196C449}" srcId="{65C19C58-31BA-49AC-8B8F-ECE045733DBA}" destId="{6B222F87-7DBD-4E68-9102-89C6C90DDAEF}" srcOrd="1" destOrd="0" parTransId="{AB266ED0-F401-4CFD-BB85-40D2CEC47E3F}" sibTransId="{4BC6B5FD-9D81-4147-B352-B53DAC4964E7}"/>
    <dgm:cxn modelId="{827FA79E-E21C-4897-98BB-E69BD3E460EA}" srcId="{E2B0BA4C-3342-42F5-ADB3-C2A2329BE835}" destId="{8FCE1C56-5EA3-4C18-9549-A9D08E09023E}" srcOrd="1" destOrd="0" parTransId="{6F621260-10B0-40C6-BCF1-A15CCCF78D35}" sibTransId="{1B0E8543-B5F4-4FA1-84ED-3B99E041EA54}"/>
    <dgm:cxn modelId="{D44F90AE-BAC4-4C9B-8C14-F60C12CF9614}" srcId="{65C19C58-31BA-49AC-8B8F-ECE045733DBA}" destId="{BC7CCC39-99B3-4077-92E4-B4C54FFE7DBF}" srcOrd="0" destOrd="0" parTransId="{507E72B2-D876-417F-B8FE-ADFAD0B758D0}" sibTransId="{4592CE00-5DF3-4ED2-9FD3-D2000E67DBA7}"/>
    <dgm:cxn modelId="{126ECFB2-1787-4246-90BE-1A8DA227A79F}" type="presOf" srcId="{16EA0510-5088-44C5-B017-1C99132E19EF}" destId="{4D0764FE-A32F-4969-8A80-EC1C58EFDB9C}" srcOrd="0" destOrd="0" presId="urn:microsoft.com/office/officeart/2008/layout/CaptionedPictures"/>
    <dgm:cxn modelId="{6A4EA0D8-0506-44AA-AD6D-29812F9ECAE9}" type="presOf" srcId="{8050DAC1-72D7-4A2E-9179-1D67416B9325}" destId="{30369D29-5851-4F5A-89A8-A1FEF75330DD}" srcOrd="0" destOrd="1" presId="urn:microsoft.com/office/officeart/2008/layout/CaptionedPictures"/>
    <dgm:cxn modelId="{999951DC-1887-4D60-81FC-5DC22AA4D67D}" type="presOf" srcId="{E2B0BA4C-3342-42F5-ADB3-C2A2329BE835}" destId="{0CA4B0F1-8C27-4F9D-A3DD-07465492F2D6}" srcOrd="0" destOrd="0" presId="urn:microsoft.com/office/officeart/2008/layout/CaptionedPictures"/>
    <dgm:cxn modelId="{356105F6-F658-41C2-8750-111C4245F215}" type="presOf" srcId="{8FCE1C56-5EA3-4C18-9549-A9D08E09023E}" destId="{7482A5E8-BC8F-4AEE-9D6D-EC66E1A46D4C}" srcOrd="0" destOrd="1" presId="urn:microsoft.com/office/officeart/2008/layout/CaptionedPictures"/>
    <dgm:cxn modelId="{9A33EFF8-4BB2-4E66-92B7-8C0D8B454901}" srcId="{BC7CCC39-99B3-4077-92E4-B4C54FFE7DBF}" destId="{607D5BF2-DFEC-4B74-8D38-C28442FAFFF5}" srcOrd="0" destOrd="0" parTransId="{6BD3EEC5-6560-466C-83D8-B26481A66F53}" sibTransId="{F833CBFA-4F00-4356-96C5-4FDBAB56AF74}"/>
    <dgm:cxn modelId="{16CB960D-A4D8-4005-8DC1-3A4BAA018C02}" type="presParOf" srcId="{7A04C77A-5726-4FED-9967-83B038E7E84B}" destId="{1C570E93-47A0-436A-9418-B76F5CDDD29F}" srcOrd="0" destOrd="0" presId="urn:microsoft.com/office/officeart/2008/layout/CaptionedPictures"/>
    <dgm:cxn modelId="{2B1B0ABE-FDCC-475E-B9F3-BEE1940102D8}" type="presParOf" srcId="{1C570E93-47A0-436A-9418-B76F5CDDD29F}" destId="{CE7BAC15-DC59-4FF0-A35E-63B19A7584AF}" srcOrd="0" destOrd="0" presId="urn:microsoft.com/office/officeart/2008/layout/CaptionedPictures"/>
    <dgm:cxn modelId="{C7C19DAB-DAF8-4B97-9766-5E3922179C93}" type="presParOf" srcId="{1C570E93-47A0-436A-9418-B76F5CDDD29F}" destId="{2DF05040-81DA-48BC-9673-8AF4C20552F0}" srcOrd="1" destOrd="0" presId="urn:microsoft.com/office/officeart/2008/layout/CaptionedPictures"/>
    <dgm:cxn modelId="{B1939ABF-7B4F-48A2-A31E-5ACEDEAE0DE3}" type="presParOf" srcId="{1C570E93-47A0-436A-9418-B76F5CDDD29F}" destId="{3CCE2650-1700-4130-B8E0-C7411250E7B3}" srcOrd="2" destOrd="0" presId="urn:microsoft.com/office/officeart/2008/layout/CaptionedPictures"/>
    <dgm:cxn modelId="{CDE29AEA-58AE-4CD0-BEFB-B1DE7DE65B2F}" type="presParOf" srcId="{3CCE2650-1700-4130-B8E0-C7411250E7B3}" destId="{30369D29-5851-4F5A-89A8-A1FEF75330DD}" srcOrd="0" destOrd="0" presId="urn:microsoft.com/office/officeart/2008/layout/CaptionedPictures"/>
    <dgm:cxn modelId="{76C23F34-D7B5-42D7-87DE-C7808CB231CF}" type="presParOf" srcId="{3CCE2650-1700-4130-B8E0-C7411250E7B3}" destId="{E136DF8C-D1DB-4C48-9240-BD42223BD201}" srcOrd="1" destOrd="0" presId="urn:microsoft.com/office/officeart/2008/layout/CaptionedPictures"/>
    <dgm:cxn modelId="{224D7039-22FE-4AEE-B1D5-ADC02EDE4A52}" type="presParOf" srcId="{7A04C77A-5726-4FED-9967-83B038E7E84B}" destId="{ED046396-4612-4499-963C-C3C762166ECB}" srcOrd="1" destOrd="0" presId="urn:microsoft.com/office/officeart/2008/layout/CaptionedPictures"/>
    <dgm:cxn modelId="{1A1F3734-7D78-4EB4-B1BD-920A746497AF}" type="presParOf" srcId="{7A04C77A-5726-4FED-9967-83B038E7E84B}" destId="{E6BE8F6E-EA3A-4EE8-959B-6DBA66C138FA}" srcOrd="2" destOrd="0" presId="urn:microsoft.com/office/officeart/2008/layout/CaptionedPictures"/>
    <dgm:cxn modelId="{D36382DD-EF98-4A97-BF80-710F6A5C3982}" type="presParOf" srcId="{E6BE8F6E-EA3A-4EE8-959B-6DBA66C138FA}" destId="{BE5F1572-A447-4997-B7C1-2B8E87C28E09}" srcOrd="0" destOrd="0" presId="urn:microsoft.com/office/officeart/2008/layout/CaptionedPictures"/>
    <dgm:cxn modelId="{5F24D523-6486-42CF-B4B9-E0D0FC08FF59}" type="presParOf" srcId="{E6BE8F6E-EA3A-4EE8-959B-6DBA66C138FA}" destId="{0B8A85D8-4111-4B5E-94D3-3398FD061187}" srcOrd="1" destOrd="0" presId="urn:microsoft.com/office/officeart/2008/layout/CaptionedPictures"/>
    <dgm:cxn modelId="{DFC75D37-6574-4F12-BB4C-E70F10750CC1}" type="presParOf" srcId="{E6BE8F6E-EA3A-4EE8-959B-6DBA66C138FA}" destId="{CAA051D4-2E60-48F4-86C2-BD43857BEC5E}" srcOrd="2" destOrd="0" presId="urn:microsoft.com/office/officeart/2008/layout/CaptionedPictures"/>
    <dgm:cxn modelId="{82D54F56-032A-4000-9E19-FDCE82738E1B}" type="presParOf" srcId="{CAA051D4-2E60-48F4-86C2-BD43857BEC5E}" destId="{4D0764FE-A32F-4969-8A80-EC1C58EFDB9C}" srcOrd="0" destOrd="0" presId="urn:microsoft.com/office/officeart/2008/layout/CaptionedPictures"/>
    <dgm:cxn modelId="{6CD8EE34-4B6F-4D9E-846F-571AA92751AA}" type="presParOf" srcId="{CAA051D4-2E60-48F4-86C2-BD43857BEC5E}" destId="{01877ED6-BA92-43FC-A70B-E91E700CFB37}" srcOrd="1" destOrd="0" presId="urn:microsoft.com/office/officeart/2008/layout/CaptionedPictures"/>
    <dgm:cxn modelId="{CDF4EC68-77BE-4921-9DF3-9D5BE2A2B5B8}" type="presParOf" srcId="{7A04C77A-5726-4FED-9967-83B038E7E84B}" destId="{01C955DA-55D9-47F3-A11A-72386F7FF6E7}" srcOrd="3" destOrd="0" presId="urn:microsoft.com/office/officeart/2008/layout/CaptionedPictures"/>
    <dgm:cxn modelId="{3EF52AA0-2313-4A96-86B8-C000F61875A5}" type="presParOf" srcId="{7A04C77A-5726-4FED-9967-83B038E7E84B}" destId="{E67F7DF9-CAEF-499A-BFB1-F5C67C667EB2}" srcOrd="4" destOrd="0" presId="urn:microsoft.com/office/officeart/2008/layout/CaptionedPictures"/>
    <dgm:cxn modelId="{384FF91D-29B4-4CF7-B82C-797B32FD700B}" type="presParOf" srcId="{E67F7DF9-CAEF-499A-BFB1-F5C67C667EB2}" destId="{8CCC9092-02C7-4EFA-BE32-E14222A62392}" srcOrd="0" destOrd="0" presId="urn:microsoft.com/office/officeart/2008/layout/CaptionedPictures"/>
    <dgm:cxn modelId="{D9C5084A-B4AF-4331-99AA-60A6CD2E499A}" type="presParOf" srcId="{E67F7DF9-CAEF-499A-BFB1-F5C67C667EB2}" destId="{92ED66F0-881F-41E1-96A9-763D5D5A48B5}" srcOrd="1" destOrd="0" presId="urn:microsoft.com/office/officeart/2008/layout/CaptionedPictures"/>
    <dgm:cxn modelId="{1F78CBD9-F985-47F1-BA93-D6CB8F069705}" type="presParOf" srcId="{E67F7DF9-CAEF-499A-BFB1-F5C67C667EB2}" destId="{994F22B7-E841-489F-B4A6-5FFD1CE00462}" srcOrd="2" destOrd="0" presId="urn:microsoft.com/office/officeart/2008/layout/CaptionedPictures"/>
    <dgm:cxn modelId="{F2ACC5BB-318D-4F7F-B7D7-DE8FF6984695}" type="presParOf" srcId="{994F22B7-E841-489F-B4A6-5FFD1CE00462}" destId="{7482A5E8-BC8F-4AEE-9D6D-EC66E1A46D4C}" srcOrd="0" destOrd="0" presId="urn:microsoft.com/office/officeart/2008/layout/CaptionedPictures"/>
    <dgm:cxn modelId="{404580F7-0512-4B44-9832-51EAC5DB662E}" type="presParOf" srcId="{994F22B7-E841-489F-B4A6-5FFD1CE00462}" destId="{0CA4B0F1-8C27-4F9D-A3DD-07465492F2D6}" srcOrd="1" destOrd="0" presId="urn:microsoft.com/office/officeart/2008/layout/CaptionedPicture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5C19C58-31BA-49AC-8B8F-ECE045733DBA}" type="doc">
      <dgm:prSet loTypeId="urn:microsoft.com/office/officeart/2008/layout/CaptionedPictures" loCatId="picture" qsTypeId="urn:microsoft.com/office/officeart/2005/8/quickstyle/simple4" qsCatId="simple" csTypeId="urn:microsoft.com/office/officeart/2005/8/colors/accent1_2" csCatId="accent1" phldr="1"/>
      <dgm:spPr/>
      <dgm:t>
        <a:bodyPr/>
        <a:lstStyle/>
        <a:p>
          <a:endParaRPr lang="en-NL"/>
        </a:p>
      </dgm:t>
    </dgm:pt>
    <dgm:pt modelId="{BC7CCC39-99B3-4077-92E4-B4C54FFE7DBF}">
      <dgm:prSet phldrT="[Text]"/>
      <dgm:spPr/>
      <dgm:t>
        <a:bodyPr/>
        <a:lstStyle/>
        <a:p>
          <a:r>
            <a:rPr lang="en-US" b="1"/>
            <a:t>Patient-001</a:t>
          </a:r>
          <a:endParaRPr lang="en-NL" b="1" dirty="0"/>
        </a:p>
      </dgm:t>
    </dgm:pt>
    <dgm:pt modelId="{507E72B2-D876-417F-B8FE-ADFAD0B758D0}" type="parTrans" cxnId="{D44F90AE-BAC4-4C9B-8C14-F60C12CF9614}">
      <dgm:prSet/>
      <dgm:spPr/>
      <dgm:t>
        <a:bodyPr/>
        <a:lstStyle/>
        <a:p>
          <a:endParaRPr lang="en-NL"/>
        </a:p>
      </dgm:t>
    </dgm:pt>
    <dgm:pt modelId="{4592CE00-5DF3-4ED2-9FD3-D2000E67DBA7}" type="sibTrans" cxnId="{D44F90AE-BAC4-4C9B-8C14-F60C12CF9614}">
      <dgm:prSet/>
      <dgm:spPr/>
      <dgm:t>
        <a:bodyPr/>
        <a:lstStyle/>
        <a:p>
          <a:endParaRPr lang="en-NL"/>
        </a:p>
      </dgm:t>
    </dgm:pt>
    <dgm:pt modelId="{FA7EC4AF-46C8-4BE1-8537-1ACA04C5263D}">
      <dgm:prSet phldrT="[Text]" phldr="0"/>
      <dgm:spPr/>
      <dgm:t>
        <a:bodyPr/>
        <a:lstStyle/>
        <a:p>
          <a:r>
            <a:rPr lang="en-US" dirty="0"/>
            <a:t>(Biological) Sex: Male</a:t>
          </a:r>
          <a:endParaRPr lang="en-NL" dirty="0"/>
        </a:p>
      </dgm:t>
    </dgm:pt>
    <dgm:pt modelId="{FA45D412-47C4-49CF-ADAC-82FE5E508F49}" type="parTrans" cxnId="{7337AB65-5C64-404F-87C5-7ABD7F850C1B}">
      <dgm:prSet/>
      <dgm:spPr/>
      <dgm:t>
        <a:bodyPr/>
        <a:lstStyle/>
        <a:p>
          <a:endParaRPr lang="en-NL"/>
        </a:p>
      </dgm:t>
    </dgm:pt>
    <dgm:pt modelId="{C7029CE2-A685-4B34-9786-823106BD866D}" type="sibTrans" cxnId="{7337AB65-5C64-404F-87C5-7ABD7F850C1B}">
      <dgm:prSet/>
      <dgm:spPr/>
      <dgm:t>
        <a:bodyPr/>
        <a:lstStyle/>
        <a:p>
          <a:endParaRPr lang="en-NL"/>
        </a:p>
      </dgm:t>
    </dgm:pt>
    <dgm:pt modelId="{55781AC0-6676-4F7C-BD64-3272B2393068}">
      <dgm:prSet phldrT="[Text]" phldr="0"/>
      <dgm:spPr/>
      <dgm:t>
        <a:bodyPr/>
        <a:lstStyle/>
        <a:p>
          <a:r>
            <a:rPr lang="en-US" dirty="0"/>
            <a:t>(Social) Gender: Male</a:t>
          </a:r>
          <a:endParaRPr lang="en-NL" dirty="0"/>
        </a:p>
      </dgm:t>
    </dgm:pt>
    <dgm:pt modelId="{DCFC7ED7-FDDE-475F-822B-F36E029F4654}" type="parTrans" cxnId="{F1D06D41-97EB-4C19-823E-31C06AC60AB0}">
      <dgm:prSet/>
      <dgm:spPr/>
      <dgm:t>
        <a:bodyPr/>
        <a:lstStyle/>
        <a:p>
          <a:endParaRPr lang="en-NL"/>
        </a:p>
      </dgm:t>
    </dgm:pt>
    <dgm:pt modelId="{1DB78806-2B6B-4C5D-BED9-C626A2BA1DFA}" type="sibTrans" cxnId="{F1D06D41-97EB-4C19-823E-31C06AC60AB0}">
      <dgm:prSet/>
      <dgm:spPr/>
      <dgm:t>
        <a:bodyPr/>
        <a:lstStyle/>
        <a:p>
          <a:endParaRPr lang="en-NL"/>
        </a:p>
      </dgm:t>
    </dgm:pt>
    <dgm:pt modelId="{9563DFE9-F088-4432-850E-07466291F6DA}">
      <dgm:prSet phldrT="[Text]"/>
      <dgm:spPr/>
      <dgm:t>
        <a:bodyPr/>
        <a:lstStyle/>
        <a:p>
          <a:r>
            <a:rPr lang="en-US" b="1"/>
            <a:t>Patient-002</a:t>
          </a:r>
          <a:endParaRPr lang="en-NL" b="1" dirty="0"/>
        </a:p>
      </dgm:t>
    </dgm:pt>
    <dgm:pt modelId="{A4F582B3-123E-46F5-895E-F9FCAD0F40F1}" type="parTrans" cxnId="{E0D44A7E-646F-4E14-A243-E1145AFEF11A}">
      <dgm:prSet/>
      <dgm:spPr/>
      <dgm:t>
        <a:bodyPr/>
        <a:lstStyle/>
        <a:p>
          <a:endParaRPr lang="en-NL"/>
        </a:p>
      </dgm:t>
    </dgm:pt>
    <dgm:pt modelId="{871D2E08-8986-4D57-B01F-126B48465A2C}" type="sibTrans" cxnId="{E0D44A7E-646F-4E14-A243-E1145AFEF11A}">
      <dgm:prSet/>
      <dgm:spPr/>
      <dgm:t>
        <a:bodyPr/>
        <a:lstStyle/>
        <a:p>
          <a:endParaRPr lang="en-NL"/>
        </a:p>
      </dgm:t>
    </dgm:pt>
    <dgm:pt modelId="{AD2A4B16-0175-4147-A788-F0A18EADEA9A}">
      <dgm:prSet phldrT="[Text]" phldr="0"/>
      <dgm:spPr/>
      <dgm:t>
        <a:bodyPr/>
        <a:lstStyle/>
        <a:p>
          <a:r>
            <a:rPr lang="en-US" dirty="0"/>
            <a:t>(Biological) Sex: Male</a:t>
          </a:r>
          <a:endParaRPr lang="en-NL" dirty="0"/>
        </a:p>
      </dgm:t>
    </dgm:pt>
    <dgm:pt modelId="{1F01AB3D-1F6F-4912-87FB-8161D5B2B410}" type="parTrans" cxnId="{1247259E-8ED4-4EE1-86A3-E70DEAEE409E}">
      <dgm:prSet/>
      <dgm:spPr/>
      <dgm:t>
        <a:bodyPr/>
        <a:lstStyle/>
        <a:p>
          <a:endParaRPr lang="en-NL"/>
        </a:p>
      </dgm:t>
    </dgm:pt>
    <dgm:pt modelId="{91AE664E-193F-437A-92C7-656280A54C35}" type="sibTrans" cxnId="{1247259E-8ED4-4EE1-86A3-E70DEAEE409E}">
      <dgm:prSet/>
      <dgm:spPr/>
      <dgm:t>
        <a:bodyPr/>
        <a:lstStyle/>
        <a:p>
          <a:endParaRPr lang="en-NL"/>
        </a:p>
      </dgm:t>
    </dgm:pt>
    <dgm:pt modelId="{70019997-2DF2-4378-AEAC-7DF956BA6967}">
      <dgm:prSet phldrT="[Text]" phldr="0"/>
      <dgm:spPr/>
      <dgm:t>
        <a:bodyPr/>
        <a:lstStyle/>
        <a:p>
          <a:r>
            <a:rPr lang="en-US" dirty="0"/>
            <a:t>(Social) Gender: Female (Trans)</a:t>
          </a:r>
          <a:endParaRPr lang="en-NL" dirty="0"/>
        </a:p>
      </dgm:t>
    </dgm:pt>
    <dgm:pt modelId="{D981B3A1-1AA2-42D1-9060-3504AE3A3AFD}" type="parTrans" cxnId="{ED7F59F6-6AD2-49D9-B39A-0D4A0EC8354B}">
      <dgm:prSet/>
      <dgm:spPr/>
      <dgm:t>
        <a:bodyPr/>
        <a:lstStyle/>
        <a:p>
          <a:endParaRPr lang="en-NL"/>
        </a:p>
      </dgm:t>
    </dgm:pt>
    <dgm:pt modelId="{DF84FE96-80FE-402E-AC96-26B206CA1680}" type="sibTrans" cxnId="{ED7F59F6-6AD2-49D9-B39A-0D4A0EC8354B}">
      <dgm:prSet/>
      <dgm:spPr/>
      <dgm:t>
        <a:bodyPr/>
        <a:lstStyle/>
        <a:p>
          <a:endParaRPr lang="en-NL"/>
        </a:p>
      </dgm:t>
    </dgm:pt>
    <dgm:pt modelId="{4CCCA2C8-4B00-405C-AE3A-9A7B13487CE2}">
      <dgm:prSet phldrT="[Text]"/>
      <dgm:spPr/>
      <dgm:t>
        <a:bodyPr/>
        <a:lstStyle/>
        <a:p>
          <a:r>
            <a:rPr lang="en-US" b="1"/>
            <a:t>Patient-003</a:t>
          </a:r>
          <a:endParaRPr lang="en-NL" b="1" dirty="0"/>
        </a:p>
      </dgm:t>
    </dgm:pt>
    <dgm:pt modelId="{90CA1F91-3CD4-45AE-9F5A-64FFC910A55A}" type="parTrans" cxnId="{3B18214B-0959-44D1-9513-918E5DB930C7}">
      <dgm:prSet/>
      <dgm:spPr/>
      <dgm:t>
        <a:bodyPr/>
        <a:lstStyle/>
        <a:p>
          <a:endParaRPr lang="en-NL"/>
        </a:p>
      </dgm:t>
    </dgm:pt>
    <dgm:pt modelId="{B8A835DF-CD9B-4060-8938-C437663AA840}" type="sibTrans" cxnId="{3B18214B-0959-44D1-9513-918E5DB930C7}">
      <dgm:prSet/>
      <dgm:spPr/>
      <dgm:t>
        <a:bodyPr/>
        <a:lstStyle/>
        <a:p>
          <a:endParaRPr lang="en-NL"/>
        </a:p>
      </dgm:t>
    </dgm:pt>
    <dgm:pt modelId="{810BC362-90F6-4B23-9D68-CBE1434F2906}">
      <dgm:prSet phldrT="[Text]" phldr="0"/>
      <dgm:spPr/>
      <dgm:t>
        <a:bodyPr/>
        <a:lstStyle/>
        <a:p>
          <a:r>
            <a:rPr lang="en-US" dirty="0"/>
            <a:t>(Biological) Sex: Female</a:t>
          </a:r>
          <a:endParaRPr lang="en-NL" dirty="0"/>
        </a:p>
      </dgm:t>
    </dgm:pt>
    <dgm:pt modelId="{211542DF-C281-4448-B338-74F34AA76124}" type="parTrans" cxnId="{BBE654BF-6D39-4768-B80B-1FA6FBCE85D2}">
      <dgm:prSet/>
      <dgm:spPr/>
      <dgm:t>
        <a:bodyPr/>
        <a:lstStyle/>
        <a:p>
          <a:endParaRPr lang="en-NL"/>
        </a:p>
      </dgm:t>
    </dgm:pt>
    <dgm:pt modelId="{B3545EE0-C887-4A1D-BC63-DA83C15D640A}" type="sibTrans" cxnId="{BBE654BF-6D39-4768-B80B-1FA6FBCE85D2}">
      <dgm:prSet/>
      <dgm:spPr/>
      <dgm:t>
        <a:bodyPr/>
        <a:lstStyle/>
        <a:p>
          <a:endParaRPr lang="en-NL"/>
        </a:p>
      </dgm:t>
    </dgm:pt>
    <dgm:pt modelId="{0F6B5DE3-AB7F-47FB-96BD-B205D6288E8C}">
      <dgm:prSet phldrT="[Text]" phldr="0"/>
      <dgm:spPr/>
      <dgm:t>
        <a:bodyPr/>
        <a:lstStyle/>
        <a:p>
          <a:r>
            <a:rPr lang="en-US" dirty="0"/>
            <a:t>(Social) Gender: Non-binary</a:t>
          </a:r>
          <a:endParaRPr lang="en-NL" dirty="0"/>
        </a:p>
      </dgm:t>
    </dgm:pt>
    <dgm:pt modelId="{4F46B828-8C54-4BDC-88FD-895785129323}" type="parTrans" cxnId="{CC34117D-9E63-47F0-9635-AB5AAD1EE1CC}">
      <dgm:prSet/>
      <dgm:spPr/>
      <dgm:t>
        <a:bodyPr/>
        <a:lstStyle/>
        <a:p>
          <a:endParaRPr lang="en-NL"/>
        </a:p>
      </dgm:t>
    </dgm:pt>
    <dgm:pt modelId="{9E7C8ED5-8C37-42DB-9AF8-2609FADDCCA7}" type="sibTrans" cxnId="{CC34117D-9E63-47F0-9635-AB5AAD1EE1CC}">
      <dgm:prSet/>
      <dgm:spPr/>
      <dgm:t>
        <a:bodyPr/>
        <a:lstStyle/>
        <a:p>
          <a:endParaRPr lang="en-NL"/>
        </a:p>
      </dgm:t>
    </dgm:pt>
    <dgm:pt modelId="{7A04C77A-5726-4FED-9967-83B038E7E84B}" type="pres">
      <dgm:prSet presAssocID="{65C19C58-31BA-49AC-8B8F-ECE045733DBA}" presName="Name0" presStyleCnt="0">
        <dgm:presLayoutVars>
          <dgm:chMax/>
          <dgm:chPref/>
          <dgm:dir/>
        </dgm:presLayoutVars>
      </dgm:prSet>
      <dgm:spPr/>
    </dgm:pt>
    <dgm:pt modelId="{1C570E93-47A0-436A-9418-B76F5CDDD29F}" type="pres">
      <dgm:prSet presAssocID="{BC7CCC39-99B3-4077-92E4-B4C54FFE7DBF}" presName="composite" presStyleCnt="0">
        <dgm:presLayoutVars>
          <dgm:chMax val="1"/>
          <dgm:chPref val="1"/>
        </dgm:presLayoutVars>
      </dgm:prSet>
      <dgm:spPr/>
    </dgm:pt>
    <dgm:pt modelId="{CE7BAC15-DC59-4FF0-A35E-63B19A7584AF}" type="pres">
      <dgm:prSet presAssocID="{BC7CCC39-99B3-4077-92E4-B4C54FFE7DBF}" presName="Accent" presStyleLbl="trAlignAcc1" presStyleIdx="0" presStyleCnt="3">
        <dgm:presLayoutVars>
          <dgm:chMax val="0"/>
          <dgm:chPref val="0"/>
        </dgm:presLayoutVars>
      </dgm:prSet>
      <dgm:spPr/>
    </dgm:pt>
    <dgm:pt modelId="{2DF05040-81DA-48BC-9673-8AF4C20552F0}" type="pres">
      <dgm:prSet presAssocID="{BC7CCC39-99B3-4077-92E4-B4C54FFE7DBF}" presName="Image" presStyleLbl="alignImgPlace1" presStyleIdx="0" presStyleCnt="3">
        <dgm:presLayoutVars>
          <dgm:chMax val="0"/>
          <dgm:chPref val="0"/>
        </dgm:presLayoutVars>
      </dgm:prSet>
      <dgm:spPr>
        <a:blipFill>
          <a:blip xmlns:r="http://schemas.openxmlformats.org/officeDocument/2006/relationships" r:embed="rId1"/>
          <a:srcRect/>
          <a:stretch>
            <a:fillRect t="-9000" b="-9000"/>
          </a:stretch>
        </a:blipFill>
        <a:ln>
          <a:solidFill>
            <a:schemeClr val="bg2">
              <a:lumMod val="90000"/>
            </a:schemeClr>
          </a:solidFill>
        </a:ln>
      </dgm:spPr>
    </dgm:pt>
    <dgm:pt modelId="{3CCE2650-1700-4130-B8E0-C7411250E7B3}" type="pres">
      <dgm:prSet presAssocID="{BC7CCC39-99B3-4077-92E4-B4C54FFE7DBF}" presName="ChildComposite" presStyleCnt="0"/>
      <dgm:spPr/>
    </dgm:pt>
    <dgm:pt modelId="{30369D29-5851-4F5A-89A8-A1FEF75330DD}" type="pres">
      <dgm:prSet presAssocID="{BC7CCC39-99B3-4077-92E4-B4C54FFE7DBF}" presName="Child" presStyleLbl="node1" presStyleIdx="0" presStyleCnt="3">
        <dgm:presLayoutVars>
          <dgm:chMax val="0"/>
          <dgm:chPref val="0"/>
          <dgm:bulletEnabled val="1"/>
        </dgm:presLayoutVars>
      </dgm:prSet>
      <dgm:spPr/>
    </dgm:pt>
    <dgm:pt modelId="{E136DF8C-D1DB-4C48-9240-BD42223BD201}" type="pres">
      <dgm:prSet presAssocID="{BC7CCC39-99B3-4077-92E4-B4C54FFE7DBF}" presName="Parent" presStyleLbl="revTx" presStyleIdx="0" presStyleCnt="3">
        <dgm:presLayoutVars>
          <dgm:chMax val="1"/>
          <dgm:chPref val="0"/>
          <dgm:bulletEnabled val="1"/>
        </dgm:presLayoutVars>
      </dgm:prSet>
      <dgm:spPr/>
    </dgm:pt>
    <dgm:pt modelId="{ED046396-4612-4499-963C-C3C762166ECB}" type="pres">
      <dgm:prSet presAssocID="{4592CE00-5DF3-4ED2-9FD3-D2000E67DBA7}" presName="sibTrans" presStyleCnt="0"/>
      <dgm:spPr/>
    </dgm:pt>
    <dgm:pt modelId="{802F8DB2-4F21-4CAA-B8DC-9A157C93305E}" type="pres">
      <dgm:prSet presAssocID="{9563DFE9-F088-4432-850E-07466291F6DA}" presName="composite" presStyleCnt="0">
        <dgm:presLayoutVars>
          <dgm:chMax val="1"/>
          <dgm:chPref val="1"/>
        </dgm:presLayoutVars>
      </dgm:prSet>
      <dgm:spPr/>
    </dgm:pt>
    <dgm:pt modelId="{61729CCB-9515-4519-A792-EAB84117191A}" type="pres">
      <dgm:prSet presAssocID="{9563DFE9-F088-4432-850E-07466291F6DA}" presName="Accent" presStyleLbl="trAlignAcc1" presStyleIdx="1" presStyleCnt="3">
        <dgm:presLayoutVars>
          <dgm:chMax val="0"/>
          <dgm:chPref val="0"/>
        </dgm:presLayoutVars>
      </dgm:prSet>
      <dgm:spPr/>
    </dgm:pt>
    <dgm:pt modelId="{02D1F558-C992-4F85-8E17-FBA9661CA627}" type="pres">
      <dgm:prSet presAssocID="{9563DFE9-F088-4432-850E-07466291F6DA}" presName="Image" presStyleLbl="alignImgPlace1" presStyleIdx="1" presStyleCnt="3">
        <dgm:presLayoutVars>
          <dgm:chMax val="0"/>
          <dgm:chPref val="0"/>
        </dgm:presLayoutVars>
      </dgm:prSet>
      <dgm:spPr>
        <a:blipFill>
          <a:blip xmlns:r="http://schemas.openxmlformats.org/officeDocument/2006/relationships" r:embed="rId2"/>
          <a:srcRect/>
          <a:stretch>
            <a:fillRect t="-9000" b="-9000"/>
          </a:stretch>
        </a:blipFill>
      </dgm:spPr>
    </dgm:pt>
    <dgm:pt modelId="{12ADBEE4-D217-4D9A-BA9F-DE39C0D44F6C}" type="pres">
      <dgm:prSet presAssocID="{9563DFE9-F088-4432-850E-07466291F6DA}" presName="ChildComposite" presStyleCnt="0"/>
      <dgm:spPr/>
    </dgm:pt>
    <dgm:pt modelId="{AD77C35C-7E47-4D30-BBF2-0106E6B5AD1D}" type="pres">
      <dgm:prSet presAssocID="{9563DFE9-F088-4432-850E-07466291F6DA}" presName="Child" presStyleLbl="node1" presStyleIdx="1" presStyleCnt="3">
        <dgm:presLayoutVars>
          <dgm:chMax val="0"/>
          <dgm:chPref val="0"/>
          <dgm:bulletEnabled val="1"/>
        </dgm:presLayoutVars>
      </dgm:prSet>
      <dgm:spPr/>
    </dgm:pt>
    <dgm:pt modelId="{F24A334F-23E1-4C7A-8933-4FBF6E1B0CB8}" type="pres">
      <dgm:prSet presAssocID="{9563DFE9-F088-4432-850E-07466291F6DA}" presName="Parent" presStyleLbl="revTx" presStyleIdx="1" presStyleCnt="3">
        <dgm:presLayoutVars>
          <dgm:chMax val="1"/>
          <dgm:chPref val="0"/>
          <dgm:bulletEnabled val="1"/>
        </dgm:presLayoutVars>
      </dgm:prSet>
      <dgm:spPr/>
    </dgm:pt>
    <dgm:pt modelId="{F28AD8FC-5D72-488A-8E8A-61F51D472B3D}" type="pres">
      <dgm:prSet presAssocID="{871D2E08-8986-4D57-B01F-126B48465A2C}" presName="sibTrans" presStyleCnt="0"/>
      <dgm:spPr/>
    </dgm:pt>
    <dgm:pt modelId="{E01F287E-0DC9-4D20-8275-A4A699A6176F}" type="pres">
      <dgm:prSet presAssocID="{4CCCA2C8-4B00-405C-AE3A-9A7B13487CE2}" presName="composite" presStyleCnt="0">
        <dgm:presLayoutVars>
          <dgm:chMax val="1"/>
          <dgm:chPref val="1"/>
        </dgm:presLayoutVars>
      </dgm:prSet>
      <dgm:spPr/>
    </dgm:pt>
    <dgm:pt modelId="{FF040796-1AD1-4ADB-A3EC-614B71D12AC6}" type="pres">
      <dgm:prSet presAssocID="{4CCCA2C8-4B00-405C-AE3A-9A7B13487CE2}" presName="Accent" presStyleLbl="trAlignAcc1" presStyleIdx="2" presStyleCnt="3">
        <dgm:presLayoutVars>
          <dgm:chMax val="0"/>
          <dgm:chPref val="0"/>
        </dgm:presLayoutVars>
      </dgm:prSet>
      <dgm:spPr/>
    </dgm:pt>
    <dgm:pt modelId="{597087CC-C98D-4D61-B068-DE41E196529F}" type="pres">
      <dgm:prSet presAssocID="{4CCCA2C8-4B00-405C-AE3A-9A7B13487CE2}" presName="Image" presStyleLbl="alignImgPlace1" presStyleIdx="2" presStyleCnt="3">
        <dgm:presLayoutVars>
          <dgm:chMax val="0"/>
          <dgm:chPref val="0"/>
        </dgm:presLayoutVars>
      </dgm:prSet>
      <dgm:spPr>
        <a:blipFill>
          <a:blip xmlns:r="http://schemas.openxmlformats.org/officeDocument/2006/relationships" r:embed="rId3"/>
          <a:srcRect/>
          <a:stretch>
            <a:fillRect t="-9000" b="-9000"/>
          </a:stretch>
        </a:blipFill>
      </dgm:spPr>
    </dgm:pt>
    <dgm:pt modelId="{037029AE-80F5-43E6-AB51-B3CC696D1547}" type="pres">
      <dgm:prSet presAssocID="{4CCCA2C8-4B00-405C-AE3A-9A7B13487CE2}" presName="ChildComposite" presStyleCnt="0"/>
      <dgm:spPr/>
    </dgm:pt>
    <dgm:pt modelId="{3BCE3F62-C0A5-44ED-BEC3-89835E81E17A}" type="pres">
      <dgm:prSet presAssocID="{4CCCA2C8-4B00-405C-AE3A-9A7B13487CE2}" presName="Child" presStyleLbl="node1" presStyleIdx="2" presStyleCnt="3">
        <dgm:presLayoutVars>
          <dgm:chMax val="0"/>
          <dgm:chPref val="0"/>
          <dgm:bulletEnabled val="1"/>
        </dgm:presLayoutVars>
      </dgm:prSet>
      <dgm:spPr/>
    </dgm:pt>
    <dgm:pt modelId="{EDB797C2-3FDD-41D1-A3F1-116D37397FAB}" type="pres">
      <dgm:prSet presAssocID="{4CCCA2C8-4B00-405C-AE3A-9A7B13487CE2}" presName="Parent" presStyleLbl="revTx" presStyleIdx="2" presStyleCnt="3">
        <dgm:presLayoutVars>
          <dgm:chMax val="1"/>
          <dgm:chPref val="0"/>
          <dgm:bulletEnabled val="1"/>
        </dgm:presLayoutVars>
      </dgm:prSet>
      <dgm:spPr/>
    </dgm:pt>
  </dgm:ptLst>
  <dgm:cxnLst>
    <dgm:cxn modelId="{544A1C35-124D-4F1E-8C66-A5B90BA5CEBD}" type="presOf" srcId="{AD2A4B16-0175-4147-A788-F0A18EADEA9A}" destId="{AD77C35C-7E47-4D30-BBF2-0106E6B5AD1D}" srcOrd="0" destOrd="0" presId="urn:microsoft.com/office/officeart/2008/layout/CaptionedPictures"/>
    <dgm:cxn modelId="{F9E0E25F-84FE-4360-ACF8-49035AB6CFBE}" type="presOf" srcId="{70019997-2DF2-4378-AEAC-7DF956BA6967}" destId="{AD77C35C-7E47-4D30-BBF2-0106E6B5AD1D}" srcOrd="0" destOrd="1" presId="urn:microsoft.com/office/officeart/2008/layout/CaptionedPictures"/>
    <dgm:cxn modelId="{F1D06D41-97EB-4C19-823E-31C06AC60AB0}" srcId="{BC7CCC39-99B3-4077-92E4-B4C54FFE7DBF}" destId="{55781AC0-6676-4F7C-BD64-3272B2393068}" srcOrd="1" destOrd="0" parTransId="{DCFC7ED7-FDDE-475F-822B-F36E029F4654}" sibTransId="{1DB78806-2B6B-4C5D-BED9-C626A2BA1DFA}"/>
    <dgm:cxn modelId="{1017D063-AD15-4E25-B520-0DF942F2B106}" type="presOf" srcId="{BC7CCC39-99B3-4077-92E4-B4C54FFE7DBF}" destId="{E136DF8C-D1DB-4C48-9240-BD42223BD201}" srcOrd="0" destOrd="0" presId="urn:microsoft.com/office/officeart/2008/layout/CaptionedPictures"/>
    <dgm:cxn modelId="{7337AB65-5C64-404F-87C5-7ABD7F850C1B}" srcId="{BC7CCC39-99B3-4077-92E4-B4C54FFE7DBF}" destId="{FA7EC4AF-46C8-4BE1-8537-1ACA04C5263D}" srcOrd="0" destOrd="0" parTransId="{FA45D412-47C4-49CF-ADAC-82FE5E508F49}" sibTransId="{C7029CE2-A685-4B34-9786-823106BD866D}"/>
    <dgm:cxn modelId="{3B18214B-0959-44D1-9513-918E5DB930C7}" srcId="{65C19C58-31BA-49AC-8B8F-ECE045733DBA}" destId="{4CCCA2C8-4B00-405C-AE3A-9A7B13487CE2}" srcOrd="2" destOrd="0" parTransId="{90CA1F91-3CD4-45AE-9F5A-64FFC910A55A}" sibTransId="{B8A835DF-CD9B-4060-8938-C437663AA840}"/>
    <dgm:cxn modelId="{DB186A52-F201-4512-8734-BBBE87FEE4F1}" type="presOf" srcId="{4CCCA2C8-4B00-405C-AE3A-9A7B13487CE2}" destId="{EDB797C2-3FDD-41D1-A3F1-116D37397FAB}" srcOrd="0" destOrd="0" presId="urn:microsoft.com/office/officeart/2008/layout/CaptionedPictures"/>
    <dgm:cxn modelId="{A1834C52-F995-4B1E-8F3B-D25D5073CFD6}" type="presOf" srcId="{65C19C58-31BA-49AC-8B8F-ECE045733DBA}" destId="{7A04C77A-5726-4FED-9967-83B038E7E84B}" srcOrd="0" destOrd="0" presId="urn:microsoft.com/office/officeart/2008/layout/CaptionedPictures"/>
    <dgm:cxn modelId="{CC34117D-9E63-47F0-9635-AB5AAD1EE1CC}" srcId="{4CCCA2C8-4B00-405C-AE3A-9A7B13487CE2}" destId="{0F6B5DE3-AB7F-47FB-96BD-B205D6288E8C}" srcOrd="1" destOrd="0" parTransId="{4F46B828-8C54-4BDC-88FD-895785129323}" sibTransId="{9E7C8ED5-8C37-42DB-9AF8-2609FADDCCA7}"/>
    <dgm:cxn modelId="{E0D44A7E-646F-4E14-A243-E1145AFEF11A}" srcId="{65C19C58-31BA-49AC-8B8F-ECE045733DBA}" destId="{9563DFE9-F088-4432-850E-07466291F6DA}" srcOrd="1" destOrd="0" parTransId="{A4F582B3-123E-46F5-895E-F9FCAD0F40F1}" sibTransId="{871D2E08-8986-4D57-B01F-126B48465A2C}"/>
    <dgm:cxn modelId="{1247259E-8ED4-4EE1-86A3-E70DEAEE409E}" srcId="{9563DFE9-F088-4432-850E-07466291F6DA}" destId="{AD2A4B16-0175-4147-A788-F0A18EADEA9A}" srcOrd="0" destOrd="0" parTransId="{1F01AB3D-1F6F-4912-87FB-8161D5B2B410}" sibTransId="{91AE664E-193F-437A-92C7-656280A54C35}"/>
    <dgm:cxn modelId="{E3A143A3-3FC2-400A-8F7A-E9670963322D}" type="presOf" srcId="{FA7EC4AF-46C8-4BE1-8537-1ACA04C5263D}" destId="{30369D29-5851-4F5A-89A8-A1FEF75330DD}" srcOrd="0" destOrd="0" presId="urn:microsoft.com/office/officeart/2008/layout/CaptionedPictures"/>
    <dgm:cxn modelId="{D44F90AE-BAC4-4C9B-8C14-F60C12CF9614}" srcId="{65C19C58-31BA-49AC-8B8F-ECE045733DBA}" destId="{BC7CCC39-99B3-4077-92E4-B4C54FFE7DBF}" srcOrd="0" destOrd="0" parTransId="{507E72B2-D876-417F-B8FE-ADFAD0B758D0}" sibTransId="{4592CE00-5DF3-4ED2-9FD3-D2000E67DBA7}"/>
    <dgm:cxn modelId="{BBE654BF-6D39-4768-B80B-1FA6FBCE85D2}" srcId="{4CCCA2C8-4B00-405C-AE3A-9A7B13487CE2}" destId="{810BC362-90F6-4B23-9D68-CBE1434F2906}" srcOrd="0" destOrd="0" parTransId="{211542DF-C281-4448-B338-74F34AA76124}" sibTransId="{B3545EE0-C887-4A1D-BC63-DA83C15D640A}"/>
    <dgm:cxn modelId="{F9469EC9-AA9F-428B-8157-D061EAE97B8C}" type="presOf" srcId="{810BC362-90F6-4B23-9D68-CBE1434F2906}" destId="{3BCE3F62-C0A5-44ED-BEC3-89835E81E17A}" srcOrd="0" destOrd="0" presId="urn:microsoft.com/office/officeart/2008/layout/CaptionedPictures"/>
    <dgm:cxn modelId="{C70199CB-DF3B-46D7-87FE-7BAE2EED5ED3}" type="presOf" srcId="{9563DFE9-F088-4432-850E-07466291F6DA}" destId="{F24A334F-23E1-4C7A-8933-4FBF6E1B0CB8}" srcOrd="0" destOrd="0" presId="urn:microsoft.com/office/officeart/2008/layout/CaptionedPictures"/>
    <dgm:cxn modelId="{040746E9-0B44-47D2-AB72-AE99F8B6DA28}" type="presOf" srcId="{0F6B5DE3-AB7F-47FB-96BD-B205D6288E8C}" destId="{3BCE3F62-C0A5-44ED-BEC3-89835E81E17A}" srcOrd="0" destOrd="1" presId="urn:microsoft.com/office/officeart/2008/layout/CaptionedPictures"/>
    <dgm:cxn modelId="{0818B8F1-E6B1-4595-A490-3612814E3A41}" type="presOf" srcId="{55781AC0-6676-4F7C-BD64-3272B2393068}" destId="{30369D29-5851-4F5A-89A8-A1FEF75330DD}" srcOrd="0" destOrd="1" presId="urn:microsoft.com/office/officeart/2008/layout/CaptionedPictures"/>
    <dgm:cxn modelId="{ED7F59F6-6AD2-49D9-B39A-0D4A0EC8354B}" srcId="{9563DFE9-F088-4432-850E-07466291F6DA}" destId="{70019997-2DF2-4378-AEAC-7DF956BA6967}" srcOrd="1" destOrd="0" parTransId="{D981B3A1-1AA2-42D1-9060-3504AE3A3AFD}" sibTransId="{DF84FE96-80FE-402E-AC96-26B206CA1680}"/>
    <dgm:cxn modelId="{16CB960D-A4D8-4005-8DC1-3A4BAA018C02}" type="presParOf" srcId="{7A04C77A-5726-4FED-9967-83B038E7E84B}" destId="{1C570E93-47A0-436A-9418-B76F5CDDD29F}" srcOrd="0" destOrd="0" presId="urn:microsoft.com/office/officeart/2008/layout/CaptionedPictures"/>
    <dgm:cxn modelId="{2B1B0ABE-FDCC-475E-B9F3-BEE1940102D8}" type="presParOf" srcId="{1C570E93-47A0-436A-9418-B76F5CDDD29F}" destId="{CE7BAC15-DC59-4FF0-A35E-63B19A7584AF}" srcOrd="0" destOrd="0" presId="urn:microsoft.com/office/officeart/2008/layout/CaptionedPictures"/>
    <dgm:cxn modelId="{C7C19DAB-DAF8-4B97-9766-5E3922179C93}" type="presParOf" srcId="{1C570E93-47A0-436A-9418-B76F5CDDD29F}" destId="{2DF05040-81DA-48BC-9673-8AF4C20552F0}" srcOrd="1" destOrd="0" presId="urn:microsoft.com/office/officeart/2008/layout/CaptionedPictures"/>
    <dgm:cxn modelId="{B1939ABF-7B4F-48A2-A31E-5ACEDEAE0DE3}" type="presParOf" srcId="{1C570E93-47A0-436A-9418-B76F5CDDD29F}" destId="{3CCE2650-1700-4130-B8E0-C7411250E7B3}" srcOrd="2" destOrd="0" presId="urn:microsoft.com/office/officeart/2008/layout/CaptionedPictures"/>
    <dgm:cxn modelId="{CDE29AEA-58AE-4CD0-BEFB-B1DE7DE65B2F}" type="presParOf" srcId="{3CCE2650-1700-4130-B8E0-C7411250E7B3}" destId="{30369D29-5851-4F5A-89A8-A1FEF75330DD}" srcOrd="0" destOrd="0" presId="urn:microsoft.com/office/officeart/2008/layout/CaptionedPictures"/>
    <dgm:cxn modelId="{76C23F34-D7B5-42D7-87DE-C7808CB231CF}" type="presParOf" srcId="{3CCE2650-1700-4130-B8E0-C7411250E7B3}" destId="{E136DF8C-D1DB-4C48-9240-BD42223BD201}" srcOrd="1" destOrd="0" presId="urn:microsoft.com/office/officeart/2008/layout/CaptionedPictures"/>
    <dgm:cxn modelId="{224D7039-22FE-4AEE-B1D5-ADC02EDE4A52}" type="presParOf" srcId="{7A04C77A-5726-4FED-9967-83B038E7E84B}" destId="{ED046396-4612-4499-963C-C3C762166ECB}" srcOrd="1" destOrd="0" presId="urn:microsoft.com/office/officeart/2008/layout/CaptionedPictures"/>
    <dgm:cxn modelId="{5F8B9637-4BB0-4C91-AB56-D1F438925C91}" type="presParOf" srcId="{7A04C77A-5726-4FED-9967-83B038E7E84B}" destId="{802F8DB2-4F21-4CAA-B8DC-9A157C93305E}" srcOrd="2" destOrd="0" presId="urn:microsoft.com/office/officeart/2008/layout/CaptionedPictures"/>
    <dgm:cxn modelId="{FAC332E9-882D-4DB5-A7BC-5F6DDF7E2748}" type="presParOf" srcId="{802F8DB2-4F21-4CAA-B8DC-9A157C93305E}" destId="{61729CCB-9515-4519-A792-EAB84117191A}" srcOrd="0" destOrd="0" presId="urn:microsoft.com/office/officeart/2008/layout/CaptionedPictures"/>
    <dgm:cxn modelId="{EA76A7A1-6296-4873-8660-705ADE69EC60}" type="presParOf" srcId="{802F8DB2-4F21-4CAA-B8DC-9A157C93305E}" destId="{02D1F558-C992-4F85-8E17-FBA9661CA627}" srcOrd="1" destOrd="0" presId="urn:microsoft.com/office/officeart/2008/layout/CaptionedPictures"/>
    <dgm:cxn modelId="{51F3B69D-4EAF-402A-A12A-D53330A45324}" type="presParOf" srcId="{802F8DB2-4F21-4CAA-B8DC-9A157C93305E}" destId="{12ADBEE4-D217-4D9A-BA9F-DE39C0D44F6C}" srcOrd="2" destOrd="0" presId="urn:microsoft.com/office/officeart/2008/layout/CaptionedPictures"/>
    <dgm:cxn modelId="{E32F6F07-9915-443A-A1FB-EED5DFFDD83B}" type="presParOf" srcId="{12ADBEE4-D217-4D9A-BA9F-DE39C0D44F6C}" destId="{AD77C35C-7E47-4D30-BBF2-0106E6B5AD1D}" srcOrd="0" destOrd="0" presId="urn:microsoft.com/office/officeart/2008/layout/CaptionedPictures"/>
    <dgm:cxn modelId="{C5FE0058-2B2D-4F3F-8D42-A6956505AC61}" type="presParOf" srcId="{12ADBEE4-D217-4D9A-BA9F-DE39C0D44F6C}" destId="{F24A334F-23E1-4C7A-8933-4FBF6E1B0CB8}" srcOrd="1" destOrd="0" presId="urn:microsoft.com/office/officeart/2008/layout/CaptionedPictures"/>
    <dgm:cxn modelId="{C1FEA2ED-331D-4926-BD8A-E0F94E2372B0}" type="presParOf" srcId="{7A04C77A-5726-4FED-9967-83B038E7E84B}" destId="{F28AD8FC-5D72-488A-8E8A-61F51D472B3D}" srcOrd="3" destOrd="0" presId="urn:microsoft.com/office/officeart/2008/layout/CaptionedPictures"/>
    <dgm:cxn modelId="{36249DF8-DED9-4272-9270-404C40CDD9CB}" type="presParOf" srcId="{7A04C77A-5726-4FED-9967-83B038E7E84B}" destId="{E01F287E-0DC9-4D20-8275-A4A699A6176F}" srcOrd="4" destOrd="0" presId="urn:microsoft.com/office/officeart/2008/layout/CaptionedPictures"/>
    <dgm:cxn modelId="{ADAFFA8E-337E-46E1-8364-CAA7FB7562C7}" type="presParOf" srcId="{E01F287E-0DC9-4D20-8275-A4A699A6176F}" destId="{FF040796-1AD1-4ADB-A3EC-614B71D12AC6}" srcOrd="0" destOrd="0" presId="urn:microsoft.com/office/officeart/2008/layout/CaptionedPictures"/>
    <dgm:cxn modelId="{BFBB8F7D-8124-4539-A1A6-D7232E70A027}" type="presParOf" srcId="{E01F287E-0DC9-4D20-8275-A4A699A6176F}" destId="{597087CC-C98D-4D61-B068-DE41E196529F}" srcOrd="1" destOrd="0" presId="urn:microsoft.com/office/officeart/2008/layout/CaptionedPictures"/>
    <dgm:cxn modelId="{7D50A3C2-5ACE-49CF-BD70-60BD5E1ED12A}" type="presParOf" srcId="{E01F287E-0DC9-4D20-8275-A4A699A6176F}" destId="{037029AE-80F5-43E6-AB51-B3CC696D1547}" srcOrd="2" destOrd="0" presId="urn:microsoft.com/office/officeart/2008/layout/CaptionedPictures"/>
    <dgm:cxn modelId="{68229262-FDE5-4D66-B629-CFACC89B8A98}" type="presParOf" srcId="{037029AE-80F5-43E6-AB51-B3CC696D1547}" destId="{3BCE3F62-C0A5-44ED-BEC3-89835E81E17A}" srcOrd="0" destOrd="0" presId="urn:microsoft.com/office/officeart/2008/layout/CaptionedPictures"/>
    <dgm:cxn modelId="{1007D869-8DBF-4051-B45C-562DFD86447F}" type="presParOf" srcId="{037029AE-80F5-43E6-AB51-B3CC696D1547}" destId="{EDB797C2-3FDD-41D1-A3F1-116D37397FAB}" srcOrd="1" destOrd="0" presId="urn:microsoft.com/office/officeart/2008/layout/CaptionedPicture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A8184BF-63E2-429E-8747-65CBDE3FC26E}" type="doc">
      <dgm:prSet loTypeId="urn:microsoft.com/office/officeart/2005/8/layout/list1" loCatId="list" qsTypeId="urn:microsoft.com/office/officeart/2005/8/quickstyle/simple4" qsCatId="simple" csTypeId="urn:microsoft.com/office/officeart/2005/8/colors/accent1_2" csCatId="accent1" phldr="1"/>
      <dgm:spPr/>
      <dgm:t>
        <a:bodyPr/>
        <a:lstStyle/>
        <a:p>
          <a:endParaRPr lang="en-NL"/>
        </a:p>
      </dgm:t>
    </dgm:pt>
    <dgm:pt modelId="{A415B67E-F104-42EA-A9A3-BFEC406D7D64}">
      <dgm:prSet phldrT="[Text]" custT="1"/>
      <dgm:spPr/>
      <dgm:t>
        <a:bodyPr/>
        <a:lstStyle/>
        <a:p>
          <a:r>
            <a:rPr lang="en-US" sz="1600" b="1" dirty="0"/>
            <a:t>What Amir wants</a:t>
          </a:r>
          <a:endParaRPr lang="en-NL" sz="1600" b="1" dirty="0"/>
        </a:p>
      </dgm:t>
    </dgm:pt>
    <dgm:pt modelId="{4B9F91CA-B1E7-49DA-AE16-B2F1CC218D07}" type="parTrans" cxnId="{265D1EEB-83FB-4E33-866E-502035E6B645}">
      <dgm:prSet/>
      <dgm:spPr/>
      <dgm:t>
        <a:bodyPr/>
        <a:lstStyle/>
        <a:p>
          <a:endParaRPr lang="en-NL" sz="2000"/>
        </a:p>
      </dgm:t>
    </dgm:pt>
    <dgm:pt modelId="{093F009A-2733-4BFD-8392-D91CA2262EDD}" type="sibTrans" cxnId="{265D1EEB-83FB-4E33-866E-502035E6B645}">
      <dgm:prSet/>
      <dgm:spPr/>
      <dgm:t>
        <a:bodyPr/>
        <a:lstStyle/>
        <a:p>
          <a:endParaRPr lang="en-NL" sz="2000"/>
        </a:p>
      </dgm:t>
    </dgm:pt>
    <dgm:pt modelId="{4E9CED58-F85B-47DC-BE97-7CBD780D01DB}">
      <dgm:prSet custT="1"/>
      <dgm:spPr/>
      <dgm:t>
        <a:bodyPr rIns="360000"/>
        <a:lstStyle/>
        <a:p>
          <a:r>
            <a:rPr lang="en-US" sz="1600" dirty="0"/>
            <a:t>Find the dataset column for biological sex so he can build a cohort that fits his research question.</a:t>
          </a:r>
          <a:endParaRPr lang="en-NL" sz="1600" dirty="0"/>
        </a:p>
      </dgm:t>
    </dgm:pt>
    <dgm:pt modelId="{60371E05-67CA-472D-B789-54B3ED2FEFE7}" type="parTrans" cxnId="{DEF70732-B649-43CF-BED8-70DC2DEE0D4B}">
      <dgm:prSet/>
      <dgm:spPr/>
      <dgm:t>
        <a:bodyPr/>
        <a:lstStyle/>
        <a:p>
          <a:endParaRPr lang="en-NL" sz="2000"/>
        </a:p>
      </dgm:t>
    </dgm:pt>
    <dgm:pt modelId="{D6CF6D9D-77F7-40FA-BE15-0717A86A4F98}" type="sibTrans" cxnId="{DEF70732-B649-43CF-BED8-70DC2DEE0D4B}">
      <dgm:prSet/>
      <dgm:spPr/>
      <dgm:t>
        <a:bodyPr/>
        <a:lstStyle/>
        <a:p>
          <a:endParaRPr lang="en-NL" sz="2000"/>
        </a:p>
      </dgm:t>
    </dgm:pt>
    <dgm:pt modelId="{1E4A9A01-86F4-474F-89B1-FF6775CEC3BB}">
      <dgm:prSet custT="1"/>
      <dgm:spPr/>
      <dgm:t>
        <a:bodyPr/>
        <a:lstStyle/>
        <a:p>
          <a:r>
            <a:rPr lang="en-US" sz="1600" b="1" dirty="0"/>
            <a:t>Amir’s challenge</a:t>
          </a:r>
          <a:endParaRPr lang="en-NL" sz="1600" b="1" dirty="0"/>
        </a:p>
      </dgm:t>
    </dgm:pt>
    <dgm:pt modelId="{B39439A0-CEA2-4214-BF45-C2F538C15ED9}" type="parTrans" cxnId="{452CFD26-4462-4A20-AF8D-7D609A50201D}">
      <dgm:prSet/>
      <dgm:spPr/>
      <dgm:t>
        <a:bodyPr/>
        <a:lstStyle/>
        <a:p>
          <a:endParaRPr lang="en-NL" sz="2000"/>
        </a:p>
      </dgm:t>
    </dgm:pt>
    <dgm:pt modelId="{9B87EF37-EC94-44ED-9A8C-877793FDCD3A}" type="sibTrans" cxnId="{452CFD26-4462-4A20-AF8D-7D609A50201D}">
      <dgm:prSet/>
      <dgm:spPr/>
      <dgm:t>
        <a:bodyPr/>
        <a:lstStyle/>
        <a:p>
          <a:endParaRPr lang="en-NL" sz="2000"/>
        </a:p>
      </dgm:t>
    </dgm:pt>
    <dgm:pt modelId="{A1E51513-186F-4AAE-9201-E66DF47E63FA}">
      <dgm:prSet custT="1"/>
      <dgm:spPr/>
      <dgm:t>
        <a:bodyPr rIns="360000"/>
        <a:lstStyle/>
        <a:p>
          <a:r>
            <a:rPr lang="en-US" sz="1600" dirty="0"/>
            <a:t>Several datasets appear relevant, but their sex/gender-related columns represent different meanings, making label-based selection unsafe.</a:t>
          </a:r>
          <a:endParaRPr lang="en-NL" sz="1600" dirty="0"/>
        </a:p>
      </dgm:t>
    </dgm:pt>
    <dgm:pt modelId="{935CE4F4-2F72-4EFB-84BA-B25A84312BF6}" type="parTrans" cxnId="{488F43D1-A627-49FE-9B2A-70118C52431A}">
      <dgm:prSet/>
      <dgm:spPr/>
      <dgm:t>
        <a:bodyPr/>
        <a:lstStyle/>
        <a:p>
          <a:endParaRPr lang="en-NL" sz="2000"/>
        </a:p>
      </dgm:t>
    </dgm:pt>
    <dgm:pt modelId="{44BD7164-0609-473B-B2C7-9A9EBDC632F3}" type="sibTrans" cxnId="{488F43D1-A627-49FE-9B2A-70118C52431A}">
      <dgm:prSet/>
      <dgm:spPr/>
      <dgm:t>
        <a:bodyPr/>
        <a:lstStyle/>
        <a:p>
          <a:endParaRPr lang="en-NL" sz="2000"/>
        </a:p>
      </dgm:t>
    </dgm:pt>
    <dgm:pt modelId="{C62D59E6-7871-46F1-8420-9A12EC95A362}">
      <dgm:prSet custT="1"/>
      <dgm:spPr/>
      <dgm:t>
        <a:bodyPr/>
        <a:lstStyle/>
        <a:p>
          <a:r>
            <a:rPr lang="en-US" sz="1600" b="1" dirty="0"/>
            <a:t>Guiding question</a:t>
          </a:r>
          <a:endParaRPr lang="en-NL" sz="1600" b="1" dirty="0"/>
        </a:p>
      </dgm:t>
    </dgm:pt>
    <dgm:pt modelId="{FD6851B4-0B39-41B2-A9C1-3561324E4540}" type="parTrans" cxnId="{B05E24E6-EB14-46C0-BE67-1B3E6EC1C329}">
      <dgm:prSet/>
      <dgm:spPr/>
      <dgm:t>
        <a:bodyPr/>
        <a:lstStyle/>
        <a:p>
          <a:endParaRPr lang="en-NL" sz="2000"/>
        </a:p>
      </dgm:t>
    </dgm:pt>
    <dgm:pt modelId="{1072FA27-DCC8-4833-A515-48D846CF4D74}" type="sibTrans" cxnId="{B05E24E6-EB14-46C0-BE67-1B3E6EC1C329}">
      <dgm:prSet/>
      <dgm:spPr/>
      <dgm:t>
        <a:bodyPr/>
        <a:lstStyle/>
        <a:p>
          <a:endParaRPr lang="en-NL" sz="2000"/>
        </a:p>
      </dgm:t>
    </dgm:pt>
    <dgm:pt modelId="{E29D86F5-5350-4022-A1D1-67962E8E8A24}">
      <dgm:prSet custT="1"/>
      <dgm:spPr/>
      <dgm:t>
        <a:bodyPr rIns="360000"/>
        <a:lstStyle/>
        <a:p>
          <a:r>
            <a:rPr lang="en-US" sz="1600" dirty="0"/>
            <a:t>Which dataset contains the variable that represents biological sex?</a:t>
          </a:r>
          <a:endParaRPr lang="en-NL" sz="1600" dirty="0"/>
        </a:p>
      </dgm:t>
    </dgm:pt>
    <dgm:pt modelId="{C2C0C560-089A-4F19-A5FA-C0CEBA6B94DF}" type="parTrans" cxnId="{17A3D074-36B5-4A50-9687-62A55E114A3B}">
      <dgm:prSet/>
      <dgm:spPr/>
      <dgm:t>
        <a:bodyPr/>
        <a:lstStyle/>
        <a:p>
          <a:endParaRPr lang="en-NL" sz="2000"/>
        </a:p>
      </dgm:t>
    </dgm:pt>
    <dgm:pt modelId="{D39ABD6A-F148-412F-A67E-AB02D137C166}" type="sibTrans" cxnId="{17A3D074-36B5-4A50-9687-62A55E114A3B}">
      <dgm:prSet/>
      <dgm:spPr/>
      <dgm:t>
        <a:bodyPr/>
        <a:lstStyle/>
        <a:p>
          <a:endParaRPr lang="en-NL" sz="2000"/>
        </a:p>
      </dgm:t>
    </dgm:pt>
    <dgm:pt modelId="{70760479-1BFC-4D55-8DB3-D1D5148801F4}" type="pres">
      <dgm:prSet presAssocID="{DA8184BF-63E2-429E-8747-65CBDE3FC26E}" presName="linear" presStyleCnt="0">
        <dgm:presLayoutVars>
          <dgm:dir/>
          <dgm:animLvl val="lvl"/>
          <dgm:resizeHandles val="exact"/>
        </dgm:presLayoutVars>
      </dgm:prSet>
      <dgm:spPr/>
    </dgm:pt>
    <dgm:pt modelId="{0FB47452-0B64-44DE-9F99-5904AEC477D1}" type="pres">
      <dgm:prSet presAssocID="{A415B67E-F104-42EA-A9A3-BFEC406D7D64}" presName="parentLin" presStyleCnt="0"/>
      <dgm:spPr/>
    </dgm:pt>
    <dgm:pt modelId="{F6B01EF7-6244-47A9-BD13-2BCE9C94FD64}" type="pres">
      <dgm:prSet presAssocID="{A415B67E-F104-42EA-A9A3-BFEC406D7D64}" presName="parentLeftMargin" presStyleLbl="node1" presStyleIdx="0" presStyleCnt="3"/>
      <dgm:spPr/>
    </dgm:pt>
    <dgm:pt modelId="{1896D6C0-E9DC-4DD7-B530-F34E35DCE937}" type="pres">
      <dgm:prSet presAssocID="{A415B67E-F104-42EA-A9A3-BFEC406D7D64}" presName="parentText" presStyleLbl="node1" presStyleIdx="0" presStyleCnt="3">
        <dgm:presLayoutVars>
          <dgm:chMax val="0"/>
          <dgm:bulletEnabled val="1"/>
        </dgm:presLayoutVars>
      </dgm:prSet>
      <dgm:spPr/>
    </dgm:pt>
    <dgm:pt modelId="{5997FC83-DE70-4548-A57D-070067EF1758}" type="pres">
      <dgm:prSet presAssocID="{A415B67E-F104-42EA-A9A3-BFEC406D7D64}" presName="negativeSpace" presStyleCnt="0"/>
      <dgm:spPr/>
    </dgm:pt>
    <dgm:pt modelId="{55671F25-5BBC-4F6F-89C4-299D3C530187}" type="pres">
      <dgm:prSet presAssocID="{A415B67E-F104-42EA-A9A3-BFEC406D7D64}" presName="childText" presStyleLbl="conFgAcc1" presStyleIdx="0" presStyleCnt="3">
        <dgm:presLayoutVars>
          <dgm:bulletEnabled val="1"/>
        </dgm:presLayoutVars>
      </dgm:prSet>
      <dgm:spPr/>
    </dgm:pt>
    <dgm:pt modelId="{C6AFABC9-A8C2-41BF-9038-592ECD416A05}" type="pres">
      <dgm:prSet presAssocID="{093F009A-2733-4BFD-8392-D91CA2262EDD}" presName="spaceBetweenRectangles" presStyleCnt="0"/>
      <dgm:spPr/>
    </dgm:pt>
    <dgm:pt modelId="{AD6E64AD-11D3-472E-A155-7390E5951BAD}" type="pres">
      <dgm:prSet presAssocID="{1E4A9A01-86F4-474F-89B1-FF6775CEC3BB}" presName="parentLin" presStyleCnt="0"/>
      <dgm:spPr/>
    </dgm:pt>
    <dgm:pt modelId="{61C4A0F6-CA49-417A-A9DB-41D7B37FF99C}" type="pres">
      <dgm:prSet presAssocID="{1E4A9A01-86F4-474F-89B1-FF6775CEC3BB}" presName="parentLeftMargin" presStyleLbl="node1" presStyleIdx="0" presStyleCnt="3"/>
      <dgm:spPr/>
    </dgm:pt>
    <dgm:pt modelId="{0CF6AE3D-03CE-431F-A922-A447EA781693}" type="pres">
      <dgm:prSet presAssocID="{1E4A9A01-86F4-474F-89B1-FF6775CEC3BB}" presName="parentText" presStyleLbl="node1" presStyleIdx="1" presStyleCnt="3">
        <dgm:presLayoutVars>
          <dgm:chMax val="0"/>
          <dgm:bulletEnabled val="1"/>
        </dgm:presLayoutVars>
      </dgm:prSet>
      <dgm:spPr/>
    </dgm:pt>
    <dgm:pt modelId="{9619BC65-8D39-4121-8B55-C5E294232E59}" type="pres">
      <dgm:prSet presAssocID="{1E4A9A01-86F4-474F-89B1-FF6775CEC3BB}" presName="negativeSpace" presStyleCnt="0"/>
      <dgm:spPr/>
    </dgm:pt>
    <dgm:pt modelId="{29199882-8BA9-4FD0-A527-B04ADB500502}" type="pres">
      <dgm:prSet presAssocID="{1E4A9A01-86F4-474F-89B1-FF6775CEC3BB}" presName="childText" presStyleLbl="conFgAcc1" presStyleIdx="1" presStyleCnt="3">
        <dgm:presLayoutVars>
          <dgm:bulletEnabled val="1"/>
        </dgm:presLayoutVars>
      </dgm:prSet>
      <dgm:spPr/>
    </dgm:pt>
    <dgm:pt modelId="{F163B1A3-644B-4D0B-A3E4-089D4005A057}" type="pres">
      <dgm:prSet presAssocID="{9B87EF37-EC94-44ED-9A8C-877793FDCD3A}" presName="spaceBetweenRectangles" presStyleCnt="0"/>
      <dgm:spPr/>
    </dgm:pt>
    <dgm:pt modelId="{8D476E7B-2C6C-4381-8A2E-6A546A3D28CB}" type="pres">
      <dgm:prSet presAssocID="{C62D59E6-7871-46F1-8420-9A12EC95A362}" presName="parentLin" presStyleCnt="0"/>
      <dgm:spPr/>
    </dgm:pt>
    <dgm:pt modelId="{85022BC7-25BB-41B4-82F5-31AFAB987AFF}" type="pres">
      <dgm:prSet presAssocID="{C62D59E6-7871-46F1-8420-9A12EC95A362}" presName="parentLeftMargin" presStyleLbl="node1" presStyleIdx="1" presStyleCnt="3"/>
      <dgm:spPr/>
    </dgm:pt>
    <dgm:pt modelId="{03B6A27A-BCF3-4996-BE8C-329DFF7660A8}" type="pres">
      <dgm:prSet presAssocID="{C62D59E6-7871-46F1-8420-9A12EC95A362}" presName="parentText" presStyleLbl="node1" presStyleIdx="2" presStyleCnt="3">
        <dgm:presLayoutVars>
          <dgm:chMax val="0"/>
          <dgm:bulletEnabled val="1"/>
        </dgm:presLayoutVars>
      </dgm:prSet>
      <dgm:spPr/>
    </dgm:pt>
    <dgm:pt modelId="{9E8E8BE6-5823-48C7-9E77-5332502C7E0F}" type="pres">
      <dgm:prSet presAssocID="{C62D59E6-7871-46F1-8420-9A12EC95A362}" presName="negativeSpace" presStyleCnt="0"/>
      <dgm:spPr/>
    </dgm:pt>
    <dgm:pt modelId="{7270368B-11BF-43FD-856C-9A4B99956B80}" type="pres">
      <dgm:prSet presAssocID="{C62D59E6-7871-46F1-8420-9A12EC95A362}" presName="childText" presStyleLbl="conFgAcc1" presStyleIdx="2" presStyleCnt="3">
        <dgm:presLayoutVars>
          <dgm:bulletEnabled val="1"/>
        </dgm:presLayoutVars>
      </dgm:prSet>
      <dgm:spPr/>
    </dgm:pt>
  </dgm:ptLst>
  <dgm:cxnLst>
    <dgm:cxn modelId="{452CFD26-4462-4A20-AF8D-7D609A50201D}" srcId="{DA8184BF-63E2-429E-8747-65CBDE3FC26E}" destId="{1E4A9A01-86F4-474F-89B1-FF6775CEC3BB}" srcOrd="1" destOrd="0" parTransId="{B39439A0-CEA2-4214-BF45-C2F538C15ED9}" sibTransId="{9B87EF37-EC94-44ED-9A8C-877793FDCD3A}"/>
    <dgm:cxn modelId="{DEF70732-B649-43CF-BED8-70DC2DEE0D4B}" srcId="{A415B67E-F104-42EA-A9A3-BFEC406D7D64}" destId="{4E9CED58-F85B-47DC-BE97-7CBD780D01DB}" srcOrd="0" destOrd="0" parTransId="{60371E05-67CA-472D-B789-54B3ED2FEFE7}" sibTransId="{D6CF6D9D-77F7-40FA-BE15-0717A86A4F98}"/>
    <dgm:cxn modelId="{67F7C73C-8F92-4FF7-BC30-C5BA9679B5CA}" type="presOf" srcId="{A415B67E-F104-42EA-A9A3-BFEC406D7D64}" destId="{F6B01EF7-6244-47A9-BD13-2BCE9C94FD64}" srcOrd="0" destOrd="0" presId="urn:microsoft.com/office/officeart/2005/8/layout/list1"/>
    <dgm:cxn modelId="{4C668344-6BD9-49B6-B087-20C70B9CD6A1}" type="presOf" srcId="{4E9CED58-F85B-47DC-BE97-7CBD780D01DB}" destId="{55671F25-5BBC-4F6F-89C4-299D3C530187}" srcOrd="0" destOrd="0" presId="urn:microsoft.com/office/officeart/2005/8/layout/list1"/>
    <dgm:cxn modelId="{133C626E-AC0B-4118-9157-C3F011003F55}" type="presOf" srcId="{C62D59E6-7871-46F1-8420-9A12EC95A362}" destId="{85022BC7-25BB-41B4-82F5-31AFAB987AFF}" srcOrd="0" destOrd="0" presId="urn:microsoft.com/office/officeart/2005/8/layout/list1"/>
    <dgm:cxn modelId="{969E3F52-538C-4038-9480-980EFEDC226A}" type="presOf" srcId="{C62D59E6-7871-46F1-8420-9A12EC95A362}" destId="{03B6A27A-BCF3-4996-BE8C-329DFF7660A8}" srcOrd="1" destOrd="0" presId="urn:microsoft.com/office/officeart/2005/8/layout/list1"/>
    <dgm:cxn modelId="{17A3D074-36B5-4A50-9687-62A55E114A3B}" srcId="{C62D59E6-7871-46F1-8420-9A12EC95A362}" destId="{E29D86F5-5350-4022-A1D1-67962E8E8A24}" srcOrd="0" destOrd="0" parTransId="{C2C0C560-089A-4F19-A5FA-C0CEBA6B94DF}" sibTransId="{D39ABD6A-F148-412F-A67E-AB02D137C166}"/>
    <dgm:cxn modelId="{44B00A80-21DF-4227-9F43-217BB02B1949}" type="presOf" srcId="{1E4A9A01-86F4-474F-89B1-FF6775CEC3BB}" destId="{61C4A0F6-CA49-417A-A9DB-41D7B37FF99C}" srcOrd="0" destOrd="0" presId="urn:microsoft.com/office/officeart/2005/8/layout/list1"/>
    <dgm:cxn modelId="{5EE2C388-D987-45A5-8070-37ECD98E12AC}" type="presOf" srcId="{E29D86F5-5350-4022-A1D1-67962E8E8A24}" destId="{7270368B-11BF-43FD-856C-9A4B99956B80}" srcOrd="0" destOrd="0" presId="urn:microsoft.com/office/officeart/2005/8/layout/list1"/>
    <dgm:cxn modelId="{26DE0D8F-9B38-4137-BC99-15E260969512}" type="presOf" srcId="{A415B67E-F104-42EA-A9A3-BFEC406D7D64}" destId="{1896D6C0-E9DC-4DD7-B530-F34E35DCE937}" srcOrd="1" destOrd="0" presId="urn:microsoft.com/office/officeart/2005/8/layout/list1"/>
    <dgm:cxn modelId="{2560A595-CC6A-46E8-B35E-723EC2181297}" type="presOf" srcId="{1E4A9A01-86F4-474F-89B1-FF6775CEC3BB}" destId="{0CF6AE3D-03CE-431F-A922-A447EA781693}" srcOrd="1" destOrd="0" presId="urn:microsoft.com/office/officeart/2005/8/layout/list1"/>
    <dgm:cxn modelId="{2200D897-4D2B-4DA1-BA5C-B3532C5DBBE3}" type="presOf" srcId="{DA8184BF-63E2-429E-8747-65CBDE3FC26E}" destId="{70760479-1BFC-4D55-8DB3-D1D5148801F4}" srcOrd="0" destOrd="0" presId="urn:microsoft.com/office/officeart/2005/8/layout/list1"/>
    <dgm:cxn modelId="{D83105B9-4FB7-4F58-8351-FC07D9DBE5AF}" type="presOf" srcId="{A1E51513-186F-4AAE-9201-E66DF47E63FA}" destId="{29199882-8BA9-4FD0-A527-B04ADB500502}" srcOrd="0" destOrd="0" presId="urn:microsoft.com/office/officeart/2005/8/layout/list1"/>
    <dgm:cxn modelId="{488F43D1-A627-49FE-9B2A-70118C52431A}" srcId="{1E4A9A01-86F4-474F-89B1-FF6775CEC3BB}" destId="{A1E51513-186F-4AAE-9201-E66DF47E63FA}" srcOrd="0" destOrd="0" parTransId="{935CE4F4-2F72-4EFB-84BA-B25A84312BF6}" sibTransId="{44BD7164-0609-473B-B2C7-9A9EBDC632F3}"/>
    <dgm:cxn modelId="{B05E24E6-EB14-46C0-BE67-1B3E6EC1C329}" srcId="{DA8184BF-63E2-429E-8747-65CBDE3FC26E}" destId="{C62D59E6-7871-46F1-8420-9A12EC95A362}" srcOrd="2" destOrd="0" parTransId="{FD6851B4-0B39-41B2-A9C1-3561324E4540}" sibTransId="{1072FA27-DCC8-4833-A515-48D846CF4D74}"/>
    <dgm:cxn modelId="{265D1EEB-83FB-4E33-866E-502035E6B645}" srcId="{DA8184BF-63E2-429E-8747-65CBDE3FC26E}" destId="{A415B67E-F104-42EA-A9A3-BFEC406D7D64}" srcOrd="0" destOrd="0" parTransId="{4B9F91CA-B1E7-49DA-AE16-B2F1CC218D07}" sibTransId="{093F009A-2733-4BFD-8392-D91CA2262EDD}"/>
    <dgm:cxn modelId="{471F5CF0-DC9B-4DA8-A2B1-7BF7AF50F7D0}" type="presParOf" srcId="{70760479-1BFC-4D55-8DB3-D1D5148801F4}" destId="{0FB47452-0B64-44DE-9F99-5904AEC477D1}" srcOrd="0" destOrd="0" presId="urn:microsoft.com/office/officeart/2005/8/layout/list1"/>
    <dgm:cxn modelId="{E2D2D6A1-DABF-4D2A-91BD-6BB6A8B32BCE}" type="presParOf" srcId="{0FB47452-0B64-44DE-9F99-5904AEC477D1}" destId="{F6B01EF7-6244-47A9-BD13-2BCE9C94FD64}" srcOrd="0" destOrd="0" presId="urn:microsoft.com/office/officeart/2005/8/layout/list1"/>
    <dgm:cxn modelId="{FF382C37-2900-48E0-96C2-2FBA31D8EE84}" type="presParOf" srcId="{0FB47452-0B64-44DE-9F99-5904AEC477D1}" destId="{1896D6C0-E9DC-4DD7-B530-F34E35DCE937}" srcOrd="1" destOrd="0" presId="urn:microsoft.com/office/officeart/2005/8/layout/list1"/>
    <dgm:cxn modelId="{D9AEDF43-C58B-4407-B0F1-FA366398D9B2}" type="presParOf" srcId="{70760479-1BFC-4D55-8DB3-D1D5148801F4}" destId="{5997FC83-DE70-4548-A57D-070067EF1758}" srcOrd="1" destOrd="0" presId="urn:microsoft.com/office/officeart/2005/8/layout/list1"/>
    <dgm:cxn modelId="{78F14564-B7C0-4DD8-A3E4-A343C5C29585}" type="presParOf" srcId="{70760479-1BFC-4D55-8DB3-D1D5148801F4}" destId="{55671F25-5BBC-4F6F-89C4-299D3C530187}" srcOrd="2" destOrd="0" presId="urn:microsoft.com/office/officeart/2005/8/layout/list1"/>
    <dgm:cxn modelId="{C6533C29-346D-430B-94AB-EE6EF31E0EAA}" type="presParOf" srcId="{70760479-1BFC-4D55-8DB3-D1D5148801F4}" destId="{C6AFABC9-A8C2-41BF-9038-592ECD416A05}" srcOrd="3" destOrd="0" presId="urn:microsoft.com/office/officeart/2005/8/layout/list1"/>
    <dgm:cxn modelId="{1563CCC4-7B21-4436-9AA4-AC00C7E065BF}" type="presParOf" srcId="{70760479-1BFC-4D55-8DB3-D1D5148801F4}" destId="{AD6E64AD-11D3-472E-A155-7390E5951BAD}" srcOrd="4" destOrd="0" presId="urn:microsoft.com/office/officeart/2005/8/layout/list1"/>
    <dgm:cxn modelId="{42CD15E3-3A82-40C7-954E-C4098E438859}" type="presParOf" srcId="{AD6E64AD-11D3-472E-A155-7390E5951BAD}" destId="{61C4A0F6-CA49-417A-A9DB-41D7B37FF99C}" srcOrd="0" destOrd="0" presId="urn:microsoft.com/office/officeart/2005/8/layout/list1"/>
    <dgm:cxn modelId="{30A380E2-0AF4-484C-9173-A5DD8A145553}" type="presParOf" srcId="{AD6E64AD-11D3-472E-A155-7390E5951BAD}" destId="{0CF6AE3D-03CE-431F-A922-A447EA781693}" srcOrd="1" destOrd="0" presId="urn:microsoft.com/office/officeart/2005/8/layout/list1"/>
    <dgm:cxn modelId="{2C4FAF93-9AFD-44FA-BCCA-01B658FFE77F}" type="presParOf" srcId="{70760479-1BFC-4D55-8DB3-D1D5148801F4}" destId="{9619BC65-8D39-4121-8B55-C5E294232E59}" srcOrd="5" destOrd="0" presId="urn:microsoft.com/office/officeart/2005/8/layout/list1"/>
    <dgm:cxn modelId="{B56D0BF3-3546-4972-8E22-4E060021B011}" type="presParOf" srcId="{70760479-1BFC-4D55-8DB3-D1D5148801F4}" destId="{29199882-8BA9-4FD0-A527-B04ADB500502}" srcOrd="6" destOrd="0" presId="urn:microsoft.com/office/officeart/2005/8/layout/list1"/>
    <dgm:cxn modelId="{8E66D612-20E4-4040-83EA-FB910ED0BDA7}" type="presParOf" srcId="{70760479-1BFC-4D55-8DB3-D1D5148801F4}" destId="{F163B1A3-644B-4D0B-A3E4-089D4005A057}" srcOrd="7" destOrd="0" presId="urn:microsoft.com/office/officeart/2005/8/layout/list1"/>
    <dgm:cxn modelId="{FECD9CE0-2B92-4698-83BB-DF00948439BA}" type="presParOf" srcId="{70760479-1BFC-4D55-8DB3-D1D5148801F4}" destId="{8D476E7B-2C6C-4381-8A2E-6A546A3D28CB}" srcOrd="8" destOrd="0" presId="urn:microsoft.com/office/officeart/2005/8/layout/list1"/>
    <dgm:cxn modelId="{1F00B64F-18C1-48E4-91DA-C67576626910}" type="presParOf" srcId="{8D476E7B-2C6C-4381-8A2E-6A546A3D28CB}" destId="{85022BC7-25BB-41B4-82F5-31AFAB987AFF}" srcOrd="0" destOrd="0" presId="urn:microsoft.com/office/officeart/2005/8/layout/list1"/>
    <dgm:cxn modelId="{BDEE5DAA-9B31-47C2-B953-E56023C8A514}" type="presParOf" srcId="{8D476E7B-2C6C-4381-8A2E-6A546A3D28CB}" destId="{03B6A27A-BCF3-4996-BE8C-329DFF7660A8}" srcOrd="1" destOrd="0" presId="urn:microsoft.com/office/officeart/2005/8/layout/list1"/>
    <dgm:cxn modelId="{07F4C534-ACF4-4685-92FA-A11690BDC96A}" type="presParOf" srcId="{70760479-1BFC-4D55-8DB3-D1D5148801F4}" destId="{9E8E8BE6-5823-48C7-9E77-5332502C7E0F}" srcOrd="9" destOrd="0" presId="urn:microsoft.com/office/officeart/2005/8/layout/list1"/>
    <dgm:cxn modelId="{B7197201-A894-46B6-8C2F-37BC3CB57D6B}" type="presParOf" srcId="{70760479-1BFC-4D55-8DB3-D1D5148801F4}" destId="{7270368B-11BF-43FD-856C-9A4B99956B80}" srcOrd="10" destOrd="0" presId="urn:microsoft.com/office/officeart/2005/8/layout/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A8184BF-63E2-429E-8747-65CBDE3FC26E}" type="doc">
      <dgm:prSet loTypeId="urn:microsoft.com/office/officeart/2005/8/layout/list1" loCatId="list" qsTypeId="urn:microsoft.com/office/officeart/2005/8/quickstyle/simple4" qsCatId="simple" csTypeId="urn:microsoft.com/office/officeart/2005/8/colors/accent1_2" csCatId="accent1" phldr="1"/>
      <dgm:spPr/>
      <dgm:t>
        <a:bodyPr/>
        <a:lstStyle/>
        <a:p>
          <a:endParaRPr lang="en-NL"/>
        </a:p>
      </dgm:t>
    </dgm:pt>
    <dgm:pt modelId="{A415B67E-F104-42EA-A9A3-BFEC406D7D64}">
      <dgm:prSet phldrT="[Text]" custT="1"/>
      <dgm:spPr/>
      <dgm:t>
        <a:bodyPr/>
        <a:lstStyle/>
        <a:p>
          <a:r>
            <a:rPr lang="en-US" sz="1600" b="1" dirty="0"/>
            <a:t>What Amir wants</a:t>
          </a:r>
          <a:endParaRPr lang="en-NL" sz="1600" b="1" dirty="0"/>
        </a:p>
      </dgm:t>
    </dgm:pt>
    <dgm:pt modelId="{4B9F91CA-B1E7-49DA-AE16-B2F1CC218D07}" type="parTrans" cxnId="{265D1EEB-83FB-4E33-866E-502035E6B645}">
      <dgm:prSet/>
      <dgm:spPr/>
      <dgm:t>
        <a:bodyPr/>
        <a:lstStyle/>
        <a:p>
          <a:endParaRPr lang="en-NL" sz="2000"/>
        </a:p>
      </dgm:t>
    </dgm:pt>
    <dgm:pt modelId="{093F009A-2733-4BFD-8392-D91CA2262EDD}" type="sibTrans" cxnId="{265D1EEB-83FB-4E33-866E-502035E6B645}">
      <dgm:prSet/>
      <dgm:spPr/>
      <dgm:t>
        <a:bodyPr/>
        <a:lstStyle/>
        <a:p>
          <a:endParaRPr lang="en-NL" sz="2000"/>
        </a:p>
      </dgm:t>
    </dgm:pt>
    <dgm:pt modelId="{4E9CED58-F85B-47DC-BE97-7CBD780D01DB}">
      <dgm:prSet custT="1"/>
      <dgm:spPr/>
      <dgm:t>
        <a:bodyPr rIns="360000"/>
        <a:lstStyle/>
        <a:p>
          <a:r>
            <a:rPr lang="en-US" sz="1600" dirty="0"/>
            <a:t>Apply reusable mappings to relate dataset variables, standard concepts, and explicit meanings.</a:t>
          </a:r>
          <a:endParaRPr lang="en-NL" sz="1600" dirty="0"/>
        </a:p>
      </dgm:t>
    </dgm:pt>
    <dgm:pt modelId="{60371E05-67CA-472D-B789-54B3ED2FEFE7}" type="parTrans" cxnId="{DEF70732-B649-43CF-BED8-70DC2DEE0D4B}">
      <dgm:prSet/>
      <dgm:spPr/>
      <dgm:t>
        <a:bodyPr/>
        <a:lstStyle/>
        <a:p>
          <a:endParaRPr lang="en-NL" sz="2000"/>
        </a:p>
      </dgm:t>
    </dgm:pt>
    <dgm:pt modelId="{D6CF6D9D-77F7-40FA-BE15-0717A86A4F98}" type="sibTrans" cxnId="{DEF70732-B649-43CF-BED8-70DC2DEE0D4B}">
      <dgm:prSet/>
      <dgm:spPr/>
      <dgm:t>
        <a:bodyPr/>
        <a:lstStyle/>
        <a:p>
          <a:endParaRPr lang="en-NL" sz="2000"/>
        </a:p>
      </dgm:t>
    </dgm:pt>
    <dgm:pt modelId="{1E4A9A01-86F4-474F-89B1-FF6775CEC3BB}">
      <dgm:prSet custT="1"/>
      <dgm:spPr/>
      <dgm:t>
        <a:bodyPr/>
        <a:lstStyle/>
        <a:p>
          <a:r>
            <a:rPr lang="en-US" sz="1600" b="1" dirty="0"/>
            <a:t>Amir’s challenge</a:t>
          </a:r>
          <a:endParaRPr lang="en-NL" sz="1600" b="1" dirty="0"/>
        </a:p>
      </dgm:t>
    </dgm:pt>
    <dgm:pt modelId="{B39439A0-CEA2-4214-BF45-C2F538C15ED9}" type="parTrans" cxnId="{452CFD26-4462-4A20-AF8D-7D609A50201D}">
      <dgm:prSet/>
      <dgm:spPr/>
      <dgm:t>
        <a:bodyPr/>
        <a:lstStyle/>
        <a:p>
          <a:endParaRPr lang="en-NL" sz="2000"/>
        </a:p>
      </dgm:t>
    </dgm:pt>
    <dgm:pt modelId="{9B87EF37-EC94-44ED-9A8C-877793FDCD3A}" type="sibTrans" cxnId="{452CFD26-4462-4A20-AF8D-7D609A50201D}">
      <dgm:prSet/>
      <dgm:spPr/>
      <dgm:t>
        <a:bodyPr/>
        <a:lstStyle/>
        <a:p>
          <a:endParaRPr lang="en-NL" sz="2000"/>
        </a:p>
      </dgm:t>
    </dgm:pt>
    <dgm:pt modelId="{A1E51513-186F-4AAE-9201-E66DF47E63FA}">
      <dgm:prSet custT="1"/>
      <dgm:spPr/>
      <dgm:t>
        <a:bodyPr rIns="360000"/>
        <a:lstStyle/>
        <a:p>
          <a:r>
            <a:rPr lang="en-US" sz="1600" dirty="0"/>
            <a:t>The meanings are explicit and machine-readable, but these relationships must be captured as reusable mappings.</a:t>
          </a:r>
          <a:endParaRPr lang="en-NL" sz="1600" dirty="0"/>
        </a:p>
      </dgm:t>
    </dgm:pt>
    <dgm:pt modelId="{935CE4F4-2F72-4EFB-84BA-B25A84312BF6}" type="parTrans" cxnId="{488F43D1-A627-49FE-9B2A-70118C52431A}">
      <dgm:prSet/>
      <dgm:spPr/>
      <dgm:t>
        <a:bodyPr/>
        <a:lstStyle/>
        <a:p>
          <a:endParaRPr lang="en-NL" sz="2000"/>
        </a:p>
      </dgm:t>
    </dgm:pt>
    <dgm:pt modelId="{44BD7164-0609-473B-B2C7-9A9EBDC632F3}" type="sibTrans" cxnId="{488F43D1-A627-49FE-9B2A-70118C52431A}">
      <dgm:prSet/>
      <dgm:spPr/>
      <dgm:t>
        <a:bodyPr/>
        <a:lstStyle/>
        <a:p>
          <a:endParaRPr lang="en-NL" sz="2000"/>
        </a:p>
      </dgm:t>
    </dgm:pt>
    <dgm:pt modelId="{C62D59E6-7871-46F1-8420-9A12EC95A362}">
      <dgm:prSet custT="1"/>
      <dgm:spPr/>
      <dgm:t>
        <a:bodyPr/>
        <a:lstStyle/>
        <a:p>
          <a:r>
            <a:rPr lang="en-US" sz="1600" b="1" dirty="0"/>
            <a:t>Guiding question</a:t>
          </a:r>
          <a:endParaRPr lang="en-NL" sz="1600" b="1" dirty="0"/>
        </a:p>
      </dgm:t>
    </dgm:pt>
    <dgm:pt modelId="{FD6851B4-0B39-41B2-A9C1-3561324E4540}" type="parTrans" cxnId="{B05E24E6-EB14-46C0-BE67-1B3E6EC1C329}">
      <dgm:prSet/>
      <dgm:spPr/>
      <dgm:t>
        <a:bodyPr/>
        <a:lstStyle/>
        <a:p>
          <a:endParaRPr lang="en-NL" sz="2000"/>
        </a:p>
      </dgm:t>
    </dgm:pt>
    <dgm:pt modelId="{1072FA27-DCC8-4833-A515-48D846CF4D74}" type="sibTrans" cxnId="{B05E24E6-EB14-46C0-BE67-1B3E6EC1C329}">
      <dgm:prSet/>
      <dgm:spPr/>
      <dgm:t>
        <a:bodyPr/>
        <a:lstStyle/>
        <a:p>
          <a:endParaRPr lang="en-NL" sz="2000"/>
        </a:p>
      </dgm:t>
    </dgm:pt>
    <dgm:pt modelId="{E29D86F5-5350-4022-A1D1-67962E8E8A24}">
      <dgm:prSet custT="1"/>
      <dgm:spPr/>
      <dgm:t>
        <a:bodyPr rIns="360000"/>
        <a:lstStyle/>
        <a:p>
          <a:r>
            <a:rPr lang="en-US" sz="1600" dirty="0"/>
            <a:t>How can mappings turn these relationships into reusable knowledge?</a:t>
          </a:r>
          <a:endParaRPr lang="en-NL" sz="1600" dirty="0"/>
        </a:p>
      </dgm:t>
    </dgm:pt>
    <dgm:pt modelId="{C2C0C560-089A-4F19-A5FA-C0CEBA6B94DF}" type="parTrans" cxnId="{17A3D074-36B5-4A50-9687-62A55E114A3B}">
      <dgm:prSet/>
      <dgm:spPr/>
      <dgm:t>
        <a:bodyPr/>
        <a:lstStyle/>
        <a:p>
          <a:endParaRPr lang="en-NL" sz="2000"/>
        </a:p>
      </dgm:t>
    </dgm:pt>
    <dgm:pt modelId="{D39ABD6A-F148-412F-A67E-AB02D137C166}" type="sibTrans" cxnId="{17A3D074-36B5-4A50-9687-62A55E114A3B}">
      <dgm:prSet/>
      <dgm:spPr/>
      <dgm:t>
        <a:bodyPr/>
        <a:lstStyle/>
        <a:p>
          <a:endParaRPr lang="en-NL" sz="2000"/>
        </a:p>
      </dgm:t>
    </dgm:pt>
    <dgm:pt modelId="{70760479-1BFC-4D55-8DB3-D1D5148801F4}" type="pres">
      <dgm:prSet presAssocID="{DA8184BF-63E2-429E-8747-65CBDE3FC26E}" presName="linear" presStyleCnt="0">
        <dgm:presLayoutVars>
          <dgm:dir/>
          <dgm:animLvl val="lvl"/>
          <dgm:resizeHandles val="exact"/>
        </dgm:presLayoutVars>
      </dgm:prSet>
      <dgm:spPr/>
    </dgm:pt>
    <dgm:pt modelId="{0FB47452-0B64-44DE-9F99-5904AEC477D1}" type="pres">
      <dgm:prSet presAssocID="{A415B67E-F104-42EA-A9A3-BFEC406D7D64}" presName="parentLin" presStyleCnt="0"/>
      <dgm:spPr/>
    </dgm:pt>
    <dgm:pt modelId="{F6B01EF7-6244-47A9-BD13-2BCE9C94FD64}" type="pres">
      <dgm:prSet presAssocID="{A415B67E-F104-42EA-A9A3-BFEC406D7D64}" presName="parentLeftMargin" presStyleLbl="node1" presStyleIdx="0" presStyleCnt="3"/>
      <dgm:spPr/>
    </dgm:pt>
    <dgm:pt modelId="{1896D6C0-E9DC-4DD7-B530-F34E35DCE937}" type="pres">
      <dgm:prSet presAssocID="{A415B67E-F104-42EA-A9A3-BFEC406D7D64}" presName="parentText" presStyleLbl="node1" presStyleIdx="0" presStyleCnt="3">
        <dgm:presLayoutVars>
          <dgm:chMax val="0"/>
          <dgm:bulletEnabled val="1"/>
        </dgm:presLayoutVars>
      </dgm:prSet>
      <dgm:spPr/>
    </dgm:pt>
    <dgm:pt modelId="{5997FC83-DE70-4548-A57D-070067EF1758}" type="pres">
      <dgm:prSet presAssocID="{A415B67E-F104-42EA-A9A3-BFEC406D7D64}" presName="negativeSpace" presStyleCnt="0"/>
      <dgm:spPr/>
    </dgm:pt>
    <dgm:pt modelId="{55671F25-5BBC-4F6F-89C4-299D3C530187}" type="pres">
      <dgm:prSet presAssocID="{A415B67E-F104-42EA-A9A3-BFEC406D7D64}" presName="childText" presStyleLbl="conFgAcc1" presStyleIdx="0" presStyleCnt="3">
        <dgm:presLayoutVars>
          <dgm:bulletEnabled val="1"/>
        </dgm:presLayoutVars>
      </dgm:prSet>
      <dgm:spPr/>
    </dgm:pt>
    <dgm:pt modelId="{C6AFABC9-A8C2-41BF-9038-592ECD416A05}" type="pres">
      <dgm:prSet presAssocID="{093F009A-2733-4BFD-8392-D91CA2262EDD}" presName="spaceBetweenRectangles" presStyleCnt="0"/>
      <dgm:spPr/>
    </dgm:pt>
    <dgm:pt modelId="{AD6E64AD-11D3-472E-A155-7390E5951BAD}" type="pres">
      <dgm:prSet presAssocID="{1E4A9A01-86F4-474F-89B1-FF6775CEC3BB}" presName="parentLin" presStyleCnt="0"/>
      <dgm:spPr/>
    </dgm:pt>
    <dgm:pt modelId="{61C4A0F6-CA49-417A-A9DB-41D7B37FF99C}" type="pres">
      <dgm:prSet presAssocID="{1E4A9A01-86F4-474F-89B1-FF6775CEC3BB}" presName="parentLeftMargin" presStyleLbl="node1" presStyleIdx="0" presStyleCnt="3"/>
      <dgm:spPr/>
    </dgm:pt>
    <dgm:pt modelId="{0CF6AE3D-03CE-431F-A922-A447EA781693}" type="pres">
      <dgm:prSet presAssocID="{1E4A9A01-86F4-474F-89B1-FF6775CEC3BB}" presName="parentText" presStyleLbl="node1" presStyleIdx="1" presStyleCnt="3">
        <dgm:presLayoutVars>
          <dgm:chMax val="0"/>
          <dgm:bulletEnabled val="1"/>
        </dgm:presLayoutVars>
      </dgm:prSet>
      <dgm:spPr/>
    </dgm:pt>
    <dgm:pt modelId="{9619BC65-8D39-4121-8B55-C5E294232E59}" type="pres">
      <dgm:prSet presAssocID="{1E4A9A01-86F4-474F-89B1-FF6775CEC3BB}" presName="negativeSpace" presStyleCnt="0"/>
      <dgm:spPr/>
    </dgm:pt>
    <dgm:pt modelId="{29199882-8BA9-4FD0-A527-B04ADB500502}" type="pres">
      <dgm:prSet presAssocID="{1E4A9A01-86F4-474F-89B1-FF6775CEC3BB}" presName="childText" presStyleLbl="conFgAcc1" presStyleIdx="1" presStyleCnt="3">
        <dgm:presLayoutVars>
          <dgm:bulletEnabled val="1"/>
        </dgm:presLayoutVars>
      </dgm:prSet>
      <dgm:spPr/>
    </dgm:pt>
    <dgm:pt modelId="{F163B1A3-644B-4D0B-A3E4-089D4005A057}" type="pres">
      <dgm:prSet presAssocID="{9B87EF37-EC94-44ED-9A8C-877793FDCD3A}" presName="spaceBetweenRectangles" presStyleCnt="0"/>
      <dgm:spPr/>
    </dgm:pt>
    <dgm:pt modelId="{8D476E7B-2C6C-4381-8A2E-6A546A3D28CB}" type="pres">
      <dgm:prSet presAssocID="{C62D59E6-7871-46F1-8420-9A12EC95A362}" presName="parentLin" presStyleCnt="0"/>
      <dgm:spPr/>
    </dgm:pt>
    <dgm:pt modelId="{85022BC7-25BB-41B4-82F5-31AFAB987AFF}" type="pres">
      <dgm:prSet presAssocID="{C62D59E6-7871-46F1-8420-9A12EC95A362}" presName="parentLeftMargin" presStyleLbl="node1" presStyleIdx="1" presStyleCnt="3"/>
      <dgm:spPr/>
    </dgm:pt>
    <dgm:pt modelId="{03B6A27A-BCF3-4996-BE8C-329DFF7660A8}" type="pres">
      <dgm:prSet presAssocID="{C62D59E6-7871-46F1-8420-9A12EC95A362}" presName="parentText" presStyleLbl="node1" presStyleIdx="2" presStyleCnt="3">
        <dgm:presLayoutVars>
          <dgm:chMax val="0"/>
          <dgm:bulletEnabled val="1"/>
        </dgm:presLayoutVars>
      </dgm:prSet>
      <dgm:spPr/>
    </dgm:pt>
    <dgm:pt modelId="{9E8E8BE6-5823-48C7-9E77-5332502C7E0F}" type="pres">
      <dgm:prSet presAssocID="{C62D59E6-7871-46F1-8420-9A12EC95A362}" presName="negativeSpace" presStyleCnt="0"/>
      <dgm:spPr/>
    </dgm:pt>
    <dgm:pt modelId="{7270368B-11BF-43FD-856C-9A4B99956B80}" type="pres">
      <dgm:prSet presAssocID="{C62D59E6-7871-46F1-8420-9A12EC95A362}" presName="childText" presStyleLbl="conFgAcc1" presStyleIdx="2" presStyleCnt="3">
        <dgm:presLayoutVars>
          <dgm:bulletEnabled val="1"/>
        </dgm:presLayoutVars>
      </dgm:prSet>
      <dgm:spPr/>
    </dgm:pt>
  </dgm:ptLst>
  <dgm:cxnLst>
    <dgm:cxn modelId="{452CFD26-4462-4A20-AF8D-7D609A50201D}" srcId="{DA8184BF-63E2-429E-8747-65CBDE3FC26E}" destId="{1E4A9A01-86F4-474F-89B1-FF6775CEC3BB}" srcOrd="1" destOrd="0" parTransId="{B39439A0-CEA2-4214-BF45-C2F538C15ED9}" sibTransId="{9B87EF37-EC94-44ED-9A8C-877793FDCD3A}"/>
    <dgm:cxn modelId="{DEF70732-B649-43CF-BED8-70DC2DEE0D4B}" srcId="{A415B67E-F104-42EA-A9A3-BFEC406D7D64}" destId="{4E9CED58-F85B-47DC-BE97-7CBD780D01DB}" srcOrd="0" destOrd="0" parTransId="{60371E05-67CA-472D-B789-54B3ED2FEFE7}" sibTransId="{D6CF6D9D-77F7-40FA-BE15-0717A86A4F98}"/>
    <dgm:cxn modelId="{67F7C73C-8F92-4FF7-BC30-C5BA9679B5CA}" type="presOf" srcId="{A415B67E-F104-42EA-A9A3-BFEC406D7D64}" destId="{F6B01EF7-6244-47A9-BD13-2BCE9C94FD64}" srcOrd="0" destOrd="0" presId="urn:microsoft.com/office/officeart/2005/8/layout/list1"/>
    <dgm:cxn modelId="{4C668344-6BD9-49B6-B087-20C70B9CD6A1}" type="presOf" srcId="{4E9CED58-F85B-47DC-BE97-7CBD780D01DB}" destId="{55671F25-5BBC-4F6F-89C4-299D3C530187}" srcOrd="0" destOrd="0" presId="urn:microsoft.com/office/officeart/2005/8/layout/list1"/>
    <dgm:cxn modelId="{133C626E-AC0B-4118-9157-C3F011003F55}" type="presOf" srcId="{C62D59E6-7871-46F1-8420-9A12EC95A362}" destId="{85022BC7-25BB-41B4-82F5-31AFAB987AFF}" srcOrd="0" destOrd="0" presId="urn:microsoft.com/office/officeart/2005/8/layout/list1"/>
    <dgm:cxn modelId="{969E3F52-538C-4038-9480-980EFEDC226A}" type="presOf" srcId="{C62D59E6-7871-46F1-8420-9A12EC95A362}" destId="{03B6A27A-BCF3-4996-BE8C-329DFF7660A8}" srcOrd="1" destOrd="0" presId="urn:microsoft.com/office/officeart/2005/8/layout/list1"/>
    <dgm:cxn modelId="{17A3D074-36B5-4A50-9687-62A55E114A3B}" srcId="{C62D59E6-7871-46F1-8420-9A12EC95A362}" destId="{E29D86F5-5350-4022-A1D1-67962E8E8A24}" srcOrd="0" destOrd="0" parTransId="{C2C0C560-089A-4F19-A5FA-C0CEBA6B94DF}" sibTransId="{D39ABD6A-F148-412F-A67E-AB02D137C166}"/>
    <dgm:cxn modelId="{44B00A80-21DF-4227-9F43-217BB02B1949}" type="presOf" srcId="{1E4A9A01-86F4-474F-89B1-FF6775CEC3BB}" destId="{61C4A0F6-CA49-417A-A9DB-41D7B37FF99C}" srcOrd="0" destOrd="0" presId="urn:microsoft.com/office/officeart/2005/8/layout/list1"/>
    <dgm:cxn modelId="{5EE2C388-D987-45A5-8070-37ECD98E12AC}" type="presOf" srcId="{E29D86F5-5350-4022-A1D1-67962E8E8A24}" destId="{7270368B-11BF-43FD-856C-9A4B99956B80}" srcOrd="0" destOrd="0" presId="urn:microsoft.com/office/officeart/2005/8/layout/list1"/>
    <dgm:cxn modelId="{26DE0D8F-9B38-4137-BC99-15E260969512}" type="presOf" srcId="{A415B67E-F104-42EA-A9A3-BFEC406D7D64}" destId="{1896D6C0-E9DC-4DD7-B530-F34E35DCE937}" srcOrd="1" destOrd="0" presId="urn:microsoft.com/office/officeart/2005/8/layout/list1"/>
    <dgm:cxn modelId="{2560A595-CC6A-46E8-B35E-723EC2181297}" type="presOf" srcId="{1E4A9A01-86F4-474F-89B1-FF6775CEC3BB}" destId="{0CF6AE3D-03CE-431F-A922-A447EA781693}" srcOrd="1" destOrd="0" presId="urn:microsoft.com/office/officeart/2005/8/layout/list1"/>
    <dgm:cxn modelId="{2200D897-4D2B-4DA1-BA5C-B3532C5DBBE3}" type="presOf" srcId="{DA8184BF-63E2-429E-8747-65CBDE3FC26E}" destId="{70760479-1BFC-4D55-8DB3-D1D5148801F4}" srcOrd="0" destOrd="0" presId="urn:microsoft.com/office/officeart/2005/8/layout/list1"/>
    <dgm:cxn modelId="{D83105B9-4FB7-4F58-8351-FC07D9DBE5AF}" type="presOf" srcId="{A1E51513-186F-4AAE-9201-E66DF47E63FA}" destId="{29199882-8BA9-4FD0-A527-B04ADB500502}" srcOrd="0" destOrd="0" presId="urn:microsoft.com/office/officeart/2005/8/layout/list1"/>
    <dgm:cxn modelId="{488F43D1-A627-49FE-9B2A-70118C52431A}" srcId="{1E4A9A01-86F4-474F-89B1-FF6775CEC3BB}" destId="{A1E51513-186F-4AAE-9201-E66DF47E63FA}" srcOrd="0" destOrd="0" parTransId="{935CE4F4-2F72-4EFB-84BA-B25A84312BF6}" sibTransId="{44BD7164-0609-473B-B2C7-9A9EBDC632F3}"/>
    <dgm:cxn modelId="{B05E24E6-EB14-46C0-BE67-1B3E6EC1C329}" srcId="{DA8184BF-63E2-429E-8747-65CBDE3FC26E}" destId="{C62D59E6-7871-46F1-8420-9A12EC95A362}" srcOrd="2" destOrd="0" parTransId="{FD6851B4-0B39-41B2-A9C1-3561324E4540}" sibTransId="{1072FA27-DCC8-4833-A515-48D846CF4D74}"/>
    <dgm:cxn modelId="{265D1EEB-83FB-4E33-866E-502035E6B645}" srcId="{DA8184BF-63E2-429E-8747-65CBDE3FC26E}" destId="{A415B67E-F104-42EA-A9A3-BFEC406D7D64}" srcOrd="0" destOrd="0" parTransId="{4B9F91CA-B1E7-49DA-AE16-B2F1CC218D07}" sibTransId="{093F009A-2733-4BFD-8392-D91CA2262EDD}"/>
    <dgm:cxn modelId="{471F5CF0-DC9B-4DA8-A2B1-7BF7AF50F7D0}" type="presParOf" srcId="{70760479-1BFC-4D55-8DB3-D1D5148801F4}" destId="{0FB47452-0B64-44DE-9F99-5904AEC477D1}" srcOrd="0" destOrd="0" presId="urn:microsoft.com/office/officeart/2005/8/layout/list1"/>
    <dgm:cxn modelId="{E2D2D6A1-DABF-4D2A-91BD-6BB6A8B32BCE}" type="presParOf" srcId="{0FB47452-0B64-44DE-9F99-5904AEC477D1}" destId="{F6B01EF7-6244-47A9-BD13-2BCE9C94FD64}" srcOrd="0" destOrd="0" presId="urn:microsoft.com/office/officeart/2005/8/layout/list1"/>
    <dgm:cxn modelId="{FF382C37-2900-48E0-96C2-2FBA31D8EE84}" type="presParOf" srcId="{0FB47452-0B64-44DE-9F99-5904AEC477D1}" destId="{1896D6C0-E9DC-4DD7-B530-F34E35DCE937}" srcOrd="1" destOrd="0" presId="urn:microsoft.com/office/officeart/2005/8/layout/list1"/>
    <dgm:cxn modelId="{D9AEDF43-C58B-4407-B0F1-FA366398D9B2}" type="presParOf" srcId="{70760479-1BFC-4D55-8DB3-D1D5148801F4}" destId="{5997FC83-DE70-4548-A57D-070067EF1758}" srcOrd="1" destOrd="0" presId="urn:microsoft.com/office/officeart/2005/8/layout/list1"/>
    <dgm:cxn modelId="{78F14564-B7C0-4DD8-A3E4-A343C5C29585}" type="presParOf" srcId="{70760479-1BFC-4D55-8DB3-D1D5148801F4}" destId="{55671F25-5BBC-4F6F-89C4-299D3C530187}" srcOrd="2" destOrd="0" presId="urn:microsoft.com/office/officeart/2005/8/layout/list1"/>
    <dgm:cxn modelId="{C6533C29-346D-430B-94AB-EE6EF31E0EAA}" type="presParOf" srcId="{70760479-1BFC-4D55-8DB3-D1D5148801F4}" destId="{C6AFABC9-A8C2-41BF-9038-592ECD416A05}" srcOrd="3" destOrd="0" presId="urn:microsoft.com/office/officeart/2005/8/layout/list1"/>
    <dgm:cxn modelId="{1563CCC4-7B21-4436-9AA4-AC00C7E065BF}" type="presParOf" srcId="{70760479-1BFC-4D55-8DB3-D1D5148801F4}" destId="{AD6E64AD-11D3-472E-A155-7390E5951BAD}" srcOrd="4" destOrd="0" presId="urn:microsoft.com/office/officeart/2005/8/layout/list1"/>
    <dgm:cxn modelId="{42CD15E3-3A82-40C7-954E-C4098E438859}" type="presParOf" srcId="{AD6E64AD-11D3-472E-A155-7390E5951BAD}" destId="{61C4A0F6-CA49-417A-A9DB-41D7B37FF99C}" srcOrd="0" destOrd="0" presId="urn:microsoft.com/office/officeart/2005/8/layout/list1"/>
    <dgm:cxn modelId="{30A380E2-0AF4-484C-9173-A5DD8A145553}" type="presParOf" srcId="{AD6E64AD-11D3-472E-A155-7390E5951BAD}" destId="{0CF6AE3D-03CE-431F-A922-A447EA781693}" srcOrd="1" destOrd="0" presId="urn:microsoft.com/office/officeart/2005/8/layout/list1"/>
    <dgm:cxn modelId="{2C4FAF93-9AFD-44FA-BCCA-01B658FFE77F}" type="presParOf" srcId="{70760479-1BFC-4D55-8DB3-D1D5148801F4}" destId="{9619BC65-8D39-4121-8B55-C5E294232E59}" srcOrd="5" destOrd="0" presId="urn:microsoft.com/office/officeart/2005/8/layout/list1"/>
    <dgm:cxn modelId="{B56D0BF3-3546-4972-8E22-4E060021B011}" type="presParOf" srcId="{70760479-1BFC-4D55-8DB3-D1D5148801F4}" destId="{29199882-8BA9-4FD0-A527-B04ADB500502}" srcOrd="6" destOrd="0" presId="urn:microsoft.com/office/officeart/2005/8/layout/list1"/>
    <dgm:cxn modelId="{8E66D612-20E4-4040-83EA-FB910ED0BDA7}" type="presParOf" srcId="{70760479-1BFC-4D55-8DB3-D1D5148801F4}" destId="{F163B1A3-644B-4D0B-A3E4-089D4005A057}" srcOrd="7" destOrd="0" presId="urn:microsoft.com/office/officeart/2005/8/layout/list1"/>
    <dgm:cxn modelId="{FECD9CE0-2B92-4698-83BB-DF00948439BA}" type="presParOf" srcId="{70760479-1BFC-4D55-8DB3-D1D5148801F4}" destId="{8D476E7B-2C6C-4381-8A2E-6A546A3D28CB}" srcOrd="8" destOrd="0" presId="urn:microsoft.com/office/officeart/2005/8/layout/list1"/>
    <dgm:cxn modelId="{1F00B64F-18C1-48E4-91DA-C67576626910}" type="presParOf" srcId="{8D476E7B-2C6C-4381-8A2E-6A546A3D28CB}" destId="{85022BC7-25BB-41B4-82F5-31AFAB987AFF}" srcOrd="0" destOrd="0" presId="urn:microsoft.com/office/officeart/2005/8/layout/list1"/>
    <dgm:cxn modelId="{BDEE5DAA-9B31-47C2-B953-E56023C8A514}" type="presParOf" srcId="{8D476E7B-2C6C-4381-8A2E-6A546A3D28CB}" destId="{03B6A27A-BCF3-4996-BE8C-329DFF7660A8}" srcOrd="1" destOrd="0" presId="urn:microsoft.com/office/officeart/2005/8/layout/list1"/>
    <dgm:cxn modelId="{07F4C534-ACF4-4685-92FA-A11690BDC96A}" type="presParOf" srcId="{70760479-1BFC-4D55-8DB3-D1D5148801F4}" destId="{9E8E8BE6-5823-48C7-9E77-5332502C7E0F}" srcOrd="9" destOrd="0" presId="urn:microsoft.com/office/officeart/2005/8/layout/list1"/>
    <dgm:cxn modelId="{B7197201-A894-46B6-8C2F-37BC3CB57D6B}" type="presParOf" srcId="{70760479-1BFC-4D55-8DB3-D1D5148801F4}" destId="{7270368B-11BF-43FD-856C-9A4B99956B80}" srcOrd="10" destOrd="0" presId="urn:microsoft.com/office/officeart/2005/8/layout/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A8184BF-63E2-429E-8747-65CBDE3FC26E}" type="doc">
      <dgm:prSet loTypeId="urn:microsoft.com/office/officeart/2005/8/layout/list1" loCatId="list" qsTypeId="urn:microsoft.com/office/officeart/2005/8/quickstyle/simple4" qsCatId="simple" csTypeId="urn:microsoft.com/office/officeart/2005/8/colors/accent1_2" csCatId="accent1" phldr="1"/>
      <dgm:spPr/>
      <dgm:t>
        <a:bodyPr/>
        <a:lstStyle/>
        <a:p>
          <a:endParaRPr lang="en-NL"/>
        </a:p>
      </dgm:t>
    </dgm:pt>
    <dgm:pt modelId="{A415B67E-F104-42EA-A9A3-BFEC406D7D64}">
      <dgm:prSet phldrT="[Text]" custT="1"/>
      <dgm:spPr/>
      <dgm:t>
        <a:bodyPr/>
        <a:lstStyle/>
        <a:p>
          <a:r>
            <a:rPr lang="en-US" sz="1600" b="1" dirty="0"/>
            <a:t>What Amir wants</a:t>
          </a:r>
          <a:endParaRPr lang="en-NL" sz="1600" b="1" dirty="0"/>
        </a:p>
      </dgm:t>
    </dgm:pt>
    <dgm:pt modelId="{4B9F91CA-B1E7-49DA-AE16-B2F1CC218D07}" type="parTrans" cxnId="{265D1EEB-83FB-4E33-866E-502035E6B645}">
      <dgm:prSet/>
      <dgm:spPr/>
      <dgm:t>
        <a:bodyPr/>
        <a:lstStyle/>
        <a:p>
          <a:endParaRPr lang="en-NL" sz="2000"/>
        </a:p>
      </dgm:t>
    </dgm:pt>
    <dgm:pt modelId="{093F009A-2733-4BFD-8392-D91CA2262EDD}" type="sibTrans" cxnId="{265D1EEB-83FB-4E33-866E-502035E6B645}">
      <dgm:prSet/>
      <dgm:spPr/>
      <dgm:t>
        <a:bodyPr/>
        <a:lstStyle/>
        <a:p>
          <a:endParaRPr lang="en-NL" sz="2000"/>
        </a:p>
      </dgm:t>
    </dgm:pt>
    <dgm:pt modelId="{4E9CED58-F85B-47DC-BE97-7CBD780D01DB}">
      <dgm:prSet custT="1"/>
      <dgm:spPr/>
      <dgm:t>
        <a:bodyPr rIns="360000"/>
        <a:lstStyle/>
        <a:p>
          <a:r>
            <a:rPr lang="en-US" sz="1600" dirty="0"/>
            <a:t>Query semantic context, mappings, and inferred knowledge to support data reuse decisions.</a:t>
          </a:r>
          <a:endParaRPr lang="en-NL" sz="1600" dirty="0"/>
        </a:p>
      </dgm:t>
    </dgm:pt>
    <dgm:pt modelId="{60371E05-67CA-472D-B789-54B3ED2FEFE7}" type="parTrans" cxnId="{DEF70732-B649-43CF-BED8-70DC2DEE0D4B}">
      <dgm:prSet/>
      <dgm:spPr/>
      <dgm:t>
        <a:bodyPr/>
        <a:lstStyle/>
        <a:p>
          <a:endParaRPr lang="en-NL" sz="2000"/>
        </a:p>
      </dgm:t>
    </dgm:pt>
    <dgm:pt modelId="{D6CF6D9D-77F7-40FA-BE15-0717A86A4F98}" type="sibTrans" cxnId="{DEF70732-B649-43CF-BED8-70DC2DEE0D4B}">
      <dgm:prSet/>
      <dgm:spPr/>
      <dgm:t>
        <a:bodyPr/>
        <a:lstStyle/>
        <a:p>
          <a:endParaRPr lang="en-NL" sz="2000"/>
        </a:p>
      </dgm:t>
    </dgm:pt>
    <dgm:pt modelId="{1E4A9A01-86F4-474F-89B1-FF6775CEC3BB}">
      <dgm:prSet custT="1"/>
      <dgm:spPr/>
      <dgm:t>
        <a:bodyPr/>
        <a:lstStyle/>
        <a:p>
          <a:r>
            <a:rPr lang="en-US" sz="1600" b="1" dirty="0"/>
            <a:t>Amir’s challenge</a:t>
          </a:r>
          <a:endParaRPr lang="en-NL" sz="1600" b="1" dirty="0"/>
        </a:p>
      </dgm:t>
    </dgm:pt>
    <dgm:pt modelId="{B39439A0-CEA2-4214-BF45-C2F538C15ED9}" type="parTrans" cxnId="{452CFD26-4462-4A20-AF8D-7D609A50201D}">
      <dgm:prSet/>
      <dgm:spPr/>
      <dgm:t>
        <a:bodyPr/>
        <a:lstStyle/>
        <a:p>
          <a:endParaRPr lang="en-NL" sz="2000"/>
        </a:p>
      </dgm:t>
    </dgm:pt>
    <dgm:pt modelId="{9B87EF37-EC94-44ED-9A8C-877793FDCD3A}" type="sibTrans" cxnId="{452CFD26-4462-4A20-AF8D-7D609A50201D}">
      <dgm:prSet/>
      <dgm:spPr/>
      <dgm:t>
        <a:bodyPr/>
        <a:lstStyle/>
        <a:p>
          <a:endParaRPr lang="en-NL" sz="2000"/>
        </a:p>
      </dgm:t>
    </dgm:pt>
    <dgm:pt modelId="{A1E51513-186F-4AAE-9201-E66DF47E63FA}">
      <dgm:prSet custT="1"/>
      <dgm:spPr/>
      <dgm:t>
        <a:bodyPr rIns="360000"/>
        <a:lstStyle/>
        <a:p>
          <a:r>
            <a:rPr lang="en-US" sz="1600" dirty="0"/>
            <a:t>Amir needs to move from connected semantic knowledge to queries that support concrete reuse decisions.</a:t>
          </a:r>
          <a:endParaRPr lang="en-NL" sz="1600" dirty="0"/>
        </a:p>
      </dgm:t>
    </dgm:pt>
    <dgm:pt modelId="{935CE4F4-2F72-4EFB-84BA-B25A84312BF6}" type="parTrans" cxnId="{488F43D1-A627-49FE-9B2A-70118C52431A}">
      <dgm:prSet/>
      <dgm:spPr/>
      <dgm:t>
        <a:bodyPr/>
        <a:lstStyle/>
        <a:p>
          <a:endParaRPr lang="en-NL" sz="2000"/>
        </a:p>
      </dgm:t>
    </dgm:pt>
    <dgm:pt modelId="{44BD7164-0609-473B-B2C7-9A9EBDC632F3}" type="sibTrans" cxnId="{488F43D1-A627-49FE-9B2A-70118C52431A}">
      <dgm:prSet/>
      <dgm:spPr/>
      <dgm:t>
        <a:bodyPr/>
        <a:lstStyle/>
        <a:p>
          <a:endParaRPr lang="en-NL" sz="2000"/>
        </a:p>
      </dgm:t>
    </dgm:pt>
    <dgm:pt modelId="{C62D59E6-7871-46F1-8420-9A12EC95A362}">
      <dgm:prSet custT="1"/>
      <dgm:spPr/>
      <dgm:t>
        <a:bodyPr/>
        <a:lstStyle/>
        <a:p>
          <a:r>
            <a:rPr lang="en-US" sz="1600" b="1" dirty="0"/>
            <a:t>Guiding question</a:t>
          </a:r>
          <a:endParaRPr lang="en-NL" sz="1600" b="1" dirty="0"/>
        </a:p>
      </dgm:t>
    </dgm:pt>
    <dgm:pt modelId="{FD6851B4-0B39-41B2-A9C1-3561324E4540}" type="parTrans" cxnId="{B05E24E6-EB14-46C0-BE67-1B3E6EC1C329}">
      <dgm:prSet/>
      <dgm:spPr/>
      <dgm:t>
        <a:bodyPr/>
        <a:lstStyle/>
        <a:p>
          <a:endParaRPr lang="en-NL" sz="2000"/>
        </a:p>
      </dgm:t>
    </dgm:pt>
    <dgm:pt modelId="{1072FA27-DCC8-4833-A515-48D846CF4D74}" type="sibTrans" cxnId="{B05E24E6-EB14-46C0-BE67-1B3E6EC1C329}">
      <dgm:prSet/>
      <dgm:spPr/>
      <dgm:t>
        <a:bodyPr/>
        <a:lstStyle/>
        <a:p>
          <a:endParaRPr lang="en-NL" sz="2000"/>
        </a:p>
      </dgm:t>
    </dgm:pt>
    <dgm:pt modelId="{E29D86F5-5350-4022-A1D1-67962E8E8A24}">
      <dgm:prSet custT="1"/>
      <dgm:spPr/>
      <dgm:t>
        <a:bodyPr rIns="360000"/>
        <a:lstStyle/>
        <a:p>
          <a:r>
            <a:rPr lang="en-US" sz="1600" dirty="0"/>
            <a:t>How can Amir query semantic knowledge to support practical data reuse decisions?</a:t>
          </a:r>
          <a:endParaRPr lang="en-NL" sz="1600" dirty="0"/>
        </a:p>
      </dgm:t>
    </dgm:pt>
    <dgm:pt modelId="{C2C0C560-089A-4F19-A5FA-C0CEBA6B94DF}" type="parTrans" cxnId="{17A3D074-36B5-4A50-9687-62A55E114A3B}">
      <dgm:prSet/>
      <dgm:spPr/>
      <dgm:t>
        <a:bodyPr/>
        <a:lstStyle/>
        <a:p>
          <a:endParaRPr lang="en-NL" sz="2000"/>
        </a:p>
      </dgm:t>
    </dgm:pt>
    <dgm:pt modelId="{D39ABD6A-F148-412F-A67E-AB02D137C166}" type="sibTrans" cxnId="{17A3D074-36B5-4A50-9687-62A55E114A3B}">
      <dgm:prSet/>
      <dgm:spPr/>
      <dgm:t>
        <a:bodyPr/>
        <a:lstStyle/>
        <a:p>
          <a:endParaRPr lang="en-NL" sz="2000"/>
        </a:p>
      </dgm:t>
    </dgm:pt>
    <dgm:pt modelId="{70760479-1BFC-4D55-8DB3-D1D5148801F4}" type="pres">
      <dgm:prSet presAssocID="{DA8184BF-63E2-429E-8747-65CBDE3FC26E}" presName="linear" presStyleCnt="0">
        <dgm:presLayoutVars>
          <dgm:dir/>
          <dgm:animLvl val="lvl"/>
          <dgm:resizeHandles val="exact"/>
        </dgm:presLayoutVars>
      </dgm:prSet>
      <dgm:spPr/>
    </dgm:pt>
    <dgm:pt modelId="{0FB47452-0B64-44DE-9F99-5904AEC477D1}" type="pres">
      <dgm:prSet presAssocID="{A415B67E-F104-42EA-A9A3-BFEC406D7D64}" presName="parentLin" presStyleCnt="0"/>
      <dgm:spPr/>
    </dgm:pt>
    <dgm:pt modelId="{F6B01EF7-6244-47A9-BD13-2BCE9C94FD64}" type="pres">
      <dgm:prSet presAssocID="{A415B67E-F104-42EA-A9A3-BFEC406D7D64}" presName="parentLeftMargin" presStyleLbl="node1" presStyleIdx="0" presStyleCnt="3"/>
      <dgm:spPr/>
    </dgm:pt>
    <dgm:pt modelId="{1896D6C0-E9DC-4DD7-B530-F34E35DCE937}" type="pres">
      <dgm:prSet presAssocID="{A415B67E-F104-42EA-A9A3-BFEC406D7D64}" presName="parentText" presStyleLbl="node1" presStyleIdx="0" presStyleCnt="3">
        <dgm:presLayoutVars>
          <dgm:chMax val="0"/>
          <dgm:bulletEnabled val="1"/>
        </dgm:presLayoutVars>
      </dgm:prSet>
      <dgm:spPr/>
    </dgm:pt>
    <dgm:pt modelId="{5997FC83-DE70-4548-A57D-070067EF1758}" type="pres">
      <dgm:prSet presAssocID="{A415B67E-F104-42EA-A9A3-BFEC406D7D64}" presName="negativeSpace" presStyleCnt="0"/>
      <dgm:spPr/>
    </dgm:pt>
    <dgm:pt modelId="{55671F25-5BBC-4F6F-89C4-299D3C530187}" type="pres">
      <dgm:prSet presAssocID="{A415B67E-F104-42EA-A9A3-BFEC406D7D64}" presName="childText" presStyleLbl="conFgAcc1" presStyleIdx="0" presStyleCnt="3">
        <dgm:presLayoutVars>
          <dgm:bulletEnabled val="1"/>
        </dgm:presLayoutVars>
      </dgm:prSet>
      <dgm:spPr/>
    </dgm:pt>
    <dgm:pt modelId="{C6AFABC9-A8C2-41BF-9038-592ECD416A05}" type="pres">
      <dgm:prSet presAssocID="{093F009A-2733-4BFD-8392-D91CA2262EDD}" presName="spaceBetweenRectangles" presStyleCnt="0"/>
      <dgm:spPr/>
    </dgm:pt>
    <dgm:pt modelId="{AD6E64AD-11D3-472E-A155-7390E5951BAD}" type="pres">
      <dgm:prSet presAssocID="{1E4A9A01-86F4-474F-89B1-FF6775CEC3BB}" presName="parentLin" presStyleCnt="0"/>
      <dgm:spPr/>
    </dgm:pt>
    <dgm:pt modelId="{61C4A0F6-CA49-417A-A9DB-41D7B37FF99C}" type="pres">
      <dgm:prSet presAssocID="{1E4A9A01-86F4-474F-89B1-FF6775CEC3BB}" presName="parentLeftMargin" presStyleLbl="node1" presStyleIdx="0" presStyleCnt="3"/>
      <dgm:spPr/>
    </dgm:pt>
    <dgm:pt modelId="{0CF6AE3D-03CE-431F-A922-A447EA781693}" type="pres">
      <dgm:prSet presAssocID="{1E4A9A01-86F4-474F-89B1-FF6775CEC3BB}" presName="parentText" presStyleLbl="node1" presStyleIdx="1" presStyleCnt="3">
        <dgm:presLayoutVars>
          <dgm:chMax val="0"/>
          <dgm:bulletEnabled val="1"/>
        </dgm:presLayoutVars>
      </dgm:prSet>
      <dgm:spPr/>
    </dgm:pt>
    <dgm:pt modelId="{9619BC65-8D39-4121-8B55-C5E294232E59}" type="pres">
      <dgm:prSet presAssocID="{1E4A9A01-86F4-474F-89B1-FF6775CEC3BB}" presName="negativeSpace" presStyleCnt="0"/>
      <dgm:spPr/>
    </dgm:pt>
    <dgm:pt modelId="{29199882-8BA9-4FD0-A527-B04ADB500502}" type="pres">
      <dgm:prSet presAssocID="{1E4A9A01-86F4-474F-89B1-FF6775CEC3BB}" presName="childText" presStyleLbl="conFgAcc1" presStyleIdx="1" presStyleCnt="3">
        <dgm:presLayoutVars>
          <dgm:bulletEnabled val="1"/>
        </dgm:presLayoutVars>
      </dgm:prSet>
      <dgm:spPr/>
    </dgm:pt>
    <dgm:pt modelId="{F163B1A3-644B-4D0B-A3E4-089D4005A057}" type="pres">
      <dgm:prSet presAssocID="{9B87EF37-EC94-44ED-9A8C-877793FDCD3A}" presName="spaceBetweenRectangles" presStyleCnt="0"/>
      <dgm:spPr/>
    </dgm:pt>
    <dgm:pt modelId="{8D476E7B-2C6C-4381-8A2E-6A546A3D28CB}" type="pres">
      <dgm:prSet presAssocID="{C62D59E6-7871-46F1-8420-9A12EC95A362}" presName="parentLin" presStyleCnt="0"/>
      <dgm:spPr/>
    </dgm:pt>
    <dgm:pt modelId="{85022BC7-25BB-41B4-82F5-31AFAB987AFF}" type="pres">
      <dgm:prSet presAssocID="{C62D59E6-7871-46F1-8420-9A12EC95A362}" presName="parentLeftMargin" presStyleLbl="node1" presStyleIdx="1" presStyleCnt="3"/>
      <dgm:spPr/>
    </dgm:pt>
    <dgm:pt modelId="{03B6A27A-BCF3-4996-BE8C-329DFF7660A8}" type="pres">
      <dgm:prSet presAssocID="{C62D59E6-7871-46F1-8420-9A12EC95A362}" presName="parentText" presStyleLbl="node1" presStyleIdx="2" presStyleCnt="3">
        <dgm:presLayoutVars>
          <dgm:chMax val="0"/>
          <dgm:bulletEnabled val="1"/>
        </dgm:presLayoutVars>
      </dgm:prSet>
      <dgm:spPr/>
    </dgm:pt>
    <dgm:pt modelId="{9E8E8BE6-5823-48C7-9E77-5332502C7E0F}" type="pres">
      <dgm:prSet presAssocID="{C62D59E6-7871-46F1-8420-9A12EC95A362}" presName="negativeSpace" presStyleCnt="0"/>
      <dgm:spPr/>
    </dgm:pt>
    <dgm:pt modelId="{7270368B-11BF-43FD-856C-9A4B99956B80}" type="pres">
      <dgm:prSet presAssocID="{C62D59E6-7871-46F1-8420-9A12EC95A362}" presName="childText" presStyleLbl="conFgAcc1" presStyleIdx="2" presStyleCnt="3">
        <dgm:presLayoutVars>
          <dgm:bulletEnabled val="1"/>
        </dgm:presLayoutVars>
      </dgm:prSet>
      <dgm:spPr/>
    </dgm:pt>
  </dgm:ptLst>
  <dgm:cxnLst>
    <dgm:cxn modelId="{452CFD26-4462-4A20-AF8D-7D609A50201D}" srcId="{DA8184BF-63E2-429E-8747-65CBDE3FC26E}" destId="{1E4A9A01-86F4-474F-89B1-FF6775CEC3BB}" srcOrd="1" destOrd="0" parTransId="{B39439A0-CEA2-4214-BF45-C2F538C15ED9}" sibTransId="{9B87EF37-EC94-44ED-9A8C-877793FDCD3A}"/>
    <dgm:cxn modelId="{DEF70732-B649-43CF-BED8-70DC2DEE0D4B}" srcId="{A415B67E-F104-42EA-A9A3-BFEC406D7D64}" destId="{4E9CED58-F85B-47DC-BE97-7CBD780D01DB}" srcOrd="0" destOrd="0" parTransId="{60371E05-67CA-472D-B789-54B3ED2FEFE7}" sibTransId="{D6CF6D9D-77F7-40FA-BE15-0717A86A4F98}"/>
    <dgm:cxn modelId="{67F7C73C-8F92-4FF7-BC30-C5BA9679B5CA}" type="presOf" srcId="{A415B67E-F104-42EA-A9A3-BFEC406D7D64}" destId="{F6B01EF7-6244-47A9-BD13-2BCE9C94FD64}" srcOrd="0" destOrd="0" presId="urn:microsoft.com/office/officeart/2005/8/layout/list1"/>
    <dgm:cxn modelId="{4C668344-6BD9-49B6-B087-20C70B9CD6A1}" type="presOf" srcId="{4E9CED58-F85B-47DC-BE97-7CBD780D01DB}" destId="{55671F25-5BBC-4F6F-89C4-299D3C530187}" srcOrd="0" destOrd="0" presId="urn:microsoft.com/office/officeart/2005/8/layout/list1"/>
    <dgm:cxn modelId="{133C626E-AC0B-4118-9157-C3F011003F55}" type="presOf" srcId="{C62D59E6-7871-46F1-8420-9A12EC95A362}" destId="{85022BC7-25BB-41B4-82F5-31AFAB987AFF}" srcOrd="0" destOrd="0" presId="urn:microsoft.com/office/officeart/2005/8/layout/list1"/>
    <dgm:cxn modelId="{969E3F52-538C-4038-9480-980EFEDC226A}" type="presOf" srcId="{C62D59E6-7871-46F1-8420-9A12EC95A362}" destId="{03B6A27A-BCF3-4996-BE8C-329DFF7660A8}" srcOrd="1" destOrd="0" presId="urn:microsoft.com/office/officeart/2005/8/layout/list1"/>
    <dgm:cxn modelId="{17A3D074-36B5-4A50-9687-62A55E114A3B}" srcId="{C62D59E6-7871-46F1-8420-9A12EC95A362}" destId="{E29D86F5-5350-4022-A1D1-67962E8E8A24}" srcOrd="0" destOrd="0" parTransId="{C2C0C560-089A-4F19-A5FA-C0CEBA6B94DF}" sibTransId="{D39ABD6A-F148-412F-A67E-AB02D137C166}"/>
    <dgm:cxn modelId="{44B00A80-21DF-4227-9F43-217BB02B1949}" type="presOf" srcId="{1E4A9A01-86F4-474F-89B1-FF6775CEC3BB}" destId="{61C4A0F6-CA49-417A-A9DB-41D7B37FF99C}" srcOrd="0" destOrd="0" presId="urn:microsoft.com/office/officeart/2005/8/layout/list1"/>
    <dgm:cxn modelId="{5EE2C388-D987-45A5-8070-37ECD98E12AC}" type="presOf" srcId="{E29D86F5-5350-4022-A1D1-67962E8E8A24}" destId="{7270368B-11BF-43FD-856C-9A4B99956B80}" srcOrd="0" destOrd="0" presId="urn:microsoft.com/office/officeart/2005/8/layout/list1"/>
    <dgm:cxn modelId="{26DE0D8F-9B38-4137-BC99-15E260969512}" type="presOf" srcId="{A415B67E-F104-42EA-A9A3-BFEC406D7D64}" destId="{1896D6C0-E9DC-4DD7-B530-F34E35DCE937}" srcOrd="1" destOrd="0" presId="urn:microsoft.com/office/officeart/2005/8/layout/list1"/>
    <dgm:cxn modelId="{2560A595-CC6A-46E8-B35E-723EC2181297}" type="presOf" srcId="{1E4A9A01-86F4-474F-89B1-FF6775CEC3BB}" destId="{0CF6AE3D-03CE-431F-A922-A447EA781693}" srcOrd="1" destOrd="0" presId="urn:microsoft.com/office/officeart/2005/8/layout/list1"/>
    <dgm:cxn modelId="{2200D897-4D2B-4DA1-BA5C-B3532C5DBBE3}" type="presOf" srcId="{DA8184BF-63E2-429E-8747-65CBDE3FC26E}" destId="{70760479-1BFC-4D55-8DB3-D1D5148801F4}" srcOrd="0" destOrd="0" presId="urn:microsoft.com/office/officeart/2005/8/layout/list1"/>
    <dgm:cxn modelId="{D83105B9-4FB7-4F58-8351-FC07D9DBE5AF}" type="presOf" srcId="{A1E51513-186F-4AAE-9201-E66DF47E63FA}" destId="{29199882-8BA9-4FD0-A527-B04ADB500502}" srcOrd="0" destOrd="0" presId="urn:microsoft.com/office/officeart/2005/8/layout/list1"/>
    <dgm:cxn modelId="{488F43D1-A627-49FE-9B2A-70118C52431A}" srcId="{1E4A9A01-86F4-474F-89B1-FF6775CEC3BB}" destId="{A1E51513-186F-4AAE-9201-E66DF47E63FA}" srcOrd="0" destOrd="0" parTransId="{935CE4F4-2F72-4EFB-84BA-B25A84312BF6}" sibTransId="{44BD7164-0609-473B-B2C7-9A9EBDC632F3}"/>
    <dgm:cxn modelId="{B05E24E6-EB14-46C0-BE67-1B3E6EC1C329}" srcId="{DA8184BF-63E2-429E-8747-65CBDE3FC26E}" destId="{C62D59E6-7871-46F1-8420-9A12EC95A362}" srcOrd="2" destOrd="0" parTransId="{FD6851B4-0B39-41B2-A9C1-3561324E4540}" sibTransId="{1072FA27-DCC8-4833-A515-48D846CF4D74}"/>
    <dgm:cxn modelId="{265D1EEB-83FB-4E33-866E-502035E6B645}" srcId="{DA8184BF-63E2-429E-8747-65CBDE3FC26E}" destId="{A415B67E-F104-42EA-A9A3-BFEC406D7D64}" srcOrd="0" destOrd="0" parTransId="{4B9F91CA-B1E7-49DA-AE16-B2F1CC218D07}" sibTransId="{093F009A-2733-4BFD-8392-D91CA2262EDD}"/>
    <dgm:cxn modelId="{471F5CF0-DC9B-4DA8-A2B1-7BF7AF50F7D0}" type="presParOf" srcId="{70760479-1BFC-4D55-8DB3-D1D5148801F4}" destId="{0FB47452-0B64-44DE-9F99-5904AEC477D1}" srcOrd="0" destOrd="0" presId="urn:microsoft.com/office/officeart/2005/8/layout/list1"/>
    <dgm:cxn modelId="{E2D2D6A1-DABF-4D2A-91BD-6BB6A8B32BCE}" type="presParOf" srcId="{0FB47452-0B64-44DE-9F99-5904AEC477D1}" destId="{F6B01EF7-6244-47A9-BD13-2BCE9C94FD64}" srcOrd="0" destOrd="0" presId="urn:microsoft.com/office/officeart/2005/8/layout/list1"/>
    <dgm:cxn modelId="{FF382C37-2900-48E0-96C2-2FBA31D8EE84}" type="presParOf" srcId="{0FB47452-0B64-44DE-9F99-5904AEC477D1}" destId="{1896D6C0-E9DC-4DD7-B530-F34E35DCE937}" srcOrd="1" destOrd="0" presId="urn:microsoft.com/office/officeart/2005/8/layout/list1"/>
    <dgm:cxn modelId="{D9AEDF43-C58B-4407-B0F1-FA366398D9B2}" type="presParOf" srcId="{70760479-1BFC-4D55-8DB3-D1D5148801F4}" destId="{5997FC83-DE70-4548-A57D-070067EF1758}" srcOrd="1" destOrd="0" presId="urn:microsoft.com/office/officeart/2005/8/layout/list1"/>
    <dgm:cxn modelId="{78F14564-B7C0-4DD8-A3E4-A343C5C29585}" type="presParOf" srcId="{70760479-1BFC-4D55-8DB3-D1D5148801F4}" destId="{55671F25-5BBC-4F6F-89C4-299D3C530187}" srcOrd="2" destOrd="0" presId="urn:microsoft.com/office/officeart/2005/8/layout/list1"/>
    <dgm:cxn modelId="{C6533C29-346D-430B-94AB-EE6EF31E0EAA}" type="presParOf" srcId="{70760479-1BFC-4D55-8DB3-D1D5148801F4}" destId="{C6AFABC9-A8C2-41BF-9038-592ECD416A05}" srcOrd="3" destOrd="0" presId="urn:microsoft.com/office/officeart/2005/8/layout/list1"/>
    <dgm:cxn modelId="{1563CCC4-7B21-4436-9AA4-AC00C7E065BF}" type="presParOf" srcId="{70760479-1BFC-4D55-8DB3-D1D5148801F4}" destId="{AD6E64AD-11D3-472E-A155-7390E5951BAD}" srcOrd="4" destOrd="0" presId="urn:microsoft.com/office/officeart/2005/8/layout/list1"/>
    <dgm:cxn modelId="{42CD15E3-3A82-40C7-954E-C4098E438859}" type="presParOf" srcId="{AD6E64AD-11D3-472E-A155-7390E5951BAD}" destId="{61C4A0F6-CA49-417A-A9DB-41D7B37FF99C}" srcOrd="0" destOrd="0" presId="urn:microsoft.com/office/officeart/2005/8/layout/list1"/>
    <dgm:cxn modelId="{30A380E2-0AF4-484C-9173-A5DD8A145553}" type="presParOf" srcId="{AD6E64AD-11D3-472E-A155-7390E5951BAD}" destId="{0CF6AE3D-03CE-431F-A922-A447EA781693}" srcOrd="1" destOrd="0" presId="urn:microsoft.com/office/officeart/2005/8/layout/list1"/>
    <dgm:cxn modelId="{2C4FAF93-9AFD-44FA-BCCA-01B658FFE77F}" type="presParOf" srcId="{70760479-1BFC-4D55-8DB3-D1D5148801F4}" destId="{9619BC65-8D39-4121-8B55-C5E294232E59}" srcOrd="5" destOrd="0" presId="urn:microsoft.com/office/officeart/2005/8/layout/list1"/>
    <dgm:cxn modelId="{B56D0BF3-3546-4972-8E22-4E060021B011}" type="presParOf" srcId="{70760479-1BFC-4D55-8DB3-D1D5148801F4}" destId="{29199882-8BA9-4FD0-A527-B04ADB500502}" srcOrd="6" destOrd="0" presId="urn:microsoft.com/office/officeart/2005/8/layout/list1"/>
    <dgm:cxn modelId="{8E66D612-20E4-4040-83EA-FB910ED0BDA7}" type="presParOf" srcId="{70760479-1BFC-4D55-8DB3-D1D5148801F4}" destId="{F163B1A3-644B-4D0B-A3E4-089D4005A057}" srcOrd="7" destOrd="0" presId="urn:microsoft.com/office/officeart/2005/8/layout/list1"/>
    <dgm:cxn modelId="{FECD9CE0-2B92-4698-83BB-DF00948439BA}" type="presParOf" srcId="{70760479-1BFC-4D55-8DB3-D1D5148801F4}" destId="{8D476E7B-2C6C-4381-8A2E-6A546A3D28CB}" srcOrd="8" destOrd="0" presId="urn:microsoft.com/office/officeart/2005/8/layout/list1"/>
    <dgm:cxn modelId="{1F00B64F-18C1-48E4-91DA-C67576626910}" type="presParOf" srcId="{8D476E7B-2C6C-4381-8A2E-6A546A3D28CB}" destId="{85022BC7-25BB-41B4-82F5-31AFAB987AFF}" srcOrd="0" destOrd="0" presId="urn:microsoft.com/office/officeart/2005/8/layout/list1"/>
    <dgm:cxn modelId="{BDEE5DAA-9B31-47C2-B953-E56023C8A514}" type="presParOf" srcId="{8D476E7B-2C6C-4381-8A2E-6A546A3D28CB}" destId="{03B6A27A-BCF3-4996-BE8C-329DFF7660A8}" srcOrd="1" destOrd="0" presId="urn:microsoft.com/office/officeart/2005/8/layout/list1"/>
    <dgm:cxn modelId="{07F4C534-ACF4-4685-92FA-A11690BDC96A}" type="presParOf" srcId="{70760479-1BFC-4D55-8DB3-D1D5148801F4}" destId="{9E8E8BE6-5823-48C7-9E77-5332502C7E0F}" srcOrd="9" destOrd="0" presId="urn:microsoft.com/office/officeart/2005/8/layout/list1"/>
    <dgm:cxn modelId="{B7197201-A894-46B6-8C2F-37BC3CB57D6B}" type="presParOf" srcId="{70760479-1BFC-4D55-8DB3-D1D5148801F4}" destId="{7270368B-11BF-43FD-856C-9A4B99956B80}" srcOrd="10" destOrd="0" presId="urn:microsoft.com/office/officeart/2005/8/layout/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671F25-5BBC-4F6F-89C4-299D3C530187}">
      <dsp:nvSpPr>
        <dsp:cNvPr id="0" name=""/>
        <dsp:cNvSpPr/>
      </dsp:nvSpPr>
      <dsp:spPr>
        <a:xfrm>
          <a:off x="0" y="348017"/>
          <a:ext cx="5610226" cy="9576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35416" tIns="395732" rIns="360000"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t>Use the correct sex/gender-related variable to create a cohort that can support trustworthy analysis.</a:t>
          </a:r>
          <a:endParaRPr lang="en-NL" sz="1600" kern="1200" dirty="0"/>
        </a:p>
      </dsp:txBody>
      <dsp:txXfrm>
        <a:off x="0" y="348017"/>
        <a:ext cx="5610226" cy="957600"/>
      </dsp:txXfrm>
    </dsp:sp>
    <dsp:sp modelId="{1896D6C0-E9DC-4DD7-B530-F34E35DCE937}">
      <dsp:nvSpPr>
        <dsp:cNvPr id="0" name=""/>
        <dsp:cNvSpPr/>
      </dsp:nvSpPr>
      <dsp:spPr>
        <a:xfrm>
          <a:off x="280511" y="67577"/>
          <a:ext cx="3927158" cy="560880"/>
        </a:xfrm>
        <a:prstGeom prst="round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8437" tIns="0" rIns="148437" bIns="0" numCol="1" spcCol="1270" anchor="ctr" anchorCtr="0">
          <a:noAutofit/>
        </a:bodyPr>
        <a:lstStyle/>
        <a:p>
          <a:pPr marL="0" lvl="0" indent="0" algn="l" defTabSz="711200">
            <a:lnSpc>
              <a:spcPct val="90000"/>
            </a:lnSpc>
            <a:spcBef>
              <a:spcPct val="0"/>
            </a:spcBef>
            <a:spcAft>
              <a:spcPct val="35000"/>
            </a:spcAft>
            <a:buNone/>
          </a:pPr>
          <a:r>
            <a:rPr lang="en-US" sz="1600" b="1" kern="1200" dirty="0"/>
            <a:t>What Amir wants</a:t>
          </a:r>
          <a:endParaRPr lang="en-NL" sz="1600" b="1" kern="1200" dirty="0"/>
        </a:p>
      </dsp:txBody>
      <dsp:txXfrm>
        <a:off x="307891" y="94957"/>
        <a:ext cx="3872398" cy="506120"/>
      </dsp:txXfrm>
    </dsp:sp>
    <dsp:sp modelId="{29199882-8BA9-4FD0-A527-B04ADB500502}">
      <dsp:nvSpPr>
        <dsp:cNvPr id="0" name=""/>
        <dsp:cNvSpPr/>
      </dsp:nvSpPr>
      <dsp:spPr>
        <a:xfrm>
          <a:off x="0" y="1688657"/>
          <a:ext cx="5610226" cy="9576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35416" tIns="395732" rIns="360000"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t>Similar-looking variables across datasets may represent different meanings, making reuse risky.</a:t>
          </a:r>
          <a:endParaRPr lang="en-NL" sz="1600" kern="1200" dirty="0"/>
        </a:p>
      </dsp:txBody>
      <dsp:txXfrm>
        <a:off x="0" y="1688657"/>
        <a:ext cx="5610226" cy="957600"/>
      </dsp:txXfrm>
    </dsp:sp>
    <dsp:sp modelId="{0CF6AE3D-03CE-431F-A922-A447EA781693}">
      <dsp:nvSpPr>
        <dsp:cNvPr id="0" name=""/>
        <dsp:cNvSpPr/>
      </dsp:nvSpPr>
      <dsp:spPr>
        <a:xfrm>
          <a:off x="280511" y="1408217"/>
          <a:ext cx="3927158" cy="560880"/>
        </a:xfrm>
        <a:prstGeom prst="round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8437" tIns="0" rIns="148437" bIns="0" numCol="1" spcCol="1270" anchor="ctr" anchorCtr="0">
          <a:noAutofit/>
        </a:bodyPr>
        <a:lstStyle/>
        <a:p>
          <a:pPr marL="0" lvl="0" indent="0" algn="l" defTabSz="711200">
            <a:lnSpc>
              <a:spcPct val="90000"/>
            </a:lnSpc>
            <a:spcBef>
              <a:spcPct val="0"/>
            </a:spcBef>
            <a:spcAft>
              <a:spcPct val="35000"/>
            </a:spcAft>
            <a:buNone/>
          </a:pPr>
          <a:r>
            <a:rPr lang="en-US" sz="1600" b="1" kern="1200" dirty="0"/>
            <a:t>Amir’s challenge</a:t>
          </a:r>
          <a:endParaRPr lang="en-NL" sz="1600" b="1" kern="1200" dirty="0"/>
        </a:p>
      </dsp:txBody>
      <dsp:txXfrm>
        <a:off x="307891" y="1435597"/>
        <a:ext cx="3872398" cy="506120"/>
      </dsp:txXfrm>
    </dsp:sp>
    <dsp:sp modelId="{7270368B-11BF-43FD-856C-9A4B99956B80}">
      <dsp:nvSpPr>
        <dsp:cNvPr id="0" name=""/>
        <dsp:cNvSpPr/>
      </dsp:nvSpPr>
      <dsp:spPr>
        <a:xfrm>
          <a:off x="0" y="3029297"/>
          <a:ext cx="5610226" cy="9576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35416" tIns="395732" rIns="360000"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t>How can Amir avoid risky reuse when similar-looking variables may represent different meanings?</a:t>
          </a:r>
          <a:endParaRPr lang="en-NL" sz="1600" kern="1200" dirty="0"/>
        </a:p>
      </dsp:txBody>
      <dsp:txXfrm>
        <a:off x="0" y="3029297"/>
        <a:ext cx="5610226" cy="957600"/>
      </dsp:txXfrm>
    </dsp:sp>
    <dsp:sp modelId="{03B6A27A-BCF3-4996-BE8C-329DFF7660A8}">
      <dsp:nvSpPr>
        <dsp:cNvPr id="0" name=""/>
        <dsp:cNvSpPr/>
      </dsp:nvSpPr>
      <dsp:spPr>
        <a:xfrm>
          <a:off x="280511" y="2748857"/>
          <a:ext cx="3927158" cy="560880"/>
        </a:xfrm>
        <a:prstGeom prst="round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8437" tIns="0" rIns="148437" bIns="0" numCol="1" spcCol="1270" anchor="ctr" anchorCtr="0">
          <a:noAutofit/>
        </a:bodyPr>
        <a:lstStyle/>
        <a:p>
          <a:pPr marL="0" lvl="0" indent="0" algn="l" defTabSz="711200">
            <a:lnSpc>
              <a:spcPct val="90000"/>
            </a:lnSpc>
            <a:spcBef>
              <a:spcPct val="0"/>
            </a:spcBef>
            <a:spcAft>
              <a:spcPct val="35000"/>
            </a:spcAft>
            <a:buNone/>
          </a:pPr>
          <a:r>
            <a:rPr lang="en-US" sz="1600" b="1" kern="1200" dirty="0"/>
            <a:t>Guiding question</a:t>
          </a:r>
          <a:endParaRPr lang="en-NL" sz="1600" b="1" kern="1200" dirty="0"/>
        </a:p>
      </dsp:txBody>
      <dsp:txXfrm>
        <a:off x="307891" y="2776237"/>
        <a:ext cx="3872398" cy="50612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7BAC15-DC59-4FF0-A35E-63B19A7584AF}">
      <dsp:nvSpPr>
        <dsp:cNvPr id="0" name=""/>
        <dsp:cNvSpPr/>
      </dsp:nvSpPr>
      <dsp:spPr>
        <a:xfrm>
          <a:off x="1551" y="390340"/>
          <a:ext cx="3009419" cy="3540493"/>
        </a:xfrm>
        <a:prstGeom prst="rect">
          <a:avLst/>
        </a:prstGeom>
        <a:solidFill>
          <a:schemeClr val="lt1">
            <a:alpha val="4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2DF05040-81DA-48BC-9673-8AF4C20552F0}">
      <dsp:nvSpPr>
        <dsp:cNvPr id="0" name=""/>
        <dsp:cNvSpPr/>
      </dsp:nvSpPr>
      <dsp:spPr>
        <a:xfrm>
          <a:off x="152022" y="531960"/>
          <a:ext cx="2708477" cy="2301321"/>
        </a:xfrm>
        <a:prstGeom prst="rect">
          <a:avLst/>
        </a:prstGeom>
        <a:blipFill>
          <a:blip xmlns:r="http://schemas.openxmlformats.org/officeDocument/2006/relationships" r:embed="rId1"/>
          <a:srcRect/>
          <a:stretch>
            <a:fillRect t="-9000" b="-9000"/>
          </a:stretch>
        </a:blipFill>
        <a:ln>
          <a:solidFill>
            <a:schemeClr val="bg2">
              <a:lumMod val="90000"/>
            </a:schemeClr>
          </a:solidFill>
        </a:ln>
        <a:effectLst>
          <a:outerShdw blurRad="50800" dist="12700" dir="5400000" algn="ctr" rotWithShape="0">
            <a:srgbClr val="000000">
              <a:alpha val="50000"/>
            </a:srgbClr>
          </a:outerShdw>
        </a:effectLst>
      </dsp:spPr>
      <dsp:style>
        <a:lnRef idx="0">
          <a:scrgbClr r="0" g="0" b="0"/>
        </a:lnRef>
        <a:fillRef idx="1">
          <a:scrgbClr r="0" g="0" b="0"/>
        </a:fillRef>
        <a:effectRef idx="2">
          <a:scrgbClr r="0" g="0" b="0"/>
        </a:effectRef>
        <a:fontRef idx="minor"/>
      </dsp:style>
    </dsp:sp>
    <dsp:sp modelId="{30369D29-5851-4F5A-89A8-A1FEF75330DD}">
      <dsp:nvSpPr>
        <dsp:cNvPr id="0" name=""/>
        <dsp:cNvSpPr/>
      </dsp:nvSpPr>
      <dsp:spPr>
        <a:xfrm>
          <a:off x="152022" y="3187359"/>
          <a:ext cx="2708477" cy="601855"/>
        </a:xfrm>
        <a:prstGeom prst="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dirty="0"/>
            <a:t>(Biological) Sex: Male</a:t>
          </a:r>
          <a:endParaRPr lang="en-NL" sz="1400" kern="1200" dirty="0"/>
        </a:p>
        <a:p>
          <a:pPr marL="0" lvl="0" indent="0" algn="l" defTabSz="622300">
            <a:lnSpc>
              <a:spcPct val="90000"/>
            </a:lnSpc>
            <a:spcBef>
              <a:spcPct val="0"/>
            </a:spcBef>
            <a:spcAft>
              <a:spcPct val="35000"/>
            </a:spcAft>
            <a:buNone/>
          </a:pPr>
          <a:r>
            <a:rPr lang="en-US" sz="1400" kern="1200" dirty="0"/>
            <a:t>(Social) Gender: Male</a:t>
          </a:r>
          <a:endParaRPr lang="en-NL" sz="1400" kern="1200" dirty="0"/>
        </a:p>
      </dsp:txBody>
      <dsp:txXfrm>
        <a:off x="152022" y="3187359"/>
        <a:ext cx="2708477" cy="601855"/>
      </dsp:txXfrm>
    </dsp:sp>
    <dsp:sp modelId="{E136DF8C-D1DB-4C48-9240-BD42223BD201}">
      <dsp:nvSpPr>
        <dsp:cNvPr id="0" name=""/>
        <dsp:cNvSpPr/>
      </dsp:nvSpPr>
      <dsp:spPr>
        <a:xfrm>
          <a:off x="152022" y="2833281"/>
          <a:ext cx="2708477" cy="3540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t>Patient-001</a:t>
          </a:r>
          <a:endParaRPr lang="en-NL" sz="1600" b="1" kern="1200" dirty="0"/>
        </a:p>
      </dsp:txBody>
      <dsp:txXfrm>
        <a:off x="152022" y="2833281"/>
        <a:ext cx="2708477" cy="354077"/>
      </dsp:txXfrm>
    </dsp:sp>
    <dsp:sp modelId="{BE5F1572-A447-4997-B7C1-2B8E87C28E09}">
      <dsp:nvSpPr>
        <dsp:cNvPr id="0" name=""/>
        <dsp:cNvSpPr/>
      </dsp:nvSpPr>
      <dsp:spPr>
        <a:xfrm>
          <a:off x="3895965" y="390340"/>
          <a:ext cx="3009419" cy="3540493"/>
        </a:xfrm>
        <a:prstGeom prst="rect">
          <a:avLst/>
        </a:prstGeom>
        <a:solidFill>
          <a:schemeClr val="lt1">
            <a:alpha val="4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0B8A85D8-4111-4B5E-94D3-3398FD061187}">
      <dsp:nvSpPr>
        <dsp:cNvPr id="0" name=""/>
        <dsp:cNvSpPr/>
      </dsp:nvSpPr>
      <dsp:spPr>
        <a:xfrm>
          <a:off x="4046436" y="531960"/>
          <a:ext cx="2708477" cy="2301321"/>
        </a:xfrm>
        <a:prstGeom prst="rect">
          <a:avLst/>
        </a:prstGeom>
        <a:blipFill>
          <a:blip xmlns:r="http://schemas.openxmlformats.org/officeDocument/2006/relationships" r:embed="rId2"/>
          <a:srcRect/>
          <a:stretch>
            <a:fillRect t="-9000" b="-9000"/>
          </a:stretch>
        </a:blipFill>
        <a:ln>
          <a:solidFill>
            <a:schemeClr val="bg2">
              <a:lumMod val="90000"/>
            </a:schemeClr>
          </a:solidFill>
        </a:ln>
        <a:effectLst>
          <a:outerShdw blurRad="50800" dist="12700" dir="5400000" algn="ctr" rotWithShape="0">
            <a:srgbClr val="000000">
              <a:alpha val="50000"/>
            </a:srgbClr>
          </a:outerShdw>
        </a:effectLst>
      </dsp:spPr>
      <dsp:style>
        <a:lnRef idx="0">
          <a:scrgbClr r="0" g="0" b="0"/>
        </a:lnRef>
        <a:fillRef idx="1">
          <a:scrgbClr r="0" g="0" b="0"/>
        </a:fillRef>
        <a:effectRef idx="2">
          <a:scrgbClr r="0" g="0" b="0"/>
        </a:effectRef>
        <a:fontRef idx="minor"/>
      </dsp:style>
    </dsp:sp>
    <dsp:sp modelId="{4D0764FE-A32F-4969-8A80-EC1C58EFDB9C}">
      <dsp:nvSpPr>
        <dsp:cNvPr id="0" name=""/>
        <dsp:cNvSpPr/>
      </dsp:nvSpPr>
      <dsp:spPr>
        <a:xfrm>
          <a:off x="4046436" y="3187359"/>
          <a:ext cx="2708477" cy="601855"/>
        </a:xfrm>
        <a:prstGeom prst="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dirty="0"/>
            <a:t>(Biological) Sex: Male</a:t>
          </a:r>
          <a:endParaRPr lang="en-NL" sz="1400" kern="1200" dirty="0"/>
        </a:p>
        <a:p>
          <a:pPr marL="0" lvl="0" indent="0" algn="l" defTabSz="622300">
            <a:lnSpc>
              <a:spcPct val="90000"/>
            </a:lnSpc>
            <a:spcBef>
              <a:spcPct val="0"/>
            </a:spcBef>
            <a:spcAft>
              <a:spcPct val="35000"/>
            </a:spcAft>
            <a:buNone/>
          </a:pPr>
          <a:r>
            <a:rPr lang="en-US" sz="1400" kern="1200" dirty="0"/>
            <a:t>(Social) Gender: Female (Trans)</a:t>
          </a:r>
          <a:endParaRPr lang="en-NL" sz="1400" kern="1200" dirty="0"/>
        </a:p>
      </dsp:txBody>
      <dsp:txXfrm>
        <a:off x="4046436" y="3187359"/>
        <a:ext cx="2708477" cy="601855"/>
      </dsp:txXfrm>
    </dsp:sp>
    <dsp:sp modelId="{01877ED6-BA92-43FC-A70B-E91E700CFB37}">
      <dsp:nvSpPr>
        <dsp:cNvPr id="0" name=""/>
        <dsp:cNvSpPr/>
      </dsp:nvSpPr>
      <dsp:spPr>
        <a:xfrm>
          <a:off x="4046436" y="2833281"/>
          <a:ext cx="2708477" cy="3540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a:t>Patient-002</a:t>
          </a:r>
          <a:endParaRPr lang="en-NL" sz="1600" b="1" kern="1200" dirty="0"/>
        </a:p>
      </dsp:txBody>
      <dsp:txXfrm>
        <a:off x="4046436" y="2833281"/>
        <a:ext cx="2708477" cy="354077"/>
      </dsp:txXfrm>
    </dsp:sp>
    <dsp:sp modelId="{8CCC9092-02C7-4EFA-BE32-E14222A62392}">
      <dsp:nvSpPr>
        <dsp:cNvPr id="0" name=""/>
        <dsp:cNvSpPr/>
      </dsp:nvSpPr>
      <dsp:spPr>
        <a:xfrm>
          <a:off x="7790378" y="390340"/>
          <a:ext cx="3009419" cy="3540493"/>
        </a:xfrm>
        <a:prstGeom prst="rect">
          <a:avLst/>
        </a:prstGeom>
        <a:solidFill>
          <a:schemeClr val="lt1">
            <a:alpha val="4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92ED66F0-881F-41E1-96A9-763D5D5A48B5}">
      <dsp:nvSpPr>
        <dsp:cNvPr id="0" name=""/>
        <dsp:cNvSpPr/>
      </dsp:nvSpPr>
      <dsp:spPr>
        <a:xfrm>
          <a:off x="7940849" y="531960"/>
          <a:ext cx="2708477" cy="2301321"/>
        </a:xfrm>
        <a:prstGeom prst="rect">
          <a:avLst/>
        </a:prstGeom>
        <a:blipFill>
          <a:blip xmlns:r="http://schemas.openxmlformats.org/officeDocument/2006/relationships" r:embed="rId3"/>
          <a:srcRect/>
          <a:stretch>
            <a:fillRect t="-9000" b="-9000"/>
          </a:stretch>
        </a:blipFill>
        <a:ln>
          <a:solidFill>
            <a:schemeClr val="bg2">
              <a:lumMod val="90000"/>
            </a:schemeClr>
          </a:solidFill>
        </a:ln>
        <a:effectLst>
          <a:outerShdw blurRad="50800" dist="12700" dir="5400000" algn="ctr" rotWithShape="0">
            <a:srgbClr val="000000">
              <a:alpha val="50000"/>
            </a:srgbClr>
          </a:outerShdw>
        </a:effectLst>
      </dsp:spPr>
      <dsp:style>
        <a:lnRef idx="0">
          <a:scrgbClr r="0" g="0" b="0"/>
        </a:lnRef>
        <a:fillRef idx="1">
          <a:scrgbClr r="0" g="0" b="0"/>
        </a:fillRef>
        <a:effectRef idx="2">
          <a:scrgbClr r="0" g="0" b="0"/>
        </a:effectRef>
        <a:fontRef idx="minor"/>
      </dsp:style>
    </dsp:sp>
    <dsp:sp modelId="{7482A5E8-BC8F-4AEE-9D6D-EC66E1A46D4C}">
      <dsp:nvSpPr>
        <dsp:cNvPr id="0" name=""/>
        <dsp:cNvSpPr/>
      </dsp:nvSpPr>
      <dsp:spPr>
        <a:xfrm>
          <a:off x="7940849" y="3187359"/>
          <a:ext cx="2708477" cy="601855"/>
        </a:xfrm>
        <a:prstGeom prst="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dirty="0"/>
            <a:t>(Biological) Sex: Female</a:t>
          </a:r>
          <a:endParaRPr lang="en-NL" sz="1400" kern="1200" dirty="0"/>
        </a:p>
        <a:p>
          <a:pPr marL="0" lvl="0" indent="0" algn="l" defTabSz="622300">
            <a:lnSpc>
              <a:spcPct val="90000"/>
            </a:lnSpc>
            <a:spcBef>
              <a:spcPct val="0"/>
            </a:spcBef>
            <a:spcAft>
              <a:spcPct val="35000"/>
            </a:spcAft>
            <a:buNone/>
          </a:pPr>
          <a:r>
            <a:rPr lang="en-US" sz="1400" kern="1200" dirty="0"/>
            <a:t>(Social) Gender: Non-binary</a:t>
          </a:r>
          <a:endParaRPr lang="en-NL" sz="1400" kern="1200" dirty="0"/>
        </a:p>
      </dsp:txBody>
      <dsp:txXfrm>
        <a:off x="7940849" y="3187359"/>
        <a:ext cx="2708477" cy="601855"/>
      </dsp:txXfrm>
    </dsp:sp>
    <dsp:sp modelId="{0CA4B0F1-8C27-4F9D-A3DD-07465492F2D6}">
      <dsp:nvSpPr>
        <dsp:cNvPr id="0" name=""/>
        <dsp:cNvSpPr/>
      </dsp:nvSpPr>
      <dsp:spPr>
        <a:xfrm>
          <a:off x="7940849" y="2833281"/>
          <a:ext cx="2708477" cy="3540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a:t>Patient-003</a:t>
          </a:r>
          <a:endParaRPr lang="en-NL" sz="1600" b="1" kern="1200" dirty="0"/>
        </a:p>
      </dsp:txBody>
      <dsp:txXfrm>
        <a:off x="7940849" y="2833281"/>
        <a:ext cx="2708477" cy="35407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7BAC15-DC59-4FF0-A35E-63B19A7584AF}">
      <dsp:nvSpPr>
        <dsp:cNvPr id="0" name=""/>
        <dsp:cNvSpPr/>
      </dsp:nvSpPr>
      <dsp:spPr>
        <a:xfrm>
          <a:off x="445" y="27405"/>
          <a:ext cx="1739285" cy="2046217"/>
        </a:xfrm>
        <a:prstGeom prst="rect">
          <a:avLst/>
        </a:prstGeom>
        <a:solidFill>
          <a:schemeClr val="lt1">
            <a:alpha val="4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2DF05040-81DA-48BC-9673-8AF4C20552F0}">
      <dsp:nvSpPr>
        <dsp:cNvPr id="0" name=""/>
        <dsp:cNvSpPr/>
      </dsp:nvSpPr>
      <dsp:spPr>
        <a:xfrm>
          <a:off x="87410" y="109253"/>
          <a:ext cx="1565356" cy="1330041"/>
        </a:xfrm>
        <a:prstGeom prst="rect">
          <a:avLst/>
        </a:prstGeom>
        <a:blipFill>
          <a:blip xmlns:r="http://schemas.openxmlformats.org/officeDocument/2006/relationships" r:embed="rId1"/>
          <a:srcRect/>
          <a:stretch>
            <a:fillRect t="-9000" b="-9000"/>
          </a:stretch>
        </a:blipFill>
        <a:ln>
          <a:solidFill>
            <a:schemeClr val="bg2">
              <a:lumMod val="90000"/>
            </a:schemeClr>
          </a:solidFill>
        </a:ln>
        <a:effectLst>
          <a:outerShdw blurRad="50800" dist="12700" dir="5400000" algn="ctr" rotWithShape="0">
            <a:srgbClr val="000000">
              <a:alpha val="50000"/>
            </a:srgbClr>
          </a:outerShdw>
        </a:effectLst>
      </dsp:spPr>
      <dsp:style>
        <a:lnRef idx="0">
          <a:scrgbClr r="0" g="0" b="0"/>
        </a:lnRef>
        <a:fillRef idx="1">
          <a:scrgbClr r="0" g="0" b="0"/>
        </a:fillRef>
        <a:effectRef idx="2">
          <a:scrgbClr r="0" g="0" b="0"/>
        </a:effectRef>
        <a:fontRef idx="minor"/>
      </dsp:style>
    </dsp:sp>
    <dsp:sp modelId="{30369D29-5851-4F5A-89A8-A1FEF75330DD}">
      <dsp:nvSpPr>
        <dsp:cNvPr id="0" name=""/>
        <dsp:cNvSpPr/>
      </dsp:nvSpPr>
      <dsp:spPr>
        <a:xfrm>
          <a:off x="87410" y="1643933"/>
          <a:ext cx="1565356" cy="347840"/>
        </a:xfrm>
        <a:prstGeom prst="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l" defTabSz="355600">
            <a:lnSpc>
              <a:spcPct val="90000"/>
            </a:lnSpc>
            <a:spcBef>
              <a:spcPct val="0"/>
            </a:spcBef>
            <a:spcAft>
              <a:spcPct val="35000"/>
            </a:spcAft>
            <a:buNone/>
          </a:pPr>
          <a:r>
            <a:rPr lang="en-US" sz="800" kern="1200" dirty="0"/>
            <a:t>(Biological) Sex: Male</a:t>
          </a:r>
          <a:endParaRPr lang="en-NL" sz="800" kern="1200" dirty="0"/>
        </a:p>
        <a:p>
          <a:pPr marL="0" lvl="0" indent="0" algn="l" defTabSz="355600">
            <a:lnSpc>
              <a:spcPct val="90000"/>
            </a:lnSpc>
            <a:spcBef>
              <a:spcPct val="0"/>
            </a:spcBef>
            <a:spcAft>
              <a:spcPct val="35000"/>
            </a:spcAft>
            <a:buNone/>
          </a:pPr>
          <a:r>
            <a:rPr lang="en-US" sz="800" kern="1200" dirty="0"/>
            <a:t>(Social) Gender: Male</a:t>
          </a:r>
          <a:endParaRPr lang="en-NL" sz="800" kern="1200" dirty="0"/>
        </a:p>
      </dsp:txBody>
      <dsp:txXfrm>
        <a:off x="87410" y="1643933"/>
        <a:ext cx="1565356" cy="347840"/>
      </dsp:txXfrm>
    </dsp:sp>
    <dsp:sp modelId="{E136DF8C-D1DB-4C48-9240-BD42223BD201}">
      <dsp:nvSpPr>
        <dsp:cNvPr id="0" name=""/>
        <dsp:cNvSpPr/>
      </dsp:nvSpPr>
      <dsp:spPr>
        <a:xfrm>
          <a:off x="87410" y="1439295"/>
          <a:ext cx="1565356" cy="2046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b="1" kern="1200"/>
            <a:t>Patient-001</a:t>
          </a:r>
          <a:endParaRPr lang="en-NL" sz="900" b="1" kern="1200" dirty="0"/>
        </a:p>
      </dsp:txBody>
      <dsp:txXfrm>
        <a:off x="87410" y="1439295"/>
        <a:ext cx="1565356" cy="204638"/>
      </dsp:txXfrm>
    </dsp:sp>
    <dsp:sp modelId="{61729CCB-9515-4519-A792-EAB84117191A}">
      <dsp:nvSpPr>
        <dsp:cNvPr id="0" name=""/>
        <dsp:cNvSpPr/>
      </dsp:nvSpPr>
      <dsp:spPr>
        <a:xfrm>
          <a:off x="1913659" y="27405"/>
          <a:ext cx="1739285" cy="2046217"/>
        </a:xfrm>
        <a:prstGeom prst="rect">
          <a:avLst/>
        </a:prstGeom>
        <a:solidFill>
          <a:schemeClr val="lt1">
            <a:alpha val="4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02D1F558-C992-4F85-8E17-FBA9661CA627}">
      <dsp:nvSpPr>
        <dsp:cNvPr id="0" name=""/>
        <dsp:cNvSpPr/>
      </dsp:nvSpPr>
      <dsp:spPr>
        <a:xfrm>
          <a:off x="2000624" y="109253"/>
          <a:ext cx="1565356" cy="1330041"/>
        </a:xfrm>
        <a:prstGeom prst="rect">
          <a:avLst/>
        </a:prstGeom>
        <a:blipFill>
          <a:blip xmlns:r="http://schemas.openxmlformats.org/officeDocument/2006/relationships" r:embed="rId2"/>
          <a:srcRect/>
          <a:stretch>
            <a:fillRect t="-9000" b="-9000"/>
          </a:stretch>
        </a:blipFill>
        <a:ln>
          <a:noFill/>
        </a:ln>
        <a:effectLst>
          <a:outerShdw blurRad="50800" dist="12700" dir="5400000" algn="ctr" rotWithShape="0">
            <a:srgbClr val="000000">
              <a:alpha val="50000"/>
            </a:srgbClr>
          </a:outerShdw>
        </a:effectLst>
      </dsp:spPr>
      <dsp:style>
        <a:lnRef idx="0">
          <a:scrgbClr r="0" g="0" b="0"/>
        </a:lnRef>
        <a:fillRef idx="1">
          <a:scrgbClr r="0" g="0" b="0"/>
        </a:fillRef>
        <a:effectRef idx="2">
          <a:scrgbClr r="0" g="0" b="0"/>
        </a:effectRef>
        <a:fontRef idx="minor"/>
      </dsp:style>
    </dsp:sp>
    <dsp:sp modelId="{AD77C35C-7E47-4D30-BBF2-0106E6B5AD1D}">
      <dsp:nvSpPr>
        <dsp:cNvPr id="0" name=""/>
        <dsp:cNvSpPr/>
      </dsp:nvSpPr>
      <dsp:spPr>
        <a:xfrm>
          <a:off x="2000624" y="1643933"/>
          <a:ext cx="1565356" cy="347840"/>
        </a:xfrm>
        <a:prstGeom prst="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l" defTabSz="355600">
            <a:lnSpc>
              <a:spcPct val="90000"/>
            </a:lnSpc>
            <a:spcBef>
              <a:spcPct val="0"/>
            </a:spcBef>
            <a:spcAft>
              <a:spcPct val="35000"/>
            </a:spcAft>
            <a:buNone/>
          </a:pPr>
          <a:r>
            <a:rPr lang="en-US" sz="800" kern="1200" dirty="0"/>
            <a:t>(Biological) Sex: Male</a:t>
          </a:r>
          <a:endParaRPr lang="en-NL" sz="800" kern="1200" dirty="0"/>
        </a:p>
        <a:p>
          <a:pPr marL="0" lvl="0" indent="0" algn="l" defTabSz="355600">
            <a:lnSpc>
              <a:spcPct val="90000"/>
            </a:lnSpc>
            <a:spcBef>
              <a:spcPct val="0"/>
            </a:spcBef>
            <a:spcAft>
              <a:spcPct val="35000"/>
            </a:spcAft>
            <a:buNone/>
          </a:pPr>
          <a:r>
            <a:rPr lang="en-US" sz="800" kern="1200" dirty="0"/>
            <a:t>(Social) Gender: Female (Trans)</a:t>
          </a:r>
          <a:endParaRPr lang="en-NL" sz="800" kern="1200" dirty="0"/>
        </a:p>
      </dsp:txBody>
      <dsp:txXfrm>
        <a:off x="2000624" y="1643933"/>
        <a:ext cx="1565356" cy="347840"/>
      </dsp:txXfrm>
    </dsp:sp>
    <dsp:sp modelId="{F24A334F-23E1-4C7A-8933-4FBF6E1B0CB8}">
      <dsp:nvSpPr>
        <dsp:cNvPr id="0" name=""/>
        <dsp:cNvSpPr/>
      </dsp:nvSpPr>
      <dsp:spPr>
        <a:xfrm>
          <a:off x="2000624" y="1439295"/>
          <a:ext cx="1565356" cy="2046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b="1" kern="1200"/>
            <a:t>Patient-002</a:t>
          </a:r>
          <a:endParaRPr lang="en-NL" sz="900" b="1" kern="1200" dirty="0"/>
        </a:p>
      </dsp:txBody>
      <dsp:txXfrm>
        <a:off x="2000624" y="1439295"/>
        <a:ext cx="1565356" cy="204638"/>
      </dsp:txXfrm>
    </dsp:sp>
    <dsp:sp modelId="{FF040796-1AD1-4ADB-A3EC-614B71D12AC6}">
      <dsp:nvSpPr>
        <dsp:cNvPr id="0" name=""/>
        <dsp:cNvSpPr/>
      </dsp:nvSpPr>
      <dsp:spPr>
        <a:xfrm>
          <a:off x="957052" y="2247551"/>
          <a:ext cx="1739285" cy="2046217"/>
        </a:xfrm>
        <a:prstGeom prst="rect">
          <a:avLst/>
        </a:prstGeom>
        <a:solidFill>
          <a:schemeClr val="lt1">
            <a:alpha val="4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597087CC-C98D-4D61-B068-DE41E196529F}">
      <dsp:nvSpPr>
        <dsp:cNvPr id="0" name=""/>
        <dsp:cNvSpPr/>
      </dsp:nvSpPr>
      <dsp:spPr>
        <a:xfrm>
          <a:off x="1044017" y="2329400"/>
          <a:ext cx="1565356" cy="1330041"/>
        </a:xfrm>
        <a:prstGeom prst="rect">
          <a:avLst/>
        </a:prstGeom>
        <a:blipFill>
          <a:blip xmlns:r="http://schemas.openxmlformats.org/officeDocument/2006/relationships" r:embed="rId3"/>
          <a:srcRect/>
          <a:stretch>
            <a:fillRect t="-9000" b="-9000"/>
          </a:stretch>
        </a:blipFill>
        <a:ln>
          <a:noFill/>
        </a:ln>
        <a:effectLst>
          <a:outerShdw blurRad="50800" dist="12700" dir="5400000" algn="ctr" rotWithShape="0">
            <a:srgbClr val="000000">
              <a:alpha val="50000"/>
            </a:srgbClr>
          </a:outerShdw>
        </a:effectLst>
      </dsp:spPr>
      <dsp:style>
        <a:lnRef idx="0">
          <a:scrgbClr r="0" g="0" b="0"/>
        </a:lnRef>
        <a:fillRef idx="1">
          <a:scrgbClr r="0" g="0" b="0"/>
        </a:fillRef>
        <a:effectRef idx="2">
          <a:scrgbClr r="0" g="0" b="0"/>
        </a:effectRef>
        <a:fontRef idx="minor"/>
      </dsp:style>
    </dsp:sp>
    <dsp:sp modelId="{3BCE3F62-C0A5-44ED-BEC3-89835E81E17A}">
      <dsp:nvSpPr>
        <dsp:cNvPr id="0" name=""/>
        <dsp:cNvSpPr/>
      </dsp:nvSpPr>
      <dsp:spPr>
        <a:xfrm>
          <a:off x="1044017" y="3864080"/>
          <a:ext cx="1565356" cy="347840"/>
        </a:xfrm>
        <a:prstGeom prst="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l" defTabSz="355600">
            <a:lnSpc>
              <a:spcPct val="90000"/>
            </a:lnSpc>
            <a:spcBef>
              <a:spcPct val="0"/>
            </a:spcBef>
            <a:spcAft>
              <a:spcPct val="35000"/>
            </a:spcAft>
            <a:buNone/>
          </a:pPr>
          <a:r>
            <a:rPr lang="en-US" sz="800" kern="1200" dirty="0"/>
            <a:t>(Biological) Sex: Female</a:t>
          </a:r>
          <a:endParaRPr lang="en-NL" sz="800" kern="1200" dirty="0"/>
        </a:p>
        <a:p>
          <a:pPr marL="0" lvl="0" indent="0" algn="l" defTabSz="355600">
            <a:lnSpc>
              <a:spcPct val="90000"/>
            </a:lnSpc>
            <a:spcBef>
              <a:spcPct val="0"/>
            </a:spcBef>
            <a:spcAft>
              <a:spcPct val="35000"/>
            </a:spcAft>
            <a:buNone/>
          </a:pPr>
          <a:r>
            <a:rPr lang="en-US" sz="800" kern="1200" dirty="0"/>
            <a:t>(Social) Gender: Non-binary</a:t>
          </a:r>
          <a:endParaRPr lang="en-NL" sz="800" kern="1200" dirty="0"/>
        </a:p>
      </dsp:txBody>
      <dsp:txXfrm>
        <a:off x="1044017" y="3864080"/>
        <a:ext cx="1565356" cy="347840"/>
      </dsp:txXfrm>
    </dsp:sp>
    <dsp:sp modelId="{EDB797C2-3FDD-41D1-A3F1-116D37397FAB}">
      <dsp:nvSpPr>
        <dsp:cNvPr id="0" name=""/>
        <dsp:cNvSpPr/>
      </dsp:nvSpPr>
      <dsp:spPr>
        <a:xfrm>
          <a:off x="1044017" y="3659442"/>
          <a:ext cx="1565356" cy="2046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b="1" kern="1200"/>
            <a:t>Patient-003</a:t>
          </a:r>
          <a:endParaRPr lang="en-NL" sz="900" b="1" kern="1200" dirty="0"/>
        </a:p>
      </dsp:txBody>
      <dsp:txXfrm>
        <a:off x="1044017" y="3659442"/>
        <a:ext cx="1565356" cy="20463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671F25-5BBC-4F6F-89C4-299D3C530187}">
      <dsp:nvSpPr>
        <dsp:cNvPr id="0" name=""/>
        <dsp:cNvSpPr/>
      </dsp:nvSpPr>
      <dsp:spPr>
        <a:xfrm>
          <a:off x="0" y="297190"/>
          <a:ext cx="5610226" cy="937125"/>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35416" tIns="354076" rIns="360000"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t>Find the dataset column for biological sex so he can build a cohort that fits his research question.</a:t>
          </a:r>
          <a:endParaRPr lang="en-NL" sz="1600" kern="1200" dirty="0"/>
        </a:p>
      </dsp:txBody>
      <dsp:txXfrm>
        <a:off x="0" y="297190"/>
        <a:ext cx="5610226" cy="937125"/>
      </dsp:txXfrm>
    </dsp:sp>
    <dsp:sp modelId="{1896D6C0-E9DC-4DD7-B530-F34E35DCE937}">
      <dsp:nvSpPr>
        <dsp:cNvPr id="0" name=""/>
        <dsp:cNvSpPr/>
      </dsp:nvSpPr>
      <dsp:spPr>
        <a:xfrm>
          <a:off x="280511" y="46270"/>
          <a:ext cx="3927158" cy="501840"/>
        </a:xfrm>
        <a:prstGeom prst="round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8437" tIns="0" rIns="148437" bIns="0" numCol="1" spcCol="1270" anchor="ctr" anchorCtr="0">
          <a:noAutofit/>
        </a:bodyPr>
        <a:lstStyle/>
        <a:p>
          <a:pPr marL="0" lvl="0" indent="0" algn="l" defTabSz="711200">
            <a:lnSpc>
              <a:spcPct val="90000"/>
            </a:lnSpc>
            <a:spcBef>
              <a:spcPct val="0"/>
            </a:spcBef>
            <a:spcAft>
              <a:spcPct val="35000"/>
            </a:spcAft>
            <a:buNone/>
          </a:pPr>
          <a:r>
            <a:rPr lang="en-US" sz="1600" b="1" kern="1200" dirty="0"/>
            <a:t>What Amir wants</a:t>
          </a:r>
          <a:endParaRPr lang="en-NL" sz="1600" b="1" kern="1200" dirty="0"/>
        </a:p>
      </dsp:txBody>
      <dsp:txXfrm>
        <a:off x="305009" y="70768"/>
        <a:ext cx="3878162" cy="452844"/>
      </dsp:txXfrm>
    </dsp:sp>
    <dsp:sp modelId="{29199882-8BA9-4FD0-A527-B04ADB500502}">
      <dsp:nvSpPr>
        <dsp:cNvPr id="0" name=""/>
        <dsp:cNvSpPr/>
      </dsp:nvSpPr>
      <dsp:spPr>
        <a:xfrm>
          <a:off x="0" y="1577034"/>
          <a:ext cx="5610226" cy="1151325"/>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35416" tIns="354076" rIns="360000"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t>Several datasets appear relevant, but their sex/gender-related columns represent different meanings, making label-based selection unsafe.</a:t>
          </a:r>
          <a:endParaRPr lang="en-NL" sz="1600" kern="1200" dirty="0"/>
        </a:p>
      </dsp:txBody>
      <dsp:txXfrm>
        <a:off x="0" y="1577034"/>
        <a:ext cx="5610226" cy="1151325"/>
      </dsp:txXfrm>
    </dsp:sp>
    <dsp:sp modelId="{0CF6AE3D-03CE-431F-A922-A447EA781693}">
      <dsp:nvSpPr>
        <dsp:cNvPr id="0" name=""/>
        <dsp:cNvSpPr/>
      </dsp:nvSpPr>
      <dsp:spPr>
        <a:xfrm>
          <a:off x="280511" y="1326114"/>
          <a:ext cx="3927158" cy="501840"/>
        </a:xfrm>
        <a:prstGeom prst="round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8437" tIns="0" rIns="148437" bIns="0" numCol="1" spcCol="1270" anchor="ctr" anchorCtr="0">
          <a:noAutofit/>
        </a:bodyPr>
        <a:lstStyle/>
        <a:p>
          <a:pPr marL="0" lvl="0" indent="0" algn="l" defTabSz="711200">
            <a:lnSpc>
              <a:spcPct val="90000"/>
            </a:lnSpc>
            <a:spcBef>
              <a:spcPct val="0"/>
            </a:spcBef>
            <a:spcAft>
              <a:spcPct val="35000"/>
            </a:spcAft>
            <a:buNone/>
          </a:pPr>
          <a:r>
            <a:rPr lang="en-US" sz="1600" b="1" kern="1200" dirty="0"/>
            <a:t>Amir’s challenge</a:t>
          </a:r>
          <a:endParaRPr lang="en-NL" sz="1600" b="1" kern="1200" dirty="0"/>
        </a:p>
      </dsp:txBody>
      <dsp:txXfrm>
        <a:off x="305009" y="1350612"/>
        <a:ext cx="3878162" cy="452844"/>
      </dsp:txXfrm>
    </dsp:sp>
    <dsp:sp modelId="{7270368B-11BF-43FD-856C-9A4B99956B80}">
      <dsp:nvSpPr>
        <dsp:cNvPr id="0" name=""/>
        <dsp:cNvSpPr/>
      </dsp:nvSpPr>
      <dsp:spPr>
        <a:xfrm>
          <a:off x="0" y="3071079"/>
          <a:ext cx="5610226" cy="937125"/>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35416" tIns="354076" rIns="360000"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t>Which dataset contains the variable that represents biological sex?</a:t>
          </a:r>
          <a:endParaRPr lang="en-NL" sz="1600" kern="1200" dirty="0"/>
        </a:p>
      </dsp:txBody>
      <dsp:txXfrm>
        <a:off x="0" y="3071079"/>
        <a:ext cx="5610226" cy="937125"/>
      </dsp:txXfrm>
    </dsp:sp>
    <dsp:sp modelId="{03B6A27A-BCF3-4996-BE8C-329DFF7660A8}">
      <dsp:nvSpPr>
        <dsp:cNvPr id="0" name=""/>
        <dsp:cNvSpPr/>
      </dsp:nvSpPr>
      <dsp:spPr>
        <a:xfrm>
          <a:off x="280511" y="2820160"/>
          <a:ext cx="3927158" cy="501840"/>
        </a:xfrm>
        <a:prstGeom prst="round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8437" tIns="0" rIns="148437" bIns="0" numCol="1" spcCol="1270" anchor="ctr" anchorCtr="0">
          <a:noAutofit/>
        </a:bodyPr>
        <a:lstStyle/>
        <a:p>
          <a:pPr marL="0" lvl="0" indent="0" algn="l" defTabSz="711200">
            <a:lnSpc>
              <a:spcPct val="90000"/>
            </a:lnSpc>
            <a:spcBef>
              <a:spcPct val="0"/>
            </a:spcBef>
            <a:spcAft>
              <a:spcPct val="35000"/>
            </a:spcAft>
            <a:buNone/>
          </a:pPr>
          <a:r>
            <a:rPr lang="en-US" sz="1600" b="1" kern="1200" dirty="0"/>
            <a:t>Guiding question</a:t>
          </a:r>
          <a:endParaRPr lang="en-NL" sz="1600" b="1" kern="1200" dirty="0"/>
        </a:p>
      </dsp:txBody>
      <dsp:txXfrm>
        <a:off x="305009" y="2844658"/>
        <a:ext cx="3878162" cy="45284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671F25-5BBC-4F6F-89C4-299D3C530187}">
      <dsp:nvSpPr>
        <dsp:cNvPr id="0" name=""/>
        <dsp:cNvSpPr/>
      </dsp:nvSpPr>
      <dsp:spPr>
        <a:xfrm>
          <a:off x="0" y="297190"/>
          <a:ext cx="5610226" cy="937125"/>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35416" tIns="354076" rIns="360000"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t>Apply reusable mappings to relate dataset variables, standard concepts, and explicit meanings.</a:t>
          </a:r>
          <a:endParaRPr lang="en-NL" sz="1600" kern="1200" dirty="0"/>
        </a:p>
      </dsp:txBody>
      <dsp:txXfrm>
        <a:off x="0" y="297190"/>
        <a:ext cx="5610226" cy="937125"/>
      </dsp:txXfrm>
    </dsp:sp>
    <dsp:sp modelId="{1896D6C0-E9DC-4DD7-B530-F34E35DCE937}">
      <dsp:nvSpPr>
        <dsp:cNvPr id="0" name=""/>
        <dsp:cNvSpPr/>
      </dsp:nvSpPr>
      <dsp:spPr>
        <a:xfrm>
          <a:off x="280511" y="46270"/>
          <a:ext cx="3927158" cy="501840"/>
        </a:xfrm>
        <a:prstGeom prst="round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8437" tIns="0" rIns="148437" bIns="0" numCol="1" spcCol="1270" anchor="ctr" anchorCtr="0">
          <a:noAutofit/>
        </a:bodyPr>
        <a:lstStyle/>
        <a:p>
          <a:pPr marL="0" lvl="0" indent="0" algn="l" defTabSz="711200">
            <a:lnSpc>
              <a:spcPct val="90000"/>
            </a:lnSpc>
            <a:spcBef>
              <a:spcPct val="0"/>
            </a:spcBef>
            <a:spcAft>
              <a:spcPct val="35000"/>
            </a:spcAft>
            <a:buNone/>
          </a:pPr>
          <a:r>
            <a:rPr lang="en-US" sz="1600" b="1" kern="1200" dirty="0"/>
            <a:t>What Amir wants</a:t>
          </a:r>
          <a:endParaRPr lang="en-NL" sz="1600" b="1" kern="1200" dirty="0"/>
        </a:p>
      </dsp:txBody>
      <dsp:txXfrm>
        <a:off x="305009" y="70768"/>
        <a:ext cx="3878162" cy="452844"/>
      </dsp:txXfrm>
    </dsp:sp>
    <dsp:sp modelId="{29199882-8BA9-4FD0-A527-B04ADB500502}">
      <dsp:nvSpPr>
        <dsp:cNvPr id="0" name=""/>
        <dsp:cNvSpPr/>
      </dsp:nvSpPr>
      <dsp:spPr>
        <a:xfrm>
          <a:off x="0" y="1577034"/>
          <a:ext cx="5610226" cy="1151325"/>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35416" tIns="354076" rIns="360000"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t>The meanings are explicit and machine-readable, but these relationships must be captured as reusable mappings.</a:t>
          </a:r>
          <a:endParaRPr lang="en-NL" sz="1600" kern="1200" dirty="0"/>
        </a:p>
      </dsp:txBody>
      <dsp:txXfrm>
        <a:off x="0" y="1577034"/>
        <a:ext cx="5610226" cy="1151325"/>
      </dsp:txXfrm>
    </dsp:sp>
    <dsp:sp modelId="{0CF6AE3D-03CE-431F-A922-A447EA781693}">
      <dsp:nvSpPr>
        <dsp:cNvPr id="0" name=""/>
        <dsp:cNvSpPr/>
      </dsp:nvSpPr>
      <dsp:spPr>
        <a:xfrm>
          <a:off x="280511" y="1326114"/>
          <a:ext cx="3927158" cy="501840"/>
        </a:xfrm>
        <a:prstGeom prst="round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8437" tIns="0" rIns="148437" bIns="0" numCol="1" spcCol="1270" anchor="ctr" anchorCtr="0">
          <a:noAutofit/>
        </a:bodyPr>
        <a:lstStyle/>
        <a:p>
          <a:pPr marL="0" lvl="0" indent="0" algn="l" defTabSz="711200">
            <a:lnSpc>
              <a:spcPct val="90000"/>
            </a:lnSpc>
            <a:spcBef>
              <a:spcPct val="0"/>
            </a:spcBef>
            <a:spcAft>
              <a:spcPct val="35000"/>
            </a:spcAft>
            <a:buNone/>
          </a:pPr>
          <a:r>
            <a:rPr lang="en-US" sz="1600" b="1" kern="1200" dirty="0"/>
            <a:t>Amir’s challenge</a:t>
          </a:r>
          <a:endParaRPr lang="en-NL" sz="1600" b="1" kern="1200" dirty="0"/>
        </a:p>
      </dsp:txBody>
      <dsp:txXfrm>
        <a:off x="305009" y="1350612"/>
        <a:ext cx="3878162" cy="452844"/>
      </dsp:txXfrm>
    </dsp:sp>
    <dsp:sp modelId="{7270368B-11BF-43FD-856C-9A4B99956B80}">
      <dsp:nvSpPr>
        <dsp:cNvPr id="0" name=""/>
        <dsp:cNvSpPr/>
      </dsp:nvSpPr>
      <dsp:spPr>
        <a:xfrm>
          <a:off x="0" y="3071079"/>
          <a:ext cx="5610226" cy="937125"/>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35416" tIns="354076" rIns="360000"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t>How can mappings turn these relationships into reusable knowledge?</a:t>
          </a:r>
          <a:endParaRPr lang="en-NL" sz="1600" kern="1200" dirty="0"/>
        </a:p>
      </dsp:txBody>
      <dsp:txXfrm>
        <a:off x="0" y="3071079"/>
        <a:ext cx="5610226" cy="937125"/>
      </dsp:txXfrm>
    </dsp:sp>
    <dsp:sp modelId="{03B6A27A-BCF3-4996-BE8C-329DFF7660A8}">
      <dsp:nvSpPr>
        <dsp:cNvPr id="0" name=""/>
        <dsp:cNvSpPr/>
      </dsp:nvSpPr>
      <dsp:spPr>
        <a:xfrm>
          <a:off x="280511" y="2820160"/>
          <a:ext cx="3927158" cy="501840"/>
        </a:xfrm>
        <a:prstGeom prst="round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8437" tIns="0" rIns="148437" bIns="0" numCol="1" spcCol="1270" anchor="ctr" anchorCtr="0">
          <a:noAutofit/>
        </a:bodyPr>
        <a:lstStyle/>
        <a:p>
          <a:pPr marL="0" lvl="0" indent="0" algn="l" defTabSz="711200">
            <a:lnSpc>
              <a:spcPct val="90000"/>
            </a:lnSpc>
            <a:spcBef>
              <a:spcPct val="0"/>
            </a:spcBef>
            <a:spcAft>
              <a:spcPct val="35000"/>
            </a:spcAft>
            <a:buNone/>
          </a:pPr>
          <a:r>
            <a:rPr lang="en-US" sz="1600" b="1" kern="1200" dirty="0"/>
            <a:t>Guiding question</a:t>
          </a:r>
          <a:endParaRPr lang="en-NL" sz="1600" b="1" kern="1200" dirty="0"/>
        </a:p>
      </dsp:txBody>
      <dsp:txXfrm>
        <a:off x="305009" y="2844658"/>
        <a:ext cx="3878162" cy="45284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671F25-5BBC-4F6F-89C4-299D3C530187}">
      <dsp:nvSpPr>
        <dsp:cNvPr id="0" name=""/>
        <dsp:cNvSpPr/>
      </dsp:nvSpPr>
      <dsp:spPr>
        <a:xfrm>
          <a:off x="0" y="297190"/>
          <a:ext cx="5610226" cy="937125"/>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35416" tIns="354076" rIns="360000"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t>Query semantic context, mappings, and inferred knowledge to support data reuse decisions.</a:t>
          </a:r>
          <a:endParaRPr lang="en-NL" sz="1600" kern="1200" dirty="0"/>
        </a:p>
      </dsp:txBody>
      <dsp:txXfrm>
        <a:off x="0" y="297190"/>
        <a:ext cx="5610226" cy="937125"/>
      </dsp:txXfrm>
    </dsp:sp>
    <dsp:sp modelId="{1896D6C0-E9DC-4DD7-B530-F34E35DCE937}">
      <dsp:nvSpPr>
        <dsp:cNvPr id="0" name=""/>
        <dsp:cNvSpPr/>
      </dsp:nvSpPr>
      <dsp:spPr>
        <a:xfrm>
          <a:off x="280511" y="46270"/>
          <a:ext cx="3927158" cy="501840"/>
        </a:xfrm>
        <a:prstGeom prst="round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8437" tIns="0" rIns="148437" bIns="0" numCol="1" spcCol="1270" anchor="ctr" anchorCtr="0">
          <a:noAutofit/>
        </a:bodyPr>
        <a:lstStyle/>
        <a:p>
          <a:pPr marL="0" lvl="0" indent="0" algn="l" defTabSz="711200">
            <a:lnSpc>
              <a:spcPct val="90000"/>
            </a:lnSpc>
            <a:spcBef>
              <a:spcPct val="0"/>
            </a:spcBef>
            <a:spcAft>
              <a:spcPct val="35000"/>
            </a:spcAft>
            <a:buNone/>
          </a:pPr>
          <a:r>
            <a:rPr lang="en-US" sz="1600" b="1" kern="1200" dirty="0"/>
            <a:t>What Amir wants</a:t>
          </a:r>
          <a:endParaRPr lang="en-NL" sz="1600" b="1" kern="1200" dirty="0"/>
        </a:p>
      </dsp:txBody>
      <dsp:txXfrm>
        <a:off x="305009" y="70768"/>
        <a:ext cx="3878162" cy="452844"/>
      </dsp:txXfrm>
    </dsp:sp>
    <dsp:sp modelId="{29199882-8BA9-4FD0-A527-B04ADB500502}">
      <dsp:nvSpPr>
        <dsp:cNvPr id="0" name=""/>
        <dsp:cNvSpPr/>
      </dsp:nvSpPr>
      <dsp:spPr>
        <a:xfrm>
          <a:off x="0" y="1577034"/>
          <a:ext cx="5610226" cy="1151325"/>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35416" tIns="354076" rIns="360000"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t>Amir needs to move from connected semantic knowledge to queries that support concrete reuse decisions.</a:t>
          </a:r>
          <a:endParaRPr lang="en-NL" sz="1600" kern="1200" dirty="0"/>
        </a:p>
      </dsp:txBody>
      <dsp:txXfrm>
        <a:off x="0" y="1577034"/>
        <a:ext cx="5610226" cy="1151325"/>
      </dsp:txXfrm>
    </dsp:sp>
    <dsp:sp modelId="{0CF6AE3D-03CE-431F-A922-A447EA781693}">
      <dsp:nvSpPr>
        <dsp:cNvPr id="0" name=""/>
        <dsp:cNvSpPr/>
      </dsp:nvSpPr>
      <dsp:spPr>
        <a:xfrm>
          <a:off x="280511" y="1326114"/>
          <a:ext cx="3927158" cy="501840"/>
        </a:xfrm>
        <a:prstGeom prst="round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8437" tIns="0" rIns="148437" bIns="0" numCol="1" spcCol="1270" anchor="ctr" anchorCtr="0">
          <a:noAutofit/>
        </a:bodyPr>
        <a:lstStyle/>
        <a:p>
          <a:pPr marL="0" lvl="0" indent="0" algn="l" defTabSz="711200">
            <a:lnSpc>
              <a:spcPct val="90000"/>
            </a:lnSpc>
            <a:spcBef>
              <a:spcPct val="0"/>
            </a:spcBef>
            <a:spcAft>
              <a:spcPct val="35000"/>
            </a:spcAft>
            <a:buNone/>
          </a:pPr>
          <a:r>
            <a:rPr lang="en-US" sz="1600" b="1" kern="1200" dirty="0"/>
            <a:t>Amir’s challenge</a:t>
          </a:r>
          <a:endParaRPr lang="en-NL" sz="1600" b="1" kern="1200" dirty="0"/>
        </a:p>
      </dsp:txBody>
      <dsp:txXfrm>
        <a:off x="305009" y="1350612"/>
        <a:ext cx="3878162" cy="452844"/>
      </dsp:txXfrm>
    </dsp:sp>
    <dsp:sp modelId="{7270368B-11BF-43FD-856C-9A4B99956B80}">
      <dsp:nvSpPr>
        <dsp:cNvPr id="0" name=""/>
        <dsp:cNvSpPr/>
      </dsp:nvSpPr>
      <dsp:spPr>
        <a:xfrm>
          <a:off x="0" y="3071079"/>
          <a:ext cx="5610226" cy="937125"/>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35416" tIns="354076" rIns="360000"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t>How can Amir query semantic knowledge to support practical data reuse decisions?</a:t>
          </a:r>
          <a:endParaRPr lang="en-NL" sz="1600" kern="1200" dirty="0"/>
        </a:p>
      </dsp:txBody>
      <dsp:txXfrm>
        <a:off x="0" y="3071079"/>
        <a:ext cx="5610226" cy="937125"/>
      </dsp:txXfrm>
    </dsp:sp>
    <dsp:sp modelId="{03B6A27A-BCF3-4996-BE8C-329DFF7660A8}">
      <dsp:nvSpPr>
        <dsp:cNvPr id="0" name=""/>
        <dsp:cNvSpPr/>
      </dsp:nvSpPr>
      <dsp:spPr>
        <a:xfrm>
          <a:off x="280511" y="2820160"/>
          <a:ext cx="3927158" cy="501840"/>
        </a:xfrm>
        <a:prstGeom prst="round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8437" tIns="0" rIns="148437" bIns="0" numCol="1" spcCol="1270" anchor="ctr" anchorCtr="0">
          <a:noAutofit/>
        </a:bodyPr>
        <a:lstStyle/>
        <a:p>
          <a:pPr marL="0" lvl="0" indent="0" algn="l" defTabSz="711200">
            <a:lnSpc>
              <a:spcPct val="90000"/>
            </a:lnSpc>
            <a:spcBef>
              <a:spcPct val="0"/>
            </a:spcBef>
            <a:spcAft>
              <a:spcPct val="35000"/>
            </a:spcAft>
            <a:buNone/>
          </a:pPr>
          <a:r>
            <a:rPr lang="en-US" sz="1600" b="1" kern="1200" dirty="0"/>
            <a:t>Guiding question</a:t>
          </a:r>
          <a:endParaRPr lang="en-NL" sz="1600" b="1" kern="1200" dirty="0"/>
        </a:p>
      </dsp:txBody>
      <dsp:txXfrm>
        <a:off x="305009" y="2844658"/>
        <a:ext cx="3878162" cy="452844"/>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CaptionedPictures">
  <dgm:title val=""/>
  <dgm:desc val=""/>
  <dgm:catLst>
    <dgm:cat type="picture" pri="5000"/>
    <dgm:cat type="pictureconvert" pri="50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60" srcId="0" destId="10" srcOrd="0" destOrd="0"/>
        <dgm:cxn modelId="12" srcId="10" destId="11" srcOrd="0" destOrd="0"/>
        <dgm:cxn modelId="7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 modelId="40">
          <dgm:prSet phldr="1"/>
        </dgm:pt>
        <dgm:pt modelId="4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 modelId="90" srcId="0" destId="40" srcOrd="3" destOrd="0"/>
        <dgm:cxn modelId="42" srcId="40" destId="41" srcOrd="0" destOrd="0"/>
      </dgm:cxnLst>
      <dgm:bg/>
      <dgm:whole/>
    </dgm:dataModel>
  </dgm:clrData>
  <dgm:layoutNode name="Name0">
    <dgm:varLst>
      <dgm:chMax/>
      <dgm:chPref/>
      <dgm:dir/>
    </dgm:varLst>
    <dgm:choose name="Name1">
      <dgm:if name="Name2" func="var" arg="dir" op="equ" val="norm">
        <dgm:alg type="snake">
          <dgm:param type="off" val="ctr"/>
        </dgm:alg>
      </dgm:if>
      <dgm:else name="Name3">
        <dgm:alg type="snake">
          <dgm:param type="grDir" val="tR"/>
          <dgm:param type="off" val="ctr"/>
        </dgm:alg>
      </dgm:else>
    </dgm:choose>
    <dgm:shape xmlns:r="http://schemas.openxmlformats.org/officeDocument/2006/relationships" r:blip="">
      <dgm:adjLst/>
    </dgm:shape>
    <dgm:constrLst>
      <dgm:constr type="primFontSz" for="des" forName="Parent" op="equ"/>
      <dgm:constr type="primFontSz" for="des" forName="Child" refType="primFontSz" refFor="des" refForName="Parent" op="lte"/>
      <dgm:constr type="w" for="ch" forName="composite" refType="w"/>
      <dgm:constr type="h" for="ch" forName="composite" refType="h"/>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varLst>
          <dgm:chMax val="1"/>
          <dgm:chPref val="1"/>
        </dgm:varLst>
        <dgm:alg type="composite">
          <dgm:param type="ar" val="0.85"/>
        </dgm:alg>
        <dgm:shape xmlns:r="http://schemas.openxmlformats.org/officeDocument/2006/relationships" r:blip="">
          <dgm:adjLst/>
        </dgm:shape>
        <dgm:constrLst>
          <dgm:constr type="l" for="ch" forName="Accent" refType="w" fact="0"/>
          <dgm:constr type="t" for="ch" forName="Accent" refType="h" fact="0"/>
          <dgm:constr type="w" for="ch" forName="Accent" refType="w"/>
          <dgm:constr type="h" for="ch" forName="Accent" refType="h"/>
          <dgm:constr type="l" for="ch" forName="Image" refType="w" fact="0.05"/>
          <dgm:constr type="t" for="ch" forName="Image" refType="h" fact="0.04"/>
          <dgm:constr type="w" for="ch" forName="Image" refType="w" fact="0.9"/>
          <dgm:constr type="h" for="ch" forName="Image" refType="h" fact="0.65"/>
          <dgm:constr type="l" for="ch" forName="ChildComposite" refType="w" fact="0.05"/>
          <dgm:constr type="t" for="ch" forName="ChildComposite" refType="h" fact="0.69"/>
          <dgm:constr type="w" for="ch" forName="ChildComposite" refType="w" fact="0.9"/>
          <dgm:constr type="h" for="ch" forName="ChildComposite" refType="h" fact="0.27"/>
        </dgm:constrLst>
        <dgm:layoutNode name="Accent" styleLbl="trAlignAcc1">
          <dgm:varLst>
            <dgm:chMax val="0"/>
            <dgm:chPref val="0"/>
          </dgm:varLst>
          <dgm:alg type="sp"/>
          <dgm:shape xmlns:r="http://schemas.openxmlformats.org/officeDocument/2006/relationships" type="rect" r:blip="">
            <dgm:adjLst/>
          </dgm:shape>
          <dgm:presOf/>
        </dgm:layoutNode>
        <dgm:layoutNode name="Image" styleLbl="alignImgPlace1">
          <dgm:varLst>
            <dgm:chMax val="0"/>
            <dgm:chPref val="0"/>
          </dgm:varLst>
          <dgm:alg type="sp"/>
          <dgm:shape xmlns:r="http://schemas.openxmlformats.org/officeDocument/2006/relationships" type="rect" r:blip="" blipPhldr="1">
            <dgm:adjLst/>
          </dgm:shape>
          <dgm:presOf/>
        </dgm:layoutNode>
        <dgm:layoutNode name="ChildComposite">
          <dgm:alg type="composite"/>
          <dgm:shape xmlns:r="http://schemas.openxmlformats.org/officeDocument/2006/relationships" r:blip="">
            <dgm:adjLst/>
          </dgm:shape>
          <dgm:choose name="Name4">
            <dgm:if name="Name5" axis="ch" ptType="node" func="cnt" op="gte" val="1">
              <dgm:constrLst>
                <dgm:constr type="l" for="ch" forName="Parent" refType="w" fact="0"/>
                <dgm:constr type="t" for="ch" forName="Parent" refType="h" fact="0"/>
                <dgm:constr type="w" for="ch" forName="Parent" refType="w"/>
                <dgm:constr type="h" for="ch" forName="Parent" refType="h" fact="0.3704"/>
                <dgm:constr type="l" for="ch" forName="Child" refType="w" fact="0"/>
                <dgm:constr type="t" for="ch" forName="Child" refType="h" fact="0.3704"/>
                <dgm:constr type="w" for="ch" forName="Child" refType="w"/>
                <dgm:constr type="h" for="ch" forName="Child" refType="h" fact="0.6296"/>
              </dgm:constrLst>
            </dgm:if>
            <dgm:else name="Name6">
              <dgm:constrLst>
                <dgm:constr type="l" for="ch" forName="Parent" refType="w" fact="0"/>
                <dgm:constr type="t" for="ch" forName="Parent" refType="h" fact="0"/>
                <dgm:constr type="w" for="ch" forName="Parent" refType="w"/>
                <dgm:constr type="h" for="ch" forName="Parent" refType="h"/>
                <dgm:constr type="l" for="ch" forName="Child" refType="w" fact="0"/>
                <dgm:constr type="t" for="ch" forName="Child" refType="h" fact="0"/>
                <dgm:constr type="w" for="ch" forName="Child" refType="w" fact="0"/>
                <dgm:constr type="h" for="ch" forName="Child" refType="h" fact="0"/>
              </dgm:constrLst>
            </dgm:else>
          </dgm:choose>
          <dgm:layoutNode name="Child" styleLbl="node1">
            <dgm:varLst>
              <dgm:chMax val="0"/>
              <dgm:chPref val="0"/>
              <dgm:bulletEnabled val="1"/>
            </dgm:varLst>
            <dgm:choose name="Name7">
              <dgm:if name="Name8" axis="ch" ptType="node" func="cnt" op="gt" val="1">
                <dgm:alg type="tx">
                  <dgm:param type="parTxLTRAlign" val="l"/>
                  <dgm:param type="parTxRTLAlign" val="r"/>
                  <dgm:param type="txAnchorVert" val="mid"/>
                  <dgm:param type="txAnchorVertCh" val="mid"/>
                </dgm:alg>
              </dgm:if>
              <dgm:else name="Name9">
                <dgm:alg type="tx">
                  <dgm:param type="parTxLTRAlign" val="ctr"/>
                  <dgm:param type="parTxRTLAlign" val="ctr"/>
                  <dgm:param type="shpTxLTRAlignCh" val="l"/>
                  <dgm:param type="shpTxRTLAlignCh" val="r"/>
                  <dgm:param type="txAnchorVert" val="mid"/>
                  <dgm:param type="txAnchorVertCh" val="mid"/>
                </dgm:alg>
              </dgm:else>
            </dgm:choose>
            <dgm:choose name="Name10">
              <dgm:if name="Name11" axis="ch" ptType="node" func="cnt" op="gte" val="1">
                <dgm:shape xmlns:r="http://schemas.openxmlformats.org/officeDocument/2006/relationships" type="rect" r:blip="">
                  <dgm:adjLst/>
                </dgm:shape>
              </dgm:if>
              <dgm:else name="Name12">
                <dgm:shape xmlns:r="http://schemas.openxmlformats.org/officeDocument/2006/relationships" type="rect" r:blip="" hideGeom="1">
                  <dgm:adjLst/>
                </dgm:shape>
              </dgm:else>
            </dgm:choose>
            <dgm:choose name="Name13">
              <dgm:if name="Name14" axis="ch" ptType="node" func="cnt" op="gte" val="1">
                <dgm:presOf axis="des" ptType="node"/>
              </dgm:if>
              <dgm:else name="Name15">
                <dgm:presOf/>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 styleLbl="revTx">
            <dgm:varLst>
              <dgm:chMax val="1"/>
              <dgm:chPref val="0"/>
              <dgm:bulletEnabled val="1"/>
            </dgm:varLst>
            <dgm:alg type="tx">
              <dgm:param type="shpTxLTRAlignCh" val="ctr"/>
              <dgm:param type="txAnchorVert" val="mid"/>
            </dgm:alg>
            <dgm:shape xmlns:r="http://schemas.openxmlformats.org/officeDocument/2006/relationships" type="rect"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CaptionedPictures">
  <dgm:title val=""/>
  <dgm:desc val=""/>
  <dgm:catLst>
    <dgm:cat type="picture" pri="5000"/>
    <dgm:cat type="pictureconvert" pri="50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60" srcId="0" destId="10" srcOrd="0" destOrd="0"/>
        <dgm:cxn modelId="12" srcId="10" destId="11" srcOrd="0" destOrd="0"/>
        <dgm:cxn modelId="7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 modelId="40">
          <dgm:prSet phldr="1"/>
        </dgm:pt>
        <dgm:pt modelId="4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 modelId="90" srcId="0" destId="40" srcOrd="3" destOrd="0"/>
        <dgm:cxn modelId="42" srcId="40" destId="41" srcOrd="0" destOrd="0"/>
      </dgm:cxnLst>
      <dgm:bg/>
      <dgm:whole/>
    </dgm:dataModel>
  </dgm:clrData>
  <dgm:layoutNode name="Name0">
    <dgm:varLst>
      <dgm:chMax/>
      <dgm:chPref/>
      <dgm:dir/>
    </dgm:varLst>
    <dgm:choose name="Name1">
      <dgm:if name="Name2" func="var" arg="dir" op="equ" val="norm">
        <dgm:alg type="snake">
          <dgm:param type="off" val="ctr"/>
        </dgm:alg>
      </dgm:if>
      <dgm:else name="Name3">
        <dgm:alg type="snake">
          <dgm:param type="grDir" val="tR"/>
          <dgm:param type="off" val="ctr"/>
        </dgm:alg>
      </dgm:else>
    </dgm:choose>
    <dgm:shape xmlns:r="http://schemas.openxmlformats.org/officeDocument/2006/relationships" r:blip="">
      <dgm:adjLst/>
    </dgm:shape>
    <dgm:constrLst>
      <dgm:constr type="primFontSz" for="des" forName="Parent" op="equ"/>
      <dgm:constr type="primFontSz" for="des" forName="Child" refType="primFontSz" refFor="des" refForName="Parent" op="lte"/>
      <dgm:constr type="w" for="ch" forName="composite" refType="w"/>
      <dgm:constr type="h" for="ch" forName="composite" refType="h"/>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varLst>
          <dgm:chMax val="1"/>
          <dgm:chPref val="1"/>
        </dgm:varLst>
        <dgm:alg type="composite">
          <dgm:param type="ar" val="0.85"/>
        </dgm:alg>
        <dgm:shape xmlns:r="http://schemas.openxmlformats.org/officeDocument/2006/relationships" r:blip="">
          <dgm:adjLst/>
        </dgm:shape>
        <dgm:constrLst>
          <dgm:constr type="l" for="ch" forName="Accent" refType="w" fact="0"/>
          <dgm:constr type="t" for="ch" forName="Accent" refType="h" fact="0"/>
          <dgm:constr type="w" for="ch" forName="Accent" refType="w"/>
          <dgm:constr type="h" for="ch" forName="Accent" refType="h"/>
          <dgm:constr type="l" for="ch" forName="Image" refType="w" fact="0.05"/>
          <dgm:constr type="t" for="ch" forName="Image" refType="h" fact="0.04"/>
          <dgm:constr type="w" for="ch" forName="Image" refType="w" fact="0.9"/>
          <dgm:constr type="h" for="ch" forName="Image" refType="h" fact="0.65"/>
          <dgm:constr type="l" for="ch" forName="ChildComposite" refType="w" fact="0.05"/>
          <dgm:constr type="t" for="ch" forName="ChildComposite" refType="h" fact="0.69"/>
          <dgm:constr type="w" for="ch" forName="ChildComposite" refType="w" fact="0.9"/>
          <dgm:constr type="h" for="ch" forName="ChildComposite" refType="h" fact="0.27"/>
        </dgm:constrLst>
        <dgm:layoutNode name="Accent" styleLbl="trAlignAcc1">
          <dgm:varLst>
            <dgm:chMax val="0"/>
            <dgm:chPref val="0"/>
          </dgm:varLst>
          <dgm:alg type="sp"/>
          <dgm:shape xmlns:r="http://schemas.openxmlformats.org/officeDocument/2006/relationships" type="rect" r:blip="">
            <dgm:adjLst/>
          </dgm:shape>
          <dgm:presOf/>
        </dgm:layoutNode>
        <dgm:layoutNode name="Image" styleLbl="alignImgPlace1">
          <dgm:varLst>
            <dgm:chMax val="0"/>
            <dgm:chPref val="0"/>
          </dgm:varLst>
          <dgm:alg type="sp"/>
          <dgm:shape xmlns:r="http://schemas.openxmlformats.org/officeDocument/2006/relationships" type="rect" r:blip="" blipPhldr="1">
            <dgm:adjLst/>
          </dgm:shape>
          <dgm:presOf/>
        </dgm:layoutNode>
        <dgm:layoutNode name="ChildComposite">
          <dgm:alg type="composite"/>
          <dgm:shape xmlns:r="http://schemas.openxmlformats.org/officeDocument/2006/relationships" r:blip="">
            <dgm:adjLst/>
          </dgm:shape>
          <dgm:choose name="Name4">
            <dgm:if name="Name5" axis="ch" ptType="node" func="cnt" op="gte" val="1">
              <dgm:constrLst>
                <dgm:constr type="l" for="ch" forName="Parent" refType="w" fact="0"/>
                <dgm:constr type="t" for="ch" forName="Parent" refType="h" fact="0"/>
                <dgm:constr type="w" for="ch" forName="Parent" refType="w"/>
                <dgm:constr type="h" for="ch" forName="Parent" refType="h" fact="0.3704"/>
                <dgm:constr type="l" for="ch" forName="Child" refType="w" fact="0"/>
                <dgm:constr type="t" for="ch" forName="Child" refType="h" fact="0.3704"/>
                <dgm:constr type="w" for="ch" forName="Child" refType="w"/>
                <dgm:constr type="h" for="ch" forName="Child" refType="h" fact="0.6296"/>
              </dgm:constrLst>
            </dgm:if>
            <dgm:else name="Name6">
              <dgm:constrLst>
                <dgm:constr type="l" for="ch" forName="Parent" refType="w" fact="0"/>
                <dgm:constr type="t" for="ch" forName="Parent" refType="h" fact="0"/>
                <dgm:constr type="w" for="ch" forName="Parent" refType="w"/>
                <dgm:constr type="h" for="ch" forName="Parent" refType="h"/>
                <dgm:constr type="l" for="ch" forName="Child" refType="w" fact="0"/>
                <dgm:constr type="t" for="ch" forName="Child" refType="h" fact="0"/>
                <dgm:constr type="w" for="ch" forName="Child" refType="w" fact="0"/>
                <dgm:constr type="h" for="ch" forName="Child" refType="h" fact="0"/>
              </dgm:constrLst>
            </dgm:else>
          </dgm:choose>
          <dgm:layoutNode name="Child" styleLbl="node1">
            <dgm:varLst>
              <dgm:chMax val="0"/>
              <dgm:chPref val="0"/>
              <dgm:bulletEnabled val="1"/>
            </dgm:varLst>
            <dgm:choose name="Name7">
              <dgm:if name="Name8" axis="ch" ptType="node" func="cnt" op="gt" val="1">
                <dgm:alg type="tx">
                  <dgm:param type="parTxLTRAlign" val="l"/>
                  <dgm:param type="parTxRTLAlign" val="r"/>
                  <dgm:param type="txAnchorVert" val="mid"/>
                  <dgm:param type="txAnchorVertCh" val="mid"/>
                </dgm:alg>
              </dgm:if>
              <dgm:else name="Name9">
                <dgm:alg type="tx">
                  <dgm:param type="parTxLTRAlign" val="ctr"/>
                  <dgm:param type="parTxRTLAlign" val="ctr"/>
                  <dgm:param type="shpTxLTRAlignCh" val="l"/>
                  <dgm:param type="shpTxRTLAlignCh" val="r"/>
                  <dgm:param type="txAnchorVert" val="mid"/>
                  <dgm:param type="txAnchorVertCh" val="mid"/>
                </dgm:alg>
              </dgm:else>
            </dgm:choose>
            <dgm:choose name="Name10">
              <dgm:if name="Name11" axis="ch" ptType="node" func="cnt" op="gte" val="1">
                <dgm:shape xmlns:r="http://schemas.openxmlformats.org/officeDocument/2006/relationships" type="rect" r:blip="">
                  <dgm:adjLst/>
                </dgm:shape>
              </dgm:if>
              <dgm:else name="Name12">
                <dgm:shape xmlns:r="http://schemas.openxmlformats.org/officeDocument/2006/relationships" type="rect" r:blip="" hideGeom="1">
                  <dgm:adjLst/>
                </dgm:shape>
              </dgm:else>
            </dgm:choose>
            <dgm:choose name="Name13">
              <dgm:if name="Name14" axis="ch" ptType="node" func="cnt" op="gte" val="1">
                <dgm:presOf axis="des" ptType="node"/>
              </dgm:if>
              <dgm:else name="Name15">
                <dgm:presOf/>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 styleLbl="revTx">
            <dgm:varLst>
              <dgm:chMax val="1"/>
              <dgm:chPref val="0"/>
              <dgm:bulletEnabled val="1"/>
            </dgm:varLst>
            <dgm:alg type="tx">
              <dgm:param type="shpTxLTRAlignCh" val="ctr"/>
              <dgm:param type="txAnchorVert" val="mid"/>
            </dgm:alg>
            <dgm:shape xmlns:r="http://schemas.openxmlformats.org/officeDocument/2006/relationships" type="rect"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52ADB1-275D-430A-89EE-5C7E6CFF6FF2}" type="datetimeFigureOut">
              <a:rPr lang="en-US" smtClean="0"/>
              <a:t>5/22/2026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725628-3A68-42F4-BA86-981817953149}" type="slidenum">
              <a:rPr lang="en-US" smtClean="0"/>
              <a:t>‹#›</a:t>
            </a:fld>
            <a:endParaRPr lang="en-US" dirty="0"/>
          </a:p>
        </p:txBody>
      </p:sp>
    </p:spTree>
    <p:extLst>
      <p:ext uri="{BB962C8B-B14F-4D97-AF65-F5344CB8AC3E}">
        <p14:creationId xmlns:p14="http://schemas.microsoft.com/office/powerpoint/2010/main" val="6492586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In this presentation, I will walk you through applied use cases from the Health-RI Semantic Interoperability Initiative.</a:t>
            </a:r>
          </a:p>
          <a:p>
            <a:endParaRPr lang="en-US" dirty="0"/>
          </a:p>
          <a:p>
            <a:r>
              <a:rPr lang="en-US" dirty="0"/>
              <a:t>The focus is on how semantic technologies can support practical decisions in health data reuse. Rather than discussing interoperability in the abstract, we will follow a concrete user journey through a series of scenarios and show how meaning can be made explicit, compared, and reused across datasets.</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1</a:t>
            </a:fld>
            <a:endParaRPr lang="en-US" dirty="0"/>
          </a:p>
        </p:txBody>
      </p:sp>
    </p:spTree>
    <p:extLst>
      <p:ext uri="{BB962C8B-B14F-4D97-AF65-F5344CB8AC3E}">
        <p14:creationId xmlns:p14="http://schemas.microsoft.com/office/powerpoint/2010/main" val="41235326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now introduce the primary user for the presentation: Dr. Amir Hassan, a researcher preparing to reuse health data for analysis.</a:t>
            </a:r>
          </a:p>
          <a:p>
            <a:endParaRPr lang="en-US" dirty="0"/>
          </a:p>
          <a:p>
            <a:r>
              <a:rPr lang="en-US" dirty="0"/>
              <a:t>Amir is studying whether treatment outcomes differ across patient groups. To do that, he needs to stratify his cohort using the correct sex- or gender-related variable.</a:t>
            </a:r>
          </a:p>
          <a:p>
            <a:endParaRPr lang="en-US" dirty="0"/>
          </a:p>
          <a:p>
            <a:r>
              <a:rPr lang="en-US" dirty="0"/>
              <a:t>At first, this may sound straightforward. Many datasets contain variables that appear to describe sex or gender.</a:t>
            </a:r>
          </a:p>
          <a:p>
            <a:endParaRPr lang="en-US" dirty="0"/>
          </a:p>
          <a:p>
            <a:r>
              <a:rPr lang="en-US" dirty="0"/>
              <a:t>But before Amir can request data, he needs to know which datasets contain the concept he actually needs, and whether similar variables are defined in the same way across institutions.</a:t>
            </a:r>
          </a:p>
          <a:p>
            <a:endParaRPr lang="en-US" dirty="0"/>
          </a:p>
          <a:p>
            <a:r>
              <a:rPr lang="en-US" dirty="0"/>
              <a:t>This is the central challenge: the labels may look familiar, but the underlying meanings may not be the same.</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2</a:t>
            </a:fld>
            <a:endParaRPr lang="en-US" dirty="0"/>
          </a:p>
        </p:txBody>
      </p:sp>
    </p:spTree>
    <p:extLst>
      <p:ext uri="{BB962C8B-B14F-4D97-AF65-F5344CB8AC3E}">
        <p14:creationId xmlns:p14="http://schemas.microsoft.com/office/powerpoint/2010/main" val="20682298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A4CD39-9F9E-B63A-B061-4BCE3C643A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0CAAB0-78B5-A8C3-C0BD-3617325443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8E26E9-385B-E2F9-6C13-F25E99D909B1}"/>
              </a:ext>
            </a:extLst>
          </p:cNvPr>
          <p:cNvSpPr>
            <a:spLocks noGrp="1"/>
          </p:cNvSpPr>
          <p:nvPr>
            <p:ph type="body" idx="1"/>
          </p:nvPr>
        </p:nvSpPr>
        <p:spPr/>
        <p:txBody>
          <a:bodyPr/>
          <a:lstStyle/>
          <a:p>
            <a:r>
              <a:rPr lang="en-US" dirty="0"/>
              <a:t>We now move into the first applied scenario: clarifying meanings before reuse.</a:t>
            </a:r>
          </a:p>
          <a:p>
            <a:endParaRPr lang="en-US" dirty="0"/>
          </a:p>
          <a:p>
            <a:r>
              <a:rPr lang="en-US" dirty="0"/>
              <a:t>Before selecting or combining datasets, Amir needs to understand the landscape of related concepts. Although sex- and gender-related variables may appear similar at first glance, they can be based on very different aspects of a person’s identity or record, including biological characteristics, social identity, legal status, or the perspective of the person or institution defining the information.</a:t>
            </a:r>
          </a:p>
          <a:p>
            <a:endParaRPr lang="en-US" dirty="0"/>
          </a:p>
          <a:p>
            <a:r>
              <a:rPr lang="en-US" dirty="0"/>
              <a:t>At this step, Amir is trying to understand what is out there: which sex- and gender-related meanings are represented in the available datasets, how they differ from one another, and which one best matches what he needs for his study.</a:t>
            </a:r>
          </a:p>
          <a:p>
            <a:endParaRPr lang="en-US" dirty="0"/>
          </a:p>
          <a:p>
            <a:r>
              <a:rPr lang="en-US" dirty="0"/>
              <a:t>This is the first step in Amir’s workflow toward a more defensible decision about data reuse.</a:t>
            </a:r>
          </a:p>
        </p:txBody>
      </p:sp>
      <p:sp>
        <p:nvSpPr>
          <p:cNvPr id="4" name="Slide Number Placeholder 3">
            <a:extLst>
              <a:ext uri="{FF2B5EF4-FFF2-40B4-BE49-F238E27FC236}">
                <a16:creationId xmlns:a16="http://schemas.microsoft.com/office/drawing/2014/main" id="{CCE507B6-5731-B0F4-A013-031273C70B59}"/>
              </a:ext>
            </a:extLst>
          </p:cNvPr>
          <p:cNvSpPr>
            <a:spLocks noGrp="1"/>
          </p:cNvSpPr>
          <p:nvPr>
            <p:ph type="sldNum" sz="quarter" idx="5"/>
          </p:nvPr>
        </p:nvSpPr>
        <p:spPr/>
        <p:txBody>
          <a:bodyPr/>
          <a:lstStyle/>
          <a:p>
            <a:fld id="{4B725628-3A68-42F4-BA86-981817953149}" type="slidenum">
              <a:rPr lang="en-US" smtClean="0"/>
              <a:t>3</a:t>
            </a:fld>
            <a:endParaRPr lang="en-US" dirty="0"/>
          </a:p>
        </p:txBody>
      </p:sp>
    </p:spTree>
    <p:extLst>
      <p:ext uri="{BB962C8B-B14F-4D97-AF65-F5344CB8AC3E}">
        <p14:creationId xmlns:p14="http://schemas.microsoft.com/office/powerpoint/2010/main" val="29963274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makes Amir’s question explicit.</a:t>
            </a:r>
          </a:p>
          <a:p>
            <a:endParaRPr lang="en-US" dirty="0"/>
          </a:p>
          <a:p>
            <a:r>
              <a:rPr lang="en-US" dirty="0"/>
              <a:t>He wants to build a valid cohort by using the sex- or gender-related variable that best fits his research question.</a:t>
            </a:r>
          </a:p>
          <a:p>
            <a:endParaRPr lang="en-US" dirty="0"/>
          </a:p>
          <a:p>
            <a:r>
              <a:rPr lang="en-US" dirty="0"/>
              <a:t>The challenge is that several datasets may appear to contain similar information. But if those variables represent different meanings, treating them as equivalent could distort the study results.</a:t>
            </a:r>
          </a:p>
          <a:p>
            <a:endParaRPr lang="en-US" dirty="0"/>
          </a:p>
          <a:p>
            <a:r>
              <a:rPr lang="en-US" dirty="0"/>
              <a:t>So Amir’s guiding question is: how can he understand the relevant semantic differences before comparing or reusing these datasets?</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4</a:t>
            </a:fld>
            <a:endParaRPr lang="en-US" dirty="0"/>
          </a:p>
        </p:txBody>
      </p:sp>
    </p:spTree>
    <p:extLst>
      <p:ext uri="{BB962C8B-B14F-4D97-AF65-F5344CB8AC3E}">
        <p14:creationId xmlns:p14="http://schemas.microsoft.com/office/powerpoint/2010/main" val="24516494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Amir is now looking at three illustrative dataset options. These are fictional examples, designed to make the scenario realistic while keeping the focus on the semantic problem.</a:t>
            </a:r>
          </a:p>
          <a:p>
            <a:endParaRPr lang="en-US" dirty="0"/>
          </a:p>
          <a:p>
            <a:r>
              <a:rPr lang="en-US" dirty="0"/>
              <a:t>The first dataset is the NPR Demographic Extract. It includes a variable from Care-SM: </a:t>
            </a:r>
            <a:r>
              <a:rPr lang="en-US" dirty="0" err="1"/>
              <a:t>care-sm:Sex</a:t>
            </a:r>
            <a:r>
              <a:rPr lang="en-US" dirty="0"/>
              <a:t>, labeled “Biological sex.”</a:t>
            </a:r>
          </a:p>
          <a:p>
            <a:endParaRPr lang="en-US" dirty="0"/>
          </a:p>
          <a:p>
            <a:r>
              <a:rPr lang="en-US" dirty="0"/>
              <a:t>The second is the Hospital Registration Extract. It includes an openEHR-based variable: </a:t>
            </a:r>
            <a:r>
              <a:rPr lang="en-US" dirty="0" err="1"/>
              <a:t>hri-openehr:legal-gender</a:t>
            </a:r>
            <a:r>
              <a:rPr lang="en-US" dirty="0"/>
              <a:t>, labeled “Legal gender.”</a:t>
            </a:r>
          </a:p>
          <a:p>
            <a:endParaRPr lang="en-US" dirty="0"/>
          </a:p>
          <a:p>
            <a:r>
              <a:rPr lang="en-US" dirty="0"/>
              <a:t>The third is the Administrative Intake Extract. It includes a LOINC variable, labeled “Administrative gender.”</a:t>
            </a:r>
          </a:p>
          <a:p>
            <a:endParaRPr lang="en-US" dirty="0"/>
          </a:p>
          <a:p>
            <a:r>
              <a:rPr lang="en-US" dirty="0"/>
              <a:t>At first glance, all three datasets seem relevant to Amir’s question. But they do not necessarily represent the same kind of information. This is the point Amir needs to clarify before deciding which dataset can support his study.</a:t>
            </a:r>
          </a:p>
        </p:txBody>
      </p:sp>
      <p:sp>
        <p:nvSpPr>
          <p:cNvPr id="4" name="Slide Number Placeholder 3"/>
          <p:cNvSpPr>
            <a:spLocks noGrp="1"/>
          </p:cNvSpPr>
          <p:nvPr>
            <p:ph type="sldNum" sz="quarter" idx="5"/>
          </p:nvPr>
        </p:nvSpPr>
        <p:spPr/>
        <p:txBody>
          <a:bodyPr/>
          <a:lstStyle/>
          <a:p>
            <a:fld id="{4B725628-3A68-42F4-BA86-981817953149}" type="slidenum">
              <a:rPr lang="en-US" smtClean="0"/>
              <a:t>5</a:t>
            </a:fld>
            <a:endParaRPr lang="en-US" dirty="0"/>
          </a:p>
        </p:txBody>
      </p:sp>
    </p:spTree>
    <p:extLst>
      <p:ext uri="{BB962C8B-B14F-4D97-AF65-F5344CB8AC3E}">
        <p14:creationId xmlns:p14="http://schemas.microsoft.com/office/powerpoint/2010/main" val="26829145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datasets now show why labels alone are not enough.</a:t>
            </a:r>
          </a:p>
          <a:p>
            <a:endParaRPr lang="en-US" dirty="0"/>
          </a:p>
          <a:p>
            <a:r>
              <a:rPr lang="en-US" dirty="0"/>
              <a:t>For example, the value “female” appears in more than one dataset. But “female” in a biological sex column is not necessarily equivalent to “female” in a legal gender column.</a:t>
            </a:r>
          </a:p>
          <a:p>
            <a:endParaRPr lang="en-US" dirty="0"/>
          </a:p>
          <a:p>
            <a:r>
              <a:rPr lang="en-US" dirty="0"/>
              <a:t>We also see related terms such as “man” and “male.” These may look similar, but they do not necessarily refer to the same concept.</a:t>
            </a:r>
          </a:p>
          <a:p>
            <a:endParaRPr lang="en-US" dirty="0"/>
          </a:p>
          <a:p>
            <a:r>
              <a:rPr lang="en-US" dirty="0"/>
              <a:t>This highlights an important distinction: there is the value itself, and there is the meaning of the column in which that value appears.</a:t>
            </a:r>
          </a:p>
          <a:p>
            <a:endParaRPr lang="en-US" dirty="0"/>
          </a:p>
          <a:p>
            <a:r>
              <a:rPr lang="en-US" dirty="0"/>
              <a:t>So Amir should not only ask whether labels match. He needs to know whether the underlying meanings align.</a:t>
            </a:r>
          </a:p>
          <a:p>
            <a:endParaRPr lang="en-US" dirty="0"/>
          </a:p>
          <a:p>
            <a:r>
              <a:rPr lang="en-US"/>
              <a:t>This is why precise and explicit definitions are essential for responsible and reproducible data reuse.</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6</a:t>
            </a:fld>
            <a:endParaRPr lang="en-US" dirty="0"/>
          </a:p>
        </p:txBody>
      </p:sp>
    </p:spTree>
    <p:extLst>
      <p:ext uri="{BB962C8B-B14F-4D97-AF65-F5344CB8AC3E}">
        <p14:creationId xmlns:p14="http://schemas.microsoft.com/office/powerpoint/2010/main" val="3199901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 simple example that shows why similar labels can mislead reuse.</a:t>
            </a:r>
          </a:p>
          <a:p>
            <a:endParaRPr lang="en-US" dirty="0"/>
          </a:p>
          <a:p>
            <a:r>
              <a:rPr lang="en-US" dirty="0"/>
              <a:t>Here we see three patients. Each patient has information about biological sex and social gender.</a:t>
            </a:r>
          </a:p>
          <a:p>
            <a:endParaRPr lang="en-US" dirty="0"/>
          </a:p>
          <a:p>
            <a:r>
              <a:rPr lang="en-US" dirty="0"/>
              <a:t>The important point is that these are not the same variable.</a:t>
            </a:r>
          </a:p>
          <a:p>
            <a:endParaRPr lang="en-US" dirty="0"/>
          </a:p>
          <a:p>
            <a:r>
              <a:rPr lang="en-US" dirty="0"/>
              <a:t>Patient 1 has male biological sex and male social gender. Patient 2 has male biological sex, but their social gender is recorded as female. Patient 3 has female biological sex and non-binary social gender.</a:t>
            </a:r>
          </a:p>
        </p:txBody>
      </p:sp>
      <p:sp>
        <p:nvSpPr>
          <p:cNvPr id="4" name="Slide Number Placeholder 3"/>
          <p:cNvSpPr>
            <a:spLocks noGrp="1"/>
          </p:cNvSpPr>
          <p:nvPr>
            <p:ph type="sldNum" sz="quarter" idx="5"/>
          </p:nvPr>
        </p:nvSpPr>
        <p:spPr/>
        <p:txBody>
          <a:bodyPr/>
          <a:lstStyle/>
          <a:p>
            <a:fld id="{4B725628-3A68-42F4-BA86-981817953149}" type="slidenum">
              <a:rPr lang="en-US" smtClean="0"/>
              <a:t>7</a:t>
            </a:fld>
            <a:endParaRPr lang="en-US" dirty="0"/>
          </a:p>
        </p:txBody>
      </p:sp>
    </p:spTree>
    <p:extLst>
      <p:ext uri="{BB962C8B-B14F-4D97-AF65-F5344CB8AC3E}">
        <p14:creationId xmlns:p14="http://schemas.microsoft.com/office/powerpoint/2010/main" val="18750257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what can go wrong if Amir uses the wrong variable for his research question.</a:t>
            </a:r>
          </a:p>
          <a:p>
            <a:endParaRPr lang="en-US" dirty="0"/>
          </a:p>
          <a:p>
            <a:r>
              <a:rPr lang="en-US" dirty="0"/>
              <a:t>If the intended criterion is male biological sex, but Amir filters on gender equals male, he retrieves only Patient 1. He misses Patient 2, whose biological sex is male.</a:t>
            </a:r>
          </a:p>
          <a:p>
            <a:endParaRPr lang="en-US" dirty="0"/>
          </a:p>
          <a:p>
            <a:r>
              <a:rPr lang="en-US" dirty="0"/>
              <a:t>If the intended criterion is social gender, and Amir wants patients who socially identify as male, filtering on sex equals male retrieves Patient 1 and Patient 2. But Patient 2 should not be included for that question, because their social gender is recorded as female, with trans indicated.</a:t>
            </a:r>
          </a:p>
          <a:p>
            <a:endParaRPr lang="en-US" dirty="0"/>
          </a:p>
          <a:p>
            <a:r>
              <a:rPr lang="en-US" dirty="0"/>
              <a:t>And if Amir wants patients with female gender, but filters on sex equals female, he retrieves only Patient 3. He misses Patient 2.</a:t>
            </a:r>
          </a:p>
          <a:p>
            <a:endParaRPr lang="en-US" dirty="0"/>
          </a:p>
          <a:p>
            <a:r>
              <a:rPr lang="en-US" dirty="0"/>
              <a:t>So the issue is not simply a technical filtering mistake. It is a semantic mistake: the query uses a variable whose meaning does not match the study criterion.</a:t>
            </a:r>
          </a:p>
        </p:txBody>
      </p:sp>
      <p:sp>
        <p:nvSpPr>
          <p:cNvPr id="4" name="Slide Number Placeholder 3"/>
          <p:cNvSpPr>
            <a:spLocks noGrp="1"/>
          </p:cNvSpPr>
          <p:nvPr>
            <p:ph type="sldNum" sz="quarter" idx="5"/>
          </p:nvPr>
        </p:nvSpPr>
        <p:spPr/>
        <p:txBody>
          <a:bodyPr/>
          <a:lstStyle/>
          <a:p>
            <a:fld id="{4B725628-3A68-42F4-BA86-981817953149}" type="slidenum">
              <a:rPr lang="en-US" smtClean="0"/>
              <a:t>8</a:t>
            </a:fld>
            <a:endParaRPr lang="en-US" dirty="0"/>
          </a:p>
        </p:txBody>
      </p:sp>
    </p:spTree>
    <p:extLst>
      <p:ext uri="{BB962C8B-B14F-4D97-AF65-F5344CB8AC3E}">
        <p14:creationId xmlns:p14="http://schemas.microsoft.com/office/powerpoint/2010/main" val="18370941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can see that sex and gender are not single, uniform meanings. Each can be specialized into several related but different concepts.</a:t>
            </a:r>
          </a:p>
          <a:p>
            <a:endParaRPr lang="en-US" dirty="0"/>
          </a:p>
          <a:p>
            <a:r>
              <a:rPr lang="en-US" dirty="0"/>
              <a:t>For example, biological sex, sex at birth, and karyotypical sex are not automatically the same thing. In the same way, social gender, self-identified gender, administrative gender, and legal gender refer to different kinds of information.</a:t>
            </a:r>
          </a:p>
          <a:p>
            <a:endParaRPr lang="en-US" dirty="0"/>
          </a:p>
          <a:p>
            <a:r>
              <a:rPr lang="en-US" dirty="0"/>
              <a:t>So, before Amir compares variables across datasets, he needs to understand which specific meaning each variable refers to, and how those meanings relate to one another.</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9</a:t>
            </a:fld>
            <a:endParaRPr lang="en-US" dirty="0"/>
          </a:p>
        </p:txBody>
      </p:sp>
    </p:spTree>
    <p:extLst>
      <p:ext uri="{BB962C8B-B14F-4D97-AF65-F5344CB8AC3E}">
        <p14:creationId xmlns:p14="http://schemas.microsoft.com/office/powerpoint/2010/main" val="40246095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support this kind of clarification, we use HRIO: the Health-RI Ontology.</a:t>
            </a:r>
          </a:p>
          <a:p>
            <a:endParaRPr lang="en-US" dirty="0"/>
          </a:p>
          <a:p>
            <a:r>
              <a:rPr lang="en-US" dirty="0"/>
              <a:t>The Health-RI Ontology makes the intended meanings of variables precise and explicit. It uses OntoUML: a modeling language designed to describe concepts and their relationships in a clear and unambiguous way.</a:t>
            </a:r>
          </a:p>
        </p:txBody>
      </p:sp>
      <p:sp>
        <p:nvSpPr>
          <p:cNvPr id="4" name="Slide Number Placeholder 3"/>
          <p:cNvSpPr>
            <a:spLocks noGrp="1"/>
          </p:cNvSpPr>
          <p:nvPr>
            <p:ph type="sldNum" sz="quarter" idx="5"/>
          </p:nvPr>
        </p:nvSpPr>
        <p:spPr/>
        <p:txBody>
          <a:bodyPr/>
          <a:lstStyle/>
          <a:p>
            <a:fld id="{4B725628-3A68-42F4-BA86-981817953149}" type="slidenum">
              <a:rPr lang="en-US" smtClean="0"/>
              <a:t>10</a:t>
            </a:fld>
            <a:endParaRPr lang="en-US" dirty="0"/>
          </a:p>
        </p:txBody>
      </p:sp>
    </p:spTree>
    <p:extLst>
      <p:ext uri="{BB962C8B-B14F-4D97-AF65-F5344CB8AC3E}">
        <p14:creationId xmlns:p14="http://schemas.microsoft.com/office/powerpoint/2010/main" val="22558233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presents the HRIO taxonomies for sex and gender.</a:t>
            </a:r>
          </a:p>
          <a:p>
            <a:endParaRPr lang="en-US"/>
          </a:p>
          <a:p>
            <a:r>
              <a:rPr lang="en-US"/>
              <a:t>The details of the diagrams are not the main focus at this point. What this slide shows is that HRIO organizes these meanings into clear taxonomies.</a:t>
            </a:r>
          </a:p>
          <a:p>
            <a:endParaRPr lang="en-US"/>
          </a:p>
          <a:p>
            <a:r>
              <a:rPr lang="en-US"/>
              <a:t>Instead of treating all sex- and gender-related variables as one flat group, HRIO separates them into precise categories and makes their distinctions explicit.</a:t>
            </a:r>
          </a:p>
          <a:p>
            <a:endParaRPr lang="en-US"/>
          </a:p>
          <a:p>
            <a:r>
              <a:rPr lang="en-US"/>
              <a:t>This gives Amir a reference structure for asking better questions. For example, instead of simply asking for “gender,” he can now see that there are different kinds of gender-related concepts, connected in different ways, and identify which one best fits his study.</a:t>
            </a:r>
            <a:endParaRPr lang="en-US" dirty="0"/>
          </a:p>
        </p:txBody>
      </p:sp>
      <p:sp>
        <p:nvSpPr>
          <p:cNvPr id="4" name="Slide Number Placeholder 3"/>
          <p:cNvSpPr>
            <a:spLocks noGrp="1"/>
          </p:cNvSpPr>
          <p:nvPr>
            <p:ph type="sldNum" sz="quarter" idx="5"/>
          </p:nvPr>
        </p:nvSpPr>
        <p:spPr/>
        <p:txBody>
          <a:bodyPr/>
          <a:lstStyle/>
          <a:p>
            <a:fld id="{4B725628-3A68-42F4-BA86-981817953149}" type="slidenum">
              <a:rPr lang="en-US" smtClean="0"/>
              <a:t>11</a:t>
            </a:fld>
            <a:endParaRPr lang="en-US" dirty="0"/>
          </a:p>
        </p:txBody>
      </p:sp>
    </p:spTree>
    <p:extLst>
      <p:ext uri="{BB962C8B-B14F-4D97-AF65-F5344CB8AC3E}">
        <p14:creationId xmlns:p14="http://schemas.microsoft.com/office/powerpoint/2010/main" val="16829315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these distinctions in place, Amir can use HRIO to identify the intended meaning of each dataset variable.</a:t>
            </a:r>
          </a:p>
          <a:p>
            <a:endParaRPr lang="en-US" dirty="0"/>
          </a:p>
          <a:p>
            <a:r>
              <a:rPr lang="en-US" dirty="0"/>
              <a:t>The Care-SM variable, labeled “Biological sex,” is linked to HRIO’s Sex concept. The openEHR-based variable, labeled “Legal gender,” is linked to HRIO’s Legal Gender concept. And the LOINC variable, labeled “Administrative gender,” is linked to HRIO’s Administrative Gender concept.</a:t>
            </a:r>
          </a:p>
          <a:p>
            <a:endParaRPr lang="en-US" dirty="0"/>
          </a:p>
          <a:p>
            <a:r>
              <a:rPr lang="en-US" dirty="0"/>
              <a:t>The key point is that each variable keeps its original representation, but its meaning becomes explicit.</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12</a:t>
            </a:fld>
            <a:endParaRPr lang="en-US" dirty="0"/>
          </a:p>
        </p:txBody>
      </p:sp>
    </p:spTree>
    <p:extLst>
      <p:ext uri="{BB962C8B-B14F-4D97-AF65-F5344CB8AC3E}">
        <p14:creationId xmlns:p14="http://schemas.microsoft.com/office/powerpoint/2010/main" val="23684571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now return to the dataset variables from Amir’s scenario.</a:t>
            </a:r>
          </a:p>
          <a:p>
            <a:endParaRPr lang="en-US" dirty="0"/>
          </a:p>
          <a:p>
            <a:r>
              <a:rPr lang="en-US" dirty="0"/>
              <a:t>The variables may still look comparable because they contain familiar values such as female, male, woman, man, and non-binary.</a:t>
            </a:r>
          </a:p>
          <a:p>
            <a:endParaRPr lang="en-US" dirty="0"/>
          </a:p>
          <a:p>
            <a:r>
              <a:rPr lang="en-US" dirty="0"/>
              <a:t>But after Amir uses HRIO to identify the intended meaning of each variable, their differences become clear.</a:t>
            </a:r>
          </a:p>
          <a:p>
            <a:endParaRPr lang="en-US" dirty="0"/>
          </a:p>
          <a:p>
            <a:r>
              <a:rPr lang="en-US" dirty="0"/>
              <a:t>One variable is about biological sex. One is about legal gender. One is about administrative gender.</a:t>
            </a:r>
          </a:p>
          <a:p>
            <a:endParaRPr lang="en-US" dirty="0"/>
          </a:p>
          <a:p>
            <a:r>
              <a:rPr lang="en-US" dirty="0"/>
              <a:t>So the conclusion for this first scenario is clear: Amir should not treat these variables as interchangeable just because their labels or values look similar.</a:t>
            </a:r>
          </a:p>
          <a:p>
            <a:endParaRPr lang="en-US" dirty="0"/>
          </a:p>
          <a:p>
            <a:r>
              <a:rPr lang="en-US" dirty="0"/>
              <a:t>By making the meanings explicit, he can avoid label-based guessing and move toward a more defensible decision about which data can be reused for his study.</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13</a:t>
            </a:fld>
            <a:endParaRPr lang="en-US" dirty="0"/>
          </a:p>
        </p:txBody>
      </p:sp>
    </p:spTree>
    <p:extLst>
      <p:ext uri="{BB962C8B-B14F-4D97-AF65-F5344CB8AC3E}">
        <p14:creationId xmlns:p14="http://schemas.microsoft.com/office/powerpoint/2010/main" val="30143618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976FF-880B-14F5-D84A-1608928647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17A925-87DB-5A9D-ABB3-FA4EAEEB95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4E3DAF-4320-F7C8-2E1A-76F811688348}"/>
              </a:ext>
            </a:extLst>
          </p:cNvPr>
          <p:cNvSpPr>
            <a:spLocks noGrp="1"/>
          </p:cNvSpPr>
          <p:nvPr>
            <p:ph type="body" idx="1"/>
          </p:nvPr>
        </p:nvSpPr>
        <p:spPr/>
        <p:txBody>
          <a:bodyPr/>
          <a:lstStyle/>
          <a:p>
            <a:r>
              <a:rPr lang="en-US" dirty="0"/>
              <a:t>We now move from Scenario 1 into Scenario 2.</a:t>
            </a:r>
          </a:p>
          <a:p>
            <a:endParaRPr lang="en-US" dirty="0"/>
          </a:p>
          <a:p>
            <a:r>
              <a:rPr lang="en-US" dirty="0"/>
              <a:t>In the first scenario, Amir clarified that sex- and gender-related variables can represent different meanings. In this scenario, he applies that understanding to a practical task: moving from conceptual clarification to dataset selection.</a:t>
            </a:r>
          </a:p>
          <a:p>
            <a:endParaRPr lang="en-US" dirty="0"/>
          </a:p>
          <a:p>
            <a:r>
              <a:rPr lang="en-US" dirty="0"/>
              <a:t>For Amir, the issue is no longer only whether meanings differ. The next question is how those clarified meanings can help him identify the dataset that fits his study.</a:t>
            </a:r>
          </a:p>
        </p:txBody>
      </p:sp>
      <p:sp>
        <p:nvSpPr>
          <p:cNvPr id="4" name="Slide Number Placeholder 3">
            <a:extLst>
              <a:ext uri="{FF2B5EF4-FFF2-40B4-BE49-F238E27FC236}">
                <a16:creationId xmlns:a16="http://schemas.microsoft.com/office/drawing/2014/main" id="{1E15F549-EFB6-FD56-DB79-55A2F69FF8C1}"/>
              </a:ext>
            </a:extLst>
          </p:cNvPr>
          <p:cNvSpPr>
            <a:spLocks noGrp="1"/>
          </p:cNvSpPr>
          <p:nvPr>
            <p:ph type="sldNum" sz="quarter" idx="5"/>
          </p:nvPr>
        </p:nvSpPr>
        <p:spPr/>
        <p:txBody>
          <a:bodyPr/>
          <a:lstStyle/>
          <a:p>
            <a:fld id="{4B725628-3A68-42F4-BA86-981817953149}" type="slidenum">
              <a:rPr lang="en-US" smtClean="0"/>
              <a:t>14</a:t>
            </a:fld>
            <a:endParaRPr lang="en-US" dirty="0"/>
          </a:p>
        </p:txBody>
      </p:sp>
    </p:spTree>
    <p:extLst>
      <p:ext uri="{BB962C8B-B14F-4D97-AF65-F5344CB8AC3E}">
        <p14:creationId xmlns:p14="http://schemas.microsoft.com/office/powerpoint/2010/main" val="29461325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scenario, Amir wants to identify the datasets that contain the right variable for his study: a column representing biological sex.</a:t>
            </a:r>
          </a:p>
          <a:p>
            <a:endParaRPr lang="en-US" dirty="0"/>
          </a:p>
          <a:p>
            <a:r>
              <a:rPr lang="en-US" dirty="0"/>
              <a:t>Several datasets may look relevant at first glance. They all contain sex- or gender-related columns, and some of their values may look familiar. But Amir knows that visible labels alone are not enough.</a:t>
            </a:r>
          </a:p>
          <a:p>
            <a:endParaRPr lang="en-US" dirty="0"/>
          </a:p>
          <a:p>
            <a:r>
              <a:rPr lang="en-US" dirty="0"/>
              <a:t>So the guiding question becomes: which datasets contain the variable that actually represents biological sex?</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15</a:t>
            </a:fld>
            <a:endParaRPr lang="en-US" dirty="0"/>
          </a:p>
        </p:txBody>
      </p:sp>
    </p:spTree>
    <p:extLst>
      <p:ext uri="{BB962C8B-B14F-4D97-AF65-F5344CB8AC3E}">
        <p14:creationId xmlns:p14="http://schemas.microsoft.com/office/powerpoint/2010/main" val="2737149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understand the problem more generally, we start with a simple question: when can two datasets be safely reused together?</a:t>
            </a:r>
          </a:p>
          <a:p>
            <a:endParaRPr lang="en-US" dirty="0"/>
          </a:p>
          <a:p>
            <a:r>
              <a:rPr lang="en-US" dirty="0"/>
              <a:t>At the bottom, we have dataset columns. At the level above, we have standard concepts. A dataset column may implement a standard concept.</a:t>
            </a:r>
          </a:p>
          <a:p>
            <a:endParaRPr lang="en-US" dirty="0"/>
          </a:p>
          <a:p>
            <a:r>
              <a:rPr lang="en-US" dirty="0"/>
              <a:t>When the relevant columns from different datasets implement the same standard concept, that shared concept can provide a useful point of alignment.</a:t>
            </a:r>
          </a:p>
          <a:p>
            <a:endParaRPr lang="en-US" dirty="0"/>
          </a:p>
          <a:p>
            <a:r>
              <a:rPr lang="en-US" dirty="0"/>
              <a:t>However, this only works under two important conditions: the standard concept must be well defined, and the datasets must implement it correctly.</a:t>
            </a:r>
          </a:p>
          <a:p>
            <a:endParaRPr lang="en-US" dirty="0"/>
          </a:p>
          <a:p>
            <a:r>
              <a:rPr lang="en-US" dirty="0"/>
              <a:t>So, this model can support interoperability, but only when the shared standard concept is sufficiently precise and reliably used.</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16</a:t>
            </a:fld>
            <a:endParaRPr lang="en-US" dirty="0"/>
          </a:p>
        </p:txBody>
      </p:sp>
    </p:spTree>
    <p:extLst>
      <p:ext uri="{BB962C8B-B14F-4D97-AF65-F5344CB8AC3E}">
        <p14:creationId xmlns:p14="http://schemas.microsoft.com/office/powerpoint/2010/main" val="39142370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question is what happens when two dataset columns do not implement the same standard concept.</a:t>
            </a:r>
          </a:p>
          <a:p>
            <a:endParaRPr lang="en-US" dirty="0"/>
          </a:p>
          <a:p>
            <a:r>
              <a:rPr lang="en-US" dirty="0"/>
              <a:t>For example, can D1 and D2 be compared or combined safely?</a:t>
            </a:r>
          </a:p>
          <a:p>
            <a:endParaRPr lang="en-US" dirty="0"/>
          </a:p>
          <a:p>
            <a:r>
              <a:rPr lang="en-US" dirty="0"/>
              <a:t>If both columns point to the same well-defined standard concept, we have visible evidence of alignment. But if that shared concept is missing, indirect, or unclear, then interoperability becomes harder to assess.</a:t>
            </a:r>
          </a:p>
          <a:p>
            <a:endParaRPr lang="en-US" dirty="0"/>
          </a:p>
          <a:p>
            <a:r>
              <a:rPr lang="en-US" dirty="0"/>
              <a:t>Without explicit meanings, we can only see interoperability when datasets share the same standard concept.</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17</a:t>
            </a:fld>
            <a:endParaRPr lang="en-US" dirty="0"/>
          </a:p>
        </p:txBody>
      </p:sp>
    </p:spTree>
    <p:extLst>
      <p:ext uri="{BB962C8B-B14F-4D97-AF65-F5344CB8AC3E}">
        <p14:creationId xmlns:p14="http://schemas.microsoft.com/office/powerpoint/2010/main" val="14183279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make the condition for semantic interoperability more explicit.</a:t>
            </a:r>
          </a:p>
          <a:p>
            <a:endParaRPr lang="en-US" dirty="0"/>
          </a:p>
          <a:p>
            <a:r>
              <a:rPr lang="en-US" dirty="0"/>
              <a:t>D1 and D2 may both appear relevant, and their concepts may belong to the same broad area. But once we look at the meanings layer, we see that they point to different meanings.</a:t>
            </a:r>
          </a:p>
          <a:p>
            <a:endParaRPr lang="en-US" dirty="0"/>
          </a:p>
          <a:p>
            <a:r>
              <a:rPr lang="en-US" dirty="0"/>
              <a:t>That difference matters. If the concepts do not share the same meaning, then the variables cannot be safely reused together.</a:t>
            </a:r>
          </a:p>
          <a:p>
            <a:endParaRPr lang="en-US" dirty="0"/>
          </a:p>
          <a:p>
            <a:r>
              <a:rPr lang="en-US" dirty="0"/>
              <a:t>So for Amir, this is a negative result: without shared meaning, these variables should not be treated as interoperable for his study.</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18</a:t>
            </a:fld>
            <a:endParaRPr lang="en-US" dirty="0"/>
          </a:p>
        </p:txBody>
      </p:sp>
    </p:spTree>
    <p:extLst>
      <p:ext uri="{BB962C8B-B14F-4D97-AF65-F5344CB8AC3E}">
        <p14:creationId xmlns:p14="http://schemas.microsoft.com/office/powerpoint/2010/main" val="30447075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see the positive case.</a:t>
            </a:r>
          </a:p>
          <a:p>
            <a:endParaRPr lang="en-US" dirty="0"/>
          </a:p>
          <a:p>
            <a:r>
              <a:rPr lang="en-US" dirty="0"/>
              <a:t>D1 and D2 are connected to concepts that share the same meaning. This gives us a semantic basis for comparing or reusing them together.</a:t>
            </a:r>
          </a:p>
          <a:p>
            <a:endParaRPr lang="en-US" dirty="0"/>
          </a:p>
          <a:p>
            <a:r>
              <a:rPr lang="en-US" dirty="0"/>
              <a:t>However, semantic compatibility is only one part of interoperability. It is necessary, but not sufficient. Other aspects still matter, such as structure, values, formats, and implementation details.</a:t>
            </a:r>
          </a:p>
          <a:p>
            <a:endParaRPr lang="en-US" dirty="0"/>
          </a:p>
          <a:p>
            <a:r>
              <a:rPr lang="en-US" dirty="0"/>
              <a:t>So the conclusion here is cautious but positive: D1 and D2 meet the necessary condition for interoperability.</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19</a:t>
            </a:fld>
            <a:endParaRPr lang="en-US" dirty="0"/>
          </a:p>
        </p:txBody>
      </p:sp>
    </p:spTree>
    <p:extLst>
      <p:ext uri="{BB962C8B-B14F-4D97-AF65-F5344CB8AC3E}">
        <p14:creationId xmlns:p14="http://schemas.microsoft.com/office/powerpoint/2010/main" val="24297606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24C521-4C4A-14A6-93D5-6FB26168E3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F9448B-58D7-1C9D-389D-BAF1E8C65F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0D8EC1-7287-93EA-B315-7E510E995DE4}"/>
              </a:ext>
            </a:extLst>
          </p:cNvPr>
          <p:cNvSpPr>
            <a:spLocks noGrp="1"/>
          </p:cNvSpPr>
          <p:nvPr>
            <p:ph type="body" idx="1"/>
          </p:nvPr>
        </p:nvSpPr>
        <p:spPr/>
        <p:txBody>
          <a:bodyPr/>
          <a:lstStyle/>
          <a:p>
            <a:r>
              <a:rPr lang="en-US" dirty="0"/>
              <a:t>Back in Amir’s situation.</a:t>
            </a:r>
          </a:p>
          <a:p>
            <a:endParaRPr lang="en-US" dirty="0"/>
          </a:p>
          <a:p>
            <a:r>
              <a:rPr lang="en-US" dirty="0"/>
              <a:t>At this point, the relevant meanings are clear in the conceptual model. Amir can see which concepts represent biological sex, legal gender, or administrative gender.</a:t>
            </a:r>
          </a:p>
          <a:p>
            <a:endParaRPr lang="en-US" dirty="0"/>
          </a:p>
          <a:p>
            <a:r>
              <a:rPr lang="en-US" dirty="0"/>
              <a:t>However, this still leaves Amir with a practical limitation. The meanings are known, but they are not yet computationally actionable.</a:t>
            </a:r>
          </a:p>
          <a:p>
            <a:endParaRPr lang="en-US" dirty="0"/>
          </a:p>
          <a:p>
            <a:r>
              <a:rPr lang="en-US" dirty="0"/>
              <a:t>The next step is to turn these conceptual meanings into machine-readable, </a:t>
            </a:r>
            <a:r>
              <a:rPr lang="en-US" dirty="0" err="1"/>
              <a:t>queryable</a:t>
            </a:r>
            <a:r>
              <a:rPr lang="en-US" dirty="0"/>
              <a:t>, and actionable relations.</a:t>
            </a:r>
            <a:endParaRPr lang="en-NL" dirty="0"/>
          </a:p>
        </p:txBody>
      </p:sp>
      <p:sp>
        <p:nvSpPr>
          <p:cNvPr id="4" name="Slide Number Placeholder 3">
            <a:extLst>
              <a:ext uri="{FF2B5EF4-FFF2-40B4-BE49-F238E27FC236}">
                <a16:creationId xmlns:a16="http://schemas.microsoft.com/office/drawing/2014/main" id="{C61448BC-A349-F4E1-3B8A-09D5726D36EF}"/>
              </a:ext>
            </a:extLst>
          </p:cNvPr>
          <p:cNvSpPr>
            <a:spLocks noGrp="1"/>
          </p:cNvSpPr>
          <p:nvPr>
            <p:ph type="sldNum" sz="quarter" idx="5"/>
          </p:nvPr>
        </p:nvSpPr>
        <p:spPr/>
        <p:txBody>
          <a:bodyPr/>
          <a:lstStyle/>
          <a:p>
            <a:fld id="{4B725628-3A68-42F4-BA86-981817953149}" type="slidenum">
              <a:rPr lang="en-US" smtClean="0"/>
              <a:t>20</a:t>
            </a:fld>
            <a:endParaRPr lang="en-US" dirty="0"/>
          </a:p>
        </p:txBody>
      </p:sp>
    </p:spTree>
    <p:extLst>
      <p:ext uri="{BB962C8B-B14F-4D97-AF65-F5344CB8AC3E}">
        <p14:creationId xmlns:p14="http://schemas.microsoft.com/office/powerpoint/2010/main" val="404175736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Earlier, we introduced HRIO as a way to support conceptual clarification: meanings are made precise and explicit.</a:t>
            </a:r>
          </a:p>
          <a:p>
            <a:endParaRPr lang="en-US" dirty="0"/>
          </a:p>
          <a:p>
            <a:r>
              <a:rPr lang="en-US" dirty="0"/>
              <a:t>We now move from conceptual clarification to computational tractability.</a:t>
            </a:r>
          </a:p>
          <a:p>
            <a:endParaRPr lang="en-US" dirty="0"/>
          </a:p>
          <a:p>
            <a:r>
              <a:rPr lang="en-US" dirty="0"/>
              <a:t>This is where the computational version of HRIO comes in. It represents the relevant meanings and their relations in machine-readable form, so they can be queried, processed, and reused.</a:t>
            </a:r>
          </a:p>
          <a:p>
            <a:endParaRPr lang="en-US" dirty="0"/>
          </a:p>
          <a:p>
            <a:r>
              <a:rPr lang="en-US" dirty="0"/>
              <a:t>In other words, the computational ontology turns conceptual distinctions into something that can support Amir’s dataset discovery task.</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21</a:t>
            </a:fld>
            <a:endParaRPr lang="en-US" dirty="0"/>
          </a:p>
        </p:txBody>
      </p:sp>
    </p:spTree>
    <p:extLst>
      <p:ext uri="{BB962C8B-B14F-4D97-AF65-F5344CB8AC3E}">
        <p14:creationId xmlns:p14="http://schemas.microsoft.com/office/powerpoint/2010/main" val="22163855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66214C-8238-E1A5-18D2-7912C18DDF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3C17F2-6411-5045-BEE3-9B35848C44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045450-BC4C-5235-F247-41D11087B9A7}"/>
              </a:ext>
            </a:extLst>
          </p:cNvPr>
          <p:cNvSpPr>
            <a:spLocks noGrp="1"/>
          </p:cNvSpPr>
          <p:nvPr>
            <p:ph type="body" idx="1"/>
          </p:nvPr>
        </p:nvSpPr>
        <p:spPr/>
        <p:txBody>
          <a:bodyPr/>
          <a:lstStyle/>
          <a:p>
            <a:r>
              <a:rPr lang="en-US" dirty="0"/>
              <a:t>We now reach the result of Scenario 2.</a:t>
            </a:r>
          </a:p>
          <a:p>
            <a:endParaRPr lang="en-US" dirty="0"/>
          </a:p>
          <a:p>
            <a:r>
              <a:rPr lang="en-US" dirty="0"/>
              <a:t>The meanings are now not only clear, but also computationally actionable. Amir can query for dataset columns that are mapped to the meaning he needs: biological sex, represented here as HRIO’s Sex.</a:t>
            </a:r>
          </a:p>
          <a:p>
            <a:endParaRPr lang="en-US" dirty="0"/>
          </a:p>
          <a:p>
            <a:r>
              <a:rPr lang="en-US" dirty="0"/>
              <a:t>In this example, the query returns the NPR Demographic Extract, because its column is mapped to the biological sex meaning.</a:t>
            </a:r>
          </a:p>
          <a:p>
            <a:endParaRPr lang="en-US" dirty="0"/>
          </a:p>
          <a:p>
            <a:r>
              <a:rPr lang="en-US" dirty="0"/>
              <a:t>So, Amir no longer has to rely only on labels or manual inspection. He can use explicit, machine-readable semantic relations to identify the dataset that contains the right variable for his study.</a:t>
            </a:r>
            <a:endParaRPr lang="en-NL" dirty="0"/>
          </a:p>
        </p:txBody>
      </p:sp>
      <p:sp>
        <p:nvSpPr>
          <p:cNvPr id="4" name="Slide Number Placeholder 3">
            <a:extLst>
              <a:ext uri="{FF2B5EF4-FFF2-40B4-BE49-F238E27FC236}">
                <a16:creationId xmlns:a16="http://schemas.microsoft.com/office/drawing/2014/main" id="{8ECC4602-0AE5-E8AF-2688-A4E3913B463C}"/>
              </a:ext>
            </a:extLst>
          </p:cNvPr>
          <p:cNvSpPr>
            <a:spLocks noGrp="1"/>
          </p:cNvSpPr>
          <p:nvPr>
            <p:ph type="sldNum" sz="quarter" idx="5"/>
          </p:nvPr>
        </p:nvSpPr>
        <p:spPr/>
        <p:txBody>
          <a:bodyPr/>
          <a:lstStyle/>
          <a:p>
            <a:fld id="{4B725628-3A68-42F4-BA86-981817953149}" type="slidenum">
              <a:rPr lang="en-US" smtClean="0"/>
              <a:t>22</a:t>
            </a:fld>
            <a:endParaRPr lang="en-US" dirty="0"/>
          </a:p>
        </p:txBody>
      </p:sp>
    </p:spTree>
    <p:extLst>
      <p:ext uri="{BB962C8B-B14F-4D97-AF65-F5344CB8AC3E}">
        <p14:creationId xmlns:p14="http://schemas.microsoft.com/office/powerpoint/2010/main" val="190637381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CD7B1-6460-0E26-A287-551926E9DF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9A0EBB-8F4E-AB55-D284-AB091522D3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D40CC5-BB87-83FA-196F-DC7E59D105D2}"/>
              </a:ext>
            </a:extLst>
          </p:cNvPr>
          <p:cNvSpPr>
            <a:spLocks noGrp="1"/>
          </p:cNvSpPr>
          <p:nvPr>
            <p:ph type="body" idx="1"/>
          </p:nvPr>
        </p:nvSpPr>
        <p:spPr/>
        <p:txBody>
          <a:bodyPr/>
          <a:lstStyle/>
          <a:p>
            <a:pPr rtl="0"/>
            <a:r>
              <a:rPr lang="en-US" sz="1200" kern="1200" dirty="0">
                <a:solidFill>
                  <a:schemeClr val="tx1"/>
                </a:solidFill>
                <a:latin typeface="+mn-lt"/>
                <a:ea typeface="+mn-ea"/>
                <a:cs typeface="+mn-cs"/>
              </a:rPr>
              <a:t>Scenario 3 introduces mappings as reusable knowledge for data reuse.</a:t>
            </a:r>
          </a:p>
          <a:p>
            <a:pPr rtl="0"/>
            <a:endParaRPr lang="en-US" sz="1200" kern="1200" dirty="0">
              <a:solidFill>
                <a:schemeClr val="tx1"/>
              </a:solidFill>
              <a:latin typeface="+mn-lt"/>
              <a:ea typeface="+mn-ea"/>
              <a:cs typeface="+mn-cs"/>
            </a:endParaRPr>
          </a:p>
          <a:p>
            <a:pPr rtl="0"/>
            <a:r>
              <a:rPr lang="en-US" sz="1200" kern="1200" dirty="0">
                <a:solidFill>
                  <a:schemeClr val="tx1"/>
                </a:solidFill>
                <a:latin typeface="+mn-lt"/>
                <a:ea typeface="+mn-ea"/>
                <a:cs typeface="+mn-cs"/>
              </a:rPr>
              <a:t>In Scenario 2, Amir used explicit meanings to identify the dataset column that represents biological sex. The next step is to reuse existing mapping knowledge.</a:t>
            </a:r>
          </a:p>
          <a:p>
            <a:pPr rtl="0"/>
            <a:endParaRPr lang="en-US" sz="1200" kern="1200" dirty="0">
              <a:solidFill>
                <a:schemeClr val="tx1"/>
              </a:solidFill>
              <a:latin typeface="+mn-lt"/>
              <a:ea typeface="+mn-ea"/>
              <a:cs typeface="+mn-cs"/>
            </a:endParaRPr>
          </a:p>
          <a:p>
            <a:pPr rtl="0"/>
            <a:r>
              <a:rPr lang="en-US" sz="1200" kern="1200" dirty="0">
                <a:solidFill>
                  <a:schemeClr val="tx1"/>
                </a:solidFill>
                <a:latin typeface="+mn-lt"/>
                <a:ea typeface="+mn-ea"/>
                <a:cs typeface="+mn-cs"/>
              </a:rPr>
              <a:t>In this scenario, Amir will use external mappings not as isolated links, but as resources that can support later reuse decisions.</a:t>
            </a:r>
            <a:endParaRPr lang="en-US" dirty="0"/>
          </a:p>
        </p:txBody>
      </p:sp>
      <p:sp>
        <p:nvSpPr>
          <p:cNvPr id="4" name="Slide Number Placeholder 3">
            <a:extLst>
              <a:ext uri="{FF2B5EF4-FFF2-40B4-BE49-F238E27FC236}">
                <a16:creationId xmlns:a16="http://schemas.microsoft.com/office/drawing/2014/main" id="{C2EF9D4F-4467-832E-2E48-FEBEB59D09D4}"/>
              </a:ext>
            </a:extLst>
          </p:cNvPr>
          <p:cNvSpPr>
            <a:spLocks noGrp="1"/>
          </p:cNvSpPr>
          <p:nvPr>
            <p:ph type="sldNum" sz="quarter" idx="5"/>
          </p:nvPr>
        </p:nvSpPr>
        <p:spPr/>
        <p:txBody>
          <a:bodyPr/>
          <a:lstStyle/>
          <a:p>
            <a:fld id="{4B725628-3A68-42F4-BA86-981817953149}" type="slidenum">
              <a:rPr lang="en-US" smtClean="0"/>
              <a:t>23</a:t>
            </a:fld>
            <a:endParaRPr lang="en-US" dirty="0"/>
          </a:p>
        </p:txBody>
      </p:sp>
    </p:spTree>
    <p:extLst>
      <p:ext uri="{BB962C8B-B14F-4D97-AF65-F5344CB8AC3E}">
        <p14:creationId xmlns:p14="http://schemas.microsoft.com/office/powerpoint/2010/main" val="95610775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presents Amir’s goal and challenge in Scenario 3.</a:t>
            </a:r>
          </a:p>
          <a:p>
            <a:endParaRPr lang="en-US" dirty="0"/>
          </a:p>
          <a:p>
            <a:r>
              <a:rPr lang="en-US" dirty="0"/>
              <a:t>Amir wants to apply reusable mappings to relate dataset variables, standard concepts, and explicit meanings. The meanings are already clear and machine-readable, but the relationships between them still need to be captured in a reusable form.</a:t>
            </a:r>
          </a:p>
          <a:p>
            <a:endParaRPr lang="en-US" dirty="0"/>
          </a:p>
          <a:p>
            <a:r>
              <a:rPr lang="en-US" dirty="0"/>
              <a:t>So the guiding question is: how can mappings turn these relationships into reusable knowledge, rather than leaving Amir dependent on one-off comparisons between individual concepts or datasets?</a:t>
            </a:r>
          </a:p>
        </p:txBody>
      </p:sp>
      <p:sp>
        <p:nvSpPr>
          <p:cNvPr id="4" name="Slide Number Placeholder 3"/>
          <p:cNvSpPr>
            <a:spLocks noGrp="1"/>
          </p:cNvSpPr>
          <p:nvPr>
            <p:ph type="sldNum" sz="quarter" idx="5"/>
          </p:nvPr>
        </p:nvSpPr>
        <p:spPr/>
        <p:txBody>
          <a:bodyPr/>
          <a:lstStyle/>
          <a:p>
            <a:fld id="{4B725628-3A68-42F4-BA86-981817953149}" type="slidenum">
              <a:rPr lang="en-US" smtClean="0"/>
              <a:t>24</a:t>
            </a:fld>
            <a:endParaRPr lang="en-US" dirty="0"/>
          </a:p>
        </p:txBody>
      </p:sp>
    </p:spTree>
    <p:extLst>
      <p:ext uri="{BB962C8B-B14F-4D97-AF65-F5344CB8AC3E}">
        <p14:creationId xmlns:p14="http://schemas.microsoft.com/office/powerpoint/2010/main" val="81871292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introduces the external mappings available to Amir in Scenario 3.</a:t>
            </a:r>
          </a:p>
          <a:p>
            <a:endParaRPr lang="en-US" dirty="0"/>
          </a:p>
          <a:p>
            <a:r>
              <a:rPr lang="en-US" dirty="0"/>
              <a:t>The three original datasets remain the starting point. What changes here is the addition of mapping sets from different communities, including clinical research standards, administrative gender standards, and Dutch health data stewardship.</a:t>
            </a:r>
          </a:p>
          <a:p>
            <a:endParaRPr lang="en-US" dirty="0"/>
          </a:p>
          <a:p>
            <a:r>
              <a:rPr lang="en-US" dirty="0"/>
              <a:t>These mapping sets provide existing links between dataset variables, standard concepts, and related representations.</a:t>
            </a:r>
          </a:p>
          <a:p>
            <a:endParaRPr lang="en-US" dirty="0"/>
          </a:p>
          <a:p>
            <a:r>
              <a:rPr lang="en-US" dirty="0"/>
              <a:t>In the next slides, we will use them to show how Amir can reuse existing mapping knowledge.</a:t>
            </a:r>
          </a:p>
        </p:txBody>
      </p:sp>
      <p:sp>
        <p:nvSpPr>
          <p:cNvPr id="4" name="Slide Number Placeholder 3"/>
          <p:cNvSpPr>
            <a:spLocks noGrp="1"/>
          </p:cNvSpPr>
          <p:nvPr>
            <p:ph type="sldNum" sz="quarter" idx="5"/>
          </p:nvPr>
        </p:nvSpPr>
        <p:spPr/>
        <p:txBody>
          <a:bodyPr/>
          <a:lstStyle/>
          <a:p>
            <a:fld id="{4B725628-3A68-42F4-BA86-981817953149}" type="slidenum">
              <a:rPr lang="en-US" smtClean="0"/>
              <a:t>25</a:t>
            </a:fld>
            <a:endParaRPr lang="en-US" dirty="0"/>
          </a:p>
        </p:txBody>
      </p:sp>
    </p:spTree>
    <p:extLst>
      <p:ext uri="{BB962C8B-B14F-4D97-AF65-F5344CB8AC3E}">
        <p14:creationId xmlns:p14="http://schemas.microsoft.com/office/powerpoint/2010/main" val="257918434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the concepts in the mapping sets are represented as letters so that the mapping structure is easier to see.</a:t>
            </a:r>
          </a:p>
          <a:p>
            <a:endParaRPr lang="en-US" dirty="0"/>
          </a:p>
          <a:p>
            <a:r>
              <a:rPr lang="en-US" dirty="0"/>
              <a:t>The main point is that pairwise mappings create a network of concept-to-concept links. To assess reuse, Amir may need to reconstruct a path by following several mappings from one concept to another. In the current network, the path from E to A already takes three steps. When another concept is added, as illustrated by J, the path can become even longer.</a:t>
            </a:r>
          </a:p>
          <a:p>
            <a:endParaRPr lang="en-US" dirty="0"/>
          </a:p>
          <a:p>
            <a:r>
              <a:rPr lang="en-US" dirty="0"/>
              <a:t>The problem is not only the number of steps. A path may look like evidence of semantic alignment, but it only shows that concepts are connected through mappings. It does not guarantee that the intended meaning is preserved from end to end. If the mappings are fragile or driven mainly by labels rather than explicit meanings, Amir cannot safely rely on that path for reuse decisions.</a:t>
            </a:r>
          </a:p>
          <a:p>
            <a:endParaRPr lang="en-US" dirty="0"/>
          </a:p>
          <a:p>
            <a:r>
              <a:rPr lang="en-US" dirty="0"/>
              <a:t>This same risk compounds as the network grows. Each new concept can introduce more paths that appear to support reuse, while still depending on the quality of each pairwise mapping. The result is a network that becomes harder to scale, harder to maintain, and harder to interpret safely.</a:t>
            </a:r>
          </a:p>
        </p:txBody>
      </p:sp>
      <p:sp>
        <p:nvSpPr>
          <p:cNvPr id="4" name="Slide Number Placeholder 3"/>
          <p:cNvSpPr>
            <a:spLocks noGrp="1"/>
          </p:cNvSpPr>
          <p:nvPr>
            <p:ph type="sldNum" sz="quarter" idx="5"/>
          </p:nvPr>
        </p:nvSpPr>
        <p:spPr/>
        <p:txBody>
          <a:bodyPr/>
          <a:lstStyle/>
          <a:p>
            <a:fld id="{4B725628-3A68-42F4-BA86-981817953149}" type="slidenum">
              <a:rPr lang="en-US" smtClean="0"/>
              <a:t>26</a:t>
            </a:fld>
            <a:endParaRPr lang="en-US" dirty="0"/>
          </a:p>
        </p:txBody>
      </p:sp>
    </p:spTree>
    <p:extLst>
      <p:ext uri="{BB962C8B-B14F-4D97-AF65-F5344CB8AC3E}">
        <p14:creationId xmlns:p14="http://schemas.microsoft.com/office/powerpoint/2010/main" val="216802058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now introduce the third deliverable of the initiative: the Health-RI SSSOM Mapping Set.</a:t>
            </a:r>
          </a:p>
          <a:p>
            <a:endParaRPr lang="en-US" dirty="0"/>
          </a:p>
          <a:p>
            <a:r>
              <a:rPr lang="en-US" dirty="0"/>
              <a:t>This is a curated collection of mappings that links external terms, dataset variables, and standard concepts to explicit HRIO meanings. It uses SSSOM as a structured, machine-readable format, so the mappings can be published, inspected, and reused.</a:t>
            </a:r>
          </a:p>
          <a:p>
            <a:endParaRPr lang="en-US" dirty="0"/>
          </a:p>
          <a:p>
            <a:r>
              <a:rPr lang="en-US" dirty="0"/>
              <a:t>This matters because mapping knowledge becomes an explicit artifact. Amir does not only see an isolated connection; he can rely on a traceable mapping record as part of a more defensible reuse decision.</a:t>
            </a:r>
          </a:p>
        </p:txBody>
      </p:sp>
      <p:sp>
        <p:nvSpPr>
          <p:cNvPr id="4" name="Slide Number Placeholder 3"/>
          <p:cNvSpPr>
            <a:spLocks noGrp="1"/>
          </p:cNvSpPr>
          <p:nvPr>
            <p:ph type="sldNum" sz="quarter" idx="5"/>
          </p:nvPr>
        </p:nvSpPr>
        <p:spPr/>
        <p:txBody>
          <a:bodyPr/>
          <a:lstStyle/>
          <a:p>
            <a:fld id="{4B725628-3A68-42F4-BA86-981817953149}" type="slidenum">
              <a:rPr lang="en-US" smtClean="0"/>
              <a:t>27</a:t>
            </a:fld>
            <a:endParaRPr lang="en-US" dirty="0"/>
          </a:p>
        </p:txBody>
      </p:sp>
    </p:spTree>
    <p:extLst>
      <p:ext uri="{BB962C8B-B14F-4D97-AF65-F5344CB8AC3E}">
        <p14:creationId xmlns:p14="http://schemas.microsoft.com/office/powerpoint/2010/main" val="293376603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D2DFB1-7F0B-7FCF-72FA-A6F8C25E65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494772-FC0B-4591-DD7A-E82215525E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23E085-85FA-6084-4C07-5C7B0CEB78AE}"/>
              </a:ext>
            </a:extLst>
          </p:cNvPr>
          <p:cNvSpPr>
            <a:spLocks noGrp="1"/>
          </p:cNvSpPr>
          <p:nvPr>
            <p:ph type="body" idx="1"/>
          </p:nvPr>
        </p:nvSpPr>
        <p:spPr/>
        <p:txBody>
          <a:bodyPr/>
          <a:lstStyle/>
          <a:p>
            <a:r>
              <a:rPr lang="en-US" dirty="0"/>
              <a:t>This slide shows the architecture proposed by the initiative: a move from pairwise mappings to a meaning-based hub-and-spoke structure.</a:t>
            </a:r>
          </a:p>
          <a:p>
            <a:endParaRPr lang="en-US" dirty="0"/>
          </a:p>
          <a:p>
            <a:r>
              <a:rPr lang="en-US" dirty="0"/>
              <a:t>In the previous slide, Amir had to follow chains of mappings from one concept to another. Here, the meaning layer becomes the central access point. Each standard concept connects to an explicit meaning, and concepts can then be compared through that shared semantic hub.</a:t>
            </a:r>
          </a:p>
          <a:p>
            <a:endParaRPr lang="en-US" dirty="0"/>
          </a:p>
          <a:p>
            <a:r>
              <a:rPr lang="en-US" dirty="0"/>
              <a:t>This makes reuse paths shorter and more predictable. The path from E to A is now two steps. And if a new concept is added later, as illustrated by J, it can also connect through the meaning layer without creating a longer chain of pairwise mappings.</a:t>
            </a:r>
          </a:p>
          <a:p>
            <a:endParaRPr lang="en-US" dirty="0"/>
          </a:p>
          <a:p>
            <a:r>
              <a:rPr lang="en-US" dirty="0"/>
              <a:t>This makes the mapping structure easier to interpret, easier to maintain, and more scalable for future reuse.</a:t>
            </a:r>
            <a:endParaRPr lang="en-NL" dirty="0"/>
          </a:p>
        </p:txBody>
      </p:sp>
      <p:sp>
        <p:nvSpPr>
          <p:cNvPr id="4" name="Slide Number Placeholder 3">
            <a:extLst>
              <a:ext uri="{FF2B5EF4-FFF2-40B4-BE49-F238E27FC236}">
                <a16:creationId xmlns:a16="http://schemas.microsoft.com/office/drawing/2014/main" id="{25A4FCA8-E5ED-5515-6615-BDC4057C8583}"/>
              </a:ext>
            </a:extLst>
          </p:cNvPr>
          <p:cNvSpPr>
            <a:spLocks noGrp="1"/>
          </p:cNvSpPr>
          <p:nvPr>
            <p:ph type="sldNum" sz="quarter" idx="5"/>
          </p:nvPr>
        </p:nvSpPr>
        <p:spPr/>
        <p:txBody>
          <a:bodyPr/>
          <a:lstStyle/>
          <a:p>
            <a:fld id="{4B725628-3A68-42F4-BA86-981817953149}" type="slidenum">
              <a:rPr lang="en-US" smtClean="0"/>
              <a:t>28</a:t>
            </a:fld>
            <a:endParaRPr lang="en-US" dirty="0"/>
          </a:p>
        </p:txBody>
      </p:sp>
    </p:spTree>
    <p:extLst>
      <p:ext uri="{BB962C8B-B14F-4D97-AF65-F5344CB8AC3E}">
        <p14:creationId xmlns:p14="http://schemas.microsoft.com/office/powerpoint/2010/main" val="160271815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2D2CC-4923-08DF-2D75-F4184D4498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6D8C4A-AA7A-AE08-B579-0A59E6368C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FB913D-ABA4-8B92-6D9C-9EAF9130E62B}"/>
              </a:ext>
            </a:extLst>
          </p:cNvPr>
          <p:cNvSpPr>
            <a:spLocks noGrp="1"/>
          </p:cNvSpPr>
          <p:nvPr>
            <p:ph type="body" idx="1"/>
          </p:nvPr>
        </p:nvSpPr>
        <p:spPr/>
        <p:txBody>
          <a:bodyPr/>
          <a:lstStyle/>
          <a:p>
            <a:r>
              <a:rPr lang="en-US" dirty="0"/>
              <a:t>We now return to Amir’s case and use the semantic relations to assess reuse.</a:t>
            </a:r>
          </a:p>
          <a:p>
            <a:endParaRPr lang="en-US" dirty="0"/>
          </a:p>
          <a:p>
            <a:r>
              <a:rPr lang="en-US" dirty="0"/>
              <a:t>The result is clear. The biological sex variable does not align with the gender-based variables. Legal gender and administrative gender are related, but only partially aligned.</a:t>
            </a:r>
          </a:p>
          <a:p>
            <a:endParaRPr lang="en-US" dirty="0"/>
          </a:p>
          <a:p>
            <a:r>
              <a:rPr lang="en-US" dirty="0"/>
              <a:t>This is the key conclusion of Scenario 3. The mappings do not simply show that concepts are connected. They help Amir distinguish where variables align, where they only partially overlap, and where reuse should be ruled out.</a:t>
            </a:r>
          </a:p>
          <a:p>
            <a:endParaRPr lang="en-US" dirty="0"/>
          </a:p>
          <a:p>
            <a:r>
              <a:rPr lang="en-US" dirty="0"/>
              <a:t>With this, Amir can move from interpreting individual mappings to using mapping knowledge as reusable evidence for safer data reuse decisions.</a:t>
            </a:r>
            <a:endParaRPr lang="en-NL" dirty="0"/>
          </a:p>
        </p:txBody>
      </p:sp>
      <p:sp>
        <p:nvSpPr>
          <p:cNvPr id="4" name="Slide Number Placeholder 3">
            <a:extLst>
              <a:ext uri="{FF2B5EF4-FFF2-40B4-BE49-F238E27FC236}">
                <a16:creationId xmlns:a16="http://schemas.microsoft.com/office/drawing/2014/main" id="{B246BF1B-CEF1-D4F8-370B-4FCA4918010D}"/>
              </a:ext>
            </a:extLst>
          </p:cNvPr>
          <p:cNvSpPr>
            <a:spLocks noGrp="1"/>
          </p:cNvSpPr>
          <p:nvPr>
            <p:ph type="sldNum" sz="quarter" idx="5"/>
          </p:nvPr>
        </p:nvSpPr>
        <p:spPr/>
        <p:txBody>
          <a:bodyPr/>
          <a:lstStyle/>
          <a:p>
            <a:fld id="{4B725628-3A68-42F4-BA86-981817953149}" type="slidenum">
              <a:rPr lang="en-US" smtClean="0"/>
              <a:t>29</a:t>
            </a:fld>
            <a:endParaRPr lang="en-US" dirty="0"/>
          </a:p>
        </p:txBody>
      </p:sp>
    </p:spTree>
    <p:extLst>
      <p:ext uri="{BB962C8B-B14F-4D97-AF65-F5344CB8AC3E}">
        <p14:creationId xmlns:p14="http://schemas.microsoft.com/office/powerpoint/2010/main" val="35789710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7E2555-3006-BD34-ECD4-80A781C876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4D376E-A88C-1AEB-9067-DFD7D59E4A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232AA3-64F2-9CD2-71F3-0D10914F025D}"/>
              </a:ext>
            </a:extLst>
          </p:cNvPr>
          <p:cNvSpPr>
            <a:spLocks noGrp="1"/>
          </p:cNvSpPr>
          <p:nvPr>
            <p:ph type="body" idx="1"/>
          </p:nvPr>
        </p:nvSpPr>
        <p:spPr/>
        <p:txBody>
          <a:bodyPr/>
          <a:lstStyle/>
          <a:p>
            <a:r>
              <a:rPr lang="en-US" dirty="0"/>
              <a:t>We now enter the final scenario.</a:t>
            </a:r>
          </a:p>
          <a:p>
            <a:endParaRPr lang="en-US" dirty="0"/>
          </a:p>
          <a:p>
            <a:r>
              <a:rPr lang="en-US" dirty="0"/>
              <a:t>So far, Amir has built the semantic context needed for reuse. He has clarified the meanings of the variables, identified which ones match his study needs, and used mappings to distinguish alignment, partial overlap, and unsafe reuse.</a:t>
            </a:r>
          </a:p>
          <a:p>
            <a:endParaRPr lang="en-US" dirty="0"/>
          </a:p>
          <a:p>
            <a:r>
              <a:rPr lang="en-US" dirty="0"/>
              <a:t>Scenario 4 brings this context into action. Amir can now query the connected semantic knowledge to support concrete reuse decisions.</a:t>
            </a:r>
            <a:endParaRPr lang="en-NL" dirty="0"/>
          </a:p>
        </p:txBody>
      </p:sp>
      <p:sp>
        <p:nvSpPr>
          <p:cNvPr id="4" name="Slide Number Placeholder 3">
            <a:extLst>
              <a:ext uri="{FF2B5EF4-FFF2-40B4-BE49-F238E27FC236}">
                <a16:creationId xmlns:a16="http://schemas.microsoft.com/office/drawing/2014/main" id="{5D39C06D-53BD-334C-E283-66EE9C034D16}"/>
              </a:ext>
            </a:extLst>
          </p:cNvPr>
          <p:cNvSpPr>
            <a:spLocks noGrp="1"/>
          </p:cNvSpPr>
          <p:nvPr>
            <p:ph type="sldNum" sz="quarter" idx="5"/>
          </p:nvPr>
        </p:nvSpPr>
        <p:spPr/>
        <p:txBody>
          <a:bodyPr/>
          <a:lstStyle/>
          <a:p>
            <a:fld id="{4B725628-3A68-42F4-BA86-981817953149}" type="slidenum">
              <a:rPr lang="en-US" smtClean="0"/>
              <a:t>30</a:t>
            </a:fld>
            <a:endParaRPr lang="en-US" dirty="0"/>
          </a:p>
        </p:txBody>
      </p:sp>
    </p:spTree>
    <p:extLst>
      <p:ext uri="{BB962C8B-B14F-4D97-AF65-F5344CB8AC3E}">
        <p14:creationId xmlns:p14="http://schemas.microsoft.com/office/powerpoint/2010/main" val="289421294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makes Amir’s final task explicit.</a:t>
            </a:r>
          </a:p>
          <a:p>
            <a:endParaRPr lang="en-US" dirty="0"/>
          </a:p>
          <a:p>
            <a:r>
              <a:rPr lang="en-US" dirty="0"/>
              <a:t>Amir now wants to query the available semantic knowledge: dataset variables, standard concepts, HRIO meanings, mappings, and inferred relations.</a:t>
            </a:r>
          </a:p>
          <a:p>
            <a:endParaRPr lang="en-US" dirty="0"/>
          </a:p>
          <a:p>
            <a:r>
              <a:rPr lang="en-US" dirty="0"/>
              <a:t>The challenge is to turn this connected knowledge into practical support for reuse decisions. Amir needs queries that can help him find relevant variables, compare concepts, and assess whether reuse is safe, partial, or inappropriate.</a:t>
            </a:r>
          </a:p>
          <a:p>
            <a:endParaRPr lang="en-US" dirty="0"/>
          </a:p>
          <a:p>
            <a:r>
              <a:rPr lang="en-US" dirty="0"/>
              <a:t>So the guiding question is: how can Amir query semantic knowledge to support practical data reuse decisions?</a:t>
            </a:r>
          </a:p>
        </p:txBody>
      </p:sp>
      <p:sp>
        <p:nvSpPr>
          <p:cNvPr id="4" name="Slide Number Placeholder 3"/>
          <p:cNvSpPr>
            <a:spLocks noGrp="1"/>
          </p:cNvSpPr>
          <p:nvPr>
            <p:ph type="sldNum" sz="quarter" idx="5"/>
          </p:nvPr>
        </p:nvSpPr>
        <p:spPr/>
        <p:txBody>
          <a:bodyPr/>
          <a:lstStyle/>
          <a:p>
            <a:fld id="{4B725628-3A68-42F4-BA86-981817953149}" type="slidenum">
              <a:rPr lang="en-US" smtClean="0"/>
              <a:t>31</a:t>
            </a:fld>
            <a:endParaRPr lang="en-US" dirty="0"/>
          </a:p>
        </p:txBody>
      </p:sp>
    </p:spTree>
    <p:extLst>
      <p:ext uri="{BB962C8B-B14F-4D97-AF65-F5344CB8AC3E}">
        <p14:creationId xmlns:p14="http://schemas.microsoft.com/office/powerpoint/2010/main" val="393081059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kinds of questions Amir can now ask with the connected semantic knowledge.</a:t>
            </a:r>
          </a:p>
          <a:p>
            <a:endParaRPr lang="en-US" dirty="0"/>
          </a:p>
          <a:p>
            <a:r>
              <a:rPr lang="en-US" dirty="0"/>
              <a:t>The four panels move from discovery to decision support. First, Amir can discover which meanings, variables, and standards are available. He can then retrieve patient records together with their dataset variable, standard concept, and meaning. Next, he can assess semantic compatibility: which variables align, which only partially overlap, and which should be ruled out. Finally, he can use inferred knowledge to discover reuse relations that were not stated directly.</a:t>
            </a:r>
          </a:p>
          <a:p>
            <a:endParaRPr lang="en-US" dirty="0"/>
          </a:p>
          <a:p>
            <a:r>
              <a:rPr lang="en-US" dirty="0"/>
              <a:t>The goal is not to walk through every example. The goal is to show that Amir can now ask more precise, traceable, and decision-oriented questions about data reuse.</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32</a:t>
            </a:fld>
            <a:endParaRPr lang="en-US" dirty="0"/>
          </a:p>
        </p:txBody>
      </p:sp>
    </p:spTree>
    <p:extLst>
      <p:ext uri="{BB962C8B-B14F-4D97-AF65-F5344CB8AC3E}">
        <p14:creationId xmlns:p14="http://schemas.microsoft.com/office/powerpoint/2010/main" val="25855107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00B4D5-6C00-C451-E0E6-AD5CA295E5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A478A7-4C55-2D1B-065F-2B9633C972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E58C91-BC8D-8838-873F-E7F7852E98AA}"/>
              </a:ext>
            </a:extLst>
          </p:cNvPr>
          <p:cNvSpPr>
            <a:spLocks noGrp="1"/>
          </p:cNvSpPr>
          <p:nvPr>
            <p:ph type="body" idx="1"/>
          </p:nvPr>
        </p:nvSpPr>
        <p:spPr/>
        <p:txBody>
          <a:bodyPr/>
          <a:lstStyle/>
          <a:p>
            <a:r>
              <a:rPr lang="en-US" dirty="0"/>
              <a:t>This final slide closes Amir’s workflow.</a:t>
            </a:r>
          </a:p>
          <a:p>
            <a:endParaRPr lang="en-US" dirty="0"/>
          </a:p>
          <a:p>
            <a:r>
              <a:rPr lang="en-US" dirty="0"/>
              <a:t>He started with a common reuse problem: several datasets appeared to contain relevant sex- or gender-related variables, but their meanings were not necessarily the same.</a:t>
            </a:r>
          </a:p>
          <a:p>
            <a:endParaRPr lang="en-US" dirty="0"/>
          </a:p>
          <a:p>
            <a:r>
              <a:rPr lang="en-US" dirty="0"/>
              <a:t>Across the workflow, Amir moved from label-based uncertainty to explicit meanings, from conceptual clarification to dataset selection, from reusable mappings to query-supported reuse decisions.</a:t>
            </a:r>
          </a:p>
          <a:p>
            <a:endParaRPr lang="en-US" dirty="0"/>
          </a:p>
          <a:p>
            <a:r>
              <a:rPr lang="en-US" dirty="0"/>
              <a:t>The result is not just better documentation. Amir can use semantic knowledge as evidence for reuse: to find relevant variables, compare concepts, and assess where variables align, partially overlap, or should not be reused together.</a:t>
            </a:r>
          </a:p>
          <a:p>
            <a:endParaRPr lang="en-US" dirty="0"/>
          </a:p>
          <a:p>
            <a:r>
              <a:rPr lang="en-US" dirty="0"/>
              <a:t>That is the value of the workflow: data reuse decisions become more precise, more traceable, and more defensible.</a:t>
            </a:r>
            <a:endParaRPr lang="en-NL" dirty="0"/>
          </a:p>
        </p:txBody>
      </p:sp>
      <p:sp>
        <p:nvSpPr>
          <p:cNvPr id="4" name="Slide Number Placeholder 3">
            <a:extLst>
              <a:ext uri="{FF2B5EF4-FFF2-40B4-BE49-F238E27FC236}">
                <a16:creationId xmlns:a16="http://schemas.microsoft.com/office/drawing/2014/main" id="{E85AA02C-77E9-8175-2250-25174B19B15B}"/>
              </a:ext>
            </a:extLst>
          </p:cNvPr>
          <p:cNvSpPr>
            <a:spLocks noGrp="1"/>
          </p:cNvSpPr>
          <p:nvPr>
            <p:ph type="sldNum" sz="quarter" idx="5"/>
          </p:nvPr>
        </p:nvSpPr>
        <p:spPr/>
        <p:txBody>
          <a:bodyPr/>
          <a:lstStyle/>
          <a:p>
            <a:fld id="{4B725628-3A68-42F4-BA86-981817953149}" type="slidenum">
              <a:rPr lang="en-US" smtClean="0"/>
              <a:t>33</a:t>
            </a:fld>
            <a:endParaRPr lang="en-US" dirty="0"/>
          </a:p>
        </p:txBody>
      </p:sp>
    </p:spTree>
    <p:extLst>
      <p:ext uri="{BB962C8B-B14F-4D97-AF65-F5344CB8AC3E}">
        <p14:creationId xmlns:p14="http://schemas.microsoft.com/office/powerpoint/2010/main" val="371948376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attention.</a:t>
            </a:r>
          </a:p>
          <a:p>
            <a:endParaRPr lang="en-US" dirty="0"/>
          </a:p>
          <a:p>
            <a:r>
              <a:rPr lang="en-US" dirty="0"/>
              <a:t>You can find more information about the Health-RI Semantic Interoperability Initiative using the link or QR code shown on this slide.</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34</a:t>
            </a:fld>
            <a:endParaRPr lang="en-US" dirty="0"/>
          </a:p>
        </p:txBody>
      </p:sp>
    </p:spTree>
    <p:extLst>
      <p:ext uri="{BB962C8B-B14F-4D97-AF65-F5344CB8AC3E}">
        <p14:creationId xmlns:p14="http://schemas.microsoft.com/office/powerpoint/2010/main" val="39100088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NL"/>
          </a:p>
        </p:txBody>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NL"/>
          </a:p>
        </p:txBody>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atin typeface="Aptos" panose="020B0004020202020204" pitchFamily="34" charset="0"/>
              </a:defRPr>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latin typeface="Aptos" panose="020B0004020202020204" pitchFamily="34" charset="0"/>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a:xfrm>
            <a:off x="1024129" y="6470704"/>
            <a:ext cx="2154143" cy="274320"/>
          </a:xfrm>
          <a:prstGeom prst="rect">
            <a:avLst/>
          </a:prstGeom>
        </p:spPr>
        <p:txBody>
          <a:bodyPr/>
          <a:lstStyle>
            <a:lvl1pPr algn="l">
              <a:defRPr>
                <a:latin typeface="Aptos" panose="020B0004020202020204" pitchFamily="34" charset="0"/>
              </a:defRPr>
            </a:lvl1pPr>
          </a:lstStyle>
          <a:p>
            <a:fld id="{99FE1E47-52F5-462E-80D5-1AFAA75EACED}" type="datetime1">
              <a:rPr lang="en-US" smtClean="0"/>
              <a:pPr/>
              <a:t>5/22/2026</a:t>
            </a:fld>
            <a:endParaRPr lang="en-US" dirty="0"/>
          </a:p>
        </p:txBody>
      </p:sp>
      <p:sp>
        <p:nvSpPr>
          <p:cNvPr id="5" name="Footer Placeholder 4"/>
          <p:cNvSpPr>
            <a:spLocks noGrp="1"/>
          </p:cNvSpPr>
          <p:nvPr>
            <p:ph type="ftr" sz="quarter" idx="11"/>
          </p:nvPr>
        </p:nvSpPr>
        <p:spPr/>
        <p:txBody>
          <a:bodyPr/>
          <a:lstStyle>
            <a:lvl1pPr>
              <a:defRPr>
                <a:latin typeface="Aptos" panose="020B0004020202020204" pitchFamily="34" charset="0"/>
              </a:defRPr>
            </a:lvl1pPr>
          </a:lstStyle>
          <a:p>
            <a:endParaRPr lang="en-US" dirty="0"/>
          </a:p>
        </p:txBody>
      </p:sp>
      <p:sp>
        <p:nvSpPr>
          <p:cNvPr id="6" name="Slide Number Placeholder 5"/>
          <p:cNvSpPr>
            <a:spLocks noGrp="1"/>
          </p:cNvSpPr>
          <p:nvPr>
            <p:ph type="sldNum" sz="quarter" idx="12"/>
          </p:nvPr>
        </p:nvSpPr>
        <p:spPr>
          <a:xfrm>
            <a:off x="10837333" y="6470704"/>
            <a:ext cx="973667" cy="274320"/>
          </a:xfrm>
          <a:prstGeom prst="rect">
            <a:avLst/>
          </a:prstGeom>
        </p:spPr>
        <p:txBody>
          <a:bodyPr/>
          <a:lstStyle>
            <a:lvl1pPr>
              <a:defRPr>
                <a:latin typeface="Aptos" panose="020B0004020202020204" pitchFamily="34" charset="0"/>
              </a:defRPr>
            </a:lvl1pPr>
          </a:lstStyle>
          <a:p>
            <a:fld id="{4FAB73BC-B049-4115-A692-8D63A059BFB8}" type="slidenum">
              <a:rPr lang="en-US" smtClean="0"/>
              <a:pPr/>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95327" y="386001"/>
            <a:ext cx="9153523" cy="929259"/>
          </a:xfrm>
        </p:spPr>
        <p:txBody>
          <a:bodyPr>
            <a:noAutofit/>
          </a:bodyPr>
          <a:lstStyle>
            <a:lvl1pPr>
              <a:lnSpc>
                <a:spcPct val="100000"/>
              </a:lnSpc>
              <a:defRPr sz="4000" cap="small" baseline="0">
                <a:latin typeface="Aptos" panose="020B0004020202020204" pitchFamily="34" charset="0"/>
              </a:defRPr>
            </a:lvl1pPr>
          </a:lstStyle>
          <a:p>
            <a:r>
              <a:rPr lang="en-US"/>
              <a:t>Click to edit Master title style</a:t>
            </a:r>
            <a:endParaRPr lang="en-US" dirty="0"/>
          </a:p>
        </p:txBody>
      </p:sp>
      <p:sp>
        <p:nvSpPr>
          <p:cNvPr id="3" name="Content Placeholder 2"/>
          <p:cNvSpPr>
            <a:spLocks noGrp="1"/>
          </p:cNvSpPr>
          <p:nvPr>
            <p:ph idx="1"/>
          </p:nvPr>
        </p:nvSpPr>
        <p:spPr>
          <a:xfrm>
            <a:off x="695325" y="1628776"/>
            <a:ext cx="10801349" cy="4321174"/>
          </a:xfrm>
        </p:spPr>
        <p:txBody>
          <a:bodyPr>
            <a:normAutofit/>
          </a:bodyPr>
          <a:lstStyle>
            <a:lvl1pPr marL="91440" indent="360000">
              <a:lnSpc>
                <a:spcPct val="105000"/>
              </a:lnSpc>
              <a:spcBef>
                <a:spcPts val="600"/>
              </a:spcBef>
              <a:spcAft>
                <a:spcPts val="600"/>
              </a:spcAft>
              <a:buClr>
                <a:schemeClr val="tx1"/>
              </a:buClr>
              <a:buSzPct val="115000"/>
              <a:buFont typeface="Arial" panose="020B0604020202020204" pitchFamily="34" charset="0"/>
              <a:buChar char="•"/>
              <a:defRPr sz="2400">
                <a:latin typeface="Aptos" panose="020B0004020202020204" pitchFamily="34" charset="0"/>
              </a:defRPr>
            </a:lvl1pPr>
            <a:lvl2pPr marL="265176" indent="360000">
              <a:lnSpc>
                <a:spcPct val="105000"/>
              </a:lnSpc>
              <a:spcBef>
                <a:spcPts val="600"/>
              </a:spcBef>
              <a:spcAft>
                <a:spcPts val="600"/>
              </a:spcAft>
              <a:buClr>
                <a:schemeClr val="tx1"/>
              </a:buClr>
              <a:buSzPct val="115000"/>
              <a:buFont typeface="Arial" panose="020B0604020202020204" pitchFamily="34" charset="0"/>
              <a:buChar char="•"/>
              <a:defRPr sz="2000">
                <a:latin typeface="Aptos" panose="020B0004020202020204" pitchFamily="34" charset="0"/>
              </a:defRPr>
            </a:lvl2pPr>
            <a:lvl3pPr marL="448056" indent="360000">
              <a:lnSpc>
                <a:spcPct val="105000"/>
              </a:lnSpc>
              <a:spcBef>
                <a:spcPts val="600"/>
              </a:spcBef>
              <a:spcAft>
                <a:spcPts val="600"/>
              </a:spcAft>
              <a:buClr>
                <a:schemeClr val="tx1"/>
              </a:buClr>
              <a:buSzPct val="115000"/>
              <a:buFont typeface="Arial" panose="020B0604020202020204" pitchFamily="34" charset="0"/>
              <a:buChar char="•"/>
              <a:defRPr sz="1600">
                <a:latin typeface="Aptos" panose="020B0004020202020204" pitchFamily="34" charset="0"/>
              </a:defRPr>
            </a:lvl3pPr>
            <a:lvl4pPr marL="594360" indent="360000">
              <a:lnSpc>
                <a:spcPct val="105000"/>
              </a:lnSpc>
              <a:spcBef>
                <a:spcPts val="600"/>
              </a:spcBef>
              <a:spcAft>
                <a:spcPts val="600"/>
              </a:spcAft>
              <a:buClr>
                <a:schemeClr val="tx1"/>
              </a:buClr>
              <a:buSzPct val="115000"/>
              <a:buFont typeface="Arial" panose="020B0604020202020204" pitchFamily="34" charset="0"/>
              <a:buChar char="•"/>
              <a:defRPr sz="1600">
                <a:latin typeface="Aptos" panose="020B0004020202020204" pitchFamily="34" charset="0"/>
              </a:defRPr>
            </a:lvl4pPr>
            <a:lvl5pPr marL="777240" indent="360000">
              <a:lnSpc>
                <a:spcPct val="105000"/>
              </a:lnSpc>
              <a:spcBef>
                <a:spcPts val="600"/>
              </a:spcBef>
              <a:spcAft>
                <a:spcPts val="0"/>
              </a:spcAft>
              <a:buClr>
                <a:schemeClr val="tx1"/>
              </a:buClr>
              <a:buSzPct val="115000"/>
              <a:buFont typeface="Arial" panose="020B0604020202020204" pitchFamily="34" charset="0"/>
              <a:buChar char="•"/>
              <a:defRPr sz="1600">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a:xfrm>
            <a:off x="11580875" y="6443841"/>
            <a:ext cx="505587" cy="274320"/>
          </a:xfrm>
          <a:prstGeom prst="rect">
            <a:avLst/>
          </a:prstGeom>
        </p:spPr>
        <p:txBody>
          <a:bodyPr anchor="ctr"/>
          <a:lstStyle>
            <a:lvl1pPr algn="ctr">
              <a:defRPr>
                <a:latin typeface="Aptos" panose="020B0004020202020204" pitchFamily="34" charset="0"/>
              </a:defRPr>
            </a:lvl1pPr>
          </a:lstStyle>
          <a:p>
            <a:fld id="{4FAB73BC-B049-4115-A692-8D63A059BFB8}" type="slidenum">
              <a:rPr lang="en-US" smtClean="0"/>
              <a:pPr/>
              <a:t>‹#›</a:t>
            </a:fld>
            <a:endParaRPr lang="en-US" dirty="0"/>
          </a:p>
        </p:txBody>
      </p:sp>
      <p:cxnSp>
        <p:nvCxnSpPr>
          <p:cNvPr id="8" name="Straight Connector 7">
            <a:extLst>
              <a:ext uri="{FF2B5EF4-FFF2-40B4-BE49-F238E27FC236}">
                <a16:creationId xmlns:a16="http://schemas.microsoft.com/office/drawing/2014/main" id="{34F72B13-EBFD-FC3A-4BCC-37D345ED1AC1}"/>
              </a:ext>
            </a:extLst>
          </p:cNvPr>
          <p:cNvCxnSpPr>
            <a:cxnSpLocks/>
          </p:cNvCxnSpPr>
          <p:nvPr userDrawn="1"/>
        </p:nvCxnSpPr>
        <p:spPr>
          <a:xfrm>
            <a:off x="557403" y="383095"/>
            <a:ext cx="0" cy="940880"/>
          </a:xfrm>
          <a:prstGeom prst="line">
            <a:avLst/>
          </a:prstGeom>
          <a:ln w="19050"/>
        </p:spPr>
        <p:style>
          <a:lnRef idx="1">
            <a:schemeClr val="accent1"/>
          </a:lnRef>
          <a:fillRef idx="0">
            <a:schemeClr val="accent1"/>
          </a:fillRef>
          <a:effectRef idx="0">
            <a:schemeClr val="accent1"/>
          </a:effectRef>
          <a:fontRef idx="minor">
            <a:schemeClr val="tx1"/>
          </a:fontRef>
        </p:style>
      </p:cxnSp>
      <p:pic>
        <p:nvPicPr>
          <p:cNvPr id="10" name="Graphic 9">
            <a:extLst>
              <a:ext uri="{FF2B5EF4-FFF2-40B4-BE49-F238E27FC236}">
                <a16:creationId xmlns:a16="http://schemas.microsoft.com/office/drawing/2014/main" id="{E6F258B6-76A2-C454-164F-C3F41A9FF0C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914766" y="78400"/>
            <a:ext cx="2200271" cy="772230"/>
          </a:xfrm>
          <a:prstGeom prst="rect">
            <a:avLst/>
          </a:prstGeom>
        </p:spPr>
      </p:pic>
      <p:sp>
        <p:nvSpPr>
          <p:cNvPr id="1552" name="TextBox 1551">
            <a:extLst>
              <a:ext uri="{FF2B5EF4-FFF2-40B4-BE49-F238E27FC236}">
                <a16:creationId xmlns:a16="http://schemas.microsoft.com/office/drawing/2014/main" id="{FE1E9B33-2745-F48B-3BF2-2014C9BD3E07}"/>
              </a:ext>
            </a:extLst>
          </p:cNvPr>
          <p:cNvSpPr txBox="1"/>
          <p:nvPr userDrawn="1"/>
        </p:nvSpPr>
        <p:spPr>
          <a:xfrm>
            <a:off x="695325" y="6304002"/>
            <a:ext cx="4435830" cy="553998"/>
          </a:xfrm>
          <a:prstGeom prst="rect">
            <a:avLst/>
          </a:prstGeom>
          <a:noFill/>
        </p:spPr>
        <p:txBody>
          <a:bodyPr wrap="none" rtlCol="0">
            <a:spAutoFit/>
          </a:bodyPr>
          <a:lstStyle/>
          <a:p>
            <a:pPr algn="l"/>
            <a:r>
              <a:rPr lang="en-US" sz="1000" b="1" i="0" dirty="0">
                <a:solidFill>
                  <a:srgbClr val="15467B"/>
                </a:solidFill>
                <a:latin typeface="Atkinson Hyperlegible Mono" panose="02000009000000000000" pitchFamily="49" charset="0"/>
                <a:cs typeface="Aharoni" panose="020F0502020204030204" pitchFamily="2" charset="-79"/>
              </a:rPr>
              <a:t>Health-RI</a:t>
            </a:r>
          </a:p>
          <a:p>
            <a:pPr algn="l"/>
            <a:r>
              <a:rPr lang="en-US" sz="1000" b="1" i="0" dirty="0">
                <a:solidFill>
                  <a:srgbClr val="15467B"/>
                </a:solidFill>
                <a:latin typeface="Atkinson Hyperlegible Mono" panose="02000009000000000000" pitchFamily="49" charset="0"/>
                <a:cs typeface="Aharoni" panose="020F0502020204030204" pitchFamily="2" charset="-79"/>
              </a:rPr>
              <a:t>Semantic Interoperability Initiative</a:t>
            </a:r>
          </a:p>
          <a:p>
            <a:pPr algn="l"/>
            <a:r>
              <a:rPr lang="en-US" sz="1000" b="0" i="0" dirty="0">
                <a:solidFill>
                  <a:srgbClr val="15467B"/>
                </a:solidFill>
                <a:latin typeface="Atkinson Hyperlegible Mono" panose="02000009000000000000" pitchFamily="49" charset="0"/>
                <a:cs typeface="Aharoni" panose="020F0502020204030204" pitchFamily="2" charset="-79"/>
              </a:rPr>
              <a:t>https://w3id.org/health-ri/semantic-interoperability</a:t>
            </a:r>
            <a:endParaRPr lang="en-NL" sz="1000" b="0" i="0" dirty="0">
              <a:solidFill>
                <a:srgbClr val="15467B"/>
              </a:solidFill>
              <a:latin typeface="Atkinson Hyperlegible Mono" panose="02000009000000000000" pitchFamily="49" charset="0"/>
              <a:cs typeface="Aharoni" panose="020F0502020204030204" pitchFamily="2" charset="-79"/>
            </a:endParaRPr>
          </a:p>
        </p:txBody>
      </p:sp>
      <p:pic>
        <p:nvPicPr>
          <p:cNvPr id="1553" name="Picture 1552">
            <a:extLst>
              <a:ext uri="{FF2B5EF4-FFF2-40B4-BE49-F238E27FC236}">
                <a16:creationId xmlns:a16="http://schemas.microsoft.com/office/drawing/2014/main" id="{F374156B-0C5B-3EB0-196C-219F6B055071}"/>
              </a:ext>
            </a:extLst>
          </p:cNvPr>
          <p:cNvPicPr>
            <a:picLocks noChangeAspect="1"/>
          </p:cNvPicPr>
          <p:nvPr userDrawn="1"/>
        </p:nvPicPr>
        <p:blipFill>
          <a:blip r:embed="rId3">
            <a:clrChange>
              <a:clrFrom>
                <a:srgbClr val="FFFFFF"/>
              </a:clrFrom>
              <a:clrTo>
                <a:srgbClr val="FFFFFF">
                  <a:alpha val="0"/>
                </a:srgbClr>
              </a:clrTo>
            </a:clrChange>
            <a:duotone>
              <a:schemeClr val="accent1">
                <a:shade val="45000"/>
                <a:satMod val="135000"/>
              </a:schemeClr>
              <a:prstClr val="white"/>
            </a:duotone>
          </a:blip>
          <a:stretch>
            <a:fillRect/>
          </a:stretch>
        </p:blipFill>
        <p:spPr>
          <a:xfrm>
            <a:off x="12573" y="6176772"/>
            <a:ext cx="682752" cy="681228"/>
          </a:xfrm>
          <a:prstGeom prst="rect">
            <a:avLst/>
          </a:prstGeom>
        </p:spPr>
      </p:pic>
    </p:spTree>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438" userDrawn="1">
          <p15:clr>
            <a:srgbClr val="FBAE40"/>
          </p15:clr>
        </p15:guide>
        <p15:guide id="4" pos="7242" userDrawn="1">
          <p15:clr>
            <a:srgbClr val="FBAE40"/>
          </p15:clr>
        </p15:guide>
        <p15:guide id="5" orient="horz" pos="1026" userDrawn="1">
          <p15:clr>
            <a:srgbClr val="FBAE40"/>
          </p15:clr>
        </p15:guide>
        <p15:guide id="6" orient="horz" pos="3748" userDrawn="1">
          <p15:clr>
            <a:srgbClr val="FBAE40"/>
          </p15:clr>
        </p15:guide>
        <p15:guide id="7" orient="horz" pos="2387"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Aptos" panose="020B0004020202020204" pitchFamily="34" charset="0"/>
              </a:defRPr>
            </a:lvl1pPr>
          </a:lstStyle>
          <a:p>
            <a:fld id="{59AB8727-0C24-4D04-B5CC-46C87A542BBE}" type="datetime1">
              <a:rPr lang="en-US" smtClean="0"/>
              <a:pPr/>
              <a:t>5/22/2026</a:t>
            </a:fld>
            <a:endParaRPr lang="en-US"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Aptos" panose="020B0004020202020204" pitchFamily="34" charset="0"/>
              </a:defRPr>
            </a:lvl1pPr>
          </a:lstStyle>
          <a:p>
            <a:endParaRPr lang="en-US" dirty="0"/>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icture 10" descr="A close-up of a logo&#10;&#10;AI-generated content may be incorrect.">
            <a:extLst>
              <a:ext uri="{FF2B5EF4-FFF2-40B4-BE49-F238E27FC236}">
                <a16:creationId xmlns:a16="http://schemas.microsoft.com/office/drawing/2014/main" id="{AA2AD037-21F9-ABBE-4E61-3C198569BE7D}"/>
              </a:ext>
            </a:extLst>
          </p:cNvPr>
          <p:cNvPicPr>
            <a:picLocks noChangeAspect="1"/>
          </p:cNvPicPr>
          <p:nvPr userDrawn="1"/>
        </p:nvPicPr>
        <p:blipFill>
          <a:blip r:embed="rId4"/>
          <a:stretch>
            <a:fillRect/>
          </a:stretch>
        </p:blipFill>
        <p:spPr>
          <a:xfrm>
            <a:off x="216117" y="6204748"/>
            <a:ext cx="2717584" cy="540275"/>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Lst>
  <p:hf hdr="0" ftr="0" dt="0"/>
  <p:txStyles>
    <p:titleStyle>
      <a:lvl1pPr algn="l" defTabSz="914400" rtl="0" eaLnBrk="1" latinLnBrk="0" hangingPunct="1">
        <a:lnSpc>
          <a:spcPct val="80000"/>
        </a:lnSpc>
        <a:spcBef>
          <a:spcPct val="0"/>
        </a:spcBef>
        <a:buNone/>
        <a:defRPr sz="4000" kern="1200" cap="all" spc="100" baseline="0">
          <a:solidFill>
            <a:schemeClr val="tx1">
              <a:lumMod val="95000"/>
              <a:lumOff val="5000"/>
            </a:schemeClr>
          </a:solidFill>
          <a:latin typeface="Aptos" panose="020B0004020202020204" pitchFamily="34" charset="0"/>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Aptos" panose="020B0004020202020204" pitchFamily="34" charset="0"/>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Aptos" panose="020B0004020202020204" pitchFamily="34" charset="0"/>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Aptos" panose="020B0004020202020204" pitchFamily="34" charset="0"/>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Aptos" panose="020B0004020202020204" pitchFamily="34" charset="0"/>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Aptos" panose="020B0004020202020204" pitchFamily="34" charset="0"/>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4.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6.png"/><Relationship Id="rId7" Type="http://schemas.openxmlformats.org/officeDocument/2006/relationships/diagramColors" Target="../diagrams/colors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8.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3.png"/></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8.png"/><Relationship Id="rId7"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sv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2.png"/><Relationship Id="rId5" Type="http://schemas.microsoft.com/office/2007/relationships/hdphoto" Target="../media/hdphoto1.wdp"/><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15.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6.png"/><Relationship Id="rId7" Type="http://schemas.openxmlformats.org/officeDocument/2006/relationships/diagramColors" Target="../diagrams/colors4.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sv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24.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6.png"/><Relationship Id="rId7" Type="http://schemas.openxmlformats.org/officeDocument/2006/relationships/diagramColors" Target="../diagrams/colors5.xml"/><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12.png"/><Relationship Id="rId5" Type="http://schemas.microsoft.com/office/2007/relationships/hdphoto" Target="../media/hdphoto1.wdp"/><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sv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31.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image" Target="../media/image6.png"/><Relationship Id="rId7" Type="http://schemas.openxmlformats.org/officeDocument/2006/relationships/diagramColors" Target="../diagrams/colors6.xml"/><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3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4.xml"/><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2FDF0794-1B86-42B2-B8C7-F60123E638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4" y="0"/>
            <a:ext cx="12188726"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a:extLst>
              <a:ext uri="{FF2B5EF4-FFF2-40B4-BE49-F238E27FC236}">
                <a16:creationId xmlns:a16="http://schemas.microsoft.com/office/drawing/2014/main" id="{230BD1B1-AA22-48F1-B3ED-579CD284605D}"/>
              </a:ext>
              <a:ext uri="{C183D7F6-B498-43B3-948B-1728B52AA6E4}">
                <adec:decorative xmlns:adec="http://schemas.microsoft.com/office/drawing/2017/decorative" val="1"/>
              </a:ext>
            </a:extLst>
          </p:cNvPr>
          <p:cNvPicPr>
            <a:picLocks noChangeAspect="1"/>
          </p:cNvPicPr>
          <p:nvPr/>
        </p:nvPicPr>
        <p:blipFill rotWithShape="1">
          <a:blip r:embed="rId3"/>
          <a:srcRect r="52444" b="-1"/>
          <a:stretch/>
        </p:blipFill>
        <p:spPr>
          <a:xfrm>
            <a:off x="20" y="975"/>
            <a:ext cx="12191980" cy="6858000"/>
          </a:xfrm>
          <a:prstGeom prst="rect">
            <a:avLst/>
          </a:prstGeom>
        </p:spPr>
      </p:pic>
      <p:sp>
        <p:nvSpPr>
          <p:cNvPr id="21" name="Rectangle 20">
            <a:extLst>
              <a:ext uri="{FF2B5EF4-FFF2-40B4-BE49-F238E27FC236}">
                <a16:creationId xmlns:a16="http://schemas.microsoft.com/office/drawing/2014/main" id="{EAA48FC5-3C83-4F1B-BC33-DF0B588F83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96786" y="3064931"/>
            <a:ext cx="8295215" cy="2488568"/>
          </a:xfrm>
          <a:prstGeom prst="rect">
            <a:avLst/>
          </a:prstGeom>
          <a:solidFill>
            <a:srgbClr val="000001">
              <a:alpha val="7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E3D84FB-5D02-47D2-98FD-4F01A02E2AEA}"/>
              </a:ext>
            </a:extLst>
          </p:cNvPr>
          <p:cNvSpPr>
            <a:spLocks noGrp="1"/>
          </p:cNvSpPr>
          <p:nvPr>
            <p:ph type="ctrTitle"/>
          </p:nvPr>
        </p:nvSpPr>
        <p:spPr>
          <a:xfrm>
            <a:off x="4309349" y="3429000"/>
            <a:ext cx="7501651" cy="1090938"/>
          </a:xfrm>
        </p:spPr>
        <p:txBody>
          <a:bodyPr anchor="ctr">
            <a:noAutofit/>
          </a:bodyPr>
          <a:lstStyle/>
          <a:p>
            <a:r>
              <a:rPr lang="en-US" sz="3200" dirty="0">
                <a:solidFill>
                  <a:srgbClr val="FFFFFF"/>
                </a:solidFill>
              </a:rPr>
              <a:t>Applied Use Cases of </a:t>
            </a:r>
            <a:br>
              <a:rPr lang="en-US" sz="3200" dirty="0">
                <a:solidFill>
                  <a:srgbClr val="FFFFFF"/>
                </a:solidFill>
              </a:rPr>
            </a:br>
            <a:r>
              <a:rPr lang="en-US" sz="3200" b="1" dirty="0">
                <a:solidFill>
                  <a:srgbClr val="FFFFFF"/>
                </a:solidFill>
              </a:rPr>
              <a:t>the Health-RI Semantic Interoperability Initiative</a:t>
            </a:r>
          </a:p>
        </p:txBody>
      </p:sp>
      <p:sp>
        <p:nvSpPr>
          <p:cNvPr id="3" name="Subtitle 2">
            <a:extLst>
              <a:ext uri="{FF2B5EF4-FFF2-40B4-BE49-F238E27FC236}">
                <a16:creationId xmlns:a16="http://schemas.microsoft.com/office/drawing/2014/main" id="{E9F6641D-ADF3-40BD-9BA3-E740E77C8826}"/>
              </a:ext>
            </a:extLst>
          </p:cNvPr>
          <p:cNvSpPr>
            <a:spLocks noGrp="1"/>
          </p:cNvSpPr>
          <p:nvPr>
            <p:ph type="subTitle" idx="1"/>
          </p:nvPr>
        </p:nvSpPr>
        <p:spPr>
          <a:xfrm>
            <a:off x="4309349" y="4779313"/>
            <a:ext cx="7501650" cy="514816"/>
          </a:xfrm>
        </p:spPr>
        <p:txBody>
          <a:bodyPr anchor="t">
            <a:normAutofit fontScale="70000" lnSpcReduction="20000"/>
          </a:bodyPr>
          <a:lstStyle/>
          <a:p>
            <a:pPr algn="r"/>
            <a:r>
              <a:rPr lang="en-US" sz="2000" b="1" i="1" dirty="0">
                <a:solidFill>
                  <a:srgbClr val="FFFFFF"/>
                </a:solidFill>
              </a:rPr>
              <a:t>Pedro Paulo F. Barcelos</a:t>
            </a:r>
            <a:r>
              <a:rPr lang="en-US" sz="2000" i="1" dirty="0">
                <a:solidFill>
                  <a:srgbClr val="FFFFFF"/>
                </a:solidFill>
              </a:rPr>
              <a:t> {Pedro.Barcelos@health-ri.nl},</a:t>
            </a:r>
            <a:r>
              <a:rPr lang="en-US" sz="2000" dirty="0">
                <a:solidFill>
                  <a:srgbClr val="FFFFFF"/>
                </a:solidFill>
              </a:rPr>
              <a:t> </a:t>
            </a:r>
            <a:r>
              <a:rPr lang="en-US" sz="2000" i="1" dirty="0">
                <a:solidFill>
                  <a:srgbClr val="FFFFFF"/>
                </a:solidFill>
              </a:rPr>
              <a:t>Niek van </a:t>
            </a:r>
            <a:r>
              <a:rPr lang="en-US" sz="2000" i="1" dirty="0" err="1">
                <a:solidFill>
                  <a:srgbClr val="FFFFFF"/>
                </a:solidFill>
              </a:rPr>
              <a:t>Ulzen</a:t>
            </a:r>
            <a:r>
              <a:rPr lang="en-US" sz="2000" i="1" dirty="0">
                <a:solidFill>
                  <a:srgbClr val="FFFFFF"/>
                </a:solidFill>
              </a:rPr>
              <a:t>, </a:t>
            </a:r>
          </a:p>
          <a:p>
            <a:pPr algn="r"/>
            <a:r>
              <a:rPr lang="en-US" sz="2000" i="1" dirty="0">
                <a:solidFill>
                  <a:srgbClr val="FFFFFF"/>
                </a:solidFill>
              </a:rPr>
              <a:t>Reinier Groeneveld, Ana Konrad, Douwe </a:t>
            </a:r>
            <a:r>
              <a:rPr lang="en-US" sz="2000" i="1" dirty="0" err="1">
                <a:solidFill>
                  <a:srgbClr val="FFFFFF"/>
                </a:solidFill>
              </a:rPr>
              <a:t>Spaanderman</a:t>
            </a:r>
            <a:r>
              <a:rPr lang="en-US" sz="2000" i="1" dirty="0">
                <a:solidFill>
                  <a:srgbClr val="FFFFFF"/>
                </a:solidFill>
              </a:rPr>
              <a:t>, and </a:t>
            </a:r>
            <a:r>
              <a:rPr lang="en-US" sz="2000" i="1" dirty="0" err="1">
                <a:solidFill>
                  <a:srgbClr val="FFFFFF"/>
                </a:solidFill>
              </a:rPr>
              <a:t>Shuxin</a:t>
            </a:r>
            <a:r>
              <a:rPr lang="en-US" sz="2000" i="1" dirty="0">
                <a:solidFill>
                  <a:srgbClr val="FFFFFF"/>
                </a:solidFill>
              </a:rPr>
              <a:t> Zhang</a:t>
            </a:r>
          </a:p>
          <a:p>
            <a:pPr algn="r"/>
            <a:endParaRPr lang="en-US" sz="2000" i="1" dirty="0">
              <a:solidFill>
                <a:srgbClr val="FFFFFF"/>
              </a:solidFill>
            </a:endParaRPr>
          </a:p>
        </p:txBody>
      </p:sp>
      <p:cxnSp>
        <p:nvCxnSpPr>
          <p:cNvPr id="23" name="Straight Connector 22">
            <a:extLst>
              <a:ext uri="{FF2B5EF4-FFF2-40B4-BE49-F238E27FC236}">
                <a16:creationId xmlns:a16="http://schemas.microsoft.com/office/drawing/2014/main" id="{62F01714-1A39-4194-BD47-8A9960C5998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09349" y="4666480"/>
            <a:ext cx="6832499" cy="0"/>
          </a:xfrm>
          <a:prstGeom prst="line">
            <a:avLst/>
          </a:prstGeom>
          <a:ln w="22225">
            <a:solidFill>
              <a:srgbClr val="4AC4E3"/>
            </a:solidFill>
          </a:ln>
        </p:spPr>
        <p:style>
          <a:lnRef idx="3">
            <a:schemeClr val="accent1"/>
          </a:lnRef>
          <a:fillRef idx="0">
            <a:schemeClr val="accent1"/>
          </a:fillRef>
          <a:effectRef idx="2">
            <a:schemeClr val="accent1"/>
          </a:effectRef>
          <a:fontRef idx="minor">
            <a:schemeClr val="tx1"/>
          </a:fontRef>
        </p:style>
      </p:cxnSp>
      <p:pic>
        <p:nvPicPr>
          <p:cNvPr id="4" name="Graphic 3">
            <a:extLst>
              <a:ext uri="{FF2B5EF4-FFF2-40B4-BE49-F238E27FC236}">
                <a16:creationId xmlns:a16="http://schemas.microsoft.com/office/drawing/2014/main" id="{11F8F97E-9DBB-832B-96BE-09367EDA5E2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444753" y="5554033"/>
            <a:ext cx="3736135" cy="1311271"/>
          </a:xfrm>
          <a:prstGeom prst="rect">
            <a:avLst/>
          </a:prstGeom>
        </p:spPr>
      </p:pic>
    </p:spTree>
    <p:extLst>
      <p:ext uri="{BB962C8B-B14F-4D97-AF65-F5344CB8AC3E}">
        <p14:creationId xmlns:p14="http://schemas.microsoft.com/office/powerpoint/2010/main" val="28062570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BA4B5-9CE0-0E7A-1C76-4A292BE135F1}"/>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46330AC1-A43F-C0C9-DFF2-49BCF3B25AA1}"/>
              </a:ext>
            </a:extLst>
          </p:cNvPr>
          <p:cNvPicPr>
            <a:picLocks noChangeAspect="1"/>
          </p:cNvPicPr>
          <p:nvPr/>
        </p:nvPicPr>
        <p:blipFill>
          <a:blip r:embed="rId3"/>
          <a:srcRect t="21286" r="49991" b="18695"/>
          <a:stretch>
            <a:fillRect/>
          </a:stretch>
        </p:blipFill>
        <p:spPr>
          <a:xfrm>
            <a:off x="695325" y="1628775"/>
            <a:ext cx="5400675" cy="4321175"/>
          </a:xfrm>
          <a:prstGeom prst="rect">
            <a:avLst/>
          </a:prstGeom>
        </p:spPr>
      </p:pic>
      <p:sp>
        <p:nvSpPr>
          <p:cNvPr id="2" name="Title 1">
            <a:extLst>
              <a:ext uri="{FF2B5EF4-FFF2-40B4-BE49-F238E27FC236}">
                <a16:creationId xmlns:a16="http://schemas.microsoft.com/office/drawing/2014/main" id="{F563D5D0-928F-765F-2F97-4E1BE0AD6641}"/>
              </a:ext>
            </a:extLst>
          </p:cNvPr>
          <p:cNvSpPr>
            <a:spLocks noGrp="1"/>
          </p:cNvSpPr>
          <p:nvPr>
            <p:ph type="title"/>
          </p:nvPr>
        </p:nvSpPr>
        <p:spPr/>
        <p:txBody>
          <a:bodyPr/>
          <a:lstStyle/>
          <a:p>
            <a:r>
              <a:rPr lang="en-US" sz="3600" dirty="0"/>
              <a:t>Amir Hassan: Research Goal and Challenge</a:t>
            </a:r>
            <a:endParaRPr lang="en-NL" sz="3600" dirty="0"/>
          </a:p>
        </p:txBody>
      </p:sp>
      <p:sp>
        <p:nvSpPr>
          <p:cNvPr id="4" name="Slide Number Placeholder 3">
            <a:extLst>
              <a:ext uri="{FF2B5EF4-FFF2-40B4-BE49-F238E27FC236}">
                <a16:creationId xmlns:a16="http://schemas.microsoft.com/office/drawing/2014/main" id="{E0A20D24-8B52-DDAE-27AE-C4BFC8377BAF}"/>
              </a:ext>
            </a:extLst>
          </p:cNvPr>
          <p:cNvSpPr>
            <a:spLocks noGrp="1"/>
          </p:cNvSpPr>
          <p:nvPr>
            <p:ph type="sldNum" sz="quarter" idx="12"/>
          </p:nvPr>
        </p:nvSpPr>
        <p:spPr/>
        <p:txBody>
          <a:bodyPr/>
          <a:lstStyle/>
          <a:p>
            <a:fld id="{4FAB73BC-B049-4115-A692-8D63A059BFB8}" type="slidenum">
              <a:rPr lang="en-US" smtClean="0"/>
              <a:pPr/>
              <a:t>2</a:t>
            </a:fld>
            <a:endParaRPr lang="en-US" dirty="0"/>
          </a:p>
        </p:txBody>
      </p:sp>
      <p:sp>
        <p:nvSpPr>
          <p:cNvPr id="11" name="Rectangle 10">
            <a:extLst>
              <a:ext uri="{FF2B5EF4-FFF2-40B4-BE49-F238E27FC236}">
                <a16:creationId xmlns:a16="http://schemas.microsoft.com/office/drawing/2014/main" id="{1832A84C-B6B9-82F9-0572-8097BC9A0165}"/>
              </a:ext>
            </a:extLst>
          </p:cNvPr>
          <p:cNvSpPr/>
          <p:nvPr/>
        </p:nvSpPr>
        <p:spPr>
          <a:xfrm>
            <a:off x="6094196" y="1628775"/>
            <a:ext cx="5397858" cy="4321175"/>
          </a:xfrm>
          <a:prstGeom prst="rect">
            <a:avLst/>
          </a:prstGeom>
          <a:solidFill>
            <a:schemeClr val="accent1">
              <a:lumMod val="20000"/>
              <a:lumOff val="80000"/>
              <a:alpha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0" tIns="180000" rIns="180000" bIns="180000" rtlCol="0" anchor="ctr"/>
          <a:lstStyle/>
          <a:p>
            <a:r>
              <a:rPr lang="en-US" sz="2000" b="1" i="1" dirty="0">
                <a:solidFill>
                  <a:schemeClr val="tx1"/>
                </a:solidFill>
              </a:rPr>
              <a:t>Amir</a:t>
            </a:r>
            <a:r>
              <a:rPr lang="en-US" sz="2000" i="1" dirty="0">
                <a:solidFill>
                  <a:schemeClr val="tx1"/>
                </a:solidFill>
              </a:rPr>
              <a:t> is studying whether treatment outcomes differ across patient groups and needs to stratify his cohort using the correct sex/gender-related variable.</a:t>
            </a:r>
          </a:p>
          <a:p>
            <a:endParaRPr lang="en-US" sz="1200" i="1" dirty="0">
              <a:solidFill>
                <a:schemeClr val="tx1"/>
              </a:solidFill>
            </a:endParaRPr>
          </a:p>
          <a:p>
            <a:r>
              <a:rPr lang="en-US" sz="2000" i="1" dirty="0">
                <a:solidFill>
                  <a:schemeClr val="tx1"/>
                </a:solidFill>
              </a:rPr>
              <a:t>Before requesting data, he must identify which datasets contain the right variable for his study.</a:t>
            </a:r>
            <a:endParaRPr lang="en-NL" sz="2000" i="1" dirty="0">
              <a:solidFill>
                <a:schemeClr val="tx1"/>
              </a:solidFill>
            </a:endParaRPr>
          </a:p>
        </p:txBody>
      </p:sp>
      <p:sp>
        <p:nvSpPr>
          <p:cNvPr id="3" name="TextBox 2">
            <a:extLst>
              <a:ext uri="{FF2B5EF4-FFF2-40B4-BE49-F238E27FC236}">
                <a16:creationId xmlns:a16="http://schemas.microsoft.com/office/drawing/2014/main" id="{BA945E14-5509-99A3-E817-A3161D6BA80C}"/>
              </a:ext>
            </a:extLst>
          </p:cNvPr>
          <p:cNvSpPr txBox="1"/>
          <p:nvPr/>
        </p:nvSpPr>
        <p:spPr>
          <a:xfrm>
            <a:off x="1268209" y="5427622"/>
            <a:ext cx="4253103" cy="400110"/>
          </a:xfrm>
          <a:prstGeom prst="rect">
            <a:avLst/>
          </a:prstGeom>
          <a:solidFill>
            <a:schemeClr val="bg2">
              <a:lumMod val="9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dk1">
              <a:shade val="15000"/>
            </a:schemeClr>
          </a:lnRef>
          <a:fillRef idx="1">
            <a:schemeClr val="dk1"/>
          </a:fillRef>
          <a:effectRef idx="0">
            <a:schemeClr val="dk1"/>
          </a:effectRef>
          <a:fontRef idx="minor">
            <a:schemeClr val="lt1"/>
          </a:fontRef>
        </p:style>
        <p:txBody>
          <a:bodyPr wrap="square" rtlCol="0" anchor="ctr">
            <a:spAutoFit/>
          </a:bodyPr>
          <a:lstStyle/>
          <a:p>
            <a:pPr algn="ctr"/>
            <a:r>
              <a:rPr lang="en-US" sz="2000" b="1" dirty="0">
                <a:solidFill>
                  <a:schemeClr val="accent1">
                    <a:lumMod val="50000"/>
                  </a:schemeClr>
                </a:solidFill>
                <a:latin typeface="Atkinson Hyperlegible" pitchFamily="2" charset="0"/>
              </a:rPr>
              <a:t>Dr. Amir Hassan — Researcher</a:t>
            </a:r>
            <a:endParaRPr lang="en-US" sz="2000" dirty="0">
              <a:solidFill>
                <a:schemeClr val="accent1">
                  <a:lumMod val="50000"/>
                </a:schemeClr>
              </a:solidFill>
              <a:latin typeface="Atkinson Hyperlegible" pitchFamily="2" charset="0"/>
            </a:endParaRPr>
          </a:p>
        </p:txBody>
      </p:sp>
    </p:spTree>
    <p:extLst>
      <p:ext uri="{BB962C8B-B14F-4D97-AF65-F5344CB8AC3E}">
        <p14:creationId xmlns:p14="http://schemas.microsoft.com/office/powerpoint/2010/main" val="23919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130DAF-7D7B-7006-AAD4-327B26717FDF}"/>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2C67D9D9-F5CF-9060-2A72-D314E2ACA508}"/>
              </a:ext>
            </a:extLst>
          </p:cNvPr>
          <p:cNvPicPr>
            <a:picLocks noChangeAspect="1"/>
          </p:cNvPicPr>
          <p:nvPr/>
        </p:nvPicPr>
        <p:blipFill>
          <a:blip r:embed="rId3"/>
          <a:srcRect t="21286" r="49991" b="18695"/>
          <a:stretch>
            <a:fillRect/>
          </a:stretch>
        </p:blipFill>
        <p:spPr>
          <a:xfrm>
            <a:off x="695325" y="1628775"/>
            <a:ext cx="5400675" cy="4321175"/>
          </a:xfrm>
          <a:prstGeom prst="rect">
            <a:avLst/>
          </a:prstGeom>
        </p:spPr>
      </p:pic>
      <p:sp>
        <p:nvSpPr>
          <p:cNvPr id="2" name="Title 1">
            <a:extLst>
              <a:ext uri="{FF2B5EF4-FFF2-40B4-BE49-F238E27FC236}">
                <a16:creationId xmlns:a16="http://schemas.microsoft.com/office/drawing/2014/main" id="{21D72472-6695-E9FB-12F7-656F6C416189}"/>
              </a:ext>
            </a:extLst>
          </p:cNvPr>
          <p:cNvSpPr>
            <a:spLocks noGrp="1"/>
          </p:cNvSpPr>
          <p:nvPr>
            <p:ph type="title"/>
          </p:nvPr>
        </p:nvSpPr>
        <p:spPr>
          <a:xfrm>
            <a:off x="695327" y="386001"/>
            <a:ext cx="9486898" cy="929259"/>
          </a:xfrm>
        </p:spPr>
        <p:txBody>
          <a:bodyPr/>
          <a:lstStyle/>
          <a:p>
            <a:r>
              <a:rPr lang="en-US" sz="3600" b="1" dirty="0"/>
              <a:t>Scenario 1: Clarify Meanings Before Reuse</a:t>
            </a:r>
            <a:endParaRPr lang="en-NL" sz="3600" b="1" dirty="0"/>
          </a:p>
        </p:txBody>
      </p:sp>
      <p:sp>
        <p:nvSpPr>
          <p:cNvPr id="4" name="Slide Number Placeholder 3">
            <a:extLst>
              <a:ext uri="{FF2B5EF4-FFF2-40B4-BE49-F238E27FC236}">
                <a16:creationId xmlns:a16="http://schemas.microsoft.com/office/drawing/2014/main" id="{7CE6BC92-88F3-98DF-1AD8-470B7A6A401E}"/>
              </a:ext>
            </a:extLst>
          </p:cNvPr>
          <p:cNvSpPr>
            <a:spLocks noGrp="1"/>
          </p:cNvSpPr>
          <p:nvPr>
            <p:ph type="sldNum" sz="quarter" idx="12"/>
          </p:nvPr>
        </p:nvSpPr>
        <p:spPr/>
        <p:txBody>
          <a:bodyPr/>
          <a:lstStyle/>
          <a:p>
            <a:fld id="{4FAB73BC-B049-4115-A692-8D63A059BFB8}" type="slidenum">
              <a:rPr lang="en-US" smtClean="0"/>
              <a:pPr/>
              <a:t>3</a:t>
            </a:fld>
            <a:endParaRPr lang="en-US" dirty="0"/>
          </a:p>
        </p:txBody>
      </p:sp>
      <p:sp>
        <p:nvSpPr>
          <p:cNvPr id="56" name="Rectangle 55">
            <a:extLst>
              <a:ext uri="{FF2B5EF4-FFF2-40B4-BE49-F238E27FC236}">
                <a16:creationId xmlns:a16="http://schemas.microsoft.com/office/drawing/2014/main" id="{AF5941AA-173D-35AA-9986-4F36C3215CD4}"/>
              </a:ext>
            </a:extLst>
          </p:cNvPr>
          <p:cNvSpPr/>
          <p:nvPr/>
        </p:nvSpPr>
        <p:spPr>
          <a:xfrm>
            <a:off x="5136204" y="1628775"/>
            <a:ext cx="6350219" cy="4321175"/>
          </a:xfrm>
          <a:prstGeom prst="rect">
            <a:avLst/>
          </a:prstGeom>
          <a:solidFill>
            <a:schemeClr val="accent1">
              <a:lumMod val="20000"/>
              <a:lumOff val="80000"/>
              <a:alpha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0" tIns="180000" rIns="180000" bIns="180000" rtlCol="0" anchor="ctr"/>
          <a:lstStyle/>
          <a:p>
            <a:endParaRPr lang="en-NL" sz="2000" i="1" dirty="0">
              <a:solidFill>
                <a:schemeClr val="tx1"/>
              </a:solidFill>
            </a:endParaRPr>
          </a:p>
        </p:txBody>
      </p:sp>
      <p:cxnSp>
        <p:nvCxnSpPr>
          <p:cNvPr id="58" name="Connector: Elbow 57">
            <a:extLst>
              <a:ext uri="{FF2B5EF4-FFF2-40B4-BE49-F238E27FC236}">
                <a16:creationId xmlns:a16="http://schemas.microsoft.com/office/drawing/2014/main" id="{2E0CB26B-C1DB-4B3D-640A-399DCC470432}"/>
              </a:ext>
            </a:extLst>
          </p:cNvPr>
          <p:cNvCxnSpPr>
            <a:cxnSpLocks/>
            <a:stCxn id="61" idx="1"/>
          </p:cNvCxnSpPr>
          <p:nvPr/>
        </p:nvCxnSpPr>
        <p:spPr>
          <a:xfrm flipV="1">
            <a:off x="7405404" y="3789363"/>
            <a:ext cx="2269615" cy="826612"/>
          </a:xfrm>
          <a:prstGeom prst="bentConnector3">
            <a:avLst>
              <a:gd name="adj1" fmla="val 86472"/>
            </a:avLst>
          </a:pr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cxnSp>
      <p:sp>
        <p:nvSpPr>
          <p:cNvPr id="59" name="Freeform: Shape 58">
            <a:extLst>
              <a:ext uri="{FF2B5EF4-FFF2-40B4-BE49-F238E27FC236}">
                <a16:creationId xmlns:a16="http://schemas.microsoft.com/office/drawing/2014/main" id="{A38C2BAF-9008-D084-E1D7-B07D006DE2AF}"/>
              </a:ext>
            </a:extLst>
          </p:cNvPr>
          <p:cNvSpPr/>
          <p:nvPr/>
        </p:nvSpPr>
        <p:spPr>
          <a:xfrm>
            <a:off x="7034190" y="2917030"/>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2" tIns="43711" rIns="188262" bIns="43711" numCol="1" spcCol="1270" anchor="ctr" anchorCtr="0">
            <a:noAutofit/>
          </a:bodyPr>
          <a:lstStyle/>
          <a:p>
            <a:pPr marL="0" lvl="0" indent="0" algn="ctr" defTabSz="222250">
              <a:lnSpc>
                <a:spcPct val="90000"/>
              </a:lnSpc>
              <a:spcBef>
                <a:spcPct val="0"/>
              </a:spcBef>
              <a:spcAft>
                <a:spcPct val="35000"/>
              </a:spcAft>
              <a:buNone/>
            </a:pPr>
            <a:endParaRPr lang="en-NL" sz="1200" kern="1200" dirty="0"/>
          </a:p>
        </p:txBody>
      </p:sp>
      <p:sp>
        <p:nvSpPr>
          <p:cNvPr id="60" name="Freeform: Shape 59">
            <a:extLst>
              <a:ext uri="{FF2B5EF4-FFF2-40B4-BE49-F238E27FC236}">
                <a16:creationId xmlns:a16="http://schemas.microsoft.com/office/drawing/2014/main" id="{4B81EBE0-17DB-EB52-8615-4FB10AC7E195}"/>
              </a:ext>
            </a:extLst>
          </p:cNvPr>
          <p:cNvSpPr/>
          <p:nvPr/>
        </p:nvSpPr>
        <p:spPr>
          <a:xfrm>
            <a:off x="6162481" y="3486855"/>
            <a:ext cx="2206819" cy="572615"/>
          </a:xfrm>
          <a:custGeom>
            <a:avLst/>
            <a:gdLst>
              <a:gd name="csX0" fmla="*/ 4297663 w 4297663"/>
              <a:gd name="csY0" fmla="*/ 0 h 371214"/>
              <a:gd name="csX1" fmla="*/ 4297663 w 4297663"/>
              <a:gd name="csY1" fmla="*/ 202707 h 371214"/>
              <a:gd name="csX2" fmla="*/ 0 w 4297663"/>
              <a:gd name="csY2" fmla="*/ 202707 h 371214"/>
              <a:gd name="csX3" fmla="*/ 0 w 4297663"/>
              <a:gd name="csY3" fmla="*/ 371214 h 371214"/>
            </a:gdLst>
            <a:ahLst/>
            <a:cxnLst>
              <a:cxn ang="0">
                <a:pos x="csX0" y="csY0"/>
              </a:cxn>
              <a:cxn ang="0">
                <a:pos x="csX1" y="csY1"/>
              </a:cxn>
              <a:cxn ang="0">
                <a:pos x="csX2" y="csY2"/>
              </a:cxn>
              <a:cxn ang="0">
                <a:pos x="csX3" y="csY3"/>
              </a:cxn>
            </a:cxnLst>
            <a:rect l="l" t="t" r="r" b="b"/>
            <a:pathLst>
              <a:path w="4297663" h="371214">
                <a:moveTo>
                  <a:pt x="4297663" y="0"/>
                </a:moveTo>
                <a:lnTo>
                  <a:pt x="4297663" y="202707"/>
                </a:lnTo>
                <a:lnTo>
                  <a:pt x="0" y="202707"/>
                </a:lnTo>
                <a:lnTo>
                  <a:pt x="0" y="371214"/>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2053622" tIns="183598" rIns="2053621" bIns="183598" numCol="1" spcCol="1270" anchor="ctr" anchorCtr="0">
            <a:noAutofit/>
          </a:bodyPr>
          <a:lstStyle/>
          <a:p>
            <a:pPr marL="0" lvl="0" indent="0" algn="ctr" defTabSz="222250">
              <a:lnSpc>
                <a:spcPct val="90000"/>
              </a:lnSpc>
              <a:spcBef>
                <a:spcPct val="0"/>
              </a:spcBef>
              <a:spcAft>
                <a:spcPct val="35000"/>
              </a:spcAft>
              <a:buNone/>
            </a:pPr>
            <a:endParaRPr lang="en-NL" sz="1200" kern="1200"/>
          </a:p>
        </p:txBody>
      </p:sp>
      <p:sp>
        <p:nvSpPr>
          <p:cNvPr id="61" name="Freeform: Shape 60">
            <a:extLst>
              <a:ext uri="{FF2B5EF4-FFF2-40B4-BE49-F238E27FC236}">
                <a16:creationId xmlns:a16="http://schemas.microsoft.com/office/drawing/2014/main" id="{99694235-D1F7-5123-D26B-7B18318B94BC}"/>
              </a:ext>
            </a:extLst>
          </p:cNvPr>
          <p:cNvSpPr/>
          <p:nvPr/>
        </p:nvSpPr>
        <p:spPr>
          <a:xfrm>
            <a:off x="7034190" y="4570255"/>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2" tIns="43711" rIns="188262" bIns="43711" numCol="1" spcCol="1270" anchor="ctr" anchorCtr="0">
            <a:noAutofit/>
          </a:bodyPr>
          <a:lstStyle/>
          <a:p>
            <a:pPr marL="0" lvl="0" indent="0" algn="ctr" defTabSz="222250">
              <a:lnSpc>
                <a:spcPct val="90000"/>
              </a:lnSpc>
              <a:spcBef>
                <a:spcPct val="0"/>
              </a:spcBef>
              <a:spcAft>
                <a:spcPct val="35000"/>
              </a:spcAft>
              <a:buNone/>
            </a:pPr>
            <a:endParaRPr lang="en-NL" sz="1200" kern="1200"/>
          </a:p>
        </p:txBody>
      </p:sp>
      <p:sp>
        <p:nvSpPr>
          <p:cNvPr id="62" name="Freeform: Shape 61">
            <a:extLst>
              <a:ext uri="{FF2B5EF4-FFF2-40B4-BE49-F238E27FC236}">
                <a16:creationId xmlns:a16="http://schemas.microsoft.com/office/drawing/2014/main" id="{C5E5C407-26ED-742E-6EDA-EF2C49FFD02D}"/>
              </a:ext>
            </a:extLst>
          </p:cNvPr>
          <p:cNvSpPr/>
          <p:nvPr/>
        </p:nvSpPr>
        <p:spPr>
          <a:xfrm>
            <a:off x="5288972" y="4091870"/>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algn="ctr" defTabSz="400050">
              <a:lnSpc>
                <a:spcPct val="90000"/>
              </a:lnSpc>
              <a:spcBef>
                <a:spcPct val="0"/>
              </a:spcBef>
              <a:spcAft>
                <a:spcPct val="35000"/>
              </a:spcAft>
            </a:pPr>
            <a:r>
              <a:rPr lang="en-US" sz="1200" b="1" dirty="0"/>
              <a:t>Scenario 3</a:t>
            </a:r>
            <a:endParaRPr lang="en-NL" sz="1200" dirty="0"/>
          </a:p>
        </p:txBody>
      </p:sp>
      <p:sp>
        <p:nvSpPr>
          <p:cNvPr id="65" name="Freeform: Shape 64">
            <a:extLst>
              <a:ext uri="{FF2B5EF4-FFF2-40B4-BE49-F238E27FC236}">
                <a16:creationId xmlns:a16="http://schemas.microsoft.com/office/drawing/2014/main" id="{4409DAD3-C5ED-26F6-AEA2-3B702ECFEDFF}"/>
              </a:ext>
            </a:extLst>
          </p:cNvPr>
          <p:cNvSpPr/>
          <p:nvPr/>
        </p:nvSpPr>
        <p:spPr>
          <a:xfrm>
            <a:off x="7437804" y="2438645"/>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algn="ctr" defTabSz="400050">
              <a:lnSpc>
                <a:spcPct val="90000"/>
              </a:lnSpc>
              <a:spcBef>
                <a:spcPct val="0"/>
              </a:spcBef>
              <a:spcAft>
                <a:spcPct val="35000"/>
              </a:spcAft>
            </a:pPr>
            <a:r>
              <a:rPr lang="en-US" sz="1200" b="1" u="none" kern="1200" dirty="0"/>
              <a:t>Scenario 2</a:t>
            </a:r>
            <a:endParaRPr lang="en-NL" sz="1200" b="0" u="none" kern="1200" dirty="0"/>
          </a:p>
        </p:txBody>
      </p:sp>
      <p:sp>
        <p:nvSpPr>
          <p:cNvPr id="64" name="Freeform: Shape 63">
            <a:extLst>
              <a:ext uri="{FF2B5EF4-FFF2-40B4-BE49-F238E27FC236}">
                <a16:creationId xmlns:a16="http://schemas.microsoft.com/office/drawing/2014/main" id="{D7688457-4D03-9DB0-0117-7FF0679BF5CB}"/>
              </a:ext>
            </a:extLst>
          </p:cNvPr>
          <p:cNvSpPr/>
          <p:nvPr/>
        </p:nvSpPr>
        <p:spPr>
          <a:xfrm>
            <a:off x="5288972" y="2438645"/>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it-IT" sz="1200" b="1" dirty="0"/>
              <a:t>Scenario 1: </a:t>
            </a:r>
            <a:r>
              <a:rPr lang="en-US" sz="1200" dirty="0"/>
              <a:t>Clarify Meanings Before Reuse</a:t>
            </a:r>
            <a:endParaRPr lang="en-NL" sz="1200" dirty="0"/>
          </a:p>
        </p:txBody>
      </p:sp>
      <p:grpSp>
        <p:nvGrpSpPr>
          <p:cNvPr id="3" name="Group 2">
            <a:extLst>
              <a:ext uri="{FF2B5EF4-FFF2-40B4-BE49-F238E27FC236}">
                <a16:creationId xmlns:a16="http://schemas.microsoft.com/office/drawing/2014/main" id="{F5090104-3508-C574-F183-56B41790C724}"/>
              </a:ext>
            </a:extLst>
          </p:cNvPr>
          <p:cNvGrpSpPr/>
          <p:nvPr/>
        </p:nvGrpSpPr>
        <p:grpSpPr>
          <a:xfrm>
            <a:off x="9704903" y="2357067"/>
            <a:ext cx="1554653" cy="2783013"/>
            <a:chOff x="9704903" y="2357067"/>
            <a:chExt cx="1554653" cy="2783013"/>
          </a:xfrm>
        </p:grpSpPr>
        <p:sp>
          <p:nvSpPr>
            <p:cNvPr id="5" name="Freeform: Shape 4">
              <a:extLst>
                <a:ext uri="{FF2B5EF4-FFF2-40B4-BE49-F238E27FC236}">
                  <a16:creationId xmlns:a16="http://schemas.microsoft.com/office/drawing/2014/main" id="{05AF157E-08C4-D30A-4178-CAE703AB9A21}"/>
                </a:ext>
              </a:extLst>
            </p:cNvPr>
            <p:cNvSpPr/>
            <p:nvPr/>
          </p:nvSpPr>
          <p:spPr>
            <a:xfrm>
              <a:off x="9704903" y="2438645"/>
              <a:ext cx="1554653" cy="2701435"/>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a:ln>
              <a:solidFill>
                <a:schemeClr val="accent1"/>
              </a:solidFill>
            </a:ln>
          </p:spPr>
          <p:style>
            <a:lnRef idx="1">
              <a:schemeClr val="accent2"/>
            </a:lnRef>
            <a:fillRef idx="3">
              <a:schemeClr val="accent2"/>
            </a:fillRef>
            <a:effectRef idx="2">
              <a:schemeClr val="accent2"/>
            </a:effectRef>
            <a:fontRef idx="minor">
              <a:schemeClr val="lt1"/>
            </a:fontRef>
          </p:style>
          <p:txBody>
            <a:bodyPr spcFirstLastPara="0" vert="horz" wrap="square" lIns="64008" tIns="64008" rIns="64008" bIns="64008" numCol="1" spcCol="1270" anchor="ctr" anchorCtr="0">
              <a:noAutofit/>
            </a:bodyPr>
            <a:lstStyle/>
            <a:p>
              <a:pPr lvl="0" algn="ctr" defTabSz="400050">
                <a:spcBef>
                  <a:spcPct val="0"/>
                </a:spcBef>
                <a:spcAft>
                  <a:spcPts val="600"/>
                </a:spcAft>
              </a:pPr>
              <a:r>
                <a:rPr lang="en-US" sz="1200" b="1" dirty="0">
                  <a:solidFill>
                    <a:schemeClr val="accent1"/>
                  </a:solidFill>
                </a:rPr>
                <a:t>Result</a:t>
              </a:r>
              <a:endParaRPr lang="en-US" sz="1200" dirty="0">
                <a:solidFill>
                  <a:schemeClr val="accent1"/>
                </a:solidFill>
              </a:endParaRPr>
            </a:p>
          </p:txBody>
        </p:sp>
        <p:pic>
          <p:nvPicPr>
            <p:cNvPr id="6" name="Graphic 5" descr="Completed with solid fill">
              <a:extLst>
                <a:ext uri="{FF2B5EF4-FFF2-40B4-BE49-F238E27FC236}">
                  <a16:creationId xmlns:a16="http://schemas.microsoft.com/office/drawing/2014/main" id="{BED7C84B-566A-D08B-D686-56B1C4783AB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695082" y="2357067"/>
              <a:ext cx="549093" cy="549093"/>
            </a:xfrm>
            <a:prstGeom prst="rect">
              <a:avLst/>
            </a:prstGeom>
          </p:spPr>
        </p:pic>
      </p:grpSp>
      <p:sp>
        <p:nvSpPr>
          <p:cNvPr id="10" name="Rectangle 9">
            <a:extLst>
              <a:ext uri="{FF2B5EF4-FFF2-40B4-BE49-F238E27FC236}">
                <a16:creationId xmlns:a16="http://schemas.microsoft.com/office/drawing/2014/main" id="{71E08B15-9613-B5B6-CCB6-E4C9C1D6E944}"/>
              </a:ext>
            </a:extLst>
          </p:cNvPr>
          <p:cNvSpPr/>
          <p:nvPr/>
        </p:nvSpPr>
        <p:spPr>
          <a:xfrm>
            <a:off x="7405404" y="4390615"/>
            <a:ext cx="1774451" cy="359279"/>
          </a:xfrm>
          <a:prstGeom prst="rect">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0" tIns="180000" rIns="180000" bIns="180000" rtlCol="0" anchor="ctr"/>
          <a:lstStyle/>
          <a:p>
            <a:endParaRPr lang="en-NL" sz="1200" i="1">
              <a:solidFill>
                <a:schemeClr val="tx1"/>
              </a:solidFill>
            </a:endParaRPr>
          </a:p>
        </p:txBody>
      </p:sp>
      <p:sp>
        <p:nvSpPr>
          <p:cNvPr id="63" name="Freeform: Shape 62">
            <a:extLst>
              <a:ext uri="{FF2B5EF4-FFF2-40B4-BE49-F238E27FC236}">
                <a16:creationId xmlns:a16="http://schemas.microsoft.com/office/drawing/2014/main" id="{BC53090F-F62E-39E1-235B-630DF2BEBFE8}"/>
              </a:ext>
            </a:extLst>
          </p:cNvPr>
          <p:cNvSpPr/>
          <p:nvPr/>
        </p:nvSpPr>
        <p:spPr>
          <a:xfrm>
            <a:off x="7437804" y="4091870"/>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algn="ctr" defTabSz="400050">
              <a:lnSpc>
                <a:spcPct val="90000"/>
              </a:lnSpc>
              <a:spcBef>
                <a:spcPct val="0"/>
              </a:spcBef>
              <a:spcAft>
                <a:spcPct val="35000"/>
              </a:spcAft>
            </a:pPr>
            <a:r>
              <a:rPr lang="en-US" sz="1200" b="1" dirty="0">
                <a:solidFill>
                  <a:schemeClr val="bg1"/>
                </a:solidFill>
              </a:rPr>
              <a:t>Scenario 4</a:t>
            </a:r>
            <a:endParaRPr lang="en-NL" sz="1200" dirty="0">
              <a:solidFill>
                <a:schemeClr val="bg1"/>
              </a:solidFill>
            </a:endParaRPr>
          </a:p>
        </p:txBody>
      </p:sp>
    </p:spTree>
    <p:extLst>
      <p:ext uri="{BB962C8B-B14F-4D97-AF65-F5344CB8AC3E}">
        <p14:creationId xmlns:p14="http://schemas.microsoft.com/office/powerpoint/2010/main" val="8009514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grpId="0" nodeType="withEffect">
                                  <p:stCondLst>
                                    <p:cond delay="0"/>
                                  </p:stCondLst>
                                  <p:childTnLst>
                                    <p:animScale>
                                      <p:cBhvr>
                                        <p:cTn id="6" dur="1000" fill="hold"/>
                                        <p:tgtEl>
                                          <p:spTgt spid="64"/>
                                        </p:tgtEl>
                                      </p:cBhvr>
                                      <p:by x="125000" y="125000"/>
                                    </p:animScale>
                                  </p:childTnLst>
                                </p:cTn>
                              </p:par>
                              <p:par>
                                <p:cTn id="7" presetID="9" presetClass="emph" presetSubtype="0" grpId="0" nodeType="withEffect">
                                  <p:stCondLst>
                                    <p:cond delay="0"/>
                                  </p:stCondLst>
                                  <p:childTnLst>
                                    <p:set>
                                      <p:cBhvr>
                                        <p:cTn id="8" dur="indefinite"/>
                                        <p:tgtEl>
                                          <p:spTgt spid="65"/>
                                        </p:tgtEl>
                                        <p:attrNameLst>
                                          <p:attrName>style.opacity</p:attrName>
                                        </p:attrNameLst>
                                      </p:cBhvr>
                                      <p:to>
                                        <p:strVal val="0.5"/>
                                      </p:to>
                                    </p:set>
                                    <p:animEffect filter="image" prLst="opacity: 0.5">
                                      <p:cBhvr rctx="IE">
                                        <p:cTn id="9" dur="indefinite"/>
                                        <p:tgtEl>
                                          <p:spTgt spid="65"/>
                                        </p:tgtEl>
                                      </p:cBhvr>
                                    </p:animEffect>
                                  </p:childTnLst>
                                </p:cTn>
                              </p:par>
                              <p:par>
                                <p:cTn id="10" presetID="9" presetClass="emph" presetSubtype="0" grpId="0" nodeType="withEffect">
                                  <p:stCondLst>
                                    <p:cond delay="0"/>
                                  </p:stCondLst>
                                  <p:childTnLst>
                                    <p:set>
                                      <p:cBhvr>
                                        <p:cTn id="11" dur="indefinite"/>
                                        <p:tgtEl>
                                          <p:spTgt spid="62"/>
                                        </p:tgtEl>
                                        <p:attrNameLst>
                                          <p:attrName>style.opacity</p:attrName>
                                        </p:attrNameLst>
                                      </p:cBhvr>
                                      <p:to>
                                        <p:strVal val="0.5"/>
                                      </p:to>
                                    </p:set>
                                    <p:animEffect filter="image" prLst="opacity: 0.5">
                                      <p:cBhvr rctx="IE">
                                        <p:cTn id="12" dur="indefinite"/>
                                        <p:tgtEl>
                                          <p:spTgt spid="62"/>
                                        </p:tgtEl>
                                      </p:cBhvr>
                                    </p:animEffect>
                                  </p:childTnLst>
                                </p:cTn>
                              </p:par>
                              <p:par>
                                <p:cTn id="13" presetID="9" presetClass="emph" presetSubtype="0" grpId="0" nodeType="withEffect">
                                  <p:stCondLst>
                                    <p:cond delay="0"/>
                                  </p:stCondLst>
                                  <p:childTnLst>
                                    <p:set>
                                      <p:cBhvr>
                                        <p:cTn id="14" dur="indefinite"/>
                                        <p:tgtEl>
                                          <p:spTgt spid="63"/>
                                        </p:tgtEl>
                                        <p:attrNameLst>
                                          <p:attrName>style.opacity</p:attrName>
                                        </p:attrNameLst>
                                      </p:cBhvr>
                                      <p:to>
                                        <p:strVal val="0.5"/>
                                      </p:to>
                                    </p:set>
                                    <p:animEffect filter="image" prLst="opacity: 0.5">
                                      <p:cBhvr rctx="IE">
                                        <p:cTn id="15" dur="indefinite"/>
                                        <p:tgtEl>
                                          <p:spTgt spid="63"/>
                                        </p:tgtEl>
                                      </p:cBhvr>
                                    </p:animEffect>
                                  </p:childTnLst>
                                </p:cTn>
                              </p:par>
                              <p:par>
                                <p:cTn id="16" presetID="9" presetClass="emph" presetSubtype="0" nodeType="withEffect">
                                  <p:stCondLst>
                                    <p:cond delay="0"/>
                                  </p:stCondLst>
                                  <p:childTnLst>
                                    <p:set>
                                      <p:cBhvr>
                                        <p:cTn id="17" dur="indefinite"/>
                                        <p:tgtEl>
                                          <p:spTgt spid="3"/>
                                        </p:tgtEl>
                                        <p:attrNameLst>
                                          <p:attrName>style.opacity</p:attrName>
                                        </p:attrNameLst>
                                      </p:cBhvr>
                                      <p:to>
                                        <p:strVal val="0.5"/>
                                      </p:to>
                                    </p:set>
                                    <p:animEffect filter="image" prLst="opacity: 0.5">
                                      <p:cBhvr rctx="IE">
                                        <p:cTn id="18" dur="indefinite"/>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nimBg="1"/>
      <p:bldP spid="65" grpId="0" animBg="1"/>
      <p:bldP spid="64" grpId="0" animBg="1"/>
      <p:bldP spid="6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5A7E5-4080-A25A-79A2-61287E862279}"/>
              </a:ext>
            </a:extLst>
          </p:cNvPr>
          <p:cNvSpPr>
            <a:spLocks noGrp="1"/>
          </p:cNvSpPr>
          <p:nvPr>
            <p:ph type="title"/>
          </p:nvPr>
        </p:nvSpPr>
        <p:spPr>
          <a:xfrm>
            <a:off x="695327" y="386001"/>
            <a:ext cx="9296398" cy="929259"/>
          </a:xfrm>
        </p:spPr>
        <p:txBody>
          <a:bodyPr/>
          <a:lstStyle/>
          <a:p>
            <a:r>
              <a:rPr lang="en-US" sz="3600" dirty="0"/>
              <a:t>Scenario 1: Amir’s Question and Challenge</a:t>
            </a:r>
            <a:endParaRPr lang="en-NL" sz="3600" dirty="0"/>
          </a:p>
        </p:txBody>
      </p:sp>
      <p:sp>
        <p:nvSpPr>
          <p:cNvPr id="4" name="Slide Number Placeholder 3">
            <a:extLst>
              <a:ext uri="{FF2B5EF4-FFF2-40B4-BE49-F238E27FC236}">
                <a16:creationId xmlns:a16="http://schemas.microsoft.com/office/drawing/2014/main" id="{F0A66C19-BBA6-DAAC-13D6-57C7DFBC9A8A}"/>
              </a:ext>
            </a:extLst>
          </p:cNvPr>
          <p:cNvSpPr>
            <a:spLocks noGrp="1"/>
          </p:cNvSpPr>
          <p:nvPr>
            <p:ph type="sldNum" sz="quarter" idx="12"/>
          </p:nvPr>
        </p:nvSpPr>
        <p:spPr/>
        <p:txBody>
          <a:bodyPr/>
          <a:lstStyle/>
          <a:p>
            <a:fld id="{4FAB73BC-B049-4115-A692-8D63A059BFB8}" type="slidenum">
              <a:rPr lang="en-US" smtClean="0"/>
              <a:pPr/>
              <a:t>4</a:t>
            </a:fld>
            <a:endParaRPr lang="en-US" dirty="0"/>
          </a:p>
        </p:txBody>
      </p:sp>
      <p:pic>
        <p:nvPicPr>
          <p:cNvPr id="5" name="Picture 4">
            <a:extLst>
              <a:ext uri="{FF2B5EF4-FFF2-40B4-BE49-F238E27FC236}">
                <a16:creationId xmlns:a16="http://schemas.microsoft.com/office/drawing/2014/main" id="{8256AEAD-C060-1504-EFA0-F008E768897A}"/>
              </a:ext>
            </a:extLst>
          </p:cNvPr>
          <p:cNvPicPr>
            <a:picLocks noChangeAspect="1"/>
          </p:cNvPicPr>
          <p:nvPr/>
        </p:nvPicPr>
        <p:blipFill>
          <a:blip r:embed="rId3"/>
          <a:srcRect t="21286" r="49991" b="18695"/>
          <a:stretch>
            <a:fillRect/>
          </a:stretch>
        </p:blipFill>
        <p:spPr>
          <a:xfrm>
            <a:off x="695325" y="1628775"/>
            <a:ext cx="5400675" cy="4321175"/>
          </a:xfrm>
          <a:prstGeom prst="rect">
            <a:avLst/>
          </a:prstGeom>
        </p:spPr>
      </p:pic>
      <p:sp>
        <p:nvSpPr>
          <p:cNvPr id="7" name="Rectangle 6">
            <a:extLst>
              <a:ext uri="{FF2B5EF4-FFF2-40B4-BE49-F238E27FC236}">
                <a16:creationId xmlns:a16="http://schemas.microsoft.com/office/drawing/2014/main" id="{3577E347-6D69-A479-0102-6572A3578652}"/>
              </a:ext>
            </a:extLst>
          </p:cNvPr>
          <p:cNvSpPr/>
          <p:nvPr/>
        </p:nvSpPr>
        <p:spPr>
          <a:xfrm>
            <a:off x="5136204" y="1628775"/>
            <a:ext cx="6350219" cy="4321175"/>
          </a:xfrm>
          <a:prstGeom prst="rect">
            <a:avLst/>
          </a:prstGeom>
          <a:solidFill>
            <a:schemeClr val="accent1">
              <a:lumMod val="20000"/>
              <a:lumOff val="80000"/>
              <a:alpha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0" tIns="180000" rIns="180000" bIns="180000" rtlCol="0" anchor="ctr"/>
          <a:lstStyle/>
          <a:p>
            <a:endParaRPr lang="en-NL" sz="2000" i="1" dirty="0">
              <a:solidFill>
                <a:schemeClr val="tx1"/>
              </a:solidFill>
            </a:endParaRPr>
          </a:p>
        </p:txBody>
      </p:sp>
      <p:graphicFrame>
        <p:nvGraphicFramePr>
          <p:cNvPr id="8" name="Content Placeholder 4">
            <a:extLst>
              <a:ext uri="{FF2B5EF4-FFF2-40B4-BE49-F238E27FC236}">
                <a16:creationId xmlns:a16="http://schemas.microsoft.com/office/drawing/2014/main" id="{5CC4DFE0-4E79-1CDE-DC03-725E0EEDA845}"/>
              </a:ext>
            </a:extLst>
          </p:cNvPr>
          <p:cNvGraphicFramePr>
            <a:graphicFrameLocks noGrp="1"/>
          </p:cNvGraphicFramePr>
          <p:nvPr>
            <p:ph idx="1"/>
          </p:nvPr>
        </p:nvGraphicFramePr>
        <p:xfrm>
          <a:off x="5506200" y="1762125"/>
          <a:ext cx="5610226" cy="405447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7455250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69AFA945-1893-2559-9413-D30945BF8C03}"/>
              </a:ext>
            </a:extLst>
          </p:cNvPr>
          <p:cNvSpPr/>
          <p:nvPr/>
        </p:nvSpPr>
        <p:spPr>
          <a:xfrm>
            <a:off x="695324" y="1623815"/>
            <a:ext cx="10801350" cy="1404000"/>
          </a:xfrm>
          <a:prstGeom prst="rect">
            <a:avLst/>
          </a:prstGeom>
          <a:solidFill>
            <a:schemeClr val="accent1">
              <a:alpha val="3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NL"/>
          </a:p>
        </p:txBody>
      </p:sp>
      <p:sp>
        <p:nvSpPr>
          <p:cNvPr id="2" name="Title 1">
            <a:extLst>
              <a:ext uri="{FF2B5EF4-FFF2-40B4-BE49-F238E27FC236}">
                <a16:creationId xmlns:a16="http://schemas.microsoft.com/office/drawing/2014/main" id="{76BF8C83-389F-B21A-AFCF-2FEA93CEF33B}"/>
              </a:ext>
            </a:extLst>
          </p:cNvPr>
          <p:cNvSpPr>
            <a:spLocks noGrp="1"/>
          </p:cNvSpPr>
          <p:nvPr>
            <p:ph type="title"/>
          </p:nvPr>
        </p:nvSpPr>
        <p:spPr>
          <a:xfrm>
            <a:off x="695327" y="386001"/>
            <a:ext cx="9631560" cy="929259"/>
          </a:xfrm>
        </p:spPr>
        <p:txBody>
          <a:bodyPr/>
          <a:lstStyle/>
          <a:p>
            <a:r>
              <a:rPr lang="en-US" sz="3600" dirty="0"/>
              <a:t>Available Sex and Gender Variables by Dataset</a:t>
            </a:r>
            <a:endParaRPr lang="en-NL" sz="3600" dirty="0"/>
          </a:p>
        </p:txBody>
      </p:sp>
      <p:graphicFrame>
        <p:nvGraphicFramePr>
          <p:cNvPr id="5" name="Content Placeholder 4">
            <a:extLst>
              <a:ext uri="{FF2B5EF4-FFF2-40B4-BE49-F238E27FC236}">
                <a16:creationId xmlns:a16="http://schemas.microsoft.com/office/drawing/2014/main" id="{7565DBB2-704F-B573-7584-BDDA8045AD7D}"/>
              </a:ext>
            </a:extLst>
          </p:cNvPr>
          <p:cNvGraphicFramePr>
            <a:graphicFrameLocks noGrp="1"/>
          </p:cNvGraphicFramePr>
          <p:nvPr>
            <p:ph idx="1"/>
            <p:extLst>
              <p:ext uri="{D42A27DB-BD31-4B8C-83A1-F6EECF244321}">
                <p14:modId xmlns:p14="http://schemas.microsoft.com/office/powerpoint/2010/main" val="3283705154"/>
              </p:ext>
            </p:extLst>
          </p:nvPr>
        </p:nvGraphicFramePr>
        <p:xfrm>
          <a:off x="911224" y="1671106"/>
          <a:ext cx="5944059" cy="128376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404382">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1404000">
                  <a:extLst>
                    <a:ext uri="{9D8B030D-6E8A-4147-A177-3AD203B41FA5}">
                      <a16:colId xmlns:a16="http://schemas.microsoft.com/office/drawing/2014/main" val="660631070"/>
                    </a:ext>
                  </a:extLst>
                </a:gridCol>
                <a:gridCol w="1404000">
                  <a:extLst>
                    <a:ext uri="{9D8B030D-6E8A-4147-A177-3AD203B41FA5}">
                      <a16:colId xmlns:a16="http://schemas.microsoft.com/office/drawing/2014/main" val="1525013378"/>
                    </a:ext>
                  </a:extLst>
                </a:gridCol>
              </a:tblGrid>
              <a:tr h="360000">
                <a:tc>
                  <a:txBody>
                    <a:bodyPr/>
                    <a:lstStyle/>
                    <a:p>
                      <a:r>
                        <a:rPr lang="en-US" sz="1100" dirty="0" err="1"/>
                        <a:t>patient_id</a:t>
                      </a:r>
                      <a:endParaRPr lang="en-NL" sz="1100" dirty="0"/>
                    </a:p>
                  </a:txBody>
                  <a:tcPr marL="72000" anchor="ctr"/>
                </a:tc>
                <a:tc>
                  <a:txBody>
                    <a:bodyPr/>
                    <a:lstStyle/>
                    <a:p>
                      <a:pPr marL="0" algn="l" defTabSz="914400" rtl="0" eaLnBrk="1" latinLnBrk="0" hangingPunct="1"/>
                      <a:r>
                        <a:rPr lang="en-US" sz="900" b="1" kern="1200" dirty="0" err="1">
                          <a:solidFill>
                            <a:schemeClr val="lt1"/>
                          </a:solidFill>
                          <a:latin typeface="+mn-lt"/>
                          <a:ea typeface="+mn-ea"/>
                          <a:cs typeface="+mn-cs"/>
                        </a:rPr>
                        <a:t>care-sm:Sex</a:t>
                      </a:r>
                      <a:endParaRPr lang="en-US" sz="900" b="1" kern="1200" dirty="0">
                        <a:solidFill>
                          <a:schemeClr val="lt1"/>
                        </a:solidFill>
                        <a:latin typeface="+mn-lt"/>
                        <a:ea typeface="+mn-ea"/>
                        <a:cs typeface="+mn-cs"/>
                      </a:endParaRPr>
                    </a:p>
                    <a:p>
                      <a:pPr marL="0" algn="l" defTabSz="914400" rtl="0" eaLnBrk="1" latinLnBrk="0" hangingPunct="1"/>
                      <a:r>
                        <a:rPr lang="en-US" sz="900" b="1" kern="1200" dirty="0">
                          <a:solidFill>
                            <a:schemeClr val="lt1"/>
                          </a:solidFill>
                          <a:latin typeface="+mn-lt"/>
                          <a:ea typeface="+mn-ea"/>
                          <a:cs typeface="+mn-cs"/>
                        </a:rPr>
                        <a:t>("Biological sex"@</a:t>
                      </a:r>
                      <a:r>
                        <a:rPr lang="en-US" sz="900" b="1" kern="1200" dirty="0" err="1">
                          <a:solidFill>
                            <a:schemeClr val="lt1"/>
                          </a:solidFill>
                          <a:latin typeface="+mn-lt"/>
                          <a:ea typeface="+mn-ea"/>
                          <a:cs typeface="+mn-cs"/>
                        </a:rPr>
                        <a:t>en</a:t>
                      </a:r>
                      <a:r>
                        <a:rPr lang="en-US" sz="900" b="1" kern="1200" dirty="0">
                          <a:solidFill>
                            <a:schemeClr val="lt1"/>
                          </a:solidFill>
                          <a:latin typeface="+mn-lt"/>
                          <a:ea typeface="+mn-ea"/>
                          <a:cs typeface="+mn-cs"/>
                        </a:rPr>
                        <a:t>)</a:t>
                      </a:r>
                    </a:p>
                  </a:txBody>
                  <a:tcPr marL="72000" anchor="ctr"/>
                </a:tc>
                <a:tc>
                  <a:txBody>
                    <a:bodyPr/>
                    <a:lstStyle/>
                    <a:p>
                      <a:r>
                        <a:rPr lang="en-US" sz="1100" dirty="0" err="1"/>
                        <a:t>birth_year</a:t>
                      </a:r>
                      <a:endParaRPr lang="en-NL" sz="1100" dirty="0"/>
                    </a:p>
                  </a:txBody>
                  <a:tcPr marL="72000" anchor="ctr"/>
                </a:tc>
                <a:tc>
                  <a:txBody>
                    <a:bodyPr/>
                    <a:lstStyle/>
                    <a:p>
                      <a:r>
                        <a:rPr lang="en-US" sz="1100" dirty="0" err="1"/>
                        <a:t>residence_code</a:t>
                      </a:r>
                      <a:endParaRPr lang="en-NL" sz="1100" dirty="0"/>
                    </a:p>
                  </a:txBody>
                  <a:tcPr marL="72000" anchor="ctr"/>
                </a:tc>
                <a:extLst>
                  <a:ext uri="{0D108BD9-81ED-4DB2-BD59-A6C34878D82A}">
                    <a16:rowId xmlns:a16="http://schemas.microsoft.com/office/drawing/2014/main" val="3012902903"/>
                  </a:ext>
                </a:extLst>
              </a:tr>
              <a:tr h="306000">
                <a:tc>
                  <a:txBody>
                    <a:bodyPr/>
                    <a:lstStyle/>
                    <a:p>
                      <a:r>
                        <a:rPr lang="en-US" sz="1100" dirty="0"/>
                        <a:t>NPR-001</a:t>
                      </a:r>
                      <a:endParaRPr lang="en-NL" sz="1100" dirty="0"/>
                    </a:p>
                  </a:txBody>
                  <a:tcPr marL="72000" anchor="ctr"/>
                </a:tc>
                <a:tc>
                  <a:txBody>
                    <a:bodyPr/>
                    <a:lstStyle/>
                    <a:p>
                      <a:r>
                        <a:rPr lang="en-US" sz="1100" b="1" dirty="0"/>
                        <a:t>female</a:t>
                      </a:r>
                      <a:endParaRPr lang="en-NL" sz="1100" b="1" dirty="0"/>
                    </a:p>
                  </a:txBody>
                  <a:tcPr marL="72000" anchor="ctr"/>
                </a:tc>
                <a:tc>
                  <a:txBody>
                    <a:bodyPr/>
                    <a:lstStyle/>
                    <a:p>
                      <a:r>
                        <a:rPr lang="en-US" sz="1100" dirty="0"/>
                        <a:t>1987</a:t>
                      </a:r>
                      <a:endParaRPr lang="en-NL" sz="1100" dirty="0"/>
                    </a:p>
                  </a:txBody>
                  <a:tcPr marL="72000" anchor="ctr"/>
                </a:tc>
                <a:tc>
                  <a:txBody>
                    <a:bodyPr/>
                    <a:lstStyle/>
                    <a:p>
                      <a:r>
                        <a:rPr lang="en-US" sz="1100" dirty="0"/>
                        <a:t>0363</a:t>
                      </a:r>
                      <a:endParaRPr lang="en-NL" sz="1100" dirty="0"/>
                    </a:p>
                  </a:txBody>
                  <a:tcPr marL="72000" anchor="ctr"/>
                </a:tc>
                <a:extLst>
                  <a:ext uri="{0D108BD9-81ED-4DB2-BD59-A6C34878D82A}">
                    <a16:rowId xmlns:a16="http://schemas.microsoft.com/office/drawing/2014/main" val="1249708150"/>
                  </a:ext>
                </a:extLst>
              </a:tr>
              <a:tr h="306000">
                <a:tc>
                  <a:txBody>
                    <a:bodyPr/>
                    <a:lstStyle/>
                    <a:p>
                      <a:r>
                        <a:rPr lang="en-US" sz="1100" dirty="0"/>
                        <a:t>NPR-002</a:t>
                      </a:r>
                      <a:endParaRPr lang="en-NL" sz="1100" dirty="0"/>
                    </a:p>
                  </a:txBody>
                  <a:tcPr marL="72000" anchor="ctr"/>
                </a:tc>
                <a:tc>
                  <a:txBody>
                    <a:bodyPr/>
                    <a:lstStyle/>
                    <a:p>
                      <a:r>
                        <a:rPr lang="en-US" sz="1100" b="1" dirty="0"/>
                        <a:t>male</a:t>
                      </a:r>
                      <a:endParaRPr lang="en-NL" sz="1100" b="1" dirty="0"/>
                    </a:p>
                  </a:txBody>
                  <a:tcPr marL="72000" anchor="ctr"/>
                </a:tc>
                <a:tc>
                  <a:txBody>
                    <a:bodyPr/>
                    <a:lstStyle/>
                    <a:p>
                      <a:r>
                        <a:rPr lang="en-US" sz="1100" dirty="0"/>
                        <a:t>1979</a:t>
                      </a:r>
                      <a:endParaRPr lang="en-NL" sz="1100" dirty="0"/>
                    </a:p>
                  </a:txBody>
                  <a:tcPr marL="72000" anchor="ctr"/>
                </a:tc>
                <a:tc>
                  <a:txBody>
                    <a:bodyPr/>
                    <a:lstStyle/>
                    <a:p>
                      <a:r>
                        <a:rPr lang="en-US" sz="1100" dirty="0"/>
                        <a:t>0599</a:t>
                      </a:r>
                      <a:endParaRPr lang="en-NL" sz="1100" dirty="0"/>
                    </a:p>
                  </a:txBody>
                  <a:tcPr marL="72000" anchor="ctr"/>
                </a:tc>
                <a:extLst>
                  <a:ext uri="{0D108BD9-81ED-4DB2-BD59-A6C34878D82A}">
                    <a16:rowId xmlns:a16="http://schemas.microsoft.com/office/drawing/2014/main" val="3850974854"/>
                  </a:ext>
                </a:extLst>
              </a:tr>
              <a:tr h="306000">
                <a:tc>
                  <a:txBody>
                    <a:bodyPr/>
                    <a:lstStyle/>
                    <a:p>
                      <a:r>
                        <a:rPr lang="en-US" sz="1100" dirty="0"/>
                        <a:t>NPR-003</a:t>
                      </a:r>
                      <a:endParaRPr lang="en-NL" sz="1100" dirty="0"/>
                    </a:p>
                  </a:txBody>
                  <a:tcPr marL="72000" anchor="ctr"/>
                </a:tc>
                <a:tc>
                  <a:txBody>
                    <a:bodyPr/>
                    <a:lstStyle/>
                    <a:p>
                      <a:r>
                        <a:rPr lang="en-US" sz="1100" b="1" dirty="0"/>
                        <a:t>female</a:t>
                      </a:r>
                      <a:endParaRPr lang="en-NL" sz="1100" b="1" dirty="0"/>
                    </a:p>
                  </a:txBody>
                  <a:tcPr marL="72000" anchor="ctr"/>
                </a:tc>
                <a:tc>
                  <a:txBody>
                    <a:bodyPr/>
                    <a:lstStyle/>
                    <a:p>
                      <a:r>
                        <a:rPr lang="en-US" sz="1100" dirty="0"/>
                        <a:t>1994</a:t>
                      </a:r>
                      <a:endParaRPr lang="en-NL" sz="1100" dirty="0"/>
                    </a:p>
                  </a:txBody>
                  <a:tcPr marL="72000" anchor="ctr"/>
                </a:tc>
                <a:tc>
                  <a:txBody>
                    <a:bodyPr/>
                    <a:lstStyle/>
                    <a:p>
                      <a:r>
                        <a:rPr lang="en-US" sz="1100" dirty="0"/>
                        <a:t>0518</a:t>
                      </a:r>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4" name="Slide Number Placeholder 3">
            <a:extLst>
              <a:ext uri="{FF2B5EF4-FFF2-40B4-BE49-F238E27FC236}">
                <a16:creationId xmlns:a16="http://schemas.microsoft.com/office/drawing/2014/main" id="{A18E327C-53A7-8E65-1A94-E23FF1988363}"/>
              </a:ext>
            </a:extLst>
          </p:cNvPr>
          <p:cNvSpPr>
            <a:spLocks noGrp="1"/>
          </p:cNvSpPr>
          <p:nvPr>
            <p:ph type="sldNum" sz="quarter" idx="12"/>
          </p:nvPr>
        </p:nvSpPr>
        <p:spPr/>
        <p:txBody>
          <a:bodyPr/>
          <a:lstStyle/>
          <a:p>
            <a:fld id="{4FAB73BC-B049-4115-A692-8D63A059BFB8}" type="slidenum">
              <a:rPr lang="en-US" smtClean="0"/>
              <a:pPr/>
              <a:t>5</a:t>
            </a:fld>
            <a:endParaRPr lang="en-US" dirty="0"/>
          </a:p>
        </p:txBody>
      </p:sp>
      <p:sp>
        <p:nvSpPr>
          <p:cNvPr id="7" name="TextBox 6">
            <a:extLst>
              <a:ext uri="{FF2B5EF4-FFF2-40B4-BE49-F238E27FC236}">
                <a16:creationId xmlns:a16="http://schemas.microsoft.com/office/drawing/2014/main" id="{386B7381-B2DD-59B3-A5C4-48AF7A602B88}"/>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a:t>
            </a:r>
            <a:r>
              <a:rPr lang="en-US" sz="1200" b="1" cap="small" spc="100" dirty="0">
                <a:solidFill>
                  <a:srgbClr val="000000">
                    <a:lumMod val="95000"/>
                    <a:lumOff val="5000"/>
                  </a:srgbClr>
                </a:solidFill>
                <a:latin typeface="Aptos" panose="020B0004020202020204" pitchFamily="34" charset="0"/>
                <a:ea typeface="+mj-ea"/>
                <a:cs typeface="+mj-cs"/>
              </a:rPr>
              <a:t>1</a:t>
            </a:r>
            <a:endParaRPr lang="en-NL" sz="1000" b="1" dirty="0"/>
          </a:p>
        </p:txBody>
      </p:sp>
      <p:sp>
        <p:nvSpPr>
          <p:cNvPr id="12" name="Rectangle 11">
            <a:extLst>
              <a:ext uri="{FF2B5EF4-FFF2-40B4-BE49-F238E27FC236}">
                <a16:creationId xmlns:a16="http://schemas.microsoft.com/office/drawing/2014/main" id="{B99037ED-A18E-FD21-F042-A64ED8B03A54}"/>
              </a:ext>
            </a:extLst>
          </p:cNvPr>
          <p:cNvSpPr/>
          <p:nvPr/>
        </p:nvSpPr>
        <p:spPr>
          <a:xfrm>
            <a:off x="695323" y="3080962"/>
            <a:ext cx="10801350" cy="1404000"/>
          </a:xfrm>
          <a:prstGeom prst="rect">
            <a:avLst/>
          </a:prstGeom>
          <a:solidFill>
            <a:schemeClr val="accent2">
              <a:alpha val="3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NL"/>
          </a:p>
        </p:txBody>
      </p:sp>
      <p:graphicFrame>
        <p:nvGraphicFramePr>
          <p:cNvPr id="8" name="Content Placeholder 4">
            <a:extLst>
              <a:ext uri="{FF2B5EF4-FFF2-40B4-BE49-F238E27FC236}">
                <a16:creationId xmlns:a16="http://schemas.microsoft.com/office/drawing/2014/main" id="{3142EA65-C6D9-C7AD-DECD-9B8E0EEFF4C4}"/>
              </a:ext>
            </a:extLst>
          </p:cNvPr>
          <p:cNvGraphicFramePr>
            <a:graphicFrameLocks/>
          </p:cNvGraphicFramePr>
          <p:nvPr>
            <p:extLst>
              <p:ext uri="{D42A27DB-BD31-4B8C-83A1-F6EECF244321}">
                <p14:modId xmlns:p14="http://schemas.microsoft.com/office/powerpoint/2010/main" val="3365733472"/>
              </p:ext>
            </p:extLst>
          </p:nvPr>
        </p:nvGraphicFramePr>
        <p:xfrm>
          <a:off x="911224" y="3134091"/>
          <a:ext cx="5944059" cy="1272543"/>
        </p:xfrm>
        <a:graphic>
          <a:graphicData uri="http://schemas.openxmlformats.org/drawingml/2006/table">
            <a:tbl>
              <a:tblPr firstRow="1" bandRow="1">
                <a:effectLst>
                  <a:outerShdw blurRad="50800" dist="38100" dir="2700000" algn="tl" rotWithShape="0">
                    <a:prstClr val="black">
                      <a:alpha val="40000"/>
                    </a:prstClr>
                  </a:outerShdw>
                </a:effectLst>
                <a:tableStyleId>{21E4AEA4-8DFA-4A89-87EB-49C32662AFE0}</a:tableStyleId>
              </a:tblPr>
              <a:tblGrid>
                <a:gridCol w="1404382">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1404000">
                  <a:extLst>
                    <a:ext uri="{9D8B030D-6E8A-4147-A177-3AD203B41FA5}">
                      <a16:colId xmlns:a16="http://schemas.microsoft.com/office/drawing/2014/main" val="660631070"/>
                    </a:ext>
                  </a:extLst>
                </a:gridCol>
                <a:gridCol w="1404000">
                  <a:extLst>
                    <a:ext uri="{9D8B030D-6E8A-4147-A177-3AD203B41FA5}">
                      <a16:colId xmlns:a16="http://schemas.microsoft.com/office/drawing/2014/main" val="1525013378"/>
                    </a:ext>
                  </a:extLst>
                </a:gridCol>
              </a:tblGrid>
              <a:tr h="360000">
                <a:tc>
                  <a:txBody>
                    <a:bodyPr/>
                    <a:lstStyle/>
                    <a:p>
                      <a:pPr algn="l"/>
                      <a:r>
                        <a:rPr lang="en-US" sz="1100" dirty="0" err="1"/>
                        <a:t>person_id</a:t>
                      </a:r>
                      <a:endParaRPr lang="en-NL" sz="1100" dirty="0"/>
                    </a:p>
                  </a:txBody>
                  <a:tcPr marL="72000" anchor="ctr"/>
                </a:tc>
                <a:tc>
                  <a:txBody>
                    <a:bodyPr/>
                    <a:lstStyle/>
                    <a:p>
                      <a:pPr algn="l"/>
                      <a:r>
                        <a:rPr lang="en-US" sz="900" dirty="0" err="1"/>
                        <a:t>hri-openehr:legal-gender</a:t>
                      </a:r>
                      <a:endParaRPr lang="en-US" sz="900" dirty="0"/>
                    </a:p>
                    <a:p>
                      <a:pPr algn="l"/>
                      <a:r>
                        <a:rPr lang="en-US" sz="900" dirty="0"/>
                        <a:t>("Legal gender"@</a:t>
                      </a:r>
                      <a:r>
                        <a:rPr lang="en-US" sz="900" dirty="0" err="1"/>
                        <a:t>en</a:t>
                      </a:r>
                      <a:r>
                        <a:rPr lang="en-US" sz="900" dirty="0"/>
                        <a:t>)</a:t>
                      </a:r>
                    </a:p>
                  </a:txBody>
                  <a:tcPr marL="72000" marR="18000" marT="0" marB="0" anchor="ctr"/>
                </a:tc>
                <a:tc>
                  <a:txBody>
                    <a:bodyPr/>
                    <a:lstStyle/>
                    <a:p>
                      <a:pPr algn="l"/>
                      <a:r>
                        <a:rPr lang="en-US" sz="1100" dirty="0" err="1"/>
                        <a:t>encounter_id</a:t>
                      </a:r>
                      <a:endParaRPr lang="en-NL" sz="1100" dirty="0"/>
                    </a:p>
                  </a:txBody>
                  <a:tcPr marL="72000" anchor="ctr"/>
                </a:tc>
                <a:tc>
                  <a:txBody>
                    <a:bodyPr/>
                    <a:lstStyle/>
                    <a:p>
                      <a:pPr algn="l"/>
                      <a:r>
                        <a:rPr lang="en-US" sz="1100" dirty="0" err="1"/>
                        <a:t>record_date</a:t>
                      </a:r>
                      <a:endParaRPr lang="en-NL" sz="1100" dirty="0"/>
                    </a:p>
                  </a:txBody>
                  <a:tcPr marL="72000" anchor="ctr"/>
                </a:tc>
                <a:extLst>
                  <a:ext uri="{0D108BD9-81ED-4DB2-BD59-A6C34878D82A}">
                    <a16:rowId xmlns:a16="http://schemas.microsoft.com/office/drawing/2014/main" val="3012902903"/>
                  </a:ext>
                </a:extLst>
              </a:tr>
              <a:tr h="304181">
                <a:tc>
                  <a:txBody>
                    <a:bodyPr/>
                    <a:lstStyle/>
                    <a:p>
                      <a:pPr algn="l"/>
                      <a:r>
                        <a:rPr lang="en-US" sz="1100" dirty="0"/>
                        <a:t>NMC-001</a:t>
                      </a:r>
                      <a:endParaRPr lang="en-NL" sz="1100" dirty="0"/>
                    </a:p>
                  </a:txBody>
                  <a:tcPr marL="72000" anchor="ctr"/>
                </a:tc>
                <a:tc>
                  <a:txBody>
                    <a:bodyPr/>
                    <a:lstStyle/>
                    <a:p>
                      <a:pPr algn="l"/>
                      <a:r>
                        <a:rPr lang="en-US" sz="1100" b="1" dirty="0"/>
                        <a:t>female</a:t>
                      </a:r>
                      <a:endParaRPr lang="en-NL" sz="1100" b="1" dirty="0"/>
                    </a:p>
                  </a:txBody>
                  <a:tcPr marL="72000" anchor="ctr"/>
                </a:tc>
                <a:tc>
                  <a:txBody>
                    <a:bodyPr/>
                    <a:lstStyle/>
                    <a:p>
                      <a:pPr algn="l"/>
                      <a:r>
                        <a:rPr lang="en-US" sz="1100" dirty="0"/>
                        <a:t>ENC-7001</a:t>
                      </a:r>
                      <a:endParaRPr lang="en-NL" sz="1100" dirty="0"/>
                    </a:p>
                  </a:txBody>
                  <a:tcPr marL="72000" anchor="ctr"/>
                </a:tc>
                <a:tc>
                  <a:txBody>
                    <a:bodyPr/>
                    <a:lstStyle/>
                    <a:p>
                      <a:pPr algn="l"/>
                      <a:r>
                        <a:rPr lang="en-NL" sz="1100" dirty="0"/>
                        <a:t>2026-01-14</a:t>
                      </a:r>
                    </a:p>
                  </a:txBody>
                  <a:tcPr marL="72000" anchor="ctr"/>
                </a:tc>
                <a:extLst>
                  <a:ext uri="{0D108BD9-81ED-4DB2-BD59-A6C34878D82A}">
                    <a16:rowId xmlns:a16="http://schemas.microsoft.com/office/drawing/2014/main" val="1249708150"/>
                  </a:ext>
                </a:extLst>
              </a:tr>
              <a:tr h="304181">
                <a:tc>
                  <a:txBody>
                    <a:bodyPr/>
                    <a:lstStyle/>
                    <a:p>
                      <a:pPr algn="l"/>
                      <a:r>
                        <a:rPr lang="en-US" sz="1100" dirty="0"/>
                        <a:t>NMC-002</a:t>
                      </a:r>
                      <a:endParaRPr lang="en-NL" sz="1100" dirty="0"/>
                    </a:p>
                  </a:txBody>
                  <a:tcPr marL="72000" anchor="ctr"/>
                </a:tc>
                <a:tc>
                  <a:txBody>
                    <a:bodyPr/>
                    <a:lstStyle/>
                    <a:p>
                      <a:pPr algn="l"/>
                      <a:r>
                        <a:rPr lang="en-US" sz="1100" b="1" dirty="0"/>
                        <a:t>male</a:t>
                      </a:r>
                      <a:endParaRPr lang="en-NL" sz="1100" b="1" dirty="0"/>
                    </a:p>
                  </a:txBody>
                  <a:tcPr marL="72000" anchor="ctr"/>
                </a:tc>
                <a:tc>
                  <a:txBody>
                    <a:bodyPr/>
                    <a:lstStyle/>
                    <a:p>
                      <a:pPr algn="l"/>
                      <a:r>
                        <a:rPr lang="en-US" sz="1100" dirty="0"/>
                        <a:t>ENC-7002</a:t>
                      </a:r>
                      <a:endParaRPr lang="en-NL" sz="1100" dirty="0"/>
                    </a:p>
                  </a:txBody>
                  <a:tcPr marL="72000" anchor="ctr"/>
                </a:tc>
                <a:tc>
                  <a:txBody>
                    <a:bodyPr/>
                    <a:lstStyle/>
                    <a:p>
                      <a:pPr algn="l"/>
                      <a:r>
                        <a:rPr lang="en-NL" sz="1100" dirty="0"/>
                        <a:t>2026-01-1</a:t>
                      </a:r>
                      <a:r>
                        <a:rPr lang="en-US" sz="1100" dirty="0"/>
                        <a:t>5</a:t>
                      </a:r>
                      <a:endParaRPr lang="en-NL" sz="1100" dirty="0"/>
                    </a:p>
                  </a:txBody>
                  <a:tcPr marL="72000" anchor="ctr"/>
                </a:tc>
                <a:extLst>
                  <a:ext uri="{0D108BD9-81ED-4DB2-BD59-A6C34878D82A}">
                    <a16:rowId xmlns:a16="http://schemas.microsoft.com/office/drawing/2014/main" val="3850974854"/>
                  </a:ext>
                </a:extLst>
              </a:tr>
              <a:tr h="304181">
                <a:tc>
                  <a:txBody>
                    <a:bodyPr/>
                    <a:lstStyle/>
                    <a:p>
                      <a:pPr algn="l"/>
                      <a:r>
                        <a:rPr lang="en-US" sz="1100" dirty="0"/>
                        <a:t>NMC-003</a:t>
                      </a:r>
                      <a:endParaRPr lang="en-NL" sz="1100" dirty="0"/>
                    </a:p>
                  </a:txBody>
                  <a:tcPr marL="72000" anchor="ctr"/>
                </a:tc>
                <a:tc>
                  <a:txBody>
                    <a:bodyPr/>
                    <a:lstStyle/>
                    <a:p>
                      <a:pPr algn="l"/>
                      <a:r>
                        <a:rPr lang="en-US" sz="1100" b="1" dirty="0"/>
                        <a:t>nonbinary</a:t>
                      </a:r>
                      <a:endParaRPr lang="en-NL" sz="1100" b="1" dirty="0"/>
                    </a:p>
                  </a:txBody>
                  <a:tcPr marL="72000" anchor="ctr"/>
                </a:tc>
                <a:tc>
                  <a:txBody>
                    <a:bodyPr/>
                    <a:lstStyle/>
                    <a:p>
                      <a:pPr algn="l"/>
                      <a:r>
                        <a:rPr lang="en-US" sz="1100" dirty="0"/>
                        <a:t>ENC-7003</a:t>
                      </a:r>
                      <a:endParaRPr lang="en-NL" sz="1100" dirty="0"/>
                    </a:p>
                  </a:txBody>
                  <a:tcPr marL="72000" anchor="ctr"/>
                </a:tc>
                <a:tc>
                  <a:txBody>
                    <a:bodyPr/>
                    <a:lstStyle/>
                    <a:p>
                      <a:pPr algn="l"/>
                      <a:r>
                        <a:rPr lang="en-NL" sz="1100" dirty="0"/>
                        <a:t>2026-01-1</a:t>
                      </a:r>
                      <a:r>
                        <a:rPr lang="en-US" sz="1100" dirty="0"/>
                        <a:t>6</a:t>
                      </a:r>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13" name="Rectangle 12">
            <a:extLst>
              <a:ext uri="{FF2B5EF4-FFF2-40B4-BE49-F238E27FC236}">
                <a16:creationId xmlns:a16="http://schemas.microsoft.com/office/drawing/2014/main" id="{8B67CCA4-B58B-C69A-7A44-C9B5EBB864BF}"/>
              </a:ext>
            </a:extLst>
          </p:cNvPr>
          <p:cNvSpPr/>
          <p:nvPr/>
        </p:nvSpPr>
        <p:spPr>
          <a:xfrm>
            <a:off x="695325" y="4538110"/>
            <a:ext cx="10801350" cy="1404000"/>
          </a:xfrm>
          <a:prstGeom prst="rect">
            <a:avLst/>
          </a:prstGeom>
          <a:solidFill>
            <a:schemeClr val="accent3">
              <a:alpha val="3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NL"/>
          </a:p>
        </p:txBody>
      </p:sp>
      <p:graphicFrame>
        <p:nvGraphicFramePr>
          <p:cNvPr id="9" name="Content Placeholder 4">
            <a:extLst>
              <a:ext uri="{FF2B5EF4-FFF2-40B4-BE49-F238E27FC236}">
                <a16:creationId xmlns:a16="http://schemas.microsoft.com/office/drawing/2014/main" id="{CB82BD93-1108-9360-D2C1-7293030D839F}"/>
              </a:ext>
            </a:extLst>
          </p:cNvPr>
          <p:cNvGraphicFramePr>
            <a:graphicFrameLocks/>
          </p:cNvGraphicFramePr>
          <p:nvPr>
            <p:extLst>
              <p:ext uri="{D42A27DB-BD31-4B8C-83A1-F6EECF244321}">
                <p14:modId xmlns:p14="http://schemas.microsoft.com/office/powerpoint/2010/main" val="1827329989"/>
              </p:ext>
            </p:extLst>
          </p:nvPr>
        </p:nvGraphicFramePr>
        <p:xfrm>
          <a:off x="919208" y="4588510"/>
          <a:ext cx="5928090" cy="1278000"/>
        </p:xfrm>
        <a:graphic>
          <a:graphicData uri="http://schemas.openxmlformats.org/drawingml/2006/table">
            <a:tbl>
              <a:tblPr firstRow="1" bandRow="1">
                <a:effectLst>
                  <a:outerShdw blurRad="50800" dist="38100" dir="2700000" algn="tl" rotWithShape="0">
                    <a:prstClr val="black">
                      <a:alpha val="40000"/>
                    </a:prstClr>
                  </a:outerShdw>
                </a:effectLst>
                <a:tableStyleId>{00A15C55-8517-42AA-B614-E9B94910E393}</a:tableStyleId>
              </a:tblPr>
              <a:tblGrid>
                <a:gridCol w="1409844">
                  <a:extLst>
                    <a:ext uri="{9D8B030D-6E8A-4147-A177-3AD203B41FA5}">
                      <a16:colId xmlns:a16="http://schemas.microsoft.com/office/drawing/2014/main" val="979315127"/>
                    </a:ext>
                  </a:extLst>
                </a:gridCol>
                <a:gridCol w="1710246">
                  <a:extLst>
                    <a:ext uri="{9D8B030D-6E8A-4147-A177-3AD203B41FA5}">
                      <a16:colId xmlns:a16="http://schemas.microsoft.com/office/drawing/2014/main" val="2075302567"/>
                    </a:ext>
                  </a:extLst>
                </a:gridCol>
                <a:gridCol w="1404000">
                  <a:extLst>
                    <a:ext uri="{9D8B030D-6E8A-4147-A177-3AD203B41FA5}">
                      <a16:colId xmlns:a16="http://schemas.microsoft.com/office/drawing/2014/main" val="660631070"/>
                    </a:ext>
                  </a:extLst>
                </a:gridCol>
                <a:gridCol w="1404000">
                  <a:extLst>
                    <a:ext uri="{9D8B030D-6E8A-4147-A177-3AD203B41FA5}">
                      <a16:colId xmlns:a16="http://schemas.microsoft.com/office/drawing/2014/main" val="1525013378"/>
                    </a:ext>
                  </a:extLst>
                </a:gridCol>
              </a:tblGrid>
              <a:tr h="360000">
                <a:tc>
                  <a:txBody>
                    <a:bodyPr/>
                    <a:lstStyle/>
                    <a:p>
                      <a:r>
                        <a:rPr lang="en-US" sz="1100" dirty="0" err="1"/>
                        <a:t>intake_id</a:t>
                      </a:r>
                      <a:endParaRPr lang="en-NL" sz="1100" dirty="0"/>
                    </a:p>
                  </a:txBody>
                  <a:tcPr marL="72000" anchor="ctr"/>
                </a:tc>
                <a:tc>
                  <a:txBody>
                    <a:bodyPr/>
                    <a:lstStyle/>
                    <a:p>
                      <a:r>
                        <a:rPr lang="en-US" sz="900" dirty="0"/>
                        <a:t>loinc:107454-1</a:t>
                      </a:r>
                    </a:p>
                    <a:p>
                      <a:r>
                        <a:rPr lang="en-US" sz="900" dirty="0"/>
                        <a:t>("Administrative gender"@</a:t>
                      </a:r>
                      <a:r>
                        <a:rPr lang="en-US" sz="900" dirty="0" err="1"/>
                        <a:t>en</a:t>
                      </a:r>
                      <a:r>
                        <a:rPr lang="en-US" sz="900" dirty="0"/>
                        <a:t>)</a:t>
                      </a:r>
                    </a:p>
                  </a:txBody>
                  <a:tcPr marL="72000" marR="0" marT="0" marB="0" anchor="ctr"/>
                </a:tc>
                <a:tc>
                  <a:txBody>
                    <a:bodyPr/>
                    <a:lstStyle/>
                    <a:p>
                      <a:r>
                        <a:rPr lang="en-US" sz="1100" dirty="0" err="1"/>
                        <a:t>questionnaire_id</a:t>
                      </a:r>
                      <a:endParaRPr lang="en-NL" sz="1100" dirty="0"/>
                    </a:p>
                  </a:txBody>
                  <a:tcPr marL="72000" anchor="ctr"/>
                </a:tc>
                <a:tc>
                  <a:txBody>
                    <a:bodyPr/>
                    <a:lstStyle/>
                    <a:p>
                      <a:r>
                        <a:rPr lang="en-US" sz="1100" dirty="0" err="1"/>
                        <a:t>submitted_date</a:t>
                      </a:r>
                      <a:endParaRPr lang="en-NL" sz="1100" dirty="0"/>
                    </a:p>
                  </a:txBody>
                  <a:tcPr marL="72000" anchor="ctr"/>
                </a:tc>
                <a:extLst>
                  <a:ext uri="{0D108BD9-81ED-4DB2-BD59-A6C34878D82A}">
                    <a16:rowId xmlns:a16="http://schemas.microsoft.com/office/drawing/2014/main" val="3012902903"/>
                  </a:ext>
                </a:extLst>
              </a:tr>
              <a:tr h="306000">
                <a:tc>
                  <a:txBody>
                    <a:bodyPr/>
                    <a:lstStyle/>
                    <a:p>
                      <a:r>
                        <a:rPr lang="en-US" sz="1100" dirty="0"/>
                        <a:t>RPCC-001</a:t>
                      </a:r>
                      <a:endParaRPr lang="en-NL" sz="1100" dirty="0"/>
                    </a:p>
                  </a:txBody>
                  <a:tcPr marL="72000" anchor="ctr"/>
                </a:tc>
                <a:tc>
                  <a:txBody>
                    <a:bodyPr/>
                    <a:lstStyle/>
                    <a:p>
                      <a:r>
                        <a:rPr lang="en-US" sz="1100" b="1" dirty="0"/>
                        <a:t>woman</a:t>
                      </a:r>
                      <a:endParaRPr lang="en-NL" sz="1100" b="1" dirty="0"/>
                    </a:p>
                  </a:txBody>
                  <a:tcPr marL="72000" anchor="ctr"/>
                </a:tc>
                <a:tc>
                  <a:txBody>
                    <a:bodyPr/>
                    <a:lstStyle/>
                    <a:p>
                      <a:r>
                        <a:rPr lang="en-US" sz="1100" dirty="0"/>
                        <a:t>GIQ-001</a:t>
                      </a:r>
                      <a:endParaRPr lang="en-NL" sz="1100" dirty="0"/>
                    </a:p>
                  </a:txBody>
                  <a:tcPr marL="72000" anchor="ctr"/>
                </a:tc>
                <a:tc>
                  <a:txBody>
                    <a:bodyPr/>
                    <a:lstStyle/>
                    <a:p>
                      <a:r>
                        <a:rPr lang="en-NL" sz="1100" dirty="0"/>
                        <a:t>2026-02-03</a:t>
                      </a:r>
                    </a:p>
                  </a:txBody>
                  <a:tcPr marL="72000" anchor="ctr"/>
                </a:tc>
                <a:extLst>
                  <a:ext uri="{0D108BD9-81ED-4DB2-BD59-A6C34878D82A}">
                    <a16:rowId xmlns:a16="http://schemas.microsoft.com/office/drawing/2014/main" val="1249708150"/>
                  </a:ext>
                </a:extLst>
              </a:tr>
              <a:tr h="306000">
                <a:tc>
                  <a:txBody>
                    <a:bodyPr/>
                    <a:lstStyle/>
                    <a:p>
                      <a:r>
                        <a:rPr lang="en-US" sz="1100" dirty="0"/>
                        <a:t>RPCC-002</a:t>
                      </a:r>
                      <a:endParaRPr lang="en-NL" sz="1100" dirty="0"/>
                    </a:p>
                  </a:txBody>
                  <a:tcPr marL="72000" anchor="ctr"/>
                </a:tc>
                <a:tc>
                  <a:txBody>
                    <a:bodyPr/>
                    <a:lstStyle/>
                    <a:p>
                      <a:r>
                        <a:rPr lang="en-US" sz="1100" b="1" dirty="0"/>
                        <a:t>man</a:t>
                      </a:r>
                      <a:endParaRPr lang="en-NL" sz="1100" b="1" dirty="0"/>
                    </a:p>
                  </a:txBody>
                  <a:tcPr marL="72000" anchor="ctr"/>
                </a:tc>
                <a:tc>
                  <a:txBody>
                    <a:bodyPr/>
                    <a:lstStyle/>
                    <a:p>
                      <a:r>
                        <a:rPr lang="en-US" sz="1100" dirty="0"/>
                        <a:t>GIQ-001</a:t>
                      </a:r>
                      <a:endParaRPr lang="en-NL" sz="1100" dirty="0"/>
                    </a:p>
                  </a:txBody>
                  <a:tcPr marL="72000" anchor="ctr"/>
                </a:tc>
                <a:tc>
                  <a:txBody>
                    <a:bodyPr/>
                    <a:lstStyle/>
                    <a:p>
                      <a:r>
                        <a:rPr lang="en-NL" sz="1100" dirty="0"/>
                        <a:t>2026-02-03</a:t>
                      </a:r>
                    </a:p>
                  </a:txBody>
                  <a:tcPr marL="72000" anchor="ctr"/>
                </a:tc>
                <a:extLst>
                  <a:ext uri="{0D108BD9-81ED-4DB2-BD59-A6C34878D82A}">
                    <a16:rowId xmlns:a16="http://schemas.microsoft.com/office/drawing/2014/main" val="3850974854"/>
                  </a:ext>
                </a:extLst>
              </a:tr>
              <a:tr h="306000">
                <a:tc>
                  <a:txBody>
                    <a:bodyPr/>
                    <a:lstStyle/>
                    <a:p>
                      <a:r>
                        <a:rPr lang="en-US" sz="1100" dirty="0"/>
                        <a:t>RPCC-003</a:t>
                      </a:r>
                      <a:endParaRPr lang="en-NL" sz="1100" dirty="0"/>
                    </a:p>
                  </a:txBody>
                  <a:tcPr marL="72000" anchor="ctr"/>
                </a:tc>
                <a:tc>
                  <a:txBody>
                    <a:bodyPr/>
                    <a:lstStyle/>
                    <a:p>
                      <a:r>
                        <a:rPr lang="en-US" sz="1100" b="1" dirty="0"/>
                        <a:t>non-binary</a:t>
                      </a:r>
                      <a:endParaRPr lang="en-NL" sz="1100" b="1" dirty="0"/>
                    </a:p>
                  </a:txBody>
                  <a:tcPr marL="72000" anchor="ctr"/>
                </a:tc>
                <a:tc>
                  <a:txBody>
                    <a:bodyPr/>
                    <a:lstStyle/>
                    <a:p>
                      <a:r>
                        <a:rPr lang="en-US" sz="1100" dirty="0"/>
                        <a:t>GIQ-002</a:t>
                      </a:r>
                      <a:endParaRPr lang="en-NL" sz="1100" dirty="0"/>
                    </a:p>
                  </a:txBody>
                  <a:tcPr marL="72000" anchor="ctr"/>
                </a:tc>
                <a:tc>
                  <a:txBody>
                    <a:bodyPr/>
                    <a:lstStyle/>
                    <a:p>
                      <a:r>
                        <a:rPr lang="en-NL" sz="1100" dirty="0"/>
                        <a:t>2026-02-0</a:t>
                      </a:r>
                      <a:r>
                        <a:rPr lang="en-US" sz="1100" dirty="0"/>
                        <a:t>4</a:t>
                      </a:r>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3" name="Rectangle: Rounded Corners 2">
            <a:extLst>
              <a:ext uri="{FF2B5EF4-FFF2-40B4-BE49-F238E27FC236}">
                <a16:creationId xmlns:a16="http://schemas.microsoft.com/office/drawing/2014/main" id="{0A7F7086-957D-AE4F-6F56-8A130821E8C5}"/>
              </a:ext>
            </a:extLst>
          </p:cNvPr>
          <p:cNvSpPr/>
          <p:nvPr/>
        </p:nvSpPr>
        <p:spPr>
          <a:xfrm>
            <a:off x="2266950" y="1634899"/>
            <a:ext cx="1809749" cy="4330650"/>
          </a:xfrm>
          <a:prstGeom prst="roundRect">
            <a:avLst>
              <a:gd name="adj" fmla="val 6766"/>
            </a:avLst>
          </a:prstGeom>
          <a:noFill/>
          <a:ln w="47625">
            <a:solidFill>
              <a:schemeClr val="accent2"/>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DDF83B9D-42B5-07BF-2B11-A9DE34EC0FFC}"/>
              </a:ext>
            </a:extLst>
          </p:cNvPr>
          <p:cNvSpPr txBox="1"/>
          <p:nvPr/>
        </p:nvSpPr>
        <p:spPr>
          <a:xfrm>
            <a:off x="7123876" y="1623815"/>
            <a:ext cx="3028728" cy="369332"/>
          </a:xfrm>
          <a:prstGeom prst="rect">
            <a:avLst/>
          </a:prstGeom>
          <a:noFill/>
        </p:spPr>
        <p:txBody>
          <a:bodyPr wrap="square">
            <a:spAutoFit/>
          </a:bodyPr>
          <a:lstStyle/>
          <a:p>
            <a:r>
              <a:rPr lang="en-US" b="1" dirty="0">
                <a:solidFill>
                  <a:schemeClr val="accent1"/>
                </a:solidFill>
              </a:rPr>
              <a:t>NPR Demographic Extract</a:t>
            </a:r>
            <a:endParaRPr lang="en-NL" b="1" dirty="0">
              <a:solidFill>
                <a:schemeClr val="accent1"/>
              </a:solidFill>
            </a:endParaRPr>
          </a:p>
        </p:txBody>
      </p:sp>
      <p:pic>
        <p:nvPicPr>
          <p:cNvPr id="2050" name="Picture 2" descr="CARE-SM · GitHub">
            <a:extLst>
              <a:ext uri="{FF2B5EF4-FFF2-40B4-BE49-F238E27FC236}">
                <a16:creationId xmlns:a16="http://schemas.microsoft.com/office/drawing/2014/main" id="{61B65A12-06DA-BC1B-E0A3-0CACA9612D21}"/>
              </a:ext>
            </a:extLst>
          </p:cNvPr>
          <p:cNvPicPr>
            <a:picLocks noChangeAspect="1" noChangeArrowheads="1"/>
          </p:cNvPicPr>
          <p:nvPr/>
        </p:nvPicPr>
        <p:blipFill>
          <a:blip r:embed="rId3"/>
          <a:srcRect/>
          <a:stretch/>
        </p:blipFill>
        <p:spPr bwMode="auto">
          <a:xfrm>
            <a:off x="10258792" y="1737691"/>
            <a:ext cx="1176248" cy="1176248"/>
          </a:xfrm>
          <a:prstGeom prst="rect">
            <a:avLst/>
          </a:prstGeom>
          <a:noFill/>
          <a:extLst>
            <a:ext uri="{909E8E84-426E-40DD-AFC4-6F175D3DCCD1}">
              <a14:hiddenFill xmlns:a14="http://schemas.microsoft.com/office/drawing/2010/main">
                <a:solidFill>
                  <a:srgbClr val="FFFFFF"/>
                </a:solidFill>
              </a14:hiddenFill>
            </a:ext>
          </a:extLst>
        </p:spPr>
      </p:pic>
      <p:cxnSp>
        <p:nvCxnSpPr>
          <p:cNvPr id="28" name="Straight Connector 27">
            <a:extLst>
              <a:ext uri="{FF2B5EF4-FFF2-40B4-BE49-F238E27FC236}">
                <a16:creationId xmlns:a16="http://schemas.microsoft.com/office/drawing/2014/main" id="{BA2D08F2-C334-7916-B84D-834A85A619B4}"/>
              </a:ext>
            </a:extLst>
          </p:cNvPr>
          <p:cNvCxnSpPr>
            <a:cxnSpLocks/>
          </p:cNvCxnSpPr>
          <p:nvPr/>
        </p:nvCxnSpPr>
        <p:spPr>
          <a:xfrm>
            <a:off x="10176373" y="1929815"/>
            <a:ext cx="0" cy="792000"/>
          </a:xfrm>
          <a:prstGeom prst="line">
            <a:avLst/>
          </a:prstGeom>
          <a:ln w="3175">
            <a:solidFill>
              <a:schemeClr val="accent1">
                <a:lumMod val="50000"/>
                <a:alpha val="70000"/>
              </a:schemeClr>
            </a:solidFill>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30731C9C-B50C-C9E5-719E-E1F4481BC868}"/>
              </a:ext>
            </a:extLst>
          </p:cNvPr>
          <p:cNvSpPr txBox="1"/>
          <p:nvPr/>
        </p:nvSpPr>
        <p:spPr>
          <a:xfrm>
            <a:off x="7123876" y="3080962"/>
            <a:ext cx="3731668" cy="369332"/>
          </a:xfrm>
          <a:prstGeom prst="rect">
            <a:avLst/>
          </a:prstGeom>
          <a:noFill/>
        </p:spPr>
        <p:txBody>
          <a:bodyPr wrap="square">
            <a:spAutoFit/>
          </a:bodyPr>
          <a:lstStyle>
            <a:defPPr>
              <a:defRPr lang="en-US"/>
            </a:defPPr>
            <a:lvl1pPr>
              <a:defRPr b="1">
                <a:solidFill>
                  <a:schemeClr val="accent1"/>
                </a:solidFill>
              </a:defRPr>
            </a:lvl1pPr>
          </a:lstStyle>
          <a:p>
            <a:r>
              <a:rPr lang="en-US" dirty="0">
                <a:solidFill>
                  <a:schemeClr val="accent2">
                    <a:lumMod val="50000"/>
                  </a:schemeClr>
                </a:solidFill>
              </a:rPr>
              <a:t>Hospital Registration Extract</a:t>
            </a:r>
            <a:endParaRPr lang="en-NL" dirty="0">
              <a:solidFill>
                <a:schemeClr val="accent2">
                  <a:lumMod val="50000"/>
                </a:schemeClr>
              </a:solidFill>
            </a:endParaRPr>
          </a:p>
        </p:txBody>
      </p:sp>
      <p:pic>
        <p:nvPicPr>
          <p:cNvPr id="2052" name="Picture 4" descr="Logos and trademarks – openehr.org">
            <a:extLst>
              <a:ext uri="{FF2B5EF4-FFF2-40B4-BE49-F238E27FC236}">
                <a16:creationId xmlns:a16="http://schemas.microsoft.com/office/drawing/2014/main" id="{2219C5E0-86CD-1ABB-0627-B0BDD72DA2A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63597" y="3430121"/>
            <a:ext cx="966639" cy="705683"/>
          </a:xfrm>
          <a:prstGeom prst="rect">
            <a:avLst/>
          </a:prstGeom>
          <a:noFill/>
          <a:extLst>
            <a:ext uri="{909E8E84-426E-40DD-AFC4-6F175D3DCCD1}">
              <a14:hiddenFill xmlns:a14="http://schemas.microsoft.com/office/drawing/2010/main">
                <a:solidFill>
                  <a:srgbClr val="FFFFFF"/>
                </a:solidFill>
              </a14:hiddenFill>
            </a:ext>
          </a:extLst>
        </p:spPr>
      </p:pic>
      <p:cxnSp>
        <p:nvCxnSpPr>
          <p:cNvPr id="31" name="Straight Connector 30">
            <a:extLst>
              <a:ext uri="{FF2B5EF4-FFF2-40B4-BE49-F238E27FC236}">
                <a16:creationId xmlns:a16="http://schemas.microsoft.com/office/drawing/2014/main" id="{10ED9FE5-A3D5-6E48-16DD-7E68CF4085A2}"/>
              </a:ext>
            </a:extLst>
          </p:cNvPr>
          <p:cNvCxnSpPr>
            <a:cxnSpLocks/>
          </p:cNvCxnSpPr>
          <p:nvPr/>
        </p:nvCxnSpPr>
        <p:spPr>
          <a:xfrm>
            <a:off x="10176373" y="3386962"/>
            <a:ext cx="0" cy="792000"/>
          </a:xfrm>
          <a:prstGeom prst="line">
            <a:avLst/>
          </a:prstGeom>
          <a:ln w="3175">
            <a:solidFill>
              <a:schemeClr val="accent1">
                <a:lumMod val="50000"/>
                <a:alpha val="70000"/>
              </a:schemeClr>
            </a:solidFill>
          </a:ln>
        </p:spPr>
        <p:style>
          <a:lnRef idx="1">
            <a:schemeClr val="accent1"/>
          </a:lnRef>
          <a:fillRef idx="0">
            <a:schemeClr val="accent1"/>
          </a:fillRef>
          <a:effectRef idx="0">
            <a:schemeClr val="accent1"/>
          </a:effectRef>
          <a:fontRef idx="minor">
            <a:schemeClr val="tx1"/>
          </a:fontRef>
        </p:style>
      </p:cxnSp>
      <p:pic>
        <p:nvPicPr>
          <p:cNvPr id="18" name="Picture 17">
            <a:extLst>
              <a:ext uri="{FF2B5EF4-FFF2-40B4-BE49-F238E27FC236}">
                <a16:creationId xmlns:a16="http://schemas.microsoft.com/office/drawing/2014/main" id="{E7E49627-A452-495B-00CD-6591C5BCF672}"/>
              </a:ext>
            </a:extLst>
          </p:cNvPr>
          <p:cNvPicPr>
            <a:picLocks noChangeAspect="1"/>
          </p:cNvPicPr>
          <p:nvPr/>
        </p:nvPicPr>
        <p:blipFill>
          <a:blip r:embed="rId5">
            <a:extLst>
              <a:ext uri="{BEBA8EAE-BF5A-486C-A8C5-ECC9F3942E4B}">
                <a14:imgProps xmlns:a14="http://schemas.microsoft.com/office/drawing/2010/main">
                  <a14:imgLayer r:embed="rId6">
                    <a14:imgEffect>
                      <a14:sharpenSoften amount="25000"/>
                    </a14:imgEffect>
                    <a14:imgEffect>
                      <a14:brightnessContrast contrast="-40000"/>
                    </a14:imgEffect>
                  </a14:imgLayer>
                </a14:imgProps>
              </a:ext>
            </a:extLst>
          </a:blip>
          <a:srcRect l="22593" t="33818" r="26296" b="42564"/>
          <a:stretch>
            <a:fillRect/>
          </a:stretch>
        </p:blipFill>
        <p:spPr>
          <a:xfrm>
            <a:off x="7123876" y="3559096"/>
            <a:ext cx="2525569" cy="778038"/>
          </a:xfrm>
          <a:prstGeom prst="rect">
            <a:avLst/>
          </a:prstGeom>
        </p:spPr>
      </p:pic>
      <p:pic>
        <p:nvPicPr>
          <p:cNvPr id="22" name="Picture 21">
            <a:extLst>
              <a:ext uri="{FF2B5EF4-FFF2-40B4-BE49-F238E27FC236}">
                <a16:creationId xmlns:a16="http://schemas.microsoft.com/office/drawing/2014/main" id="{0F2BAEEC-E6EF-2170-D6D8-2294A6093503}"/>
              </a:ext>
            </a:extLst>
          </p:cNvPr>
          <p:cNvPicPr>
            <a:picLocks noChangeAspect="1"/>
          </p:cNvPicPr>
          <p:nvPr/>
        </p:nvPicPr>
        <p:blipFill>
          <a:blip r:embed="rId7"/>
          <a:srcRect l="17222" t="33069" r="27186" b="41346"/>
          <a:stretch>
            <a:fillRect/>
          </a:stretch>
        </p:blipFill>
        <p:spPr>
          <a:xfrm>
            <a:off x="7123876" y="2107127"/>
            <a:ext cx="2527200" cy="775393"/>
          </a:xfrm>
          <a:prstGeom prst="rect">
            <a:avLst/>
          </a:prstGeom>
        </p:spPr>
      </p:pic>
      <p:cxnSp>
        <p:nvCxnSpPr>
          <p:cNvPr id="32" name="Straight Connector 31">
            <a:extLst>
              <a:ext uri="{FF2B5EF4-FFF2-40B4-BE49-F238E27FC236}">
                <a16:creationId xmlns:a16="http://schemas.microsoft.com/office/drawing/2014/main" id="{F36A8237-1853-FFD0-A85A-9DFF5925ED2D}"/>
              </a:ext>
            </a:extLst>
          </p:cNvPr>
          <p:cNvCxnSpPr>
            <a:cxnSpLocks/>
          </p:cNvCxnSpPr>
          <p:nvPr/>
        </p:nvCxnSpPr>
        <p:spPr>
          <a:xfrm>
            <a:off x="10176373" y="4844110"/>
            <a:ext cx="0" cy="792000"/>
          </a:xfrm>
          <a:prstGeom prst="line">
            <a:avLst/>
          </a:prstGeom>
          <a:ln w="3175">
            <a:solidFill>
              <a:schemeClr val="accent1">
                <a:lumMod val="50000"/>
                <a:alpha val="70000"/>
              </a:schemeClr>
            </a:solidFill>
          </a:ln>
        </p:spPr>
        <p:style>
          <a:lnRef idx="1">
            <a:schemeClr val="accent1"/>
          </a:lnRef>
          <a:fillRef idx="0">
            <a:schemeClr val="accent1"/>
          </a:fillRef>
          <a:effectRef idx="0">
            <a:schemeClr val="accent1"/>
          </a:effectRef>
          <a:fontRef idx="minor">
            <a:schemeClr val="tx1"/>
          </a:fontRef>
        </p:style>
      </p:cxnSp>
      <p:pic>
        <p:nvPicPr>
          <p:cNvPr id="24" name="Picture 23">
            <a:extLst>
              <a:ext uri="{FF2B5EF4-FFF2-40B4-BE49-F238E27FC236}">
                <a16:creationId xmlns:a16="http://schemas.microsoft.com/office/drawing/2014/main" id="{9437980A-B4F4-4DC8-94C4-C993BCB76742}"/>
              </a:ext>
            </a:extLst>
          </p:cNvPr>
          <p:cNvPicPr>
            <a:picLocks noChangeAspect="1"/>
          </p:cNvPicPr>
          <p:nvPr/>
        </p:nvPicPr>
        <p:blipFill>
          <a:blip r:embed="rId8"/>
          <a:srcRect l="13027" t="27953" r="16204" b="38897"/>
          <a:stretch>
            <a:fillRect/>
          </a:stretch>
        </p:blipFill>
        <p:spPr>
          <a:xfrm>
            <a:off x="7123876" y="5013709"/>
            <a:ext cx="2527200" cy="789212"/>
          </a:xfrm>
          <a:prstGeom prst="rect">
            <a:avLst/>
          </a:prstGeom>
        </p:spPr>
      </p:pic>
      <p:sp>
        <p:nvSpPr>
          <p:cNvPr id="26" name="TextBox 25">
            <a:extLst>
              <a:ext uri="{FF2B5EF4-FFF2-40B4-BE49-F238E27FC236}">
                <a16:creationId xmlns:a16="http://schemas.microsoft.com/office/drawing/2014/main" id="{0695AAD6-E9B1-A264-83C7-17E901042841}"/>
              </a:ext>
            </a:extLst>
          </p:cNvPr>
          <p:cNvSpPr txBox="1"/>
          <p:nvPr/>
        </p:nvSpPr>
        <p:spPr>
          <a:xfrm>
            <a:off x="7123876" y="4538110"/>
            <a:ext cx="3973207" cy="369332"/>
          </a:xfrm>
          <a:prstGeom prst="rect">
            <a:avLst/>
          </a:prstGeom>
          <a:noFill/>
        </p:spPr>
        <p:txBody>
          <a:bodyPr wrap="square">
            <a:spAutoFit/>
          </a:bodyPr>
          <a:lstStyle>
            <a:defPPr>
              <a:defRPr lang="en-US"/>
            </a:defPPr>
            <a:lvl1pPr>
              <a:defRPr b="1">
                <a:solidFill>
                  <a:schemeClr val="accent1"/>
                </a:solidFill>
              </a:defRPr>
            </a:lvl1pPr>
          </a:lstStyle>
          <a:p>
            <a:r>
              <a:rPr lang="en-US" dirty="0">
                <a:solidFill>
                  <a:schemeClr val="accent4">
                    <a:lumMod val="50000"/>
                  </a:schemeClr>
                </a:solidFill>
              </a:rPr>
              <a:t>Administrative Intake Extract</a:t>
            </a:r>
            <a:endParaRPr lang="en-NL" dirty="0">
              <a:solidFill>
                <a:schemeClr val="accent4">
                  <a:lumMod val="50000"/>
                </a:schemeClr>
              </a:solidFill>
            </a:endParaRPr>
          </a:p>
        </p:txBody>
      </p:sp>
      <p:pic>
        <p:nvPicPr>
          <p:cNvPr id="1026" name="Picture 2" descr="Branding guidelines – LOINC">
            <a:extLst>
              <a:ext uri="{FF2B5EF4-FFF2-40B4-BE49-F238E27FC236}">
                <a16:creationId xmlns:a16="http://schemas.microsoft.com/office/drawing/2014/main" id="{4D80DC8A-1991-D127-56B1-4C3523F3D53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445054" y="4851091"/>
            <a:ext cx="778038" cy="7780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148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3D8ED-EC0F-DB4C-58E9-632104F8D6F5}"/>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26B21B24-9863-A3C8-4C97-5C060CCF85E6}"/>
              </a:ext>
            </a:extLst>
          </p:cNvPr>
          <p:cNvSpPr/>
          <p:nvPr/>
        </p:nvSpPr>
        <p:spPr>
          <a:xfrm>
            <a:off x="695324" y="1623815"/>
            <a:ext cx="10801350" cy="1404000"/>
          </a:xfrm>
          <a:prstGeom prst="rect">
            <a:avLst/>
          </a:prstGeom>
          <a:solidFill>
            <a:schemeClr val="accent1">
              <a:alpha val="3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NL"/>
          </a:p>
        </p:txBody>
      </p:sp>
      <p:graphicFrame>
        <p:nvGraphicFramePr>
          <p:cNvPr id="10" name="Content Placeholder 4">
            <a:extLst>
              <a:ext uri="{FF2B5EF4-FFF2-40B4-BE49-F238E27FC236}">
                <a16:creationId xmlns:a16="http://schemas.microsoft.com/office/drawing/2014/main" id="{805AD92D-305F-4B34-9694-B07435AFB82A}"/>
              </a:ext>
            </a:extLst>
          </p:cNvPr>
          <p:cNvGraphicFramePr>
            <a:graphicFrameLocks noGrp="1"/>
          </p:cNvGraphicFramePr>
          <p:nvPr>
            <p:ph idx="1"/>
            <p:extLst>
              <p:ext uri="{D42A27DB-BD31-4B8C-83A1-F6EECF244321}">
                <p14:modId xmlns:p14="http://schemas.microsoft.com/office/powerpoint/2010/main" val="176431395"/>
              </p:ext>
            </p:extLst>
          </p:nvPr>
        </p:nvGraphicFramePr>
        <p:xfrm>
          <a:off x="911224" y="1671106"/>
          <a:ext cx="5944059" cy="128376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404382">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1404000">
                  <a:extLst>
                    <a:ext uri="{9D8B030D-6E8A-4147-A177-3AD203B41FA5}">
                      <a16:colId xmlns:a16="http://schemas.microsoft.com/office/drawing/2014/main" val="660631070"/>
                    </a:ext>
                  </a:extLst>
                </a:gridCol>
                <a:gridCol w="1404000">
                  <a:extLst>
                    <a:ext uri="{9D8B030D-6E8A-4147-A177-3AD203B41FA5}">
                      <a16:colId xmlns:a16="http://schemas.microsoft.com/office/drawing/2014/main" val="1525013378"/>
                    </a:ext>
                  </a:extLst>
                </a:gridCol>
              </a:tblGrid>
              <a:tr h="360000">
                <a:tc>
                  <a:txBody>
                    <a:bodyPr/>
                    <a:lstStyle/>
                    <a:p>
                      <a:r>
                        <a:rPr lang="en-US" sz="1100" dirty="0" err="1"/>
                        <a:t>patient_id</a:t>
                      </a:r>
                      <a:endParaRPr lang="en-NL" sz="1100" dirty="0"/>
                    </a:p>
                  </a:txBody>
                  <a:tcPr marL="72000" anchor="ctr"/>
                </a:tc>
                <a:tc>
                  <a:txBody>
                    <a:bodyPr/>
                    <a:lstStyle/>
                    <a:p>
                      <a:pPr marL="0" algn="l" defTabSz="914400" rtl="0" eaLnBrk="1" latinLnBrk="0" hangingPunct="1"/>
                      <a:r>
                        <a:rPr lang="en-US" sz="900" b="1" kern="1200" dirty="0" err="1">
                          <a:solidFill>
                            <a:schemeClr val="lt1"/>
                          </a:solidFill>
                          <a:latin typeface="+mn-lt"/>
                          <a:ea typeface="+mn-ea"/>
                          <a:cs typeface="+mn-cs"/>
                        </a:rPr>
                        <a:t>care-sm:Sex</a:t>
                      </a:r>
                      <a:endParaRPr lang="en-US" sz="900" b="1" kern="1200" dirty="0">
                        <a:solidFill>
                          <a:schemeClr val="lt1"/>
                        </a:solidFill>
                        <a:latin typeface="+mn-lt"/>
                        <a:ea typeface="+mn-ea"/>
                        <a:cs typeface="+mn-cs"/>
                      </a:endParaRPr>
                    </a:p>
                    <a:p>
                      <a:pPr marL="0" algn="l" defTabSz="914400" rtl="0" eaLnBrk="1" latinLnBrk="0" hangingPunct="1"/>
                      <a:r>
                        <a:rPr lang="en-US" sz="900" b="1" kern="1200" dirty="0">
                          <a:solidFill>
                            <a:schemeClr val="lt1"/>
                          </a:solidFill>
                          <a:latin typeface="+mn-lt"/>
                          <a:ea typeface="+mn-ea"/>
                          <a:cs typeface="+mn-cs"/>
                        </a:rPr>
                        <a:t>("Biological sex"@</a:t>
                      </a:r>
                      <a:r>
                        <a:rPr lang="en-US" sz="900" b="1" kern="1200" dirty="0" err="1">
                          <a:solidFill>
                            <a:schemeClr val="lt1"/>
                          </a:solidFill>
                          <a:latin typeface="+mn-lt"/>
                          <a:ea typeface="+mn-ea"/>
                          <a:cs typeface="+mn-cs"/>
                        </a:rPr>
                        <a:t>en</a:t>
                      </a:r>
                      <a:r>
                        <a:rPr lang="en-US" sz="900" b="1" kern="1200" dirty="0">
                          <a:solidFill>
                            <a:schemeClr val="lt1"/>
                          </a:solidFill>
                          <a:latin typeface="+mn-lt"/>
                          <a:ea typeface="+mn-ea"/>
                          <a:cs typeface="+mn-cs"/>
                        </a:rPr>
                        <a:t>)</a:t>
                      </a:r>
                    </a:p>
                  </a:txBody>
                  <a:tcPr marL="72000" anchor="ctr"/>
                </a:tc>
                <a:tc>
                  <a:txBody>
                    <a:bodyPr/>
                    <a:lstStyle/>
                    <a:p>
                      <a:r>
                        <a:rPr lang="en-US" sz="1100" dirty="0" err="1"/>
                        <a:t>birth_year</a:t>
                      </a:r>
                      <a:endParaRPr lang="en-NL" sz="1100" dirty="0"/>
                    </a:p>
                  </a:txBody>
                  <a:tcPr marL="72000" anchor="ctr"/>
                </a:tc>
                <a:tc>
                  <a:txBody>
                    <a:bodyPr/>
                    <a:lstStyle/>
                    <a:p>
                      <a:r>
                        <a:rPr lang="en-US" sz="1100" dirty="0" err="1"/>
                        <a:t>residence_code</a:t>
                      </a:r>
                      <a:endParaRPr lang="en-NL" sz="1100" dirty="0"/>
                    </a:p>
                  </a:txBody>
                  <a:tcPr marL="72000" anchor="ctr"/>
                </a:tc>
                <a:extLst>
                  <a:ext uri="{0D108BD9-81ED-4DB2-BD59-A6C34878D82A}">
                    <a16:rowId xmlns:a16="http://schemas.microsoft.com/office/drawing/2014/main" val="3012902903"/>
                  </a:ext>
                </a:extLst>
              </a:tr>
              <a:tr h="306000">
                <a:tc>
                  <a:txBody>
                    <a:bodyPr/>
                    <a:lstStyle/>
                    <a:p>
                      <a:r>
                        <a:rPr lang="en-US" sz="1100" dirty="0"/>
                        <a:t>NPR-001</a:t>
                      </a:r>
                      <a:endParaRPr lang="en-NL" sz="1100" dirty="0"/>
                    </a:p>
                  </a:txBody>
                  <a:tcPr marL="72000" anchor="ctr"/>
                </a:tc>
                <a:tc>
                  <a:txBody>
                    <a:bodyPr/>
                    <a:lstStyle/>
                    <a:p>
                      <a:r>
                        <a:rPr lang="en-US" sz="1100" b="1" dirty="0"/>
                        <a:t>female</a:t>
                      </a:r>
                      <a:endParaRPr lang="en-NL" sz="1100" b="1" dirty="0"/>
                    </a:p>
                  </a:txBody>
                  <a:tcPr marL="72000" anchor="ctr"/>
                </a:tc>
                <a:tc>
                  <a:txBody>
                    <a:bodyPr/>
                    <a:lstStyle/>
                    <a:p>
                      <a:r>
                        <a:rPr lang="en-US" sz="1100" dirty="0"/>
                        <a:t>1987</a:t>
                      </a:r>
                      <a:endParaRPr lang="en-NL" sz="1100" dirty="0"/>
                    </a:p>
                  </a:txBody>
                  <a:tcPr marL="72000" anchor="ctr"/>
                </a:tc>
                <a:tc>
                  <a:txBody>
                    <a:bodyPr/>
                    <a:lstStyle/>
                    <a:p>
                      <a:r>
                        <a:rPr lang="en-US" sz="1100" dirty="0"/>
                        <a:t>0363</a:t>
                      </a:r>
                      <a:endParaRPr lang="en-NL" sz="1100" dirty="0"/>
                    </a:p>
                  </a:txBody>
                  <a:tcPr marL="72000" anchor="ctr"/>
                </a:tc>
                <a:extLst>
                  <a:ext uri="{0D108BD9-81ED-4DB2-BD59-A6C34878D82A}">
                    <a16:rowId xmlns:a16="http://schemas.microsoft.com/office/drawing/2014/main" val="1249708150"/>
                  </a:ext>
                </a:extLst>
              </a:tr>
              <a:tr h="306000">
                <a:tc>
                  <a:txBody>
                    <a:bodyPr/>
                    <a:lstStyle/>
                    <a:p>
                      <a:r>
                        <a:rPr lang="en-US" sz="1100" dirty="0"/>
                        <a:t>NPR-002</a:t>
                      </a:r>
                      <a:endParaRPr lang="en-NL" sz="1100" dirty="0"/>
                    </a:p>
                  </a:txBody>
                  <a:tcPr marL="72000" anchor="ctr"/>
                </a:tc>
                <a:tc>
                  <a:txBody>
                    <a:bodyPr/>
                    <a:lstStyle/>
                    <a:p>
                      <a:r>
                        <a:rPr lang="en-US" sz="1100" b="1" dirty="0"/>
                        <a:t>male</a:t>
                      </a:r>
                      <a:endParaRPr lang="en-NL" sz="1100" b="1" dirty="0"/>
                    </a:p>
                  </a:txBody>
                  <a:tcPr marL="72000" anchor="ctr"/>
                </a:tc>
                <a:tc>
                  <a:txBody>
                    <a:bodyPr/>
                    <a:lstStyle/>
                    <a:p>
                      <a:r>
                        <a:rPr lang="en-US" sz="1100" dirty="0"/>
                        <a:t>1979</a:t>
                      </a:r>
                      <a:endParaRPr lang="en-NL" sz="1100" dirty="0"/>
                    </a:p>
                  </a:txBody>
                  <a:tcPr marL="72000" anchor="ctr"/>
                </a:tc>
                <a:tc>
                  <a:txBody>
                    <a:bodyPr/>
                    <a:lstStyle/>
                    <a:p>
                      <a:r>
                        <a:rPr lang="en-US" sz="1100" dirty="0"/>
                        <a:t>0599</a:t>
                      </a:r>
                      <a:endParaRPr lang="en-NL" sz="1100" dirty="0"/>
                    </a:p>
                  </a:txBody>
                  <a:tcPr marL="72000" anchor="ctr"/>
                </a:tc>
                <a:extLst>
                  <a:ext uri="{0D108BD9-81ED-4DB2-BD59-A6C34878D82A}">
                    <a16:rowId xmlns:a16="http://schemas.microsoft.com/office/drawing/2014/main" val="3850974854"/>
                  </a:ext>
                </a:extLst>
              </a:tr>
              <a:tr h="306000">
                <a:tc>
                  <a:txBody>
                    <a:bodyPr/>
                    <a:lstStyle/>
                    <a:p>
                      <a:r>
                        <a:rPr lang="en-US" sz="1100" dirty="0"/>
                        <a:t>NPR-003</a:t>
                      </a:r>
                      <a:endParaRPr lang="en-NL" sz="1100" dirty="0"/>
                    </a:p>
                  </a:txBody>
                  <a:tcPr marL="72000" anchor="ctr"/>
                </a:tc>
                <a:tc>
                  <a:txBody>
                    <a:bodyPr/>
                    <a:lstStyle/>
                    <a:p>
                      <a:r>
                        <a:rPr lang="en-US" sz="1100" b="1" dirty="0"/>
                        <a:t>female</a:t>
                      </a:r>
                      <a:endParaRPr lang="en-NL" sz="1100" b="1" dirty="0"/>
                    </a:p>
                  </a:txBody>
                  <a:tcPr marL="72000" anchor="ctr"/>
                </a:tc>
                <a:tc>
                  <a:txBody>
                    <a:bodyPr/>
                    <a:lstStyle/>
                    <a:p>
                      <a:r>
                        <a:rPr lang="en-US" sz="1100" dirty="0"/>
                        <a:t>1994</a:t>
                      </a:r>
                      <a:endParaRPr lang="en-NL" sz="1100" dirty="0"/>
                    </a:p>
                  </a:txBody>
                  <a:tcPr marL="72000" anchor="ctr"/>
                </a:tc>
                <a:tc>
                  <a:txBody>
                    <a:bodyPr/>
                    <a:lstStyle/>
                    <a:p>
                      <a:r>
                        <a:rPr lang="en-US" sz="1100" dirty="0"/>
                        <a:t>0518</a:t>
                      </a:r>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14" name="Rectangle 13">
            <a:extLst>
              <a:ext uri="{FF2B5EF4-FFF2-40B4-BE49-F238E27FC236}">
                <a16:creationId xmlns:a16="http://schemas.microsoft.com/office/drawing/2014/main" id="{14C41F9C-89F0-80A3-3594-3E1AF167F24F}"/>
              </a:ext>
            </a:extLst>
          </p:cNvPr>
          <p:cNvSpPr/>
          <p:nvPr/>
        </p:nvSpPr>
        <p:spPr>
          <a:xfrm>
            <a:off x="695323" y="3080962"/>
            <a:ext cx="10801350" cy="1404000"/>
          </a:xfrm>
          <a:prstGeom prst="rect">
            <a:avLst/>
          </a:prstGeom>
          <a:solidFill>
            <a:schemeClr val="accent2">
              <a:alpha val="3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NL"/>
          </a:p>
        </p:txBody>
      </p:sp>
      <p:graphicFrame>
        <p:nvGraphicFramePr>
          <p:cNvPr id="16" name="Content Placeholder 4">
            <a:extLst>
              <a:ext uri="{FF2B5EF4-FFF2-40B4-BE49-F238E27FC236}">
                <a16:creationId xmlns:a16="http://schemas.microsoft.com/office/drawing/2014/main" id="{68883844-6C61-4B65-115E-C8C271E2B8C6}"/>
              </a:ext>
            </a:extLst>
          </p:cNvPr>
          <p:cNvGraphicFramePr>
            <a:graphicFrameLocks/>
          </p:cNvGraphicFramePr>
          <p:nvPr>
            <p:extLst>
              <p:ext uri="{D42A27DB-BD31-4B8C-83A1-F6EECF244321}">
                <p14:modId xmlns:p14="http://schemas.microsoft.com/office/powerpoint/2010/main" val="108973740"/>
              </p:ext>
            </p:extLst>
          </p:nvPr>
        </p:nvGraphicFramePr>
        <p:xfrm>
          <a:off x="911224" y="3134091"/>
          <a:ext cx="5944059" cy="1272543"/>
        </p:xfrm>
        <a:graphic>
          <a:graphicData uri="http://schemas.openxmlformats.org/drawingml/2006/table">
            <a:tbl>
              <a:tblPr firstRow="1" bandRow="1">
                <a:effectLst>
                  <a:outerShdw blurRad="50800" dist="38100" dir="2700000" algn="tl" rotWithShape="0">
                    <a:prstClr val="black">
                      <a:alpha val="40000"/>
                    </a:prstClr>
                  </a:outerShdw>
                </a:effectLst>
                <a:tableStyleId>{21E4AEA4-8DFA-4A89-87EB-49C32662AFE0}</a:tableStyleId>
              </a:tblPr>
              <a:tblGrid>
                <a:gridCol w="1404382">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1404000">
                  <a:extLst>
                    <a:ext uri="{9D8B030D-6E8A-4147-A177-3AD203B41FA5}">
                      <a16:colId xmlns:a16="http://schemas.microsoft.com/office/drawing/2014/main" val="660631070"/>
                    </a:ext>
                  </a:extLst>
                </a:gridCol>
                <a:gridCol w="1404000">
                  <a:extLst>
                    <a:ext uri="{9D8B030D-6E8A-4147-A177-3AD203B41FA5}">
                      <a16:colId xmlns:a16="http://schemas.microsoft.com/office/drawing/2014/main" val="1525013378"/>
                    </a:ext>
                  </a:extLst>
                </a:gridCol>
              </a:tblGrid>
              <a:tr h="360000">
                <a:tc>
                  <a:txBody>
                    <a:bodyPr/>
                    <a:lstStyle/>
                    <a:p>
                      <a:pPr algn="l"/>
                      <a:r>
                        <a:rPr lang="en-US" sz="1100" dirty="0" err="1"/>
                        <a:t>person_id</a:t>
                      </a:r>
                      <a:endParaRPr lang="en-NL" sz="1100" dirty="0"/>
                    </a:p>
                  </a:txBody>
                  <a:tcPr marL="72000" anchor="ctr"/>
                </a:tc>
                <a:tc>
                  <a:txBody>
                    <a:bodyPr/>
                    <a:lstStyle/>
                    <a:p>
                      <a:pPr algn="l"/>
                      <a:r>
                        <a:rPr lang="en-US" sz="900" dirty="0" err="1"/>
                        <a:t>hri-openehr:legal-gender</a:t>
                      </a:r>
                      <a:endParaRPr lang="en-US" sz="900" dirty="0"/>
                    </a:p>
                    <a:p>
                      <a:pPr algn="l"/>
                      <a:r>
                        <a:rPr lang="en-US" sz="900" dirty="0"/>
                        <a:t>("Legal gender"@</a:t>
                      </a:r>
                      <a:r>
                        <a:rPr lang="en-US" sz="900" dirty="0" err="1"/>
                        <a:t>en</a:t>
                      </a:r>
                      <a:r>
                        <a:rPr lang="en-US" sz="900" dirty="0"/>
                        <a:t>)</a:t>
                      </a:r>
                    </a:p>
                  </a:txBody>
                  <a:tcPr marL="72000" marR="18000" marT="0" marB="0" anchor="ctr"/>
                </a:tc>
                <a:tc>
                  <a:txBody>
                    <a:bodyPr/>
                    <a:lstStyle/>
                    <a:p>
                      <a:pPr algn="l"/>
                      <a:r>
                        <a:rPr lang="en-US" sz="1100" dirty="0" err="1"/>
                        <a:t>encounter_id</a:t>
                      </a:r>
                      <a:endParaRPr lang="en-NL" sz="1100" dirty="0"/>
                    </a:p>
                  </a:txBody>
                  <a:tcPr marL="72000" anchor="ctr"/>
                </a:tc>
                <a:tc>
                  <a:txBody>
                    <a:bodyPr/>
                    <a:lstStyle/>
                    <a:p>
                      <a:pPr algn="l"/>
                      <a:r>
                        <a:rPr lang="en-US" sz="1100" dirty="0" err="1"/>
                        <a:t>record_date</a:t>
                      </a:r>
                      <a:endParaRPr lang="en-NL" sz="1100" dirty="0"/>
                    </a:p>
                  </a:txBody>
                  <a:tcPr marL="72000" anchor="ctr"/>
                </a:tc>
                <a:extLst>
                  <a:ext uri="{0D108BD9-81ED-4DB2-BD59-A6C34878D82A}">
                    <a16:rowId xmlns:a16="http://schemas.microsoft.com/office/drawing/2014/main" val="3012902903"/>
                  </a:ext>
                </a:extLst>
              </a:tr>
              <a:tr h="304181">
                <a:tc>
                  <a:txBody>
                    <a:bodyPr/>
                    <a:lstStyle/>
                    <a:p>
                      <a:pPr algn="l"/>
                      <a:r>
                        <a:rPr lang="en-US" sz="1100" dirty="0"/>
                        <a:t>NMC-001</a:t>
                      </a:r>
                      <a:endParaRPr lang="en-NL" sz="1100" dirty="0"/>
                    </a:p>
                  </a:txBody>
                  <a:tcPr marL="72000" anchor="ctr"/>
                </a:tc>
                <a:tc>
                  <a:txBody>
                    <a:bodyPr/>
                    <a:lstStyle/>
                    <a:p>
                      <a:pPr algn="l"/>
                      <a:r>
                        <a:rPr lang="en-US" sz="1100" b="1" dirty="0"/>
                        <a:t>female</a:t>
                      </a:r>
                      <a:endParaRPr lang="en-NL" sz="1100" b="1" dirty="0"/>
                    </a:p>
                  </a:txBody>
                  <a:tcPr marL="72000" anchor="ctr"/>
                </a:tc>
                <a:tc>
                  <a:txBody>
                    <a:bodyPr/>
                    <a:lstStyle/>
                    <a:p>
                      <a:pPr algn="l"/>
                      <a:r>
                        <a:rPr lang="en-US" sz="1100" dirty="0"/>
                        <a:t>ENC-7001</a:t>
                      </a:r>
                      <a:endParaRPr lang="en-NL" sz="1100" dirty="0"/>
                    </a:p>
                  </a:txBody>
                  <a:tcPr marL="72000" anchor="ctr"/>
                </a:tc>
                <a:tc>
                  <a:txBody>
                    <a:bodyPr/>
                    <a:lstStyle/>
                    <a:p>
                      <a:pPr algn="l"/>
                      <a:r>
                        <a:rPr lang="en-NL" sz="1100" dirty="0"/>
                        <a:t>2026-01-14</a:t>
                      </a:r>
                    </a:p>
                  </a:txBody>
                  <a:tcPr marL="72000" anchor="ctr"/>
                </a:tc>
                <a:extLst>
                  <a:ext uri="{0D108BD9-81ED-4DB2-BD59-A6C34878D82A}">
                    <a16:rowId xmlns:a16="http://schemas.microsoft.com/office/drawing/2014/main" val="1249708150"/>
                  </a:ext>
                </a:extLst>
              </a:tr>
              <a:tr h="304181">
                <a:tc>
                  <a:txBody>
                    <a:bodyPr/>
                    <a:lstStyle/>
                    <a:p>
                      <a:pPr algn="l"/>
                      <a:r>
                        <a:rPr lang="en-US" sz="1100" dirty="0"/>
                        <a:t>NMC-002</a:t>
                      </a:r>
                      <a:endParaRPr lang="en-NL" sz="1100" dirty="0"/>
                    </a:p>
                  </a:txBody>
                  <a:tcPr marL="72000" anchor="ctr"/>
                </a:tc>
                <a:tc>
                  <a:txBody>
                    <a:bodyPr/>
                    <a:lstStyle/>
                    <a:p>
                      <a:pPr algn="l"/>
                      <a:r>
                        <a:rPr lang="en-US" sz="1100" b="1" dirty="0"/>
                        <a:t>male</a:t>
                      </a:r>
                      <a:endParaRPr lang="en-NL" sz="1100" b="1" dirty="0"/>
                    </a:p>
                  </a:txBody>
                  <a:tcPr marL="72000" anchor="ctr"/>
                </a:tc>
                <a:tc>
                  <a:txBody>
                    <a:bodyPr/>
                    <a:lstStyle/>
                    <a:p>
                      <a:pPr algn="l"/>
                      <a:r>
                        <a:rPr lang="en-US" sz="1100" dirty="0"/>
                        <a:t>ENC-7002</a:t>
                      </a:r>
                      <a:endParaRPr lang="en-NL" sz="1100" dirty="0"/>
                    </a:p>
                  </a:txBody>
                  <a:tcPr marL="72000" anchor="ctr"/>
                </a:tc>
                <a:tc>
                  <a:txBody>
                    <a:bodyPr/>
                    <a:lstStyle/>
                    <a:p>
                      <a:pPr algn="l"/>
                      <a:r>
                        <a:rPr lang="en-NL" sz="1100" dirty="0"/>
                        <a:t>2026-01-1</a:t>
                      </a:r>
                      <a:r>
                        <a:rPr lang="en-US" sz="1100" dirty="0"/>
                        <a:t>5</a:t>
                      </a:r>
                      <a:endParaRPr lang="en-NL" sz="1100" dirty="0"/>
                    </a:p>
                  </a:txBody>
                  <a:tcPr marL="72000" anchor="ctr"/>
                </a:tc>
                <a:extLst>
                  <a:ext uri="{0D108BD9-81ED-4DB2-BD59-A6C34878D82A}">
                    <a16:rowId xmlns:a16="http://schemas.microsoft.com/office/drawing/2014/main" val="3850974854"/>
                  </a:ext>
                </a:extLst>
              </a:tr>
              <a:tr h="304181">
                <a:tc>
                  <a:txBody>
                    <a:bodyPr/>
                    <a:lstStyle/>
                    <a:p>
                      <a:pPr algn="l"/>
                      <a:r>
                        <a:rPr lang="en-US" sz="1100" dirty="0"/>
                        <a:t>NMC-003</a:t>
                      </a:r>
                      <a:endParaRPr lang="en-NL" sz="1100" dirty="0"/>
                    </a:p>
                  </a:txBody>
                  <a:tcPr marL="72000" anchor="ctr"/>
                </a:tc>
                <a:tc>
                  <a:txBody>
                    <a:bodyPr/>
                    <a:lstStyle/>
                    <a:p>
                      <a:pPr algn="l"/>
                      <a:r>
                        <a:rPr lang="en-US" sz="1100" b="1" dirty="0"/>
                        <a:t>nonbinary</a:t>
                      </a:r>
                      <a:endParaRPr lang="en-NL" sz="1100" b="1" dirty="0"/>
                    </a:p>
                  </a:txBody>
                  <a:tcPr marL="72000" anchor="ctr"/>
                </a:tc>
                <a:tc>
                  <a:txBody>
                    <a:bodyPr/>
                    <a:lstStyle/>
                    <a:p>
                      <a:pPr algn="l"/>
                      <a:r>
                        <a:rPr lang="en-US" sz="1100" dirty="0"/>
                        <a:t>ENC-7003</a:t>
                      </a:r>
                      <a:endParaRPr lang="en-NL" sz="1100" dirty="0"/>
                    </a:p>
                  </a:txBody>
                  <a:tcPr marL="72000" anchor="ctr"/>
                </a:tc>
                <a:tc>
                  <a:txBody>
                    <a:bodyPr/>
                    <a:lstStyle/>
                    <a:p>
                      <a:pPr algn="l"/>
                      <a:r>
                        <a:rPr lang="en-NL" sz="1100" dirty="0"/>
                        <a:t>2026-01-1</a:t>
                      </a:r>
                      <a:r>
                        <a:rPr lang="en-US" sz="1100" dirty="0"/>
                        <a:t>6</a:t>
                      </a:r>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22" name="Rectangle 21">
            <a:extLst>
              <a:ext uri="{FF2B5EF4-FFF2-40B4-BE49-F238E27FC236}">
                <a16:creationId xmlns:a16="http://schemas.microsoft.com/office/drawing/2014/main" id="{32DB5AC4-EF42-40DA-D66F-A377945FE71F}"/>
              </a:ext>
            </a:extLst>
          </p:cNvPr>
          <p:cNvSpPr/>
          <p:nvPr/>
        </p:nvSpPr>
        <p:spPr>
          <a:xfrm>
            <a:off x="695325" y="4538110"/>
            <a:ext cx="10801350" cy="1404000"/>
          </a:xfrm>
          <a:prstGeom prst="rect">
            <a:avLst/>
          </a:prstGeom>
          <a:solidFill>
            <a:schemeClr val="accent3">
              <a:alpha val="3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NL"/>
          </a:p>
        </p:txBody>
      </p:sp>
      <p:graphicFrame>
        <p:nvGraphicFramePr>
          <p:cNvPr id="23" name="Content Placeholder 4">
            <a:extLst>
              <a:ext uri="{FF2B5EF4-FFF2-40B4-BE49-F238E27FC236}">
                <a16:creationId xmlns:a16="http://schemas.microsoft.com/office/drawing/2014/main" id="{DA8E9ADD-D996-E2C0-ADA3-6DBFBBDFB1DF}"/>
              </a:ext>
            </a:extLst>
          </p:cNvPr>
          <p:cNvGraphicFramePr>
            <a:graphicFrameLocks/>
          </p:cNvGraphicFramePr>
          <p:nvPr>
            <p:extLst>
              <p:ext uri="{D42A27DB-BD31-4B8C-83A1-F6EECF244321}">
                <p14:modId xmlns:p14="http://schemas.microsoft.com/office/powerpoint/2010/main" val="2960320022"/>
              </p:ext>
            </p:extLst>
          </p:nvPr>
        </p:nvGraphicFramePr>
        <p:xfrm>
          <a:off x="919208" y="4588510"/>
          <a:ext cx="5928090" cy="1278000"/>
        </p:xfrm>
        <a:graphic>
          <a:graphicData uri="http://schemas.openxmlformats.org/drawingml/2006/table">
            <a:tbl>
              <a:tblPr firstRow="1" bandRow="1">
                <a:effectLst>
                  <a:outerShdw blurRad="50800" dist="38100" dir="2700000" algn="tl" rotWithShape="0">
                    <a:prstClr val="black">
                      <a:alpha val="40000"/>
                    </a:prstClr>
                  </a:outerShdw>
                </a:effectLst>
                <a:tableStyleId>{00A15C55-8517-42AA-B614-E9B94910E393}</a:tableStyleId>
              </a:tblPr>
              <a:tblGrid>
                <a:gridCol w="1409844">
                  <a:extLst>
                    <a:ext uri="{9D8B030D-6E8A-4147-A177-3AD203B41FA5}">
                      <a16:colId xmlns:a16="http://schemas.microsoft.com/office/drawing/2014/main" val="979315127"/>
                    </a:ext>
                  </a:extLst>
                </a:gridCol>
                <a:gridCol w="1710246">
                  <a:extLst>
                    <a:ext uri="{9D8B030D-6E8A-4147-A177-3AD203B41FA5}">
                      <a16:colId xmlns:a16="http://schemas.microsoft.com/office/drawing/2014/main" val="2075302567"/>
                    </a:ext>
                  </a:extLst>
                </a:gridCol>
                <a:gridCol w="1404000">
                  <a:extLst>
                    <a:ext uri="{9D8B030D-6E8A-4147-A177-3AD203B41FA5}">
                      <a16:colId xmlns:a16="http://schemas.microsoft.com/office/drawing/2014/main" val="660631070"/>
                    </a:ext>
                  </a:extLst>
                </a:gridCol>
                <a:gridCol w="1404000">
                  <a:extLst>
                    <a:ext uri="{9D8B030D-6E8A-4147-A177-3AD203B41FA5}">
                      <a16:colId xmlns:a16="http://schemas.microsoft.com/office/drawing/2014/main" val="1525013378"/>
                    </a:ext>
                  </a:extLst>
                </a:gridCol>
              </a:tblGrid>
              <a:tr h="360000">
                <a:tc>
                  <a:txBody>
                    <a:bodyPr/>
                    <a:lstStyle/>
                    <a:p>
                      <a:r>
                        <a:rPr lang="en-US" sz="1100" dirty="0" err="1"/>
                        <a:t>intake_id</a:t>
                      </a:r>
                      <a:endParaRPr lang="en-NL" sz="1100" dirty="0"/>
                    </a:p>
                  </a:txBody>
                  <a:tcPr marL="72000" anchor="ctr"/>
                </a:tc>
                <a:tc>
                  <a:txBody>
                    <a:bodyPr/>
                    <a:lstStyle/>
                    <a:p>
                      <a:r>
                        <a:rPr lang="en-US" sz="900" dirty="0"/>
                        <a:t>loinc:107454-1</a:t>
                      </a:r>
                    </a:p>
                    <a:p>
                      <a:r>
                        <a:rPr lang="en-US" sz="900" dirty="0"/>
                        <a:t>("Administrative gender"@</a:t>
                      </a:r>
                      <a:r>
                        <a:rPr lang="en-US" sz="900" dirty="0" err="1"/>
                        <a:t>en</a:t>
                      </a:r>
                      <a:r>
                        <a:rPr lang="en-US" sz="900" dirty="0"/>
                        <a:t>)</a:t>
                      </a:r>
                    </a:p>
                  </a:txBody>
                  <a:tcPr marL="72000" marR="0" marT="0" marB="0" anchor="ctr"/>
                </a:tc>
                <a:tc>
                  <a:txBody>
                    <a:bodyPr/>
                    <a:lstStyle/>
                    <a:p>
                      <a:r>
                        <a:rPr lang="en-US" sz="1100" dirty="0" err="1"/>
                        <a:t>questionnaire_id</a:t>
                      </a:r>
                      <a:endParaRPr lang="en-NL" sz="1100" dirty="0"/>
                    </a:p>
                  </a:txBody>
                  <a:tcPr marL="72000" anchor="ctr"/>
                </a:tc>
                <a:tc>
                  <a:txBody>
                    <a:bodyPr/>
                    <a:lstStyle/>
                    <a:p>
                      <a:r>
                        <a:rPr lang="en-US" sz="1100" dirty="0" err="1"/>
                        <a:t>submitted_date</a:t>
                      </a:r>
                      <a:endParaRPr lang="en-NL" sz="1100" dirty="0"/>
                    </a:p>
                  </a:txBody>
                  <a:tcPr marL="72000" anchor="ctr"/>
                </a:tc>
                <a:extLst>
                  <a:ext uri="{0D108BD9-81ED-4DB2-BD59-A6C34878D82A}">
                    <a16:rowId xmlns:a16="http://schemas.microsoft.com/office/drawing/2014/main" val="3012902903"/>
                  </a:ext>
                </a:extLst>
              </a:tr>
              <a:tr h="306000">
                <a:tc>
                  <a:txBody>
                    <a:bodyPr/>
                    <a:lstStyle/>
                    <a:p>
                      <a:r>
                        <a:rPr lang="en-US" sz="1100" dirty="0"/>
                        <a:t>RPCC-001</a:t>
                      </a:r>
                      <a:endParaRPr lang="en-NL" sz="1100" dirty="0"/>
                    </a:p>
                  </a:txBody>
                  <a:tcPr marL="72000" anchor="ctr"/>
                </a:tc>
                <a:tc>
                  <a:txBody>
                    <a:bodyPr/>
                    <a:lstStyle/>
                    <a:p>
                      <a:r>
                        <a:rPr lang="en-US" sz="1100" b="1" dirty="0"/>
                        <a:t>woman</a:t>
                      </a:r>
                      <a:endParaRPr lang="en-NL" sz="1100" b="1" dirty="0"/>
                    </a:p>
                  </a:txBody>
                  <a:tcPr marL="72000" anchor="ctr"/>
                </a:tc>
                <a:tc>
                  <a:txBody>
                    <a:bodyPr/>
                    <a:lstStyle/>
                    <a:p>
                      <a:r>
                        <a:rPr lang="en-US" sz="1100" dirty="0"/>
                        <a:t>GIQ-001</a:t>
                      </a:r>
                      <a:endParaRPr lang="en-NL" sz="1100" dirty="0"/>
                    </a:p>
                  </a:txBody>
                  <a:tcPr marL="72000" anchor="ctr"/>
                </a:tc>
                <a:tc>
                  <a:txBody>
                    <a:bodyPr/>
                    <a:lstStyle/>
                    <a:p>
                      <a:r>
                        <a:rPr lang="en-NL" sz="1100" dirty="0"/>
                        <a:t>2026-02-03</a:t>
                      </a:r>
                    </a:p>
                  </a:txBody>
                  <a:tcPr marL="72000" anchor="ctr"/>
                </a:tc>
                <a:extLst>
                  <a:ext uri="{0D108BD9-81ED-4DB2-BD59-A6C34878D82A}">
                    <a16:rowId xmlns:a16="http://schemas.microsoft.com/office/drawing/2014/main" val="1249708150"/>
                  </a:ext>
                </a:extLst>
              </a:tr>
              <a:tr h="306000">
                <a:tc>
                  <a:txBody>
                    <a:bodyPr/>
                    <a:lstStyle/>
                    <a:p>
                      <a:r>
                        <a:rPr lang="en-US" sz="1100" dirty="0"/>
                        <a:t>RPCC-002</a:t>
                      </a:r>
                      <a:endParaRPr lang="en-NL" sz="1100" dirty="0"/>
                    </a:p>
                  </a:txBody>
                  <a:tcPr marL="72000" anchor="ctr"/>
                </a:tc>
                <a:tc>
                  <a:txBody>
                    <a:bodyPr/>
                    <a:lstStyle/>
                    <a:p>
                      <a:r>
                        <a:rPr lang="en-US" sz="1100" b="1" dirty="0"/>
                        <a:t>man</a:t>
                      </a:r>
                      <a:endParaRPr lang="en-NL" sz="1100" b="1" dirty="0"/>
                    </a:p>
                  </a:txBody>
                  <a:tcPr marL="72000" anchor="ctr"/>
                </a:tc>
                <a:tc>
                  <a:txBody>
                    <a:bodyPr/>
                    <a:lstStyle/>
                    <a:p>
                      <a:r>
                        <a:rPr lang="en-US" sz="1100" dirty="0"/>
                        <a:t>GIQ-001</a:t>
                      </a:r>
                      <a:endParaRPr lang="en-NL" sz="1100" dirty="0"/>
                    </a:p>
                  </a:txBody>
                  <a:tcPr marL="72000" anchor="ctr"/>
                </a:tc>
                <a:tc>
                  <a:txBody>
                    <a:bodyPr/>
                    <a:lstStyle/>
                    <a:p>
                      <a:r>
                        <a:rPr lang="en-NL" sz="1100" dirty="0"/>
                        <a:t>2026-02-03</a:t>
                      </a:r>
                    </a:p>
                  </a:txBody>
                  <a:tcPr marL="72000" anchor="ctr"/>
                </a:tc>
                <a:extLst>
                  <a:ext uri="{0D108BD9-81ED-4DB2-BD59-A6C34878D82A}">
                    <a16:rowId xmlns:a16="http://schemas.microsoft.com/office/drawing/2014/main" val="3850974854"/>
                  </a:ext>
                </a:extLst>
              </a:tr>
              <a:tr h="306000">
                <a:tc>
                  <a:txBody>
                    <a:bodyPr/>
                    <a:lstStyle/>
                    <a:p>
                      <a:r>
                        <a:rPr lang="en-US" sz="1100" dirty="0"/>
                        <a:t>RPCC-003</a:t>
                      </a:r>
                      <a:endParaRPr lang="en-NL" sz="1100" dirty="0"/>
                    </a:p>
                  </a:txBody>
                  <a:tcPr marL="72000" anchor="ctr"/>
                </a:tc>
                <a:tc>
                  <a:txBody>
                    <a:bodyPr/>
                    <a:lstStyle/>
                    <a:p>
                      <a:r>
                        <a:rPr lang="en-US" sz="1100" b="1" dirty="0"/>
                        <a:t>non-binary</a:t>
                      </a:r>
                      <a:endParaRPr lang="en-NL" sz="1100" b="1" dirty="0"/>
                    </a:p>
                  </a:txBody>
                  <a:tcPr marL="72000" anchor="ctr"/>
                </a:tc>
                <a:tc>
                  <a:txBody>
                    <a:bodyPr/>
                    <a:lstStyle/>
                    <a:p>
                      <a:r>
                        <a:rPr lang="en-US" sz="1100" dirty="0"/>
                        <a:t>GIQ-002</a:t>
                      </a:r>
                      <a:endParaRPr lang="en-NL" sz="1100" dirty="0"/>
                    </a:p>
                  </a:txBody>
                  <a:tcPr marL="72000" anchor="ctr"/>
                </a:tc>
                <a:tc>
                  <a:txBody>
                    <a:bodyPr/>
                    <a:lstStyle/>
                    <a:p>
                      <a:r>
                        <a:rPr lang="en-NL" sz="1100" dirty="0"/>
                        <a:t>2026-02-0</a:t>
                      </a:r>
                      <a:r>
                        <a:rPr lang="en-US" sz="1100" dirty="0"/>
                        <a:t>4</a:t>
                      </a:r>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24" name="TextBox 23">
            <a:extLst>
              <a:ext uri="{FF2B5EF4-FFF2-40B4-BE49-F238E27FC236}">
                <a16:creationId xmlns:a16="http://schemas.microsoft.com/office/drawing/2014/main" id="{5A8101C4-B882-14D1-336D-21A94DA4FAEE}"/>
              </a:ext>
            </a:extLst>
          </p:cNvPr>
          <p:cNvSpPr txBox="1"/>
          <p:nvPr/>
        </p:nvSpPr>
        <p:spPr>
          <a:xfrm>
            <a:off x="7123876" y="1623815"/>
            <a:ext cx="3028728" cy="369332"/>
          </a:xfrm>
          <a:prstGeom prst="rect">
            <a:avLst/>
          </a:prstGeom>
          <a:noFill/>
        </p:spPr>
        <p:txBody>
          <a:bodyPr wrap="square">
            <a:spAutoFit/>
          </a:bodyPr>
          <a:lstStyle/>
          <a:p>
            <a:r>
              <a:rPr lang="en-US" b="1" dirty="0">
                <a:solidFill>
                  <a:schemeClr val="accent1"/>
                </a:solidFill>
              </a:rPr>
              <a:t>NPR Demographic Extract</a:t>
            </a:r>
            <a:endParaRPr lang="en-NL" b="1" dirty="0">
              <a:solidFill>
                <a:schemeClr val="accent1"/>
              </a:solidFill>
            </a:endParaRPr>
          </a:p>
        </p:txBody>
      </p:sp>
      <p:pic>
        <p:nvPicPr>
          <p:cNvPr id="27" name="Picture 2" descr="CARE-SM · GitHub">
            <a:extLst>
              <a:ext uri="{FF2B5EF4-FFF2-40B4-BE49-F238E27FC236}">
                <a16:creationId xmlns:a16="http://schemas.microsoft.com/office/drawing/2014/main" id="{8DB192BF-3145-3402-BFD2-52BE8B8323AA}"/>
              </a:ext>
            </a:extLst>
          </p:cNvPr>
          <p:cNvPicPr>
            <a:picLocks noChangeAspect="1" noChangeArrowheads="1"/>
          </p:cNvPicPr>
          <p:nvPr/>
        </p:nvPicPr>
        <p:blipFill>
          <a:blip r:embed="rId3"/>
          <a:srcRect/>
          <a:stretch/>
        </p:blipFill>
        <p:spPr bwMode="auto">
          <a:xfrm>
            <a:off x="10258792" y="1737691"/>
            <a:ext cx="1176248" cy="1176248"/>
          </a:xfrm>
          <a:prstGeom prst="rect">
            <a:avLst/>
          </a:prstGeom>
          <a:noFill/>
          <a:extLst>
            <a:ext uri="{909E8E84-426E-40DD-AFC4-6F175D3DCCD1}">
              <a14:hiddenFill xmlns:a14="http://schemas.microsoft.com/office/drawing/2010/main">
                <a:solidFill>
                  <a:srgbClr val="FFFFFF"/>
                </a:solidFill>
              </a14:hiddenFill>
            </a:ext>
          </a:extLst>
        </p:spPr>
      </p:pic>
      <p:cxnSp>
        <p:nvCxnSpPr>
          <p:cNvPr id="29" name="Straight Connector 28">
            <a:extLst>
              <a:ext uri="{FF2B5EF4-FFF2-40B4-BE49-F238E27FC236}">
                <a16:creationId xmlns:a16="http://schemas.microsoft.com/office/drawing/2014/main" id="{7063C35A-854E-F0B9-C21F-6841309F9916}"/>
              </a:ext>
            </a:extLst>
          </p:cNvPr>
          <p:cNvCxnSpPr>
            <a:cxnSpLocks/>
          </p:cNvCxnSpPr>
          <p:nvPr/>
        </p:nvCxnSpPr>
        <p:spPr>
          <a:xfrm>
            <a:off x="10176373" y="1929815"/>
            <a:ext cx="0" cy="792000"/>
          </a:xfrm>
          <a:prstGeom prst="line">
            <a:avLst/>
          </a:prstGeom>
          <a:ln w="3175">
            <a:solidFill>
              <a:schemeClr val="accent1">
                <a:lumMod val="50000"/>
                <a:alpha val="70000"/>
              </a:schemeClr>
            </a:solidFill>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6524C0B3-FF29-7F7A-CFFE-AE77FCC5CF05}"/>
              </a:ext>
            </a:extLst>
          </p:cNvPr>
          <p:cNvSpPr txBox="1"/>
          <p:nvPr/>
        </p:nvSpPr>
        <p:spPr>
          <a:xfrm>
            <a:off x="7123876" y="3080962"/>
            <a:ext cx="3731668" cy="369332"/>
          </a:xfrm>
          <a:prstGeom prst="rect">
            <a:avLst/>
          </a:prstGeom>
          <a:noFill/>
        </p:spPr>
        <p:txBody>
          <a:bodyPr wrap="square">
            <a:spAutoFit/>
          </a:bodyPr>
          <a:lstStyle>
            <a:defPPr>
              <a:defRPr lang="en-US"/>
            </a:defPPr>
            <a:lvl1pPr>
              <a:defRPr b="1">
                <a:solidFill>
                  <a:schemeClr val="accent1"/>
                </a:solidFill>
              </a:defRPr>
            </a:lvl1pPr>
          </a:lstStyle>
          <a:p>
            <a:r>
              <a:rPr lang="en-US" dirty="0">
                <a:solidFill>
                  <a:schemeClr val="accent2">
                    <a:lumMod val="50000"/>
                  </a:schemeClr>
                </a:solidFill>
              </a:rPr>
              <a:t>Hospital Registration Extract</a:t>
            </a:r>
            <a:endParaRPr lang="en-NL" dirty="0">
              <a:solidFill>
                <a:schemeClr val="accent2">
                  <a:lumMod val="50000"/>
                </a:schemeClr>
              </a:solidFill>
            </a:endParaRPr>
          </a:p>
        </p:txBody>
      </p:sp>
      <p:pic>
        <p:nvPicPr>
          <p:cNvPr id="33" name="Picture 4" descr="Logos and trademarks – openehr.org">
            <a:extLst>
              <a:ext uri="{FF2B5EF4-FFF2-40B4-BE49-F238E27FC236}">
                <a16:creationId xmlns:a16="http://schemas.microsoft.com/office/drawing/2014/main" id="{FF4EFB68-3702-4040-DC3A-F90C06942F3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63597" y="3430121"/>
            <a:ext cx="966639" cy="705683"/>
          </a:xfrm>
          <a:prstGeom prst="rect">
            <a:avLst/>
          </a:prstGeom>
          <a:noFill/>
          <a:extLst>
            <a:ext uri="{909E8E84-426E-40DD-AFC4-6F175D3DCCD1}">
              <a14:hiddenFill xmlns:a14="http://schemas.microsoft.com/office/drawing/2010/main">
                <a:solidFill>
                  <a:srgbClr val="FFFFFF"/>
                </a:solidFill>
              </a14:hiddenFill>
            </a:ext>
          </a:extLst>
        </p:spPr>
      </p:pic>
      <p:cxnSp>
        <p:nvCxnSpPr>
          <p:cNvPr id="34" name="Straight Connector 33">
            <a:extLst>
              <a:ext uri="{FF2B5EF4-FFF2-40B4-BE49-F238E27FC236}">
                <a16:creationId xmlns:a16="http://schemas.microsoft.com/office/drawing/2014/main" id="{5A36767B-A58E-53B5-3916-507829D5E123}"/>
              </a:ext>
            </a:extLst>
          </p:cNvPr>
          <p:cNvCxnSpPr>
            <a:cxnSpLocks/>
          </p:cNvCxnSpPr>
          <p:nvPr/>
        </p:nvCxnSpPr>
        <p:spPr>
          <a:xfrm>
            <a:off x="10176373" y="3386962"/>
            <a:ext cx="0" cy="792000"/>
          </a:xfrm>
          <a:prstGeom prst="line">
            <a:avLst/>
          </a:prstGeom>
          <a:ln w="3175">
            <a:solidFill>
              <a:schemeClr val="accent1">
                <a:lumMod val="50000"/>
                <a:alpha val="70000"/>
              </a:schemeClr>
            </a:solidFill>
          </a:ln>
        </p:spPr>
        <p:style>
          <a:lnRef idx="1">
            <a:schemeClr val="accent1"/>
          </a:lnRef>
          <a:fillRef idx="0">
            <a:schemeClr val="accent1"/>
          </a:fillRef>
          <a:effectRef idx="0">
            <a:schemeClr val="accent1"/>
          </a:effectRef>
          <a:fontRef idx="minor">
            <a:schemeClr val="tx1"/>
          </a:fontRef>
        </p:style>
      </p:cxnSp>
      <p:pic>
        <p:nvPicPr>
          <p:cNvPr id="35" name="Picture 34">
            <a:extLst>
              <a:ext uri="{FF2B5EF4-FFF2-40B4-BE49-F238E27FC236}">
                <a16:creationId xmlns:a16="http://schemas.microsoft.com/office/drawing/2014/main" id="{FAAF1839-3119-B9E9-C6AA-2D6DE24BA3EE}"/>
              </a:ext>
            </a:extLst>
          </p:cNvPr>
          <p:cNvPicPr>
            <a:picLocks noChangeAspect="1"/>
          </p:cNvPicPr>
          <p:nvPr/>
        </p:nvPicPr>
        <p:blipFill>
          <a:blip r:embed="rId5">
            <a:extLst>
              <a:ext uri="{BEBA8EAE-BF5A-486C-A8C5-ECC9F3942E4B}">
                <a14:imgProps xmlns:a14="http://schemas.microsoft.com/office/drawing/2010/main">
                  <a14:imgLayer r:embed="rId6">
                    <a14:imgEffect>
                      <a14:sharpenSoften amount="25000"/>
                    </a14:imgEffect>
                    <a14:imgEffect>
                      <a14:brightnessContrast contrast="-40000"/>
                    </a14:imgEffect>
                  </a14:imgLayer>
                </a14:imgProps>
              </a:ext>
            </a:extLst>
          </a:blip>
          <a:srcRect l="22593" t="33818" r="26296" b="42564"/>
          <a:stretch>
            <a:fillRect/>
          </a:stretch>
        </p:blipFill>
        <p:spPr>
          <a:xfrm>
            <a:off x="7123876" y="3559096"/>
            <a:ext cx="2525569" cy="778038"/>
          </a:xfrm>
          <a:prstGeom prst="rect">
            <a:avLst/>
          </a:prstGeom>
        </p:spPr>
      </p:pic>
      <p:pic>
        <p:nvPicPr>
          <p:cNvPr id="38" name="Picture 37">
            <a:extLst>
              <a:ext uri="{FF2B5EF4-FFF2-40B4-BE49-F238E27FC236}">
                <a16:creationId xmlns:a16="http://schemas.microsoft.com/office/drawing/2014/main" id="{A1F78CD9-3FE4-E223-BE6D-63188EFADE26}"/>
              </a:ext>
            </a:extLst>
          </p:cNvPr>
          <p:cNvPicPr>
            <a:picLocks noChangeAspect="1"/>
          </p:cNvPicPr>
          <p:nvPr/>
        </p:nvPicPr>
        <p:blipFill>
          <a:blip r:embed="rId7"/>
          <a:srcRect l="17222" t="33069" r="27186" b="41346"/>
          <a:stretch>
            <a:fillRect/>
          </a:stretch>
        </p:blipFill>
        <p:spPr>
          <a:xfrm>
            <a:off x="7123876" y="2107127"/>
            <a:ext cx="2527200" cy="775393"/>
          </a:xfrm>
          <a:prstGeom prst="rect">
            <a:avLst/>
          </a:prstGeom>
        </p:spPr>
      </p:pic>
      <p:cxnSp>
        <p:nvCxnSpPr>
          <p:cNvPr id="40" name="Straight Connector 39">
            <a:extLst>
              <a:ext uri="{FF2B5EF4-FFF2-40B4-BE49-F238E27FC236}">
                <a16:creationId xmlns:a16="http://schemas.microsoft.com/office/drawing/2014/main" id="{A7774229-6931-4447-E3AE-398DC61001F6}"/>
              </a:ext>
            </a:extLst>
          </p:cNvPr>
          <p:cNvCxnSpPr>
            <a:cxnSpLocks/>
          </p:cNvCxnSpPr>
          <p:nvPr/>
        </p:nvCxnSpPr>
        <p:spPr>
          <a:xfrm>
            <a:off x="10176373" y="4844110"/>
            <a:ext cx="0" cy="792000"/>
          </a:xfrm>
          <a:prstGeom prst="line">
            <a:avLst/>
          </a:prstGeom>
          <a:ln w="3175">
            <a:solidFill>
              <a:schemeClr val="accent1">
                <a:lumMod val="50000"/>
                <a:alpha val="70000"/>
              </a:schemeClr>
            </a:solidFill>
          </a:ln>
        </p:spPr>
        <p:style>
          <a:lnRef idx="1">
            <a:schemeClr val="accent1"/>
          </a:lnRef>
          <a:fillRef idx="0">
            <a:schemeClr val="accent1"/>
          </a:fillRef>
          <a:effectRef idx="0">
            <a:schemeClr val="accent1"/>
          </a:effectRef>
          <a:fontRef idx="minor">
            <a:schemeClr val="tx1"/>
          </a:fontRef>
        </p:style>
      </p:cxnSp>
      <p:pic>
        <p:nvPicPr>
          <p:cNvPr id="41" name="Picture 40">
            <a:extLst>
              <a:ext uri="{FF2B5EF4-FFF2-40B4-BE49-F238E27FC236}">
                <a16:creationId xmlns:a16="http://schemas.microsoft.com/office/drawing/2014/main" id="{60405B8D-BA5D-C687-D765-6A932F07AD83}"/>
              </a:ext>
            </a:extLst>
          </p:cNvPr>
          <p:cNvPicPr>
            <a:picLocks noChangeAspect="1"/>
          </p:cNvPicPr>
          <p:nvPr/>
        </p:nvPicPr>
        <p:blipFill>
          <a:blip r:embed="rId8"/>
          <a:srcRect l="13027" t="27953" r="16204" b="38897"/>
          <a:stretch>
            <a:fillRect/>
          </a:stretch>
        </p:blipFill>
        <p:spPr>
          <a:xfrm>
            <a:off x="7123876" y="5013709"/>
            <a:ext cx="2527200" cy="789212"/>
          </a:xfrm>
          <a:prstGeom prst="rect">
            <a:avLst/>
          </a:prstGeom>
        </p:spPr>
      </p:pic>
      <p:sp>
        <p:nvSpPr>
          <p:cNvPr id="42" name="TextBox 41">
            <a:extLst>
              <a:ext uri="{FF2B5EF4-FFF2-40B4-BE49-F238E27FC236}">
                <a16:creationId xmlns:a16="http://schemas.microsoft.com/office/drawing/2014/main" id="{61629B20-4A93-5011-81FF-09AB10108B3F}"/>
              </a:ext>
            </a:extLst>
          </p:cNvPr>
          <p:cNvSpPr txBox="1"/>
          <p:nvPr/>
        </p:nvSpPr>
        <p:spPr>
          <a:xfrm>
            <a:off x="7123876" y="4538110"/>
            <a:ext cx="3973207" cy="369332"/>
          </a:xfrm>
          <a:prstGeom prst="rect">
            <a:avLst/>
          </a:prstGeom>
          <a:noFill/>
        </p:spPr>
        <p:txBody>
          <a:bodyPr wrap="square">
            <a:spAutoFit/>
          </a:bodyPr>
          <a:lstStyle>
            <a:defPPr>
              <a:defRPr lang="en-US"/>
            </a:defPPr>
            <a:lvl1pPr>
              <a:defRPr b="1">
                <a:solidFill>
                  <a:schemeClr val="accent1"/>
                </a:solidFill>
              </a:defRPr>
            </a:lvl1pPr>
          </a:lstStyle>
          <a:p>
            <a:r>
              <a:rPr lang="en-US" dirty="0">
                <a:solidFill>
                  <a:schemeClr val="accent4">
                    <a:lumMod val="50000"/>
                  </a:schemeClr>
                </a:solidFill>
              </a:rPr>
              <a:t>Administrative Intake Extract</a:t>
            </a:r>
            <a:endParaRPr lang="en-NL" dirty="0">
              <a:solidFill>
                <a:schemeClr val="accent4">
                  <a:lumMod val="50000"/>
                </a:schemeClr>
              </a:solidFill>
            </a:endParaRPr>
          </a:p>
        </p:txBody>
      </p:sp>
      <p:pic>
        <p:nvPicPr>
          <p:cNvPr id="43" name="Picture 2" descr="Branding guidelines – LOINC">
            <a:extLst>
              <a:ext uri="{FF2B5EF4-FFF2-40B4-BE49-F238E27FC236}">
                <a16:creationId xmlns:a16="http://schemas.microsoft.com/office/drawing/2014/main" id="{BF086649-7170-8EDD-FEB3-F65F788A956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445054" y="4851091"/>
            <a:ext cx="778038" cy="77803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1C92F7EB-CB5A-2FBE-DEB2-B0511681B183}"/>
              </a:ext>
            </a:extLst>
          </p:cNvPr>
          <p:cNvSpPr>
            <a:spLocks noGrp="1"/>
          </p:cNvSpPr>
          <p:nvPr>
            <p:ph type="title"/>
          </p:nvPr>
        </p:nvSpPr>
        <p:spPr/>
        <p:txBody>
          <a:bodyPr/>
          <a:lstStyle/>
          <a:p>
            <a:r>
              <a:rPr lang="en-US" sz="3600" dirty="0"/>
              <a:t>Labels and their Meanings</a:t>
            </a:r>
            <a:endParaRPr lang="en-NL" sz="4400" dirty="0"/>
          </a:p>
        </p:txBody>
      </p:sp>
      <p:sp>
        <p:nvSpPr>
          <p:cNvPr id="4" name="Slide Number Placeholder 3">
            <a:extLst>
              <a:ext uri="{FF2B5EF4-FFF2-40B4-BE49-F238E27FC236}">
                <a16:creationId xmlns:a16="http://schemas.microsoft.com/office/drawing/2014/main" id="{CE87C7A2-350F-EE6A-0259-FA9FFD8ABC78}"/>
              </a:ext>
            </a:extLst>
          </p:cNvPr>
          <p:cNvSpPr>
            <a:spLocks noGrp="1"/>
          </p:cNvSpPr>
          <p:nvPr>
            <p:ph type="sldNum" sz="quarter" idx="12"/>
          </p:nvPr>
        </p:nvSpPr>
        <p:spPr/>
        <p:txBody>
          <a:bodyPr/>
          <a:lstStyle/>
          <a:p>
            <a:fld id="{4FAB73BC-B049-4115-A692-8D63A059BFB8}" type="slidenum">
              <a:rPr lang="en-US" smtClean="0"/>
              <a:pPr/>
              <a:t>6</a:t>
            </a:fld>
            <a:endParaRPr lang="en-US" dirty="0"/>
          </a:p>
        </p:txBody>
      </p:sp>
      <p:sp>
        <p:nvSpPr>
          <p:cNvPr id="36" name="Rectangle 35">
            <a:extLst>
              <a:ext uri="{FF2B5EF4-FFF2-40B4-BE49-F238E27FC236}">
                <a16:creationId xmlns:a16="http://schemas.microsoft.com/office/drawing/2014/main" id="{38FB5A56-A1E0-4BFD-BAB9-BD8D66BA1C60}"/>
              </a:ext>
            </a:extLst>
          </p:cNvPr>
          <p:cNvSpPr/>
          <p:nvPr/>
        </p:nvSpPr>
        <p:spPr>
          <a:xfrm>
            <a:off x="2328215" y="2042331"/>
            <a:ext cx="1709781" cy="291294"/>
          </a:xfrm>
          <a:prstGeom prst="rect">
            <a:avLst/>
          </a:prstGeom>
          <a:solidFill>
            <a:srgbClr val="FF0000">
              <a:alpha val="5000"/>
            </a:srgbClr>
          </a:solidFill>
          <a:ln w="38100">
            <a:solidFill>
              <a:srgbClr val="FF000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7" name="Rectangle 36">
            <a:extLst>
              <a:ext uri="{FF2B5EF4-FFF2-40B4-BE49-F238E27FC236}">
                <a16:creationId xmlns:a16="http://schemas.microsoft.com/office/drawing/2014/main" id="{72E1B89E-77CD-8DDD-51F6-081715F148D4}"/>
              </a:ext>
            </a:extLst>
          </p:cNvPr>
          <p:cNvSpPr/>
          <p:nvPr/>
        </p:nvSpPr>
        <p:spPr>
          <a:xfrm>
            <a:off x="2328215" y="3489897"/>
            <a:ext cx="1709781" cy="291294"/>
          </a:xfrm>
          <a:prstGeom prst="rect">
            <a:avLst/>
          </a:prstGeom>
          <a:solidFill>
            <a:srgbClr val="FF0000">
              <a:alpha val="5000"/>
            </a:srgbClr>
          </a:solidFill>
          <a:ln w="38100">
            <a:solidFill>
              <a:srgbClr val="FF000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9" name="Connector: Elbow 38">
            <a:extLst>
              <a:ext uri="{FF2B5EF4-FFF2-40B4-BE49-F238E27FC236}">
                <a16:creationId xmlns:a16="http://schemas.microsoft.com/office/drawing/2014/main" id="{0FF369D7-DBD9-6108-C906-985C7F42613D}"/>
              </a:ext>
            </a:extLst>
          </p:cNvPr>
          <p:cNvCxnSpPr>
            <a:cxnSpLocks/>
            <a:stCxn id="36" idx="3"/>
            <a:endCxn id="37" idx="3"/>
          </p:cNvCxnSpPr>
          <p:nvPr/>
        </p:nvCxnSpPr>
        <p:spPr>
          <a:xfrm>
            <a:off x="4037996" y="2187978"/>
            <a:ext cx="12700" cy="1447566"/>
          </a:xfrm>
          <a:prstGeom prst="bentConnector3">
            <a:avLst>
              <a:gd name="adj1" fmla="val 3900000"/>
            </a:avLst>
          </a:prstGeom>
          <a:ln w="34925">
            <a:solidFill>
              <a:srgbClr val="FF0000"/>
            </a:solidFill>
            <a:headEnd type="triangle"/>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50" name="Rectangle 49">
            <a:extLst>
              <a:ext uri="{FF2B5EF4-FFF2-40B4-BE49-F238E27FC236}">
                <a16:creationId xmlns:a16="http://schemas.microsoft.com/office/drawing/2014/main" id="{14625DED-925B-EB3E-6D52-A6CF28D1A34C}"/>
              </a:ext>
            </a:extLst>
          </p:cNvPr>
          <p:cNvSpPr/>
          <p:nvPr/>
        </p:nvSpPr>
        <p:spPr>
          <a:xfrm>
            <a:off x="2321865" y="5264509"/>
            <a:ext cx="1709781" cy="291294"/>
          </a:xfrm>
          <a:prstGeom prst="rect">
            <a:avLst/>
          </a:prstGeom>
          <a:solidFill>
            <a:srgbClr val="FF0000">
              <a:alpha val="5000"/>
            </a:srgbClr>
          </a:solidFill>
          <a:ln w="38100">
            <a:solidFill>
              <a:srgbClr val="FF000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1" name="Rectangle 50">
            <a:extLst>
              <a:ext uri="{FF2B5EF4-FFF2-40B4-BE49-F238E27FC236}">
                <a16:creationId xmlns:a16="http://schemas.microsoft.com/office/drawing/2014/main" id="{5CF400F0-38B4-1629-313F-DF171482EB7D}"/>
              </a:ext>
            </a:extLst>
          </p:cNvPr>
          <p:cNvSpPr/>
          <p:nvPr/>
        </p:nvSpPr>
        <p:spPr>
          <a:xfrm>
            <a:off x="2328215" y="3803804"/>
            <a:ext cx="1709781" cy="291294"/>
          </a:xfrm>
          <a:prstGeom prst="rect">
            <a:avLst/>
          </a:prstGeom>
          <a:solidFill>
            <a:srgbClr val="FF0000">
              <a:alpha val="5000"/>
            </a:srgbClr>
          </a:solidFill>
          <a:ln w="38100">
            <a:solidFill>
              <a:srgbClr val="FF000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6" name="Callout: Line 55">
            <a:extLst>
              <a:ext uri="{FF2B5EF4-FFF2-40B4-BE49-F238E27FC236}">
                <a16:creationId xmlns:a16="http://schemas.microsoft.com/office/drawing/2014/main" id="{671D03B1-26D0-E0D2-9229-EBFD656B1B45}"/>
              </a:ext>
            </a:extLst>
          </p:cNvPr>
          <p:cNvSpPr/>
          <p:nvPr/>
        </p:nvSpPr>
        <p:spPr>
          <a:xfrm>
            <a:off x="5711051" y="1729014"/>
            <a:ext cx="3028728" cy="1122228"/>
          </a:xfrm>
          <a:prstGeom prst="borderCallout1">
            <a:avLst>
              <a:gd name="adj1" fmla="val 18750"/>
              <a:gd name="adj2" fmla="val -8333"/>
              <a:gd name="adj3" fmla="val 98920"/>
              <a:gd name="adj4" fmla="val -36052"/>
            </a:avLst>
          </a:prstGeom>
          <a:solidFill>
            <a:srgbClr val="FF0000"/>
          </a:solidFill>
          <a:ln>
            <a:solidFill>
              <a:srgbClr val="C0000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Same term. Do they share the same meaning?</a:t>
            </a:r>
          </a:p>
        </p:txBody>
      </p:sp>
      <p:cxnSp>
        <p:nvCxnSpPr>
          <p:cNvPr id="57" name="Connector: Elbow 56">
            <a:extLst>
              <a:ext uri="{FF2B5EF4-FFF2-40B4-BE49-F238E27FC236}">
                <a16:creationId xmlns:a16="http://schemas.microsoft.com/office/drawing/2014/main" id="{17EFFAE5-285A-075D-8B17-3FE36B75669B}"/>
              </a:ext>
            </a:extLst>
          </p:cNvPr>
          <p:cNvCxnSpPr>
            <a:cxnSpLocks/>
          </p:cNvCxnSpPr>
          <p:nvPr/>
        </p:nvCxnSpPr>
        <p:spPr>
          <a:xfrm>
            <a:off x="4037996" y="3968501"/>
            <a:ext cx="12700" cy="1476141"/>
          </a:xfrm>
          <a:prstGeom prst="bentConnector3">
            <a:avLst>
              <a:gd name="adj1" fmla="val 3975000"/>
            </a:avLst>
          </a:prstGeom>
          <a:ln w="34925">
            <a:solidFill>
              <a:srgbClr val="FF0000"/>
            </a:solidFill>
            <a:headEnd type="triangle"/>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59" name="Callout: Line 58">
            <a:extLst>
              <a:ext uri="{FF2B5EF4-FFF2-40B4-BE49-F238E27FC236}">
                <a16:creationId xmlns:a16="http://schemas.microsoft.com/office/drawing/2014/main" id="{ED188BBD-20AA-AA7E-5D46-E9B544DF8BF7}"/>
              </a:ext>
            </a:extLst>
          </p:cNvPr>
          <p:cNvSpPr/>
          <p:nvPr/>
        </p:nvSpPr>
        <p:spPr>
          <a:xfrm>
            <a:off x="5711051" y="3227676"/>
            <a:ext cx="3028728" cy="1122228"/>
          </a:xfrm>
          <a:prstGeom prst="borderCallout1">
            <a:avLst>
              <a:gd name="adj1" fmla="val 18750"/>
              <a:gd name="adj2" fmla="val -8333"/>
              <a:gd name="adj3" fmla="val 98920"/>
              <a:gd name="adj4" fmla="val -36052"/>
            </a:avLst>
          </a:prstGeom>
          <a:solidFill>
            <a:srgbClr val="FF0000"/>
          </a:solidFill>
          <a:ln>
            <a:solidFill>
              <a:srgbClr val="C0000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What is the difference between ‘man’ and ‘male’?</a:t>
            </a:r>
          </a:p>
        </p:txBody>
      </p:sp>
      <p:sp>
        <p:nvSpPr>
          <p:cNvPr id="6" name="TextBox 5">
            <a:extLst>
              <a:ext uri="{FF2B5EF4-FFF2-40B4-BE49-F238E27FC236}">
                <a16:creationId xmlns:a16="http://schemas.microsoft.com/office/drawing/2014/main" id="{C076A5A7-8C23-D433-56E1-DE9384E2C9BA}"/>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a:t>
            </a:r>
            <a:r>
              <a:rPr lang="en-US" sz="1200" b="1" cap="small" spc="100" dirty="0">
                <a:solidFill>
                  <a:srgbClr val="000000">
                    <a:lumMod val="95000"/>
                    <a:lumOff val="5000"/>
                  </a:srgbClr>
                </a:solidFill>
                <a:latin typeface="Aptos" panose="020B0004020202020204" pitchFamily="34" charset="0"/>
                <a:ea typeface="+mj-ea"/>
                <a:cs typeface="+mj-cs"/>
              </a:rPr>
              <a:t>1</a:t>
            </a:r>
            <a:endParaRPr lang="en-NL" sz="1000" b="1" dirty="0"/>
          </a:p>
        </p:txBody>
      </p:sp>
    </p:spTree>
    <p:extLst>
      <p:ext uri="{BB962C8B-B14F-4D97-AF65-F5344CB8AC3E}">
        <p14:creationId xmlns:p14="http://schemas.microsoft.com/office/powerpoint/2010/main" val="20982348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552CC3-F334-CF23-21AC-0552553382E7}"/>
              </a:ext>
            </a:extLst>
          </p:cNvPr>
          <p:cNvSpPr>
            <a:spLocks noGrp="1"/>
          </p:cNvSpPr>
          <p:nvPr>
            <p:ph type="title"/>
          </p:nvPr>
        </p:nvSpPr>
        <p:spPr/>
        <p:txBody>
          <a:bodyPr/>
          <a:lstStyle/>
          <a:p>
            <a:r>
              <a:rPr lang="en-US" sz="3600" dirty="0"/>
              <a:t>Similar Labels Can Mislead Reuse</a:t>
            </a:r>
            <a:endParaRPr lang="en-NL" sz="4400" dirty="0"/>
          </a:p>
        </p:txBody>
      </p:sp>
      <p:graphicFrame>
        <p:nvGraphicFramePr>
          <p:cNvPr id="5" name="Content Placeholder 4">
            <a:extLst>
              <a:ext uri="{FF2B5EF4-FFF2-40B4-BE49-F238E27FC236}">
                <a16:creationId xmlns:a16="http://schemas.microsoft.com/office/drawing/2014/main" id="{AF1132C1-D34D-BF57-A9CB-16DC4B879DD6}"/>
              </a:ext>
            </a:extLst>
          </p:cNvPr>
          <p:cNvGraphicFramePr>
            <a:graphicFrameLocks noGrp="1"/>
          </p:cNvGraphicFramePr>
          <p:nvPr>
            <p:ph idx="1"/>
          </p:nvPr>
        </p:nvGraphicFramePr>
        <p:xfrm>
          <a:off x="695325" y="1628775"/>
          <a:ext cx="10801350" cy="43211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a:extLst>
              <a:ext uri="{FF2B5EF4-FFF2-40B4-BE49-F238E27FC236}">
                <a16:creationId xmlns:a16="http://schemas.microsoft.com/office/drawing/2014/main" id="{2EFE1183-5E9B-2178-7122-3D20FB3A9CB0}"/>
              </a:ext>
            </a:extLst>
          </p:cNvPr>
          <p:cNvSpPr>
            <a:spLocks noGrp="1"/>
          </p:cNvSpPr>
          <p:nvPr>
            <p:ph type="sldNum" sz="quarter" idx="12"/>
          </p:nvPr>
        </p:nvSpPr>
        <p:spPr/>
        <p:txBody>
          <a:bodyPr/>
          <a:lstStyle/>
          <a:p>
            <a:fld id="{4FAB73BC-B049-4115-A692-8D63A059BFB8}" type="slidenum">
              <a:rPr lang="en-US" smtClean="0"/>
              <a:pPr/>
              <a:t>7</a:t>
            </a:fld>
            <a:endParaRPr lang="en-US" dirty="0"/>
          </a:p>
        </p:txBody>
      </p:sp>
      <p:sp>
        <p:nvSpPr>
          <p:cNvPr id="7" name="TextBox 6">
            <a:extLst>
              <a:ext uri="{FF2B5EF4-FFF2-40B4-BE49-F238E27FC236}">
                <a16:creationId xmlns:a16="http://schemas.microsoft.com/office/drawing/2014/main" id="{5AFE7EA2-5769-2A60-0820-A32E89DFB134}"/>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a:t>
            </a:r>
            <a:r>
              <a:rPr lang="en-US" sz="1200" b="1" cap="small" spc="100" dirty="0">
                <a:solidFill>
                  <a:srgbClr val="000000">
                    <a:lumMod val="95000"/>
                    <a:lumOff val="5000"/>
                  </a:srgbClr>
                </a:solidFill>
                <a:latin typeface="Aptos" panose="020B0004020202020204" pitchFamily="34" charset="0"/>
                <a:ea typeface="+mj-ea"/>
                <a:cs typeface="+mj-cs"/>
              </a:rPr>
              <a:t>1</a:t>
            </a:r>
            <a:endParaRPr lang="en-NL" sz="1000" b="1" dirty="0"/>
          </a:p>
        </p:txBody>
      </p:sp>
    </p:spTree>
    <p:extLst>
      <p:ext uri="{BB962C8B-B14F-4D97-AF65-F5344CB8AC3E}">
        <p14:creationId xmlns:p14="http://schemas.microsoft.com/office/powerpoint/2010/main" val="28599056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AD414-EDDE-777B-F65F-A66015B149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D2E82F-E180-3906-7D51-DE5AB9E3B465}"/>
              </a:ext>
            </a:extLst>
          </p:cNvPr>
          <p:cNvSpPr>
            <a:spLocks noGrp="1"/>
          </p:cNvSpPr>
          <p:nvPr>
            <p:ph type="title"/>
          </p:nvPr>
        </p:nvSpPr>
        <p:spPr/>
        <p:txBody>
          <a:bodyPr/>
          <a:lstStyle/>
          <a:p>
            <a:r>
              <a:rPr lang="en-US" sz="3600" dirty="0"/>
              <a:t>Similar Labels Can Mislead Reuse</a:t>
            </a:r>
            <a:endParaRPr lang="en-NL" sz="4400" dirty="0"/>
          </a:p>
        </p:txBody>
      </p:sp>
      <p:graphicFrame>
        <p:nvGraphicFramePr>
          <p:cNvPr id="5" name="Content Placeholder 4">
            <a:extLst>
              <a:ext uri="{FF2B5EF4-FFF2-40B4-BE49-F238E27FC236}">
                <a16:creationId xmlns:a16="http://schemas.microsoft.com/office/drawing/2014/main" id="{544EA196-A6B9-FA08-3EDD-FA7DF441D674}"/>
              </a:ext>
            </a:extLst>
          </p:cNvPr>
          <p:cNvGraphicFramePr>
            <a:graphicFrameLocks noGrp="1"/>
          </p:cNvGraphicFramePr>
          <p:nvPr>
            <p:ph idx="1"/>
          </p:nvPr>
        </p:nvGraphicFramePr>
        <p:xfrm>
          <a:off x="695324" y="1628775"/>
          <a:ext cx="3653391" cy="43211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a:extLst>
              <a:ext uri="{FF2B5EF4-FFF2-40B4-BE49-F238E27FC236}">
                <a16:creationId xmlns:a16="http://schemas.microsoft.com/office/drawing/2014/main" id="{97569198-F3EA-D298-1F61-4D5DEC0873F4}"/>
              </a:ext>
            </a:extLst>
          </p:cNvPr>
          <p:cNvSpPr>
            <a:spLocks noGrp="1"/>
          </p:cNvSpPr>
          <p:nvPr>
            <p:ph type="sldNum" sz="quarter" idx="12"/>
          </p:nvPr>
        </p:nvSpPr>
        <p:spPr/>
        <p:txBody>
          <a:bodyPr/>
          <a:lstStyle/>
          <a:p>
            <a:fld id="{4FAB73BC-B049-4115-A692-8D63A059BFB8}" type="slidenum">
              <a:rPr lang="en-US" smtClean="0"/>
              <a:pPr/>
              <a:t>8</a:t>
            </a:fld>
            <a:endParaRPr lang="en-US" dirty="0"/>
          </a:p>
        </p:txBody>
      </p:sp>
      <p:sp>
        <p:nvSpPr>
          <p:cNvPr id="7" name="TextBox 6">
            <a:extLst>
              <a:ext uri="{FF2B5EF4-FFF2-40B4-BE49-F238E27FC236}">
                <a16:creationId xmlns:a16="http://schemas.microsoft.com/office/drawing/2014/main" id="{06464A64-3E8F-331E-907C-12C3FDF7C17B}"/>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a:t>
            </a:r>
            <a:r>
              <a:rPr lang="en-US" sz="1200" b="1" cap="small" spc="100" dirty="0">
                <a:solidFill>
                  <a:srgbClr val="000000">
                    <a:lumMod val="95000"/>
                    <a:lumOff val="5000"/>
                  </a:srgbClr>
                </a:solidFill>
                <a:latin typeface="Aptos" panose="020B0004020202020204" pitchFamily="34" charset="0"/>
                <a:ea typeface="+mj-ea"/>
                <a:cs typeface="+mj-cs"/>
              </a:rPr>
              <a:t>1</a:t>
            </a:r>
            <a:endParaRPr lang="en-NL" sz="1000" b="1" dirty="0"/>
          </a:p>
        </p:txBody>
      </p:sp>
      <p:grpSp>
        <p:nvGrpSpPr>
          <p:cNvPr id="23" name="Group 22">
            <a:extLst>
              <a:ext uri="{FF2B5EF4-FFF2-40B4-BE49-F238E27FC236}">
                <a16:creationId xmlns:a16="http://schemas.microsoft.com/office/drawing/2014/main" id="{C1CE0899-AFFF-D095-D9EB-8C2CF8249943}"/>
              </a:ext>
            </a:extLst>
          </p:cNvPr>
          <p:cNvGrpSpPr/>
          <p:nvPr/>
        </p:nvGrpSpPr>
        <p:grpSpPr>
          <a:xfrm>
            <a:off x="4518836" y="4578950"/>
            <a:ext cx="6977838" cy="1370979"/>
            <a:chOff x="4518836" y="4568317"/>
            <a:chExt cx="6977838" cy="1370979"/>
          </a:xfrm>
        </p:grpSpPr>
        <p:sp>
          <p:nvSpPr>
            <p:cNvPr id="10" name="Rectangle 9">
              <a:extLst>
                <a:ext uri="{FF2B5EF4-FFF2-40B4-BE49-F238E27FC236}">
                  <a16:creationId xmlns:a16="http://schemas.microsoft.com/office/drawing/2014/main" id="{172507A9-3608-2FEC-9809-59919B1C420E}"/>
                </a:ext>
              </a:extLst>
            </p:cNvPr>
            <p:cNvSpPr/>
            <p:nvPr/>
          </p:nvSpPr>
          <p:spPr>
            <a:xfrm>
              <a:off x="4518837" y="4568317"/>
              <a:ext cx="6977837" cy="720000"/>
            </a:xfrm>
            <a:prstGeom prst="rect">
              <a:avLst/>
            </a:prstGeom>
            <a:ln>
              <a:noFill/>
            </a:ln>
            <a:effectLst/>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92456" tIns="92456" rIns="92456" bIns="93600" numCol="1" spcCol="1270" anchor="ctr" anchorCtr="0">
              <a:noAutofit/>
            </a:bodyPr>
            <a:lstStyle/>
            <a:p>
              <a:pPr marL="0" lvl="0" indent="0" algn="ctr" defTabSz="577850">
                <a:lnSpc>
                  <a:spcPct val="90000"/>
                </a:lnSpc>
                <a:spcBef>
                  <a:spcPct val="0"/>
                </a:spcBef>
                <a:spcAft>
                  <a:spcPct val="35000"/>
                </a:spcAft>
                <a:buNone/>
              </a:pPr>
              <a:r>
                <a:rPr lang="en-US" sz="1600" kern="1200" dirty="0"/>
                <a:t>Identify patients with female gender for a study about social gender identity.</a:t>
              </a:r>
              <a:endParaRPr lang="en-NL" sz="1600" kern="1200" dirty="0"/>
            </a:p>
          </p:txBody>
        </p:sp>
        <p:sp>
          <p:nvSpPr>
            <p:cNvPr id="11" name="Freeform: Shape 10">
              <a:extLst>
                <a:ext uri="{FF2B5EF4-FFF2-40B4-BE49-F238E27FC236}">
                  <a16:creationId xmlns:a16="http://schemas.microsoft.com/office/drawing/2014/main" id="{7703EF05-6A97-14D2-CD0A-17370F5EE805}"/>
                </a:ext>
              </a:extLst>
            </p:cNvPr>
            <p:cNvSpPr/>
            <p:nvPr/>
          </p:nvSpPr>
          <p:spPr>
            <a:xfrm>
              <a:off x="4518836" y="5298496"/>
              <a:ext cx="3211032" cy="640800"/>
            </a:xfrm>
            <a:custGeom>
              <a:avLst/>
              <a:gdLst>
                <a:gd name="csX0" fmla="*/ 0 w 3488918"/>
                <a:gd name="csY0" fmla="*/ 0 h 491111"/>
                <a:gd name="csX1" fmla="*/ 3488918 w 3488918"/>
                <a:gd name="csY1" fmla="*/ 0 h 491111"/>
                <a:gd name="csX2" fmla="*/ 3488918 w 3488918"/>
                <a:gd name="csY2" fmla="*/ 491111 h 491111"/>
                <a:gd name="csX3" fmla="*/ 0 w 3488918"/>
                <a:gd name="csY3" fmla="*/ 491111 h 491111"/>
                <a:gd name="csX4" fmla="*/ 0 w 3488918"/>
                <a:gd name="csY4" fmla="*/ 0 h 491111"/>
              </a:gdLst>
              <a:ahLst/>
              <a:cxnLst>
                <a:cxn ang="0">
                  <a:pos x="csX0" y="csY0"/>
                </a:cxn>
                <a:cxn ang="0">
                  <a:pos x="csX1" y="csY1"/>
                </a:cxn>
                <a:cxn ang="0">
                  <a:pos x="csX2" y="csY2"/>
                </a:cxn>
                <a:cxn ang="0">
                  <a:pos x="csX3" y="csY3"/>
                </a:cxn>
                <a:cxn ang="0">
                  <a:pos x="csX4" y="csY4"/>
                </a:cxn>
              </a:cxnLst>
              <a:rect l="l" t="t" r="r" b="b"/>
              <a:pathLst>
                <a:path w="3488918" h="491111">
                  <a:moveTo>
                    <a:pt x="0" y="0"/>
                  </a:moveTo>
                  <a:lnTo>
                    <a:pt x="3488918" y="0"/>
                  </a:lnTo>
                  <a:lnTo>
                    <a:pt x="3488918" y="491111"/>
                  </a:lnTo>
                  <a:lnTo>
                    <a:pt x="0" y="491111"/>
                  </a:lnTo>
                  <a:lnTo>
                    <a:pt x="0" y="0"/>
                  </a:lnTo>
                  <a:close/>
                </a:path>
              </a:pathLst>
            </a:custGeom>
            <a:ln>
              <a:noFill/>
            </a:ln>
            <a:effectLst/>
          </p:spPr>
          <p:style>
            <a:lnRef idx="2">
              <a:schemeClr val="accent4">
                <a:tint val="40000"/>
                <a:alpha val="90000"/>
                <a:hueOff val="0"/>
                <a:satOff val="0"/>
                <a:lumOff val="0"/>
                <a:alphaOff val="0"/>
              </a:schemeClr>
            </a:lnRef>
            <a:fillRef idx="1">
              <a:schemeClr val="accent4">
                <a:tint val="40000"/>
                <a:alpha val="90000"/>
                <a:hueOff val="0"/>
                <a:satOff val="0"/>
                <a:lumOff val="0"/>
                <a:alphaOff val="0"/>
              </a:schemeClr>
            </a:fillRef>
            <a:effectRef idx="0">
              <a:schemeClr val="accent4">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78232" tIns="13970" rIns="78232" bIns="13970" numCol="1" spcCol="1270" anchor="ctr" anchorCtr="0">
              <a:noAutofit/>
            </a:bodyPr>
            <a:lstStyle/>
            <a:p>
              <a:pPr marL="0" lvl="0" indent="0" defTabSz="488950">
                <a:lnSpc>
                  <a:spcPct val="90000"/>
                </a:lnSpc>
                <a:spcBef>
                  <a:spcPct val="0"/>
                </a:spcBef>
                <a:spcAft>
                  <a:spcPct val="35000"/>
                </a:spcAft>
                <a:buNone/>
              </a:pPr>
              <a:r>
                <a:rPr lang="en-US" sz="1400" kern="1200" dirty="0"/>
                <a:t>Retrieve patients where Sex = Female.</a:t>
              </a:r>
              <a:endParaRPr lang="en-NL" sz="1400" kern="1200" dirty="0"/>
            </a:p>
          </p:txBody>
        </p:sp>
        <p:sp>
          <p:nvSpPr>
            <p:cNvPr id="12" name="Freeform: Shape 11">
              <a:extLst>
                <a:ext uri="{FF2B5EF4-FFF2-40B4-BE49-F238E27FC236}">
                  <a16:creationId xmlns:a16="http://schemas.microsoft.com/office/drawing/2014/main" id="{36CDA080-C0A8-E3F8-D5D3-D43A79020D06}"/>
                </a:ext>
              </a:extLst>
            </p:cNvPr>
            <p:cNvSpPr/>
            <p:nvPr/>
          </p:nvSpPr>
          <p:spPr>
            <a:xfrm>
              <a:off x="7729868" y="5298496"/>
              <a:ext cx="3766804" cy="640800"/>
            </a:xfrm>
            <a:custGeom>
              <a:avLst/>
              <a:gdLst>
                <a:gd name="csX0" fmla="*/ 0 w 3488918"/>
                <a:gd name="csY0" fmla="*/ 0 h 491111"/>
                <a:gd name="csX1" fmla="*/ 3488918 w 3488918"/>
                <a:gd name="csY1" fmla="*/ 0 h 491111"/>
                <a:gd name="csX2" fmla="*/ 3488918 w 3488918"/>
                <a:gd name="csY2" fmla="*/ 491111 h 491111"/>
                <a:gd name="csX3" fmla="*/ 0 w 3488918"/>
                <a:gd name="csY3" fmla="*/ 491111 h 491111"/>
                <a:gd name="csX4" fmla="*/ 0 w 3488918"/>
                <a:gd name="csY4" fmla="*/ 0 h 491111"/>
              </a:gdLst>
              <a:ahLst/>
              <a:cxnLst>
                <a:cxn ang="0">
                  <a:pos x="csX0" y="csY0"/>
                </a:cxn>
                <a:cxn ang="0">
                  <a:pos x="csX1" y="csY1"/>
                </a:cxn>
                <a:cxn ang="0">
                  <a:pos x="csX2" y="csY2"/>
                </a:cxn>
                <a:cxn ang="0">
                  <a:pos x="csX3" y="csY3"/>
                </a:cxn>
                <a:cxn ang="0">
                  <a:pos x="csX4" y="csY4"/>
                </a:cxn>
              </a:cxnLst>
              <a:rect l="l" t="t" r="r" b="b"/>
              <a:pathLst>
                <a:path w="3488918" h="491111">
                  <a:moveTo>
                    <a:pt x="0" y="0"/>
                  </a:moveTo>
                  <a:lnTo>
                    <a:pt x="3488918" y="0"/>
                  </a:lnTo>
                  <a:lnTo>
                    <a:pt x="3488918" y="491111"/>
                  </a:lnTo>
                  <a:lnTo>
                    <a:pt x="0" y="491111"/>
                  </a:lnTo>
                  <a:lnTo>
                    <a:pt x="0" y="0"/>
                  </a:lnTo>
                  <a:close/>
                </a:path>
              </a:pathLst>
            </a:custGeom>
            <a:solidFill>
              <a:schemeClr val="accent4">
                <a:tint val="40000"/>
                <a:hueOff val="-1459126"/>
                <a:satOff val="9968"/>
                <a:lumOff val="1493"/>
                <a:alpha val="95000"/>
              </a:schemeClr>
            </a:solidFill>
            <a:ln>
              <a:noFill/>
            </a:ln>
            <a:effectLst/>
          </p:spPr>
          <p:style>
            <a:lnRef idx="2">
              <a:schemeClr val="accent4">
                <a:tint val="40000"/>
                <a:alpha val="90000"/>
                <a:hueOff val="-1459126"/>
                <a:satOff val="9968"/>
                <a:lumOff val="1493"/>
                <a:alphaOff val="0"/>
              </a:schemeClr>
            </a:lnRef>
            <a:fillRef idx="1">
              <a:schemeClr val="accent4">
                <a:tint val="40000"/>
                <a:alpha val="90000"/>
                <a:hueOff val="-1459126"/>
                <a:satOff val="9968"/>
                <a:lumOff val="1493"/>
                <a:alphaOff val="0"/>
              </a:schemeClr>
            </a:fillRef>
            <a:effectRef idx="0">
              <a:schemeClr val="accent4">
                <a:tint val="40000"/>
                <a:alpha val="90000"/>
                <a:hueOff val="-1459126"/>
                <a:satOff val="9968"/>
                <a:lumOff val="1493"/>
                <a:alphaOff val="0"/>
              </a:schemeClr>
            </a:effectRef>
            <a:fontRef idx="minor">
              <a:schemeClr val="dk1">
                <a:hueOff val="0"/>
                <a:satOff val="0"/>
                <a:lumOff val="0"/>
                <a:alphaOff val="0"/>
              </a:schemeClr>
            </a:fontRef>
          </p:style>
          <p:txBody>
            <a:bodyPr spcFirstLastPara="0" vert="horz" wrap="square" lIns="78232" tIns="13970" rIns="78232" bIns="13970" numCol="1" spcCol="1270" anchor="ctr" anchorCtr="0">
              <a:noAutofit/>
            </a:bodyPr>
            <a:lstStyle/>
            <a:p>
              <a:pPr marL="0" lvl="0" indent="0" defTabSz="488950">
                <a:lnSpc>
                  <a:spcPct val="90000"/>
                </a:lnSpc>
                <a:spcBef>
                  <a:spcPct val="0"/>
                </a:spcBef>
                <a:spcAft>
                  <a:spcPct val="35000"/>
                </a:spcAft>
                <a:buNone/>
              </a:pPr>
              <a:r>
                <a:rPr lang="en-US" sz="1200" kern="1200" dirty="0"/>
                <a:t>Returns Patient-003 only, incorrectly missing Patient-002, whose gender is female.</a:t>
              </a:r>
              <a:endParaRPr lang="en-NL" sz="1200" kern="1200" dirty="0"/>
            </a:p>
          </p:txBody>
        </p:sp>
      </p:grpSp>
      <p:grpSp>
        <p:nvGrpSpPr>
          <p:cNvPr id="24" name="Group 23">
            <a:extLst>
              <a:ext uri="{FF2B5EF4-FFF2-40B4-BE49-F238E27FC236}">
                <a16:creationId xmlns:a16="http://schemas.microsoft.com/office/drawing/2014/main" id="{F81B5771-8565-F87D-304F-7AC8FD89139B}"/>
              </a:ext>
            </a:extLst>
          </p:cNvPr>
          <p:cNvGrpSpPr/>
          <p:nvPr/>
        </p:nvGrpSpPr>
        <p:grpSpPr>
          <a:xfrm>
            <a:off x="4518837" y="3106117"/>
            <a:ext cx="6977837" cy="1374973"/>
            <a:chOff x="4518837" y="3100801"/>
            <a:chExt cx="6977837" cy="1374973"/>
          </a:xfrm>
        </p:grpSpPr>
        <p:sp>
          <p:nvSpPr>
            <p:cNvPr id="13" name="Rectangle 12">
              <a:extLst>
                <a:ext uri="{FF2B5EF4-FFF2-40B4-BE49-F238E27FC236}">
                  <a16:creationId xmlns:a16="http://schemas.microsoft.com/office/drawing/2014/main" id="{3C38AF87-2942-398A-B322-8A48769D4D51}"/>
                </a:ext>
              </a:extLst>
            </p:cNvPr>
            <p:cNvSpPr/>
            <p:nvPr/>
          </p:nvSpPr>
          <p:spPr>
            <a:xfrm>
              <a:off x="4518837" y="3100801"/>
              <a:ext cx="6977837" cy="720000"/>
            </a:xfrm>
            <a:prstGeom prst="rect">
              <a:avLst/>
            </a:prstGeom>
            <a:ln>
              <a:noFill/>
            </a:ln>
            <a:effectLst/>
          </p:spPr>
          <p:style>
            <a:lnRef idx="2">
              <a:schemeClr val="lt1">
                <a:hueOff val="0"/>
                <a:satOff val="0"/>
                <a:lumOff val="0"/>
                <a:alphaOff val="0"/>
              </a:schemeClr>
            </a:lnRef>
            <a:fillRef idx="1">
              <a:schemeClr val="accent4">
                <a:hueOff val="-3691232"/>
                <a:satOff val="11237"/>
                <a:lumOff val="16961"/>
                <a:alphaOff val="0"/>
              </a:schemeClr>
            </a:fillRef>
            <a:effectRef idx="0">
              <a:schemeClr val="accent4">
                <a:hueOff val="-3691232"/>
                <a:satOff val="11237"/>
                <a:lumOff val="16961"/>
                <a:alphaOff val="0"/>
              </a:schemeClr>
            </a:effectRef>
            <a:fontRef idx="minor">
              <a:schemeClr val="lt1"/>
            </a:fontRef>
          </p:style>
          <p:txBody>
            <a:bodyPr spcFirstLastPara="0" vert="horz" wrap="square" lIns="92456" tIns="92456" rIns="92456" bIns="93600" numCol="1" spcCol="1270" anchor="ctr" anchorCtr="0">
              <a:noAutofit/>
            </a:bodyPr>
            <a:lstStyle/>
            <a:p>
              <a:pPr marL="0" lvl="0" indent="0" algn="ctr" defTabSz="577850">
                <a:lnSpc>
                  <a:spcPct val="90000"/>
                </a:lnSpc>
                <a:spcBef>
                  <a:spcPct val="0"/>
                </a:spcBef>
                <a:spcAft>
                  <a:spcPct val="35000"/>
                </a:spcAft>
                <a:buNone/>
              </a:pPr>
              <a:r>
                <a:rPr lang="en-US" sz="1600" kern="1200" dirty="0"/>
                <a:t>Identify patients who socially identify as male for gender-based analysis.	</a:t>
              </a:r>
              <a:endParaRPr lang="en-NL" sz="1600" kern="1200" dirty="0"/>
            </a:p>
          </p:txBody>
        </p:sp>
        <p:sp>
          <p:nvSpPr>
            <p:cNvPr id="14" name="Freeform: Shape 13">
              <a:extLst>
                <a:ext uri="{FF2B5EF4-FFF2-40B4-BE49-F238E27FC236}">
                  <a16:creationId xmlns:a16="http://schemas.microsoft.com/office/drawing/2014/main" id="{AB9A359A-339D-B627-6C78-D4FFB62FAFF5}"/>
                </a:ext>
              </a:extLst>
            </p:cNvPr>
            <p:cNvSpPr/>
            <p:nvPr/>
          </p:nvSpPr>
          <p:spPr>
            <a:xfrm>
              <a:off x="4518838" y="3834974"/>
              <a:ext cx="3211032" cy="640800"/>
            </a:xfrm>
            <a:custGeom>
              <a:avLst/>
              <a:gdLst>
                <a:gd name="csX0" fmla="*/ 0 w 3488918"/>
                <a:gd name="csY0" fmla="*/ 0 h 490964"/>
                <a:gd name="csX1" fmla="*/ 3488918 w 3488918"/>
                <a:gd name="csY1" fmla="*/ 0 h 490964"/>
                <a:gd name="csX2" fmla="*/ 3488918 w 3488918"/>
                <a:gd name="csY2" fmla="*/ 490964 h 490964"/>
                <a:gd name="csX3" fmla="*/ 0 w 3488918"/>
                <a:gd name="csY3" fmla="*/ 490964 h 490964"/>
                <a:gd name="csX4" fmla="*/ 0 w 3488918"/>
                <a:gd name="csY4" fmla="*/ 0 h 490964"/>
              </a:gdLst>
              <a:ahLst/>
              <a:cxnLst>
                <a:cxn ang="0">
                  <a:pos x="csX0" y="csY0"/>
                </a:cxn>
                <a:cxn ang="0">
                  <a:pos x="csX1" y="csY1"/>
                </a:cxn>
                <a:cxn ang="0">
                  <a:pos x="csX2" y="csY2"/>
                </a:cxn>
                <a:cxn ang="0">
                  <a:pos x="csX3" y="csY3"/>
                </a:cxn>
                <a:cxn ang="0">
                  <a:pos x="csX4" y="csY4"/>
                </a:cxn>
              </a:cxnLst>
              <a:rect l="l" t="t" r="r" b="b"/>
              <a:pathLst>
                <a:path w="3488918" h="490964">
                  <a:moveTo>
                    <a:pt x="0" y="0"/>
                  </a:moveTo>
                  <a:lnTo>
                    <a:pt x="3488918" y="0"/>
                  </a:lnTo>
                  <a:lnTo>
                    <a:pt x="3488918" y="490964"/>
                  </a:lnTo>
                  <a:lnTo>
                    <a:pt x="0" y="490964"/>
                  </a:lnTo>
                  <a:lnTo>
                    <a:pt x="0" y="0"/>
                  </a:lnTo>
                  <a:close/>
                </a:path>
              </a:pathLst>
            </a:custGeom>
            <a:ln>
              <a:noFill/>
            </a:ln>
            <a:effectLst/>
          </p:spPr>
          <p:style>
            <a:lnRef idx="2">
              <a:schemeClr val="accent4">
                <a:tint val="40000"/>
                <a:alpha val="90000"/>
                <a:hueOff val="-2918253"/>
                <a:satOff val="19936"/>
                <a:lumOff val="2986"/>
                <a:alphaOff val="0"/>
              </a:schemeClr>
            </a:lnRef>
            <a:fillRef idx="1">
              <a:schemeClr val="accent4">
                <a:tint val="40000"/>
                <a:alpha val="90000"/>
                <a:hueOff val="-2918253"/>
                <a:satOff val="19936"/>
                <a:lumOff val="2986"/>
                <a:alphaOff val="0"/>
              </a:schemeClr>
            </a:fillRef>
            <a:effectRef idx="0">
              <a:schemeClr val="accent4">
                <a:tint val="40000"/>
                <a:alpha val="90000"/>
                <a:hueOff val="-2918253"/>
                <a:satOff val="19936"/>
                <a:lumOff val="2986"/>
                <a:alphaOff val="0"/>
              </a:schemeClr>
            </a:effectRef>
            <a:fontRef idx="minor">
              <a:schemeClr val="dk1">
                <a:hueOff val="0"/>
                <a:satOff val="0"/>
                <a:lumOff val="0"/>
                <a:alphaOff val="0"/>
              </a:schemeClr>
            </a:fontRef>
          </p:style>
          <p:txBody>
            <a:bodyPr spcFirstLastPara="0" vert="horz" wrap="square" lIns="78232" tIns="13970" rIns="78232" bIns="13970" numCol="1" spcCol="1270" anchor="ctr" anchorCtr="0">
              <a:noAutofit/>
            </a:bodyPr>
            <a:lstStyle/>
            <a:p>
              <a:pPr marL="0" lvl="0" indent="0" defTabSz="488950">
                <a:lnSpc>
                  <a:spcPct val="90000"/>
                </a:lnSpc>
                <a:spcBef>
                  <a:spcPct val="0"/>
                </a:spcBef>
                <a:spcAft>
                  <a:spcPct val="35000"/>
                </a:spcAft>
                <a:buNone/>
              </a:pPr>
              <a:r>
                <a:rPr lang="en-US" sz="1400" kern="1200" dirty="0"/>
                <a:t>Retrieve patients where Sex = Male.</a:t>
              </a:r>
              <a:endParaRPr lang="en-NL" sz="1400" kern="1200" dirty="0"/>
            </a:p>
          </p:txBody>
        </p:sp>
        <p:sp>
          <p:nvSpPr>
            <p:cNvPr id="15" name="Freeform: Shape 14">
              <a:extLst>
                <a:ext uri="{FF2B5EF4-FFF2-40B4-BE49-F238E27FC236}">
                  <a16:creationId xmlns:a16="http://schemas.microsoft.com/office/drawing/2014/main" id="{572E9857-68CF-0F71-E779-3FC6DE27D9FA}"/>
                </a:ext>
              </a:extLst>
            </p:cNvPr>
            <p:cNvSpPr/>
            <p:nvPr/>
          </p:nvSpPr>
          <p:spPr>
            <a:xfrm>
              <a:off x="7729868" y="3834974"/>
              <a:ext cx="3766806" cy="640800"/>
            </a:xfrm>
            <a:custGeom>
              <a:avLst/>
              <a:gdLst>
                <a:gd name="csX0" fmla="*/ 0 w 3488918"/>
                <a:gd name="csY0" fmla="*/ 0 h 490964"/>
                <a:gd name="csX1" fmla="*/ 3488918 w 3488918"/>
                <a:gd name="csY1" fmla="*/ 0 h 490964"/>
                <a:gd name="csX2" fmla="*/ 3488918 w 3488918"/>
                <a:gd name="csY2" fmla="*/ 490964 h 490964"/>
                <a:gd name="csX3" fmla="*/ 0 w 3488918"/>
                <a:gd name="csY3" fmla="*/ 490964 h 490964"/>
                <a:gd name="csX4" fmla="*/ 0 w 3488918"/>
                <a:gd name="csY4" fmla="*/ 0 h 490964"/>
              </a:gdLst>
              <a:ahLst/>
              <a:cxnLst>
                <a:cxn ang="0">
                  <a:pos x="csX0" y="csY0"/>
                </a:cxn>
                <a:cxn ang="0">
                  <a:pos x="csX1" y="csY1"/>
                </a:cxn>
                <a:cxn ang="0">
                  <a:pos x="csX2" y="csY2"/>
                </a:cxn>
                <a:cxn ang="0">
                  <a:pos x="csX3" y="csY3"/>
                </a:cxn>
                <a:cxn ang="0">
                  <a:pos x="csX4" y="csY4"/>
                </a:cxn>
              </a:cxnLst>
              <a:rect l="l" t="t" r="r" b="b"/>
              <a:pathLst>
                <a:path w="3488918" h="490964">
                  <a:moveTo>
                    <a:pt x="0" y="0"/>
                  </a:moveTo>
                  <a:lnTo>
                    <a:pt x="3488918" y="0"/>
                  </a:lnTo>
                  <a:lnTo>
                    <a:pt x="3488918" y="490964"/>
                  </a:lnTo>
                  <a:lnTo>
                    <a:pt x="0" y="490964"/>
                  </a:lnTo>
                  <a:lnTo>
                    <a:pt x="0" y="0"/>
                  </a:lnTo>
                  <a:close/>
                </a:path>
              </a:pathLst>
            </a:custGeom>
            <a:solidFill>
              <a:schemeClr val="accent4">
                <a:tint val="40000"/>
                <a:hueOff val="-4377379"/>
                <a:satOff val="29904"/>
                <a:lumOff val="4480"/>
                <a:alpha val="95000"/>
              </a:schemeClr>
            </a:solidFill>
            <a:ln>
              <a:noFill/>
            </a:ln>
            <a:effectLst/>
          </p:spPr>
          <p:style>
            <a:lnRef idx="2">
              <a:schemeClr val="accent4">
                <a:tint val="40000"/>
                <a:alpha val="90000"/>
                <a:hueOff val="-4377379"/>
                <a:satOff val="29904"/>
                <a:lumOff val="4480"/>
                <a:alphaOff val="0"/>
              </a:schemeClr>
            </a:lnRef>
            <a:fillRef idx="1">
              <a:schemeClr val="accent4">
                <a:tint val="40000"/>
                <a:alpha val="90000"/>
                <a:hueOff val="-4377379"/>
                <a:satOff val="29904"/>
                <a:lumOff val="4480"/>
                <a:alphaOff val="0"/>
              </a:schemeClr>
            </a:fillRef>
            <a:effectRef idx="0">
              <a:schemeClr val="accent4">
                <a:tint val="40000"/>
                <a:alpha val="90000"/>
                <a:hueOff val="-4377379"/>
                <a:satOff val="29904"/>
                <a:lumOff val="4480"/>
                <a:alphaOff val="0"/>
              </a:schemeClr>
            </a:effectRef>
            <a:fontRef idx="minor">
              <a:schemeClr val="dk1">
                <a:hueOff val="0"/>
                <a:satOff val="0"/>
                <a:lumOff val="0"/>
                <a:alphaOff val="0"/>
              </a:schemeClr>
            </a:fontRef>
          </p:style>
          <p:txBody>
            <a:bodyPr spcFirstLastPara="0" vert="horz" wrap="square" lIns="78232" tIns="13970" rIns="78232" bIns="13970" numCol="1" spcCol="1270" anchor="ctr" anchorCtr="0">
              <a:noAutofit/>
            </a:bodyPr>
            <a:lstStyle/>
            <a:p>
              <a:pPr marL="0" lvl="0" indent="0" defTabSz="488950">
                <a:lnSpc>
                  <a:spcPct val="90000"/>
                </a:lnSpc>
                <a:spcBef>
                  <a:spcPct val="0"/>
                </a:spcBef>
                <a:spcAft>
                  <a:spcPct val="35000"/>
                </a:spcAft>
                <a:buNone/>
              </a:pPr>
              <a:r>
                <a:rPr lang="en-US" sz="1200" kern="1200" dirty="0"/>
                <a:t>Returns Patient-001 and Patient-002, incorrectly including Patient-002, whose gender is female/trans.</a:t>
              </a:r>
              <a:endParaRPr lang="en-NL" sz="1200" kern="1200" dirty="0"/>
            </a:p>
          </p:txBody>
        </p:sp>
      </p:grpSp>
      <p:grpSp>
        <p:nvGrpSpPr>
          <p:cNvPr id="25" name="Group 24">
            <a:extLst>
              <a:ext uri="{FF2B5EF4-FFF2-40B4-BE49-F238E27FC236}">
                <a16:creationId xmlns:a16="http://schemas.microsoft.com/office/drawing/2014/main" id="{F76D9A99-476F-1841-9AFF-2F3396D70FCD}"/>
              </a:ext>
            </a:extLst>
          </p:cNvPr>
          <p:cNvGrpSpPr/>
          <p:nvPr/>
        </p:nvGrpSpPr>
        <p:grpSpPr>
          <a:xfrm>
            <a:off x="4518837" y="1639415"/>
            <a:ext cx="6977837" cy="1368843"/>
            <a:chOff x="4518837" y="1650048"/>
            <a:chExt cx="6977837" cy="1368843"/>
          </a:xfrm>
        </p:grpSpPr>
        <p:sp>
          <p:nvSpPr>
            <p:cNvPr id="16" name="Rectangle 15">
              <a:extLst>
                <a:ext uri="{FF2B5EF4-FFF2-40B4-BE49-F238E27FC236}">
                  <a16:creationId xmlns:a16="http://schemas.microsoft.com/office/drawing/2014/main" id="{C13B47D1-E2E8-0120-2B9C-CA90003D7421}"/>
                </a:ext>
              </a:extLst>
            </p:cNvPr>
            <p:cNvSpPr/>
            <p:nvPr/>
          </p:nvSpPr>
          <p:spPr>
            <a:xfrm>
              <a:off x="4518837" y="1650048"/>
              <a:ext cx="6977837" cy="720000"/>
            </a:xfrm>
            <a:prstGeom prst="rect">
              <a:avLst/>
            </a:prstGeom>
            <a:ln>
              <a:noFill/>
            </a:ln>
            <a:effectLst/>
          </p:spPr>
          <p:style>
            <a:lnRef idx="2">
              <a:schemeClr val="lt1">
                <a:hueOff val="0"/>
                <a:satOff val="0"/>
                <a:lumOff val="0"/>
                <a:alphaOff val="0"/>
              </a:schemeClr>
            </a:lnRef>
            <a:fillRef idx="1">
              <a:schemeClr val="accent4">
                <a:hueOff val="-7382464"/>
                <a:satOff val="22475"/>
                <a:lumOff val="33922"/>
                <a:alphaOff val="0"/>
              </a:schemeClr>
            </a:fillRef>
            <a:effectRef idx="0">
              <a:schemeClr val="accent4">
                <a:hueOff val="-7382464"/>
                <a:satOff val="22475"/>
                <a:lumOff val="33922"/>
                <a:alphaOff val="0"/>
              </a:schemeClr>
            </a:effectRef>
            <a:fontRef idx="minor">
              <a:schemeClr val="lt1"/>
            </a:fontRef>
          </p:style>
          <p:txBody>
            <a:bodyPr spcFirstLastPara="0" vert="horz" wrap="square" lIns="92456" tIns="92457" rIns="92456" bIns="93600" numCol="1" spcCol="1270" anchor="ctr" anchorCtr="0">
              <a:noAutofit/>
            </a:bodyPr>
            <a:lstStyle/>
            <a:p>
              <a:pPr marL="0" lvl="0" indent="0" algn="ctr" defTabSz="577850">
                <a:lnSpc>
                  <a:spcPct val="90000"/>
                </a:lnSpc>
                <a:spcBef>
                  <a:spcPct val="0"/>
                </a:spcBef>
                <a:spcAft>
                  <a:spcPct val="35000"/>
                </a:spcAft>
                <a:buNone/>
              </a:pPr>
              <a:r>
                <a:rPr lang="en-US" sz="1600" kern="1200" dirty="0"/>
                <a:t>Identify patients with male biological sex for a study where biological sex is the intended criterion.</a:t>
              </a:r>
              <a:endParaRPr lang="en-NL" sz="1600" kern="1200" dirty="0"/>
            </a:p>
          </p:txBody>
        </p:sp>
        <p:sp>
          <p:nvSpPr>
            <p:cNvPr id="17" name="Freeform: Shape 16">
              <a:extLst>
                <a:ext uri="{FF2B5EF4-FFF2-40B4-BE49-F238E27FC236}">
                  <a16:creationId xmlns:a16="http://schemas.microsoft.com/office/drawing/2014/main" id="{9479FE16-49A0-18E5-DD1B-42FA176CBD72}"/>
                </a:ext>
              </a:extLst>
            </p:cNvPr>
            <p:cNvSpPr/>
            <p:nvPr/>
          </p:nvSpPr>
          <p:spPr>
            <a:xfrm>
              <a:off x="4518837" y="2380030"/>
              <a:ext cx="3211033" cy="638861"/>
            </a:xfrm>
            <a:custGeom>
              <a:avLst/>
              <a:gdLst>
                <a:gd name="csX0" fmla="*/ 0 w 3488918"/>
                <a:gd name="csY0" fmla="*/ 0 h 490964"/>
                <a:gd name="csX1" fmla="*/ 3488918 w 3488918"/>
                <a:gd name="csY1" fmla="*/ 0 h 490964"/>
                <a:gd name="csX2" fmla="*/ 3488918 w 3488918"/>
                <a:gd name="csY2" fmla="*/ 490964 h 490964"/>
                <a:gd name="csX3" fmla="*/ 0 w 3488918"/>
                <a:gd name="csY3" fmla="*/ 490964 h 490964"/>
                <a:gd name="csX4" fmla="*/ 0 w 3488918"/>
                <a:gd name="csY4" fmla="*/ 0 h 490964"/>
              </a:gdLst>
              <a:ahLst/>
              <a:cxnLst>
                <a:cxn ang="0">
                  <a:pos x="csX0" y="csY0"/>
                </a:cxn>
                <a:cxn ang="0">
                  <a:pos x="csX1" y="csY1"/>
                </a:cxn>
                <a:cxn ang="0">
                  <a:pos x="csX2" y="csY2"/>
                </a:cxn>
                <a:cxn ang="0">
                  <a:pos x="csX3" y="csY3"/>
                </a:cxn>
                <a:cxn ang="0">
                  <a:pos x="csX4" y="csY4"/>
                </a:cxn>
              </a:cxnLst>
              <a:rect l="l" t="t" r="r" b="b"/>
              <a:pathLst>
                <a:path w="3488918" h="490964">
                  <a:moveTo>
                    <a:pt x="0" y="0"/>
                  </a:moveTo>
                  <a:lnTo>
                    <a:pt x="3488918" y="0"/>
                  </a:lnTo>
                  <a:lnTo>
                    <a:pt x="3488918" y="490964"/>
                  </a:lnTo>
                  <a:lnTo>
                    <a:pt x="0" y="490964"/>
                  </a:lnTo>
                  <a:lnTo>
                    <a:pt x="0" y="0"/>
                  </a:lnTo>
                  <a:close/>
                </a:path>
              </a:pathLst>
            </a:custGeom>
            <a:ln>
              <a:noFill/>
            </a:ln>
            <a:effectLst/>
          </p:spPr>
          <p:style>
            <a:lnRef idx="2">
              <a:schemeClr val="accent4">
                <a:tint val="40000"/>
                <a:alpha val="90000"/>
                <a:hueOff val="-5836506"/>
                <a:satOff val="39872"/>
                <a:lumOff val="5973"/>
                <a:alphaOff val="0"/>
              </a:schemeClr>
            </a:lnRef>
            <a:fillRef idx="1">
              <a:schemeClr val="accent4">
                <a:tint val="40000"/>
                <a:alpha val="90000"/>
                <a:hueOff val="-5836506"/>
                <a:satOff val="39872"/>
                <a:lumOff val="5973"/>
                <a:alphaOff val="0"/>
              </a:schemeClr>
            </a:fillRef>
            <a:effectRef idx="0">
              <a:schemeClr val="accent4">
                <a:tint val="40000"/>
                <a:alpha val="90000"/>
                <a:hueOff val="-5836506"/>
                <a:satOff val="39872"/>
                <a:lumOff val="5973"/>
                <a:alphaOff val="0"/>
              </a:schemeClr>
            </a:effectRef>
            <a:fontRef idx="minor">
              <a:schemeClr val="dk1">
                <a:hueOff val="0"/>
                <a:satOff val="0"/>
                <a:lumOff val="0"/>
                <a:alphaOff val="0"/>
              </a:schemeClr>
            </a:fontRef>
          </p:style>
          <p:txBody>
            <a:bodyPr spcFirstLastPara="0" vert="horz" wrap="square" lIns="78232" tIns="13970" rIns="78232" bIns="13970" numCol="1" spcCol="1270" anchor="ctr" anchorCtr="0">
              <a:noAutofit/>
            </a:bodyPr>
            <a:lstStyle/>
            <a:p>
              <a:pPr marL="0" lvl="0" indent="0" defTabSz="488950">
                <a:lnSpc>
                  <a:spcPct val="90000"/>
                </a:lnSpc>
                <a:spcBef>
                  <a:spcPct val="0"/>
                </a:spcBef>
                <a:spcAft>
                  <a:spcPct val="35000"/>
                </a:spcAft>
                <a:buNone/>
              </a:pPr>
              <a:r>
                <a:rPr lang="en-US" sz="1400" kern="1200" dirty="0"/>
                <a:t>Retrieve patients where Gender = Male.</a:t>
              </a:r>
              <a:endParaRPr lang="en-NL" sz="1400" kern="1200" dirty="0"/>
            </a:p>
          </p:txBody>
        </p:sp>
        <p:sp>
          <p:nvSpPr>
            <p:cNvPr id="18" name="Freeform: Shape 17">
              <a:extLst>
                <a:ext uri="{FF2B5EF4-FFF2-40B4-BE49-F238E27FC236}">
                  <a16:creationId xmlns:a16="http://schemas.microsoft.com/office/drawing/2014/main" id="{6FF671D5-A559-F53B-0F68-109E89F8B8A7}"/>
                </a:ext>
              </a:extLst>
            </p:cNvPr>
            <p:cNvSpPr/>
            <p:nvPr/>
          </p:nvSpPr>
          <p:spPr>
            <a:xfrm>
              <a:off x="7729868" y="2380030"/>
              <a:ext cx="3766805" cy="638861"/>
            </a:xfrm>
            <a:custGeom>
              <a:avLst/>
              <a:gdLst>
                <a:gd name="csX0" fmla="*/ 0 w 3488918"/>
                <a:gd name="csY0" fmla="*/ 0 h 490964"/>
                <a:gd name="csX1" fmla="*/ 3488918 w 3488918"/>
                <a:gd name="csY1" fmla="*/ 0 h 490964"/>
                <a:gd name="csX2" fmla="*/ 3488918 w 3488918"/>
                <a:gd name="csY2" fmla="*/ 490964 h 490964"/>
                <a:gd name="csX3" fmla="*/ 0 w 3488918"/>
                <a:gd name="csY3" fmla="*/ 490964 h 490964"/>
                <a:gd name="csX4" fmla="*/ 0 w 3488918"/>
                <a:gd name="csY4" fmla="*/ 0 h 490964"/>
              </a:gdLst>
              <a:ahLst/>
              <a:cxnLst>
                <a:cxn ang="0">
                  <a:pos x="csX0" y="csY0"/>
                </a:cxn>
                <a:cxn ang="0">
                  <a:pos x="csX1" y="csY1"/>
                </a:cxn>
                <a:cxn ang="0">
                  <a:pos x="csX2" y="csY2"/>
                </a:cxn>
                <a:cxn ang="0">
                  <a:pos x="csX3" y="csY3"/>
                </a:cxn>
                <a:cxn ang="0">
                  <a:pos x="csX4" y="csY4"/>
                </a:cxn>
              </a:cxnLst>
              <a:rect l="l" t="t" r="r" b="b"/>
              <a:pathLst>
                <a:path w="3488918" h="490964">
                  <a:moveTo>
                    <a:pt x="0" y="0"/>
                  </a:moveTo>
                  <a:lnTo>
                    <a:pt x="3488918" y="0"/>
                  </a:lnTo>
                  <a:lnTo>
                    <a:pt x="3488918" y="490964"/>
                  </a:lnTo>
                  <a:lnTo>
                    <a:pt x="0" y="490964"/>
                  </a:lnTo>
                  <a:lnTo>
                    <a:pt x="0" y="0"/>
                  </a:lnTo>
                  <a:close/>
                </a:path>
              </a:pathLst>
            </a:custGeom>
            <a:solidFill>
              <a:schemeClr val="accent4">
                <a:tint val="40000"/>
                <a:hueOff val="-7295632"/>
                <a:satOff val="49840"/>
                <a:lumOff val="7466"/>
                <a:alpha val="95000"/>
              </a:schemeClr>
            </a:solidFill>
            <a:ln>
              <a:noFill/>
            </a:ln>
            <a:effectLst/>
          </p:spPr>
          <p:style>
            <a:lnRef idx="2">
              <a:schemeClr val="accent4">
                <a:tint val="40000"/>
                <a:alpha val="90000"/>
                <a:hueOff val="-7295632"/>
                <a:satOff val="49840"/>
                <a:lumOff val="7466"/>
                <a:alphaOff val="0"/>
              </a:schemeClr>
            </a:lnRef>
            <a:fillRef idx="1">
              <a:schemeClr val="accent4">
                <a:tint val="40000"/>
                <a:alpha val="90000"/>
                <a:hueOff val="-7295632"/>
                <a:satOff val="49840"/>
                <a:lumOff val="7466"/>
                <a:alphaOff val="0"/>
              </a:schemeClr>
            </a:fillRef>
            <a:effectRef idx="0">
              <a:schemeClr val="accent4">
                <a:tint val="40000"/>
                <a:alpha val="90000"/>
                <a:hueOff val="-7295632"/>
                <a:satOff val="49840"/>
                <a:lumOff val="7466"/>
                <a:alphaOff val="0"/>
              </a:schemeClr>
            </a:effectRef>
            <a:fontRef idx="minor">
              <a:schemeClr val="dk1">
                <a:hueOff val="0"/>
                <a:satOff val="0"/>
                <a:lumOff val="0"/>
                <a:alphaOff val="0"/>
              </a:schemeClr>
            </a:fontRef>
          </p:style>
          <p:txBody>
            <a:bodyPr spcFirstLastPara="0" vert="horz" wrap="square" lIns="78232" tIns="13970" rIns="78232" bIns="13970" numCol="1" spcCol="1270" anchor="ctr" anchorCtr="0">
              <a:noAutofit/>
            </a:bodyPr>
            <a:lstStyle/>
            <a:p>
              <a:pPr marL="0" lvl="0" indent="0" defTabSz="488950">
                <a:lnSpc>
                  <a:spcPct val="90000"/>
                </a:lnSpc>
                <a:spcBef>
                  <a:spcPct val="0"/>
                </a:spcBef>
                <a:spcAft>
                  <a:spcPct val="35000"/>
                </a:spcAft>
                <a:buNone/>
              </a:pPr>
              <a:r>
                <a:rPr lang="en-US" sz="1200" kern="1200" dirty="0"/>
                <a:t>Returns Patient-001 only, incorrectly missing Patient-002, whose biological sex is male but gender is female/trans.</a:t>
              </a:r>
              <a:endParaRPr lang="en-NL" sz="1200" kern="1200" dirty="0"/>
            </a:p>
          </p:txBody>
        </p:sp>
      </p:grpSp>
    </p:spTree>
    <p:extLst>
      <p:ext uri="{BB962C8B-B14F-4D97-AF65-F5344CB8AC3E}">
        <p14:creationId xmlns:p14="http://schemas.microsoft.com/office/powerpoint/2010/main" val="6678442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4ABBB-EAAE-511C-4C8C-ADF254A0CC06}"/>
              </a:ext>
            </a:extLst>
          </p:cNvPr>
          <p:cNvSpPr>
            <a:spLocks noGrp="1"/>
          </p:cNvSpPr>
          <p:nvPr>
            <p:ph type="title"/>
          </p:nvPr>
        </p:nvSpPr>
        <p:spPr/>
        <p:txBody>
          <a:bodyPr/>
          <a:lstStyle/>
          <a:p>
            <a:r>
              <a:rPr lang="en-US" sz="3600" dirty="0"/>
              <a:t>Distinct Concepts Within Sex and Gender</a:t>
            </a:r>
            <a:endParaRPr lang="en-NL" sz="3600" dirty="0"/>
          </a:p>
        </p:txBody>
      </p:sp>
      <p:sp>
        <p:nvSpPr>
          <p:cNvPr id="8" name="Freeform: Shape 7">
            <a:extLst>
              <a:ext uri="{FF2B5EF4-FFF2-40B4-BE49-F238E27FC236}">
                <a16:creationId xmlns:a16="http://schemas.microsoft.com/office/drawing/2014/main" id="{3C8B9758-DB70-14E9-CF89-BDDE49A853E3}"/>
              </a:ext>
            </a:extLst>
          </p:cNvPr>
          <p:cNvSpPr/>
          <p:nvPr/>
        </p:nvSpPr>
        <p:spPr>
          <a:xfrm>
            <a:off x="9299834" y="3198997"/>
            <a:ext cx="1552918" cy="269514"/>
          </a:xfrm>
          <a:custGeom>
            <a:avLst/>
            <a:gdLst/>
            <a:ahLst/>
            <a:cxnLst/>
            <a:rect l="0" t="0" r="0" b="0"/>
            <a:pathLst>
              <a:path>
                <a:moveTo>
                  <a:pt x="0" y="0"/>
                </a:moveTo>
                <a:lnTo>
                  <a:pt x="0" y="134757"/>
                </a:lnTo>
                <a:lnTo>
                  <a:pt x="1552918" y="134757"/>
                </a:lnTo>
                <a:lnTo>
                  <a:pt x="1552918" y="269514"/>
                </a:lnTo>
              </a:path>
            </a:pathLst>
          </a:custGeom>
          <a:noFill/>
        </p:spPr>
        <p:style>
          <a:lnRef idx="1">
            <a:schemeClr val="accent5">
              <a:hueOff val="0"/>
              <a:satOff val="0"/>
              <a:lumOff val="0"/>
              <a:alphaOff val="0"/>
            </a:schemeClr>
          </a:lnRef>
          <a:fillRef idx="0">
            <a:scrgbClr r="0" g="0" b="0"/>
          </a:fillRef>
          <a:effectRef idx="0">
            <a:schemeClr val="accent2">
              <a:tint val="70000"/>
              <a:hueOff val="0"/>
              <a:satOff val="0"/>
              <a:lumOff val="0"/>
              <a:alphaOff val="0"/>
            </a:schemeClr>
          </a:effectRef>
          <a:fontRef idx="minor">
            <a:schemeClr val="tx1">
              <a:hueOff val="0"/>
              <a:satOff val="0"/>
              <a:lumOff val="0"/>
              <a:alphaOff val="0"/>
            </a:schemeClr>
          </a:fontRef>
        </p:style>
        <p:txBody>
          <a:bodyPr/>
          <a:lstStyle/>
          <a:p>
            <a:endParaRPr lang="en-NL"/>
          </a:p>
        </p:txBody>
      </p:sp>
      <p:sp>
        <p:nvSpPr>
          <p:cNvPr id="9" name="Freeform: Shape 8">
            <a:extLst>
              <a:ext uri="{FF2B5EF4-FFF2-40B4-BE49-F238E27FC236}">
                <a16:creationId xmlns:a16="http://schemas.microsoft.com/office/drawing/2014/main" id="{8DEC1282-C38C-0962-6162-6D80EE529DEE}"/>
              </a:ext>
            </a:extLst>
          </p:cNvPr>
          <p:cNvSpPr/>
          <p:nvPr/>
        </p:nvSpPr>
        <p:spPr>
          <a:xfrm>
            <a:off x="8786472" y="4110214"/>
            <a:ext cx="192510" cy="590365"/>
          </a:xfrm>
          <a:custGeom>
            <a:avLst/>
            <a:gdLst/>
            <a:ahLst/>
            <a:cxnLst/>
            <a:rect l="0" t="0" r="0" b="0"/>
            <a:pathLst>
              <a:path>
                <a:moveTo>
                  <a:pt x="0" y="0"/>
                </a:moveTo>
                <a:lnTo>
                  <a:pt x="0" y="590365"/>
                </a:lnTo>
                <a:lnTo>
                  <a:pt x="192510" y="590365"/>
                </a:lnTo>
              </a:path>
            </a:pathLst>
          </a:custGeom>
          <a:noFill/>
        </p:spPr>
        <p:style>
          <a:lnRef idx="1">
            <a:schemeClr val="accent6">
              <a:hueOff val="0"/>
              <a:satOff val="0"/>
              <a:lumOff val="0"/>
              <a:alphaOff val="0"/>
            </a:schemeClr>
          </a:lnRef>
          <a:fillRef idx="0">
            <a:scrgbClr r="0" g="0" b="0"/>
          </a:fillRef>
          <a:effectRef idx="0">
            <a:schemeClr val="accent6">
              <a:tint val="50000"/>
              <a:hueOff val="0"/>
              <a:satOff val="0"/>
              <a:lumOff val="0"/>
              <a:alphaOff val="0"/>
            </a:schemeClr>
          </a:effectRef>
          <a:fontRef idx="minor">
            <a:schemeClr val="tx1">
              <a:hueOff val="0"/>
              <a:satOff val="0"/>
              <a:lumOff val="0"/>
              <a:alphaOff val="0"/>
            </a:schemeClr>
          </a:fontRef>
        </p:style>
        <p:txBody>
          <a:bodyPr/>
          <a:lstStyle/>
          <a:p>
            <a:endParaRPr lang="en-NL"/>
          </a:p>
        </p:txBody>
      </p:sp>
      <p:sp>
        <p:nvSpPr>
          <p:cNvPr id="10" name="Freeform: Shape 9">
            <a:extLst>
              <a:ext uri="{FF2B5EF4-FFF2-40B4-BE49-F238E27FC236}">
                <a16:creationId xmlns:a16="http://schemas.microsoft.com/office/drawing/2014/main" id="{9E7C2385-D85B-E043-FD42-44A34C8BB421}"/>
              </a:ext>
            </a:extLst>
          </p:cNvPr>
          <p:cNvSpPr/>
          <p:nvPr/>
        </p:nvSpPr>
        <p:spPr>
          <a:xfrm>
            <a:off x="9254114" y="3198997"/>
            <a:ext cx="91440" cy="269514"/>
          </a:xfrm>
          <a:custGeom>
            <a:avLst/>
            <a:gdLst/>
            <a:ahLst/>
            <a:cxnLst/>
            <a:rect l="0" t="0" r="0" b="0"/>
            <a:pathLst>
              <a:path>
                <a:moveTo>
                  <a:pt x="45720" y="0"/>
                </a:moveTo>
                <a:lnTo>
                  <a:pt x="45720" y="269514"/>
                </a:lnTo>
              </a:path>
            </a:pathLst>
          </a:custGeom>
          <a:noFill/>
        </p:spPr>
        <p:style>
          <a:lnRef idx="1">
            <a:schemeClr val="accent5">
              <a:hueOff val="0"/>
              <a:satOff val="0"/>
              <a:lumOff val="0"/>
              <a:alphaOff val="0"/>
            </a:schemeClr>
          </a:lnRef>
          <a:fillRef idx="0">
            <a:scrgbClr r="0" g="0" b="0"/>
          </a:fillRef>
          <a:effectRef idx="0">
            <a:schemeClr val="accent2">
              <a:tint val="70000"/>
              <a:hueOff val="0"/>
              <a:satOff val="0"/>
              <a:lumOff val="0"/>
              <a:alphaOff val="0"/>
            </a:schemeClr>
          </a:effectRef>
          <a:fontRef idx="minor">
            <a:schemeClr val="tx1">
              <a:hueOff val="0"/>
              <a:satOff val="0"/>
              <a:lumOff val="0"/>
              <a:alphaOff val="0"/>
            </a:schemeClr>
          </a:fontRef>
        </p:style>
        <p:txBody>
          <a:bodyPr/>
          <a:lstStyle/>
          <a:p>
            <a:endParaRPr lang="en-NL"/>
          </a:p>
        </p:txBody>
      </p:sp>
      <p:sp>
        <p:nvSpPr>
          <p:cNvPr id="11" name="Freeform: Shape 10">
            <a:extLst>
              <a:ext uri="{FF2B5EF4-FFF2-40B4-BE49-F238E27FC236}">
                <a16:creationId xmlns:a16="http://schemas.microsoft.com/office/drawing/2014/main" id="{2F19D8EB-38F5-AC7E-D018-1E805C848F20}"/>
              </a:ext>
            </a:extLst>
          </p:cNvPr>
          <p:cNvSpPr/>
          <p:nvPr/>
        </p:nvSpPr>
        <p:spPr>
          <a:xfrm>
            <a:off x="7746915" y="3198997"/>
            <a:ext cx="1552918" cy="269514"/>
          </a:xfrm>
          <a:custGeom>
            <a:avLst/>
            <a:gdLst/>
            <a:ahLst/>
            <a:cxnLst/>
            <a:rect l="0" t="0" r="0" b="0"/>
            <a:pathLst>
              <a:path>
                <a:moveTo>
                  <a:pt x="1552918" y="0"/>
                </a:moveTo>
                <a:lnTo>
                  <a:pt x="1552918" y="134757"/>
                </a:lnTo>
                <a:lnTo>
                  <a:pt x="0" y="134757"/>
                </a:lnTo>
                <a:lnTo>
                  <a:pt x="0" y="269514"/>
                </a:lnTo>
              </a:path>
            </a:pathLst>
          </a:custGeom>
          <a:noFill/>
        </p:spPr>
        <p:style>
          <a:lnRef idx="1">
            <a:schemeClr val="accent5">
              <a:hueOff val="0"/>
              <a:satOff val="0"/>
              <a:lumOff val="0"/>
              <a:alphaOff val="0"/>
            </a:schemeClr>
          </a:lnRef>
          <a:fillRef idx="0">
            <a:scrgbClr r="0" g="0" b="0"/>
          </a:fillRef>
          <a:effectRef idx="0">
            <a:schemeClr val="accent2">
              <a:tint val="70000"/>
              <a:hueOff val="0"/>
              <a:satOff val="0"/>
              <a:lumOff val="0"/>
              <a:alphaOff val="0"/>
            </a:schemeClr>
          </a:effectRef>
          <a:fontRef idx="minor">
            <a:schemeClr val="tx1">
              <a:hueOff val="0"/>
              <a:satOff val="0"/>
              <a:lumOff val="0"/>
              <a:alphaOff val="0"/>
            </a:schemeClr>
          </a:fontRef>
        </p:style>
        <p:txBody>
          <a:bodyPr/>
          <a:lstStyle/>
          <a:p>
            <a:endParaRPr lang="en-NL"/>
          </a:p>
        </p:txBody>
      </p:sp>
      <p:sp>
        <p:nvSpPr>
          <p:cNvPr id="12" name="Freeform: Shape 11">
            <a:extLst>
              <a:ext uri="{FF2B5EF4-FFF2-40B4-BE49-F238E27FC236}">
                <a16:creationId xmlns:a16="http://schemas.microsoft.com/office/drawing/2014/main" id="{F55AE05E-CCE1-91FB-8A09-08862A8942F9}"/>
              </a:ext>
            </a:extLst>
          </p:cNvPr>
          <p:cNvSpPr/>
          <p:nvPr/>
        </p:nvSpPr>
        <p:spPr>
          <a:xfrm>
            <a:off x="7586490" y="2287780"/>
            <a:ext cx="1713344" cy="269514"/>
          </a:xfrm>
          <a:custGeom>
            <a:avLst/>
            <a:gdLst/>
            <a:ahLst/>
            <a:cxnLst/>
            <a:rect l="0" t="0" r="0" b="0"/>
            <a:pathLst>
              <a:path>
                <a:moveTo>
                  <a:pt x="0" y="0"/>
                </a:moveTo>
                <a:lnTo>
                  <a:pt x="0" y="134757"/>
                </a:lnTo>
                <a:lnTo>
                  <a:pt x="1713344" y="134757"/>
                </a:lnTo>
                <a:lnTo>
                  <a:pt x="1713344" y="269514"/>
                </a:lnTo>
              </a:path>
            </a:pathLst>
          </a:custGeom>
          <a:noFill/>
        </p:spPr>
        <p:style>
          <a:lnRef idx="1">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txBody>
          <a:bodyPr/>
          <a:lstStyle/>
          <a:p>
            <a:endParaRPr lang="en-NL"/>
          </a:p>
        </p:txBody>
      </p:sp>
      <p:sp>
        <p:nvSpPr>
          <p:cNvPr id="13" name="Freeform: Shape 12">
            <a:extLst>
              <a:ext uri="{FF2B5EF4-FFF2-40B4-BE49-F238E27FC236}">
                <a16:creationId xmlns:a16="http://schemas.microsoft.com/office/drawing/2014/main" id="{487C212E-FB0B-51A7-D36E-AA0D0DEE1359}"/>
              </a:ext>
            </a:extLst>
          </p:cNvPr>
          <p:cNvSpPr/>
          <p:nvPr/>
        </p:nvSpPr>
        <p:spPr>
          <a:xfrm>
            <a:off x="5359784" y="3198997"/>
            <a:ext cx="192510" cy="2412799"/>
          </a:xfrm>
          <a:custGeom>
            <a:avLst/>
            <a:gdLst/>
            <a:ahLst/>
            <a:cxnLst/>
            <a:rect l="0" t="0" r="0" b="0"/>
            <a:pathLst>
              <a:path>
                <a:moveTo>
                  <a:pt x="0" y="0"/>
                </a:moveTo>
                <a:lnTo>
                  <a:pt x="0" y="2412799"/>
                </a:lnTo>
                <a:lnTo>
                  <a:pt x="192510" y="2412799"/>
                </a:lnTo>
              </a:path>
            </a:pathLst>
          </a:custGeom>
          <a:noFill/>
        </p:spPr>
        <p:style>
          <a:lnRef idx="1">
            <a:schemeClr val="accent5">
              <a:hueOff val="0"/>
              <a:satOff val="0"/>
              <a:lumOff val="0"/>
              <a:alphaOff val="0"/>
            </a:schemeClr>
          </a:lnRef>
          <a:fillRef idx="0">
            <a:scrgbClr r="0" g="0" b="0"/>
          </a:fillRef>
          <a:effectRef idx="0">
            <a:schemeClr val="accent2">
              <a:tint val="70000"/>
              <a:hueOff val="0"/>
              <a:satOff val="0"/>
              <a:lumOff val="0"/>
              <a:alphaOff val="0"/>
            </a:schemeClr>
          </a:effectRef>
          <a:fontRef idx="minor">
            <a:schemeClr val="tx1">
              <a:hueOff val="0"/>
              <a:satOff val="0"/>
              <a:lumOff val="0"/>
              <a:alphaOff val="0"/>
            </a:schemeClr>
          </a:fontRef>
        </p:style>
        <p:txBody>
          <a:bodyPr/>
          <a:lstStyle/>
          <a:p>
            <a:endParaRPr lang="en-NL"/>
          </a:p>
        </p:txBody>
      </p:sp>
      <p:sp>
        <p:nvSpPr>
          <p:cNvPr id="14" name="Freeform: Shape 13">
            <a:extLst>
              <a:ext uri="{FF2B5EF4-FFF2-40B4-BE49-F238E27FC236}">
                <a16:creationId xmlns:a16="http://schemas.microsoft.com/office/drawing/2014/main" id="{36CBA531-2965-7F09-D53C-DE1F42C2373B}"/>
              </a:ext>
            </a:extLst>
          </p:cNvPr>
          <p:cNvSpPr/>
          <p:nvPr/>
        </p:nvSpPr>
        <p:spPr>
          <a:xfrm>
            <a:off x="5359784" y="3198997"/>
            <a:ext cx="192510" cy="1501582"/>
          </a:xfrm>
          <a:custGeom>
            <a:avLst/>
            <a:gdLst/>
            <a:ahLst/>
            <a:cxnLst/>
            <a:rect l="0" t="0" r="0" b="0"/>
            <a:pathLst>
              <a:path>
                <a:moveTo>
                  <a:pt x="0" y="0"/>
                </a:moveTo>
                <a:lnTo>
                  <a:pt x="0" y="1501582"/>
                </a:lnTo>
                <a:lnTo>
                  <a:pt x="192510" y="1501582"/>
                </a:lnTo>
              </a:path>
            </a:pathLst>
          </a:custGeom>
          <a:noFill/>
        </p:spPr>
        <p:style>
          <a:lnRef idx="1">
            <a:schemeClr val="accent5">
              <a:hueOff val="0"/>
              <a:satOff val="0"/>
              <a:lumOff val="0"/>
              <a:alphaOff val="0"/>
            </a:schemeClr>
          </a:lnRef>
          <a:fillRef idx="0">
            <a:scrgbClr r="0" g="0" b="0"/>
          </a:fillRef>
          <a:effectRef idx="0">
            <a:schemeClr val="accent2">
              <a:tint val="70000"/>
              <a:hueOff val="0"/>
              <a:satOff val="0"/>
              <a:lumOff val="0"/>
              <a:alphaOff val="0"/>
            </a:schemeClr>
          </a:effectRef>
          <a:fontRef idx="minor">
            <a:schemeClr val="tx1">
              <a:hueOff val="0"/>
              <a:satOff val="0"/>
              <a:lumOff val="0"/>
              <a:alphaOff val="0"/>
            </a:schemeClr>
          </a:fontRef>
        </p:style>
        <p:txBody>
          <a:bodyPr/>
          <a:lstStyle/>
          <a:p>
            <a:endParaRPr lang="en-NL"/>
          </a:p>
        </p:txBody>
      </p:sp>
      <p:sp>
        <p:nvSpPr>
          <p:cNvPr id="15" name="Freeform: Shape 14">
            <a:extLst>
              <a:ext uri="{FF2B5EF4-FFF2-40B4-BE49-F238E27FC236}">
                <a16:creationId xmlns:a16="http://schemas.microsoft.com/office/drawing/2014/main" id="{D33D5ED4-09E0-FA8E-8D21-20994F02EEFA}"/>
              </a:ext>
            </a:extLst>
          </p:cNvPr>
          <p:cNvSpPr/>
          <p:nvPr/>
        </p:nvSpPr>
        <p:spPr>
          <a:xfrm>
            <a:off x="5359784" y="3198997"/>
            <a:ext cx="192510" cy="590365"/>
          </a:xfrm>
          <a:custGeom>
            <a:avLst/>
            <a:gdLst/>
            <a:ahLst/>
            <a:cxnLst/>
            <a:rect l="0" t="0" r="0" b="0"/>
            <a:pathLst>
              <a:path>
                <a:moveTo>
                  <a:pt x="0" y="0"/>
                </a:moveTo>
                <a:lnTo>
                  <a:pt x="0" y="590365"/>
                </a:lnTo>
                <a:lnTo>
                  <a:pt x="192510" y="590365"/>
                </a:lnTo>
              </a:path>
            </a:pathLst>
          </a:custGeom>
          <a:noFill/>
        </p:spPr>
        <p:style>
          <a:lnRef idx="1">
            <a:schemeClr val="accent5">
              <a:hueOff val="0"/>
              <a:satOff val="0"/>
              <a:lumOff val="0"/>
              <a:alphaOff val="0"/>
            </a:schemeClr>
          </a:lnRef>
          <a:fillRef idx="0">
            <a:scrgbClr r="0" g="0" b="0"/>
          </a:fillRef>
          <a:effectRef idx="0">
            <a:schemeClr val="accent2">
              <a:tint val="70000"/>
              <a:hueOff val="0"/>
              <a:satOff val="0"/>
              <a:lumOff val="0"/>
              <a:alphaOff val="0"/>
            </a:schemeClr>
          </a:effectRef>
          <a:fontRef idx="minor">
            <a:schemeClr val="tx1">
              <a:hueOff val="0"/>
              <a:satOff val="0"/>
              <a:lumOff val="0"/>
              <a:alphaOff val="0"/>
            </a:schemeClr>
          </a:fontRef>
        </p:style>
        <p:txBody>
          <a:bodyPr/>
          <a:lstStyle/>
          <a:p>
            <a:endParaRPr lang="en-NL"/>
          </a:p>
        </p:txBody>
      </p:sp>
      <p:sp>
        <p:nvSpPr>
          <p:cNvPr id="16" name="Freeform: Shape 15">
            <a:extLst>
              <a:ext uri="{FF2B5EF4-FFF2-40B4-BE49-F238E27FC236}">
                <a16:creationId xmlns:a16="http://schemas.microsoft.com/office/drawing/2014/main" id="{9A00B541-FCD4-08F8-B97A-6D9E6C0CD9B3}"/>
              </a:ext>
            </a:extLst>
          </p:cNvPr>
          <p:cNvSpPr/>
          <p:nvPr/>
        </p:nvSpPr>
        <p:spPr>
          <a:xfrm>
            <a:off x="5873145" y="2287780"/>
            <a:ext cx="1713344" cy="269514"/>
          </a:xfrm>
          <a:custGeom>
            <a:avLst/>
            <a:gdLst/>
            <a:ahLst/>
            <a:cxnLst/>
            <a:rect l="0" t="0" r="0" b="0"/>
            <a:pathLst>
              <a:path>
                <a:moveTo>
                  <a:pt x="1713344" y="0"/>
                </a:moveTo>
                <a:lnTo>
                  <a:pt x="1713344" y="134757"/>
                </a:lnTo>
                <a:lnTo>
                  <a:pt x="0" y="134757"/>
                </a:lnTo>
                <a:lnTo>
                  <a:pt x="0" y="269514"/>
                </a:lnTo>
              </a:path>
            </a:pathLst>
          </a:custGeom>
          <a:noFill/>
        </p:spPr>
        <p:style>
          <a:lnRef idx="1">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txBody>
          <a:bodyPr/>
          <a:lstStyle/>
          <a:p>
            <a:endParaRPr lang="en-NL"/>
          </a:p>
        </p:txBody>
      </p:sp>
      <p:sp>
        <p:nvSpPr>
          <p:cNvPr id="17" name="Freeform: Shape 16">
            <a:extLst>
              <a:ext uri="{FF2B5EF4-FFF2-40B4-BE49-F238E27FC236}">
                <a16:creationId xmlns:a16="http://schemas.microsoft.com/office/drawing/2014/main" id="{A71D2C96-0414-2199-C88D-477F0F92E74A}"/>
              </a:ext>
            </a:extLst>
          </p:cNvPr>
          <p:cNvSpPr/>
          <p:nvPr/>
        </p:nvSpPr>
        <p:spPr>
          <a:xfrm>
            <a:off x="6944788" y="1646078"/>
            <a:ext cx="1283404" cy="641702"/>
          </a:xfrm>
          <a:custGeom>
            <a:avLst/>
            <a:gdLst>
              <a:gd name="csX0" fmla="*/ 0 w 1283404"/>
              <a:gd name="csY0" fmla="*/ 0 h 641702"/>
              <a:gd name="csX1" fmla="*/ 1283404 w 1283404"/>
              <a:gd name="csY1" fmla="*/ 0 h 641702"/>
              <a:gd name="csX2" fmla="*/ 1283404 w 1283404"/>
              <a:gd name="csY2" fmla="*/ 641702 h 641702"/>
              <a:gd name="csX3" fmla="*/ 0 w 1283404"/>
              <a:gd name="csY3" fmla="*/ 641702 h 641702"/>
              <a:gd name="csX4" fmla="*/ 0 w 1283404"/>
              <a:gd name="csY4" fmla="*/ 0 h 641702"/>
            </a:gdLst>
            <a:ahLst/>
            <a:cxnLst>
              <a:cxn ang="0">
                <a:pos x="csX0" y="csY0"/>
              </a:cxn>
              <a:cxn ang="0">
                <a:pos x="csX1" y="csY1"/>
              </a:cxn>
              <a:cxn ang="0">
                <a:pos x="csX2" y="csY2"/>
              </a:cxn>
              <a:cxn ang="0">
                <a:pos x="csX3" y="csY3"/>
              </a:cxn>
              <a:cxn ang="0">
                <a:pos x="csX4" y="csY4"/>
              </a:cxn>
            </a:cxnLst>
            <a:rect l="l" t="t" r="r" b="b"/>
            <a:pathLst>
              <a:path w="1283404" h="641702">
                <a:moveTo>
                  <a:pt x="0" y="0"/>
                </a:moveTo>
                <a:lnTo>
                  <a:pt x="1283404" y="0"/>
                </a:lnTo>
                <a:lnTo>
                  <a:pt x="1283404" y="641702"/>
                </a:lnTo>
                <a:lnTo>
                  <a:pt x="0" y="641702"/>
                </a:lnTo>
                <a:lnTo>
                  <a:pt x="0" y="0"/>
                </a:lnTo>
                <a:close/>
              </a:path>
            </a:pathLst>
          </a:custGeom>
        </p:spPr>
        <p:style>
          <a:lnRef idx="0">
            <a:schemeClr val="lt1">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t>Sex/Gender</a:t>
            </a:r>
            <a:endParaRPr lang="en-NL" sz="1600" kern="1200"/>
          </a:p>
        </p:txBody>
      </p:sp>
      <p:sp>
        <p:nvSpPr>
          <p:cNvPr id="18" name="Freeform: Shape 17">
            <a:extLst>
              <a:ext uri="{FF2B5EF4-FFF2-40B4-BE49-F238E27FC236}">
                <a16:creationId xmlns:a16="http://schemas.microsoft.com/office/drawing/2014/main" id="{F0A1C329-1B43-0EFF-05BE-170794BFD015}"/>
              </a:ext>
            </a:extLst>
          </p:cNvPr>
          <p:cNvSpPr/>
          <p:nvPr/>
        </p:nvSpPr>
        <p:spPr>
          <a:xfrm>
            <a:off x="5231443" y="2557295"/>
            <a:ext cx="1283404" cy="641702"/>
          </a:xfrm>
          <a:custGeom>
            <a:avLst/>
            <a:gdLst>
              <a:gd name="csX0" fmla="*/ 0 w 1283404"/>
              <a:gd name="csY0" fmla="*/ 0 h 641702"/>
              <a:gd name="csX1" fmla="*/ 1283404 w 1283404"/>
              <a:gd name="csY1" fmla="*/ 0 h 641702"/>
              <a:gd name="csX2" fmla="*/ 1283404 w 1283404"/>
              <a:gd name="csY2" fmla="*/ 641702 h 641702"/>
              <a:gd name="csX3" fmla="*/ 0 w 1283404"/>
              <a:gd name="csY3" fmla="*/ 641702 h 641702"/>
              <a:gd name="csX4" fmla="*/ 0 w 1283404"/>
              <a:gd name="csY4" fmla="*/ 0 h 641702"/>
            </a:gdLst>
            <a:ahLst/>
            <a:cxnLst>
              <a:cxn ang="0">
                <a:pos x="csX0" y="csY0"/>
              </a:cxn>
              <a:cxn ang="0">
                <a:pos x="csX1" y="csY1"/>
              </a:cxn>
              <a:cxn ang="0">
                <a:pos x="csX2" y="csY2"/>
              </a:cxn>
              <a:cxn ang="0">
                <a:pos x="csX3" y="csY3"/>
              </a:cxn>
              <a:cxn ang="0">
                <a:pos x="csX4" y="csY4"/>
              </a:cxn>
            </a:cxnLst>
            <a:rect l="l" t="t" r="r" b="b"/>
            <a:pathLst>
              <a:path w="1283404" h="641702">
                <a:moveTo>
                  <a:pt x="0" y="0"/>
                </a:moveTo>
                <a:lnTo>
                  <a:pt x="1283404" y="0"/>
                </a:lnTo>
                <a:lnTo>
                  <a:pt x="1283404" y="641702"/>
                </a:lnTo>
                <a:lnTo>
                  <a:pt x="0" y="641702"/>
                </a:lnTo>
                <a:lnTo>
                  <a:pt x="0" y="0"/>
                </a:lnTo>
                <a:close/>
              </a:path>
            </a:pathLst>
          </a:custGeom>
        </p:spPr>
        <p:style>
          <a:lnRef idx="0">
            <a:schemeClr val="lt1">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(Biological) Sex</a:t>
            </a:r>
            <a:endParaRPr lang="en-NL" sz="1600" kern="1200" dirty="0"/>
          </a:p>
        </p:txBody>
      </p:sp>
      <p:sp>
        <p:nvSpPr>
          <p:cNvPr id="19" name="Freeform: Shape 18">
            <a:extLst>
              <a:ext uri="{FF2B5EF4-FFF2-40B4-BE49-F238E27FC236}">
                <a16:creationId xmlns:a16="http://schemas.microsoft.com/office/drawing/2014/main" id="{94E88F13-EDEE-9E34-3BB0-8CA87A83EC3D}"/>
              </a:ext>
            </a:extLst>
          </p:cNvPr>
          <p:cNvSpPr/>
          <p:nvPr/>
        </p:nvSpPr>
        <p:spPr>
          <a:xfrm>
            <a:off x="5552294" y="3468511"/>
            <a:ext cx="1283404" cy="641702"/>
          </a:xfrm>
          <a:custGeom>
            <a:avLst/>
            <a:gdLst>
              <a:gd name="csX0" fmla="*/ 0 w 1283404"/>
              <a:gd name="csY0" fmla="*/ 0 h 641702"/>
              <a:gd name="csX1" fmla="*/ 1283404 w 1283404"/>
              <a:gd name="csY1" fmla="*/ 0 h 641702"/>
              <a:gd name="csX2" fmla="*/ 1283404 w 1283404"/>
              <a:gd name="csY2" fmla="*/ 641702 h 641702"/>
              <a:gd name="csX3" fmla="*/ 0 w 1283404"/>
              <a:gd name="csY3" fmla="*/ 641702 h 641702"/>
              <a:gd name="csX4" fmla="*/ 0 w 1283404"/>
              <a:gd name="csY4" fmla="*/ 0 h 641702"/>
            </a:gdLst>
            <a:ahLst/>
            <a:cxnLst>
              <a:cxn ang="0">
                <a:pos x="csX0" y="csY0"/>
              </a:cxn>
              <a:cxn ang="0">
                <a:pos x="csX1" y="csY1"/>
              </a:cxn>
              <a:cxn ang="0">
                <a:pos x="csX2" y="csY2"/>
              </a:cxn>
              <a:cxn ang="0">
                <a:pos x="csX3" y="csY3"/>
              </a:cxn>
              <a:cxn ang="0">
                <a:pos x="csX4" y="csY4"/>
              </a:cxn>
            </a:cxnLst>
            <a:rect l="l" t="t" r="r" b="b"/>
            <a:pathLst>
              <a:path w="1283404" h="641702">
                <a:moveTo>
                  <a:pt x="0" y="0"/>
                </a:moveTo>
                <a:lnTo>
                  <a:pt x="1283404" y="0"/>
                </a:lnTo>
                <a:lnTo>
                  <a:pt x="1283404" y="641702"/>
                </a:lnTo>
                <a:lnTo>
                  <a:pt x="0" y="641702"/>
                </a:lnTo>
                <a:lnTo>
                  <a:pt x="0" y="0"/>
                </a:lnTo>
                <a:close/>
              </a:path>
            </a:pathLst>
          </a:custGeom>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Sex at Birth</a:t>
            </a:r>
            <a:endParaRPr lang="en-NL" sz="1600" kern="1200" dirty="0"/>
          </a:p>
        </p:txBody>
      </p:sp>
      <p:sp>
        <p:nvSpPr>
          <p:cNvPr id="20" name="Freeform: Shape 19">
            <a:extLst>
              <a:ext uri="{FF2B5EF4-FFF2-40B4-BE49-F238E27FC236}">
                <a16:creationId xmlns:a16="http://schemas.microsoft.com/office/drawing/2014/main" id="{A15B4B08-6ACA-7E41-990C-988B6ACBAE16}"/>
              </a:ext>
            </a:extLst>
          </p:cNvPr>
          <p:cNvSpPr/>
          <p:nvPr/>
        </p:nvSpPr>
        <p:spPr>
          <a:xfrm>
            <a:off x="5552294" y="4379728"/>
            <a:ext cx="1283404" cy="641702"/>
          </a:xfrm>
          <a:custGeom>
            <a:avLst/>
            <a:gdLst>
              <a:gd name="csX0" fmla="*/ 0 w 1283404"/>
              <a:gd name="csY0" fmla="*/ 0 h 641702"/>
              <a:gd name="csX1" fmla="*/ 1283404 w 1283404"/>
              <a:gd name="csY1" fmla="*/ 0 h 641702"/>
              <a:gd name="csX2" fmla="*/ 1283404 w 1283404"/>
              <a:gd name="csY2" fmla="*/ 641702 h 641702"/>
              <a:gd name="csX3" fmla="*/ 0 w 1283404"/>
              <a:gd name="csY3" fmla="*/ 641702 h 641702"/>
              <a:gd name="csX4" fmla="*/ 0 w 1283404"/>
              <a:gd name="csY4" fmla="*/ 0 h 641702"/>
            </a:gdLst>
            <a:ahLst/>
            <a:cxnLst>
              <a:cxn ang="0">
                <a:pos x="csX0" y="csY0"/>
              </a:cxn>
              <a:cxn ang="0">
                <a:pos x="csX1" y="csY1"/>
              </a:cxn>
              <a:cxn ang="0">
                <a:pos x="csX2" y="csY2"/>
              </a:cxn>
              <a:cxn ang="0">
                <a:pos x="csX3" y="csY3"/>
              </a:cxn>
              <a:cxn ang="0">
                <a:pos x="csX4" y="csY4"/>
              </a:cxn>
            </a:cxnLst>
            <a:rect l="l" t="t" r="r" b="b"/>
            <a:pathLst>
              <a:path w="1283404" h="641702">
                <a:moveTo>
                  <a:pt x="0" y="0"/>
                </a:moveTo>
                <a:lnTo>
                  <a:pt x="1283404" y="0"/>
                </a:lnTo>
                <a:lnTo>
                  <a:pt x="1283404" y="641702"/>
                </a:lnTo>
                <a:lnTo>
                  <a:pt x="0" y="641702"/>
                </a:lnTo>
                <a:lnTo>
                  <a:pt x="0" y="0"/>
                </a:lnTo>
                <a:close/>
              </a:path>
            </a:pathLst>
          </a:custGeom>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Karyotypical Sex</a:t>
            </a:r>
            <a:endParaRPr lang="en-NL" sz="1600" kern="1200" dirty="0"/>
          </a:p>
        </p:txBody>
      </p:sp>
      <p:sp>
        <p:nvSpPr>
          <p:cNvPr id="21" name="Freeform: Shape 20">
            <a:extLst>
              <a:ext uri="{FF2B5EF4-FFF2-40B4-BE49-F238E27FC236}">
                <a16:creationId xmlns:a16="http://schemas.microsoft.com/office/drawing/2014/main" id="{C1F194EE-84EA-CAE9-867B-C024B69D84EA}"/>
              </a:ext>
            </a:extLst>
          </p:cNvPr>
          <p:cNvSpPr/>
          <p:nvPr/>
        </p:nvSpPr>
        <p:spPr>
          <a:xfrm>
            <a:off x="5552294" y="5290945"/>
            <a:ext cx="1283404" cy="641702"/>
          </a:xfrm>
          <a:custGeom>
            <a:avLst/>
            <a:gdLst>
              <a:gd name="csX0" fmla="*/ 0 w 1283404"/>
              <a:gd name="csY0" fmla="*/ 0 h 641702"/>
              <a:gd name="csX1" fmla="*/ 1283404 w 1283404"/>
              <a:gd name="csY1" fmla="*/ 0 h 641702"/>
              <a:gd name="csX2" fmla="*/ 1283404 w 1283404"/>
              <a:gd name="csY2" fmla="*/ 641702 h 641702"/>
              <a:gd name="csX3" fmla="*/ 0 w 1283404"/>
              <a:gd name="csY3" fmla="*/ 641702 h 641702"/>
              <a:gd name="csX4" fmla="*/ 0 w 1283404"/>
              <a:gd name="csY4" fmla="*/ 0 h 641702"/>
            </a:gdLst>
            <a:ahLst/>
            <a:cxnLst>
              <a:cxn ang="0">
                <a:pos x="csX0" y="csY0"/>
              </a:cxn>
              <a:cxn ang="0">
                <a:pos x="csX1" y="csY1"/>
              </a:cxn>
              <a:cxn ang="0">
                <a:pos x="csX2" y="csY2"/>
              </a:cxn>
              <a:cxn ang="0">
                <a:pos x="csX3" y="csY3"/>
              </a:cxn>
              <a:cxn ang="0">
                <a:pos x="csX4" y="csY4"/>
              </a:cxn>
            </a:cxnLst>
            <a:rect l="l" t="t" r="r" b="b"/>
            <a:pathLst>
              <a:path w="1283404" h="641702">
                <a:moveTo>
                  <a:pt x="0" y="0"/>
                </a:moveTo>
                <a:lnTo>
                  <a:pt x="1283404" y="0"/>
                </a:lnTo>
                <a:lnTo>
                  <a:pt x="1283404" y="641702"/>
                </a:lnTo>
                <a:lnTo>
                  <a:pt x="0" y="641702"/>
                </a:lnTo>
                <a:lnTo>
                  <a:pt x="0" y="0"/>
                </a:lnTo>
                <a:close/>
              </a:path>
            </a:pathLst>
          </a:custGeom>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a:t>
            </a:r>
            <a:endParaRPr lang="en-NL" sz="1600" kern="1200" dirty="0"/>
          </a:p>
        </p:txBody>
      </p:sp>
      <p:sp>
        <p:nvSpPr>
          <p:cNvPr id="22" name="Freeform: Shape 21">
            <a:extLst>
              <a:ext uri="{FF2B5EF4-FFF2-40B4-BE49-F238E27FC236}">
                <a16:creationId xmlns:a16="http://schemas.microsoft.com/office/drawing/2014/main" id="{F486B0EE-9FE3-C55E-8566-967522160058}"/>
              </a:ext>
            </a:extLst>
          </p:cNvPr>
          <p:cNvSpPr/>
          <p:nvPr/>
        </p:nvSpPr>
        <p:spPr>
          <a:xfrm>
            <a:off x="8658132" y="2557295"/>
            <a:ext cx="1283404" cy="641702"/>
          </a:xfrm>
          <a:custGeom>
            <a:avLst/>
            <a:gdLst>
              <a:gd name="csX0" fmla="*/ 0 w 1283404"/>
              <a:gd name="csY0" fmla="*/ 0 h 641702"/>
              <a:gd name="csX1" fmla="*/ 1283404 w 1283404"/>
              <a:gd name="csY1" fmla="*/ 0 h 641702"/>
              <a:gd name="csX2" fmla="*/ 1283404 w 1283404"/>
              <a:gd name="csY2" fmla="*/ 641702 h 641702"/>
              <a:gd name="csX3" fmla="*/ 0 w 1283404"/>
              <a:gd name="csY3" fmla="*/ 641702 h 641702"/>
              <a:gd name="csX4" fmla="*/ 0 w 1283404"/>
              <a:gd name="csY4" fmla="*/ 0 h 641702"/>
            </a:gdLst>
            <a:ahLst/>
            <a:cxnLst>
              <a:cxn ang="0">
                <a:pos x="csX0" y="csY0"/>
              </a:cxn>
              <a:cxn ang="0">
                <a:pos x="csX1" y="csY1"/>
              </a:cxn>
              <a:cxn ang="0">
                <a:pos x="csX2" y="csY2"/>
              </a:cxn>
              <a:cxn ang="0">
                <a:pos x="csX3" y="csY3"/>
              </a:cxn>
              <a:cxn ang="0">
                <a:pos x="csX4" y="csY4"/>
              </a:cxn>
            </a:cxnLst>
            <a:rect l="l" t="t" r="r" b="b"/>
            <a:pathLst>
              <a:path w="1283404" h="641702">
                <a:moveTo>
                  <a:pt x="0" y="0"/>
                </a:moveTo>
                <a:lnTo>
                  <a:pt x="1283404" y="0"/>
                </a:lnTo>
                <a:lnTo>
                  <a:pt x="1283404" y="641702"/>
                </a:lnTo>
                <a:lnTo>
                  <a:pt x="0" y="641702"/>
                </a:lnTo>
                <a:lnTo>
                  <a:pt x="0" y="0"/>
                </a:lnTo>
                <a:close/>
              </a:path>
            </a:pathLst>
          </a:custGeom>
        </p:spPr>
        <p:style>
          <a:lnRef idx="0">
            <a:schemeClr val="lt1">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(Social) Gender</a:t>
            </a:r>
            <a:endParaRPr lang="en-NL" sz="1600" kern="1200" dirty="0"/>
          </a:p>
        </p:txBody>
      </p:sp>
      <p:sp>
        <p:nvSpPr>
          <p:cNvPr id="23" name="Freeform: Shape 22">
            <a:extLst>
              <a:ext uri="{FF2B5EF4-FFF2-40B4-BE49-F238E27FC236}">
                <a16:creationId xmlns:a16="http://schemas.microsoft.com/office/drawing/2014/main" id="{26096047-5AB2-A47C-3EE1-E61DE894E2B1}"/>
              </a:ext>
            </a:extLst>
          </p:cNvPr>
          <p:cNvSpPr/>
          <p:nvPr/>
        </p:nvSpPr>
        <p:spPr>
          <a:xfrm>
            <a:off x="7105213" y="3468511"/>
            <a:ext cx="1283404" cy="641702"/>
          </a:xfrm>
          <a:custGeom>
            <a:avLst/>
            <a:gdLst>
              <a:gd name="csX0" fmla="*/ 0 w 1283404"/>
              <a:gd name="csY0" fmla="*/ 0 h 641702"/>
              <a:gd name="csX1" fmla="*/ 1283404 w 1283404"/>
              <a:gd name="csY1" fmla="*/ 0 h 641702"/>
              <a:gd name="csX2" fmla="*/ 1283404 w 1283404"/>
              <a:gd name="csY2" fmla="*/ 641702 h 641702"/>
              <a:gd name="csX3" fmla="*/ 0 w 1283404"/>
              <a:gd name="csY3" fmla="*/ 641702 h 641702"/>
              <a:gd name="csX4" fmla="*/ 0 w 1283404"/>
              <a:gd name="csY4" fmla="*/ 0 h 641702"/>
            </a:gdLst>
            <a:ahLst/>
            <a:cxnLst>
              <a:cxn ang="0">
                <a:pos x="csX0" y="csY0"/>
              </a:cxn>
              <a:cxn ang="0">
                <a:pos x="csX1" y="csY1"/>
              </a:cxn>
              <a:cxn ang="0">
                <a:pos x="csX2" y="csY2"/>
              </a:cxn>
              <a:cxn ang="0">
                <a:pos x="csX3" y="csY3"/>
              </a:cxn>
              <a:cxn ang="0">
                <a:pos x="csX4" y="csY4"/>
              </a:cxn>
            </a:cxnLst>
            <a:rect l="l" t="t" r="r" b="b"/>
            <a:pathLst>
              <a:path w="1283404" h="641702">
                <a:moveTo>
                  <a:pt x="0" y="0"/>
                </a:moveTo>
                <a:lnTo>
                  <a:pt x="1283404" y="0"/>
                </a:lnTo>
                <a:lnTo>
                  <a:pt x="1283404" y="641702"/>
                </a:lnTo>
                <a:lnTo>
                  <a:pt x="0" y="641702"/>
                </a:lnTo>
                <a:lnTo>
                  <a:pt x="0" y="0"/>
                </a:lnTo>
                <a:close/>
              </a:path>
            </a:pathLst>
          </a:custGeom>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Self-Identified Gender</a:t>
            </a:r>
            <a:endParaRPr lang="en-NL" sz="1600" kern="1200" dirty="0"/>
          </a:p>
        </p:txBody>
      </p:sp>
      <p:sp>
        <p:nvSpPr>
          <p:cNvPr id="24" name="Freeform: Shape 23">
            <a:extLst>
              <a:ext uri="{FF2B5EF4-FFF2-40B4-BE49-F238E27FC236}">
                <a16:creationId xmlns:a16="http://schemas.microsoft.com/office/drawing/2014/main" id="{F5500823-906A-479D-0D9D-4DF3B6C9ED1E}"/>
              </a:ext>
            </a:extLst>
          </p:cNvPr>
          <p:cNvSpPr/>
          <p:nvPr/>
        </p:nvSpPr>
        <p:spPr>
          <a:xfrm>
            <a:off x="8658132" y="3468511"/>
            <a:ext cx="1283404" cy="641702"/>
          </a:xfrm>
          <a:custGeom>
            <a:avLst/>
            <a:gdLst>
              <a:gd name="csX0" fmla="*/ 0 w 1283404"/>
              <a:gd name="csY0" fmla="*/ 0 h 641702"/>
              <a:gd name="csX1" fmla="*/ 1283404 w 1283404"/>
              <a:gd name="csY1" fmla="*/ 0 h 641702"/>
              <a:gd name="csX2" fmla="*/ 1283404 w 1283404"/>
              <a:gd name="csY2" fmla="*/ 641702 h 641702"/>
              <a:gd name="csX3" fmla="*/ 0 w 1283404"/>
              <a:gd name="csY3" fmla="*/ 641702 h 641702"/>
              <a:gd name="csX4" fmla="*/ 0 w 1283404"/>
              <a:gd name="csY4" fmla="*/ 0 h 641702"/>
            </a:gdLst>
            <a:ahLst/>
            <a:cxnLst>
              <a:cxn ang="0">
                <a:pos x="csX0" y="csY0"/>
              </a:cxn>
              <a:cxn ang="0">
                <a:pos x="csX1" y="csY1"/>
              </a:cxn>
              <a:cxn ang="0">
                <a:pos x="csX2" y="csY2"/>
              </a:cxn>
              <a:cxn ang="0">
                <a:pos x="csX3" y="csY3"/>
              </a:cxn>
              <a:cxn ang="0">
                <a:pos x="csX4" y="csY4"/>
              </a:cxn>
            </a:cxnLst>
            <a:rect l="l" t="t" r="r" b="b"/>
            <a:pathLst>
              <a:path w="1283404" h="641702">
                <a:moveTo>
                  <a:pt x="0" y="0"/>
                </a:moveTo>
                <a:lnTo>
                  <a:pt x="1283404" y="0"/>
                </a:lnTo>
                <a:lnTo>
                  <a:pt x="1283404" y="641702"/>
                </a:lnTo>
                <a:lnTo>
                  <a:pt x="0" y="641702"/>
                </a:lnTo>
                <a:lnTo>
                  <a:pt x="0" y="0"/>
                </a:lnTo>
                <a:close/>
              </a:path>
            </a:pathLst>
          </a:custGeom>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Administrative Gender</a:t>
            </a:r>
            <a:endParaRPr lang="en-NL" sz="1600" kern="1200" dirty="0"/>
          </a:p>
        </p:txBody>
      </p:sp>
      <p:sp>
        <p:nvSpPr>
          <p:cNvPr id="25" name="Freeform: Shape 24">
            <a:extLst>
              <a:ext uri="{FF2B5EF4-FFF2-40B4-BE49-F238E27FC236}">
                <a16:creationId xmlns:a16="http://schemas.microsoft.com/office/drawing/2014/main" id="{3B6D2050-4FFC-4978-A4A1-D65A84E9FD87}"/>
              </a:ext>
            </a:extLst>
          </p:cNvPr>
          <p:cNvSpPr/>
          <p:nvPr/>
        </p:nvSpPr>
        <p:spPr>
          <a:xfrm>
            <a:off x="8978983" y="4379728"/>
            <a:ext cx="1283404" cy="641702"/>
          </a:xfrm>
          <a:custGeom>
            <a:avLst/>
            <a:gdLst>
              <a:gd name="csX0" fmla="*/ 0 w 1283404"/>
              <a:gd name="csY0" fmla="*/ 0 h 641702"/>
              <a:gd name="csX1" fmla="*/ 1283404 w 1283404"/>
              <a:gd name="csY1" fmla="*/ 0 h 641702"/>
              <a:gd name="csX2" fmla="*/ 1283404 w 1283404"/>
              <a:gd name="csY2" fmla="*/ 641702 h 641702"/>
              <a:gd name="csX3" fmla="*/ 0 w 1283404"/>
              <a:gd name="csY3" fmla="*/ 641702 h 641702"/>
              <a:gd name="csX4" fmla="*/ 0 w 1283404"/>
              <a:gd name="csY4" fmla="*/ 0 h 641702"/>
            </a:gdLst>
            <a:ahLst/>
            <a:cxnLst>
              <a:cxn ang="0">
                <a:pos x="csX0" y="csY0"/>
              </a:cxn>
              <a:cxn ang="0">
                <a:pos x="csX1" y="csY1"/>
              </a:cxn>
              <a:cxn ang="0">
                <a:pos x="csX2" y="csY2"/>
              </a:cxn>
              <a:cxn ang="0">
                <a:pos x="csX3" y="csY3"/>
              </a:cxn>
              <a:cxn ang="0">
                <a:pos x="csX4" y="csY4"/>
              </a:cxn>
            </a:cxnLst>
            <a:rect l="l" t="t" r="r" b="b"/>
            <a:pathLst>
              <a:path w="1283404" h="641702">
                <a:moveTo>
                  <a:pt x="0" y="0"/>
                </a:moveTo>
                <a:lnTo>
                  <a:pt x="1283404" y="0"/>
                </a:lnTo>
                <a:lnTo>
                  <a:pt x="1283404" y="641702"/>
                </a:lnTo>
                <a:lnTo>
                  <a:pt x="0" y="641702"/>
                </a:lnTo>
                <a:lnTo>
                  <a:pt x="0" y="0"/>
                </a:lnTo>
                <a:close/>
              </a:path>
            </a:pathLst>
          </a:custGeom>
        </p:spPr>
        <p:style>
          <a:lnRef idx="0">
            <a:schemeClr val="lt1">
              <a:hueOff val="0"/>
              <a:satOff val="0"/>
              <a:lumOff val="0"/>
              <a:alphaOff val="0"/>
            </a:schemeClr>
          </a:lnRef>
          <a:fillRef idx="3">
            <a:schemeClr val="accent6">
              <a:hueOff val="0"/>
              <a:satOff val="0"/>
              <a:lumOff val="0"/>
              <a:alphaOff val="0"/>
            </a:schemeClr>
          </a:fillRef>
          <a:effectRef idx="2">
            <a:schemeClr val="accent6">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Legal Gender</a:t>
            </a:r>
            <a:endParaRPr lang="en-NL" sz="1600" kern="1200" dirty="0"/>
          </a:p>
        </p:txBody>
      </p:sp>
      <p:sp>
        <p:nvSpPr>
          <p:cNvPr id="26" name="Freeform: Shape 25">
            <a:extLst>
              <a:ext uri="{FF2B5EF4-FFF2-40B4-BE49-F238E27FC236}">
                <a16:creationId xmlns:a16="http://schemas.microsoft.com/office/drawing/2014/main" id="{C74EA158-CD50-331D-CF7B-12272D1D8344}"/>
              </a:ext>
            </a:extLst>
          </p:cNvPr>
          <p:cNvSpPr/>
          <p:nvPr/>
        </p:nvSpPr>
        <p:spPr>
          <a:xfrm>
            <a:off x="10211051" y="3468511"/>
            <a:ext cx="1283404" cy="641702"/>
          </a:xfrm>
          <a:custGeom>
            <a:avLst/>
            <a:gdLst>
              <a:gd name="csX0" fmla="*/ 0 w 1283404"/>
              <a:gd name="csY0" fmla="*/ 0 h 641702"/>
              <a:gd name="csX1" fmla="*/ 1283404 w 1283404"/>
              <a:gd name="csY1" fmla="*/ 0 h 641702"/>
              <a:gd name="csX2" fmla="*/ 1283404 w 1283404"/>
              <a:gd name="csY2" fmla="*/ 641702 h 641702"/>
              <a:gd name="csX3" fmla="*/ 0 w 1283404"/>
              <a:gd name="csY3" fmla="*/ 641702 h 641702"/>
              <a:gd name="csX4" fmla="*/ 0 w 1283404"/>
              <a:gd name="csY4" fmla="*/ 0 h 641702"/>
            </a:gdLst>
            <a:ahLst/>
            <a:cxnLst>
              <a:cxn ang="0">
                <a:pos x="csX0" y="csY0"/>
              </a:cxn>
              <a:cxn ang="0">
                <a:pos x="csX1" y="csY1"/>
              </a:cxn>
              <a:cxn ang="0">
                <a:pos x="csX2" y="csY2"/>
              </a:cxn>
              <a:cxn ang="0">
                <a:pos x="csX3" y="csY3"/>
              </a:cxn>
              <a:cxn ang="0">
                <a:pos x="csX4" y="csY4"/>
              </a:cxn>
            </a:cxnLst>
            <a:rect l="l" t="t" r="r" b="b"/>
            <a:pathLst>
              <a:path w="1283404" h="641702">
                <a:moveTo>
                  <a:pt x="0" y="0"/>
                </a:moveTo>
                <a:lnTo>
                  <a:pt x="1283404" y="0"/>
                </a:lnTo>
                <a:lnTo>
                  <a:pt x="1283404" y="641702"/>
                </a:lnTo>
                <a:lnTo>
                  <a:pt x="0" y="641702"/>
                </a:lnTo>
                <a:lnTo>
                  <a:pt x="0" y="0"/>
                </a:lnTo>
                <a:close/>
              </a:path>
            </a:pathLst>
          </a:custGeom>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a:t>
            </a:r>
            <a:endParaRPr lang="en-NL" sz="1600" kern="1200" dirty="0"/>
          </a:p>
        </p:txBody>
      </p:sp>
      <p:sp>
        <p:nvSpPr>
          <p:cNvPr id="4" name="Slide Number Placeholder 3">
            <a:extLst>
              <a:ext uri="{FF2B5EF4-FFF2-40B4-BE49-F238E27FC236}">
                <a16:creationId xmlns:a16="http://schemas.microsoft.com/office/drawing/2014/main" id="{986881E5-227B-5340-4484-0AD6195CAE39}"/>
              </a:ext>
            </a:extLst>
          </p:cNvPr>
          <p:cNvSpPr>
            <a:spLocks noGrp="1"/>
          </p:cNvSpPr>
          <p:nvPr>
            <p:ph type="sldNum" sz="quarter" idx="12"/>
          </p:nvPr>
        </p:nvSpPr>
        <p:spPr/>
        <p:txBody>
          <a:bodyPr/>
          <a:lstStyle/>
          <a:p>
            <a:fld id="{4FAB73BC-B049-4115-A692-8D63A059BFB8}" type="slidenum">
              <a:rPr lang="en-US" smtClean="0"/>
              <a:pPr/>
              <a:t>9</a:t>
            </a:fld>
            <a:endParaRPr lang="en-US" dirty="0"/>
          </a:p>
        </p:txBody>
      </p:sp>
      <p:sp>
        <p:nvSpPr>
          <p:cNvPr id="6" name="Content Placeholder 2">
            <a:extLst>
              <a:ext uri="{FF2B5EF4-FFF2-40B4-BE49-F238E27FC236}">
                <a16:creationId xmlns:a16="http://schemas.microsoft.com/office/drawing/2014/main" id="{3F168FFB-0632-A9C5-38BB-25E0106FBE21}"/>
              </a:ext>
            </a:extLst>
          </p:cNvPr>
          <p:cNvSpPr txBox="1">
            <a:spLocks/>
          </p:cNvSpPr>
          <p:nvPr/>
        </p:nvSpPr>
        <p:spPr>
          <a:xfrm>
            <a:off x="695326" y="1628776"/>
            <a:ext cx="3733800" cy="4321174"/>
          </a:xfrm>
          <a:prstGeom prst="rect">
            <a:avLst/>
          </a:prstGeom>
        </p:spPr>
        <p:txBody>
          <a:bodyPr vert="horz" lIns="45720" tIns="45720" rIns="45720" bIns="45720" rtlCol="0">
            <a:normAutofit/>
          </a:bodyPr>
          <a:lstStyle>
            <a:lvl1pPr marL="91440" indent="360000" algn="l" defTabSz="914400" rtl="0" eaLnBrk="1" latinLnBrk="0" hangingPunct="1">
              <a:lnSpc>
                <a:spcPct val="105000"/>
              </a:lnSpc>
              <a:spcBef>
                <a:spcPts val="600"/>
              </a:spcBef>
              <a:spcAft>
                <a:spcPts val="600"/>
              </a:spcAft>
              <a:buClr>
                <a:schemeClr val="tx1"/>
              </a:buClr>
              <a:buSzPct val="115000"/>
              <a:buFont typeface="Arial" panose="020B0604020202020204" pitchFamily="34" charset="0"/>
              <a:buChar char="•"/>
              <a:defRPr sz="2400" kern="1200">
                <a:solidFill>
                  <a:schemeClr val="tx1"/>
                </a:solidFill>
                <a:latin typeface="Aptos" panose="020B0004020202020204" pitchFamily="34" charset="0"/>
                <a:ea typeface="+mn-ea"/>
                <a:cs typeface="+mn-cs"/>
              </a:defRPr>
            </a:lvl1pPr>
            <a:lvl2pPr marL="265176" indent="360000" algn="l" defTabSz="914400" rtl="0" eaLnBrk="1" latinLnBrk="0" hangingPunct="1">
              <a:lnSpc>
                <a:spcPct val="105000"/>
              </a:lnSpc>
              <a:spcBef>
                <a:spcPts val="600"/>
              </a:spcBef>
              <a:spcAft>
                <a:spcPts val="600"/>
              </a:spcAft>
              <a:buClr>
                <a:schemeClr val="tx1"/>
              </a:buClr>
              <a:buSzPct val="115000"/>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448056" indent="360000" algn="l" defTabSz="914400" rtl="0" eaLnBrk="1" latinLnBrk="0" hangingPunct="1">
              <a:lnSpc>
                <a:spcPct val="105000"/>
              </a:lnSpc>
              <a:spcBef>
                <a:spcPts val="600"/>
              </a:spcBef>
              <a:spcAft>
                <a:spcPts val="600"/>
              </a:spcAft>
              <a:buClr>
                <a:schemeClr val="tx1"/>
              </a:buClr>
              <a:buSzPct val="115000"/>
              <a:buFont typeface="Arial" panose="020B0604020202020204" pitchFamily="34" charset="0"/>
              <a:buChar char="•"/>
              <a:defRPr sz="1600" kern="1200">
                <a:solidFill>
                  <a:schemeClr val="tx1"/>
                </a:solidFill>
                <a:latin typeface="Aptos" panose="020B0004020202020204" pitchFamily="34" charset="0"/>
                <a:ea typeface="+mn-ea"/>
                <a:cs typeface="+mn-cs"/>
              </a:defRPr>
            </a:lvl3pPr>
            <a:lvl4pPr marL="594360" indent="360000" algn="l" defTabSz="914400" rtl="0" eaLnBrk="1" latinLnBrk="0" hangingPunct="1">
              <a:lnSpc>
                <a:spcPct val="105000"/>
              </a:lnSpc>
              <a:spcBef>
                <a:spcPts val="600"/>
              </a:spcBef>
              <a:spcAft>
                <a:spcPts val="600"/>
              </a:spcAft>
              <a:buClr>
                <a:schemeClr val="tx1"/>
              </a:buClr>
              <a:buSzPct val="115000"/>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777240" indent="360000" algn="l" defTabSz="914400" rtl="0" eaLnBrk="1" latinLnBrk="0" hangingPunct="1">
              <a:lnSpc>
                <a:spcPct val="105000"/>
              </a:lnSpc>
              <a:spcBef>
                <a:spcPts val="600"/>
              </a:spcBef>
              <a:spcAft>
                <a:spcPts val="0"/>
              </a:spcAft>
              <a:buClr>
                <a:schemeClr val="tx1"/>
              </a:buClr>
              <a:buSzPct val="115000"/>
              <a:buFont typeface="Arial" panose="020B0604020202020204" pitchFamily="34" charset="0"/>
              <a:buChar char="•"/>
              <a:defRPr sz="1600" kern="1200">
                <a:solidFill>
                  <a:schemeClr val="tx1"/>
                </a:solidFill>
                <a:latin typeface="Aptos" panose="020B0004020202020204" pitchFamily="34" charset="0"/>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sz="2000" dirty="0"/>
              <a:t>Sex and Gender are not single, uniform meanings; each branches into multiple interpretations/specializations.</a:t>
            </a:r>
          </a:p>
          <a:p>
            <a:r>
              <a:rPr lang="en-US" sz="2000" dirty="0"/>
              <a:t>Before comparing dataset variables, we must distinguish which specialization a concept actually refers to.</a:t>
            </a:r>
            <a:endParaRPr lang="en-NL" sz="2000" dirty="0"/>
          </a:p>
        </p:txBody>
      </p:sp>
      <p:grpSp>
        <p:nvGrpSpPr>
          <p:cNvPr id="37" name="Group 36">
            <a:extLst>
              <a:ext uri="{FF2B5EF4-FFF2-40B4-BE49-F238E27FC236}">
                <a16:creationId xmlns:a16="http://schemas.microsoft.com/office/drawing/2014/main" id="{F8DB9E58-D495-C009-3F1E-1CB6B001DA6F}"/>
              </a:ext>
            </a:extLst>
          </p:cNvPr>
          <p:cNvGrpSpPr/>
          <p:nvPr/>
        </p:nvGrpSpPr>
        <p:grpSpPr>
          <a:xfrm>
            <a:off x="5111999" y="2100997"/>
            <a:ext cx="1551600" cy="1152000"/>
            <a:chOff x="5143498" y="2009366"/>
            <a:chExt cx="1551600" cy="1152000"/>
          </a:xfrm>
        </p:grpSpPr>
        <p:sp>
          <p:nvSpPr>
            <p:cNvPr id="28" name="Rectangle 27">
              <a:extLst>
                <a:ext uri="{FF2B5EF4-FFF2-40B4-BE49-F238E27FC236}">
                  <a16:creationId xmlns:a16="http://schemas.microsoft.com/office/drawing/2014/main" id="{CBB7A0DB-4B74-08CF-6FF9-BD5302671E95}"/>
                </a:ext>
              </a:extLst>
            </p:cNvPr>
            <p:cNvSpPr/>
            <p:nvPr/>
          </p:nvSpPr>
          <p:spPr>
            <a:xfrm>
              <a:off x="5143498" y="2009366"/>
              <a:ext cx="1551600" cy="1152000"/>
            </a:xfrm>
            <a:prstGeom prst="rect">
              <a:avLst/>
            </a:prstGeom>
            <a:noFill/>
            <a:ln w="412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9" name="Rectangle 28">
              <a:extLst>
                <a:ext uri="{FF2B5EF4-FFF2-40B4-BE49-F238E27FC236}">
                  <a16:creationId xmlns:a16="http://schemas.microsoft.com/office/drawing/2014/main" id="{2CB8052D-75EE-F7D2-1761-D8D12E13CFB4}"/>
                </a:ext>
              </a:extLst>
            </p:cNvPr>
            <p:cNvSpPr/>
            <p:nvPr/>
          </p:nvSpPr>
          <p:spPr>
            <a:xfrm>
              <a:off x="5143498" y="2014112"/>
              <a:ext cx="1551600" cy="398897"/>
            </a:xfrm>
            <a:prstGeom prst="rect">
              <a:avLst/>
            </a:prstGeom>
            <a:solidFill>
              <a:schemeClr val="accent1">
                <a:lumMod val="20000"/>
                <a:lumOff val="80000"/>
              </a:schemeClr>
            </a:solidFill>
            <a:ln w="412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b="1" dirty="0" err="1">
                  <a:solidFill>
                    <a:schemeClr val="tx1"/>
                  </a:solidFill>
                </a:rPr>
                <a:t>care-sm:Sex</a:t>
              </a:r>
              <a:endParaRPr lang="en-NL" sz="1000" dirty="0">
                <a:solidFill>
                  <a:schemeClr val="tx1"/>
                </a:solidFill>
              </a:endParaRPr>
            </a:p>
            <a:p>
              <a:r>
                <a:rPr lang="en-US" sz="1000" b="1" dirty="0">
                  <a:solidFill>
                    <a:schemeClr val="tx1"/>
                  </a:solidFill>
                </a:rPr>
                <a:t>("Biological sex"@</a:t>
              </a:r>
              <a:r>
                <a:rPr lang="en-US" sz="1000" b="1" dirty="0" err="1">
                  <a:solidFill>
                    <a:schemeClr val="tx1"/>
                  </a:solidFill>
                </a:rPr>
                <a:t>en</a:t>
              </a:r>
              <a:r>
                <a:rPr lang="en-US" sz="1000" b="1" dirty="0">
                  <a:solidFill>
                    <a:schemeClr val="tx1"/>
                  </a:solidFill>
                </a:rPr>
                <a:t>)</a:t>
              </a:r>
              <a:endParaRPr lang="en-NL" sz="1000" dirty="0">
                <a:solidFill>
                  <a:schemeClr val="tx1"/>
                </a:solidFill>
                <a:effectLst/>
              </a:endParaRPr>
            </a:p>
          </p:txBody>
        </p:sp>
      </p:grpSp>
      <p:grpSp>
        <p:nvGrpSpPr>
          <p:cNvPr id="39" name="Group 38">
            <a:extLst>
              <a:ext uri="{FF2B5EF4-FFF2-40B4-BE49-F238E27FC236}">
                <a16:creationId xmlns:a16="http://schemas.microsoft.com/office/drawing/2014/main" id="{0A955DB8-1DD7-13D5-31F0-A91FB41F8C00}"/>
              </a:ext>
            </a:extLst>
          </p:cNvPr>
          <p:cNvGrpSpPr/>
          <p:nvPr/>
        </p:nvGrpSpPr>
        <p:grpSpPr>
          <a:xfrm>
            <a:off x="8556802" y="3024915"/>
            <a:ext cx="1552918" cy="1152000"/>
            <a:chOff x="8585377" y="2996340"/>
            <a:chExt cx="1552918" cy="1152000"/>
          </a:xfrm>
        </p:grpSpPr>
        <p:sp>
          <p:nvSpPr>
            <p:cNvPr id="31" name="Rectangle 30">
              <a:extLst>
                <a:ext uri="{FF2B5EF4-FFF2-40B4-BE49-F238E27FC236}">
                  <a16:creationId xmlns:a16="http://schemas.microsoft.com/office/drawing/2014/main" id="{73F8E7AA-60D4-87CE-6031-F6C6271EF98A}"/>
                </a:ext>
              </a:extLst>
            </p:cNvPr>
            <p:cNvSpPr/>
            <p:nvPr/>
          </p:nvSpPr>
          <p:spPr>
            <a:xfrm>
              <a:off x="8585377" y="2996340"/>
              <a:ext cx="1552918" cy="1152000"/>
            </a:xfrm>
            <a:prstGeom prst="rect">
              <a:avLst/>
            </a:prstGeom>
            <a:noFill/>
            <a:ln w="412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2" name="Rectangle 31">
              <a:extLst>
                <a:ext uri="{FF2B5EF4-FFF2-40B4-BE49-F238E27FC236}">
                  <a16:creationId xmlns:a16="http://schemas.microsoft.com/office/drawing/2014/main" id="{F356F813-89E9-718B-782F-3F9EFFF53110}"/>
                </a:ext>
              </a:extLst>
            </p:cNvPr>
            <p:cNvSpPr/>
            <p:nvPr/>
          </p:nvSpPr>
          <p:spPr>
            <a:xfrm>
              <a:off x="8585377" y="2996340"/>
              <a:ext cx="1552918" cy="398897"/>
            </a:xfrm>
            <a:prstGeom prst="rect">
              <a:avLst/>
            </a:prstGeom>
            <a:solidFill>
              <a:schemeClr val="accent2">
                <a:lumMod val="20000"/>
                <a:lumOff val="80000"/>
              </a:schemeClr>
            </a:solidFill>
            <a:ln w="412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r>
                <a:rPr lang="en-US" sz="900" b="1" dirty="0">
                  <a:solidFill>
                    <a:schemeClr val="tx1"/>
                  </a:solidFill>
                </a:rPr>
                <a:t>  loinc:107454-1</a:t>
              </a:r>
              <a:endParaRPr lang="en-NL" sz="900" dirty="0">
                <a:solidFill>
                  <a:schemeClr val="tx1"/>
                </a:solidFill>
              </a:endParaRPr>
            </a:p>
            <a:p>
              <a:r>
                <a:rPr lang="en-US" sz="900" b="1" dirty="0">
                  <a:solidFill>
                    <a:schemeClr val="tx1"/>
                  </a:solidFill>
                </a:rPr>
                <a:t>("Administrative gender"@</a:t>
              </a:r>
              <a:r>
                <a:rPr lang="en-US" sz="900" b="1" dirty="0" err="1">
                  <a:solidFill>
                    <a:schemeClr val="tx1"/>
                  </a:solidFill>
                </a:rPr>
                <a:t>en</a:t>
              </a:r>
              <a:r>
                <a:rPr lang="en-US" sz="900" b="1" dirty="0">
                  <a:solidFill>
                    <a:schemeClr val="tx1"/>
                  </a:solidFill>
                </a:rPr>
                <a:t>)</a:t>
              </a:r>
              <a:endParaRPr lang="en-NL" sz="900" dirty="0">
                <a:solidFill>
                  <a:schemeClr val="tx1"/>
                </a:solidFill>
                <a:effectLst/>
              </a:endParaRPr>
            </a:p>
          </p:txBody>
        </p:sp>
      </p:grpSp>
      <p:sp>
        <p:nvSpPr>
          <p:cNvPr id="33" name="Freeform: Shape 32">
            <a:extLst>
              <a:ext uri="{FF2B5EF4-FFF2-40B4-BE49-F238E27FC236}">
                <a16:creationId xmlns:a16="http://schemas.microsoft.com/office/drawing/2014/main" id="{2AFBF8BF-F5BC-18EF-7CB7-AFBEC6E7CCA1}"/>
              </a:ext>
            </a:extLst>
          </p:cNvPr>
          <p:cNvSpPr/>
          <p:nvPr/>
        </p:nvSpPr>
        <p:spPr>
          <a:xfrm>
            <a:off x="9460875" y="4128026"/>
            <a:ext cx="91440" cy="269514"/>
          </a:xfrm>
          <a:custGeom>
            <a:avLst/>
            <a:gdLst/>
            <a:ahLst/>
            <a:cxnLst/>
            <a:rect l="0" t="0" r="0" b="0"/>
            <a:pathLst>
              <a:path>
                <a:moveTo>
                  <a:pt x="45720" y="0"/>
                </a:moveTo>
                <a:lnTo>
                  <a:pt x="45720" y="269514"/>
                </a:lnTo>
              </a:path>
            </a:pathLst>
          </a:custGeom>
          <a:noFill/>
        </p:spPr>
        <p:style>
          <a:lnRef idx="1">
            <a:schemeClr val="accent5">
              <a:hueOff val="0"/>
              <a:satOff val="0"/>
              <a:lumOff val="0"/>
              <a:alphaOff val="0"/>
            </a:schemeClr>
          </a:lnRef>
          <a:fillRef idx="0">
            <a:scrgbClr r="0" g="0" b="0"/>
          </a:fillRef>
          <a:effectRef idx="0">
            <a:schemeClr val="accent2">
              <a:tint val="70000"/>
              <a:hueOff val="0"/>
              <a:satOff val="0"/>
              <a:lumOff val="0"/>
              <a:alphaOff val="0"/>
            </a:schemeClr>
          </a:effectRef>
          <a:fontRef idx="minor">
            <a:schemeClr val="tx1">
              <a:hueOff val="0"/>
              <a:satOff val="0"/>
              <a:lumOff val="0"/>
              <a:alphaOff val="0"/>
            </a:schemeClr>
          </a:fontRef>
        </p:style>
        <p:txBody>
          <a:bodyPr/>
          <a:lstStyle/>
          <a:p>
            <a:endParaRPr lang="en-NL"/>
          </a:p>
        </p:txBody>
      </p:sp>
      <p:grpSp>
        <p:nvGrpSpPr>
          <p:cNvPr id="38" name="Group 37">
            <a:extLst>
              <a:ext uri="{FF2B5EF4-FFF2-40B4-BE49-F238E27FC236}">
                <a16:creationId xmlns:a16="http://schemas.microsoft.com/office/drawing/2014/main" id="{37E8FCA7-0DEE-707A-183B-CB048EE35972}"/>
              </a:ext>
            </a:extLst>
          </p:cNvPr>
          <p:cNvGrpSpPr/>
          <p:nvPr/>
        </p:nvGrpSpPr>
        <p:grpSpPr>
          <a:xfrm>
            <a:off x="8849287" y="3934893"/>
            <a:ext cx="1551600" cy="1152000"/>
            <a:chOff x="7038287" y="2996339"/>
            <a:chExt cx="1551600" cy="1152000"/>
          </a:xfrm>
        </p:grpSpPr>
        <p:sp>
          <p:nvSpPr>
            <p:cNvPr id="35" name="Rectangle 34">
              <a:extLst>
                <a:ext uri="{FF2B5EF4-FFF2-40B4-BE49-F238E27FC236}">
                  <a16:creationId xmlns:a16="http://schemas.microsoft.com/office/drawing/2014/main" id="{AE87E5D4-DABC-00F0-C0C5-7692DA92CCEA}"/>
                </a:ext>
              </a:extLst>
            </p:cNvPr>
            <p:cNvSpPr/>
            <p:nvPr/>
          </p:nvSpPr>
          <p:spPr>
            <a:xfrm>
              <a:off x="7038287" y="2996339"/>
              <a:ext cx="1551600" cy="1152000"/>
            </a:xfrm>
            <a:prstGeom prst="rect">
              <a:avLst/>
            </a:prstGeom>
            <a:noFill/>
            <a:ln w="412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7ACF39D-93CA-E983-96EF-5ACB96BB750D}"/>
                </a:ext>
              </a:extLst>
            </p:cNvPr>
            <p:cNvSpPr/>
            <p:nvPr/>
          </p:nvSpPr>
          <p:spPr>
            <a:xfrm>
              <a:off x="7038287" y="2996340"/>
              <a:ext cx="1551600" cy="398897"/>
            </a:xfrm>
            <a:prstGeom prst="rect">
              <a:avLst/>
            </a:prstGeom>
            <a:solidFill>
              <a:schemeClr val="accent4">
                <a:lumMod val="20000"/>
                <a:lumOff val="80000"/>
              </a:schemeClr>
            </a:solidFill>
            <a:ln w="412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b="1" dirty="0" err="1">
                  <a:solidFill>
                    <a:schemeClr val="tx1"/>
                  </a:solidFill>
                </a:rPr>
                <a:t>hri-openehr:legal-gender</a:t>
              </a:r>
              <a:endParaRPr lang="en-NL" sz="900" dirty="0">
                <a:solidFill>
                  <a:schemeClr val="tx1"/>
                </a:solidFill>
              </a:endParaRPr>
            </a:p>
            <a:p>
              <a:r>
                <a:rPr lang="en-US" sz="900" b="1" dirty="0">
                  <a:solidFill>
                    <a:schemeClr val="tx1"/>
                  </a:solidFill>
                </a:rPr>
                <a:t>("Legal gender"@</a:t>
              </a:r>
              <a:r>
                <a:rPr lang="en-US" sz="900" b="1" dirty="0" err="1">
                  <a:solidFill>
                    <a:schemeClr val="tx1"/>
                  </a:solidFill>
                </a:rPr>
                <a:t>en</a:t>
              </a:r>
              <a:r>
                <a:rPr lang="en-US" sz="900" b="1" dirty="0">
                  <a:solidFill>
                    <a:schemeClr val="tx1"/>
                  </a:solidFill>
                </a:rPr>
                <a:t>)</a:t>
              </a:r>
              <a:endParaRPr lang="en-NL" sz="900" dirty="0">
                <a:solidFill>
                  <a:schemeClr val="tx1"/>
                </a:solidFill>
              </a:endParaRPr>
            </a:p>
          </p:txBody>
        </p:sp>
      </p:grpSp>
      <p:sp>
        <p:nvSpPr>
          <p:cNvPr id="5" name="TextBox 4">
            <a:extLst>
              <a:ext uri="{FF2B5EF4-FFF2-40B4-BE49-F238E27FC236}">
                <a16:creationId xmlns:a16="http://schemas.microsoft.com/office/drawing/2014/main" id="{1F3F3376-F747-5E5F-A0E2-E3242D0E9BC6}"/>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a:t>
            </a:r>
            <a:r>
              <a:rPr lang="en-US" sz="1200" b="1" cap="small" spc="100" dirty="0">
                <a:solidFill>
                  <a:srgbClr val="000000">
                    <a:lumMod val="95000"/>
                    <a:lumOff val="5000"/>
                  </a:srgbClr>
                </a:solidFill>
                <a:latin typeface="Aptos" panose="020B0004020202020204" pitchFamily="34" charset="0"/>
                <a:ea typeface="+mj-ea"/>
                <a:cs typeface="+mj-cs"/>
              </a:rPr>
              <a:t>1</a:t>
            </a:r>
            <a:endParaRPr lang="en-NL" sz="1000" b="1" dirty="0"/>
          </a:p>
        </p:txBody>
      </p:sp>
    </p:spTree>
    <p:extLst>
      <p:ext uri="{BB962C8B-B14F-4D97-AF65-F5344CB8AC3E}">
        <p14:creationId xmlns:p14="http://schemas.microsoft.com/office/powerpoint/2010/main" val="789028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00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500"/>
                                        <p:tgtEl>
                                          <p:spTgt spid="37"/>
                                        </p:tgtEl>
                                      </p:cBhvr>
                                    </p:animEffect>
                                  </p:childTnLst>
                                </p:cTn>
                              </p:par>
                            </p:childTnLst>
                          </p:cTn>
                        </p:par>
                        <p:par>
                          <p:cTn id="8" fill="hold">
                            <p:stCondLst>
                              <p:cond delay="2500"/>
                            </p:stCondLst>
                            <p:childTnLst>
                              <p:par>
                                <p:cTn id="9" presetID="10" presetClass="entr" presetSubtype="0" fill="hold" nodeType="afterEffect">
                                  <p:stCondLst>
                                    <p:cond delay="0"/>
                                  </p:stCondLst>
                                  <p:childTnLst>
                                    <p:set>
                                      <p:cBhvr>
                                        <p:cTn id="10" dur="1" fill="hold">
                                          <p:stCondLst>
                                            <p:cond delay="0"/>
                                          </p:stCondLst>
                                        </p:cTn>
                                        <p:tgtEl>
                                          <p:spTgt spid="38"/>
                                        </p:tgtEl>
                                        <p:attrNameLst>
                                          <p:attrName>style.visibility</p:attrName>
                                        </p:attrNameLst>
                                      </p:cBhvr>
                                      <p:to>
                                        <p:strVal val="visible"/>
                                      </p:to>
                                    </p:set>
                                    <p:animEffect transition="in" filter="fade">
                                      <p:cBhvr>
                                        <p:cTn id="11" dur="500"/>
                                        <p:tgtEl>
                                          <p:spTgt spid="38"/>
                                        </p:tgtEl>
                                      </p:cBhvr>
                                    </p:animEffect>
                                  </p:childTnLst>
                                </p:cTn>
                              </p:par>
                            </p:childTnLst>
                          </p:cTn>
                        </p:par>
                        <p:par>
                          <p:cTn id="12" fill="hold">
                            <p:stCondLst>
                              <p:cond delay="3000"/>
                            </p:stCondLst>
                            <p:childTnLst>
                              <p:par>
                                <p:cTn id="13" presetID="10" presetClass="entr" presetSubtype="0" fill="hold" nodeType="afterEffect">
                                  <p:stCondLst>
                                    <p:cond delay="0"/>
                                  </p:stCondLst>
                                  <p:childTnLst>
                                    <p:set>
                                      <p:cBhvr>
                                        <p:cTn id="14" dur="1" fill="hold">
                                          <p:stCondLst>
                                            <p:cond delay="0"/>
                                          </p:stCondLst>
                                        </p:cTn>
                                        <p:tgtEl>
                                          <p:spTgt spid="39"/>
                                        </p:tgtEl>
                                        <p:attrNameLst>
                                          <p:attrName>style.visibility</p:attrName>
                                        </p:attrNameLst>
                                      </p:cBhvr>
                                      <p:to>
                                        <p:strVal val="visible"/>
                                      </p:to>
                                    </p:set>
                                    <p:animEffect transition="in" filter="fade">
                                      <p:cBhvr>
                                        <p:cTn id="15"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310D6357-FEDA-07C4-2E79-87293B89911C}"/>
              </a:ext>
            </a:extLst>
          </p:cNvPr>
          <p:cNvSpPr/>
          <p:nvPr/>
        </p:nvSpPr>
        <p:spPr>
          <a:xfrm>
            <a:off x="695325" y="2320417"/>
            <a:ext cx="10801348" cy="3633279"/>
          </a:xfrm>
          <a:prstGeom prst="rect">
            <a:avLst/>
          </a:prstGeom>
          <a:solidFill>
            <a:schemeClr val="bg1">
              <a:lumMod val="95000"/>
            </a:schemeClr>
          </a:solidFill>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NL"/>
          </a:p>
        </p:txBody>
      </p:sp>
      <p:sp>
        <p:nvSpPr>
          <p:cNvPr id="4" name="Slide Number Placeholder 3">
            <a:extLst>
              <a:ext uri="{FF2B5EF4-FFF2-40B4-BE49-F238E27FC236}">
                <a16:creationId xmlns:a16="http://schemas.microsoft.com/office/drawing/2014/main" id="{3266A207-478C-85D4-AE06-3A4DA77082F9}"/>
              </a:ext>
            </a:extLst>
          </p:cNvPr>
          <p:cNvSpPr>
            <a:spLocks noGrp="1"/>
          </p:cNvSpPr>
          <p:nvPr>
            <p:ph type="sldNum" sz="quarter" idx="12"/>
          </p:nvPr>
        </p:nvSpPr>
        <p:spPr/>
        <p:txBody>
          <a:bodyPr/>
          <a:lstStyle/>
          <a:p>
            <a:fld id="{4FAB73BC-B049-4115-A692-8D63A059BFB8}" type="slidenum">
              <a:rPr lang="en-US" smtClean="0"/>
              <a:pPr/>
              <a:t>10</a:t>
            </a:fld>
            <a:endParaRPr lang="en-US" dirty="0"/>
          </a:p>
        </p:txBody>
      </p:sp>
      <p:sp>
        <p:nvSpPr>
          <p:cNvPr id="31" name="Freeform: Shape 30">
            <a:extLst>
              <a:ext uri="{FF2B5EF4-FFF2-40B4-BE49-F238E27FC236}">
                <a16:creationId xmlns:a16="http://schemas.microsoft.com/office/drawing/2014/main" id="{43B1D888-2C0A-2891-438B-A84D3B4E488D}"/>
              </a:ext>
            </a:extLst>
          </p:cNvPr>
          <p:cNvSpPr/>
          <p:nvPr/>
        </p:nvSpPr>
        <p:spPr>
          <a:xfrm>
            <a:off x="695325" y="1627628"/>
            <a:ext cx="10801349" cy="625636"/>
          </a:xfrm>
          <a:custGeom>
            <a:avLst/>
            <a:gdLst>
              <a:gd name="csX0" fmla="*/ 0 w 4438051"/>
              <a:gd name="csY0" fmla="*/ 0 h 647514"/>
              <a:gd name="csX1" fmla="*/ 4438051 w 4438051"/>
              <a:gd name="csY1" fmla="*/ 0 h 647514"/>
              <a:gd name="csX2" fmla="*/ 4438051 w 4438051"/>
              <a:gd name="csY2" fmla="*/ 647514 h 647514"/>
              <a:gd name="csX3" fmla="*/ 0 w 4438051"/>
              <a:gd name="csY3" fmla="*/ 647514 h 647514"/>
              <a:gd name="csX4" fmla="*/ 0 w 4438051"/>
              <a:gd name="csY4" fmla="*/ 0 h 647514"/>
            </a:gdLst>
            <a:ahLst/>
            <a:cxnLst>
              <a:cxn ang="0">
                <a:pos x="csX0" y="csY0"/>
              </a:cxn>
              <a:cxn ang="0">
                <a:pos x="csX1" y="csY1"/>
              </a:cxn>
              <a:cxn ang="0">
                <a:pos x="csX2" y="csY2"/>
              </a:cxn>
              <a:cxn ang="0">
                <a:pos x="csX3" y="csY3"/>
              </a:cxn>
              <a:cxn ang="0">
                <a:pos x="csX4" y="csY4"/>
              </a:cxn>
            </a:cxnLst>
            <a:rect l="l" t="t" r="r" b="b"/>
            <a:pathLst>
              <a:path w="4438051" h="647514">
                <a:moveTo>
                  <a:pt x="0" y="0"/>
                </a:moveTo>
                <a:lnTo>
                  <a:pt x="4438051" y="0"/>
                </a:lnTo>
                <a:lnTo>
                  <a:pt x="4438051" y="647514"/>
                </a:lnTo>
                <a:lnTo>
                  <a:pt x="0" y="647514"/>
                </a:lnTo>
                <a:lnTo>
                  <a:pt x="0" y="0"/>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2000" b="1" kern="1200" dirty="0">
                <a:solidFill>
                  <a:schemeClr val="accent1"/>
                </a:solidFill>
              </a:rPr>
              <a:t>The Health-RI Semantic Interoperability Initiative</a:t>
            </a:r>
            <a:endParaRPr lang="en-NL" sz="2000" b="1" kern="1200" dirty="0"/>
          </a:p>
        </p:txBody>
      </p:sp>
      <p:sp>
        <p:nvSpPr>
          <p:cNvPr id="5" name="Callout: Bent Line with Border and Accent Bar 4">
            <a:extLst>
              <a:ext uri="{FF2B5EF4-FFF2-40B4-BE49-F238E27FC236}">
                <a16:creationId xmlns:a16="http://schemas.microsoft.com/office/drawing/2014/main" id="{26BE1A22-1967-E8D6-6B43-503E4587FA22}"/>
              </a:ext>
            </a:extLst>
          </p:cNvPr>
          <p:cNvSpPr/>
          <p:nvPr/>
        </p:nvSpPr>
        <p:spPr>
          <a:xfrm flipH="1">
            <a:off x="2390284" y="2613062"/>
            <a:ext cx="1884698" cy="1089388"/>
          </a:xfrm>
          <a:prstGeom prst="accentBorderCallout2">
            <a:avLst>
              <a:gd name="adj1" fmla="val 18750"/>
              <a:gd name="adj2" fmla="val -8333"/>
              <a:gd name="adj3" fmla="val 18750"/>
              <a:gd name="adj4" fmla="val -16667"/>
              <a:gd name="adj5" fmla="val 69622"/>
              <a:gd name="adj6" fmla="val -52586"/>
            </a:avLst>
          </a:prstGeom>
          <a:solidFill>
            <a:schemeClr val="bg1">
              <a:lumMod val="95000"/>
            </a:schemeClr>
          </a:solidFill>
          <a:ln w="19050">
            <a:solidFill>
              <a:schemeClr val="bg1">
                <a:lumMod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NL"/>
          </a:p>
        </p:txBody>
      </p:sp>
      <p:sp>
        <p:nvSpPr>
          <p:cNvPr id="6" name="Callout: Bent Line with Border and Accent Bar 5">
            <a:extLst>
              <a:ext uri="{FF2B5EF4-FFF2-40B4-BE49-F238E27FC236}">
                <a16:creationId xmlns:a16="http://schemas.microsoft.com/office/drawing/2014/main" id="{05B9FEC4-4F20-6DC7-8A86-99BA8947A418}"/>
              </a:ext>
            </a:extLst>
          </p:cNvPr>
          <p:cNvSpPr/>
          <p:nvPr/>
        </p:nvSpPr>
        <p:spPr>
          <a:xfrm>
            <a:off x="7887488" y="4655497"/>
            <a:ext cx="1884699" cy="1089388"/>
          </a:xfrm>
          <a:prstGeom prst="accentBorderCallout2">
            <a:avLst>
              <a:gd name="adj1" fmla="val 84593"/>
              <a:gd name="adj2" fmla="val -7926"/>
              <a:gd name="adj3" fmla="val 84381"/>
              <a:gd name="adj4" fmla="val -21082"/>
              <a:gd name="adj5" fmla="val 32889"/>
              <a:gd name="adj6" fmla="val -54287"/>
            </a:avLst>
          </a:prstGeom>
          <a:solidFill>
            <a:schemeClr val="bg1">
              <a:lumMod val="95000"/>
            </a:schemeClr>
          </a:solidFill>
          <a:ln w="19050">
            <a:solidFill>
              <a:schemeClr val="bg1">
                <a:lumMod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NL"/>
          </a:p>
        </p:txBody>
      </p:sp>
      <p:sp>
        <p:nvSpPr>
          <p:cNvPr id="7" name="Callout: Bent Line with Border and Accent Bar 6">
            <a:extLst>
              <a:ext uri="{FF2B5EF4-FFF2-40B4-BE49-F238E27FC236}">
                <a16:creationId xmlns:a16="http://schemas.microsoft.com/office/drawing/2014/main" id="{DD177AD9-4A5F-D1CB-EB39-FA383430951D}"/>
              </a:ext>
            </a:extLst>
          </p:cNvPr>
          <p:cNvSpPr/>
          <p:nvPr/>
        </p:nvSpPr>
        <p:spPr>
          <a:xfrm>
            <a:off x="7887488" y="2617427"/>
            <a:ext cx="1884698" cy="1089388"/>
          </a:xfrm>
          <a:prstGeom prst="accentBorderCallout2">
            <a:avLst>
              <a:gd name="adj1" fmla="val 18750"/>
              <a:gd name="adj2" fmla="val -8333"/>
              <a:gd name="adj3" fmla="val 18750"/>
              <a:gd name="adj4" fmla="val -16667"/>
              <a:gd name="adj5" fmla="val 69622"/>
              <a:gd name="adj6" fmla="val -52586"/>
            </a:avLst>
          </a:prstGeom>
          <a:solidFill>
            <a:schemeClr val="bg1">
              <a:lumMod val="95000"/>
            </a:schemeClr>
          </a:solidFill>
          <a:ln w="19050">
            <a:solidFill>
              <a:schemeClr val="bg1">
                <a:lumMod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NL"/>
          </a:p>
        </p:txBody>
      </p:sp>
      <p:sp>
        <p:nvSpPr>
          <p:cNvPr id="9" name="Freeform: Shape 8">
            <a:extLst>
              <a:ext uri="{FF2B5EF4-FFF2-40B4-BE49-F238E27FC236}">
                <a16:creationId xmlns:a16="http://schemas.microsoft.com/office/drawing/2014/main" id="{96A1B8A6-4BBD-C71A-D1B8-289D428CD592}"/>
              </a:ext>
            </a:extLst>
          </p:cNvPr>
          <p:cNvSpPr/>
          <p:nvPr/>
        </p:nvSpPr>
        <p:spPr>
          <a:xfrm>
            <a:off x="4941618" y="2936040"/>
            <a:ext cx="2380471" cy="2380471"/>
          </a:xfrm>
          <a:custGeom>
            <a:avLst/>
            <a:gdLst>
              <a:gd name="connsiteX0" fmla="*/ 1920240 w 3840480"/>
              <a:gd name="connsiteY0" fmla="*/ 0 h 3840480"/>
              <a:gd name="connsiteX1" fmla="*/ 3583217 w 3840480"/>
              <a:gd name="connsiteY1" fmla="*/ 960120 h 3840480"/>
              <a:gd name="connsiteX2" fmla="*/ 3583217 w 3840480"/>
              <a:gd name="connsiteY2" fmla="*/ 2880360 h 3840480"/>
              <a:gd name="connsiteX3" fmla="*/ 1920240 w 3840480"/>
              <a:gd name="connsiteY3" fmla="*/ 1920240 h 3840480"/>
              <a:gd name="connsiteX4" fmla="*/ 1920240 w 3840480"/>
              <a:gd name="connsiteY4" fmla="*/ 0 h 3840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40480" h="3840480">
                <a:moveTo>
                  <a:pt x="1920240" y="0"/>
                </a:moveTo>
                <a:cubicBezTo>
                  <a:pt x="2606276" y="0"/>
                  <a:pt x="3240199" y="365996"/>
                  <a:pt x="3583217" y="960120"/>
                </a:cubicBezTo>
                <a:cubicBezTo>
                  <a:pt x="3926235" y="1554244"/>
                  <a:pt x="3926235" y="2286236"/>
                  <a:pt x="3583217" y="2880360"/>
                </a:cubicBezTo>
                <a:lnTo>
                  <a:pt x="1920240" y="1920240"/>
                </a:lnTo>
                <a:lnTo>
                  <a:pt x="1920240" y="0"/>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2054505" tIns="844296" rIns="475335" bIns="1914144" numCol="1" spcCol="1270" anchor="ctr" anchorCtr="0">
            <a:noAutofit/>
          </a:bodyPr>
          <a:lstStyle/>
          <a:p>
            <a:pPr marL="0" lvl="0" indent="0" algn="ctr" defTabSz="1066800">
              <a:lnSpc>
                <a:spcPct val="90000"/>
              </a:lnSpc>
              <a:spcBef>
                <a:spcPct val="0"/>
              </a:spcBef>
              <a:spcAft>
                <a:spcPct val="35000"/>
              </a:spcAft>
              <a:buNone/>
            </a:pPr>
            <a:endParaRPr lang="en-US" sz="2800" b="1" kern="1200" dirty="0">
              <a:latin typeface="Neue Haas Grotesk Text Pro Blac" panose="020B0504020202020204" pitchFamily="34" charset="0"/>
            </a:endParaRPr>
          </a:p>
        </p:txBody>
      </p:sp>
      <p:sp>
        <p:nvSpPr>
          <p:cNvPr id="10" name="Freeform: Shape 9">
            <a:extLst>
              <a:ext uri="{FF2B5EF4-FFF2-40B4-BE49-F238E27FC236}">
                <a16:creationId xmlns:a16="http://schemas.microsoft.com/office/drawing/2014/main" id="{F1D024A3-7C4F-C7A7-8F0D-810BAE72C75C}"/>
              </a:ext>
            </a:extLst>
          </p:cNvPr>
          <p:cNvSpPr/>
          <p:nvPr/>
        </p:nvSpPr>
        <p:spPr>
          <a:xfrm>
            <a:off x="4895541" y="3015941"/>
            <a:ext cx="2380471" cy="2380471"/>
          </a:xfrm>
          <a:custGeom>
            <a:avLst/>
            <a:gdLst>
              <a:gd name="connsiteX0" fmla="*/ 3583217 w 3840480"/>
              <a:gd name="connsiteY0" fmla="*/ 2880360 h 3840480"/>
              <a:gd name="connsiteX1" fmla="*/ 1920240 w 3840480"/>
              <a:gd name="connsiteY1" fmla="*/ 3840480 h 3840480"/>
              <a:gd name="connsiteX2" fmla="*/ 257263 w 3840480"/>
              <a:gd name="connsiteY2" fmla="*/ 2880360 h 3840480"/>
              <a:gd name="connsiteX3" fmla="*/ 1920240 w 3840480"/>
              <a:gd name="connsiteY3" fmla="*/ 1920240 h 3840480"/>
              <a:gd name="connsiteX4" fmla="*/ 3583217 w 3840480"/>
              <a:gd name="connsiteY4" fmla="*/ 2880360 h 3840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40480" h="3840480">
                <a:moveTo>
                  <a:pt x="3583217" y="2880360"/>
                </a:moveTo>
                <a:cubicBezTo>
                  <a:pt x="3240199" y="3474484"/>
                  <a:pt x="2606276" y="3840480"/>
                  <a:pt x="1920240" y="3840480"/>
                </a:cubicBezTo>
                <a:cubicBezTo>
                  <a:pt x="1234204" y="3840480"/>
                  <a:pt x="600281" y="3474484"/>
                  <a:pt x="257263" y="2880360"/>
                </a:cubicBezTo>
                <a:lnTo>
                  <a:pt x="1920240" y="1920240"/>
                </a:lnTo>
                <a:lnTo>
                  <a:pt x="3583217" y="2880360"/>
                </a:lnTo>
                <a:close/>
              </a:path>
            </a:pathLst>
          </a:custGeom>
          <a:solidFill>
            <a:srgbClr val="00B0F0"/>
          </a:solidFill>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944880" tIns="2522221" rIns="899160" bIns="373379" numCol="1" spcCol="1270" anchor="t" anchorCtr="0">
            <a:noAutofit/>
          </a:bodyPr>
          <a:lstStyle/>
          <a:p>
            <a:pPr marL="0" lvl="0" indent="0" algn="ctr" defTabSz="1066800">
              <a:lnSpc>
                <a:spcPct val="90000"/>
              </a:lnSpc>
              <a:spcBef>
                <a:spcPct val="0"/>
              </a:spcBef>
              <a:spcAft>
                <a:spcPct val="35000"/>
              </a:spcAft>
              <a:buNone/>
            </a:pPr>
            <a:endParaRPr lang="en-NL" sz="2800" b="1" kern="1200" dirty="0">
              <a:latin typeface="Neue Haas Grotesk Text Pro Blac" panose="020B0504020202020204" pitchFamily="34" charset="0"/>
            </a:endParaRPr>
          </a:p>
        </p:txBody>
      </p:sp>
      <p:sp>
        <p:nvSpPr>
          <p:cNvPr id="11" name="Freeform: Shape 10">
            <a:extLst>
              <a:ext uri="{FF2B5EF4-FFF2-40B4-BE49-F238E27FC236}">
                <a16:creationId xmlns:a16="http://schemas.microsoft.com/office/drawing/2014/main" id="{4EB73CF1-81AD-5F91-32A2-C13D0444C6E3}"/>
              </a:ext>
            </a:extLst>
          </p:cNvPr>
          <p:cNvSpPr/>
          <p:nvPr/>
        </p:nvSpPr>
        <p:spPr>
          <a:xfrm>
            <a:off x="4849464" y="2936040"/>
            <a:ext cx="2380471" cy="2380471"/>
          </a:xfrm>
          <a:custGeom>
            <a:avLst/>
            <a:gdLst>
              <a:gd name="connsiteX0" fmla="*/ 257263 w 3840480"/>
              <a:gd name="connsiteY0" fmla="*/ 2880360 h 3840480"/>
              <a:gd name="connsiteX1" fmla="*/ 257263 w 3840480"/>
              <a:gd name="connsiteY1" fmla="*/ 960120 h 3840480"/>
              <a:gd name="connsiteX2" fmla="*/ 1920240 w 3840480"/>
              <a:gd name="connsiteY2" fmla="*/ 0 h 3840480"/>
              <a:gd name="connsiteX3" fmla="*/ 1920240 w 3840480"/>
              <a:gd name="connsiteY3" fmla="*/ 1920240 h 3840480"/>
              <a:gd name="connsiteX4" fmla="*/ 257263 w 3840480"/>
              <a:gd name="connsiteY4" fmla="*/ 2880360 h 3840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40480" h="3840480">
                <a:moveTo>
                  <a:pt x="257263" y="2880360"/>
                </a:moveTo>
                <a:cubicBezTo>
                  <a:pt x="-85755" y="2286236"/>
                  <a:pt x="-85755" y="1554244"/>
                  <a:pt x="257263" y="960120"/>
                </a:cubicBezTo>
                <a:cubicBezTo>
                  <a:pt x="600281" y="365996"/>
                  <a:pt x="1234204" y="0"/>
                  <a:pt x="1920240" y="0"/>
                </a:cubicBezTo>
                <a:lnTo>
                  <a:pt x="1920240" y="1920240"/>
                </a:lnTo>
                <a:lnTo>
                  <a:pt x="257263" y="2880360"/>
                </a:lnTo>
                <a:close/>
              </a:path>
            </a:pathLst>
          </a:cu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475336" tIns="844296" rIns="2054504" bIns="1914144" numCol="1" spcCol="1270" anchor="ctr" anchorCtr="0">
            <a:noAutofit/>
          </a:bodyPr>
          <a:lstStyle/>
          <a:p>
            <a:pPr marL="0" lvl="0" indent="0" algn="ctr" defTabSz="1066800">
              <a:lnSpc>
                <a:spcPct val="90000"/>
              </a:lnSpc>
              <a:spcBef>
                <a:spcPct val="0"/>
              </a:spcBef>
              <a:spcAft>
                <a:spcPct val="35000"/>
              </a:spcAft>
              <a:buNone/>
            </a:pPr>
            <a:endParaRPr lang="en-NL" sz="2400" kern="1200" dirty="0"/>
          </a:p>
        </p:txBody>
      </p:sp>
      <p:sp>
        <p:nvSpPr>
          <p:cNvPr id="12" name="Arrow: Circular 11">
            <a:extLst>
              <a:ext uri="{FF2B5EF4-FFF2-40B4-BE49-F238E27FC236}">
                <a16:creationId xmlns:a16="http://schemas.microsoft.com/office/drawing/2014/main" id="{CFF18533-F490-BA5B-2FC2-6442476DFD8D}"/>
              </a:ext>
            </a:extLst>
          </p:cNvPr>
          <p:cNvSpPr/>
          <p:nvPr/>
        </p:nvSpPr>
        <p:spPr>
          <a:xfrm>
            <a:off x="4789899" y="2793218"/>
            <a:ext cx="2675196" cy="2675196"/>
          </a:xfrm>
          <a:prstGeom prst="circularArrow">
            <a:avLst>
              <a:gd name="adj1" fmla="val 5085"/>
              <a:gd name="adj2" fmla="val 327528"/>
              <a:gd name="adj3" fmla="val 1472472"/>
              <a:gd name="adj4" fmla="val 16199432"/>
              <a:gd name="adj5" fmla="val 5932"/>
            </a:avLst>
          </a:prstGeom>
          <a:solidFill>
            <a:schemeClr val="accent2">
              <a:lumMod val="50000"/>
            </a:schemeClr>
          </a:solidFill>
        </p:spPr>
        <p:style>
          <a:lnRef idx="0">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hueOff val="0"/>
              <a:satOff val="0"/>
              <a:lumOff val="0"/>
              <a:alphaOff val="0"/>
            </a:schemeClr>
          </a:fontRef>
        </p:style>
        <p:txBody>
          <a:bodyPr/>
          <a:lstStyle/>
          <a:p>
            <a:endParaRPr lang="en-NL"/>
          </a:p>
        </p:txBody>
      </p:sp>
      <p:sp>
        <p:nvSpPr>
          <p:cNvPr id="13" name="Arrow: Circular 12">
            <a:extLst>
              <a:ext uri="{FF2B5EF4-FFF2-40B4-BE49-F238E27FC236}">
                <a16:creationId xmlns:a16="http://schemas.microsoft.com/office/drawing/2014/main" id="{5E17471C-3480-BC6A-A9CA-2BA22227753A}"/>
              </a:ext>
            </a:extLst>
          </p:cNvPr>
          <p:cNvSpPr/>
          <p:nvPr/>
        </p:nvSpPr>
        <p:spPr>
          <a:xfrm>
            <a:off x="4743638" y="2872979"/>
            <a:ext cx="2675196" cy="2675196"/>
          </a:xfrm>
          <a:prstGeom prst="circularArrow">
            <a:avLst>
              <a:gd name="adj1" fmla="val 5085"/>
              <a:gd name="adj2" fmla="val 327528"/>
              <a:gd name="adj3" fmla="val 8671970"/>
              <a:gd name="adj4" fmla="val 1800502"/>
              <a:gd name="adj5" fmla="val 5932"/>
            </a:avLst>
          </a:prstGeom>
          <a:solidFill>
            <a:srgbClr val="0070C0"/>
          </a:solidFill>
        </p:spPr>
        <p:style>
          <a:lnRef idx="0">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hueOff val="0"/>
              <a:satOff val="0"/>
              <a:lumOff val="0"/>
              <a:alphaOff val="0"/>
            </a:schemeClr>
          </a:fontRef>
        </p:style>
        <p:txBody>
          <a:bodyPr/>
          <a:lstStyle/>
          <a:p>
            <a:endParaRPr lang="en-NL"/>
          </a:p>
        </p:txBody>
      </p:sp>
      <p:sp>
        <p:nvSpPr>
          <p:cNvPr id="14" name="Arrow: Circular 13">
            <a:extLst>
              <a:ext uri="{FF2B5EF4-FFF2-40B4-BE49-F238E27FC236}">
                <a16:creationId xmlns:a16="http://schemas.microsoft.com/office/drawing/2014/main" id="{759CD8B9-B8DC-9494-4989-36C8DAB6D504}"/>
              </a:ext>
            </a:extLst>
          </p:cNvPr>
          <p:cNvSpPr/>
          <p:nvPr/>
        </p:nvSpPr>
        <p:spPr>
          <a:xfrm>
            <a:off x="4697376" y="2793218"/>
            <a:ext cx="2675196" cy="2675196"/>
          </a:xfrm>
          <a:prstGeom prst="circularArrow">
            <a:avLst>
              <a:gd name="adj1" fmla="val 5085"/>
              <a:gd name="adj2" fmla="val 327528"/>
              <a:gd name="adj3" fmla="val 15873039"/>
              <a:gd name="adj4" fmla="val 9000000"/>
              <a:gd name="adj5" fmla="val 5932"/>
            </a:avLst>
          </a:prstGeom>
          <a:solidFill>
            <a:schemeClr val="accent4">
              <a:lumMod val="50000"/>
            </a:schemeClr>
          </a:solidFill>
          <a:ln w="38100">
            <a:noFill/>
            <a:prstDash val="solid"/>
          </a:ln>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hueOff val="0"/>
              <a:satOff val="0"/>
              <a:lumOff val="0"/>
              <a:alphaOff val="0"/>
            </a:schemeClr>
          </a:fontRef>
        </p:style>
        <p:txBody>
          <a:bodyPr/>
          <a:lstStyle/>
          <a:p>
            <a:endParaRPr lang="en-NL"/>
          </a:p>
        </p:txBody>
      </p:sp>
      <p:pic>
        <p:nvPicPr>
          <p:cNvPr id="15" name="Picture 2" descr="Logo vertical | OntoUML Community Portal">
            <a:extLst>
              <a:ext uri="{FF2B5EF4-FFF2-40B4-BE49-F238E27FC236}">
                <a16:creationId xmlns:a16="http://schemas.microsoft.com/office/drawing/2014/main" id="{77B10B39-596F-1C5D-BBDF-1C8502B4AB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70367" y="2833440"/>
            <a:ext cx="1718941" cy="657360"/>
          </a:xfrm>
          <a:prstGeom prst="rect">
            <a:avLst/>
          </a:prstGeom>
          <a:noFill/>
          <a:extLst>
            <a:ext uri="{909E8E84-426E-40DD-AFC4-6F175D3DCCD1}">
              <a14:hiddenFill xmlns:a14="http://schemas.microsoft.com/office/drawing/2010/main">
                <a:solidFill>
                  <a:srgbClr val="FFFFFF"/>
                </a:solidFill>
              </a14:hiddenFill>
            </a:ext>
          </a:extLst>
        </p:spPr>
      </p:pic>
      <p:grpSp>
        <p:nvGrpSpPr>
          <p:cNvPr id="16" name="Group 15">
            <a:extLst>
              <a:ext uri="{FF2B5EF4-FFF2-40B4-BE49-F238E27FC236}">
                <a16:creationId xmlns:a16="http://schemas.microsoft.com/office/drawing/2014/main" id="{DC9C0B3E-B5E0-EB32-90D9-7578FE532C98}"/>
              </a:ext>
            </a:extLst>
          </p:cNvPr>
          <p:cNvGrpSpPr/>
          <p:nvPr/>
        </p:nvGrpSpPr>
        <p:grpSpPr>
          <a:xfrm>
            <a:off x="8107224" y="4789911"/>
            <a:ext cx="1445229" cy="820560"/>
            <a:chOff x="6119493" y="4341725"/>
            <a:chExt cx="2393775" cy="1359120"/>
          </a:xfrm>
        </p:grpSpPr>
        <p:pic>
          <p:nvPicPr>
            <p:cNvPr id="17" name="Picture 12" descr="What is the Semantic Web? - Jean Delahousse">
              <a:extLst>
                <a:ext uri="{FF2B5EF4-FFF2-40B4-BE49-F238E27FC236}">
                  <a16:creationId xmlns:a16="http://schemas.microsoft.com/office/drawing/2014/main" id="{0DF450C7-C628-56F8-3267-DBB3A911FD56}"/>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119493" y="4434598"/>
              <a:ext cx="1168843" cy="1266247"/>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4" descr="What is the Semantic Web? - Jean Delahousse">
              <a:extLst>
                <a:ext uri="{FF2B5EF4-FFF2-40B4-BE49-F238E27FC236}">
                  <a16:creationId xmlns:a16="http://schemas.microsoft.com/office/drawing/2014/main" id="{2CB2E743-9E5A-8933-9A83-5E52ABABA0A9}"/>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344425" y="4341725"/>
              <a:ext cx="1168843" cy="1359120"/>
            </a:xfrm>
            <a:prstGeom prst="rect">
              <a:avLst/>
            </a:prstGeom>
            <a:noFill/>
            <a:extLst>
              <a:ext uri="{909E8E84-426E-40DD-AFC4-6F175D3DCCD1}">
                <a14:hiddenFill xmlns:a14="http://schemas.microsoft.com/office/drawing/2010/main">
                  <a:solidFill>
                    <a:srgbClr val="FFFFFF"/>
                  </a:solidFill>
                </a14:hiddenFill>
              </a:ext>
            </a:extLst>
          </p:spPr>
        </p:pic>
      </p:grpSp>
      <p:pic>
        <p:nvPicPr>
          <p:cNvPr id="19" name="Picture 2" descr="GitHub - mapping-commons/sssom: Simple Standard for Sharing Ontology  Mappings">
            <a:extLst>
              <a:ext uri="{FF2B5EF4-FFF2-40B4-BE49-F238E27FC236}">
                <a16:creationId xmlns:a16="http://schemas.microsoft.com/office/drawing/2014/main" id="{433E4544-21C9-034A-AA55-A1C09263D704}"/>
              </a:ext>
            </a:extLst>
          </p:cNvPr>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276707" y="2718885"/>
            <a:ext cx="2111854" cy="877740"/>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E71B71A2-37B9-F925-E873-8394DA8C33DC}"/>
              </a:ext>
            </a:extLst>
          </p:cNvPr>
          <p:cNvSpPr txBox="1"/>
          <p:nvPr/>
        </p:nvSpPr>
        <p:spPr>
          <a:xfrm>
            <a:off x="5468718" y="4500304"/>
            <a:ext cx="1239827" cy="553998"/>
          </a:xfrm>
          <a:prstGeom prst="rect">
            <a:avLst/>
          </a:prstGeom>
          <a:noFill/>
        </p:spPr>
        <p:txBody>
          <a:bodyPr wrap="none" rtlCol="0">
            <a:spAutoFit/>
          </a:bodyPr>
          <a:lstStyle/>
          <a:p>
            <a:pPr algn="ctr"/>
            <a:r>
              <a:rPr lang="en-US" b="1" dirty="0">
                <a:ln>
                  <a:solidFill>
                    <a:schemeClr val="bg1"/>
                  </a:solidFill>
                </a:ln>
                <a:solidFill>
                  <a:schemeClr val="bg1"/>
                </a:solidFill>
                <a:latin typeface="Neue Haas Grotesk Text Pro Blac" panose="020B0504020202020204" pitchFamily="34" charset="0"/>
              </a:rPr>
              <a:t>HRIO</a:t>
            </a:r>
          </a:p>
          <a:p>
            <a:pPr algn="ctr"/>
            <a:r>
              <a:rPr lang="en-US" sz="1200" b="1" dirty="0">
                <a:ln>
                  <a:solidFill>
                    <a:schemeClr val="bg1"/>
                  </a:solidFill>
                </a:ln>
                <a:solidFill>
                  <a:schemeClr val="bg1"/>
                </a:solidFill>
              </a:rPr>
              <a:t>Computational</a:t>
            </a:r>
            <a:endParaRPr lang="en-NL" sz="1200" b="1" dirty="0">
              <a:ln>
                <a:solidFill>
                  <a:schemeClr val="bg1"/>
                </a:solidFill>
              </a:ln>
              <a:solidFill>
                <a:schemeClr val="bg1"/>
              </a:solidFill>
            </a:endParaRPr>
          </a:p>
        </p:txBody>
      </p:sp>
      <p:sp>
        <p:nvSpPr>
          <p:cNvPr id="21" name="TextBox 20">
            <a:extLst>
              <a:ext uri="{FF2B5EF4-FFF2-40B4-BE49-F238E27FC236}">
                <a16:creationId xmlns:a16="http://schemas.microsoft.com/office/drawing/2014/main" id="{1CEB764B-3E99-82C0-487E-6B4B7620A006}"/>
              </a:ext>
            </a:extLst>
          </p:cNvPr>
          <p:cNvSpPr txBox="1"/>
          <p:nvPr/>
        </p:nvSpPr>
        <p:spPr>
          <a:xfrm>
            <a:off x="6146123" y="3505364"/>
            <a:ext cx="1005404" cy="553998"/>
          </a:xfrm>
          <a:prstGeom prst="rect">
            <a:avLst/>
          </a:prstGeom>
          <a:noFill/>
          <a:ln>
            <a:noFill/>
          </a:ln>
        </p:spPr>
        <p:txBody>
          <a:bodyPr wrap="none" rtlCol="0">
            <a:spAutoFit/>
          </a:bodyPr>
          <a:lstStyle/>
          <a:p>
            <a:pPr algn="ctr"/>
            <a:r>
              <a:rPr lang="en-US" b="1" dirty="0">
                <a:solidFill>
                  <a:schemeClr val="bg1"/>
                </a:solidFill>
                <a:latin typeface="Neue Haas Grotesk Text Pro Blac" panose="020B0504020202020204" pitchFamily="34" charset="0"/>
              </a:rPr>
              <a:t>HRIO</a:t>
            </a:r>
          </a:p>
          <a:p>
            <a:pPr algn="ctr"/>
            <a:r>
              <a:rPr lang="en-US" sz="1200" b="1" dirty="0">
                <a:solidFill>
                  <a:schemeClr val="bg1"/>
                </a:solidFill>
              </a:rPr>
              <a:t>Conceptual</a:t>
            </a:r>
            <a:endParaRPr lang="en-NL" sz="1200" b="1" dirty="0">
              <a:solidFill>
                <a:schemeClr val="bg1"/>
              </a:solidFill>
            </a:endParaRPr>
          </a:p>
        </p:txBody>
      </p:sp>
      <p:sp>
        <p:nvSpPr>
          <p:cNvPr id="22" name="TextBox 21">
            <a:extLst>
              <a:ext uri="{FF2B5EF4-FFF2-40B4-BE49-F238E27FC236}">
                <a16:creationId xmlns:a16="http://schemas.microsoft.com/office/drawing/2014/main" id="{4733BBD1-C909-EC80-ABD3-15DDC055B582}"/>
              </a:ext>
            </a:extLst>
          </p:cNvPr>
          <p:cNvSpPr txBox="1"/>
          <p:nvPr/>
        </p:nvSpPr>
        <p:spPr>
          <a:xfrm>
            <a:off x="4968721" y="3505364"/>
            <a:ext cx="1048684" cy="553998"/>
          </a:xfrm>
          <a:prstGeom prst="rect">
            <a:avLst/>
          </a:prstGeom>
          <a:noFill/>
        </p:spPr>
        <p:txBody>
          <a:bodyPr wrap="none" rtlCol="0">
            <a:spAutoFit/>
          </a:bodyPr>
          <a:lstStyle/>
          <a:p>
            <a:pPr algn="ctr"/>
            <a:r>
              <a:rPr lang="en-US" b="1" dirty="0">
                <a:ln>
                  <a:solidFill>
                    <a:schemeClr val="tx1">
                      <a:lumMod val="50000"/>
                      <a:lumOff val="50000"/>
                    </a:schemeClr>
                  </a:solidFill>
                </a:ln>
                <a:solidFill>
                  <a:schemeClr val="bg1"/>
                </a:solidFill>
                <a:latin typeface="Neue Haas Grotesk Text Pro Blac" panose="020B0504020202020204" pitchFamily="34" charset="0"/>
              </a:rPr>
              <a:t>HRIM</a:t>
            </a:r>
          </a:p>
          <a:p>
            <a:pPr algn="ctr"/>
            <a:r>
              <a:rPr lang="en-US" sz="1200" b="1" dirty="0">
                <a:ln>
                  <a:solidFill>
                    <a:schemeClr val="tx1">
                      <a:lumMod val="50000"/>
                      <a:lumOff val="50000"/>
                    </a:schemeClr>
                  </a:solidFill>
                </a:ln>
                <a:solidFill>
                  <a:schemeClr val="bg1"/>
                </a:solidFill>
              </a:rPr>
              <a:t>Mapping Set</a:t>
            </a:r>
            <a:endParaRPr lang="en-NL" sz="1200" b="1" dirty="0">
              <a:ln>
                <a:solidFill>
                  <a:schemeClr val="tx1">
                    <a:lumMod val="50000"/>
                    <a:lumOff val="50000"/>
                  </a:schemeClr>
                </a:solidFill>
              </a:ln>
              <a:solidFill>
                <a:schemeClr val="bg1"/>
              </a:solidFill>
            </a:endParaRPr>
          </a:p>
        </p:txBody>
      </p:sp>
      <p:sp>
        <p:nvSpPr>
          <p:cNvPr id="24" name="Freeform: Shape 23">
            <a:extLst>
              <a:ext uri="{FF2B5EF4-FFF2-40B4-BE49-F238E27FC236}">
                <a16:creationId xmlns:a16="http://schemas.microsoft.com/office/drawing/2014/main" id="{034FD3B9-871B-7454-A9D3-764ADF54E0ED}"/>
              </a:ext>
            </a:extLst>
          </p:cNvPr>
          <p:cNvSpPr/>
          <p:nvPr/>
        </p:nvSpPr>
        <p:spPr>
          <a:xfrm>
            <a:off x="2352579" y="2406142"/>
            <a:ext cx="7568037" cy="3548277"/>
          </a:xfrm>
          <a:custGeom>
            <a:avLst/>
            <a:gdLst>
              <a:gd name="csX0" fmla="*/ 2791330 w 5967667"/>
              <a:gd name="csY0" fmla="*/ 57752 h 2598821"/>
              <a:gd name="csX1" fmla="*/ 221385 w 5967667"/>
              <a:gd name="csY1" fmla="*/ 67377 h 2598821"/>
              <a:gd name="csX2" fmla="*/ 19254 w 5967667"/>
              <a:gd name="csY2" fmla="*/ 86628 h 2598821"/>
              <a:gd name="csX3" fmla="*/ 19254 w 5967667"/>
              <a:gd name="csY3" fmla="*/ 500514 h 2598821"/>
              <a:gd name="csX4" fmla="*/ 57756 w 5967667"/>
              <a:gd name="csY4" fmla="*/ 606392 h 2598821"/>
              <a:gd name="csX5" fmla="*/ 67381 w 5967667"/>
              <a:gd name="csY5" fmla="*/ 693019 h 2598821"/>
              <a:gd name="csX6" fmla="*/ 77006 w 5967667"/>
              <a:gd name="csY6" fmla="*/ 981777 h 2598821"/>
              <a:gd name="csX7" fmla="*/ 105882 w 5967667"/>
              <a:gd name="csY7" fmla="*/ 1049154 h 2598821"/>
              <a:gd name="csX8" fmla="*/ 134758 w 5967667"/>
              <a:gd name="csY8" fmla="*/ 1126156 h 2598821"/>
              <a:gd name="csX9" fmla="*/ 231010 w 5967667"/>
              <a:gd name="csY9" fmla="*/ 1232034 h 2598821"/>
              <a:gd name="csX10" fmla="*/ 279137 w 5967667"/>
              <a:gd name="csY10" fmla="*/ 1251284 h 2598821"/>
              <a:gd name="csX11" fmla="*/ 914404 w 5967667"/>
              <a:gd name="csY11" fmla="*/ 1270535 h 2598821"/>
              <a:gd name="csX12" fmla="*/ 1164661 w 5967667"/>
              <a:gd name="csY12" fmla="*/ 1578543 h 2598821"/>
              <a:gd name="csX13" fmla="*/ 1212787 w 5967667"/>
              <a:gd name="csY13" fmla="*/ 1665171 h 2598821"/>
              <a:gd name="csX14" fmla="*/ 1280164 w 5967667"/>
              <a:gd name="csY14" fmla="*/ 1761423 h 2598821"/>
              <a:gd name="csX15" fmla="*/ 1337916 w 5967667"/>
              <a:gd name="csY15" fmla="*/ 1867301 h 2598821"/>
              <a:gd name="csX16" fmla="*/ 1607423 w 5967667"/>
              <a:gd name="csY16" fmla="*/ 2146434 h 2598821"/>
              <a:gd name="csX17" fmla="*/ 1896181 w 5967667"/>
              <a:gd name="csY17" fmla="*/ 2300438 h 2598821"/>
              <a:gd name="csX18" fmla="*/ 1992433 w 5967667"/>
              <a:gd name="csY18" fmla="*/ 2338939 h 2598821"/>
              <a:gd name="csX19" fmla="*/ 2252316 w 5967667"/>
              <a:gd name="csY19" fmla="*/ 2387066 h 2598821"/>
              <a:gd name="csX20" fmla="*/ 2839457 w 5967667"/>
              <a:gd name="csY20" fmla="*/ 2464068 h 2598821"/>
              <a:gd name="csX21" fmla="*/ 3157090 w 5967667"/>
              <a:gd name="csY21" fmla="*/ 2502569 h 2598821"/>
              <a:gd name="csX22" fmla="*/ 3696105 w 5967667"/>
              <a:gd name="csY22" fmla="*/ 2521819 h 2598821"/>
              <a:gd name="csX23" fmla="*/ 4081116 w 5967667"/>
              <a:gd name="csY23" fmla="*/ 2560320 h 2598821"/>
              <a:gd name="csX24" fmla="*/ 4475751 w 5967667"/>
              <a:gd name="csY24" fmla="*/ 2569946 h 2598821"/>
              <a:gd name="csX25" fmla="*/ 4957014 w 5967667"/>
              <a:gd name="csY25" fmla="*/ 2598821 h 2598821"/>
              <a:gd name="csX26" fmla="*/ 5852164 w 5967667"/>
              <a:gd name="csY26" fmla="*/ 2569946 h 2598821"/>
              <a:gd name="csX27" fmla="*/ 5929166 w 5967667"/>
              <a:gd name="csY27" fmla="*/ 2483318 h 2598821"/>
              <a:gd name="csX28" fmla="*/ 5948417 w 5967667"/>
              <a:gd name="csY28" fmla="*/ 2300438 h 2598821"/>
              <a:gd name="csX29" fmla="*/ 5967667 w 5967667"/>
              <a:gd name="csY29" fmla="*/ 2030931 h 2598821"/>
              <a:gd name="csX30" fmla="*/ 5938791 w 5967667"/>
              <a:gd name="csY30" fmla="*/ 1366788 h 2598821"/>
              <a:gd name="csX31" fmla="*/ 5881040 w 5967667"/>
              <a:gd name="csY31" fmla="*/ 1328287 h 2598821"/>
              <a:gd name="csX32" fmla="*/ 5784787 w 5967667"/>
              <a:gd name="csY32" fmla="*/ 1309036 h 2598821"/>
              <a:gd name="csX33" fmla="*/ 5582657 w 5967667"/>
              <a:gd name="csY33" fmla="*/ 1289786 h 2598821"/>
              <a:gd name="csX34" fmla="*/ 4764509 w 5967667"/>
              <a:gd name="csY34" fmla="*/ 1309036 h 2598821"/>
              <a:gd name="csX35" fmla="*/ 4600880 w 5967667"/>
              <a:gd name="csY35" fmla="*/ 1357162 h 2598821"/>
              <a:gd name="csX36" fmla="*/ 4514252 w 5967667"/>
              <a:gd name="csY36" fmla="*/ 1386038 h 2598821"/>
              <a:gd name="csX37" fmla="*/ 4379499 w 5967667"/>
              <a:gd name="csY37" fmla="*/ 1443790 h 2598821"/>
              <a:gd name="csX38" fmla="*/ 4292871 w 5967667"/>
              <a:gd name="csY38" fmla="*/ 1501541 h 2598821"/>
              <a:gd name="csX39" fmla="*/ 4196619 w 5967667"/>
              <a:gd name="csY39" fmla="*/ 1549668 h 2598821"/>
              <a:gd name="csX40" fmla="*/ 4042614 w 5967667"/>
              <a:gd name="csY40" fmla="*/ 1645920 h 2598821"/>
              <a:gd name="csX41" fmla="*/ 3994488 w 5967667"/>
              <a:gd name="csY41" fmla="*/ 1674796 h 2598821"/>
              <a:gd name="csX42" fmla="*/ 3946362 w 5967667"/>
              <a:gd name="csY42" fmla="*/ 1713297 h 2598821"/>
              <a:gd name="csX43" fmla="*/ 3888610 w 5967667"/>
              <a:gd name="csY43" fmla="*/ 1742173 h 2598821"/>
              <a:gd name="csX44" fmla="*/ 3840484 w 5967667"/>
              <a:gd name="csY44" fmla="*/ 1780674 h 2598821"/>
              <a:gd name="csX45" fmla="*/ 3763482 w 5967667"/>
              <a:gd name="csY45" fmla="*/ 1819175 h 2598821"/>
              <a:gd name="csX46" fmla="*/ 3657604 w 5967667"/>
              <a:gd name="csY46" fmla="*/ 1790299 h 2598821"/>
              <a:gd name="csX47" fmla="*/ 3619103 w 5967667"/>
              <a:gd name="csY47" fmla="*/ 1761423 h 2598821"/>
              <a:gd name="csX48" fmla="*/ 3561351 w 5967667"/>
              <a:gd name="csY48" fmla="*/ 1713297 h 2598821"/>
              <a:gd name="csX49" fmla="*/ 3522850 w 5967667"/>
              <a:gd name="csY49" fmla="*/ 1665171 h 2598821"/>
              <a:gd name="csX50" fmla="*/ 3493974 w 5967667"/>
              <a:gd name="csY50" fmla="*/ 1645920 h 2598821"/>
              <a:gd name="csX51" fmla="*/ 3426598 w 5967667"/>
              <a:gd name="csY51" fmla="*/ 1588169 h 2598821"/>
              <a:gd name="csX52" fmla="*/ 3397722 w 5967667"/>
              <a:gd name="csY52" fmla="*/ 1578543 h 2598821"/>
              <a:gd name="csX53" fmla="*/ 3320720 w 5967667"/>
              <a:gd name="csY53" fmla="*/ 1511167 h 2598821"/>
              <a:gd name="csX54" fmla="*/ 3253343 w 5967667"/>
              <a:gd name="csY54" fmla="*/ 1472666 h 2598821"/>
              <a:gd name="csX55" fmla="*/ 3205217 w 5967667"/>
              <a:gd name="csY55" fmla="*/ 1443790 h 2598821"/>
              <a:gd name="csX56" fmla="*/ 3137840 w 5967667"/>
              <a:gd name="csY56" fmla="*/ 1386038 h 2598821"/>
              <a:gd name="csX57" fmla="*/ 3080088 w 5967667"/>
              <a:gd name="csY57" fmla="*/ 1366788 h 2598821"/>
              <a:gd name="csX58" fmla="*/ 3031962 w 5967667"/>
              <a:gd name="csY58" fmla="*/ 1347537 h 2598821"/>
              <a:gd name="csX59" fmla="*/ 2954960 w 5967667"/>
              <a:gd name="csY59" fmla="*/ 1299411 h 2598821"/>
              <a:gd name="csX60" fmla="*/ 2897208 w 5967667"/>
              <a:gd name="csY60" fmla="*/ 1212783 h 2598821"/>
              <a:gd name="csX61" fmla="*/ 2926084 w 5967667"/>
              <a:gd name="csY61" fmla="*/ 577516 h 2598821"/>
              <a:gd name="csX62" fmla="*/ 2916459 w 5967667"/>
              <a:gd name="csY62" fmla="*/ 308009 h 2598821"/>
              <a:gd name="csX63" fmla="*/ 2897208 w 5967667"/>
              <a:gd name="csY63" fmla="*/ 192506 h 2598821"/>
              <a:gd name="csX64" fmla="*/ 2877958 w 5967667"/>
              <a:gd name="csY64" fmla="*/ 144379 h 2598821"/>
              <a:gd name="csX65" fmla="*/ 2820206 w 5967667"/>
              <a:gd name="csY65" fmla="*/ 77002 h 2598821"/>
              <a:gd name="csX66" fmla="*/ 2791330 w 5967667"/>
              <a:gd name="csY66" fmla="*/ 38501 h 2598821"/>
              <a:gd name="csX67" fmla="*/ 2733579 w 5967667"/>
              <a:gd name="csY67" fmla="*/ 0 h 2598821"/>
              <a:gd name="csX0" fmla="*/ 2791330 w 5967667"/>
              <a:gd name="csY0" fmla="*/ 57752 h 2598821"/>
              <a:gd name="csX1" fmla="*/ 221385 w 5967667"/>
              <a:gd name="csY1" fmla="*/ 67377 h 2598821"/>
              <a:gd name="csX2" fmla="*/ 19254 w 5967667"/>
              <a:gd name="csY2" fmla="*/ 86628 h 2598821"/>
              <a:gd name="csX3" fmla="*/ 19254 w 5967667"/>
              <a:gd name="csY3" fmla="*/ 500514 h 2598821"/>
              <a:gd name="csX4" fmla="*/ 57756 w 5967667"/>
              <a:gd name="csY4" fmla="*/ 606392 h 2598821"/>
              <a:gd name="csX5" fmla="*/ 67381 w 5967667"/>
              <a:gd name="csY5" fmla="*/ 693019 h 2598821"/>
              <a:gd name="csX6" fmla="*/ 77006 w 5967667"/>
              <a:gd name="csY6" fmla="*/ 981777 h 2598821"/>
              <a:gd name="csX7" fmla="*/ 105882 w 5967667"/>
              <a:gd name="csY7" fmla="*/ 1049154 h 2598821"/>
              <a:gd name="csX8" fmla="*/ 134758 w 5967667"/>
              <a:gd name="csY8" fmla="*/ 1126156 h 2598821"/>
              <a:gd name="csX9" fmla="*/ 231010 w 5967667"/>
              <a:gd name="csY9" fmla="*/ 1232034 h 2598821"/>
              <a:gd name="csX10" fmla="*/ 279137 w 5967667"/>
              <a:gd name="csY10" fmla="*/ 1251284 h 2598821"/>
              <a:gd name="csX11" fmla="*/ 914404 w 5967667"/>
              <a:gd name="csY11" fmla="*/ 1270535 h 2598821"/>
              <a:gd name="csX12" fmla="*/ 1164661 w 5967667"/>
              <a:gd name="csY12" fmla="*/ 1578543 h 2598821"/>
              <a:gd name="csX13" fmla="*/ 1212787 w 5967667"/>
              <a:gd name="csY13" fmla="*/ 1665171 h 2598821"/>
              <a:gd name="csX14" fmla="*/ 1280164 w 5967667"/>
              <a:gd name="csY14" fmla="*/ 1761423 h 2598821"/>
              <a:gd name="csX15" fmla="*/ 1337916 w 5967667"/>
              <a:gd name="csY15" fmla="*/ 1867301 h 2598821"/>
              <a:gd name="csX16" fmla="*/ 1607423 w 5967667"/>
              <a:gd name="csY16" fmla="*/ 2146434 h 2598821"/>
              <a:gd name="csX17" fmla="*/ 1896181 w 5967667"/>
              <a:gd name="csY17" fmla="*/ 2300438 h 2598821"/>
              <a:gd name="csX18" fmla="*/ 1992433 w 5967667"/>
              <a:gd name="csY18" fmla="*/ 2338939 h 2598821"/>
              <a:gd name="csX19" fmla="*/ 2252316 w 5967667"/>
              <a:gd name="csY19" fmla="*/ 2387066 h 2598821"/>
              <a:gd name="csX20" fmla="*/ 2839457 w 5967667"/>
              <a:gd name="csY20" fmla="*/ 2464068 h 2598821"/>
              <a:gd name="csX21" fmla="*/ 3157090 w 5967667"/>
              <a:gd name="csY21" fmla="*/ 2502569 h 2598821"/>
              <a:gd name="csX22" fmla="*/ 3696105 w 5967667"/>
              <a:gd name="csY22" fmla="*/ 2521819 h 2598821"/>
              <a:gd name="csX23" fmla="*/ 4081116 w 5967667"/>
              <a:gd name="csY23" fmla="*/ 2560320 h 2598821"/>
              <a:gd name="csX24" fmla="*/ 4475751 w 5967667"/>
              <a:gd name="csY24" fmla="*/ 2569946 h 2598821"/>
              <a:gd name="csX25" fmla="*/ 4957014 w 5967667"/>
              <a:gd name="csY25" fmla="*/ 2598821 h 2598821"/>
              <a:gd name="csX26" fmla="*/ 5852164 w 5967667"/>
              <a:gd name="csY26" fmla="*/ 2569946 h 2598821"/>
              <a:gd name="csX27" fmla="*/ 5929166 w 5967667"/>
              <a:gd name="csY27" fmla="*/ 2483318 h 2598821"/>
              <a:gd name="csX28" fmla="*/ 5948417 w 5967667"/>
              <a:gd name="csY28" fmla="*/ 2300438 h 2598821"/>
              <a:gd name="csX29" fmla="*/ 5967667 w 5967667"/>
              <a:gd name="csY29" fmla="*/ 2030931 h 2598821"/>
              <a:gd name="csX30" fmla="*/ 5938791 w 5967667"/>
              <a:gd name="csY30" fmla="*/ 1366788 h 2598821"/>
              <a:gd name="csX31" fmla="*/ 5881040 w 5967667"/>
              <a:gd name="csY31" fmla="*/ 1328287 h 2598821"/>
              <a:gd name="csX32" fmla="*/ 5784787 w 5967667"/>
              <a:gd name="csY32" fmla="*/ 1309036 h 2598821"/>
              <a:gd name="csX33" fmla="*/ 5582657 w 5967667"/>
              <a:gd name="csY33" fmla="*/ 1289786 h 2598821"/>
              <a:gd name="csX34" fmla="*/ 4764509 w 5967667"/>
              <a:gd name="csY34" fmla="*/ 1309036 h 2598821"/>
              <a:gd name="csX35" fmla="*/ 4600880 w 5967667"/>
              <a:gd name="csY35" fmla="*/ 1357162 h 2598821"/>
              <a:gd name="csX36" fmla="*/ 4514252 w 5967667"/>
              <a:gd name="csY36" fmla="*/ 1386038 h 2598821"/>
              <a:gd name="csX37" fmla="*/ 4379499 w 5967667"/>
              <a:gd name="csY37" fmla="*/ 1443790 h 2598821"/>
              <a:gd name="csX38" fmla="*/ 4292871 w 5967667"/>
              <a:gd name="csY38" fmla="*/ 1501541 h 2598821"/>
              <a:gd name="csX39" fmla="*/ 4196619 w 5967667"/>
              <a:gd name="csY39" fmla="*/ 1549668 h 2598821"/>
              <a:gd name="csX40" fmla="*/ 4042614 w 5967667"/>
              <a:gd name="csY40" fmla="*/ 1645920 h 2598821"/>
              <a:gd name="csX41" fmla="*/ 3994488 w 5967667"/>
              <a:gd name="csY41" fmla="*/ 1674796 h 2598821"/>
              <a:gd name="csX42" fmla="*/ 3946362 w 5967667"/>
              <a:gd name="csY42" fmla="*/ 1713297 h 2598821"/>
              <a:gd name="csX43" fmla="*/ 3888610 w 5967667"/>
              <a:gd name="csY43" fmla="*/ 1742173 h 2598821"/>
              <a:gd name="csX44" fmla="*/ 3840484 w 5967667"/>
              <a:gd name="csY44" fmla="*/ 1780674 h 2598821"/>
              <a:gd name="csX45" fmla="*/ 3763482 w 5967667"/>
              <a:gd name="csY45" fmla="*/ 1819175 h 2598821"/>
              <a:gd name="csX46" fmla="*/ 3657604 w 5967667"/>
              <a:gd name="csY46" fmla="*/ 1790299 h 2598821"/>
              <a:gd name="csX47" fmla="*/ 3638153 w 5967667"/>
              <a:gd name="csY47" fmla="*/ 1709036 h 2598821"/>
              <a:gd name="csX48" fmla="*/ 3561351 w 5967667"/>
              <a:gd name="csY48" fmla="*/ 1713297 h 2598821"/>
              <a:gd name="csX49" fmla="*/ 3522850 w 5967667"/>
              <a:gd name="csY49" fmla="*/ 1665171 h 2598821"/>
              <a:gd name="csX50" fmla="*/ 3493974 w 5967667"/>
              <a:gd name="csY50" fmla="*/ 1645920 h 2598821"/>
              <a:gd name="csX51" fmla="*/ 3426598 w 5967667"/>
              <a:gd name="csY51" fmla="*/ 1588169 h 2598821"/>
              <a:gd name="csX52" fmla="*/ 3397722 w 5967667"/>
              <a:gd name="csY52" fmla="*/ 1578543 h 2598821"/>
              <a:gd name="csX53" fmla="*/ 3320720 w 5967667"/>
              <a:gd name="csY53" fmla="*/ 1511167 h 2598821"/>
              <a:gd name="csX54" fmla="*/ 3253343 w 5967667"/>
              <a:gd name="csY54" fmla="*/ 1472666 h 2598821"/>
              <a:gd name="csX55" fmla="*/ 3205217 w 5967667"/>
              <a:gd name="csY55" fmla="*/ 1443790 h 2598821"/>
              <a:gd name="csX56" fmla="*/ 3137840 w 5967667"/>
              <a:gd name="csY56" fmla="*/ 1386038 h 2598821"/>
              <a:gd name="csX57" fmla="*/ 3080088 w 5967667"/>
              <a:gd name="csY57" fmla="*/ 1366788 h 2598821"/>
              <a:gd name="csX58" fmla="*/ 3031962 w 5967667"/>
              <a:gd name="csY58" fmla="*/ 1347537 h 2598821"/>
              <a:gd name="csX59" fmla="*/ 2954960 w 5967667"/>
              <a:gd name="csY59" fmla="*/ 1299411 h 2598821"/>
              <a:gd name="csX60" fmla="*/ 2897208 w 5967667"/>
              <a:gd name="csY60" fmla="*/ 1212783 h 2598821"/>
              <a:gd name="csX61" fmla="*/ 2926084 w 5967667"/>
              <a:gd name="csY61" fmla="*/ 577516 h 2598821"/>
              <a:gd name="csX62" fmla="*/ 2916459 w 5967667"/>
              <a:gd name="csY62" fmla="*/ 308009 h 2598821"/>
              <a:gd name="csX63" fmla="*/ 2897208 w 5967667"/>
              <a:gd name="csY63" fmla="*/ 192506 h 2598821"/>
              <a:gd name="csX64" fmla="*/ 2877958 w 5967667"/>
              <a:gd name="csY64" fmla="*/ 144379 h 2598821"/>
              <a:gd name="csX65" fmla="*/ 2820206 w 5967667"/>
              <a:gd name="csY65" fmla="*/ 77002 h 2598821"/>
              <a:gd name="csX66" fmla="*/ 2791330 w 5967667"/>
              <a:gd name="csY66" fmla="*/ 38501 h 2598821"/>
              <a:gd name="csX67" fmla="*/ 2733579 w 5967667"/>
              <a:gd name="csY67" fmla="*/ 0 h 2598821"/>
              <a:gd name="csX0" fmla="*/ 2791330 w 5967667"/>
              <a:gd name="csY0" fmla="*/ 57752 h 2598821"/>
              <a:gd name="csX1" fmla="*/ 221385 w 5967667"/>
              <a:gd name="csY1" fmla="*/ 67377 h 2598821"/>
              <a:gd name="csX2" fmla="*/ 19254 w 5967667"/>
              <a:gd name="csY2" fmla="*/ 86628 h 2598821"/>
              <a:gd name="csX3" fmla="*/ 19254 w 5967667"/>
              <a:gd name="csY3" fmla="*/ 500514 h 2598821"/>
              <a:gd name="csX4" fmla="*/ 57756 w 5967667"/>
              <a:gd name="csY4" fmla="*/ 606392 h 2598821"/>
              <a:gd name="csX5" fmla="*/ 67381 w 5967667"/>
              <a:gd name="csY5" fmla="*/ 693019 h 2598821"/>
              <a:gd name="csX6" fmla="*/ 77006 w 5967667"/>
              <a:gd name="csY6" fmla="*/ 981777 h 2598821"/>
              <a:gd name="csX7" fmla="*/ 105882 w 5967667"/>
              <a:gd name="csY7" fmla="*/ 1049154 h 2598821"/>
              <a:gd name="csX8" fmla="*/ 134758 w 5967667"/>
              <a:gd name="csY8" fmla="*/ 1126156 h 2598821"/>
              <a:gd name="csX9" fmla="*/ 231010 w 5967667"/>
              <a:gd name="csY9" fmla="*/ 1232034 h 2598821"/>
              <a:gd name="csX10" fmla="*/ 279137 w 5967667"/>
              <a:gd name="csY10" fmla="*/ 1251284 h 2598821"/>
              <a:gd name="csX11" fmla="*/ 914404 w 5967667"/>
              <a:gd name="csY11" fmla="*/ 1270535 h 2598821"/>
              <a:gd name="csX12" fmla="*/ 1164661 w 5967667"/>
              <a:gd name="csY12" fmla="*/ 1578543 h 2598821"/>
              <a:gd name="csX13" fmla="*/ 1212787 w 5967667"/>
              <a:gd name="csY13" fmla="*/ 1665171 h 2598821"/>
              <a:gd name="csX14" fmla="*/ 1280164 w 5967667"/>
              <a:gd name="csY14" fmla="*/ 1761423 h 2598821"/>
              <a:gd name="csX15" fmla="*/ 1337916 w 5967667"/>
              <a:gd name="csY15" fmla="*/ 1867301 h 2598821"/>
              <a:gd name="csX16" fmla="*/ 1607423 w 5967667"/>
              <a:gd name="csY16" fmla="*/ 2146434 h 2598821"/>
              <a:gd name="csX17" fmla="*/ 1896181 w 5967667"/>
              <a:gd name="csY17" fmla="*/ 2300438 h 2598821"/>
              <a:gd name="csX18" fmla="*/ 1992433 w 5967667"/>
              <a:gd name="csY18" fmla="*/ 2338939 h 2598821"/>
              <a:gd name="csX19" fmla="*/ 2252316 w 5967667"/>
              <a:gd name="csY19" fmla="*/ 2387066 h 2598821"/>
              <a:gd name="csX20" fmla="*/ 2839457 w 5967667"/>
              <a:gd name="csY20" fmla="*/ 2464068 h 2598821"/>
              <a:gd name="csX21" fmla="*/ 3157090 w 5967667"/>
              <a:gd name="csY21" fmla="*/ 2502569 h 2598821"/>
              <a:gd name="csX22" fmla="*/ 3696105 w 5967667"/>
              <a:gd name="csY22" fmla="*/ 2521819 h 2598821"/>
              <a:gd name="csX23" fmla="*/ 4081116 w 5967667"/>
              <a:gd name="csY23" fmla="*/ 2560320 h 2598821"/>
              <a:gd name="csX24" fmla="*/ 4475751 w 5967667"/>
              <a:gd name="csY24" fmla="*/ 2569946 h 2598821"/>
              <a:gd name="csX25" fmla="*/ 4957014 w 5967667"/>
              <a:gd name="csY25" fmla="*/ 2598821 h 2598821"/>
              <a:gd name="csX26" fmla="*/ 5852164 w 5967667"/>
              <a:gd name="csY26" fmla="*/ 2569946 h 2598821"/>
              <a:gd name="csX27" fmla="*/ 5929166 w 5967667"/>
              <a:gd name="csY27" fmla="*/ 2483318 h 2598821"/>
              <a:gd name="csX28" fmla="*/ 5948417 w 5967667"/>
              <a:gd name="csY28" fmla="*/ 2300438 h 2598821"/>
              <a:gd name="csX29" fmla="*/ 5967667 w 5967667"/>
              <a:gd name="csY29" fmla="*/ 2030931 h 2598821"/>
              <a:gd name="csX30" fmla="*/ 5938791 w 5967667"/>
              <a:gd name="csY30" fmla="*/ 1366788 h 2598821"/>
              <a:gd name="csX31" fmla="*/ 5881040 w 5967667"/>
              <a:gd name="csY31" fmla="*/ 1328287 h 2598821"/>
              <a:gd name="csX32" fmla="*/ 5784787 w 5967667"/>
              <a:gd name="csY32" fmla="*/ 1309036 h 2598821"/>
              <a:gd name="csX33" fmla="*/ 5582657 w 5967667"/>
              <a:gd name="csY33" fmla="*/ 1289786 h 2598821"/>
              <a:gd name="csX34" fmla="*/ 4764509 w 5967667"/>
              <a:gd name="csY34" fmla="*/ 1309036 h 2598821"/>
              <a:gd name="csX35" fmla="*/ 4600880 w 5967667"/>
              <a:gd name="csY35" fmla="*/ 1357162 h 2598821"/>
              <a:gd name="csX36" fmla="*/ 4514252 w 5967667"/>
              <a:gd name="csY36" fmla="*/ 1386038 h 2598821"/>
              <a:gd name="csX37" fmla="*/ 4379499 w 5967667"/>
              <a:gd name="csY37" fmla="*/ 1443790 h 2598821"/>
              <a:gd name="csX38" fmla="*/ 4292871 w 5967667"/>
              <a:gd name="csY38" fmla="*/ 1501541 h 2598821"/>
              <a:gd name="csX39" fmla="*/ 4196619 w 5967667"/>
              <a:gd name="csY39" fmla="*/ 1549668 h 2598821"/>
              <a:gd name="csX40" fmla="*/ 4042614 w 5967667"/>
              <a:gd name="csY40" fmla="*/ 1645920 h 2598821"/>
              <a:gd name="csX41" fmla="*/ 3994488 w 5967667"/>
              <a:gd name="csY41" fmla="*/ 1674796 h 2598821"/>
              <a:gd name="csX42" fmla="*/ 3946362 w 5967667"/>
              <a:gd name="csY42" fmla="*/ 1713297 h 2598821"/>
              <a:gd name="csX43" fmla="*/ 3888610 w 5967667"/>
              <a:gd name="csY43" fmla="*/ 1742173 h 2598821"/>
              <a:gd name="csX44" fmla="*/ 3840484 w 5967667"/>
              <a:gd name="csY44" fmla="*/ 1780674 h 2598821"/>
              <a:gd name="csX45" fmla="*/ 3763482 w 5967667"/>
              <a:gd name="csY45" fmla="*/ 1819175 h 2598821"/>
              <a:gd name="csX46" fmla="*/ 3702848 w 5967667"/>
              <a:gd name="csY46" fmla="*/ 1756962 h 2598821"/>
              <a:gd name="csX47" fmla="*/ 3638153 w 5967667"/>
              <a:gd name="csY47" fmla="*/ 1709036 h 2598821"/>
              <a:gd name="csX48" fmla="*/ 3561351 w 5967667"/>
              <a:gd name="csY48" fmla="*/ 1713297 h 2598821"/>
              <a:gd name="csX49" fmla="*/ 3522850 w 5967667"/>
              <a:gd name="csY49" fmla="*/ 1665171 h 2598821"/>
              <a:gd name="csX50" fmla="*/ 3493974 w 5967667"/>
              <a:gd name="csY50" fmla="*/ 1645920 h 2598821"/>
              <a:gd name="csX51" fmla="*/ 3426598 w 5967667"/>
              <a:gd name="csY51" fmla="*/ 1588169 h 2598821"/>
              <a:gd name="csX52" fmla="*/ 3397722 w 5967667"/>
              <a:gd name="csY52" fmla="*/ 1578543 h 2598821"/>
              <a:gd name="csX53" fmla="*/ 3320720 w 5967667"/>
              <a:gd name="csY53" fmla="*/ 1511167 h 2598821"/>
              <a:gd name="csX54" fmla="*/ 3253343 w 5967667"/>
              <a:gd name="csY54" fmla="*/ 1472666 h 2598821"/>
              <a:gd name="csX55" fmla="*/ 3205217 w 5967667"/>
              <a:gd name="csY55" fmla="*/ 1443790 h 2598821"/>
              <a:gd name="csX56" fmla="*/ 3137840 w 5967667"/>
              <a:gd name="csY56" fmla="*/ 1386038 h 2598821"/>
              <a:gd name="csX57" fmla="*/ 3080088 w 5967667"/>
              <a:gd name="csY57" fmla="*/ 1366788 h 2598821"/>
              <a:gd name="csX58" fmla="*/ 3031962 w 5967667"/>
              <a:gd name="csY58" fmla="*/ 1347537 h 2598821"/>
              <a:gd name="csX59" fmla="*/ 2954960 w 5967667"/>
              <a:gd name="csY59" fmla="*/ 1299411 h 2598821"/>
              <a:gd name="csX60" fmla="*/ 2897208 w 5967667"/>
              <a:gd name="csY60" fmla="*/ 1212783 h 2598821"/>
              <a:gd name="csX61" fmla="*/ 2926084 w 5967667"/>
              <a:gd name="csY61" fmla="*/ 577516 h 2598821"/>
              <a:gd name="csX62" fmla="*/ 2916459 w 5967667"/>
              <a:gd name="csY62" fmla="*/ 308009 h 2598821"/>
              <a:gd name="csX63" fmla="*/ 2897208 w 5967667"/>
              <a:gd name="csY63" fmla="*/ 192506 h 2598821"/>
              <a:gd name="csX64" fmla="*/ 2877958 w 5967667"/>
              <a:gd name="csY64" fmla="*/ 144379 h 2598821"/>
              <a:gd name="csX65" fmla="*/ 2820206 w 5967667"/>
              <a:gd name="csY65" fmla="*/ 77002 h 2598821"/>
              <a:gd name="csX66" fmla="*/ 2791330 w 5967667"/>
              <a:gd name="csY66" fmla="*/ 38501 h 2598821"/>
              <a:gd name="csX67" fmla="*/ 2733579 w 5967667"/>
              <a:gd name="csY67" fmla="*/ 0 h 2598821"/>
              <a:gd name="csX0" fmla="*/ 2791330 w 5967667"/>
              <a:gd name="csY0" fmla="*/ 57752 h 2598821"/>
              <a:gd name="csX1" fmla="*/ 221385 w 5967667"/>
              <a:gd name="csY1" fmla="*/ 67377 h 2598821"/>
              <a:gd name="csX2" fmla="*/ 19254 w 5967667"/>
              <a:gd name="csY2" fmla="*/ 86628 h 2598821"/>
              <a:gd name="csX3" fmla="*/ 19254 w 5967667"/>
              <a:gd name="csY3" fmla="*/ 500514 h 2598821"/>
              <a:gd name="csX4" fmla="*/ 57756 w 5967667"/>
              <a:gd name="csY4" fmla="*/ 606392 h 2598821"/>
              <a:gd name="csX5" fmla="*/ 67381 w 5967667"/>
              <a:gd name="csY5" fmla="*/ 693019 h 2598821"/>
              <a:gd name="csX6" fmla="*/ 77006 w 5967667"/>
              <a:gd name="csY6" fmla="*/ 981777 h 2598821"/>
              <a:gd name="csX7" fmla="*/ 105882 w 5967667"/>
              <a:gd name="csY7" fmla="*/ 1049154 h 2598821"/>
              <a:gd name="csX8" fmla="*/ 134758 w 5967667"/>
              <a:gd name="csY8" fmla="*/ 1126156 h 2598821"/>
              <a:gd name="csX9" fmla="*/ 231010 w 5967667"/>
              <a:gd name="csY9" fmla="*/ 1232034 h 2598821"/>
              <a:gd name="csX10" fmla="*/ 279137 w 5967667"/>
              <a:gd name="csY10" fmla="*/ 1251284 h 2598821"/>
              <a:gd name="csX11" fmla="*/ 914404 w 5967667"/>
              <a:gd name="csY11" fmla="*/ 1270535 h 2598821"/>
              <a:gd name="csX12" fmla="*/ 1164661 w 5967667"/>
              <a:gd name="csY12" fmla="*/ 1578543 h 2598821"/>
              <a:gd name="csX13" fmla="*/ 1212787 w 5967667"/>
              <a:gd name="csY13" fmla="*/ 1665171 h 2598821"/>
              <a:gd name="csX14" fmla="*/ 1280164 w 5967667"/>
              <a:gd name="csY14" fmla="*/ 1761423 h 2598821"/>
              <a:gd name="csX15" fmla="*/ 1337916 w 5967667"/>
              <a:gd name="csY15" fmla="*/ 1867301 h 2598821"/>
              <a:gd name="csX16" fmla="*/ 1607423 w 5967667"/>
              <a:gd name="csY16" fmla="*/ 2146434 h 2598821"/>
              <a:gd name="csX17" fmla="*/ 1896181 w 5967667"/>
              <a:gd name="csY17" fmla="*/ 2300438 h 2598821"/>
              <a:gd name="csX18" fmla="*/ 1992433 w 5967667"/>
              <a:gd name="csY18" fmla="*/ 2338939 h 2598821"/>
              <a:gd name="csX19" fmla="*/ 2252316 w 5967667"/>
              <a:gd name="csY19" fmla="*/ 2387066 h 2598821"/>
              <a:gd name="csX20" fmla="*/ 2839457 w 5967667"/>
              <a:gd name="csY20" fmla="*/ 2464068 h 2598821"/>
              <a:gd name="csX21" fmla="*/ 3157090 w 5967667"/>
              <a:gd name="csY21" fmla="*/ 2502569 h 2598821"/>
              <a:gd name="csX22" fmla="*/ 3696105 w 5967667"/>
              <a:gd name="csY22" fmla="*/ 2521819 h 2598821"/>
              <a:gd name="csX23" fmla="*/ 4081116 w 5967667"/>
              <a:gd name="csY23" fmla="*/ 2560320 h 2598821"/>
              <a:gd name="csX24" fmla="*/ 4475751 w 5967667"/>
              <a:gd name="csY24" fmla="*/ 2569946 h 2598821"/>
              <a:gd name="csX25" fmla="*/ 4957014 w 5967667"/>
              <a:gd name="csY25" fmla="*/ 2598821 h 2598821"/>
              <a:gd name="csX26" fmla="*/ 5852164 w 5967667"/>
              <a:gd name="csY26" fmla="*/ 2569946 h 2598821"/>
              <a:gd name="csX27" fmla="*/ 5929166 w 5967667"/>
              <a:gd name="csY27" fmla="*/ 2483318 h 2598821"/>
              <a:gd name="csX28" fmla="*/ 5948417 w 5967667"/>
              <a:gd name="csY28" fmla="*/ 2300438 h 2598821"/>
              <a:gd name="csX29" fmla="*/ 5967667 w 5967667"/>
              <a:gd name="csY29" fmla="*/ 2030931 h 2598821"/>
              <a:gd name="csX30" fmla="*/ 5938791 w 5967667"/>
              <a:gd name="csY30" fmla="*/ 1366788 h 2598821"/>
              <a:gd name="csX31" fmla="*/ 5881040 w 5967667"/>
              <a:gd name="csY31" fmla="*/ 1328287 h 2598821"/>
              <a:gd name="csX32" fmla="*/ 5784787 w 5967667"/>
              <a:gd name="csY32" fmla="*/ 1309036 h 2598821"/>
              <a:gd name="csX33" fmla="*/ 5582657 w 5967667"/>
              <a:gd name="csY33" fmla="*/ 1289786 h 2598821"/>
              <a:gd name="csX34" fmla="*/ 4764509 w 5967667"/>
              <a:gd name="csY34" fmla="*/ 1309036 h 2598821"/>
              <a:gd name="csX35" fmla="*/ 4600880 w 5967667"/>
              <a:gd name="csY35" fmla="*/ 1357162 h 2598821"/>
              <a:gd name="csX36" fmla="*/ 4514252 w 5967667"/>
              <a:gd name="csY36" fmla="*/ 1386038 h 2598821"/>
              <a:gd name="csX37" fmla="*/ 4379499 w 5967667"/>
              <a:gd name="csY37" fmla="*/ 1443790 h 2598821"/>
              <a:gd name="csX38" fmla="*/ 4292871 w 5967667"/>
              <a:gd name="csY38" fmla="*/ 1501541 h 2598821"/>
              <a:gd name="csX39" fmla="*/ 4196619 w 5967667"/>
              <a:gd name="csY39" fmla="*/ 1549668 h 2598821"/>
              <a:gd name="csX40" fmla="*/ 4042614 w 5967667"/>
              <a:gd name="csY40" fmla="*/ 1645920 h 2598821"/>
              <a:gd name="csX41" fmla="*/ 3994488 w 5967667"/>
              <a:gd name="csY41" fmla="*/ 1674796 h 2598821"/>
              <a:gd name="csX42" fmla="*/ 3946362 w 5967667"/>
              <a:gd name="csY42" fmla="*/ 1713297 h 2598821"/>
              <a:gd name="csX43" fmla="*/ 3888610 w 5967667"/>
              <a:gd name="csY43" fmla="*/ 1742173 h 2598821"/>
              <a:gd name="csX44" fmla="*/ 3840484 w 5967667"/>
              <a:gd name="csY44" fmla="*/ 1780674 h 2598821"/>
              <a:gd name="csX45" fmla="*/ 3763482 w 5967667"/>
              <a:gd name="csY45" fmla="*/ 1819175 h 2598821"/>
              <a:gd name="csX46" fmla="*/ 3702848 w 5967667"/>
              <a:gd name="csY46" fmla="*/ 1756962 h 2598821"/>
              <a:gd name="csX47" fmla="*/ 3638153 w 5967667"/>
              <a:gd name="csY47" fmla="*/ 1709036 h 2598821"/>
              <a:gd name="csX48" fmla="*/ 3578020 w 5967667"/>
              <a:gd name="csY48" fmla="*/ 1684722 h 2598821"/>
              <a:gd name="csX49" fmla="*/ 3522850 w 5967667"/>
              <a:gd name="csY49" fmla="*/ 1665171 h 2598821"/>
              <a:gd name="csX50" fmla="*/ 3493974 w 5967667"/>
              <a:gd name="csY50" fmla="*/ 1645920 h 2598821"/>
              <a:gd name="csX51" fmla="*/ 3426598 w 5967667"/>
              <a:gd name="csY51" fmla="*/ 1588169 h 2598821"/>
              <a:gd name="csX52" fmla="*/ 3397722 w 5967667"/>
              <a:gd name="csY52" fmla="*/ 1578543 h 2598821"/>
              <a:gd name="csX53" fmla="*/ 3320720 w 5967667"/>
              <a:gd name="csY53" fmla="*/ 1511167 h 2598821"/>
              <a:gd name="csX54" fmla="*/ 3253343 w 5967667"/>
              <a:gd name="csY54" fmla="*/ 1472666 h 2598821"/>
              <a:gd name="csX55" fmla="*/ 3205217 w 5967667"/>
              <a:gd name="csY55" fmla="*/ 1443790 h 2598821"/>
              <a:gd name="csX56" fmla="*/ 3137840 w 5967667"/>
              <a:gd name="csY56" fmla="*/ 1386038 h 2598821"/>
              <a:gd name="csX57" fmla="*/ 3080088 w 5967667"/>
              <a:gd name="csY57" fmla="*/ 1366788 h 2598821"/>
              <a:gd name="csX58" fmla="*/ 3031962 w 5967667"/>
              <a:gd name="csY58" fmla="*/ 1347537 h 2598821"/>
              <a:gd name="csX59" fmla="*/ 2954960 w 5967667"/>
              <a:gd name="csY59" fmla="*/ 1299411 h 2598821"/>
              <a:gd name="csX60" fmla="*/ 2897208 w 5967667"/>
              <a:gd name="csY60" fmla="*/ 1212783 h 2598821"/>
              <a:gd name="csX61" fmla="*/ 2926084 w 5967667"/>
              <a:gd name="csY61" fmla="*/ 577516 h 2598821"/>
              <a:gd name="csX62" fmla="*/ 2916459 w 5967667"/>
              <a:gd name="csY62" fmla="*/ 308009 h 2598821"/>
              <a:gd name="csX63" fmla="*/ 2897208 w 5967667"/>
              <a:gd name="csY63" fmla="*/ 192506 h 2598821"/>
              <a:gd name="csX64" fmla="*/ 2877958 w 5967667"/>
              <a:gd name="csY64" fmla="*/ 144379 h 2598821"/>
              <a:gd name="csX65" fmla="*/ 2820206 w 5967667"/>
              <a:gd name="csY65" fmla="*/ 77002 h 2598821"/>
              <a:gd name="csX66" fmla="*/ 2791330 w 5967667"/>
              <a:gd name="csY66" fmla="*/ 38501 h 2598821"/>
              <a:gd name="csX67" fmla="*/ 2733579 w 5967667"/>
              <a:gd name="csY67" fmla="*/ 0 h 2598821"/>
              <a:gd name="csX0" fmla="*/ 2791330 w 5967667"/>
              <a:gd name="csY0" fmla="*/ 57752 h 2598821"/>
              <a:gd name="csX1" fmla="*/ 221385 w 5967667"/>
              <a:gd name="csY1" fmla="*/ 67377 h 2598821"/>
              <a:gd name="csX2" fmla="*/ 19254 w 5967667"/>
              <a:gd name="csY2" fmla="*/ 86628 h 2598821"/>
              <a:gd name="csX3" fmla="*/ 19254 w 5967667"/>
              <a:gd name="csY3" fmla="*/ 500514 h 2598821"/>
              <a:gd name="csX4" fmla="*/ 57756 w 5967667"/>
              <a:gd name="csY4" fmla="*/ 606392 h 2598821"/>
              <a:gd name="csX5" fmla="*/ 67381 w 5967667"/>
              <a:gd name="csY5" fmla="*/ 693019 h 2598821"/>
              <a:gd name="csX6" fmla="*/ 77006 w 5967667"/>
              <a:gd name="csY6" fmla="*/ 981777 h 2598821"/>
              <a:gd name="csX7" fmla="*/ 105882 w 5967667"/>
              <a:gd name="csY7" fmla="*/ 1049154 h 2598821"/>
              <a:gd name="csX8" fmla="*/ 134758 w 5967667"/>
              <a:gd name="csY8" fmla="*/ 1126156 h 2598821"/>
              <a:gd name="csX9" fmla="*/ 231010 w 5967667"/>
              <a:gd name="csY9" fmla="*/ 1232034 h 2598821"/>
              <a:gd name="csX10" fmla="*/ 279137 w 5967667"/>
              <a:gd name="csY10" fmla="*/ 1251284 h 2598821"/>
              <a:gd name="csX11" fmla="*/ 914404 w 5967667"/>
              <a:gd name="csY11" fmla="*/ 1270535 h 2598821"/>
              <a:gd name="csX12" fmla="*/ 1164661 w 5967667"/>
              <a:gd name="csY12" fmla="*/ 1578543 h 2598821"/>
              <a:gd name="csX13" fmla="*/ 1212787 w 5967667"/>
              <a:gd name="csY13" fmla="*/ 1665171 h 2598821"/>
              <a:gd name="csX14" fmla="*/ 1280164 w 5967667"/>
              <a:gd name="csY14" fmla="*/ 1761423 h 2598821"/>
              <a:gd name="csX15" fmla="*/ 1337916 w 5967667"/>
              <a:gd name="csY15" fmla="*/ 1867301 h 2598821"/>
              <a:gd name="csX16" fmla="*/ 1607423 w 5967667"/>
              <a:gd name="csY16" fmla="*/ 2146434 h 2598821"/>
              <a:gd name="csX17" fmla="*/ 1896181 w 5967667"/>
              <a:gd name="csY17" fmla="*/ 2300438 h 2598821"/>
              <a:gd name="csX18" fmla="*/ 1992433 w 5967667"/>
              <a:gd name="csY18" fmla="*/ 2338939 h 2598821"/>
              <a:gd name="csX19" fmla="*/ 2252316 w 5967667"/>
              <a:gd name="csY19" fmla="*/ 2387066 h 2598821"/>
              <a:gd name="csX20" fmla="*/ 2839457 w 5967667"/>
              <a:gd name="csY20" fmla="*/ 2464068 h 2598821"/>
              <a:gd name="csX21" fmla="*/ 3157090 w 5967667"/>
              <a:gd name="csY21" fmla="*/ 2502569 h 2598821"/>
              <a:gd name="csX22" fmla="*/ 3696105 w 5967667"/>
              <a:gd name="csY22" fmla="*/ 2521819 h 2598821"/>
              <a:gd name="csX23" fmla="*/ 4081116 w 5967667"/>
              <a:gd name="csY23" fmla="*/ 2560320 h 2598821"/>
              <a:gd name="csX24" fmla="*/ 4475751 w 5967667"/>
              <a:gd name="csY24" fmla="*/ 2569946 h 2598821"/>
              <a:gd name="csX25" fmla="*/ 4957014 w 5967667"/>
              <a:gd name="csY25" fmla="*/ 2598821 h 2598821"/>
              <a:gd name="csX26" fmla="*/ 5852164 w 5967667"/>
              <a:gd name="csY26" fmla="*/ 2569946 h 2598821"/>
              <a:gd name="csX27" fmla="*/ 5929166 w 5967667"/>
              <a:gd name="csY27" fmla="*/ 2483318 h 2598821"/>
              <a:gd name="csX28" fmla="*/ 5948417 w 5967667"/>
              <a:gd name="csY28" fmla="*/ 2300438 h 2598821"/>
              <a:gd name="csX29" fmla="*/ 5967667 w 5967667"/>
              <a:gd name="csY29" fmla="*/ 2030931 h 2598821"/>
              <a:gd name="csX30" fmla="*/ 5938791 w 5967667"/>
              <a:gd name="csY30" fmla="*/ 1366788 h 2598821"/>
              <a:gd name="csX31" fmla="*/ 5881040 w 5967667"/>
              <a:gd name="csY31" fmla="*/ 1328287 h 2598821"/>
              <a:gd name="csX32" fmla="*/ 5784787 w 5967667"/>
              <a:gd name="csY32" fmla="*/ 1309036 h 2598821"/>
              <a:gd name="csX33" fmla="*/ 5582657 w 5967667"/>
              <a:gd name="csY33" fmla="*/ 1289786 h 2598821"/>
              <a:gd name="csX34" fmla="*/ 4764509 w 5967667"/>
              <a:gd name="csY34" fmla="*/ 1309036 h 2598821"/>
              <a:gd name="csX35" fmla="*/ 4600880 w 5967667"/>
              <a:gd name="csY35" fmla="*/ 1357162 h 2598821"/>
              <a:gd name="csX36" fmla="*/ 4514252 w 5967667"/>
              <a:gd name="csY36" fmla="*/ 1386038 h 2598821"/>
              <a:gd name="csX37" fmla="*/ 4379499 w 5967667"/>
              <a:gd name="csY37" fmla="*/ 1443790 h 2598821"/>
              <a:gd name="csX38" fmla="*/ 4292871 w 5967667"/>
              <a:gd name="csY38" fmla="*/ 1501541 h 2598821"/>
              <a:gd name="csX39" fmla="*/ 4196619 w 5967667"/>
              <a:gd name="csY39" fmla="*/ 1549668 h 2598821"/>
              <a:gd name="csX40" fmla="*/ 4042614 w 5967667"/>
              <a:gd name="csY40" fmla="*/ 1645920 h 2598821"/>
              <a:gd name="csX41" fmla="*/ 3994488 w 5967667"/>
              <a:gd name="csY41" fmla="*/ 1674796 h 2598821"/>
              <a:gd name="csX42" fmla="*/ 3946362 w 5967667"/>
              <a:gd name="csY42" fmla="*/ 1713297 h 2598821"/>
              <a:gd name="csX43" fmla="*/ 3888610 w 5967667"/>
              <a:gd name="csY43" fmla="*/ 1742173 h 2598821"/>
              <a:gd name="csX44" fmla="*/ 3840484 w 5967667"/>
              <a:gd name="csY44" fmla="*/ 1780674 h 2598821"/>
              <a:gd name="csX45" fmla="*/ 3763482 w 5967667"/>
              <a:gd name="csY45" fmla="*/ 1819175 h 2598821"/>
              <a:gd name="csX46" fmla="*/ 3702848 w 5967667"/>
              <a:gd name="csY46" fmla="*/ 1756962 h 2598821"/>
              <a:gd name="csX47" fmla="*/ 3638153 w 5967667"/>
              <a:gd name="csY47" fmla="*/ 1709036 h 2598821"/>
              <a:gd name="csX48" fmla="*/ 3578020 w 5967667"/>
              <a:gd name="csY48" fmla="*/ 1684722 h 2598821"/>
              <a:gd name="csX49" fmla="*/ 3522850 w 5967667"/>
              <a:gd name="csY49" fmla="*/ 1665171 h 2598821"/>
              <a:gd name="csX50" fmla="*/ 3493974 w 5967667"/>
              <a:gd name="csY50" fmla="*/ 1645920 h 2598821"/>
              <a:gd name="csX51" fmla="*/ 3426598 w 5967667"/>
              <a:gd name="csY51" fmla="*/ 1588169 h 2598821"/>
              <a:gd name="csX52" fmla="*/ 3397722 w 5967667"/>
              <a:gd name="csY52" fmla="*/ 1578543 h 2598821"/>
              <a:gd name="csX53" fmla="*/ 3320720 w 5967667"/>
              <a:gd name="csY53" fmla="*/ 1511167 h 2598821"/>
              <a:gd name="csX54" fmla="*/ 3253343 w 5967667"/>
              <a:gd name="csY54" fmla="*/ 1472666 h 2598821"/>
              <a:gd name="csX55" fmla="*/ 3205217 w 5967667"/>
              <a:gd name="csY55" fmla="*/ 1443790 h 2598821"/>
              <a:gd name="csX56" fmla="*/ 3135459 w 5967667"/>
              <a:gd name="csY56" fmla="*/ 1412232 h 2598821"/>
              <a:gd name="csX57" fmla="*/ 3080088 w 5967667"/>
              <a:gd name="csY57" fmla="*/ 1366788 h 2598821"/>
              <a:gd name="csX58" fmla="*/ 3031962 w 5967667"/>
              <a:gd name="csY58" fmla="*/ 1347537 h 2598821"/>
              <a:gd name="csX59" fmla="*/ 2954960 w 5967667"/>
              <a:gd name="csY59" fmla="*/ 1299411 h 2598821"/>
              <a:gd name="csX60" fmla="*/ 2897208 w 5967667"/>
              <a:gd name="csY60" fmla="*/ 1212783 h 2598821"/>
              <a:gd name="csX61" fmla="*/ 2926084 w 5967667"/>
              <a:gd name="csY61" fmla="*/ 577516 h 2598821"/>
              <a:gd name="csX62" fmla="*/ 2916459 w 5967667"/>
              <a:gd name="csY62" fmla="*/ 308009 h 2598821"/>
              <a:gd name="csX63" fmla="*/ 2897208 w 5967667"/>
              <a:gd name="csY63" fmla="*/ 192506 h 2598821"/>
              <a:gd name="csX64" fmla="*/ 2877958 w 5967667"/>
              <a:gd name="csY64" fmla="*/ 144379 h 2598821"/>
              <a:gd name="csX65" fmla="*/ 2820206 w 5967667"/>
              <a:gd name="csY65" fmla="*/ 77002 h 2598821"/>
              <a:gd name="csX66" fmla="*/ 2791330 w 5967667"/>
              <a:gd name="csY66" fmla="*/ 38501 h 2598821"/>
              <a:gd name="csX67" fmla="*/ 2733579 w 5967667"/>
              <a:gd name="csY67" fmla="*/ 0 h 2598821"/>
              <a:gd name="csX0" fmla="*/ 2776992 w 5953329"/>
              <a:gd name="csY0" fmla="*/ 57752 h 2598821"/>
              <a:gd name="csX1" fmla="*/ 207047 w 5953329"/>
              <a:gd name="csY1" fmla="*/ 67377 h 2598821"/>
              <a:gd name="csX2" fmla="*/ 162078 w 5953329"/>
              <a:gd name="csY2" fmla="*/ 131872 h 2598821"/>
              <a:gd name="csX3" fmla="*/ 4916 w 5953329"/>
              <a:gd name="csY3" fmla="*/ 500514 h 2598821"/>
              <a:gd name="csX4" fmla="*/ 43418 w 5953329"/>
              <a:gd name="csY4" fmla="*/ 606392 h 2598821"/>
              <a:gd name="csX5" fmla="*/ 53043 w 5953329"/>
              <a:gd name="csY5" fmla="*/ 693019 h 2598821"/>
              <a:gd name="csX6" fmla="*/ 62668 w 5953329"/>
              <a:gd name="csY6" fmla="*/ 981777 h 2598821"/>
              <a:gd name="csX7" fmla="*/ 91544 w 5953329"/>
              <a:gd name="csY7" fmla="*/ 1049154 h 2598821"/>
              <a:gd name="csX8" fmla="*/ 120420 w 5953329"/>
              <a:gd name="csY8" fmla="*/ 1126156 h 2598821"/>
              <a:gd name="csX9" fmla="*/ 216672 w 5953329"/>
              <a:gd name="csY9" fmla="*/ 1232034 h 2598821"/>
              <a:gd name="csX10" fmla="*/ 264799 w 5953329"/>
              <a:gd name="csY10" fmla="*/ 1251284 h 2598821"/>
              <a:gd name="csX11" fmla="*/ 900066 w 5953329"/>
              <a:gd name="csY11" fmla="*/ 1270535 h 2598821"/>
              <a:gd name="csX12" fmla="*/ 1150323 w 5953329"/>
              <a:gd name="csY12" fmla="*/ 1578543 h 2598821"/>
              <a:gd name="csX13" fmla="*/ 1198449 w 5953329"/>
              <a:gd name="csY13" fmla="*/ 1665171 h 2598821"/>
              <a:gd name="csX14" fmla="*/ 1265826 w 5953329"/>
              <a:gd name="csY14" fmla="*/ 1761423 h 2598821"/>
              <a:gd name="csX15" fmla="*/ 1323578 w 5953329"/>
              <a:gd name="csY15" fmla="*/ 1867301 h 2598821"/>
              <a:gd name="csX16" fmla="*/ 1593085 w 5953329"/>
              <a:gd name="csY16" fmla="*/ 2146434 h 2598821"/>
              <a:gd name="csX17" fmla="*/ 1881843 w 5953329"/>
              <a:gd name="csY17" fmla="*/ 2300438 h 2598821"/>
              <a:gd name="csX18" fmla="*/ 1978095 w 5953329"/>
              <a:gd name="csY18" fmla="*/ 2338939 h 2598821"/>
              <a:gd name="csX19" fmla="*/ 2237978 w 5953329"/>
              <a:gd name="csY19" fmla="*/ 2387066 h 2598821"/>
              <a:gd name="csX20" fmla="*/ 2825119 w 5953329"/>
              <a:gd name="csY20" fmla="*/ 2464068 h 2598821"/>
              <a:gd name="csX21" fmla="*/ 3142752 w 5953329"/>
              <a:gd name="csY21" fmla="*/ 2502569 h 2598821"/>
              <a:gd name="csX22" fmla="*/ 3681767 w 5953329"/>
              <a:gd name="csY22" fmla="*/ 2521819 h 2598821"/>
              <a:gd name="csX23" fmla="*/ 4066778 w 5953329"/>
              <a:gd name="csY23" fmla="*/ 2560320 h 2598821"/>
              <a:gd name="csX24" fmla="*/ 4461413 w 5953329"/>
              <a:gd name="csY24" fmla="*/ 2569946 h 2598821"/>
              <a:gd name="csX25" fmla="*/ 4942676 w 5953329"/>
              <a:gd name="csY25" fmla="*/ 2598821 h 2598821"/>
              <a:gd name="csX26" fmla="*/ 5837826 w 5953329"/>
              <a:gd name="csY26" fmla="*/ 2569946 h 2598821"/>
              <a:gd name="csX27" fmla="*/ 5914828 w 5953329"/>
              <a:gd name="csY27" fmla="*/ 2483318 h 2598821"/>
              <a:gd name="csX28" fmla="*/ 5934079 w 5953329"/>
              <a:gd name="csY28" fmla="*/ 2300438 h 2598821"/>
              <a:gd name="csX29" fmla="*/ 5953329 w 5953329"/>
              <a:gd name="csY29" fmla="*/ 2030931 h 2598821"/>
              <a:gd name="csX30" fmla="*/ 5924453 w 5953329"/>
              <a:gd name="csY30" fmla="*/ 1366788 h 2598821"/>
              <a:gd name="csX31" fmla="*/ 5866702 w 5953329"/>
              <a:gd name="csY31" fmla="*/ 1328287 h 2598821"/>
              <a:gd name="csX32" fmla="*/ 5770449 w 5953329"/>
              <a:gd name="csY32" fmla="*/ 1309036 h 2598821"/>
              <a:gd name="csX33" fmla="*/ 5568319 w 5953329"/>
              <a:gd name="csY33" fmla="*/ 1289786 h 2598821"/>
              <a:gd name="csX34" fmla="*/ 4750171 w 5953329"/>
              <a:gd name="csY34" fmla="*/ 1309036 h 2598821"/>
              <a:gd name="csX35" fmla="*/ 4586542 w 5953329"/>
              <a:gd name="csY35" fmla="*/ 1357162 h 2598821"/>
              <a:gd name="csX36" fmla="*/ 4499914 w 5953329"/>
              <a:gd name="csY36" fmla="*/ 1386038 h 2598821"/>
              <a:gd name="csX37" fmla="*/ 4365161 w 5953329"/>
              <a:gd name="csY37" fmla="*/ 1443790 h 2598821"/>
              <a:gd name="csX38" fmla="*/ 4278533 w 5953329"/>
              <a:gd name="csY38" fmla="*/ 1501541 h 2598821"/>
              <a:gd name="csX39" fmla="*/ 4182281 w 5953329"/>
              <a:gd name="csY39" fmla="*/ 1549668 h 2598821"/>
              <a:gd name="csX40" fmla="*/ 4028276 w 5953329"/>
              <a:gd name="csY40" fmla="*/ 1645920 h 2598821"/>
              <a:gd name="csX41" fmla="*/ 3980150 w 5953329"/>
              <a:gd name="csY41" fmla="*/ 1674796 h 2598821"/>
              <a:gd name="csX42" fmla="*/ 3932024 w 5953329"/>
              <a:gd name="csY42" fmla="*/ 1713297 h 2598821"/>
              <a:gd name="csX43" fmla="*/ 3874272 w 5953329"/>
              <a:gd name="csY43" fmla="*/ 1742173 h 2598821"/>
              <a:gd name="csX44" fmla="*/ 3826146 w 5953329"/>
              <a:gd name="csY44" fmla="*/ 1780674 h 2598821"/>
              <a:gd name="csX45" fmla="*/ 3749144 w 5953329"/>
              <a:gd name="csY45" fmla="*/ 1819175 h 2598821"/>
              <a:gd name="csX46" fmla="*/ 3688510 w 5953329"/>
              <a:gd name="csY46" fmla="*/ 1756962 h 2598821"/>
              <a:gd name="csX47" fmla="*/ 3623815 w 5953329"/>
              <a:gd name="csY47" fmla="*/ 1709036 h 2598821"/>
              <a:gd name="csX48" fmla="*/ 3563682 w 5953329"/>
              <a:gd name="csY48" fmla="*/ 1684722 h 2598821"/>
              <a:gd name="csX49" fmla="*/ 3508512 w 5953329"/>
              <a:gd name="csY49" fmla="*/ 1665171 h 2598821"/>
              <a:gd name="csX50" fmla="*/ 3479636 w 5953329"/>
              <a:gd name="csY50" fmla="*/ 1645920 h 2598821"/>
              <a:gd name="csX51" fmla="*/ 3412260 w 5953329"/>
              <a:gd name="csY51" fmla="*/ 1588169 h 2598821"/>
              <a:gd name="csX52" fmla="*/ 3383384 w 5953329"/>
              <a:gd name="csY52" fmla="*/ 1578543 h 2598821"/>
              <a:gd name="csX53" fmla="*/ 3306382 w 5953329"/>
              <a:gd name="csY53" fmla="*/ 1511167 h 2598821"/>
              <a:gd name="csX54" fmla="*/ 3239005 w 5953329"/>
              <a:gd name="csY54" fmla="*/ 1472666 h 2598821"/>
              <a:gd name="csX55" fmla="*/ 3190879 w 5953329"/>
              <a:gd name="csY55" fmla="*/ 1443790 h 2598821"/>
              <a:gd name="csX56" fmla="*/ 3121121 w 5953329"/>
              <a:gd name="csY56" fmla="*/ 1412232 h 2598821"/>
              <a:gd name="csX57" fmla="*/ 3065750 w 5953329"/>
              <a:gd name="csY57" fmla="*/ 1366788 h 2598821"/>
              <a:gd name="csX58" fmla="*/ 3017624 w 5953329"/>
              <a:gd name="csY58" fmla="*/ 1347537 h 2598821"/>
              <a:gd name="csX59" fmla="*/ 2940622 w 5953329"/>
              <a:gd name="csY59" fmla="*/ 1299411 h 2598821"/>
              <a:gd name="csX60" fmla="*/ 2882870 w 5953329"/>
              <a:gd name="csY60" fmla="*/ 1212783 h 2598821"/>
              <a:gd name="csX61" fmla="*/ 2911746 w 5953329"/>
              <a:gd name="csY61" fmla="*/ 577516 h 2598821"/>
              <a:gd name="csX62" fmla="*/ 2902121 w 5953329"/>
              <a:gd name="csY62" fmla="*/ 308009 h 2598821"/>
              <a:gd name="csX63" fmla="*/ 2882870 w 5953329"/>
              <a:gd name="csY63" fmla="*/ 192506 h 2598821"/>
              <a:gd name="csX64" fmla="*/ 2863620 w 5953329"/>
              <a:gd name="csY64" fmla="*/ 144379 h 2598821"/>
              <a:gd name="csX65" fmla="*/ 2805868 w 5953329"/>
              <a:gd name="csY65" fmla="*/ 77002 h 2598821"/>
              <a:gd name="csX66" fmla="*/ 2776992 w 5953329"/>
              <a:gd name="csY66" fmla="*/ 38501 h 2598821"/>
              <a:gd name="csX67" fmla="*/ 2719241 w 5953329"/>
              <a:gd name="csY67" fmla="*/ 0 h 2598821"/>
              <a:gd name="csX0" fmla="*/ 2734685 w 5911022"/>
              <a:gd name="csY0" fmla="*/ 57752 h 2598821"/>
              <a:gd name="csX1" fmla="*/ 164740 w 5911022"/>
              <a:gd name="csY1" fmla="*/ 67377 h 2598821"/>
              <a:gd name="csX2" fmla="*/ 119771 w 5911022"/>
              <a:gd name="csY2" fmla="*/ 131872 h 2598821"/>
              <a:gd name="csX3" fmla="*/ 110246 w 5911022"/>
              <a:gd name="csY3" fmla="*/ 543376 h 2598821"/>
              <a:gd name="csX4" fmla="*/ 1111 w 5911022"/>
              <a:gd name="csY4" fmla="*/ 606392 h 2598821"/>
              <a:gd name="csX5" fmla="*/ 10736 w 5911022"/>
              <a:gd name="csY5" fmla="*/ 693019 h 2598821"/>
              <a:gd name="csX6" fmla="*/ 20361 w 5911022"/>
              <a:gd name="csY6" fmla="*/ 981777 h 2598821"/>
              <a:gd name="csX7" fmla="*/ 49237 w 5911022"/>
              <a:gd name="csY7" fmla="*/ 1049154 h 2598821"/>
              <a:gd name="csX8" fmla="*/ 78113 w 5911022"/>
              <a:gd name="csY8" fmla="*/ 1126156 h 2598821"/>
              <a:gd name="csX9" fmla="*/ 174365 w 5911022"/>
              <a:gd name="csY9" fmla="*/ 1232034 h 2598821"/>
              <a:gd name="csX10" fmla="*/ 222492 w 5911022"/>
              <a:gd name="csY10" fmla="*/ 1251284 h 2598821"/>
              <a:gd name="csX11" fmla="*/ 857759 w 5911022"/>
              <a:gd name="csY11" fmla="*/ 1270535 h 2598821"/>
              <a:gd name="csX12" fmla="*/ 1108016 w 5911022"/>
              <a:gd name="csY12" fmla="*/ 1578543 h 2598821"/>
              <a:gd name="csX13" fmla="*/ 1156142 w 5911022"/>
              <a:gd name="csY13" fmla="*/ 1665171 h 2598821"/>
              <a:gd name="csX14" fmla="*/ 1223519 w 5911022"/>
              <a:gd name="csY14" fmla="*/ 1761423 h 2598821"/>
              <a:gd name="csX15" fmla="*/ 1281271 w 5911022"/>
              <a:gd name="csY15" fmla="*/ 1867301 h 2598821"/>
              <a:gd name="csX16" fmla="*/ 1550778 w 5911022"/>
              <a:gd name="csY16" fmla="*/ 2146434 h 2598821"/>
              <a:gd name="csX17" fmla="*/ 1839536 w 5911022"/>
              <a:gd name="csY17" fmla="*/ 2300438 h 2598821"/>
              <a:gd name="csX18" fmla="*/ 1935788 w 5911022"/>
              <a:gd name="csY18" fmla="*/ 2338939 h 2598821"/>
              <a:gd name="csX19" fmla="*/ 2195671 w 5911022"/>
              <a:gd name="csY19" fmla="*/ 2387066 h 2598821"/>
              <a:gd name="csX20" fmla="*/ 2782812 w 5911022"/>
              <a:gd name="csY20" fmla="*/ 2464068 h 2598821"/>
              <a:gd name="csX21" fmla="*/ 3100445 w 5911022"/>
              <a:gd name="csY21" fmla="*/ 2502569 h 2598821"/>
              <a:gd name="csX22" fmla="*/ 3639460 w 5911022"/>
              <a:gd name="csY22" fmla="*/ 2521819 h 2598821"/>
              <a:gd name="csX23" fmla="*/ 4024471 w 5911022"/>
              <a:gd name="csY23" fmla="*/ 2560320 h 2598821"/>
              <a:gd name="csX24" fmla="*/ 4419106 w 5911022"/>
              <a:gd name="csY24" fmla="*/ 2569946 h 2598821"/>
              <a:gd name="csX25" fmla="*/ 4900369 w 5911022"/>
              <a:gd name="csY25" fmla="*/ 2598821 h 2598821"/>
              <a:gd name="csX26" fmla="*/ 5795519 w 5911022"/>
              <a:gd name="csY26" fmla="*/ 2569946 h 2598821"/>
              <a:gd name="csX27" fmla="*/ 5872521 w 5911022"/>
              <a:gd name="csY27" fmla="*/ 2483318 h 2598821"/>
              <a:gd name="csX28" fmla="*/ 5891772 w 5911022"/>
              <a:gd name="csY28" fmla="*/ 2300438 h 2598821"/>
              <a:gd name="csX29" fmla="*/ 5911022 w 5911022"/>
              <a:gd name="csY29" fmla="*/ 2030931 h 2598821"/>
              <a:gd name="csX30" fmla="*/ 5882146 w 5911022"/>
              <a:gd name="csY30" fmla="*/ 1366788 h 2598821"/>
              <a:gd name="csX31" fmla="*/ 5824395 w 5911022"/>
              <a:gd name="csY31" fmla="*/ 1328287 h 2598821"/>
              <a:gd name="csX32" fmla="*/ 5728142 w 5911022"/>
              <a:gd name="csY32" fmla="*/ 1309036 h 2598821"/>
              <a:gd name="csX33" fmla="*/ 5526012 w 5911022"/>
              <a:gd name="csY33" fmla="*/ 1289786 h 2598821"/>
              <a:gd name="csX34" fmla="*/ 4707864 w 5911022"/>
              <a:gd name="csY34" fmla="*/ 1309036 h 2598821"/>
              <a:gd name="csX35" fmla="*/ 4544235 w 5911022"/>
              <a:gd name="csY35" fmla="*/ 1357162 h 2598821"/>
              <a:gd name="csX36" fmla="*/ 4457607 w 5911022"/>
              <a:gd name="csY36" fmla="*/ 1386038 h 2598821"/>
              <a:gd name="csX37" fmla="*/ 4322854 w 5911022"/>
              <a:gd name="csY37" fmla="*/ 1443790 h 2598821"/>
              <a:gd name="csX38" fmla="*/ 4236226 w 5911022"/>
              <a:gd name="csY38" fmla="*/ 1501541 h 2598821"/>
              <a:gd name="csX39" fmla="*/ 4139974 w 5911022"/>
              <a:gd name="csY39" fmla="*/ 1549668 h 2598821"/>
              <a:gd name="csX40" fmla="*/ 3985969 w 5911022"/>
              <a:gd name="csY40" fmla="*/ 1645920 h 2598821"/>
              <a:gd name="csX41" fmla="*/ 3937843 w 5911022"/>
              <a:gd name="csY41" fmla="*/ 1674796 h 2598821"/>
              <a:gd name="csX42" fmla="*/ 3889717 w 5911022"/>
              <a:gd name="csY42" fmla="*/ 1713297 h 2598821"/>
              <a:gd name="csX43" fmla="*/ 3831965 w 5911022"/>
              <a:gd name="csY43" fmla="*/ 1742173 h 2598821"/>
              <a:gd name="csX44" fmla="*/ 3783839 w 5911022"/>
              <a:gd name="csY44" fmla="*/ 1780674 h 2598821"/>
              <a:gd name="csX45" fmla="*/ 3706837 w 5911022"/>
              <a:gd name="csY45" fmla="*/ 1819175 h 2598821"/>
              <a:gd name="csX46" fmla="*/ 3646203 w 5911022"/>
              <a:gd name="csY46" fmla="*/ 1756962 h 2598821"/>
              <a:gd name="csX47" fmla="*/ 3581508 w 5911022"/>
              <a:gd name="csY47" fmla="*/ 1709036 h 2598821"/>
              <a:gd name="csX48" fmla="*/ 3521375 w 5911022"/>
              <a:gd name="csY48" fmla="*/ 1684722 h 2598821"/>
              <a:gd name="csX49" fmla="*/ 3466205 w 5911022"/>
              <a:gd name="csY49" fmla="*/ 1665171 h 2598821"/>
              <a:gd name="csX50" fmla="*/ 3437329 w 5911022"/>
              <a:gd name="csY50" fmla="*/ 1645920 h 2598821"/>
              <a:gd name="csX51" fmla="*/ 3369953 w 5911022"/>
              <a:gd name="csY51" fmla="*/ 1588169 h 2598821"/>
              <a:gd name="csX52" fmla="*/ 3341077 w 5911022"/>
              <a:gd name="csY52" fmla="*/ 1578543 h 2598821"/>
              <a:gd name="csX53" fmla="*/ 3264075 w 5911022"/>
              <a:gd name="csY53" fmla="*/ 1511167 h 2598821"/>
              <a:gd name="csX54" fmla="*/ 3196698 w 5911022"/>
              <a:gd name="csY54" fmla="*/ 1472666 h 2598821"/>
              <a:gd name="csX55" fmla="*/ 3148572 w 5911022"/>
              <a:gd name="csY55" fmla="*/ 1443790 h 2598821"/>
              <a:gd name="csX56" fmla="*/ 3078814 w 5911022"/>
              <a:gd name="csY56" fmla="*/ 1412232 h 2598821"/>
              <a:gd name="csX57" fmla="*/ 3023443 w 5911022"/>
              <a:gd name="csY57" fmla="*/ 1366788 h 2598821"/>
              <a:gd name="csX58" fmla="*/ 2975317 w 5911022"/>
              <a:gd name="csY58" fmla="*/ 1347537 h 2598821"/>
              <a:gd name="csX59" fmla="*/ 2898315 w 5911022"/>
              <a:gd name="csY59" fmla="*/ 1299411 h 2598821"/>
              <a:gd name="csX60" fmla="*/ 2840563 w 5911022"/>
              <a:gd name="csY60" fmla="*/ 1212783 h 2598821"/>
              <a:gd name="csX61" fmla="*/ 2869439 w 5911022"/>
              <a:gd name="csY61" fmla="*/ 577516 h 2598821"/>
              <a:gd name="csX62" fmla="*/ 2859814 w 5911022"/>
              <a:gd name="csY62" fmla="*/ 308009 h 2598821"/>
              <a:gd name="csX63" fmla="*/ 2840563 w 5911022"/>
              <a:gd name="csY63" fmla="*/ 192506 h 2598821"/>
              <a:gd name="csX64" fmla="*/ 2821313 w 5911022"/>
              <a:gd name="csY64" fmla="*/ 144379 h 2598821"/>
              <a:gd name="csX65" fmla="*/ 2763561 w 5911022"/>
              <a:gd name="csY65" fmla="*/ 77002 h 2598821"/>
              <a:gd name="csX66" fmla="*/ 2734685 w 5911022"/>
              <a:gd name="csY66" fmla="*/ 38501 h 2598821"/>
              <a:gd name="csX67" fmla="*/ 2676934 w 5911022"/>
              <a:gd name="csY67" fmla="*/ 0 h 2598821"/>
              <a:gd name="csX0" fmla="*/ 2731877 w 5908214"/>
              <a:gd name="csY0" fmla="*/ 57752 h 2598821"/>
              <a:gd name="csX1" fmla="*/ 161932 w 5908214"/>
              <a:gd name="csY1" fmla="*/ 67377 h 2598821"/>
              <a:gd name="csX2" fmla="*/ 116963 w 5908214"/>
              <a:gd name="csY2" fmla="*/ 131872 h 2598821"/>
              <a:gd name="csX3" fmla="*/ 107438 w 5908214"/>
              <a:gd name="csY3" fmla="*/ 543376 h 2598821"/>
              <a:gd name="csX4" fmla="*/ 126890 w 5908214"/>
              <a:gd name="csY4" fmla="*/ 1101692 h 2598821"/>
              <a:gd name="csX5" fmla="*/ 7928 w 5908214"/>
              <a:gd name="csY5" fmla="*/ 693019 h 2598821"/>
              <a:gd name="csX6" fmla="*/ 17553 w 5908214"/>
              <a:gd name="csY6" fmla="*/ 981777 h 2598821"/>
              <a:gd name="csX7" fmla="*/ 46429 w 5908214"/>
              <a:gd name="csY7" fmla="*/ 1049154 h 2598821"/>
              <a:gd name="csX8" fmla="*/ 75305 w 5908214"/>
              <a:gd name="csY8" fmla="*/ 1126156 h 2598821"/>
              <a:gd name="csX9" fmla="*/ 171557 w 5908214"/>
              <a:gd name="csY9" fmla="*/ 1232034 h 2598821"/>
              <a:gd name="csX10" fmla="*/ 219684 w 5908214"/>
              <a:gd name="csY10" fmla="*/ 1251284 h 2598821"/>
              <a:gd name="csX11" fmla="*/ 854951 w 5908214"/>
              <a:gd name="csY11" fmla="*/ 1270535 h 2598821"/>
              <a:gd name="csX12" fmla="*/ 1105208 w 5908214"/>
              <a:gd name="csY12" fmla="*/ 1578543 h 2598821"/>
              <a:gd name="csX13" fmla="*/ 1153334 w 5908214"/>
              <a:gd name="csY13" fmla="*/ 1665171 h 2598821"/>
              <a:gd name="csX14" fmla="*/ 1220711 w 5908214"/>
              <a:gd name="csY14" fmla="*/ 1761423 h 2598821"/>
              <a:gd name="csX15" fmla="*/ 1278463 w 5908214"/>
              <a:gd name="csY15" fmla="*/ 1867301 h 2598821"/>
              <a:gd name="csX16" fmla="*/ 1547970 w 5908214"/>
              <a:gd name="csY16" fmla="*/ 2146434 h 2598821"/>
              <a:gd name="csX17" fmla="*/ 1836728 w 5908214"/>
              <a:gd name="csY17" fmla="*/ 2300438 h 2598821"/>
              <a:gd name="csX18" fmla="*/ 1932980 w 5908214"/>
              <a:gd name="csY18" fmla="*/ 2338939 h 2598821"/>
              <a:gd name="csX19" fmla="*/ 2192863 w 5908214"/>
              <a:gd name="csY19" fmla="*/ 2387066 h 2598821"/>
              <a:gd name="csX20" fmla="*/ 2780004 w 5908214"/>
              <a:gd name="csY20" fmla="*/ 2464068 h 2598821"/>
              <a:gd name="csX21" fmla="*/ 3097637 w 5908214"/>
              <a:gd name="csY21" fmla="*/ 2502569 h 2598821"/>
              <a:gd name="csX22" fmla="*/ 3636652 w 5908214"/>
              <a:gd name="csY22" fmla="*/ 2521819 h 2598821"/>
              <a:gd name="csX23" fmla="*/ 4021663 w 5908214"/>
              <a:gd name="csY23" fmla="*/ 2560320 h 2598821"/>
              <a:gd name="csX24" fmla="*/ 4416298 w 5908214"/>
              <a:gd name="csY24" fmla="*/ 2569946 h 2598821"/>
              <a:gd name="csX25" fmla="*/ 4897561 w 5908214"/>
              <a:gd name="csY25" fmla="*/ 2598821 h 2598821"/>
              <a:gd name="csX26" fmla="*/ 5792711 w 5908214"/>
              <a:gd name="csY26" fmla="*/ 2569946 h 2598821"/>
              <a:gd name="csX27" fmla="*/ 5869713 w 5908214"/>
              <a:gd name="csY27" fmla="*/ 2483318 h 2598821"/>
              <a:gd name="csX28" fmla="*/ 5888964 w 5908214"/>
              <a:gd name="csY28" fmla="*/ 2300438 h 2598821"/>
              <a:gd name="csX29" fmla="*/ 5908214 w 5908214"/>
              <a:gd name="csY29" fmla="*/ 2030931 h 2598821"/>
              <a:gd name="csX30" fmla="*/ 5879338 w 5908214"/>
              <a:gd name="csY30" fmla="*/ 1366788 h 2598821"/>
              <a:gd name="csX31" fmla="*/ 5821587 w 5908214"/>
              <a:gd name="csY31" fmla="*/ 1328287 h 2598821"/>
              <a:gd name="csX32" fmla="*/ 5725334 w 5908214"/>
              <a:gd name="csY32" fmla="*/ 1309036 h 2598821"/>
              <a:gd name="csX33" fmla="*/ 5523204 w 5908214"/>
              <a:gd name="csY33" fmla="*/ 1289786 h 2598821"/>
              <a:gd name="csX34" fmla="*/ 4705056 w 5908214"/>
              <a:gd name="csY34" fmla="*/ 1309036 h 2598821"/>
              <a:gd name="csX35" fmla="*/ 4541427 w 5908214"/>
              <a:gd name="csY35" fmla="*/ 1357162 h 2598821"/>
              <a:gd name="csX36" fmla="*/ 4454799 w 5908214"/>
              <a:gd name="csY36" fmla="*/ 1386038 h 2598821"/>
              <a:gd name="csX37" fmla="*/ 4320046 w 5908214"/>
              <a:gd name="csY37" fmla="*/ 1443790 h 2598821"/>
              <a:gd name="csX38" fmla="*/ 4233418 w 5908214"/>
              <a:gd name="csY38" fmla="*/ 1501541 h 2598821"/>
              <a:gd name="csX39" fmla="*/ 4137166 w 5908214"/>
              <a:gd name="csY39" fmla="*/ 1549668 h 2598821"/>
              <a:gd name="csX40" fmla="*/ 3983161 w 5908214"/>
              <a:gd name="csY40" fmla="*/ 1645920 h 2598821"/>
              <a:gd name="csX41" fmla="*/ 3935035 w 5908214"/>
              <a:gd name="csY41" fmla="*/ 1674796 h 2598821"/>
              <a:gd name="csX42" fmla="*/ 3886909 w 5908214"/>
              <a:gd name="csY42" fmla="*/ 1713297 h 2598821"/>
              <a:gd name="csX43" fmla="*/ 3829157 w 5908214"/>
              <a:gd name="csY43" fmla="*/ 1742173 h 2598821"/>
              <a:gd name="csX44" fmla="*/ 3781031 w 5908214"/>
              <a:gd name="csY44" fmla="*/ 1780674 h 2598821"/>
              <a:gd name="csX45" fmla="*/ 3704029 w 5908214"/>
              <a:gd name="csY45" fmla="*/ 1819175 h 2598821"/>
              <a:gd name="csX46" fmla="*/ 3643395 w 5908214"/>
              <a:gd name="csY46" fmla="*/ 1756962 h 2598821"/>
              <a:gd name="csX47" fmla="*/ 3578700 w 5908214"/>
              <a:gd name="csY47" fmla="*/ 1709036 h 2598821"/>
              <a:gd name="csX48" fmla="*/ 3518567 w 5908214"/>
              <a:gd name="csY48" fmla="*/ 1684722 h 2598821"/>
              <a:gd name="csX49" fmla="*/ 3463397 w 5908214"/>
              <a:gd name="csY49" fmla="*/ 1665171 h 2598821"/>
              <a:gd name="csX50" fmla="*/ 3434521 w 5908214"/>
              <a:gd name="csY50" fmla="*/ 1645920 h 2598821"/>
              <a:gd name="csX51" fmla="*/ 3367145 w 5908214"/>
              <a:gd name="csY51" fmla="*/ 1588169 h 2598821"/>
              <a:gd name="csX52" fmla="*/ 3338269 w 5908214"/>
              <a:gd name="csY52" fmla="*/ 1578543 h 2598821"/>
              <a:gd name="csX53" fmla="*/ 3261267 w 5908214"/>
              <a:gd name="csY53" fmla="*/ 1511167 h 2598821"/>
              <a:gd name="csX54" fmla="*/ 3193890 w 5908214"/>
              <a:gd name="csY54" fmla="*/ 1472666 h 2598821"/>
              <a:gd name="csX55" fmla="*/ 3145764 w 5908214"/>
              <a:gd name="csY55" fmla="*/ 1443790 h 2598821"/>
              <a:gd name="csX56" fmla="*/ 3076006 w 5908214"/>
              <a:gd name="csY56" fmla="*/ 1412232 h 2598821"/>
              <a:gd name="csX57" fmla="*/ 3020635 w 5908214"/>
              <a:gd name="csY57" fmla="*/ 1366788 h 2598821"/>
              <a:gd name="csX58" fmla="*/ 2972509 w 5908214"/>
              <a:gd name="csY58" fmla="*/ 1347537 h 2598821"/>
              <a:gd name="csX59" fmla="*/ 2895507 w 5908214"/>
              <a:gd name="csY59" fmla="*/ 1299411 h 2598821"/>
              <a:gd name="csX60" fmla="*/ 2837755 w 5908214"/>
              <a:gd name="csY60" fmla="*/ 1212783 h 2598821"/>
              <a:gd name="csX61" fmla="*/ 2866631 w 5908214"/>
              <a:gd name="csY61" fmla="*/ 577516 h 2598821"/>
              <a:gd name="csX62" fmla="*/ 2857006 w 5908214"/>
              <a:gd name="csY62" fmla="*/ 308009 h 2598821"/>
              <a:gd name="csX63" fmla="*/ 2837755 w 5908214"/>
              <a:gd name="csY63" fmla="*/ 192506 h 2598821"/>
              <a:gd name="csX64" fmla="*/ 2818505 w 5908214"/>
              <a:gd name="csY64" fmla="*/ 144379 h 2598821"/>
              <a:gd name="csX65" fmla="*/ 2760753 w 5908214"/>
              <a:gd name="csY65" fmla="*/ 77002 h 2598821"/>
              <a:gd name="csX66" fmla="*/ 2731877 w 5908214"/>
              <a:gd name="csY66" fmla="*/ 38501 h 2598821"/>
              <a:gd name="csX67" fmla="*/ 2674126 w 5908214"/>
              <a:gd name="csY67" fmla="*/ 0 h 2598821"/>
              <a:gd name="csX0" fmla="*/ 2719192 w 5895529"/>
              <a:gd name="csY0" fmla="*/ 57752 h 2598821"/>
              <a:gd name="csX1" fmla="*/ 149247 w 5895529"/>
              <a:gd name="csY1" fmla="*/ 67377 h 2598821"/>
              <a:gd name="csX2" fmla="*/ 104278 w 5895529"/>
              <a:gd name="csY2" fmla="*/ 131872 h 2598821"/>
              <a:gd name="csX3" fmla="*/ 94753 w 5895529"/>
              <a:gd name="csY3" fmla="*/ 543376 h 2598821"/>
              <a:gd name="csX4" fmla="*/ 114205 w 5895529"/>
              <a:gd name="csY4" fmla="*/ 1101692 h 2598821"/>
              <a:gd name="csX5" fmla="*/ 142881 w 5895529"/>
              <a:gd name="csY5" fmla="*/ 1214512 h 2598821"/>
              <a:gd name="csX6" fmla="*/ 4868 w 5895529"/>
              <a:gd name="csY6" fmla="*/ 981777 h 2598821"/>
              <a:gd name="csX7" fmla="*/ 33744 w 5895529"/>
              <a:gd name="csY7" fmla="*/ 1049154 h 2598821"/>
              <a:gd name="csX8" fmla="*/ 62620 w 5895529"/>
              <a:gd name="csY8" fmla="*/ 1126156 h 2598821"/>
              <a:gd name="csX9" fmla="*/ 158872 w 5895529"/>
              <a:gd name="csY9" fmla="*/ 1232034 h 2598821"/>
              <a:gd name="csX10" fmla="*/ 206999 w 5895529"/>
              <a:gd name="csY10" fmla="*/ 1251284 h 2598821"/>
              <a:gd name="csX11" fmla="*/ 842266 w 5895529"/>
              <a:gd name="csY11" fmla="*/ 1270535 h 2598821"/>
              <a:gd name="csX12" fmla="*/ 1092523 w 5895529"/>
              <a:gd name="csY12" fmla="*/ 1578543 h 2598821"/>
              <a:gd name="csX13" fmla="*/ 1140649 w 5895529"/>
              <a:gd name="csY13" fmla="*/ 1665171 h 2598821"/>
              <a:gd name="csX14" fmla="*/ 1208026 w 5895529"/>
              <a:gd name="csY14" fmla="*/ 1761423 h 2598821"/>
              <a:gd name="csX15" fmla="*/ 1265778 w 5895529"/>
              <a:gd name="csY15" fmla="*/ 1867301 h 2598821"/>
              <a:gd name="csX16" fmla="*/ 1535285 w 5895529"/>
              <a:gd name="csY16" fmla="*/ 2146434 h 2598821"/>
              <a:gd name="csX17" fmla="*/ 1824043 w 5895529"/>
              <a:gd name="csY17" fmla="*/ 2300438 h 2598821"/>
              <a:gd name="csX18" fmla="*/ 1920295 w 5895529"/>
              <a:gd name="csY18" fmla="*/ 2338939 h 2598821"/>
              <a:gd name="csX19" fmla="*/ 2180178 w 5895529"/>
              <a:gd name="csY19" fmla="*/ 2387066 h 2598821"/>
              <a:gd name="csX20" fmla="*/ 2767319 w 5895529"/>
              <a:gd name="csY20" fmla="*/ 2464068 h 2598821"/>
              <a:gd name="csX21" fmla="*/ 3084952 w 5895529"/>
              <a:gd name="csY21" fmla="*/ 2502569 h 2598821"/>
              <a:gd name="csX22" fmla="*/ 3623967 w 5895529"/>
              <a:gd name="csY22" fmla="*/ 2521819 h 2598821"/>
              <a:gd name="csX23" fmla="*/ 4008978 w 5895529"/>
              <a:gd name="csY23" fmla="*/ 2560320 h 2598821"/>
              <a:gd name="csX24" fmla="*/ 4403613 w 5895529"/>
              <a:gd name="csY24" fmla="*/ 2569946 h 2598821"/>
              <a:gd name="csX25" fmla="*/ 4884876 w 5895529"/>
              <a:gd name="csY25" fmla="*/ 2598821 h 2598821"/>
              <a:gd name="csX26" fmla="*/ 5780026 w 5895529"/>
              <a:gd name="csY26" fmla="*/ 2569946 h 2598821"/>
              <a:gd name="csX27" fmla="*/ 5857028 w 5895529"/>
              <a:gd name="csY27" fmla="*/ 2483318 h 2598821"/>
              <a:gd name="csX28" fmla="*/ 5876279 w 5895529"/>
              <a:gd name="csY28" fmla="*/ 2300438 h 2598821"/>
              <a:gd name="csX29" fmla="*/ 5895529 w 5895529"/>
              <a:gd name="csY29" fmla="*/ 2030931 h 2598821"/>
              <a:gd name="csX30" fmla="*/ 5866653 w 5895529"/>
              <a:gd name="csY30" fmla="*/ 1366788 h 2598821"/>
              <a:gd name="csX31" fmla="*/ 5808902 w 5895529"/>
              <a:gd name="csY31" fmla="*/ 1328287 h 2598821"/>
              <a:gd name="csX32" fmla="*/ 5712649 w 5895529"/>
              <a:gd name="csY32" fmla="*/ 1309036 h 2598821"/>
              <a:gd name="csX33" fmla="*/ 5510519 w 5895529"/>
              <a:gd name="csY33" fmla="*/ 1289786 h 2598821"/>
              <a:gd name="csX34" fmla="*/ 4692371 w 5895529"/>
              <a:gd name="csY34" fmla="*/ 1309036 h 2598821"/>
              <a:gd name="csX35" fmla="*/ 4528742 w 5895529"/>
              <a:gd name="csY35" fmla="*/ 1357162 h 2598821"/>
              <a:gd name="csX36" fmla="*/ 4442114 w 5895529"/>
              <a:gd name="csY36" fmla="*/ 1386038 h 2598821"/>
              <a:gd name="csX37" fmla="*/ 4307361 w 5895529"/>
              <a:gd name="csY37" fmla="*/ 1443790 h 2598821"/>
              <a:gd name="csX38" fmla="*/ 4220733 w 5895529"/>
              <a:gd name="csY38" fmla="*/ 1501541 h 2598821"/>
              <a:gd name="csX39" fmla="*/ 4124481 w 5895529"/>
              <a:gd name="csY39" fmla="*/ 1549668 h 2598821"/>
              <a:gd name="csX40" fmla="*/ 3970476 w 5895529"/>
              <a:gd name="csY40" fmla="*/ 1645920 h 2598821"/>
              <a:gd name="csX41" fmla="*/ 3922350 w 5895529"/>
              <a:gd name="csY41" fmla="*/ 1674796 h 2598821"/>
              <a:gd name="csX42" fmla="*/ 3874224 w 5895529"/>
              <a:gd name="csY42" fmla="*/ 1713297 h 2598821"/>
              <a:gd name="csX43" fmla="*/ 3816472 w 5895529"/>
              <a:gd name="csY43" fmla="*/ 1742173 h 2598821"/>
              <a:gd name="csX44" fmla="*/ 3768346 w 5895529"/>
              <a:gd name="csY44" fmla="*/ 1780674 h 2598821"/>
              <a:gd name="csX45" fmla="*/ 3691344 w 5895529"/>
              <a:gd name="csY45" fmla="*/ 1819175 h 2598821"/>
              <a:gd name="csX46" fmla="*/ 3630710 w 5895529"/>
              <a:gd name="csY46" fmla="*/ 1756962 h 2598821"/>
              <a:gd name="csX47" fmla="*/ 3566015 w 5895529"/>
              <a:gd name="csY47" fmla="*/ 1709036 h 2598821"/>
              <a:gd name="csX48" fmla="*/ 3505882 w 5895529"/>
              <a:gd name="csY48" fmla="*/ 1684722 h 2598821"/>
              <a:gd name="csX49" fmla="*/ 3450712 w 5895529"/>
              <a:gd name="csY49" fmla="*/ 1665171 h 2598821"/>
              <a:gd name="csX50" fmla="*/ 3421836 w 5895529"/>
              <a:gd name="csY50" fmla="*/ 1645920 h 2598821"/>
              <a:gd name="csX51" fmla="*/ 3354460 w 5895529"/>
              <a:gd name="csY51" fmla="*/ 1588169 h 2598821"/>
              <a:gd name="csX52" fmla="*/ 3325584 w 5895529"/>
              <a:gd name="csY52" fmla="*/ 1578543 h 2598821"/>
              <a:gd name="csX53" fmla="*/ 3248582 w 5895529"/>
              <a:gd name="csY53" fmla="*/ 1511167 h 2598821"/>
              <a:gd name="csX54" fmla="*/ 3181205 w 5895529"/>
              <a:gd name="csY54" fmla="*/ 1472666 h 2598821"/>
              <a:gd name="csX55" fmla="*/ 3133079 w 5895529"/>
              <a:gd name="csY55" fmla="*/ 1443790 h 2598821"/>
              <a:gd name="csX56" fmla="*/ 3063321 w 5895529"/>
              <a:gd name="csY56" fmla="*/ 1412232 h 2598821"/>
              <a:gd name="csX57" fmla="*/ 3007950 w 5895529"/>
              <a:gd name="csY57" fmla="*/ 1366788 h 2598821"/>
              <a:gd name="csX58" fmla="*/ 2959824 w 5895529"/>
              <a:gd name="csY58" fmla="*/ 1347537 h 2598821"/>
              <a:gd name="csX59" fmla="*/ 2882822 w 5895529"/>
              <a:gd name="csY59" fmla="*/ 1299411 h 2598821"/>
              <a:gd name="csX60" fmla="*/ 2825070 w 5895529"/>
              <a:gd name="csY60" fmla="*/ 1212783 h 2598821"/>
              <a:gd name="csX61" fmla="*/ 2853946 w 5895529"/>
              <a:gd name="csY61" fmla="*/ 577516 h 2598821"/>
              <a:gd name="csX62" fmla="*/ 2844321 w 5895529"/>
              <a:gd name="csY62" fmla="*/ 308009 h 2598821"/>
              <a:gd name="csX63" fmla="*/ 2825070 w 5895529"/>
              <a:gd name="csY63" fmla="*/ 192506 h 2598821"/>
              <a:gd name="csX64" fmla="*/ 2805820 w 5895529"/>
              <a:gd name="csY64" fmla="*/ 144379 h 2598821"/>
              <a:gd name="csX65" fmla="*/ 2748068 w 5895529"/>
              <a:gd name="csY65" fmla="*/ 77002 h 2598821"/>
              <a:gd name="csX66" fmla="*/ 2719192 w 5895529"/>
              <a:gd name="csY66" fmla="*/ 38501 h 2598821"/>
              <a:gd name="csX67" fmla="*/ 2661441 w 5895529"/>
              <a:gd name="csY67" fmla="*/ 0 h 2598821"/>
              <a:gd name="csX0" fmla="*/ 2689962 w 5866299"/>
              <a:gd name="csY0" fmla="*/ 57752 h 2598821"/>
              <a:gd name="csX1" fmla="*/ 120017 w 5866299"/>
              <a:gd name="csY1" fmla="*/ 67377 h 2598821"/>
              <a:gd name="csX2" fmla="*/ 75048 w 5866299"/>
              <a:gd name="csY2" fmla="*/ 131872 h 2598821"/>
              <a:gd name="csX3" fmla="*/ 65523 w 5866299"/>
              <a:gd name="csY3" fmla="*/ 543376 h 2598821"/>
              <a:gd name="csX4" fmla="*/ 84975 w 5866299"/>
              <a:gd name="csY4" fmla="*/ 1101692 h 2598821"/>
              <a:gd name="csX5" fmla="*/ 113651 w 5866299"/>
              <a:gd name="csY5" fmla="*/ 1214512 h 2598821"/>
              <a:gd name="csX6" fmla="*/ 130419 w 5866299"/>
              <a:gd name="csY6" fmla="*/ 1222283 h 2598821"/>
              <a:gd name="csX7" fmla="*/ 4514 w 5866299"/>
              <a:gd name="csY7" fmla="*/ 1049154 h 2598821"/>
              <a:gd name="csX8" fmla="*/ 33390 w 5866299"/>
              <a:gd name="csY8" fmla="*/ 1126156 h 2598821"/>
              <a:gd name="csX9" fmla="*/ 129642 w 5866299"/>
              <a:gd name="csY9" fmla="*/ 1232034 h 2598821"/>
              <a:gd name="csX10" fmla="*/ 177769 w 5866299"/>
              <a:gd name="csY10" fmla="*/ 1251284 h 2598821"/>
              <a:gd name="csX11" fmla="*/ 813036 w 5866299"/>
              <a:gd name="csY11" fmla="*/ 1270535 h 2598821"/>
              <a:gd name="csX12" fmla="*/ 1063293 w 5866299"/>
              <a:gd name="csY12" fmla="*/ 1578543 h 2598821"/>
              <a:gd name="csX13" fmla="*/ 1111419 w 5866299"/>
              <a:gd name="csY13" fmla="*/ 1665171 h 2598821"/>
              <a:gd name="csX14" fmla="*/ 1178796 w 5866299"/>
              <a:gd name="csY14" fmla="*/ 1761423 h 2598821"/>
              <a:gd name="csX15" fmla="*/ 1236548 w 5866299"/>
              <a:gd name="csY15" fmla="*/ 1867301 h 2598821"/>
              <a:gd name="csX16" fmla="*/ 1506055 w 5866299"/>
              <a:gd name="csY16" fmla="*/ 2146434 h 2598821"/>
              <a:gd name="csX17" fmla="*/ 1794813 w 5866299"/>
              <a:gd name="csY17" fmla="*/ 2300438 h 2598821"/>
              <a:gd name="csX18" fmla="*/ 1891065 w 5866299"/>
              <a:gd name="csY18" fmla="*/ 2338939 h 2598821"/>
              <a:gd name="csX19" fmla="*/ 2150948 w 5866299"/>
              <a:gd name="csY19" fmla="*/ 2387066 h 2598821"/>
              <a:gd name="csX20" fmla="*/ 2738089 w 5866299"/>
              <a:gd name="csY20" fmla="*/ 2464068 h 2598821"/>
              <a:gd name="csX21" fmla="*/ 3055722 w 5866299"/>
              <a:gd name="csY21" fmla="*/ 2502569 h 2598821"/>
              <a:gd name="csX22" fmla="*/ 3594737 w 5866299"/>
              <a:gd name="csY22" fmla="*/ 2521819 h 2598821"/>
              <a:gd name="csX23" fmla="*/ 3979748 w 5866299"/>
              <a:gd name="csY23" fmla="*/ 2560320 h 2598821"/>
              <a:gd name="csX24" fmla="*/ 4374383 w 5866299"/>
              <a:gd name="csY24" fmla="*/ 2569946 h 2598821"/>
              <a:gd name="csX25" fmla="*/ 4855646 w 5866299"/>
              <a:gd name="csY25" fmla="*/ 2598821 h 2598821"/>
              <a:gd name="csX26" fmla="*/ 5750796 w 5866299"/>
              <a:gd name="csY26" fmla="*/ 2569946 h 2598821"/>
              <a:gd name="csX27" fmla="*/ 5827798 w 5866299"/>
              <a:gd name="csY27" fmla="*/ 2483318 h 2598821"/>
              <a:gd name="csX28" fmla="*/ 5847049 w 5866299"/>
              <a:gd name="csY28" fmla="*/ 2300438 h 2598821"/>
              <a:gd name="csX29" fmla="*/ 5866299 w 5866299"/>
              <a:gd name="csY29" fmla="*/ 2030931 h 2598821"/>
              <a:gd name="csX30" fmla="*/ 5837423 w 5866299"/>
              <a:gd name="csY30" fmla="*/ 1366788 h 2598821"/>
              <a:gd name="csX31" fmla="*/ 5779672 w 5866299"/>
              <a:gd name="csY31" fmla="*/ 1328287 h 2598821"/>
              <a:gd name="csX32" fmla="*/ 5683419 w 5866299"/>
              <a:gd name="csY32" fmla="*/ 1309036 h 2598821"/>
              <a:gd name="csX33" fmla="*/ 5481289 w 5866299"/>
              <a:gd name="csY33" fmla="*/ 1289786 h 2598821"/>
              <a:gd name="csX34" fmla="*/ 4663141 w 5866299"/>
              <a:gd name="csY34" fmla="*/ 1309036 h 2598821"/>
              <a:gd name="csX35" fmla="*/ 4499512 w 5866299"/>
              <a:gd name="csY35" fmla="*/ 1357162 h 2598821"/>
              <a:gd name="csX36" fmla="*/ 4412884 w 5866299"/>
              <a:gd name="csY36" fmla="*/ 1386038 h 2598821"/>
              <a:gd name="csX37" fmla="*/ 4278131 w 5866299"/>
              <a:gd name="csY37" fmla="*/ 1443790 h 2598821"/>
              <a:gd name="csX38" fmla="*/ 4191503 w 5866299"/>
              <a:gd name="csY38" fmla="*/ 1501541 h 2598821"/>
              <a:gd name="csX39" fmla="*/ 4095251 w 5866299"/>
              <a:gd name="csY39" fmla="*/ 1549668 h 2598821"/>
              <a:gd name="csX40" fmla="*/ 3941246 w 5866299"/>
              <a:gd name="csY40" fmla="*/ 1645920 h 2598821"/>
              <a:gd name="csX41" fmla="*/ 3893120 w 5866299"/>
              <a:gd name="csY41" fmla="*/ 1674796 h 2598821"/>
              <a:gd name="csX42" fmla="*/ 3844994 w 5866299"/>
              <a:gd name="csY42" fmla="*/ 1713297 h 2598821"/>
              <a:gd name="csX43" fmla="*/ 3787242 w 5866299"/>
              <a:gd name="csY43" fmla="*/ 1742173 h 2598821"/>
              <a:gd name="csX44" fmla="*/ 3739116 w 5866299"/>
              <a:gd name="csY44" fmla="*/ 1780674 h 2598821"/>
              <a:gd name="csX45" fmla="*/ 3662114 w 5866299"/>
              <a:gd name="csY45" fmla="*/ 1819175 h 2598821"/>
              <a:gd name="csX46" fmla="*/ 3601480 w 5866299"/>
              <a:gd name="csY46" fmla="*/ 1756962 h 2598821"/>
              <a:gd name="csX47" fmla="*/ 3536785 w 5866299"/>
              <a:gd name="csY47" fmla="*/ 1709036 h 2598821"/>
              <a:gd name="csX48" fmla="*/ 3476652 w 5866299"/>
              <a:gd name="csY48" fmla="*/ 1684722 h 2598821"/>
              <a:gd name="csX49" fmla="*/ 3421482 w 5866299"/>
              <a:gd name="csY49" fmla="*/ 1665171 h 2598821"/>
              <a:gd name="csX50" fmla="*/ 3392606 w 5866299"/>
              <a:gd name="csY50" fmla="*/ 1645920 h 2598821"/>
              <a:gd name="csX51" fmla="*/ 3325230 w 5866299"/>
              <a:gd name="csY51" fmla="*/ 1588169 h 2598821"/>
              <a:gd name="csX52" fmla="*/ 3296354 w 5866299"/>
              <a:gd name="csY52" fmla="*/ 1578543 h 2598821"/>
              <a:gd name="csX53" fmla="*/ 3219352 w 5866299"/>
              <a:gd name="csY53" fmla="*/ 1511167 h 2598821"/>
              <a:gd name="csX54" fmla="*/ 3151975 w 5866299"/>
              <a:gd name="csY54" fmla="*/ 1472666 h 2598821"/>
              <a:gd name="csX55" fmla="*/ 3103849 w 5866299"/>
              <a:gd name="csY55" fmla="*/ 1443790 h 2598821"/>
              <a:gd name="csX56" fmla="*/ 3034091 w 5866299"/>
              <a:gd name="csY56" fmla="*/ 1412232 h 2598821"/>
              <a:gd name="csX57" fmla="*/ 2978720 w 5866299"/>
              <a:gd name="csY57" fmla="*/ 1366788 h 2598821"/>
              <a:gd name="csX58" fmla="*/ 2930594 w 5866299"/>
              <a:gd name="csY58" fmla="*/ 1347537 h 2598821"/>
              <a:gd name="csX59" fmla="*/ 2853592 w 5866299"/>
              <a:gd name="csY59" fmla="*/ 1299411 h 2598821"/>
              <a:gd name="csX60" fmla="*/ 2795840 w 5866299"/>
              <a:gd name="csY60" fmla="*/ 1212783 h 2598821"/>
              <a:gd name="csX61" fmla="*/ 2824716 w 5866299"/>
              <a:gd name="csY61" fmla="*/ 577516 h 2598821"/>
              <a:gd name="csX62" fmla="*/ 2815091 w 5866299"/>
              <a:gd name="csY62" fmla="*/ 308009 h 2598821"/>
              <a:gd name="csX63" fmla="*/ 2795840 w 5866299"/>
              <a:gd name="csY63" fmla="*/ 192506 h 2598821"/>
              <a:gd name="csX64" fmla="*/ 2776590 w 5866299"/>
              <a:gd name="csY64" fmla="*/ 144379 h 2598821"/>
              <a:gd name="csX65" fmla="*/ 2718838 w 5866299"/>
              <a:gd name="csY65" fmla="*/ 77002 h 2598821"/>
              <a:gd name="csX66" fmla="*/ 2689962 w 5866299"/>
              <a:gd name="csY66" fmla="*/ 38501 h 2598821"/>
              <a:gd name="csX67" fmla="*/ 2632211 w 5866299"/>
              <a:gd name="csY67" fmla="*/ 0 h 2598821"/>
              <a:gd name="csX0" fmla="*/ 2656576 w 5832913"/>
              <a:gd name="csY0" fmla="*/ 57752 h 2598821"/>
              <a:gd name="csX1" fmla="*/ 86631 w 5832913"/>
              <a:gd name="csY1" fmla="*/ 67377 h 2598821"/>
              <a:gd name="csX2" fmla="*/ 41662 w 5832913"/>
              <a:gd name="csY2" fmla="*/ 131872 h 2598821"/>
              <a:gd name="csX3" fmla="*/ 32137 w 5832913"/>
              <a:gd name="csY3" fmla="*/ 543376 h 2598821"/>
              <a:gd name="csX4" fmla="*/ 51589 w 5832913"/>
              <a:gd name="csY4" fmla="*/ 1101692 h 2598821"/>
              <a:gd name="csX5" fmla="*/ 80265 w 5832913"/>
              <a:gd name="csY5" fmla="*/ 1214512 h 2598821"/>
              <a:gd name="csX6" fmla="*/ 97033 w 5832913"/>
              <a:gd name="csY6" fmla="*/ 1222283 h 2598821"/>
              <a:gd name="csX7" fmla="*/ 99715 w 5832913"/>
              <a:gd name="csY7" fmla="*/ 1218222 h 2598821"/>
              <a:gd name="csX8" fmla="*/ 4 w 5832913"/>
              <a:gd name="csY8" fmla="*/ 1126156 h 2598821"/>
              <a:gd name="csX9" fmla="*/ 96256 w 5832913"/>
              <a:gd name="csY9" fmla="*/ 1232034 h 2598821"/>
              <a:gd name="csX10" fmla="*/ 144383 w 5832913"/>
              <a:gd name="csY10" fmla="*/ 1251284 h 2598821"/>
              <a:gd name="csX11" fmla="*/ 779650 w 5832913"/>
              <a:gd name="csY11" fmla="*/ 1270535 h 2598821"/>
              <a:gd name="csX12" fmla="*/ 1029907 w 5832913"/>
              <a:gd name="csY12" fmla="*/ 1578543 h 2598821"/>
              <a:gd name="csX13" fmla="*/ 1078033 w 5832913"/>
              <a:gd name="csY13" fmla="*/ 1665171 h 2598821"/>
              <a:gd name="csX14" fmla="*/ 1145410 w 5832913"/>
              <a:gd name="csY14" fmla="*/ 1761423 h 2598821"/>
              <a:gd name="csX15" fmla="*/ 1203162 w 5832913"/>
              <a:gd name="csY15" fmla="*/ 1867301 h 2598821"/>
              <a:gd name="csX16" fmla="*/ 1472669 w 5832913"/>
              <a:gd name="csY16" fmla="*/ 2146434 h 2598821"/>
              <a:gd name="csX17" fmla="*/ 1761427 w 5832913"/>
              <a:gd name="csY17" fmla="*/ 2300438 h 2598821"/>
              <a:gd name="csX18" fmla="*/ 1857679 w 5832913"/>
              <a:gd name="csY18" fmla="*/ 2338939 h 2598821"/>
              <a:gd name="csX19" fmla="*/ 2117562 w 5832913"/>
              <a:gd name="csY19" fmla="*/ 2387066 h 2598821"/>
              <a:gd name="csX20" fmla="*/ 2704703 w 5832913"/>
              <a:gd name="csY20" fmla="*/ 2464068 h 2598821"/>
              <a:gd name="csX21" fmla="*/ 3022336 w 5832913"/>
              <a:gd name="csY21" fmla="*/ 2502569 h 2598821"/>
              <a:gd name="csX22" fmla="*/ 3561351 w 5832913"/>
              <a:gd name="csY22" fmla="*/ 2521819 h 2598821"/>
              <a:gd name="csX23" fmla="*/ 3946362 w 5832913"/>
              <a:gd name="csY23" fmla="*/ 2560320 h 2598821"/>
              <a:gd name="csX24" fmla="*/ 4340997 w 5832913"/>
              <a:gd name="csY24" fmla="*/ 2569946 h 2598821"/>
              <a:gd name="csX25" fmla="*/ 4822260 w 5832913"/>
              <a:gd name="csY25" fmla="*/ 2598821 h 2598821"/>
              <a:gd name="csX26" fmla="*/ 5717410 w 5832913"/>
              <a:gd name="csY26" fmla="*/ 2569946 h 2598821"/>
              <a:gd name="csX27" fmla="*/ 5794412 w 5832913"/>
              <a:gd name="csY27" fmla="*/ 2483318 h 2598821"/>
              <a:gd name="csX28" fmla="*/ 5813663 w 5832913"/>
              <a:gd name="csY28" fmla="*/ 2300438 h 2598821"/>
              <a:gd name="csX29" fmla="*/ 5832913 w 5832913"/>
              <a:gd name="csY29" fmla="*/ 2030931 h 2598821"/>
              <a:gd name="csX30" fmla="*/ 5804037 w 5832913"/>
              <a:gd name="csY30" fmla="*/ 1366788 h 2598821"/>
              <a:gd name="csX31" fmla="*/ 5746286 w 5832913"/>
              <a:gd name="csY31" fmla="*/ 1328287 h 2598821"/>
              <a:gd name="csX32" fmla="*/ 5650033 w 5832913"/>
              <a:gd name="csY32" fmla="*/ 1309036 h 2598821"/>
              <a:gd name="csX33" fmla="*/ 5447903 w 5832913"/>
              <a:gd name="csY33" fmla="*/ 1289786 h 2598821"/>
              <a:gd name="csX34" fmla="*/ 4629755 w 5832913"/>
              <a:gd name="csY34" fmla="*/ 1309036 h 2598821"/>
              <a:gd name="csX35" fmla="*/ 4466126 w 5832913"/>
              <a:gd name="csY35" fmla="*/ 1357162 h 2598821"/>
              <a:gd name="csX36" fmla="*/ 4379498 w 5832913"/>
              <a:gd name="csY36" fmla="*/ 1386038 h 2598821"/>
              <a:gd name="csX37" fmla="*/ 4244745 w 5832913"/>
              <a:gd name="csY37" fmla="*/ 1443790 h 2598821"/>
              <a:gd name="csX38" fmla="*/ 4158117 w 5832913"/>
              <a:gd name="csY38" fmla="*/ 1501541 h 2598821"/>
              <a:gd name="csX39" fmla="*/ 4061865 w 5832913"/>
              <a:gd name="csY39" fmla="*/ 1549668 h 2598821"/>
              <a:gd name="csX40" fmla="*/ 3907860 w 5832913"/>
              <a:gd name="csY40" fmla="*/ 1645920 h 2598821"/>
              <a:gd name="csX41" fmla="*/ 3859734 w 5832913"/>
              <a:gd name="csY41" fmla="*/ 1674796 h 2598821"/>
              <a:gd name="csX42" fmla="*/ 3811608 w 5832913"/>
              <a:gd name="csY42" fmla="*/ 1713297 h 2598821"/>
              <a:gd name="csX43" fmla="*/ 3753856 w 5832913"/>
              <a:gd name="csY43" fmla="*/ 1742173 h 2598821"/>
              <a:gd name="csX44" fmla="*/ 3705730 w 5832913"/>
              <a:gd name="csY44" fmla="*/ 1780674 h 2598821"/>
              <a:gd name="csX45" fmla="*/ 3628728 w 5832913"/>
              <a:gd name="csY45" fmla="*/ 1819175 h 2598821"/>
              <a:gd name="csX46" fmla="*/ 3568094 w 5832913"/>
              <a:gd name="csY46" fmla="*/ 1756962 h 2598821"/>
              <a:gd name="csX47" fmla="*/ 3503399 w 5832913"/>
              <a:gd name="csY47" fmla="*/ 1709036 h 2598821"/>
              <a:gd name="csX48" fmla="*/ 3443266 w 5832913"/>
              <a:gd name="csY48" fmla="*/ 1684722 h 2598821"/>
              <a:gd name="csX49" fmla="*/ 3388096 w 5832913"/>
              <a:gd name="csY49" fmla="*/ 1665171 h 2598821"/>
              <a:gd name="csX50" fmla="*/ 3359220 w 5832913"/>
              <a:gd name="csY50" fmla="*/ 1645920 h 2598821"/>
              <a:gd name="csX51" fmla="*/ 3291844 w 5832913"/>
              <a:gd name="csY51" fmla="*/ 1588169 h 2598821"/>
              <a:gd name="csX52" fmla="*/ 3262968 w 5832913"/>
              <a:gd name="csY52" fmla="*/ 1578543 h 2598821"/>
              <a:gd name="csX53" fmla="*/ 3185966 w 5832913"/>
              <a:gd name="csY53" fmla="*/ 1511167 h 2598821"/>
              <a:gd name="csX54" fmla="*/ 3118589 w 5832913"/>
              <a:gd name="csY54" fmla="*/ 1472666 h 2598821"/>
              <a:gd name="csX55" fmla="*/ 3070463 w 5832913"/>
              <a:gd name="csY55" fmla="*/ 1443790 h 2598821"/>
              <a:gd name="csX56" fmla="*/ 3000705 w 5832913"/>
              <a:gd name="csY56" fmla="*/ 1412232 h 2598821"/>
              <a:gd name="csX57" fmla="*/ 2945334 w 5832913"/>
              <a:gd name="csY57" fmla="*/ 1366788 h 2598821"/>
              <a:gd name="csX58" fmla="*/ 2897208 w 5832913"/>
              <a:gd name="csY58" fmla="*/ 1347537 h 2598821"/>
              <a:gd name="csX59" fmla="*/ 2820206 w 5832913"/>
              <a:gd name="csY59" fmla="*/ 1299411 h 2598821"/>
              <a:gd name="csX60" fmla="*/ 2762454 w 5832913"/>
              <a:gd name="csY60" fmla="*/ 1212783 h 2598821"/>
              <a:gd name="csX61" fmla="*/ 2791330 w 5832913"/>
              <a:gd name="csY61" fmla="*/ 577516 h 2598821"/>
              <a:gd name="csX62" fmla="*/ 2781705 w 5832913"/>
              <a:gd name="csY62" fmla="*/ 308009 h 2598821"/>
              <a:gd name="csX63" fmla="*/ 2762454 w 5832913"/>
              <a:gd name="csY63" fmla="*/ 192506 h 2598821"/>
              <a:gd name="csX64" fmla="*/ 2743204 w 5832913"/>
              <a:gd name="csY64" fmla="*/ 144379 h 2598821"/>
              <a:gd name="csX65" fmla="*/ 2685452 w 5832913"/>
              <a:gd name="csY65" fmla="*/ 77002 h 2598821"/>
              <a:gd name="csX66" fmla="*/ 2656576 w 5832913"/>
              <a:gd name="csY66" fmla="*/ 38501 h 2598821"/>
              <a:gd name="csX67" fmla="*/ 2598825 w 5832913"/>
              <a:gd name="csY67" fmla="*/ 0 h 2598821"/>
              <a:gd name="csX0" fmla="*/ 2625809 w 5802146"/>
              <a:gd name="csY0" fmla="*/ 57752 h 2598821"/>
              <a:gd name="csX1" fmla="*/ 55864 w 5802146"/>
              <a:gd name="csY1" fmla="*/ 67377 h 2598821"/>
              <a:gd name="csX2" fmla="*/ 10895 w 5802146"/>
              <a:gd name="csY2" fmla="*/ 131872 h 2598821"/>
              <a:gd name="csX3" fmla="*/ 1370 w 5802146"/>
              <a:gd name="csY3" fmla="*/ 543376 h 2598821"/>
              <a:gd name="csX4" fmla="*/ 20822 w 5802146"/>
              <a:gd name="csY4" fmla="*/ 1101692 h 2598821"/>
              <a:gd name="csX5" fmla="*/ 49498 w 5802146"/>
              <a:gd name="csY5" fmla="*/ 1214512 h 2598821"/>
              <a:gd name="csX6" fmla="*/ 66266 w 5802146"/>
              <a:gd name="csY6" fmla="*/ 1222283 h 2598821"/>
              <a:gd name="csX7" fmla="*/ 68948 w 5802146"/>
              <a:gd name="csY7" fmla="*/ 1218222 h 2598821"/>
              <a:gd name="csX8" fmla="*/ 85918 w 5802146"/>
              <a:gd name="csY8" fmla="*/ 1202356 h 2598821"/>
              <a:gd name="csX9" fmla="*/ 65489 w 5802146"/>
              <a:gd name="csY9" fmla="*/ 1232034 h 2598821"/>
              <a:gd name="csX10" fmla="*/ 113616 w 5802146"/>
              <a:gd name="csY10" fmla="*/ 1251284 h 2598821"/>
              <a:gd name="csX11" fmla="*/ 748883 w 5802146"/>
              <a:gd name="csY11" fmla="*/ 1270535 h 2598821"/>
              <a:gd name="csX12" fmla="*/ 999140 w 5802146"/>
              <a:gd name="csY12" fmla="*/ 1578543 h 2598821"/>
              <a:gd name="csX13" fmla="*/ 1047266 w 5802146"/>
              <a:gd name="csY13" fmla="*/ 1665171 h 2598821"/>
              <a:gd name="csX14" fmla="*/ 1114643 w 5802146"/>
              <a:gd name="csY14" fmla="*/ 1761423 h 2598821"/>
              <a:gd name="csX15" fmla="*/ 1172395 w 5802146"/>
              <a:gd name="csY15" fmla="*/ 1867301 h 2598821"/>
              <a:gd name="csX16" fmla="*/ 1441902 w 5802146"/>
              <a:gd name="csY16" fmla="*/ 2146434 h 2598821"/>
              <a:gd name="csX17" fmla="*/ 1730660 w 5802146"/>
              <a:gd name="csY17" fmla="*/ 2300438 h 2598821"/>
              <a:gd name="csX18" fmla="*/ 1826912 w 5802146"/>
              <a:gd name="csY18" fmla="*/ 2338939 h 2598821"/>
              <a:gd name="csX19" fmla="*/ 2086795 w 5802146"/>
              <a:gd name="csY19" fmla="*/ 2387066 h 2598821"/>
              <a:gd name="csX20" fmla="*/ 2673936 w 5802146"/>
              <a:gd name="csY20" fmla="*/ 2464068 h 2598821"/>
              <a:gd name="csX21" fmla="*/ 2991569 w 5802146"/>
              <a:gd name="csY21" fmla="*/ 2502569 h 2598821"/>
              <a:gd name="csX22" fmla="*/ 3530584 w 5802146"/>
              <a:gd name="csY22" fmla="*/ 2521819 h 2598821"/>
              <a:gd name="csX23" fmla="*/ 3915595 w 5802146"/>
              <a:gd name="csY23" fmla="*/ 2560320 h 2598821"/>
              <a:gd name="csX24" fmla="*/ 4310230 w 5802146"/>
              <a:gd name="csY24" fmla="*/ 2569946 h 2598821"/>
              <a:gd name="csX25" fmla="*/ 4791493 w 5802146"/>
              <a:gd name="csY25" fmla="*/ 2598821 h 2598821"/>
              <a:gd name="csX26" fmla="*/ 5686643 w 5802146"/>
              <a:gd name="csY26" fmla="*/ 2569946 h 2598821"/>
              <a:gd name="csX27" fmla="*/ 5763645 w 5802146"/>
              <a:gd name="csY27" fmla="*/ 2483318 h 2598821"/>
              <a:gd name="csX28" fmla="*/ 5782896 w 5802146"/>
              <a:gd name="csY28" fmla="*/ 2300438 h 2598821"/>
              <a:gd name="csX29" fmla="*/ 5802146 w 5802146"/>
              <a:gd name="csY29" fmla="*/ 2030931 h 2598821"/>
              <a:gd name="csX30" fmla="*/ 5773270 w 5802146"/>
              <a:gd name="csY30" fmla="*/ 1366788 h 2598821"/>
              <a:gd name="csX31" fmla="*/ 5715519 w 5802146"/>
              <a:gd name="csY31" fmla="*/ 1328287 h 2598821"/>
              <a:gd name="csX32" fmla="*/ 5619266 w 5802146"/>
              <a:gd name="csY32" fmla="*/ 1309036 h 2598821"/>
              <a:gd name="csX33" fmla="*/ 5417136 w 5802146"/>
              <a:gd name="csY33" fmla="*/ 1289786 h 2598821"/>
              <a:gd name="csX34" fmla="*/ 4598988 w 5802146"/>
              <a:gd name="csY34" fmla="*/ 1309036 h 2598821"/>
              <a:gd name="csX35" fmla="*/ 4435359 w 5802146"/>
              <a:gd name="csY35" fmla="*/ 1357162 h 2598821"/>
              <a:gd name="csX36" fmla="*/ 4348731 w 5802146"/>
              <a:gd name="csY36" fmla="*/ 1386038 h 2598821"/>
              <a:gd name="csX37" fmla="*/ 4213978 w 5802146"/>
              <a:gd name="csY37" fmla="*/ 1443790 h 2598821"/>
              <a:gd name="csX38" fmla="*/ 4127350 w 5802146"/>
              <a:gd name="csY38" fmla="*/ 1501541 h 2598821"/>
              <a:gd name="csX39" fmla="*/ 4031098 w 5802146"/>
              <a:gd name="csY39" fmla="*/ 1549668 h 2598821"/>
              <a:gd name="csX40" fmla="*/ 3877093 w 5802146"/>
              <a:gd name="csY40" fmla="*/ 1645920 h 2598821"/>
              <a:gd name="csX41" fmla="*/ 3828967 w 5802146"/>
              <a:gd name="csY41" fmla="*/ 1674796 h 2598821"/>
              <a:gd name="csX42" fmla="*/ 3780841 w 5802146"/>
              <a:gd name="csY42" fmla="*/ 1713297 h 2598821"/>
              <a:gd name="csX43" fmla="*/ 3723089 w 5802146"/>
              <a:gd name="csY43" fmla="*/ 1742173 h 2598821"/>
              <a:gd name="csX44" fmla="*/ 3674963 w 5802146"/>
              <a:gd name="csY44" fmla="*/ 1780674 h 2598821"/>
              <a:gd name="csX45" fmla="*/ 3597961 w 5802146"/>
              <a:gd name="csY45" fmla="*/ 1819175 h 2598821"/>
              <a:gd name="csX46" fmla="*/ 3537327 w 5802146"/>
              <a:gd name="csY46" fmla="*/ 1756962 h 2598821"/>
              <a:gd name="csX47" fmla="*/ 3472632 w 5802146"/>
              <a:gd name="csY47" fmla="*/ 1709036 h 2598821"/>
              <a:gd name="csX48" fmla="*/ 3412499 w 5802146"/>
              <a:gd name="csY48" fmla="*/ 1684722 h 2598821"/>
              <a:gd name="csX49" fmla="*/ 3357329 w 5802146"/>
              <a:gd name="csY49" fmla="*/ 1665171 h 2598821"/>
              <a:gd name="csX50" fmla="*/ 3328453 w 5802146"/>
              <a:gd name="csY50" fmla="*/ 1645920 h 2598821"/>
              <a:gd name="csX51" fmla="*/ 3261077 w 5802146"/>
              <a:gd name="csY51" fmla="*/ 1588169 h 2598821"/>
              <a:gd name="csX52" fmla="*/ 3232201 w 5802146"/>
              <a:gd name="csY52" fmla="*/ 1578543 h 2598821"/>
              <a:gd name="csX53" fmla="*/ 3155199 w 5802146"/>
              <a:gd name="csY53" fmla="*/ 1511167 h 2598821"/>
              <a:gd name="csX54" fmla="*/ 3087822 w 5802146"/>
              <a:gd name="csY54" fmla="*/ 1472666 h 2598821"/>
              <a:gd name="csX55" fmla="*/ 3039696 w 5802146"/>
              <a:gd name="csY55" fmla="*/ 1443790 h 2598821"/>
              <a:gd name="csX56" fmla="*/ 2969938 w 5802146"/>
              <a:gd name="csY56" fmla="*/ 1412232 h 2598821"/>
              <a:gd name="csX57" fmla="*/ 2914567 w 5802146"/>
              <a:gd name="csY57" fmla="*/ 1366788 h 2598821"/>
              <a:gd name="csX58" fmla="*/ 2866441 w 5802146"/>
              <a:gd name="csY58" fmla="*/ 1347537 h 2598821"/>
              <a:gd name="csX59" fmla="*/ 2789439 w 5802146"/>
              <a:gd name="csY59" fmla="*/ 1299411 h 2598821"/>
              <a:gd name="csX60" fmla="*/ 2731687 w 5802146"/>
              <a:gd name="csY60" fmla="*/ 1212783 h 2598821"/>
              <a:gd name="csX61" fmla="*/ 2760563 w 5802146"/>
              <a:gd name="csY61" fmla="*/ 577516 h 2598821"/>
              <a:gd name="csX62" fmla="*/ 2750938 w 5802146"/>
              <a:gd name="csY62" fmla="*/ 308009 h 2598821"/>
              <a:gd name="csX63" fmla="*/ 2731687 w 5802146"/>
              <a:gd name="csY63" fmla="*/ 192506 h 2598821"/>
              <a:gd name="csX64" fmla="*/ 2712437 w 5802146"/>
              <a:gd name="csY64" fmla="*/ 144379 h 2598821"/>
              <a:gd name="csX65" fmla="*/ 2654685 w 5802146"/>
              <a:gd name="csY65" fmla="*/ 77002 h 2598821"/>
              <a:gd name="csX66" fmla="*/ 2625809 w 5802146"/>
              <a:gd name="csY66" fmla="*/ 38501 h 2598821"/>
              <a:gd name="csX67" fmla="*/ 2568058 w 5802146"/>
              <a:gd name="csY67" fmla="*/ 0 h 2598821"/>
              <a:gd name="csX0" fmla="*/ 2625809 w 5802146"/>
              <a:gd name="csY0" fmla="*/ 57752 h 2598821"/>
              <a:gd name="csX1" fmla="*/ 55864 w 5802146"/>
              <a:gd name="csY1" fmla="*/ 67377 h 2598821"/>
              <a:gd name="csX2" fmla="*/ 10895 w 5802146"/>
              <a:gd name="csY2" fmla="*/ 131872 h 2598821"/>
              <a:gd name="csX3" fmla="*/ 1370 w 5802146"/>
              <a:gd name="csY3" fmla="*/ 543376 h 2598821"/>
              <a:gd name="csX4" fmla="*/ 20822 w 5802146"/>
              <a:gd name="csY4" fmla="*/ 1101692 h 2598821"/>
              <a:gd name="csX5" fmla="*/ 49498 w 5802146"/>
              <a:gd name="csY5" fmla="*/ 1214512 h 2598821"/>
              <a:gd name="csX6" fmla="*/ 66266 w 5802146"/>
              <a:gd name="csY6" fmla="*/ 1222283 h 2598821"/>
              <a:gd name="csX7" fmla="*/ 68948 w 5802146"/>
              <a:gd name="csY7" fmla="*/ 1218222 h 2598821"/>
              <a:gd name="csX8" fmla="*/ 85918 w 5802146"/>
              <a:gd name="csY8" fmla="*/ 1202356 h 2598821"/>
              <a:gd name="csX9" fmla="*/ 65489 w 5802146"/>
              <a:gd name="csY9" fmla="*/ 1232034 h 2598821"/>
              <a:gd name="csX10" fmla="*/ 113616 w 5802146"/>
              <a:gd name="csY10" fmla="*/ 1251284 h 2598821"/>
              <a:gd name="csX11" fmla="*/ 748883 w 5802146"/>
              <a:gd name="csY11" fmla="*/ 1270535 h 2598821"/>
              <a:gd name="csX12" fmla="*/ 999140 w 5802146"/>
              <a:gd name="csY12" fmla="*/ 1578543 h 2598821"/>
              <a:gd name="csX13" fmla="*/ 1047266 w 5802146"/>
              <a:gd name="csY13" fmla="*/ 1665171 h 2598821"/>
              <a:gd name="csX14" fmla="*/ 1114643 w 5802146"/>
              <a:gd name="csY14" fmla="*/ 1761423 h 2598821"/>
              <a:gd name="csX15" fmla="*/ 1172395 w 5802146"/>
              <a:gd name="csY15" fmla="*/ 1867301 h 2598821"/>
              <a:gd name="csX16" fmla="*/ 1441902 w 5802146"/>
              <a:gd name="csY16" fmla="*/ 2146434 h 2598821"/>
              <a:gd name="csX17" fmla="*/ 1730660 w 5802146"/>
              <a:gd name="csY17" fmla="*/ 2300438 h 2598821"/>
              <a:gd name="csX18" fmla="*/ 1826912 w 5802146"/>
              <a:gd name="csY18" fmla="*/ 2338939 h 2598821"/>
              <a:gd name="csX19" fmla="*/ 2086795 w 5802146"/>
              <a:gd name="csY19" fmla="*/ 2387066 h 2598821"/>
              <a:gd name="csX20" fmla="*/ 2673936 w 5802146"/>
              <a:gd name="csY20" fmla="*/ 2464068 h 2598821"/>
              <a:gd name="csX21" fmla="*/ 2991569 w 5802146"/>
              <a:gd name="csY21" fmla="*/ 2502569 h 2598821"/>
              <a:gd name="csX22" fmla="*/ 3530584 w 5802146"/>
              <a:gd name="csY22" fmla="*/ 2521819 h 2598821"/>
              <a:gd name="csX23" fmla="*/ 3915595 w 5802146"/>
              <a:gd name="csY23" fmla="*/ 2560320 h 2598821"/>
              <a:gd name="csX24" fmla="*/ 4310230 w 5802146"/>
              <a:gd name="csY24" fmla="*/ 2569946 h 2598821"/>
              <a:gd name="csX25" fmla="*/ 4791493 w 5802146"/>
              <a:gd name="csY25" fmla="*/ 2598821 h 2598821"/>
              <a:gd name="csX26" fmla="*/ 5686643 w 5802146"/>
              <a:gd name="csY26" fmla="*/ 2569946 h 2598821"/>
              <a:gd name="csX27" fmla="*/ 5763645 w 5802146"/>
              <a:gd name="csY27" fmla="*/ 2483318 h 2598821"/>
              <a:gd name="csX28" fmla="*/ 5782896 w 5802146"/>
              <a:gd name="csY28" fmla="*/ 2300438 h 2598821"/>
              <a:gd name="csX29" fmla="*/ 5802146 w 5802146"/>
              <a:gd name="csY29" fmla="*/ 2030931 h 2598821"/>
              <a:gd name="csX30" fmla="*/ 5773270 w 5802146"/>
              <a:gd name="csY30" fmla="*/ 1366788 h 2598821"/>
              <a:gd name="csX31" fmla="*/ 5715519 w 5802146"/>
              <a:gd name="csY31" fmla="*/ 1328287 h 2598821"/>
              <a:gd name="csX32" fmla="*/ 5619266 w 5802146"/>
              <a:gd name="csY32" fmla="*/ 1309036 h 2598821"/>
              <a:gd name="csX33" fmla="*/ 5417136 w 5802146"/>
              <a:gd name="csY33" fmla="*/ 1289786 h 2598821"/>
              <a:gd name="csX34" fmla="*/ 4598988 w 5802146"/>
              <a:gd name="csY34" fmla="*/ 1309036 h 2598821"/>
              <a:gd name="csX35" fmla="*/ 4435359 w 5802146"/>
              <a:gd name="csY35" fmla="*/ 1357162 h 2598821"/>
              <a:gd name="csX36" fmla="*/ 4348731 w 5802146"/>
              <a:gd name="csY36" fmla="*/ 1386038 h 2598821"/>
              <a:gd name="csX37" fmla="*/ 4213978 w 5802146"/>
              <a:gd name="csY37" fmla="*/ 1443790 h 2598821"/>
              <a:gd name="csX38" fmla="*/ 4127350 w 5802146"/>
              <a:gd name="csY38" fmla="*/ 1501541 h 2598821"/>
              <a:gd name="csX39" fmla="*/ 4031098 w 5802146"/>
              <a:gd name="csY39" fmla="*/ 1549668 h 2598821"/>
              <a:gd name="csX40" fmla="*/ 3877093 w 5802146"/>
              <a:gd name="csY40" fmla="*/ 1645920 h 2598821"/>
              <a:gd name="csX41" fmla="*/ 3828967 w 5802146"/>
              <a:gd name="csY41" fmla="*/ 1674796 h 2598821"/>
              <a:gd name="csX42" fmla="*/ 3780841 w 5802146"/>
              <a:gd name="csY42" fmla="*/ 1713297 h 2598821"/>
              <a:gd name="csX43" fmla="*/ 3723089 w 5802146"/>
              <a:gd name="csY43" fmla="*/ 1742173 h 2598821"/>
              <a:gd name="csX44" fmla="*/ 3674963 w 5802146"/>
              <a:gd name="csY44" fmla="*/ 1780674 h 2598821"/>
              <a:gd name="csX45" fmla="*/ 3597961 w 5802146"/>
              <a:gd name="csY45" fmla="*/ 1819175 h 2598821"/>
              <a:gd name="csX46" fmla="*/ 3537327 w 5802146"/>
              <a:gd name="csY46" fmla="*/ 1756962 h 2598821"/>
              <a:gd name="csX47" fmla="*/ 3472632 w 5802146"/>
              <a:gd name="csY47" fmla="*/ 1709036 h 2598821"/>
              <a:gd name="csX48" fmla="*/ 3412499 w 5802146"/>
              <a:gd name="csY48" fmla="*/ 1684722 h 2598821"/>
              <a:gd name="csX49" fmla="*/ 3357329 w 5802146"/>
              <a:gd name="csY49" fmla="*/ 1665171 h 2598821"/>
              <a:gd name="csX50" fmla="*/ 3328453 w 5802146"/>
              <a:gd name="csY50" fmla="*/ 1645920 h 2598821"/>
              <a:gd name="csX51" fmla="*/ 3261077 w 5802146"/>
              <a:gd name="csY51" fmla="*/ 1588169 h 2598821"/>
              <a:gd name="csX52" fmla="*/ 3232201 w 5802146"/>
              <a:gd name="csY52" fmla="*/ 1578543 h 2598821"/>
              <a:gd name="csX53" fmla="*/ 3155199 w 5802146"/>
              <a:gd name="csY53" fmla="*/ 1511167 h 2598821"/>
              <a:gd name="csX54" fmla="*/ 3087822 w 5802146"/>
              <a:gd name="csY54" fmla="*/ 1472666 h 2598821"/>
              <a:gd name="csX55" fmla="*/ 3039696 w 5802146"/>
              <a:gd name="csY55" fmla="*/ 1443790 h 2598821"/>
              <a:gd name="csX56" fmla="*/ 2969938 w 5802146"/>
              <a:gd name="csY56" fmla="*/ 1412232 h 2598821"/>
              <a:gd name="csX57" fmla="*/ 2914567 w 5802146"/>
              <a:gd name="csY57" fmla="*/ 1366788 h 2598821"/>
              <a:gd name="csX58" fmla="*/ 2866441 w 5802146"/>
              <a:gd name="csY58" fmla="*/ 1347537 h 2598821"/>
              <a:gd name="csX59" fmla="*/ 2789439 w 5802146"/>
              <a:gd name="csY59" fmla="*/ 1299411 h 2598821"/>
              <a:gd name="csX60" fmla="*/ 2731687 w 5802146"/>
              <a:gd name="csY60" fmla="*/ 1212783 h 2598821"/>
              <a:gd name="csX61" fmla="*/ 2760563 w 5802146"/>
              <a:gd name="csY61" fmla="*/ 577516 h 2598821"/>
              <a:gd name="csX62" fmla="*/ 2750938 w 5802146"/>
              <a:gd name="csY62" fmla="*/ 308009 h 2598821"/>
              <a:gd name="csX63" fmla="*/ 2731687 w 5802146"/>
              <a:gd name="csY63" fmla="*/ 192506 h 2598821"/>
              <a:gd name="csX64" fmla="*/ 2712437 w 5802146"/>
              <a:gd name="csY64" fmla="*/ 144379 h 2598821"/>
              <a:gd name="csX65" fmla="*/ 2654685 w 5802146"/>
              <a:gd name="csY65" fmla="*/ 77002 h 2598821"/>
              <a:gd name="csX66" fmla="*/ 2625809 w 5802146"/>
              <a:gd name="csY66" fmla="*/ 38501 h 2598821"/>
              <a:gd name="csX67" fmla="*/ 2568058 w 5802146"/>
              <a:gd name="csY67" fmla="*/ 0 h 2598821"/>
              <a:gd name="csX68" fmla="*/ 2625809 w 5802146"/>
              <a:gd name="csY68" fmla="*/ 57752 h 2598821"/>
              <a:gd name="csX0" fmla="*/ 2625809 w 5802146"/>
              <a:gd name="csY0" fmla="*/ 57752 h 2598821"/>
              <a:gd name="csX1" fmla="*/ 55864 w 5802146"/>
              <a:gd name="csY1" fmla="*/ 67377 h 2598821"/>
              <a:gd name="csX2" fmla="*/ 10895 w 5802146"/>
              <a:gd name="csY2" fmla="*/ 131872 h 2598821"/>
              <a:gd name="csX3" fmla="*/ 1370 w 5802146"/>
              <a:gd name="csY3" fmla="*/ 543376 h 2598821"/>
              <a:gd name="csX4" fmla="*/ 20822 w 5802146"/>
              <a:gd name="csY4" fmla="*/ 1101692 h 2598821"/>
              <a:gd name="csX5" fmla="*/ 49498 w 5802146"/>
              <a:gd name="csY5" fmla="*/ 1214512 h 2598821"/>
              <a:gd name="csX6" fmla="*/ 66266 w 5802146"/>
              <a:gd name="csY6" fmla="*/ 1222283 h 2598821"/>
              <a:gd name="csX7" fmla="*/ 68948 w 5802146"/>
              <a:gd name="csY7" fmla="*/ 1218222 h 2598821"/>
              <a:gd name="csX8" fmla="*/ 85918 w 5802146"/>
              <a:gd name="csY8" fmla="*/ 1202356 h 2598821"/>
              <a:gd name="csX9" fmla="*/ 65489 w 5802146"/>
              <a:gd name="csY9" fmla="*/ 1232034 h 2598821"/>
              <a:gd name="csX10" fmla="*/ 113616 w 5802146"/>
              <a:gd name="csY10" fmla="*/ 1251284 h 2598821"/>
              <a:gd name="csX11" fmla="*/ 748883 w 5802146"/>
              <a:gd name="csY11" fmla="*/ 1270535 h 2598821"/>
              <a:gd name="csX12" fmla="*/ 999140 w 5802146"/>
              <a:gd name="csY12" fmla="*/ 1578543 h 2598821"/>
              <a:gd name="csX13" fmla="*/ 1047266 w 5802146"/>
              <a:gd name="csY13" fmla="*/ 1665171 h 2598821"/>
              <a:gd name="csX14" fmla="*/ 1114643 w 5802146"/>
              <a:gd name="csY14" fmla="*/ 1761423 h 2598821"/>
              <a:gd name="csX15" fmla="*/ 1172395 w 5802146"/>
              <a:gd name="csY15" fmla="*/ 1867301 h 2598821"/>
              <a:gd name="csX16" fmla="*/ 1441902 w 5802146"/>
              <a:gd name="csY16" fmla="*/ 2146434 h 2598821"/>
              <a:gd name="csX17" fmla="*/ 1730660 w 5802146"/>
              <a:gd name="csY17" fmla="*/ 2300438 h 2598821"/>
              <a:gd name="csX18" fmla="*/ 1826912 w 5802146"/>
              <a:gd name="csY18" fmla="*/ 2338939 h 2598821"/>
              <a:gd name="csX19" fmla="*/ 2086795 w 5802146"/>
              <a:gd name="csY19" fmla="*/ 2387066 h 2598821"/>
              <a:gd name="csX20" fmla="*/ 2673936 w 5802146"/>
              <a:gd name="csY20" fmla="*/ 2464068 h 2598821"/>
              <a:gd name="csX21" fmla="*/ 2991569 w 5802146"/>
              <a:gd name="csY21" fmla="*/ 2502569 h 2598821"/>
              <a:gd name="csX22" fmla="*/ 3530584 w 5802146"/>
              <a:gd name="csY22" fmla="*/ 2521819 h 2598821"/>
              <a:gd name="csX23" fmla="*/ 3915595 w 5802146"/>
              <a:gd name="csY23" fmla="*/ 2560320 h 2598821"/>
              <a:gd name="csX24" fmla="*/ 4310230 w 5802146"/>
              <a:gd name="csY24" fmla="*/ 2569946 h 2598821"/>
              <a:gd name="csX25" fmla="*/ 4791493 w 5802146"/>
              <a:gd name="csY25" fmla="*/ 2598821 h 2598821"/>
              <a:gd name="csX26" fmla="*/ 5686643 w 5802146"/>
              <a:gd name="csY26" fmla="*/ 2569946 h 2598821"/>
              <a:gd name="csX27" fmla="*/ 5763645 w 5802146"/>
              <a:gd name="csY27" fmla="*/ 2483318 h 2598821"/>
              <a:gd name="csX28" fmla="*/ 5782896 w 5802146"/>
              <a:gd name="csY28" fmla="*/ 2300438 h 2598821"/>
              <a:gd name="csX29" fmla="*/ 5802146 w 5802146"/>
              <a:gd name="csY29" fmla="*/ 2030931 h 2598821"/>
              <a:gd name="csX30" fmla="*/ 5773270 w 5802146"/>
              <a:gd name="csY30" fmla="*/ 1366788 h 2598821"/>
              <a:gd name="csX31" fmla="*/ 5715519 w 5802146"/>
              <a:gd name="csY31" fmla="*/ 1328287 h 2598821"/>
              <a:gd name="csX32" fmla="*/ 5619266 w 5802146"/>
              <a:gd name="csY32" fmla="*/ 1309036 h 2598821"/>
              <a:gd name="csX33" fmla="*/ 5417136 w 5802146"/>
              <a:gd name="csY33" fmla="*/ 1289786 h 2598821"/>
              <a:gd name="csX34" fmla="*/ 4598988 w 5802146"/>
              <a:gd name="csY34" fmla="*/ 1309036 h 2598821"/>
              <a:gd name="csX35" fmla="*/ 4435359 w 5802146"/>
              <a:gd name="csY35" fmla="*/ 1357162 h 2598821"/>
              <a:gd name="csX36" fmla="*/ 4348731 w 5802146"/>
              <a:gd name="csY36" fmla="*/ 1386038 h 2598821"/>
              <a:gd name="csX37" fmla="*/ 4213978 w 5802146"/>
              <a:gd name="csY37" fmla="*/ 1443790 h 2598821"/>
              <a:gd name="csX38" fmla="*/ 4127350 w 5802146"/>
              <a:gd name="csY38" fmla="*/ 1501541 h 2598821"/>
              <a:gd name="csX39" fmla="*/ 4031098 w 5802146"/>
              <a:gd name="csY39" fmla="*/ 1549668 h 2598821"/>
              <a:gd name="csX40" fmla="*/ 3877093 w 5802146"/>
              <a:gd name="csY40" fmla="*/ 1645920 h 2598821"/>
              <a:gd name="csX41" fmla="*/ 3828967 w 5802146"/>
              <a:gd name="csY41" fmla="*/ 1674796 h 2598821"/>
              <a:gd name="csX42" fmla="*/ 3780841 w 5802146"/>
              <a:gd name="csY42" fmla="*/ 1713297 h 2598821"/>
              <a:gd name="csX43" fmla="*/ 3723089 w 5802146"/>
              <a:gd name="csY43" fmla="*/ 1742173 h 2598821"/>
              <a:gd name="csX44" fmla="*/ 3674963 w 5802146"/>
              <a:gd name="csY44" fmla="*/ 1780674 h 2598821"/>
              <a:gd name="csX45" fmla="*/ 3597961 w 5802146"/>
              <a:gd name="csY45" fmla="*/ 1819175 h 2598821"/>
              <a:gd name="csX46" fmla="*/ 3537327 w 5802146"/>
              <a:gd name="csY46" fmla="*/ 1756962 h 2598821"/>
              <a:gd name="csX47" fmla="*/ 3472632 w 5802146"/>
              <a:gd name="csY47" fmla="*/ 1709036 h 2598821"/>
              <a:gd name="csX48" fmla="*/ 3412499 w 5802146"/>
              <a:gd name="csY48" fmla="*/ 1684722 h 2598821"/>
              <a:gd name="csX49" fmla="*/ 3357329 w 5802146"/>
              <a:gd name="csY49" fmla="*/ 1665171 h 2598821"/>
              <a:gd name="csX50" fmla="*/ 3328453 w 5802146"/>
              <a:gd name="csY50" fmla="*/ 1645920 h 2598821"/>
              <a:gd name="csX51" fmla="*/ 3261077 w 5802146"/>
              <a:gd name="csY51" fmla="*/ 1588169 h 2598821"/>
              <a:gd name="csX52" fmla="*/ 3232201 w 5802146"/>
              <a:gd name="csY52" fmla="*/ 1578543 h 2598821"/>
              <a:gd name="csX53" fmla="*/ 3155199 w 5802146"/>
              <a:gd name="csY53" fmla="*/ 1511167 h 2598821"/>
              <a:gd name="csX54" fmla="*/ 3087822 w 5802146"/>
              <a:gd name="csY54" fmla="*/ 1472666 h 2598821"/>
              <a:gd name="csX55" fmla="*/ 3039696 w 5802146"/>
              <a:gd name="csY55" fmla="*/ 1443790 h 2598821"/>
              <a:gd name="csX56" fmla="*/ 2969938 w 5802146"/>
              <a:gd name="csY56" fmla="*/ 1412232 h 2598821"/>
              <a:gd name="csX57" fmla="*/ 2914567 w 5802146"/>
              <a:gd name="csY57" fmla="*/ 1366788 h 2598821"/>
              <a:gd name="csX58" fmla="*/ 2866441 w 5802146"/>
              <a:gd name="csY58" fmla="*/ 1347537 h 2598821"/>
              <a:gd name="csX59" fmla="*/ 2789439 w 5802146"/>
              <a:gd name="csY59" fmla="*/ 1299411 h 2598821"/>
              <a:gd name="csX60" fmla="*/ 2731687 w 5802146"/>
              <a:gd name="csY60" fmla="*/ 1212783 h 2598821"/>
              <a:gd name="csX61" fmla="*/ 2760563 w 5802146"/>
              <a:gd name="csY61" fmla="*/ 577516 h 2598821"/>
              <a:gd name="csX62" fmla="*/ 2750938 w 5802146"/>
              <a:gd name="csY62" fmla="*/ 308009 h 2598821"/>
              <a:gd name="csX63" fmla="*/ 2731687 w 5802146"/>
              <a:gd name="csY63" fmla="*/ 192506 h 2598821"/>
              <a:gd name="csX64" fmla="*/ 2712437 w 5802146"/>
              <a:gd name="csY64" fmla="*/ 144379 h 2598821"/>
              <a:gd name="csX65" fmla="*/ 2654685 w 5802146"/>
              <a:gd name="csY65" fmla="*/ 77002 h 2598821"/>
              <a:gd name="csX66" fmla="*/ 2625809 w 5802146"/>
              <a:gd name="csY66" fmla="*/ 38501 h 2598821"/>
              <a:gd name="csX67" fmla="*/ 2568058 w 5802146"/>
              <a:gd name="csY67" fmla="*/ 0 h 2598821"/>
              <a:gd name="csX68" fmla="*/ 2625809 w 5802146"/>
              <a:gd name="csY68" fmla="*/ 57752 h 2598821"/>
              <a:gd name="csX0" fmla="*/ 2625809 w 5802146"/>
              <a:gd name="csY0" fmla="*/ 57752 h 2598821"/>
              <a:gd name="csX1" fmla="*/ 55864 w 5802146"/>
              <a:gd name="csY1" fmla="*/ 67377 h 2598821"/>
              <a:gd name="csX2" fmla="*/ 10895 w 5802146"/>
              <a:gd name="csY2" fmla="*/ 131872 h 2598821"/>
              <a:gd name="csX3" fmla="*/ 1370 w 5802146"/>
              <a:gd name="csY3" fmla="*/ 543376 h 2598821"/>
              <a:gd name="csX4" fmla="*/ 20822 w 5802146"/>
              <a:gd name="csY4" fmla="*/ 1101692 h 2598821"/>
              <a:gd name="csX5" fmla="*/ 49498 w 5802146"/>
              <a:gd name="csY5" fmla="*/ 1214512 h 2598821"/>
              <a:gd name="csX6" fmla="*/ 66266 w 5802146"/>
              <a:gd name="csY6" fmla="*/ 1222283 h 2598821"/>
              <a:gd name="csX7" fmla="*/ 68948 w 5802146"/>
              <a:gd name="csY7" fmla="*/ 1218222 h 2598821"/>
              <a:gd name="csX8" fmla="*/ 85918 w 5802146"/>
              <a:gd name="csY8" fmla="*/ 1202356 h 2598821"/>
              <a:gd name="csX9" fmla="*/ 65489 w 5802146"/>
              <a:gd name="csY9" fmla="*/ 1232034 h 2598821"/>
              <a:gd name="csX10" fmla="*/ 113616 w 5802146"/>
              <a:gd name="csY10" fmla="*/ 1251284 h 2598821"/>
              <a:gd name="csX11" fmla="*/ 748883 w 5802146"/>
              <a:gd name="csY11" fmla="*/ 1270535 h 2598821"/>
              <a:gd name="csX12" fmla="*/ 999140 w 5802146"/>
              <a:gd name="csY12" fmla="*/ 1578543 h 2598821"/>
              <a:gd name="csX13" fmla="*/ 1047266 w 5802146"/>
              <a:gd name="csY13" fmla="*/ 1665171 h 2598821"/>
              <a:gd name="csX14" fmla="*/ 1114643 w 5802146"/>
              <a:gd name="csY14" fmla="*/ 1761423 h 2598821"/>
              <a:gd name="csX15" fmla="*/ 1172395 w 5802146"/>
              <a:gd name="csY15" fmla="*/ 1867301 h 2598821"/>
              <a:gd name="csX16" fmla="*/ 1441902 w 5802146"/>
              <a:gd name="csY16" fmla="*/ 2146434 h 2598821"/>
              <a:gd name="csX17" fmla="*/ 1730660 w 5802146"/>
              <a:gd name="csY17" fmla="*/ 2300438 h 2598821"/>
              <a:gd name="csX18" fmla="*/ 1826912 w 5802146"/>
              <a:gd name="csY18" fmla="*/ 2338939 h 2598821"/>
              <a:gd name="csX19" fmla="*/ 2086795 w 5802146"/>
              <a:gd name="csY19" fmla="*/ 2387066 h 2598821"/>
              <a:gd name="csX20" fmla="*/ 2673936 w 5802146"/>
              <a:gd name="csY20" fmla="*/ 2464068 h 2598821"/>
              <a:gd name="csX21" fmla="*/ 2991569 w 5802146"/>
              <a:gd name="csY21" fmla="*/ 2502569 h 2598821"/>
              <a:gd name="csX22" fmla="*/ 3530584 w 5802146"/>
              <a:gd name="csY22" fmla="*/ 2521819 h 2598821"/>
              <a:gd name="csX23" fmla="*/ 3915595 w 5802146"/>
              <a:gd name="csY23" fmla="*/ 2560320 h 2598821"/>
              <a:gd name="csX24" fmla="*/ 4310230 w 5802146"/>
              <a:gd name="csY24" fmla="*/ 2569946 h 2598821"/>
              <a:gd name="csX25" fmla="*/ 4791493 w 5802146"/>
              <a:gd name="csY25" fmla="*/ 2598821 h 2598821"/>
              <a:gd name="csX26" fmla="*/ 5686643 w 5802146"/>
              <a:gd name="csY26" fmla="*/ 2569946 h 2598821"/>
              <a:gd name="csX27" fmla="*/ 5763645 w 5802146"/>
              <a:gd name="csY27" fmla="*/ 2483318 h 2598821"/>
              <a:gd name="csX28" fmla="*/ 5782896 w 5802146"/>
              <a:gd name="csY28" fmla="*/ 2300438 h 2598821"/>
              <a:gd name="csX29" fmla="*/ 5802146 w 5802146"/>
              <a:gd name="csY29" fmla="*/ 2030931 h 2598821"/>
              <a:gd name="csX30" fmla="*/ 5773270 w 5802146"/>
              <a:gd name="csY30" fmla="*/ 1366788 h 2598821"/>
              <a:gd name="csX31" fmla="*/ 5715519 w 5802146"/>
              <a:gd name="csY31" fmla="*/ 1328287 h 2598821"/>
              <a:gd name="csX32" fmla="*/ 5619266 w 5802146"/>
              <a:gd name="csY32" fmla="*/ 1309036 h 2598821"/>
              <a:gd name="csX33" fmla="*/ 5417136 w 5802146"/>
              <a:gd name="csY33" fmla="*/ 1289786 h 2598821"/>
              <a:gd name="csX34" fmla="*/ 4598988 w 5802146"/>
              <a:gd name="csY34" fmla="*/ 1309036 h 2598821"/>
              <a:gd name="csX35" fmla="*/ 4435359 w 5802146"/>
              <a:gd name="csY35" fmla="*/ 1357162 h 2598821"/>
              <a:gd name="csX36" fmla="*/ 4348731 w 5802146"/>
              <a:gd name="csY36" fmla="*/ 1386038 h 2598821"/>
              <a:gd name="csX37" fmla="*/ 4213978 w 5802146"/>
              <a:gd name="csY37" fmla="*/ 1443790 h 2598821"/>
              <a:gd name="csX38" fmla="*/ 4127350 w 5802146"/>
              <a:gd name="csY38" fmla="*/ 1501541 h 2598821"/>
              <a:gd name="csX39" fmla="*/ 4031098 w 5802146"/>
              <a:gd name="csY39" fmla="*/ 1549668 h 2598821"/>
              <a:gd name="csX40" fmla="*/ 3877093 w 5802146"/>
              <a:gd name="csY40" fmla="*/ 1645920 h 2598821"/>
              <a:gd name="csX41" fmla="*/ 3828967 w 5802146"/>
              <a:gd name="csY41" fmla="*/ 1674796 h 2598821"/>
              <a:gd name="csX42" fmla="*/ 3780841 w 5802146"/>
              <a:gd name="csY42" fmla="*/ 1713297 h 2598821"/>
              <a:gd name="csX43" fmla="*/ 3723089 w 5802146"/>
              <a:gd name="csY43" fmla="*/ 1742173 h 2598821"/>
              <a:gd name="csX44" fmla="*/ 3674963 w 5802146"/>
              <a:gd name="csY44" fmla="*/ 1780674 h 2598821"/>
              <a:gd name="csX45" fmla="*/ 3597961 w 5802146"/>
              <a:gd name="csY45" fmla="*/ 1819175 h 2598821"/>
              <a:gd name="csX46" fmla="*/ 3537327 w 5802146"/>
              <a:gd name="csY46" fmla="*/ 1756962 h 2598821"/>
              <a:gd name="csX47" fmla="*/ 3472632 w 5802146"/>
              <a:gd name="csY47" fmla="*/ 1709036 h 2598821"/>
              <a:gd name="csX48" fmla="*/ 3412499 w 5802146"/>
              <a:gd name="csY48" fmla="*/ 1684722 h 2598821"/>
              <a:gd name="csX49" fmla="*/ 3357329 w 5802146"/>
              <a:gd name="csY49" fmla="*/ 1665171 h 2598821"/>
              <a:gd name="csX50" fmla="*/ 3328453 w 5802146"/>
              <a:gd name="csY50" fmla="*/ 1645920 h 2598821"/>
              <a:gd name="csX51" fmla="*/ 3261077 w 5802146"/>
              <a:gd name="csY51" fmla="*/ 1588169 h 2598821"/>
              <a:gd name="csX52" fmla="*/ 3232201 w 5802146"/>
              <a:gd name="csY52" fmla="*/ 1578543 h 2598821"/>
              <a:gd name="csX53" fmla="*/ 3155199 w 5802146"/>
              <a:gd name="csY53" fmla="*/ 1511167 h 2598821"/>
              <a:gd name="csX54" fmla="*/ 3087822 w 5802146"/>
              <a:gd name="csY54" fmla="*/ 1472666 h 2598821"/>
              <a:gd name="csX55" fmla="*/ 3039696 w 5802146"/>
              <a:gd name="csY55" fmla="*/ 1443790 h 2598821"/>
              <a:gd name="csX56" fmla="*/ 2969938 w 5802146"/>
              <a:gd name="csY56" fmla="*/ 1412232 h 2598821"/>
              <a:gd name="csX57" fmla="*/ 2914567 w 5802146"/>
              <a:gd name="csY57" fmla="*/ 1366788 h 2598821"/>
              <a:gd name="csX58" fmla="*/ 2866441 w 5802146"/>
              <a:gd name="csY58" fmla="*/ 1347537 h 2598821"/>
              <a:gd name="csX59" fmla="*/ 2789439 w 5802146"/>
              <a:gd name="csY59" fmla="*/ 1299411 h 2598821"/>
              <a:gd name="csX60" fmla="*/ 2731687 w 5802146"/>
              <a:gd name="csY60" fmla="*/ 1212783 h 2598821"/>
              <a:gd name="csX61" fmla="*/ 2760563 w 5802146"/>
              <a:gd name="csY61" fmla="*/ 577516 h 2598821"/>
              <a:gd name="csX62" fmla="*/ 2750938 w 5802146"/>
              <a:gd name="csY62" fmla="*/ 308009 h 2598821"/>
              <a:gd name="csX63" fmla="*/ 2731687 w 5802146"/>
              <a:gd name="csY63" fmla="*/ 192506 h 2598821"/>
              <a:gd name="csX64" fmla="*/ 2712437 w 5802146"/>
              <a:gd name="csY64" fmla="*/ 144379 h 2598821"/>
              <a:gd name="csX65" fmla="*/ 2654685 w 5802146"/>
              <a:gd name="csY65" fmla="*/ 77002 h 2598821"/>
              <a:gd name="csX66" fmla="*/ 2625809 w 5802146"/>
              <a:gd name="csY66" fmla="*/ 38501 h 2598821"/>
              <a:gd name="csX67" fmla="*/ 2568058 w 5802146"/>
              <a:gd name="csY67" fmla="*/ 0 h 2598821"/>
              <a:gd name="csX68" fmla="*/ 2625809 w 5802146"/>
              <a:gd name="csY68" fmla="*/ 57752 h 2598821"/>
              <a:gd name="csX0" fmla="*/ 2625809 w 5802146"/>
              <a:gd name="csY0" fmla="*/ 57752 h 2598821"/>
              <a:gd name="csX1" fmla="*/ 55864 w 5802146"/>
              <a:gd name="csY1" fmla="*/ 67377 h 2598821"/>
              <a:gd name="csX2" fmla="*/ 10895 w 5802146"/>
              <a:gd name="csY2" fmla="*/ 131872 h 2598821"/>
              <a:gd name="csX3" fmla="*/ 1370 w 5802146"/>
              <a:gd name="csY3" fmla="*/ 543376 h 2598821"/>
              <a:gd name="csX4" fmla="*/ 20822 w 5802146"/>
              <a:gd name="csY4" fmla="*/ 1101692 h 2598821"/>
              <a:gd name="csX5" fmla="*/ 49498 w 5802146"/>
              <a:gd name="csY5" fmla="*/ 1214512 h 2598821"/>
              <a:gd name="csX6" fmla="*/ 66266 w 5802146"/>
              <a:gd name="csY6" fmla="*/ 1222283 h 2598821"/>
              <a:gd name="csX7" fmla="*/ 68948 w 5802146"/>
              <a:gd name="csY7" fmla="*/ 1218222 h 2598821"/>
              <a:gd name="csX8" fmla="*/ 85918 w 5802146"/>
              <a:gd name="csY8" fmla="*/ 1202356 h 2598821"/>
              <a:gd name="csX9" fmla="*/ 165501 w 5802146"/>
              <a:gd name="csY9" fmla="*/ 1134403 h 2598821"/>
              <a:gd name="csX10" fmla="*/ 113616 w 5802146"/>
              <a:gd name="csY10" fmla="*/ 1251284 h 2598821"/>
              <a:gd name="csX11" fmla="*/ 748883 w 5802146"/>
              <a:gd name="csY11" fmla="*/ 1270535 h 2598821"/>
              <a:gd name="csX12" fmla="*/ 999140 w 5802146"/>
              <a:gd name="csY12" fmla="*/ 1578543 h 2598821"/>
              <a:gd name="csX13" fmla="*/ 1047266 w 5802146"/>
              <a:gd name="csY13" fmla="*/ 1665171 h 2598821"/>
              <a:gd name="csX14" fmla="*/ 1114643 w 5802146"/>
              <a:gd name="csY14" fmla="*/ 1761423 h 2598821"/>
              <a:gd name="csX15" fmla="*/ 1172395 w 5802146"/>
              <a:gd name="csY15" fmla="*/ 1867301 h 2598821"/>
              <a:gd name="csX16" fmla="*/ 1441902 w 5802146"/>
              <a:gd name="csY16" fmla="*/ 2146434 h 2598821"/>
              <a:gd name="csX17" fmla="*/ 1730660 w 5802146"/>
              <a:gd name="csY17" fmla="*/ 2300438 h 2598821"/>
              <a:gd name="csX18" fmla="*/ 1826912 w 5802146"/>
              <a:gd name="csY18" fmla="*/ 2338939 h 2598821"/>
              <a:gd name="csX19" fmla="*/ 2086795 w 5802146"/>
              <a:gd name="csY19" fmla="*/ 2387066 h 2598821"/>
              <a:gd name="csX20" fmla="*/ 2673936 w 5802146"/>
              <a:gd name="csY20" fmla="*/ 2464068 h 2598821"/>
              <a:gd name="csX21" fmla="*/ 2991569 w 5802146"/>
              <a:gd name="csY21" fmla="*/ 2502569 h 2598821"/>
              <a:gd name="csX22" fmla="*/ 3530584 w 5802146"/>
              <a:gd name="csY22" fmla="*/ 2521819 h 2598821"/>
              <a:gd name="csX23" fmla="*/ 3915595 w 5802146"/>
              <a:gd name="csY23" fmla="*/ 2560320 h 2598821"/>
              <a:gd name="csX24" fmla="*/ 4310230 w 5802146"/>
              <a:gd name="csY24" fmla="*/ 2569946 h 2598821"/>
              <a:gd name="csX25" fmla="*/ 4791493 w 5802146"/>
              <a:gd name="csY25" fmla="*/ 2598821 h 2598821"/>
              <a:gd name="csX26" fmla="*/ 5686643 w 5802146"/>
              <a:gd name="csY26" fmla="*/ 2569946 h 2598821"/>
              <a:gd name="csX27" fmla="*/ 5763645 w 5802146"/>
              <a:gd name="csY27" fmla="*/ 2483318 h 2598821"/>
              <a:gd name="csX28" fmla="*/ 5782896 w 5802146"/>
              <a:gd name="csY28" fmla="*/ 2300438 h 2598821"/>
              <a:gd name="csX29" fmla="*/ 5802146 w 5802146"/>
              <a:gd name="csY29" fmla="*/ 2030931 h 2598821"/>
              <a:gd name="csX30" fmla="*/ 5773270 w 5802146"/>
              <a:gd name="csY30" fmla="*/ 1366788 h 2598821"/>
              <a:gd name="csX31" fmla="*/ 5715519 w 5802146"/>
              <a:gd name="csY31" fmla="*/ 1328287 h 2598821"/>
              <a:gd name="csX32" fmla="*/ 5619266 w 5802146"/>
              <a:gd name="csY32" fmla="*/ 1309036 h 2598821"/>
              <a:gd name="csX33" fmla="*/ 5417136 w 5802146"/>
              <a:gd name="csY33" fmla="*/ 1289786 h 2598821"/>
              <a:gd name="csX34" fmla="*/ 4598988 w 5802146"/>
              <a:gd name="csY34" fmla="*/ 1309036 h 2598821"/>
              <a:gd name="csX35" fmla="*/ 4435359 w 5802146"/>
              <a:gd name="csY35" fmla="*/ 1357162 h 2598821"/>
              <a:gd name="csX36" fmla="*/ 4348731 w 5802146"/>
              <a:gd name="csY36" fmla="*/ 1386038 h 2598821"/>
              <a:gd name="csX37" fmla="*/ 4213978 w 5802146"/>
              <a:gd name="csY37" fmla="*/ 1443790 h 2598821"/>
              <a:gd name="csX38" fmla="*/ 4127350 w 5802146"/>
              <a:gd name="csY38" fmla="*/ 1501541 h 2598821"/>
              <a:gd name="csX39" fmla="*/ 4031098 w 5802146"/>
              <a:gd name="csY39" fmla="*/ 1549668 h 2598821"/>
              <a:gd name="csX40" fmla="*/ 3877093 w 5802146"/>
              <a:gd name="csY40" fmla="*/ 1645920 h 2598821"/>
              <a:gd name="csX41" fmla="*/ 3828967 w 5802146"/>
              <a:gd name="csY41" fmla="*/ 1674796 h 2598821"/>
              <a:gd name="csX42" fmla="*/ 3780841 w 5802146"/>
              <a:gd name="csY42" fmla="*/ 1713297 h 2598821"/>
              <a:gd name="csX43" fmla="*/ 3723089 w 5802146"/>
              <a:gd name="csY43" fmla="*/ 1742173 h 2598821"/>
              <a:gd name="csX44" fmla="*/ 3674963 w 5802146"/>
              <a:gd name="csY44" fmla="*/ 1780674 h 2598821"/>
              <a:gd name="csX45" fmla="*/ 3597961 w 5802146"/>
              <a:gd name="csY45" fmla="*/ 1819175 h 2598821"/>
              <a:gd name="csX46" fmla="*/ 3537327 w 5802146"/>
              <a:gd name="csY46" fmla="*/ 1756962 h 2598821"/>
              <a:gd name="csX47" fmla="*/ 3472632 w 5802146"/>
              <a:gd name="csY47" fmla="*/ 1709036 h 2598821"/>
              <a:gd name="csX48" fmla="*/ 3412499 w 5802146"/>
              <a:gd name="csY48" fmla="*/ 1684722 h 2598821"/>
              <a:gd name="csX49" fmla="*/ 3357329 w 5802146"/>
              <a:gd name="csY49" fmla="*/ 1665171 h 2598821"/>
              <a:gd name="csX50" fmla="*/ 3328453 w 5802146"/>
              <a:gd name="csY50" fmla="*/ 1645920 h 2598821"/>
              <a:gd name="csX51" fmla="*/ 3261077 w 5802146"/>
              <a:gd name="csY51" fmla="*/ 1588169 h 2598821"/>
              <a:gd name="csX52" fmla="*/ 3232201 w 5802146"/>
              <a:gd name="csY52" fmla="*/ 1578543 h 2598821"/>
              <a:gd name="csX53" fmla="*/ 3155199 w 5802146"/>
              <a:gd name="csY53" fmla="*/ 1511167 h 2598821"/>
              <a:gd name="csX54" fmla="*/ 3087822 w 5802146"/>
              <a:gd name="csY54" fmla="*/ 1472666 h 2598821"/>
              <a:gd name="csX55" fmla="*/ 3039696 w 5802146"/>
              <a:gd name="csY55" fmla="*/ 1443790 h 2598821"/>
              <a:gd name="csX56" fmla="*/ 2969938 w 5802146"/>
              <a:gd name="csY56" fmla="*/ 1412232 h 2598821"/>
              <a:gd name="csX57" fmla="*/ 2914567 w 5802146"/>
              <a:gd name="csY57" fmla="*/ 1366788 h 2598821"/>
              <a:gd name="csX58" fmla="*/ 2866441 w 5802146"/>
              <a:gd name="csY58" fmla="*/ 1347537 h 2598821"/>
              <a:gd name="csX59" fmla="*/ 2789439 w 5802146"/>
              <a:gd name="csY59" fmla="*/ 1299411 h 2598821"/>
              <a:gd name="csX60" fmla="*/ 2731687 w 5802146"/>
              <a:gd name="csY60" fmla="*/ 1212783 h 2598821"/>
              <a:gd name="csX61" fmla="*/ 2760563 w 5802146"/>
              <a:gd name="csY61" fmla="*/ 577516 h 2598821"/>
              <a:gd name="csX62" fmla="*/ 2750938 w 5802146"/>
              <a:gd name="csY62" fmla="*/ 308009 h 2598821"/>
              <a:gd name="csX63" fmla="*/ 2731687 w 5802146"/>
              <a:gd name="csY63" fmla="*/ 192506 h 2598821"/>
              <a:gd name="csX64" fmla="*/ 2712437 w 5802146"/>
              <a:gd name="csY64" fmla="*/ 144379 h 2598821"/>
              <a:gd name="csX65" fmla="*/ 2654685 w 5802146"/>
              <a:gd name="csY65" fmla="*/ 77002 h 2598821"/>
              <a:gd name="csX66" fmla="*/ 2625809 w 5802146"/>
              <a:gd name="csY66" fmla="*/ 38501 h 2598821"/>
              <a:gd name="csX67" fmla="*/ 2568058 w 5802146"/>
              <a:gd name="csY67" fmla="*/ 0 h 2598821"/>
              <a:gd name="csX68" fmla="*/ 2625809 w 5802146"/>
              <a:gd name="csY68" fmla="*/ 57752 h 2598821"/>
              <a:gd name="csX0" fmla="*/ 2625809 w 5806976"/>
              <a:gd name="csY0" fmla="*/ 57752 h 2598821"/>
              <a:gd name="csX1" fmla="*/ 55864 w 5806976"/>
              <a:gd name="csY1" fmla="*/ 67377 h 2598821"/>
              <a:gd name="csX2" fmla="*/ 10895 w 5806976"/>
              <a:gd name="csY2" fmla="*/ 131872 h 2598821"/>
              <a:gd name="csX3" fmla="*/ 1370 w 5806976"/>
              <a:gd name="csY3" fmla="*/ 543376 h 2598821"/>
              <a:gd name="csX4" fmla="*/ 20822 w 5806976"/>
              <a:gd name="csY4" fmla="*/ 1101692 h 2598821"/>
              <a:gd name="csX5" fmla="*/ 49498 w 5806976"/>
              <a:gd name="csY5" fmla="*/ 1214512 h 2598821"/>
              <a:gd name="csX6" fmla="*/ 66266 w 5806976"/>
              <a:gd name="csY6" fmla="*/ 1222283 h 2598821"/>
              <a:gd name="csX7" fmla="*/ 68948 w 5806976"/>
              <a:gd name="csY7" fmla="*/ 1218222 h 2598821"/>
              <a:gd name="csX8" fmla="*/ 85918 w 5806976"/>
              <a:gd name="csY8" fmla="*/ 1202356 h 2598821"/>
              <a:gd name="csX9" fmla="*/ 165501 w 5806976"/>
              <a:gd name="csY9" fmla="*/ 1134403 h 2598821"/>
              <a:gd name="csX10" fmla="*/ 113616 w 5806976"/>
              <a:gd name="csY10" fmla="*/ 1251284 h 2598821"/>
              <a:gd name="csX11" fmla="*/ 748883 w 5806976"/>
              <a:gd name="csY11" fmla="*/ 1270535 h 2598821"/>
              <a:gd name="csX12" fmla="*/ 999140 w 5806976"/>
              <a:gd name="csY12" fmla="*/ 1578543 h 2598821"/>
              <a:gd name="csX13" fmla="*/ 1047266 w 5806976"/>
              <a:gd name="csY13" fmla="*/ 1665171 h 2598821"/>
              <a:gd name="csX14" fmla="*/ 1114643 w 5806976"/>
              <a:gd name="csY14" fmla="*/ 1761423 h 2598821"/>
              <a:gd name="csX15" fmla="*/ 1172395 w 5806976"/>
              <a:gd name="csY15" fmla="*/ 1867301 h 2598821"/>
              <a:gd name="csX16" fmla="*/ 1441902 w 5806976"/>
              <a:gd name="csY16" fmla="*/ 2146434 h 2598821"/>
              <a:gd name="csX17" fmla="*/ 1730660 w 5806976"/>
              <a:gd name="csY17" fmla="*/ 2300438 h 2598821"/>
              <a:gd name="csX18" fmla="*/ 1826912 w 5806976"/>
              <a:gd name="csY18" fmla="*/ 2338939 h 2598821"/>
              <a:gd name="csX19" fmla="*/ 2086795 w 5806976"/>
              <a:gd name="csY19" fmla="*/ 2387066 h 2598821"/>
              <a:gd name="csX20" fmla="*/ 2673936 w 5806976"/>
              <a:gd name="csY20" fmla="*/ 2464068 h 2598821"/>
              <a:gd name="csX21" fmla="*/ 2991569 w 5806976"/>
              <a:gd name="csY21" fmla="*/ 2502569 h 2598821"/>
              <a:gd name="csX22" fmla="*/ 3530584 w 5806976"/>
              <a:gd name="csY22" fmla="*/ 2521819 h 2598821"/>
              <a:gd name="csX23" fmla="*/ 3915595 w 5806976"/>
              <a:gd name="csY23" fmla="*/ 2560320 h 2598821"/>
              <a:gd name="csX24" fmla="*/ 4310230 w 5806976"/>
              <a:gd name="csY24" fmla="*/ 2569946 h 2598821"/>
              <a:gd name="csX25" fmla="*/ 4791493 w 5806976"/>
              <a:gd name="csY25" fmla="*/ 2598821 h 2598821"/>
              <a:gd name="csX26" fmla="*/ 5686643 w 5806976"/>
              <a:gd name="csY26" fmla="*/ 2569946 h 2598821"/>
              <a:gd name="csX27" fmla="*/ 5537426 w 5806976"/>
              <a:gd name="csY27" fmla="*/ 2330918 h 2598821"/>
              <a:gd name="csX28" fmla="*/ 5782896 w 5806976"/>
              <a:gd name="csY28" fmla="*/ 2300438 h 2598821"/>
              <a:gd name="csX29" fmla="*/ 5802146 w 5806976"/>
              <a:gd name="csY29" fmla="*/ 2030931 h 2598821"/>
              <a:gd name="csX30" fmla="*/ 5773270 w 5806976"/>
              <a:gd name="csY30" fmla="*/ 1366788 h 2598821"/>
              <a:gd name="csX31" fmla="*/ 5715519 w 5806976"/>
              <a:gd name="csY31" fmla="*/ 1328287 h 2598821"/>
              <a:gd name="csX32" fmla="*/ 5619266 w 5806976"/>
              <a:gd name="csY32" fmla="*/ 1309036 h 2598821"/>
              <a:gd name="csX33" fmla="*/ 5417136 w 5806976"/>
              <a:gd name="csY33" fmla="*/ 1289786 h 2598821"/>
              <a:gd name="csX34" fmla="*/ 4598988 w 5806976"/>
              <a:gd name="csY34" fmla="*/ 1309036 h 2598821"/>
              <a:gd name="csX35" fmla="*/ 4435359 w 5806976"/>
              <a:gd name="csY35" fmla="*/ 1357162 h 2598821"/>
              <a:gd name="csX36" fmla="*/ 4348731 w 5806976"/>
              <a:gd name="csY36" fmla="*/ 1386038 h 2598821"/>
              <a:gd name="csX37" fmla="*/ 4213978 w 5806976"/>
              <a:gd name="csY37" fmla="*/ 1443790 h 2598821"/>
              <a:gd name="csX38" fmla="*/ 4127350 w 5806976"/>
              <a:gd name="csY38" fmla="*/ 1501541 h 2598821"/>
              <a:gd name="csX39" fmla="*/ 4031098 w 5806976"/>
              <a:gd name="csY39" fmla="*/ 1549668 h 2598821"/>
              <a:gd name="csX40" fmla="*/ 3877093 w 5806976"/>
              <a:gd name="csY40" fmla="*/ 1645920 h 2598821"/>
              <a:gd name="csX41" fmla="*/ 3828967 w 5806976"/>
              <a:gd name="csY41" fmla="*/ 1674796 h 2598821"/>
              <a:gd name="csX42" fmla="*/ 3780841 w 5806976"/>
              <a:gd name="csY42" fmla="*/ 1713297 h 2598821"/>
              <a:gd name="csX43" fmla="*/ 3723089 w 5806976"/>
              <a:gd name="csY43" fmla="*/ 1742173 h 2598821"/>
              <a:gd name="csX44" fmla="*/ 3674963 w 5806976"/>
              <a:gd name="csY44" fmla="*/ 1780674 h 2598821"/>
              <a:gd name="csX45" fmla="*/ 3597961 w 5806976"/>
              <a:gd name="csY45" fmla="*/ 1819175 h 2598821"/>
              <a:gd name="csX46" fmla="*/ 3537327 w 5806976"/>
              <a:gd name="csY46" fmla="*/ 1756962 h 2598821"/>
              <a:gd name="csX47" fmla="*/ 3472632 w 5806976"/>
              <a:gd name="csY47" fmla="*/ 1709036 h 2598821"/>
              <a:gd name="csX48" fmla="*/ 3412499 w 5806976"/>
              <a:gd name="csY48" fmla="*/ 1684722 h 2598821"/>
              <a:gd name="csX49" fmla="*/ 3357329 w 5806976"/>
              <a:gd name="csY49" fmla="*/ 1665171 h 2598821"/>
              <a:gd name="csX50" fmla="*/ 3328453 w 5806976"/>
              <a:gd name="csY50" fmla="*/ 1645920 h 2598821"/>
              <a:gd name="csX51" fmla="*/ 3261077 w 5806976"/>
              <a:gd name="csY51" fmla="*/ 1588169 h 2598821"/>
              <a:gd name="csX52" fmla="*/ 3232201 w 5806976"/>
              <a:gd name="csY52" fmla="*/ 1578543 h 2598821"/>
              <a:gd name="csX53" fmla="*/ 3155199 w 5806976"/>
              <a:gd name="csY53" fmla="*/ 1511167 h 2598821"/>
              <a:gd name="csX54" fmla="*/ 3087822 w 5806976"/>
              <a:gd name="csY54" fmla="*/ 1472666 h 2598821"/>
              <a:gd name="csX55" fmla="*/ 3039696 w 5806976"/>
              <a:gd name="csY55" fmla="*/ 1443790 h 2598821"/>
              <a:gd name="csX56" fmla="*/ 2969938 w 5806976"/>
              <a:gd name="csY56" fmla="*/ 1412232 h 2598821"/>
              <a:gd name="csX57" fmla="*/ 2914567 w 5806976"/>
              <a:gd name="csY57" fmla="*/ 1366788 h 2598821"/>
              <a:gd name="csX58" fmla="*/ 2866441 w 5806976"/>
              <a:gd name="csY58" fmla="*/ 1347537 h 2598821"/>
              <a:gd name="csX59" fmla="*/ 2789439 w 5806976"/>
              <a:gd name="csY59" fmla="*/ 1299411 h 2598821"/>
              <a:gd name="csX60" fmla="*/ 2731687 w 5806976"/>
              <a:gd name="csY60" fmla="*/ 1212783 h 2598821"/>
              <a:gd name="csX61" fmla="*/ 2760563 w 5806976"/>
              <a:gd name="csY61" fmla="*/ 577516 h 2598821"/>
              <a:gd name="csX62" fmla="*/ 2750938 w 5806976"/>
              <a:gd name="csY62" fmla="*/ 308009 h 2598821"/>
              <a:gd name="csX63" fmla="*/ 2731687 w 5806976"/>
              <a:gd name="csY63" fmla="*/ 192506 h 2598821"/>
              <a:gd name="csX64" fmla="*/ 2712437 w 5806976"/>
              <a:gd name="csY64" fmla="*/ 144379 h 2598821"/>
              <a:gd name="csX65" fmla="*/ 2654685 w 5806976"/>
              <a:gd name="csY65" fmla="*/ 77002 h 2598821"/>
              <a:gd name="csX66" fmla="*/ 2625809 w 5806976"/>
              <a:gd name="csY66" fmla="*/ 38501 h 2598821"/>
              <a:gd name="csX67" fmla="*/ 2568058 w 5806976"/>
              <a:gd name="csY67" fmla="*/ 0 h 2598821"/>
              <a:gd name="csX68" fmla="*/ 2625809 w 5806976"/>
              <a:gd name="csY68" fmla="*/ 57752 h 2598821"/>
              <a:gd name="csX0" fmla="*/ 2625809 w 5806976"/>
              <a:gd name="csY0" fmla="*/ 57752 h 2598821"/>
              <a:gd name="csX1" fmla="*/ 55864 w 5806976"/>
              <a:gd name="csY1" fmla="*/ 67377 h 2598821"/>
              <a:gd name="csX2" fmla="*/ 10895 w 5806976"/>
              <a:gd name="csY2" fmla="*/ 131872 h 2598821"/>
              <a:gd name="csX3" fmla="*/ 1370 w 5806976"/>
              <a:gd name="csY3" fmla="*/ 543376 h 2598821"/>
              <a:gd name="csX4" fmla="*/ 20822 w 5806976"/>
              <a:gd name="csY4" fmla="*/ 1101692 h 2598821"/>
              <a:gd name="csX5" fmla="*/ 49498 w 5806976"/>
              <a:gd name="csY5" fmla="*/ 1214512 h 2598821"/>
              <a:gd name="csX6" fmla="*/ 66266 w 5806976"/>
              <a:gd name="csY6" fmla="*/ 1222283 h 2598821"/>
              <a:gd name="csX7" fmla="*/ 68948 w 5806976"/>
              <a:gd name="csY7" fmla="*/ 1218222 h 2598821"/>
              <a:gd name="csX8" fmla="*/ 85918 w 5806976"/>
              <a:gd name="csY8" fmla="*/ 1202356 h 2598821"/>
              <a:gd name="csX9" fmla="*/ 165501 w 5806976"/>
              <a:gd name="csY9" fmla="*/ 1134403 h 2598821"/>
              <a:gd name="csX10" fmla="*/ 113616 w 5806976"/>
              <a:gd name="csY10" fmla="*/ 1251284 h 2598821"/>
              <a:gd name="csX11" fmla="*/ 748883 w 5806976"/>
              <a:gd name="csY11" fmla="*/ 1270535 h 2598821"/>
              <a:gd name="csX12" fmla="*/ 999140 w 5806976"/>
              <a:gd name="csY12" fmla="*/ 1578543 h 2598821"/>
              <a:gd name="csX13" fmla="*/ 1047266 w 5806976"/>
              <a:gd name="csY13" fmla="*/ 1665171 h 2598821"/>
              <a:gd name="csX14" fmla="*/ 1114643 w 5806976"/>
              <a:gd name="csY14" fmla="*/ 1761423 h 2598821"/>
              <a:gd name="csX15" fmla="*/ 1172395 w 5806976"/>
              <a:gd name="csY15" fmla="*/ 1867301 h 2598821"/>
              <a:gd name="csX16" fmla="*/ 1441902 w 5806976"/>
              <a:gd name="csY16" fmla="*/ 2146434 h 2598821"/>
              <a:gd name="csX17" fmla="*/ 1730660 w 5806976"/>
              <a:gd name="csY17" fmla="*/ 2300438 h 2598821"/>
              <a:gd name="csX18" fmla="*/ 1826912 w 5806976"/>
              <a:gd name="csY18" fmla="*/ 2338939 h 2598821"/>
              <a:gd name="csX19" fmla="*/ 2086795 w 5806976"/>
              <a:gd name="csY19" fmla="*/ 2387066 h 2598821"/>
              <a:gd name="csX20" fmla="*/ 2673936 w 5806976"/>
              <a:gd name="csY20" fmla="*/ 2464068 h 2598821"/>
              <a:gd name="csX21" fmla="*/ 2991569 w 5806976"/>
              <a:gd name="csY21" fmla="*/ 2502569 h 2598821"/>
              <a:gd name="csX22" fmla="*/ 3530584 w 5806976"/>
              <a:gd name="csY22" fmla="*/ 2521819 h 2598821"/>
              <a:gd name="csX23" fmla="*/ 3915595 w 5806976"/>
              <a:gd name="csY23" fmla="*/ 2560320 h 2598821"/>
              <a:gd name="csX24" fmla="*/ 4310230 w 5806976"/>
              <a:gd name="csY24" fmla="*/ 2569946 h 2598821"/>
              <a:gd name="csX25" fmla="*/ 4791493 w 5806976"/>
              <a:gd name="csY25" fmla="*/ 2598821 h 2598821"/>
              <a:gd name="csX26" fmla="*/ 5405655 w 5806976"/>
              <a:gd name="csY26" fmla="*/ 2527084 h 2598821"/>
              <a:gd name="csX27" fmla="*/ 5537426 w 5806976"/>
              <a:gd name="csY27" fmla="*/ 2330918 h 2598821"/>
              <a:gd name="csX28" fmla="*/ 5782896 w 5806976"/>
              <a:gd name="csY28" fmla="*/ 2300438 h 2598821"/>
              <a:gd name="csX29" fmla="*/ 5802146 w 5806976"/>
              <a:gd name="csY29" fmla="*/ 2030931 h 2598821"/>
              <a:gd name="csX30" fmla="*/ 5773270 w 5806976"/>
              <a:gd name="csY30" fmla="*/ 1366788 h 2598821"/>
              <a:gd name="csX31" fmla="*/ 5715519 w 5806976"/>
              <a:gd name="csY31" fmla="*/ 1328287 h 2598821"/>
              <a:gd name="csX32" fmla="*/ 5619266 w 5806976"/>
              <a:gd name="csY32" fmla="*/ 1309036 h 2598821"/>
              <a:gd name="csX33" fmla="*/ 5417136 w 5806976"/>
              <a:gd name="csY33" fmla="*/ 1289786 h 2598821"/>
              <a:gd name="csX34" fmla="*/ 4598988 w 5806976"/>
              <a:gd name="csY34" fmla="*/ 1309036 h 2598821"/>
              <a:gd name="csX35" fmla="*/ 4435359 w 5806976"/>
              <a:gd name="csY35" fmla="*/ 1357162 h 2598821"/>
              <a:gd name="csX36" fmla="*/ 4348731 w 5806976"/>
              <a:gd name="csY36" fmla="*/ 1386038 h 2598821"/>
              <a:gd name="csX37" fmla="*/ 4213978 w 5806976"/>
              <a:gd name="csY37" fmla="*/ 1443790 h 2598821"/>
              <a:gd name="csX38" fmla="*/ 4127350 w 5806976"/>
              <a:gd name="csY38" fmla="*/ 1501541 h 2598821"/>
              <a:gd name="csX39" fmla="*/ 4031098 w 5806976"/>
              <a:gd name="csY39" fmla="*/ 1549668 h 2598821"/>
              <a:gd name="csX40" fmla="*/ 3877093 w 5806976"/>
              <a:gd name="csY40" fmla="*/ 1645920 h 2598821"/>
              <a:gd name="csX41" fmla="*/ 3828967 w 5806976"/>
              <a:gd name="csY41" fmla="*/ 1674796 h 2598821"/>
              <a:gd name="csX42" fmla="*/ 3780841 w 5806976"/>
              <a:gd name="csY42" fmla="*/ 1713297 h 2598821"/>
              <a:gd name="csX43" fmla="*/ 3723089 w 5806976"/>
              <a:gd name="csY43" fmla="*/ 1742173 h 2598821"/>
              <a:gd name="csX44" fmla="*/ 3674963 w 5806976"/>
              <a:gd name="csY44" fmla="*/ 1780674 h 2598821"/>
              <a:gd name="csX45" fmla="*/ 3597961 w 5806976"/>
              <a:gd name="csY45" fmla="*/ 1819175 h 2598821"/>
              <a:gd name="csX46" fmla="*/ 3537327 w 5806976"/>
              <a:gd name="csY46" fmla="*/ 1756962 h 2598821"/>
              <a:gd name="csX47" fmla="*/ 3472632 w 5806976"/>
              <a:gd name="csY47" fmla="*/ 1709036 h 2598821"/>
              <a:gd name="csX48" fmla="*/ 3412499 w 5806976"/>
              <a:gd name="csY48" fmla="*/ 1684722 h 2598821"/>
              <a:gd name="csX49" fmla="*/ 3357329 w 5806976"/>
              <a:gd name="csY49" fmla="*/ 1665171 h 2598821"/>
              <a:gd name="csX50" fmla="*/ 3328453 w 5806976"/>
              <a:gd name="csY50" fmla="*/ 1645920 h 2598821"/>
              <a:gd name="csX51" fmla="*/ 3261077 w 5806976"/>
              <a:gd name="csY51" fmla="*/ 1588169 h 2598821"/>
              <a:gd name="csX52" fmla="*/ 3232201 w 5806976"/>
              <a:gd name="csY52" fmla="*/ 1578543 h 2598821"/>
              <a:gd name="csX53" fmla="*/ 3155199 w 5806976"/>
              <a:gd name="csY53" fmla="*/ 1511167 h 2598821"/>
              <a:gd name="csX54" fmla="*/ 3087822 w 5806976"/>
              <a:gd name="csY54" fmla="*/ 1472666 h 2598821"/>
              <a:gd name="csX55" fmla="*/ 3039696 w 5806976"/>
              <a:gd name="csY55" fmla="*/ 1443790 h 2598821"/>
              <a:gd name="csX56" fmla="*/ 2969938 w 5806976"/>
              <a:gd name="csY56" fmla="*/ 1412232 h 2598821"/>
              <a:gd name="csX57" fmla="*/ 2914567 w 5806976"/>
              <a:gd name="csY57" fmla="*/ 1366788 h 2598821"/>
              <a:gd name="csX58" fmla="*/ 2866441 w 5806976"/>
              <a:gd name="csY58" fmla="*/ 1347537 h 2598821"/>
              <a:gd name="csX59" fmla="*/ 2789439 w 5806976"/>
              <a:gd name="csY59" fmla="*/ 1299411 h 2598821"/>
              <a:gd name="csX60" fmla="*/ 2731687 w 5806976"/>
              <a:gd name="csY60" fmla="*/ 1212783 h 2598821"/>
              <a:gd name="csX61" fmla="*/ 2760563 w 5806976"/>
              <a:gd name="csY61" fmla="*/ 577516 h 2598821"/>
              <a:gd name="csX62" fmla="*/ 2750938 w 5806976"/>
              <a:gd name="csY62" fmla="*/ 308009 h 2598821"/>
              <a:gd name="csX63" fmla="*/ 2731687 w 5806976"/>
              <a:gd name="csY63" fmla="*/ 192506 h 2598821"/>
              <a:gd name="csX64" fmla="*/ 2712437 w 5806976"/>
              <a:gd name="csY64" fmla="*/ 144379 h 2598821"/>
              <a:gd name="csX65" fmla="*/ 2654685 w 5806976"/>
              <a:gd name="csY65" fmla="*/ 77002 h 2598821"/>
              <a:gd name="csX66" fmla="*/ 2625809 w 5806976"/>
              <a:gd name="csY66" fmla="*/ 38501 h 2598821"/>
              <a:gd name="csX67" fmla="*/ 2568058 w 5806976"/>
              <a:gd name="csY67" fmla="*/ 0 h 2598821"/>
              <a:gd name="csX68" fmla="*/ 2625809 w 5806976"/>
              <a:gd name="csY68" fmla="*/ 57752 h 2598821"/>
              <a:gd name="csX0" fmla="*/ 2625809 w 5802146"/>
              <a:gd name="csY0" fmla="*/ 57752 h 2598821"/>
              <a:gd name="csX1" fmla="*/ 55864 w 5802146"/>
              <a:gd name="csY1" fmla="*/ 67377 h 2598821"/>
              <a:gd name="csX2" fmla="*/ 10895 w 5802146"/>
              <a:gd name="csY2" fmla="*/ 131872 h 2598821"/>
              <a:gd name="csX3" fmla="*/ 1370 w 5802146"/>
              <a:gd name="csY3" fmla="*/ 543376 h 2598821"/>
              <a:gd name="csX4" fmla="*/ 20822 w 5802146"/>
              <a:gd name="csY4" fmla="*/ 1101692 h 2598821"/>
              <a:gd name="csX5" fmla="*/ 49498 w 5802146"/>
              <a:gd name="csY5" fmla="*/ 1214512 h 2598821"/>
              <a:gd name="csX6" fmla="*/ 66266 w 5802146"/>
              <a:gd name="csY6" fmla="*/ 1222283 h 2598821"/>
              <a:gd name="csX7" fmla="*/ 68948 w 5802146"/>
              <a:gd name="csY7" fmla="*/ 1218222 h 2598821"/>
              <a:gd name="csX8" fmla="*/ 85918 w 5802146"/>
              <a:gd name="csY8" fmla="*/ 1202356 h 2598821"/>
              <a:gd name="csX9" fmla="*/ 165501 w 5802146"/>
              <a:gd name="csY9" fmla="*/ 1134403 h 2598821"/>
              <a:gd name="csX10" fmla="*/ 113616 w 5802146"/>
              <a:gd name="csY10" fmla="*/ 1251284 h 2598821"/>
              <a:gd name="csX11" fmla="*/ 748883 w 5802146"/>
              <a:gd name="csY11" fmla="*/ 1270535 h 2598821"/>
              <a:gd name="csX12" fmla="*/ 999140 w 5802146"/>
              <a:gd name="csY12" fmla="*/ 1578543 h 2598821"/>
              <a:gd name="csX13" fmla="*/ 1047266 w 5802146"/>
              <a:gd name="csY13" fmla="*/ 1665171 h 2598821"/>
              <a:gd name="csX14" fmla="*/ 1114643 w 5802146"/>
              <a:gd name="csY14" fmla="*/ 1761423 h 2598821"/>
              <a:gd name="csX15" fmla="*/ 1172395 w 5802146"/>
              <a:gd name="csY15" fmla="*/ 1867301 h 2598821"/>
              <a:gd name="csX16" fmla="*/ 1441902 w 5802146"/>
              <a:gd name="csY16" fmla="*/ 2146434 h 2598821"/>
              <a:gd name="csX17" fmla="*/ 1730660 w 5802146"/>
              <a:gd name="csY17" fmla="*/ 2300438 h 2598821"/>
              <a:gd name="csX18" fmla="*/ 1826912 w 5802146"/>
              <a:gd name="csY18" fmla="*/ 2338939 h 2598821"/>
              <a:gd name="csX19" fmla="*/ 2086795 w 5802146"/>
              <a:gd name="csY19" fmla="*/ 2387066 h 2598821"/>
              <a:gd name="csX20" fmla="*/ 2673936 w 5802146"/>
              <a:gd name="csY20" fmla="*/ 2464068 h 2598821"/>
              <a:gd name="csX21" fmla="*/ 2991569 w 5802146"/>
              <a:gd name="csY21" fmla="*/ 2502569 h 2598821"/>
              <a:gd name="csX22" fmla="*/ 3530584 w 5802146"/>
              <a:gd name="csY22" fmla="*/ 2521819 h 2598821"/>
              <a:gd name="csX23" fmla="*/ 3915595 w 5802146"/>
              <a:gd name="csY23" fmla="*/ 2560320 h 2598821"/>
              <a:gd name="csX24" fmla="*/ 4310230 w 5802146"/>
              <a:gd name="csY24" fmla="*/ 2569946 h 2598821"/>
              <a:gd name="csX25" fmla="*/ 4791493 w 5802146"/>
              <a:gd name="csY25" fmla="*/ 2598821 h 2598821"/>
              <a:gd name="csX26" fmla="*/ 5405655 w 5802146"/>
              <a:gd name="csY26" fmla="*/ 2527084 h 2598821"/>
              <a:gd name="csX27" fmla="*/ 5537426 w 5802146"/>
              <a:gd name="csY27" fmla="*/ 2330918 h 2598821"/>
              <a:gd name="csX28" fmla="*/ 5518577 w 5802146"/>
              <a:gd name="csY28" fmla="*/ 1967063 h 2598821"/>
              <a:gd name="csX29" fmla="*/ 5802146 w 5802146"/>
              <a:gd name="csY29" fmla="*/ 2030931 h 2598821"/>
              <a:gd name="csX30" fmla="*/ 5773270 w 5802146"/>
              <a:gd name="csY30" fmla="*/ 1366788 h 2598821"/>
              <a:gd name="csX31" fmla="*/ 5715519 w 5802146"/>
              <a:gd name="csY31" fmla="*/ 1328287 h 2598821"/>
              <a:gd name="csX32" fmla="*/ 5619266 w 5802146"/>
              <a:gd name="csY32" fmla="*/ 1309036 h 2598821"/>
              <a:gd name="csX33" fmla="*/ 5417136 w 5802146"/>
              <a:gd name="csY33" fmla="*/ 1289786 h 2598821"/>
              <a:gd name="csX34" fmla="*/ 4598988 w 5802146"/>
              <a:gd name="csY34" fmla="*/ 1309036 h 2598821"/>
              <a:gd name="csX35" fmla="*/ 4435359 w 5802146"/>
              <a:gd name="csY35" fmla="*/ 1357162 h 2598821"/>
              <a:gd name="csX36" fmla="*/ 4348731 w 5802146"/>
              <a:gd name="csY36" fmla="*/ 1386038 h 2598821"/>
              <a:gd name="csX37" fmla="*/ 4213978 w 5802146"/>
              <a:gd name="csY37" fmla="*/ 1443790 h 2598821"/>
              <a:gd name="csX38" fmla="*/ 4127350 w 5802146"/>
              <a:gd name="csY38" fmla="*/ 1501541 h 2598821"/>
              <a:gd name="csX39" fmla="*/ 4031098 w 5802146"/>
              <a:gd name="csY39" fmla="*/ 1549668 h 2598821"/>
              <a:gd name="csX40" fmla="*/ 3877093 w 5802146"/>
              <a:gd name="csY40" fmla="*/ 1645920 h 2598821"/>
              <a:gd name="csX41" fmla="*/ 3828967 w 5802146"/>
              <a:gd name="csY41" fmla="*/ 1674796 h 2598821"/>
              <a:gd name="csX42" fmla="*/ 3780841 w 5802146"/>
              <a:gd name="csY42" fmla="*/ 1713297 h 2598821"/>
              <a:gd name="csX43" fmla="*/ 3723089 w 5802146"/>
              <a:gd name="csY43" fmla="*/ 1742173 h 2598821"/>
              <a:gd name="csX44" fmla="*/ 3674963 w 5802146"/>
              <a:gd name="csY44" fmla="*/ 1780674 h 2598821"/>
              <a:gd name="csX45" fmla="*/ 3597961 w 5802146"/>
              <a:gd name="csY45" fmla="*/ 1819175 h 2598821"/>
              <a:gd name="csX46" fmla="*/ 3537327 w 5802146"/>
              <a:gd name="csY46" fmla="*/ 1756962 h 2598821"/>
              <a:gd name="csX47" fmla="*/ 3472632 w 5802146"/>
              <a:gd name="csY47" fmla="*/ 1709036 h 2598821"/>
              <a:gd name="csX48" fmla="*/ 3412499 w 5802146"/>
              <a:gd name="csY48" fmla="*/ 1684722 h 2598821"/>
              <a:gd name="csX49" fmla="*/ 3357329 w 5802146"/>
              <a:gd name="csY49" fmla="*/ 1665171 h 2598821"/>
              <a:gd name="csX50" fmla="*/ 3328453 w 5802146"/>
              <a:gd name="csY50" fmla="*/ 1645920 h 2598821"/>
              <a:gd name="csX51" fmla="*/ 3261077 w 5802146"/>
              <a:gd name="csY51" fmla="*/ 1588169 h 2598821"/>
              <a:gd name="csX52" fmla="*/ 3232201 w 5802146"/>
              <a:gd name="csY52" fmla="*/ 1578543 h 2598821"/>
              <a:gd name="csX53" fmla="*/ 3155199 w 5802146"/>
              <a:gd name="csY53" fmla="*/ 1511167 h 2598821"/>
              <a:gd name="csX54" fmla="*/ 3087822 w 5802146"/>
              <a:gd name="csY54" fmla="*/ 1472666 h 2598821"/>
              <a:gd name="csX55" fmla="*/ 3039696 w 5802146"/>
              <a:gd name="csY55" fmla="*/ 1443790 h 2598821"/>
              <a:gd name="csX56" fmla="*/ 2969938 w 5802146"/>
              <a:gd name="csY56" fmla="*/ 1412232 h 2598821"/>
              <a:gd name="csX57" fmla="*/ 2914567 w 5802146"/>
              <a:gd name="csY57" fmla="*/ 1366788 h 2598821"/>
              <a:gd name="csX58" fmla="*/ 2866441 w 5802146"/>
              <a:gd name="csY58" fmla="*/ 1347537 h 2598821"/>
              <a:gd name="csX59" fmla="*/ 2789439 w 5802146"/>
              <a:gd name="csY59" fmla="*/ 1299411 h 2598821"/>
              <a:gd name="csX60" fmla="*/ 2731687 w 5802146"/>
              <a:gd name="csY60" fmla="*/ 1212783 h 2598821"/>
              <a:gd name="csX61" fmla="*/ 2760563 w 5802146"/>
              <a:gd name="csY61" fmla="*/ 577516 h 2598821"/>
              <a:gd name="csX62" fmla="*/ 2750938 w 5802146"/>
              <a:gd name="csY62" fmla="*/ 308009 h 2598821"/>
              <a:gd name="csX63" fmla="*/ 2731687 w 5802146"/>
              <a:gd name="csY63" fmla="*/ 192506 h 2598821"/>
              <a:gd name="csX64" fmla="*/ 2712437 w 5802146"/>
              <a:gd name="csY64" fmla="*/ 144379 h 2598821"/>
              <a:gd name="csX65" fmla="*/ 2654685 w 5802146"/>
              <a:gd name="csY65" fmla="*/ 77002 h 2598821"/>
              <a:gd name="csX66" fmla="*/ 2625809 w 5802146"/>
              <a:gd name="csY66" fmla="*/ 38501 h 2598821"/>
              <a:gd name="csX67" fmla="*/ 2568058 w 5802146"/>
              <a:gd name="csY67" fmla="*/ 0 h 2598821"/>
              <a:gd name="csX68" fmla="*/ 2625809 w 5802146"/>
              <a:gd name="csY68" fmla="*/ 57752 h 2598821"/>
              <a:gd name="csX0" fmla="*/ 2625809 w 5781826"/>
              <a:gd name="csY0" fmla="*/ 57752 h 2598821"/>
              <a:gd name="csX1" fmla="*/ 55864 w 5781826"/>
              <a:gd name="csY1" fmla="*/ 67377 h 2598821"/>
              <a:gd name="csX2" fmla="*/ 10895 w 5781826"/>
              <a:gd name="csY2" fmla="*/ 131872 h 2598821"/>
              <a:gd name="csX3" fmla="*/ 1370 w 5781826"/>
              <a:gd name="csY3" fmla="*/ 543376 h 2598821"/>
              <a:gd name="csX4" fmla="*/ 20822 w 5781826"/>
              <a:gd name="csY4" fmla="*/ 1101692 h 2598821"/>
              <a:gd name="csX5" fmla="*/ 49498 w 5781826"/>
              <a:gd name="csY5" fmla="*/ 1214512 h 2598821"/>
              <a:gd name="csX6" fmla="*/ 66266 w 5781826"/>
              <a:gd name="csY6" fmla="*/ 1222283 h 2598821"/>
              <a:gd name="csX7" fmla="*/ 68948 w 5781826"/>
              <a:gd name="csY7" fmla="*/ 1218222 h 2598821"/>
              <a:gd name="csX8" fmla="*/ 85918 w 5781826"/>
              <a:gd name="csY8" fmla="*/ 1202356 h 2598821"/>
              <a:gd name="csX9" fmla="*/ 165501 w 5781826"/>
              <a:gd name="csY9" fmla="*/ 1134403 h 2598821"/>
              <a:gd name="csX10" fmla="*/ 113616 w 5781826"/>
              <a:gd name="csY10" fmla="*/ 1251284 h 2598821"/>
              <a:gd name="csX11" fmla="*/ 748883 w 5781826"/>
              <a:gd name="csY11" fmla="*/ 1270535 h 2598821"/>
              <a:gd name="csX12" fmla="*/ 999140 w 5781826"/>
              <a:gd name="csY12" fmla="*/ 1578543 h 2598821"/>
              <a:gd name="csX13" fmla="*/ 1047266 w 5781826"/>
              <a:gd name="csY13" fmla="*/ 1665171 h 2598821"/>
              <a:gd name="csX14" fmla="*/ 1114643 w 5781826"/>
              <a:gd name="csY14" fmla="*/ 1761423 h 2598821"/>
              <a:gd name="csX15" fmla="*/ 1172395 w 5781826"/>
              <a:gd name="csY15" fmla="*/ 1867301 h 2598821"/>
              <a:gd name="csX16" fmla="*/ 1441902 w 5781826"/>
              <a:gd name="csY16" fmla="*/ 2146434 h 2598821"/>
              <a:gd name="csX17" fmla="*/ 1730660 w 5781826"/>
              <a:gd name="csY17" fmla="*/ 2300438 h 2598821"/>
              <a:gd name="csX18" fmla="*/ 1826912 w 5781826"/>
              <a:gd name="csY18" fmla="*/ 2338939 h 2598821"/>
              <a:gd name="csX19" fmla="*/ 2086795 w 5781826"/>
              <a:gd name="csY19" fmla="*/ 2387066 h 2598821"/>
              <a:gd name="csX20" fmla="*/ 2673936 w 5781826"/>
              <a:gd name="csY20" fmla="*/ 2464068 h 2598821"/>
              <a:gd name="csX21" fmla="*/ 2991569 w 5781826"/>
              <a:gd name="csY21" fmla="*/ 2502569 h 2598821"/>
              <a:gd name="csX22" fmla="*/ 3530584 w 5781826"/>
              <a:gd name="csY22" fmla="*/ 2521819 h 2598821"/>
              <a:gd name="csX23" fmla="*/ 3915595 w 5781826"/>
              <a:gd name="csY23" fmla="*/ 2560320 h 2598821"/>
              <a:gd name="csX24" fmla="*/ 4310230 w 5781826"/>
              <a:gd name="csY24" fmla="*/ 2569946 h 2598821"/>
              <a:gd name="csX25" fmla="*/ 4791493 w 5781826"/>
              <a:gd name="csY25" fmla="*/ 2598821 h 2598821"/>
              <a:gd name="csX26" fmla="*/ 5405655 w 5781826"/>
              <a:gd name="csY26" fmla="*/ 2527084 h 2598821"/>
              <a:gd name="csX27" fmla="*/ 5537426 w 5781826"/>
              <a:gd name="csY27" fmla="*/ 2330918 h 2598821"/>
              <a:gd name="csX28" fmla="*/ 5518577 w 5781826"/>
              <a:gd name="csY28" fmla="*/ 1967063 h 2598821"/>
              <a:gd name="csX29" fmla="*/ 5521158 w 5781826"/>
              <a:gd name="csY29" fmla="*/ 1640406 h 2598821"/>
              <a:gd name="csX30" fmla="*/ 5773270 w 5781826"/>
              <a:gd name="csY30" fmla="*/ 1366788 h 2598821"/>
              <a:gd name="csX31" fmla="*/ 5715519 w 5781826"/>
              <a:gd name="csY31" fmla="*/ 1328287 h 2598821"/>
              <a:gd name="csX32" fmla="*/ 5619266 w 5781826"/>
              <a:gd name="csY32" fmla="*/ 1309036 h 2598821"/>
              <a:gd name="csX33" fmla="*/ 5417136 w 5781826"/>
              <a:gd name="csY33" fmla="*/ 1289786 h 2598821"/>
              <a:gd name="csX34" fmla="*/ 4598988 w 5781826"/>
              <a:gd name="csY34" fmla="*/ 1309036 h 2598821"/>
              <a:gd name="csX35" fmla="*/ 4435359 w 5781826"/>
              <a:gd name="csY35" fmla="*/ 1357162 h 2598821"/>
              <a:gd name="csX36" fmla="*/ 4348731 w 5781826"/>
              <a:gd name="csY36" fmla="*/ 1386038 h 2598821"/>
              <a:gd name="csX37" fmla="*/ 4213978 w 5781826"/>
              <a:gd name="csY37" fmla="*/ 1443790 h 2598821"/>
              <a:gd name="csX38" fmla="*/ 4127350 w 5781826"/>
              <a:gd name="csY38" fmla="*/ 1501541 h 2598821"/>
              <a:gd name="csX39" fmla="*/ 4031098 w 5781826"/>
              <a:gd name="csY39" fmla="*/ 1549668 h 2598821"/>
              <a:gd name="csX40" fmla="*/ 3877093 w 5781826"/>
              <a:gd name="csY40" fmla="*/ 1645920 h 2598821"/>
              <a:gd name="csX41" fmla="*/ 3828967 w 5781826"/>
              <a:gd name="csY41" fmla="*/ 1674796 h 2598821"/>
              <a:gd name="csX42" fmla="*/ 3780841 w 5781826"/>
              <a:gd name="csY42" fmla="*/ 1713297 h 2598821"/>
              <a:gd name="csX43" fmla="*/ 3723089 w 5781826"/>
              <a:gd name="csY43" fmla="*/ 1742173 h 2598821"/>
              <a:gd name="csX44" fmla="*/ 3674963 w 5781826"/>
              <a:gd name="csY44" fmla="*/ 1780674 h 2598821"/>
              <a:gd name="csX45" fmla="*/ 3597961 w 5781826"/>
              <a:gd name="csY45" fmla="*/ 1819175 h 2598821"/>
              <a:gd name="csX46" fmla="*/ 3537327 w 5781826"/>
              <a:gd name="csY46" fmla="*/ 1756962 h 2598821"/>
              <a:gd name="csX47" fmla="*/ 3472632 w 5781826"/>
              <a:gd name="csY47" fmla="*/ 1709036 h 2598821"/>
              <a:gd name="csX48" fmla="*/ 3412499 w 5781826"/>
              <a:gd name="csY48" fmla="*/ 1684722 h 2598821"/>
              <a:gd name="csX49" fmla="*/ 3357329 w 5781826"/>
              <a:gd name="csY49" fmla="*/ 1665171 h 2598821"/>
              <a:gd name="csX50" fmla="*/ 3328453 w 5781826"/>
              <a:gd name="csY50" fmla="*/ 1645920 h 2598821"/>
              <a:gd name="csX51" fmla="*/ 3261077 w 5781826"/>
              <a:gd name="csY51" fmla="*/ 1588169 h 2598821"/>
              <a:gd name="csX52" fmla="*/ 3232201 w 5781826"/>
              <a:gd name="csY52" fmla="*/ 1578543 h 2598821"/>
              <a:gd name="csX53" fmla="*/ 3155199 w 5781826"/>
              <a:gd name="csY53" fmla="*/ 1511167 h 2598821"/>
              <a:gd name="csX54" fmla="*/ 3087822 w 5781826"/>
              <a:gd name="csY54" fmla="*/ 1472666 h 2598821"/>
              <a:gd name="csX55" fmla="*/ 3039696 w 5781826"/>
              <a:gd name="csY55" fmla="*/ 1443790 h 2598821"/>
              <a:gd name="csX56" fmla="*/ 2969938 w 5781826"/>
              <a:gd name="csY56" fmla="*/ 1412232 h 2598821"/>
              <a:gd name="csX57" fmla="*/ 2914567 w 5781826"/>
              <a:gd name="csY57" fmla="*/ 1366788 h 2598821"/>
              <a:gd name="csX58" fmla="*/ 2866441 w 5781826"/>
              <a:gd name="csY58" fmla="*/ 1347537 h 2598821"/>
              <a:gd name="csX59" fmla="*/ 2789439 w 5781826"/>
              <a:gd name="csY59" fmla="*/ 1299411 h 2598821"/>
              <a:gd name="csX60" fmla="*/ 2731687 w 5781826"/>
              <a:gd name="csY60" fmla="*/ 1212783 h 2598821"/>
              <a:gd name="csX61" fmla="*/ 2760563 w 5781826"/>
              <a:gd name="csY61" fmla="*/ 577516 h 2598821"/>
              <a:gd name="csX62" fmla="*/ 2750938 w 5781826"/>
              <a:gd name="csY62" fmla="*/ 308009 h 2598821"/>
              <a:gd name="csX63" fmla="*/ 2731687 w 5781826"/>
              <a:gd name="csY63" fmla="*/ 192506 h 2598821"/>
              <a:gd name="csX64" fmla="*/ 2712437 w 5781826"/>
              <a:gd name="csY64" fmla="*/ 144379 h 2598821"/>
              <a:gd name="csX65" fmla="*/ 2654685 w 5781826"/>
              <a:gd name="csY65" fmla="*/ 77002 h 2598821"/>
              <a:gd name="csX66" fmla="*/ 2625809 w 5781826"/>
              <a:gd name="csY66" fmla="*/ 38501 h 2598821"/>
              <a:gd name="csX67" fmla="*/ 2568058 w 5781826"/>
              <a:gd name="csY67" fmla="*/ 0 h 2598821"/>
              <a:gd name="csX68" fmla="*/ 2625809 w 5781826"/>
              <a:gd name="csY68" fmla="*/ 57752 h 2598821"/>
              <a:gd name="csX0" fmla="*/ 2625809 w 5726675"/>
              <a:gd name="csY0" fmla="*/ 57752 h 2598821"/>
              <a:gd name="csX1" fmla="*/ 55864 w 5726675"/>
              <a:gd name="csY1" fmla="*/ 67377 h 2598821"/>
              <a:gd name="csX2" fmla="*/ 10895 w 5726675"/>
              <a:gd name="csY2" fmla="*/ 131872 h 2598821"/>
              <a:gd name="csX3" fmla="*/ 1370 w 5726675"/>
              <a:gd name="csY3" fmla="*/ 543376 h 2598821"/>
              <a:gd name="csX4" fmla="*/ 20822 w 5726675"/>
              <a:gd name="csY4" fmla="*/ 1101692 h 2598821"/>
              <a:gd name="csX5" fmla="*/ 49498 w 5726675"/>
              <a:gd name="csY5" fmla="*/ 1214512 h 2598821"/>
              <a:gd name="csX6" fmla="*/ 66266 w 5726675"/>
              <a:gd name="csY6" fmla="*/ 1222283 h 2598821"/>
              <a:gd name="csX7" fmla="*/ 68948 w 5726675"/>
              <a:gd name="csY7" fmla="*/ 1218222 h 2598821"/>
              <a:gd name="csX8" fmla="*/ 85918 w 5726675"/>
              <a:gd name="csY8" fmla="*/ 1202356 h 2598821"/>
              <a:gd name="csX9" fmla="*/ 165501 w 5726675"/>
              <a:gd name="csY9" fmla="*/ 1134403 h 2598821"/>
              <a:gd name="csX10" fmla="*/ 113616 w 5726675"/>
              <a:gd name="csY10" fmla="*/ 1251284 h 2598821"/>
              <a:gd name="csX11" fmla="*/ 748883 w 5726675"/>
              <a:gd name="csY11" fmla="*/ 1270535 h 2598821"/>
              <a:gd name="csX12" fmla="*/ 999140 w 5726675"/>
              <a:gd name="csY12" fmla="*/ 1578543 h 2598821"/>
              <a:gd name="csX13" fmla="*/ 1047266 w 5726675"/>
              <a:gd name="csY13" fmla="*/ 1665171 h 2598821"/>
              <a:gd name="csX14" fmla="*/ 1114643 w 5726675"/>
              <a:gd name="csY14" fmla="*/ 1761423 h 2598821"/>
              <a:gd name="csX15" fmla="*/ 1172395 w 5726675"/>
              <a:gd name="csY15" fmla="*/ 1867301 h 2598821"/>
              <a:gd name="csX16" fmla="*/ 1441902 w 5726675"/>
              <a:gd name="csY16" fmla="*/ 2146434 h 2598821"/>
              <a:gd name="csX17" fmla="*/ 1730660 w 5726675"/>
              <a:gd name="csY17" fmla="*/ 2300438 h 2598821"/>
              <a:gd name="csX18" fmla="*/ 1826912 w 5726675"/>
              <a:gd name="csY18" fmla="*/ 2338939 h 2598821"/>
              <a:gd name="csX19" fmla="*/ 2086795 w 5726675"/>
              <a:gd name="csY19" fmla="*/ 2387066 h 2598821"/>
              <a:gd name="csX20" fmla="*/ 2673936 w 5726675"/>
              <a:gd name="csY20" fmla="*/ 2464068 h 2598821"/>
              <a:gd name="csX21" fmla="*/ 2991569 w 5726675"/>
              <a:gd name="csY21" fmla="*/ 2502569 h 2598821"/>
              <a:gd name="csX22" fmla="*/ 3530584 w 5726675"/>
              <a:gd name="csY22" fmla="*/ 2521819 h 2598821"/>
              <a:gd name="csX23" fmla="*/ 3915595 w 5726675"/>
              <a:gd name="csY23" fmla="*/ 2560320 h 2598821"/>
              <a:gd name="csX24" fmla="*/ 4310230 w 5726675"/>
              <a:gd name="csY24" fmla="*/ 2569946 h 2598821"/>
              <a:gd name="csX25" fmla="*/ 4791493 w 5726675"/>
              <a:gd name="csY25" fmla="*/ 2598821 h 2598821"/>
              <a:gd name="csX26" fmla="*/ 5405655 w 5726675"/>
              <a:gd name="csY26" fmla="*/ 2527084 h 2598821"/>
              <a:gd name="csX27" fmla="*/ 5537426 w 5726675"/>
              <a:gd name="csY27" fmla="*/ 2330918 h 2598821"/>
              <a:gd name="csX28" fmla="*/ 5518577 w 5726675"/>
              <a:gd name="csY28" fmla="*/ 1967063 h 2598821"/>
              <a:gd name="csX29" fmla="*/ 5521158 w 5726675"/>
              <a:gd name="csY29" fmla="*/ 1640406 h 2598821"/>
              <a:gd name="csX30" fmla="*/ 5342264 w 5726675"/>
              <a:gd name="csY30" fmla="*/ 1466800 h 2598821"/>
              <a:gd name="csX31" fmla="*/ 5715519 w 5726675"/>
              <a:gd name="csY31" fmla="*/ 1328287 h 2598821"/>
              <a:gd name="csX32" fmla="*/ 5619266 w 5726675"/>
              <a:gd name="csY32" fmla="*/ 1309036 h 2598821"/>
              <a:gd name="csX33" fmla="*/ 5417136 w 5726675"/>
              <a:gd name="csY33" fmla="*/ 1289786 h 2598821"/>
              <a:gd name="csX34" fmla="*/ 4598988 w 5726675"/>
              <a:gd name="csY34" fmla="*/ 1309036 h 2598821"/>
              <a:gd name="csX35" fmla="*/ 4435359 w 5726675"/>
              <a:gd name="csY35" fmla="*/ 1357162 h 2598821"/>
              <a:gd name="csX36" fmla="*/ 4348731 w 5726675"/>
              <a:gd name="csY36" fmla="*/ 1386038 h 2598821"/>
              <a:gd name="csX37" fmla="*/ 4213978 w 5726675"/>
              <a:gd name="csY37" fmla="*/ 1443790 h 2598821"/>
              <a:gd name="csX38" fmla="*/ 4127350 w 5726675"/>
              <a:gd name="csY38" fmla="*/ 1501541 h 2598821"/>
              <a:gd name="csX39" fmla="*/ 4031098 w 5726675"/>
              <a:gd name="csY39" fmla="*/ 1549668 h 2598821"/>
              <a:gd name="csX40" fmla="*/ 3877093 w 5726675"/>
              <a:gd name="csY40" fmla="*/ 1645920 h 2598821"/>
              <a:gd name="csX41" fmla="*/ 3828967 w 5726675"/>
              <a:gd name="csY41" fmla="*/ 1674796 h 2598821"/>
              <a:gd name="csX42" fmla="*/ 3780841 w 5726675"/>
              <a:gd name="csY42" fmla="*/ 1713297 h 2598821"/>
              <a:gd name="csX43" fmla="*/ 3723089 w 5726675"/>
              <a:gd name="csY43" fmla="*/ 1742173 h 2598821"/>
              <a:gd name="csX44" fmla="*/ 3674963 w 5726675"/>
              <a:gd name="csY44" fmla="*/ 1780674 h 2598821"/>
              <a:gd name="csX45" fmla="*/ 3597961 w 5726675"/>
              <a:gd name="csY45" fmla="*/ 1819175 h 2598821"/>
              <a:gd name="csX46" fmla="*/ 3537327 w 5726675"/>
              <a:gd name="csY46" fmla="*/ 1756962 h 2598821"/>
              <a:gd name="csX47" fmla="*/ 3472632 w 5726675"/>
              <a:gd name="csY47" fmla="*/ 1709036 h 2598821"/>
              <a:gd name="csX48" fmla="*/ 3412499 w 5726675"/>
              <a:gd name="csY48" fmla="*/ 1684722 h 2598821"/>
              <a:gd name="csX49" fmla="*/ 3357329 w 5726675"/>
              <a:gd name="csY49" fmla="*/ 1665171 h 2598821"/>
              <a:gd name="csX50" fmla="*/ 3328453 w 5726675"/>
              <a:gd name="csY50" fmla="*/ 1645920 h 2598821"/>
              <a:gd name="csX51" fmla="*/ 3261077 w 5726675"/>
              <a:gd name="csY51" fmla="*/ 1588169 h 2598821"/>
              <a:gd name="csX52" fmla="*/ 3232201 w 5726675"/>
              <a:gd name="csY52" fmla="*/ 1578543 h 2598821"/>
              <a:gd name="csX53" fmla="*/ 3155199 w 5726675"/>
              <a:gd name="csY53" fmla="*/ 1511167 h 2598821"/>
              <a:gd name="csX54" fmla="*/ 3087822 w 5726675"/>
              <a:gd name="csY54" fmla="*/ 1472666 h 2598821"/>
              <a:gd name="csX55" fmla="*/ 3039696 w 5726675"/>
              <a:gd name="csY55" fmla="*/ 1443790 h 2598821"/>
              <a:gd name="csX56" fmla="*/ 2969938 w 5726675"/>
              <a:gd name="csY56" fmla="*/ 1412232 h 2598821"/>
              <a:gd name="csX57" fmla="*/ 2914567 w 5726675"/>
              <a:gd name="csY57" fmla="*/ 1366788 h 2598821"/>
              <a:gd name="csX58" fmla="*/ 2866441 w 5726675"/>
              <a:gd name="csY58" fmla="*/ 1347537 h 2598821"/>
              <a:gd name="csX59" fmla="*/ 2789439 w 5726675"/>
              <a:gd name="csY59" fmla="*/ 1299411 h 2598821"/>
              <a:gd name="csX60" fmla="*/ 2731687 w 5726675"/>
              <a:gd name="csY60" fmla="*/ 1212783 h 2598821"/>
              <a:gd name="csX61" fmla="*/ 2760563 w 5726675"/>
              <a:gd name="csY61" fmla="*/ 577516 h 2598821"/>
              <a:gd name="csX62" fmla="*/ 2750938 w 5726675"/>
              <a:gd name="csY62" fmla="*/ 308009 h 2598821"/>
              <a:gd name="csX63" fmla="*/ 2731687 w 5726675"/>
              <a:gd name="csY63" fmla="*/ 192506 h 2598821"/>
              <a:gd name="csX64" fmla="*/ 2712437 w 5726675"/>
              <a:gd name="csY64" fmla="*/ 144379 h 2598821"/>
              <a:gd name="csX65" fmla="*/ 2654685 w 5726675"/>
              <a:gd name="csY65" fmla="*/ 77002 h 2598821"/>
              <a:gd name="csX66" fmla="*/ 2625809 w 5726675"/>
              <a:gd name="csY66" fmla="*/ 38501 h 2598821"/>
              <a:gd name="csX67" fmla="*/ 2568058 w 5726675"/>
              <a:gd name="csY67" fmla="*/ 0 h 2598821"/>
              <a:gd name="csX68" fmla="*/ 2625809 w 5726675"/>
              <a:gd name="csY68" fmla="*/ 57752 h 2598821"/>
              <a:gd name="csX0" fmla="*/ 2625809 w 5717603"/>
              <a:gd name="csY0" fmla="*/ 57752 h 2598821"/>
              <a:gd name="csX1" fmla="*/ 55864 w 5717603"/>
              <a:gd name="csY1" fmla="*/ 67377 h 2598821"/>
              <a:gd name="csX2" fmla="*/ 10895 w 5717603"/>
              <a:gd name="csY2" fmla="*/ 131872 h 2598821"/>
              <a:gd name="csX3" fmla="*/ 1370 w 5717603"/>
              <a:gd name="csY3" fmla="*/ 543376 h 2598821"/>
              <a:gd name="csX4" fmla="*/ 20822 w 5717603"/>
              <a:gd name="csY4" fmla="*/ 1101692 h 2598821"/>
              <a:gd name="csX5" fmla="*/ 49498 w 5717603"/>
              <a:gd name="csY5" fmla="*/ 1214512 h 2598821"/>
              <a:gd name="csX6" fmla="*/ 66266 w 5717603"/>
              <a:gd name="csY6" fmla="*/ 1222283 h 2598821"/>
              <a:gd name="csX7" fmla="*/ 68948 w 5717603"/>
              <a:gd name="csY7" fmla="*/ 1218222 h 2598821"/>
              <a:gd name="csX8" fmla="*/ 85918 w 5717603"/>
              <a:gd name="csY8" fmla="*/ 1202356 h 2598821"/>
              <a:gd name="csX9" fmla="*/ 165501 w 5717603"/>
              <a:gd name="csY9" fmla="*/ 1134403 h 2598821"/>
              <a:gd name="csX10" fmla="*/ 113616 w 5717603"/>
              <a:gd name="csY10" fmla="*/ 1251284 h 2598821"/>
              <a:gd name="csX11" fmla="*/ 748883 w 5717603"/>
              <a:gd name="csY11" fmla="*/ 1270535 h 2598821"/>
              <a:gd name="csX12" fmla="*/ 999140 w 5717603"/>
              <a:gd name="csY12" fmla="*/ 1578543 h 2598821"/>
              <a:gd name="csX13" fmla="*/ 1047266 w 5717603"/>
              <a:gd name="csY13" fmla="*/ 1665171 h 2598821"/>
              <a:gd name="csX14" fmla="*/ 1114643 w 5717603"/>
              <a:gd name="csY14" fmla="*/ 1761423 h 2598821"/>
              <a:gd name="csX15" fmla="*/ 1172395 w 5717603"/>
              <a:gd name="csY15" fmla="*/ 1867301 h 2598821"/>
              <a:gd name="csX16" fmla="*/ 1441902 w 5717603"/>
              <a:gd name="csY16" fmla="*/ 2146434 h 2598821"/>
              <a:gd name="csX17" fmla="*/ 1730660 w 5717603"/>
              <a:gd name="csY17" fmla="*/ 2300438 h 2598821"/>
              <a:gd name="csX18" fmla="*/ 1826912 w 5717603"/>
              <a:gd name="csY18" fmla="*/ 2338939 h 2598821"/>
              <a:gd name="csX19" fmla="*/ 2086795 w 5717603"/>
              <a:gd name="csY19" fmla="*/ 2387066 h 2598821"/>
              <a:gd name="csX20" fmla="*/ 2673936 w 5717603"/>
              <a:gd name="csY20" fmla="*/ 2464068 h 2598821"/>
              <a:gd name="csX21" fmla="*/ 2991569 w 5717603"/>
              <a:gd name="csY21" fmla="*/ 2502569 h 2598821"/>
              <a:gd name="csX22" fmla="*/ 3530584 w 5717603"/>
              <a:gd name="csY22" fmla="*/ 2521819 h 2598821"/>
              <a:gd name="csX23" fmla="*/ 3915595 w 5717603"/>
              <a:gd name="csY23" fmla="*/ 2560320 h 2598821"/>
              <a:gd name="csX24" fmla="*/ 4310230 w 5717603"/>
              <a:gd name="csY24" fmla="*/ 2569946 h 2598821"/>
              <a:gd name="csX25" fmla="*/ 4791493 w 5717603"/>
              <a:gd name="csY25" fmla="*/ 2598821 h 2598821"/>
              <a:gd name="csX26" fmla="*/ 5405655 w 5717603"/>
              <a:gd name="csY26" fmla="*/ 2527084 h 2598821"/>
              <a:gd name="csX27" fmla="*/ 5537426 w 5717603"/>
              <a:gd name="csY27" fmla="*/ 2330918 h 2598821"/>
              <a:gd name="csX28" fmla="*/ 5518577 w 5717603"/>
              <a:gd name="csY28" fmla="*/ 1967063 h 2598821"/>
              <a:gd name="csX29" fmla="*/ 5521158 w 5717603"/>
              <a:gd name="csY29" fmla="*/ 1640406 h 2598821"/>
              <a:gd name="csX30" fmla="*/ 5342264 w 5717603"/>
              <a:gd name="csY30" fmla="*/ 1466800 h 2598821"/>
              <a:gd name="csX31" fmla="*/ 5715519 w 5717603"/>
              <a:gd name="csY31" fmla="*/ 1328287 h 2598821"/>
              <a:gd name="csX32" fmla="*/ 5143016 w 5717603"/>
              <a:gd name="csY32" fmla="*/ 1370949 h 2598821"/>
              <a:gd name="csX33" fmla="*/ 5417136 w 5717603"/>
              <a:gd name="csY33" fmla="*/ 1289786 h 2598821"/>
              <a:gd name="csX34" fmla="*/ 4598988 w 5717603"/>
              <a:gd name="csY34" fmla="*/ 1309036 h 2598821"/>
              <a:gd name="csX35" fmla="*/ 4435359 w 5717603"/>
              <a:gd name="csY35" fmla="*/ 1357162 h 2598821"/>
              <a:gd name="csX36" fmla="*/ 4348731 w 5717603"/>
              <a:gd name="csY36" fmla="*/ 1386038 h 2598821"/>
              <a:gd name="csX37" fmla="*/ 4213978 w 5717603"/>
              <a:gd name="csY37" fmla="*/ 1443790 h 2598821"/>
              <a:gd name="csX38" fmla="*/ 4127350 w 5717603"/>
              <a:gd name="csY38" fmla="*/ 1501541 h 2598821"/>
              <a:gd name="csX39" fmla="*/ 4031098 w 5717603"/>
              <a:gd name="csY39" fmla="*/ 1549668 h 2598821"/>
              <a:gd name="csX40" fmla="*/ 3877093 w 5717603"/>
              <a:gd name="csY40" fmla="*/ 1645920 h 2598821"/>
              <a:gd name="csX41" fmla="*/ 3828967 w 5717603"/>
              <a:gd name="csY41" fmla="*/ 1674796 h 2598821"/>
              <a:gd name="csX42" fmla="*/ 3780841 w 5717603"/>
              <a:gd name="csY42" fmla="*/ 1713297 h 2598821"/>
              <a:gd name="csX43" fmla="*/ 3723089 w 5717603"/>
              <a:gd name="csY43" fmla="*/ 1742173 h 2598821"/>
              <a:gd name="csX44" fmla="*/ 3674963 w 5717603"/>
              <a:gd name="csY44" fmla="*/ 1780674 h 2598821"/>
              <a:gd name="csX45" fmla="*/ 3597961 w 5717603"/>
              <a:gd name="csY45" fmla="*/ 1819175 h 2598821"/>
              <a:gd name="csX46" fmla="*/ 3537327 w 5717603"/>
              <a:gd name="csY46" fmla="*/ 1756962 h 2598821"/>
              <a:gd name="csX47" fmla="*/ 3472632 w 5717603"/>
              <a:gd name="csY47" fmla="*/ 1709036 h 2598821"/>
              <a:gd name="csX48" fmla="*/ 3412499 w 5717603"/>
              <a:gd name="csY48" fmla="*/ 1684722 h 2598821"/>
              <a:gd name="csX49" fmla="*/ 3357329 w 5717603"/>
              <a:gd name="csY49" fmla="*/ 1665171 h 2598821"/>
              <a:gd name="csX50" fmla="*/ 3328453 w 5717603"/>
              <a:gd name="csY50" fmla="*/ 1645920 h 2598821"/>
              <a:gd name="csX51" fmla="*/ 3261077 w 5717603"/>
              <a:gd name="csY51" fmla="*/ 1588169 h 2598821"/>
              <a:gd name="csX52" fmla="*/ 3232201 w 5717603"/>
              <a:gd name="csY52" fmla="*/ 1578543 h 2598821"/>
              <a:gd name="csX53" fmla="*/ 3155199 w 5717603"/>
              <a:gd name="csY53" fmla="*/ 1511167 h 2598821"/>
              <a:gd name="csX54" fmla="*/ 3087822 w 5717603"/>
              <a:gd name="csY54" fmla="*/ 1472666 h 2598821"/>
              <a:gd name="csX55" fmla="*/ 3039696 w 5717603"/>
              <a:gd name="csY55" fmla="*/ 1443790 h 2598821"/>
              <a:gd name="csX56" fmla="*/ 2969938 w 5717603"/>
              <a:gd name="csY56" fmla="*/ 1412232 h 2598821"/>
              <a:gd name="csX57" fmla="*/ 2914567 w 5717603"/>
              <a:gd name="csY57" fmla="*/ 1366788 h 2598821"/>
              <a:gd name="csX58" fmla="*/ 2866441 w 5717603"/>
              <a:gd name="csY58" fmla="*/ 1347537 h 2598821"/>
              <a:gd name="csX59" fmla="*/ 2789439 w 5717603"/>
              <a:gd name="csY59" fmla="*/ 1299411 h 2598821"/>
              <a:gd name="csX60" fmla="*/ 2731687 w 5717603"/>
              <a:gd name="csY60" fmla="*/ 1212783 h 2598821"/>
              <a:gd name="csX61" fmla="*/ 2760563 w 5717603"/>
              <a:gd name="csY61" fmla="*/ 577516 h 2598821"/>
              <a:gd name="csX62" fmla="*/ 2750938 w 5717603"/>
              <a:gd name="csY62" fmla="*/ 308009 h 2598821"/>
              <a:gd name="csX63" fmla="*/ 2731687 w 5717603"/>
              <a:gd name="csY63" fmla="*/ 192506 h 2598821"/>
              <a:gd name="csX64" fmla="*/ 2712437 w 5717603"/>
              <a:gd name="csY64" fmla="*/ 144379 h 2598821"/>
              <a:gd name="csX65" fmla="*/ 2654685 w 5717603"/>
              <a:gd name="csY65" fmla="*/ 77002 h 2598821"/>
              <a:gd name="csX66" fmla="*/ 2625809 w 5717603"/>
              <a:gd name="csY66" fmla="*/ 38501 h 2598821"/>
              <a:gd name="csX67" fmla="*/ 2568058 w 5717603"/>
              <a:gd name="csY67" fmla="*/ 0 h 2598821"/>
              <a:gd name="csX68" fmla="*/ 2625809 w 5717603"/>
              <a:gd name="csY68" fmla="*/ 57752 h 2598821"/>
              <a:gd name="csX0" fmla="*/ 2625809 w 5542964"/>
              <a:gd name="csY0" fmla="*/ 57752 h 2598821"/>
              <a:gd name="csX1" fmla="*/ 55864 w 5542964"/>
              <a:gd name="csY1" fmla="*/ 67377 h 2598821"/>
              <a:gd name="csX2" fmla="*/ 10895 w 5542964"/>
              <a:gd name="csY2" fmla="*/ 131872 h 2598821"/>
              <a:gd name="csX3" fmla="*/ 1370 w 5542964"/>
              <a:gd name="csY3" fmla="*/ 543376 h 2598821"/>
              <a:gd name="csX4" fmla="*/ 20822 w 5542964"/>
              <a:gd name="csY4" fmla="*/ 1101692 h 2598821"/>
              <a:gd name="csX5" fmla="*/ 49498 w 5542964"/>
              <a:gd name="csY5" fmla="*/ 1214512 h 2598821"/>
              <a:gd name="csX6" fmla="*/ 66266 w 5542964"/>
              <a:gd name="csY6" fmla="*/ 1222283 h 2598821"/>
              <a:gd name="csX7" fmla="*/ 68948 w 5542964"/>
              <a:gd name="csY7" fmla="*/ 1218222 h 2598821"/>
              <a:gd name="csX8" fmla="*/ 85918 w 5542964"/>
              <a:gd name="csY8" fmla="*/ 1202356 h 2598821"/>
              <a:gd name="csX9" fmla="*/ 165501 w 5542964"/>
              <a:gd name="csY9" fmla="*/ 1134403 h 2598821"/>
              <a:gd name="csX10" fmla="*/ 113616 w 5542964"/>
              <a:gd name="csY10" fmla="*/ 1251284 h 2598821"/>
              <a:gd name="csX11" fmla="*/ 748883 w 5542964"/>
              <a:gd name="csY11" fmla="*/ 1270535 h 2598821"/>
              <a:gd name="csX12" fmla="*/ 999140 w 5542964"/>
              <a:gd name="csY12" fmla="*/ 1578543 h 2598821"/>
              <a:gd name="csX13" fmla="*/ 1047266 w 5542964"/>
              <a:gd name="csY13" fmla="*/ 1665171 h 2598821"/>
              <a:gd name="csX14" fmla="*/ 1114643 w 5542964"/>
              <a:gd name="csY14" fmla="*/ 1761423 h 2598821"/>
              <a:gd name="csX15" fmla="*/ 1172395 w 5542964"/>
              <a:gd name="csY15" fmla="*/ 1867301 h 2598821"/>
              <a:gd name="csX16" fmla="*/ 1441902 w 5542964"/>
              <a:gd name="csY16" fmla="*/ 2146434 h 2598821"/>
              <a:gd name="csX17" fmla="*/ 1730660 w 5542964"/>
              <a:gd name="csY17" fmla="*/ 2300438 h 2598821"/>
              <a:gd name="csX18" fmla="*/ 1826912 w 5542964"/>
              <a:gd name="csY18" fmla="*/ 2338939 h 2598821"/>
              <a:gd name="csX19" fmla="*/ 2086795 w 5542964"/>
              <a:gd name="csY19" fmla="*/ 2387066 h 2598821"/>
              <a:gd name="csX20" fmla="*/ 2673936 w 5542964"/>
              <a:gd name="csY20" fmla="*/ 2464068 h 2598821"/>
              <a:gd name="csX21" fmla="*/ 2991569 w 5542964"/>
              <a:gd name="csY21" fmla="*/ 2502569 h 2598821"/>
              <a:gd name="csX22" fmla="*/ 3530584 w 5542964"/>
              <a:gd name="csY22" fmla="*/ 2521819 h 2598821"/>
              <a:gd name="csX23" fmla="*/ 3915595 w 5542964"/>
              <a:gd name="csY23" fmla="*/ 2560320 h 2598821"/>
              <a:gd name="csX24" fmla="*/ 4310230 w 5542964"/>
              <a:gd name="csY24" fmla="*/ 2569946 h 2598821"/>
              <a:gd name="csX25" fmla="*/ 4791493 w 5542964"/>
              <a:gd name="csY25" fmla="*/ 2598821 h 2598821"/>
              <a:gd name="csX26" fmla="*/ 5405655 w 5542964"/>
              <a:gd name="csY26" fmla="*/ 2527084 h 2598821"/>
              <a:gd name="csX27" fmla="*/ 5537426 w 5542964"/>
              <a:gd name="csY27" fmla="*/ 2330918 h 2598821"/>
              <a:gd name="csX28" fmla="*/ 5518577 w 5542964"/>
              <a:gd name="csY28" fmla="*/ 1967063 h 2598821"/>
              <a:gd name="csX29" fmla="*/ 5521158 w 5542964"/>
              <a:gd name="csY29" fmla="*/ 1640406 h 2598821"/>
              <a:gd name="csX30" fmla="*/ 5342264 w 5542964"/>
              <a:gd name="csY30" fmla="*/ 1466800 h 2598821"/>
              <a:gd name="csX31" fmla="*/ 5274987 w 5542964"/>
              <a:gd name="csY31" fmla="*/ 1418774 h 2598821"/>
              <a:gd name="csX32" fmla="*/ 5143016 w 5542964"/>
              <a:gd name="csY32" fmla="*/ 1370949 h 2598821"/>
              <a:gd name="csX33" fmla="*/ 5417136 w 5542964"/>
              <a:gd name="csY33" fmla="*/ 1289786 h 2598821"/>
              <a:gd name="csX34" fmla="*/ 4598988 w 5542964"/>
              <a:gd name="csY34" fmla="*/ 1309036 h 2598821"/>
              <a:gd name="csX35" fmla="*/ 4435359 w 5542964"/>
              <a:gd name="csY35" fmla="*/ 1357162 h 2598821"/>
              <a:gd name="csX36" fmla="*/ 4348731 w 5542964"/>
              <a:gd name="csY36" fmla="*/ 1386038 h 2598821"/>
              <a:gd name="csX37" fmla="*/ 4213978 w 5542964"/>
              <a:gd name="csY37" fmla="*/ 1443790 h 2598821"/>
              <a:gd name="csX38" fmla="*/ 4127350 w 5542964"/>
              <a:gd name="csY38" fmla="*/ 1501541 h 2598821"/>
              <a:gd name="csX39" fmla="*/ 4031098 w 5542964"/>
              <a:gd name="csY39" fmla="*/ 1549668 h 2598821"/>
              <a:gd name="csX40" fmla="*/ 3877093 w 5542964"/>
              <a:gd name="csY40" fmla="*/ 1645920 h 2598821"/>
              <a:gd name="csX41" fmla="*/ 3828967 w 5542964"/>
              <a:gd name="csY41" fmla="*/ 1674796 h 2598821"/>
              <a:gd name="csX42" fmla="*/ 3780841 w 5542964"/>
              <a:gd name="csY42" fmla="*/ 1713297 h 2598821"/>
              <a:gd name="csX43" fmla="*/ 3723089 w 5542964"/>
              <a:gd name="csY43" fmla="*/ 1742173 h 2598821"/>
              <a:gd name="csX44" fmla="*/ 3674963 w 5542964"/>
              <a:gd name="csY44" fmla="*/ 1780674 h 2598821"/>
              <a:gd name="csX45" fmla="*/ 3597961 w 5542964"/>
              <a:gd name="csY45" fmla="*/ 1819175 h 2598821"/>
              <a:gd name="csX46" fmla="*/ 3537327 w 5542964"/>
              <a:gd name="csY46" fmla="*/ 1756962 h 2598821"/>
              <a:gd name="csX47" fmla="*/ 3472632 w 5542964"/>
              <a:gd name="csY47" fmla="*/ 1709036 h 2598821"/>
              <a:gd name="csX48" fmla="*/ 3412499 w 5542964"/>
              <a:gd name="csY48" fmla="*/ 1684722 h 2598821"/>
              <a:gd name="csX49" fmla="*/ 3357329 w 5542964"/>
              <a:gd name="csY49" fmla="*/ 1665171 h 2598821"/>
              <a:gd name="csX50" fmla="*/ 3328453 w 5542964"/>
              <a:gd name="csY50" fmla="*/ 1645920 h 2598821"/>
              <a:gd name="csX51" fmla="*/ 3261077 w 5542964"/>
              <a:gd name="csY51" fmla="*/ 1588169 h 2598821"/>
              <a:gd name="csX52" fmla="*/ 3232201 w 5542964"/>
              <a:gd name="csY52" fmla="*/ 1578543 h 2598821"/>
              <a:gd name="csX53" fmla="*/ 3155199 w 5542964"/>
              <a:gd name="csY53" fmla="*/ 1511167 h 2598821"/>
              <a:gd name="csX54" fmla="*/ 3087822 w 5542964"/>
              <a:gd name="csY54" fmla="*/ 1472666 h 2598821"/>
              <a:gd name="csX55" fmla="*/ 3039696 w 5542964"/>
              <a:gd name="csY55" fmla="*/ 1443790 h 2598821"/>
              <a:gd name="csX56" fmla="*/ 2969938 w 5542964"/>
              <a:gd name="csY56" fmla="*/ 1412232 h 2598821"/>
              <a:gd name="csX57" fmla="*/ 2914567 w 5542964"/>
              <a:gd name="csY57" fmla="*/ 1366788 h 2598821"/>
              <a:gd name="csX58" fmla="*/ 2866441 w 5542964"/>
              <a:gd name="csY58" fmla="*/ 1347537 h 2598821"/>
              <a:gd name="csX59" fmla="*/ 2789439 w 5542964"/>
              <a:gd name="csY59" fmla="*/ 1299411 h 2598821"/>
              <a:gd name="csX60" fmla="*/ 2731687 w 5542964"/>
              <a:gd name="csY60" fmla="*/ 1212783 h 2598821"/>
              <a:gd name="csX61" fmla="*/ 2760563 w 5542964"/>
              <a:gd name="csY61" fmla="*/ 577516 h 2598821"/>
              <a:gd name="csX62" fmla="*/ 2750938 w 5542964"/>
              <a:gd name="csY62" fmla="*/ 308009 h 2598821"/>
              <a:gd name="csX63" fmla="*/ 2731687 w 5542964"/>
              <a:gd name="csY63" fmla="*/ 192506 h 2598821"/>
              <a:gd name="csX64" fmla="*/ 2712437 w 5542964"/>
              <a:gd name="csY64" fmla="*/ 144379 h 2598821"/>
              <a:gd name="csX65" fmla="*/ 2654685 w 5542964"/>
              <a:gd name="csY65" fmla="*/ 77002 h 2598821"/>
              <a:gd name="csX66" fmla="*/ 2625809 w 5542964"/>
              <a:gd name="csY66" fmla="*/ 38501 h 2598821"/>
              <a:gd name="csX67" fmla="*/ 2568058 w 5542964"/>
              <a:gd name="csY67" fmla="*/ 0 h 2598821"/>
              <a:gd name="csX68" fmla="*/ 2625809 w 5542964"/>
              <a:gd name="csY68" fmla="*/ 57752 h 2598821"/>
              <a:gd name="csX0" fmla="*/ 2625809 w 5542964"/>
              <a:gd name="csY0" fmla="*/ 57752 h 2598821"/>
              <a:gd name="csX1" fmla="*/ 55864 w 5542964"/>
              <a:gd name="csY1" fmla="*/ 67377 h 2598821"/>
              <a:gd name="csX2" fmla="*/ 10895 w 5542964"/>
              <a:gd name="csY2" fmla="*/ 131872 h 2598821"/>
              <a:gd name="csX3" fmla="*/ 1370 w 5542964"/>
              <a:gd name="csY3" fmla="*/ 543376 h 2598821"/>
              <a:gd name="csX4" fmla="*/ 20822 w 5542964"/>
              <a:gd name="csY4" fmla="*/ 1101692 h 2598821"/>
              <a:gd name="csX5" fmla="*/ 49498 w 5542964"/>
              <a:gd name="csY5" fmla="*/ 1214512 h 2598821"/>
              <a:gd name="csX6" fmla="*/ 66266 w 5542964"/>
              <a:gd name="csY6" fmla="*/ 1222283 h 2598821"/>
              <a:gd name="csX7" fmla="*/ 68948 w 5542964"/>
              <a:gd name="csY7" fmla="*/ 1218222 h 2598821"/>
              <a:gd name="csX8" fmla="*/ 85918 w 5542964"/>
              <a:gd name="csY8" fmla="*/ 1202356 h 2598821"/>
              <a:gd name="csX9" fmla="*/ 165501 w 5542964"/>
              <a:gd name="csY9" fmla="*/ 1134403 h 2598821"/>
              <a:gd name="csX10" fmla="*/ 113616 w 5542964"/>
              <a:gd name="csY10" fmla="*/ 1251284 h 2598821"/>
              <a:gd name="csX11" fmla="*/ 748883 w 5542964"/>
              <a:gd name="csY11" fmla="*/ 1270535 h 2598821"/>
              <a:gd name="csX12" fmla="*/ 999140 w 5542964"/>
              <a:gd name="csY12" fmla="*/ 1578543 h 2598821"/>
              <a:gd name="csX13" fmla="*/ 1047266 w 5542964"/>
              <a:gd name="csY13" fmla="*/ 1665171 h 2598821"/>
              <a:gd name="csX14" fmla="*/ 1114643 w 5542964"/>
              <a:gd name="csY14" fmla="*/ 1761423 h 2598821"/>
              <a:gd name="csX15" fmla="*/ 1172395 w 5542964"/>
              <a:gd name="csY15" fmla="*/ 1867301 h 2598821"/>
              <a:gd name="csX16" fmla="*/ 1441902 w 5542964"/>
              <a:gd name="csY16" fmla="*/ 2146434 h 2598821"/>
              <a:gd name="csX17" fmla="*/ 1730660 w 5542964"/>
              <a:gd name="csY17" fmla="*/ 2300438 h 2598821"/>
              <a:gd name="csX18" fmla="*/ 1826912 w 5542964"/>
              <a:gd name="csY18" fmla="*/ 2338939 h 2598821"/>
              <a:gd name="csX19" fmla="*/ 2086795 w 5542964"/>
              <a:gd name="csY19" fmla="*/ 2387066 h 2598821"/>
              <a:gd name="csX20" fmla="*/ 2673936 w 5542964"/>
              <a:gd name="csY20" fmla="*/ 2464068 h 2598821"/>
              <a:gd name="csX21" fmla="*/ 2991569 w 5542964"/>
              <a:gd name="csY21" fmla="*/ 2502569 h 2598821"/>
              <a:gd name="csX22" fmla="*/ 3530584 w 5542964"/>
              <a:gd name="csY22" fmla="*/ 2521819 h 2598821"/>
              <a:gd name="csX23" fmla="*/ 3915595 w 5542964"/>
              <a:gd name="csY23" fmla="*/ 2560320 h 2598821"/>
              <a:gd name="csX24" fmla="*/ 4310230 w 5542964"/>
              <a:gd name="csY24" fmla="*/ 2569946 h 2598821"/>
              <a:gd name="csX25" fmla="*/ 4791493 w 5542964"/>
              <a:gd name="csY25" fmla="*/ 2598821 h 2598821"/>
              <a:gd name="csX26" fmla="*/ 5405655 w 5542964"/>
              <a:gd name="csY26" fmla="*/ 2527084 h 2598821"/>
              <a:gd name="csX27" fmla="*/ 5537426 w 5542964"/>
              <a:gd name="csY27" fmla="*/ 2330918 h 2598821"/>
              <a:gd name="csX28" fmla="*/ 5518577 w 5542964"/>
              <a:gd name="csY28" fmla="*/ 1967063 h 2598821"/>
              <a:gd name="csX29" fmla="*/ 5521158 w 5542964"/>
              <a:gd name="csY29" fmla="*/ 1640406 h 2598821"/>
              <a:gd name="csX30" fmla="*/ 5342264 w 5542964"/>
              <a:gd name="csY30" fmla="*/ 1466800 h 2598821"/>
              <a:gd name="csX31" fmla="*/ 5274987 w 5542964"/>
              <a:gd name="csY31" fmla="*/ 1418774 h 2598821"/>
              <a:gd name="csX32" fmla="*/ 5143016 w 5542964"/>
              <a:gd name="csY32" fmla="*/ 1370949 h 2598821"/>
              <a:gd name="csX33" fmla="*/ 4957555 w 5542964"/>
              <a:gd name="csY33" fmla="*/ 1325505 h 2598821"/>
              <a:gd name="csX34" fmla="*/ 4598988 w 5542964"/>
              <a:gd name="csY34" fmla="*/ 1309036 h 2598821"/>
              <a:gd name="csX35" fmla="*/ 4435359 w 5542964"/>
              <a:gd name="csY35" fmla="*/ 1357162 h 2598821"/>
              <a:gd name="csX36" fmla="*/ 4348731 w 5542964"/>
              <a:gd name="csY36" fmla="*/ 1386038 h 2598821"/>
              <a:gd name="csX37" fmla="*/ 4213978 w 5542964"/>
              <a:gd name="csY37" fmla="*/ 1443790 h 2598821"/>
              <a:gd name="csX38" fmla="*/ 4127350 w 5542964"/>
              <a:gd name="csY38" fmla="*/ 1501541 h 2598821"/>
              <a:gd name="csX39" fmla="*/ 4031098 w 5542964"/>
              <a:gd name="csY39" fmla="*/ 1549668 h 2598821"/>
              <a:gd name="csX40" fmla="*/ 3877093 w 5542964"/>
              <a:gd name="csY40" fmla="*/ 1645920 h 2598821"/>
              <a:gd name="csX41" fmla="*/ 3828967 w 5542964"/>
              <a:gd name="csY41" fmla="*/ 1674796 h 2598821"/>
              <a:gd name="csX42" fmla="*/ 3780841 w 5542964"/>
              <a:gd name="csY42" fmla="*/ 1713297 h 2598821"/>
              <a:gd name="csX43" fmla="*/ 3723089 w 5542964"/>
              <a:gd name="csY43" fmla="*/ 1742173 h 2598821"/>
              <a:gd name="csX44" fmla="*/ 3674963 w 5542964"/>
              <a:gd name="csY44" fmla="*/ 1780674 h 2598821"/>
              <a:gd name="csX45" fmla="*/ 3597961 w 5542964"/>
              <a:gd name="csY45" fmla="*/ 1819175 h 2598821"/>
              <a:gd name="csX46" fmla="*/ 3537327 w 5542964"/>
              <a:gd name="csY46" fmla="*/ 1756962 h 2598821"/>
              <a:gd name="csX47" fmla="*/ 3472632 w 5542964"/>
              <a:gd name="csY47" fmla="*/ 1709036 h 2598821"/>
              <a:gd name="csX48" fmla="*/ 3412499 w 5542964"/>
              <a:gd name="csY48" fmla="*/ 1684722 h 2598821"/>
              <a:gd name="csX49" fmla="*/ 3357329 w 5542964"/>
              <a:gd name="csY49" fmla="*/ 1665171 h 2598821"/>
              <a:gd name="csX50" fmla="*/ 3328453 w 5542964"/>
              <a:gd name="csY50" fmla="*/ 1645920 h 2598821"/>
              <a:gd name="csX51" fmla="*/ 3261077 w 5542964"/>
              <a:gd name="csY51" fmla="*/ 1588169 h 2598821"/>
              <a:gd name="csX52" fmla="*/ 3232201 w 5542964"/>
              <a:gd name="csY52" fmla="*/ 1578543 h 2598821"/>
              <a:gd name="csX53" fmla="*/ 3155199 w 5542964"/>
              <a:gd name="csY53" fmla="*/ 1511167 h 2598821"/>
              <a:gd name="csX54" fmla="*/ 3087822 w 5542964"/>
              <a:gd name="csY54" fmla="*/ 1472666 h 2598821"/>
              <a:gd name="csX55" fmla="*/ 3039696 w 5542964"/>
              <a:gd name="csY55" fmla="*/ 1443790 h 2598821"/>
              <a:gd name="csX56" fmla="*/ 2969938 w 5542964"/>
              <a:gd name="csY56" fmla="*/ 1412232 h 2598821"/>
              <a:gd name="csX57" fmla="*/ 2914567 w 5542964"/>
              <a:gd name="csY57" fmla="*/ 1366788 h 2598821"/>
              <a:gd name="csX58" fmla="*/ 2866441 w 5542964"/>
              <a:gd name="csY58" fmla="*/ 1347537 h 2598821"/>
              <a:gd name="csX59" fmla="*/ 2789439 w 5542964"/>
              <a:gd name="csY59" fmla="*/ 1299411 h 2598821"/>
              <a:gd name="csX60" fmla="*/ 2731687 w 5542964"/>
              <a:gd name="csY60" fmla="*/ 1212783 h 2598821"/>
              <a:gd name="csX61" fmla="*/ 2760563 w 5542964"/>
              <a:gd name="csY61" fmla="*/ 577516 h 2598821"/>
              <a:gd name="csX62" fmla="*/ 2750938 w 5542964"/>
              <a:gd name="csY62" fmla="*/ 308009 h 2598821"/>
              <a:gd name="csX63" fmla="*/ 2731687 w 5542964"/>
              <a:gd name="csY63" fmla="*/ 192506 h 2598821"/>
              <a:gd name="csX64" fmla="*/ 2712437 w 5542964"/>
              <a:gd name="csY64" fmla="*/ 144379 h 2598821"/>
              <a:gd name="csX65" fmla="*/ 2654685 w 5542964"/>
              <a:gd name="csY65" fmla="*/ 77002 h 2598821"/>
              <a:gd name="csX66" fmla="*/ 2625809 w 5542964"/>
              <a:gd name="csY66" fmla="*/ 38501 h 2598821"/>
              <a:gd name="csX67" fmla="*/ 2568058 w 5542964"/>
              <a:gd name="csY67" fmla="*/ 0 h 2598821"/>
              <a:gd name="csX68" fmla="*/ 2625809 w 5542964"/>
              <a:gd name="csY68" fmla="*/ 57752 h 25988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Lst>
            <a:rect l="l" t="t" r="r" b="b"/>
            <a:pathLst>
              <a:path w="5542964" h="2598821">
                <a:moveTo>
                  <a:pt x="2625809" y="57752"/>
                </a:moveTo>
                <a:lnTo>
                  <a:pt x="55864" y="67377"/>
                </a:lnTo>
                <a:cubicBezTo>
                  <a:pt x="-83285" y="68357"/>
                  <a:pt x="93278" y="111275"/>
                  <a:pt x="10895" y="131872"/>
                </a:cubicBezTo>
                <a:cubicBezTo>
                  <a:pt x="-2972" y="312149"/>
                  <a:pt x="-284" y="381739"/>
                  <a:pt x="1370" y="543376"/>
                </a:cubicBezTo>
                <a:cubicBezTo>
                  <a:pt x="3025" y="705013"/>
                  <a:pt x="7988" y="1066399"/>
                  <a:pt x="20822" y="1101692"/>
                </a:cubicBezTo>
                <a:cubicBezTo>
                  <a:pt x="24030" y="1130568"/>
                  <a:pt x="41924" y="1194414"/>
                  <a:pt x="49498" y="1214512"/>
                </a:cubicBezTo>
                <a:cubicBezTo>
                  <a:pt x="57072" y="1234610"/>
                  <a:pt x="63024" y="1221665"/>
                  <a:pt x="66266" y="1222283"/>
                </a:cubicBezTo>
                <a:cubicBezTo>
                  <a:pt x="69508" y="1222901"/>
                  <a:pt x="65673" y="1221543"/>
                  <a:pt x="68948" y="1218222"/>
                </a:cubicBezTo>
                <a:cubicBezTo>
                  <a:pt x="72223" y="1214901"/>
                  <a:pt x="69826" y="1216326"/>
                  <a:pt x="85918" y="1202356"/>
                </a:cubicBezTo>
                <a:cubicBezTo>
                  <a:pt x="102010" y="1188386"/>
                  <a:pt x="160885" y="1126248"/>
                  <a:pt x="165501" y="1134403"/>
                </a:cubicBezTo>
                <a:cubicBezTo>
                  <a:pt x="170117" y="1142558"/>
                  <a:pt x="97574" y="1244867"/>
                  <a:pt x="113616" y="1251284"/>
                </a:cubicBezTo>
                <a:cubicBezTo>
                  <a:pt x="341655" y="1229216"/>
                  <a:pt x="521103" y="1188147"/>
                  <a:pt x="748883" y="1270535"/>
                </a:cubicBezTo>
                <a:cubicBezTo>
                  <a:pt x="816428" y="1294966"/>
                  <a:pt x="981829" y="1552120"/>
                  <a:pt x="999140" y="1578543"/>
                </a:cubicBezTo>
                <a:cubicBezTo>
                  <a:pt x="1017243" y="1606174"/>
                  <a:pt x="1029627" y="1637242"/>
                  <a:pt x="1047266" y="1665171"/>
                </a:cubicBezTo>
                <a:cubicBezTo>
                  <a:pt x="1068179" y="1698283"/>
                  <a:pt x="1094029" y="1728124"/>
                  <a:pt x="1114643" y="1761423"/>
                </a:cubicBezTo>
                <a:cubicBezTo>
                  <a:pt x="1135803" y="1795605"/>
                  <a:pt x="1149341" y="1834367"/>
                  <a:pt x="1172395" y="1867301"/>
                </a:cubicBezTo>
                <a:cubicBezTo>
                  <a:pt x="1259562" y="1991826"/>
                  <a:pt x="1316066" y="2070347"/>
                  <a:pt x="1441902" y="2146434"/>
                </a:cubicBezTo>
                <a:cubicBezTo>
                  <a:pt x="1535251" y="2202877"/>
                  <a:pt x="1629376" y="2259924"/>
                  <a:pt x="1730660" y="2300438"/>
                </a:cubicBezTo>
                <a:cubicBezTo>
                  <a:pt x="1762744" y="2313272"/>
                  <a:pt x="1793336" y="2330772"/>
                  <a:pt x="1826912" y="2338939"/>
                </a:cubicBezTo>
                <a:cubicBezTo>
                  <a:pt x="1912516" y="2359762"/>
                  <a:pt x="2000035" y="2371755"/>
                  <a:pt x="2086795" y="2387066"/>
                </a:cubicBezTo>
                <a:cubicBezTo>
                  <a:pt x="2408758" y="2443883"/>
                  <a:pt x="2281215" y="2419186"/>
                  <a:pt x="2673936" y="2464068"/>
                </a:cubicBezTo>
                <a:cubicBezTo>
                  <a:pt x="2779899" y="2476178"/>
                  <a:pt x="2885310" y="2493409"/>
                  <a:pt x="2991569" y="2502569"/>
                </a:cubicBezTo>
                <a:cubicBezTo>
                  <a:pt x="3040368" y="2506776"/>
                  <a:pt x="3513036" y="2521253"/>
                  <a:pt x="3530584" y="2521819"/>
                </a:cubicBezTo>
                <a:cubicBezTo>
                  <a:pt x="3658921" y="2534653"/>
                  <a:pt x="3786863" y="2552373"/>
                  <a:pt x="3915595" y="2560320"/>
                </a:cubicBezTo>
                <a:cubicBezTo>
                  <a:pt x="4046929" y="2568427"/>
                  <a:pt x="4178773" y="2564168"/>
                  <a:pt x="4310230" y="2569946"/>
                </a:cubicBezTo>
                <a:cubicBezTo>
                  <a:pt x="4470784" y="2577003"/>
                  <a:pt x="4631072" y="2589196"/>
                  <a:pt x="4791493" y="2598821"/>
                </a:cubicBezTo>
                <a:cubicBezTo>
                  <a:pt x="5089876" y="2589196"/>
                  <a:pt x="5281333" y="2571734"/>
                  <a:pt x="5405655" y="2527084"/>
                </a:cubicBezTo>
                <a:cubicBezTo>
                  <a:pt x="5529977" y="2482434"/>
                  <a:pt x="5518606" y="2424255"/>
                  <a:pt x="5537426" y="2330918"/>
                </a:cubicBezTo>
                <a:cubicBezTo>
                  <a:pt x="5556246" y="2237581"/>
                  <a:pt x="5521288" y="2082148"/>
                  <a:pt x="5518577" y="1967063"/>
                </a:cubicBezTo>
                <a:cubicBezTo>
                  <a:pt x="5515866" y="1851978"/>
                  <a:pt x="5514741" y="1730242"/>
                  <a:pt x="5521158" y="1640406"/>
                </a:cubicBezTo>
                <a:cubicBezTo>
                  <a:pt x="5511533" y="1419025"/>
                  <a:pt x="5383292" y="1503739"/>
                  <a:pt x="5342264" y="1466800"/>
                </a:cubicBezTo>
                <a:cubicBezTo>
                  <a:pt x="5301236" y="1429861"/>
                  <a:pt x="5308195" y="1434749"/>
                  <a:pt x="5274987" y="1418774"/>
                </a:cubicBezTo>
                <a:cubicBezTo>
                  <a:pt x="5241779" y="1402799"/>
                  <a:pt x="5195921" y="1386494"/>
                  <a:pt x="5143016" y="1370949"/>
                </a:cubicBezTo>
                <a:cubicBezTo>
                  <a:pt x="5090111" y="1355404"/>
                  <a:pt x="5024932" y="1331922"/>
                  <a:pt x="4957555" y="1325505"/>
                </a:cubicBezTo>
                <a:cubicBezTo>
                  <a:pt x="4684839" y="1331922"/>
                  <a:pt x="4686021" y="1303760"/>
                  <a:pt x="4598988" y="1309036"/>
                </a:cubicBezTo>
                <a:cubicBezTo>
                  <a:pt x="4511955" y="1314312"/>
                  <a:pt x="4494853" y="1335914"/>
                  <a:pt x="4435359" y="1357162"/>
                </a:cubicBezTo>
                <a:cubicBezTo>
                  <a:pt x="4406694" y="1367399"/>
                  <a:pt x="4377076" y="1374946"/>
                  <a:pt x="4348731" y="1386038"/>
                </a:cubicBezTo>
                <a:cubicBezTo>
                  <a:pt x="4303222" y="1403846"/>
                  <a:pt x="4213978" y="1443790"/>
                  <a:pt x="4213978" y="1443790"/>
                </a:cubicBezTo>
                <a:cubicBezTo>
                  <a:pt x="4141416" y="1516352"/>
                  <a:pt x="4213123" y="1454756"/>
                  <a:pt x="4127350" y="1501541"/>
                </a:cubicBezTo>
                <a:cubicBezTo>
                  <a:pt x="4030379" y="1554434"/>
                  <a:pt x="4108176" y="1530397"/>
                  <a:pt x="4031098" y="1549668"/>
                </a:cubicBezTo>
                <a:cubicBezTo>
                  <a:pt x="3906726" y="1620737"/>
                  <a:pt x="4021284" y="1553226"/>
                  <a:pt x="3877093" y="1645920"/>
                </a:cubicBezTo>
                <a:cubicBezTo>
                  <a:pt x="3861356" y="1656036"/>
                  <a:pt x="3843576" y="1663109"/>
                  <a:pt x="3828967" y="1674796"/>
                </a:cubicBezTo>
                <a:cubicBezTo>
                  <a:pt x="3812925" y="1687630"/>
                  <a:pt x="3798173" y="1702268"/>
                  <a:pt x="3780841" y="1713297"/>
                </a:cubicBezTo>
                <a:cubicBezTo>
                  <a:pt x="3762683" y="1724852"/>
                  <a:pt x="3741247" y="1730618"/>
                  <a:pt x="3723089" y="1742173"/>
                </a:cubicBezTo>
                <a:cubicBezTo>
                  <a:pt x="3705757" y="1753202"/>
                  <a:pt x="3692459" y="1769907"/>
                  <a:pt x="3674963" y="1780674"/>
                </a:cubicBezTo>
                <a:cubicBezTo>
                  <a:pt x="3650523" y="1795714"/>
                  <a:pt x="3620900" y="1823127"/>
                  <a:pt x="3597961" y="1819175"/>
                </a:cubicBezTo>
                <a:cubicBezTo>
                  <a:pt x="3575022" y="1815223"/>
                  <a:pt x="3558215" y="1775318"/>
                  <a:pt x="3537327" y="1756962"/>
                </a:cubicBezTo>
                <a:cubicBezTo>
                  <a:pt x="3516439" y="1738606"/>
                  <a:pt x="3493437" y="1721076"/>
                  <a:pt x="3472632" y="1709036"/>
                </a:cubicBezTo>
                <a:cubicBezTo>
                  <a:pt x="3451827" y="1696996"/>
                  <a:pt x="3431716" y="1692033"/>
                  <a:pt x="3412499" y="1684722"/>
                </a:cubicBezTo>
                <a:cubicBezTo>
                  <a:pt x="3393282" y="1677411"/>
                  <a:pt x="3371337" y="1671638"/>
                  <a:pt x="3357329" y="1665171"/>
                </a:cubicBezTo>
                <a:cubicBezTo>
                  <a:pt x="3343321" y="1658704"/>
                  <a:pt x="3337340" y="1653326"/>
                  <a:pt x="3328453" y="1645920"/>
                </a:cubicBezTo>
                <a:cubicBezTo>
                  <a:pt x="3291211" y="1614884"/>
                  <a:pt x="3306960" y="1614388"/>
                  <a:pt x="3261077" y="1588169"/>
                </a:cubicBezTo>
                <a:cubicBezTo>
                  <a:pt x="3252268" y="1583135"/>
                  <a:pt x="3241826" y="1581752"/>
                  <a:pt x="3232201" y="1578543"/>
                </a:cubicBezTo>
                <a:cubicBezTo>
                  <a:pt x="3120453" y="1494734"/>
                  <a:pt x="3271486" y="1610842"/>
                  <a:pt x="3155199" y="1511167"/>
                </a:cubicBezTo>
                <a:cubicBezTo>
                  <a:pt x="3132904" y="1492057"/>
                  <a:pt x="3113699" y="1487042"/>
                  <a:pt x="3087822" y="1472666"/>
                </a:cubicBezTo>
                <a:cubicBezTo>
                  <a:pt x="3071468" y="1463581"/>
                  <a:pt x="3059343" y="1453862"/>
                  <a:pt x="3039696" y="1443790"/>
                </a:cubicBezTo>
                <a:cubicBezTo>
                  <a:pt x="3020049" y="1433718"/>
                  <a:pt x="2995130" y="1427735"/>
                  <a:pt x="2969938" y="1412232"/>
                </a:cubicBezTo>
                <a:cubicBezTo>
                  <a:pt x="2952656" y="1401597"/>
                  <a:pt x="2931816" y="1377570"/>
                  <a:pt x="2914567" y="1366788"/>
                </a:cubicBezTo>
                <a:cubicBezTo>
                  <a:pt x="2897318" y="1356006"/>
                  <a:pt x="2881654" y="1355728"/>
                  <a:pt x="2866441" y="1347537"/>
                </a:cubicBezTo>
                <a:cubicBezTo>
                  <a:pt x="2839791" y="1333187"/>
                  <a:pt x="2789439" y="1299411"/>
                  <a:pt x="2789439" y="1299411"/>
                </a:cubicBezTo>
                <a:cubicBezTo>
                  <a:pt x="2770188" y="1270535"/>
                  <a:pt x="2730111" y="1247452"/>
                  <a:pt x="2731687" y="1212783"/>
                </a:cubicBezTo>
                <a:lnTo>
                  <a:pt x="2760563" y="577516"/>
                </a:lnTo>
                <a:cubicBezTo>
                  <a:pt x="2757355" y="487680"/>
                  <a:pt x="2755924" y="397764"/>
                  <a:pt x="2750938" y="308009"/>
                </a:cubicBezTo>
                <a:cubicBezTo>
                  <a:pt x="2749255" y="277722"/>
                  <a:pt x="2742684" y="225498"/>
                  <a:pt x="2731687" y="192506"/>
                </a:cubicBezTo>
                <a:cubicBezTo>
                  <a:pt x="2726223" y="176115"/>
                  <a:pt x="2722021" y="158755"/>
                  <a:pt x="2712437" y="144379"/>
                </a:cubicBezTo>
                <a:cubicBezTo>
                  <a:pt x="2696029" y="119767"/>
                  <a:pt x="2673416" y="99896"/>
                  <a:pt x="2654685" y="77002"/>
                </a:cubicBezTo>
                <a:cubicBezTo>
                  <a:pt x="2644526" y="64586"/>
                  <a:pt x="2638643" y="48126"/>
                  <a:pt x="2625809" y="38501"/>
                </a:cubicBezTo>
                <a:cubicBezTo>
                  <a:pt x="2555683" y="-14093"/>
                  <a:pt x="2591779" y="47444"/>
                  <a:pt x="2568058" y="0"/>
                </a:cubicBezTo>
                <a:lnTo>
                  <a:pt x="2625809" y="57752"/>
                </a:lnTo>
                <a:close/>
              </a:path>
            </a:pathLst>
          </a:custGeom>
          <a:solidFill>
            <a:srgbClr val="F2F2F2">
              <a:alpha val="9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p>
        </p:txBody>
      </p:sp>
      <p:grpSp>
        <p:nvGrpSpPr>
          <p:cNvPr id="40" name="Group 39">
            <a:extLst>
              <a:ext uri="{FF2B5EF4-FFF2-40B4-BE49-F238E27FC236}">
                <a16:creationId xmlns:a16="http://schemas.microsoft.com/office/drawing/2014/main" id="{5D0CEAB0-61C5-E5FF-36F3-375C1B3076D5}"/>
              </a:ext>
            </a:extLst>
          </p:cNvPr>
          <p:cNvGrpSpPr/>
          <p:nvPr/>
        </p:nvGrpSpPr>
        <p:grpSpPr>
          <a:xfrm>
            <a:off x="785972" y="2418387"/>
            <a:ext cx="5026151" cy="1224496"/>
            <a:chOff x="1089807" y="2723025"/>
            <a:chExt cx="5026151" cy="1224496"/>
          </a:xfrm>
        </p:grpSpPr>
        <p:sp>
          <p:nvSpPr>
            <p:cNvPr id="41" name="TextBox 40">
              <a:extLst>
                <a:ext uri="{FF2B5EF4-FFF2-40B4-BE49-F238E27FC236}">
                  <a16:creationId xmlns:a16="http://schemas.microsoft.com/office/drawing/2014/main" id="{F8305D8A-4F30-B066-A4BD-BEBD767B307F}"/>
                </a:ext>
              </a:extLst>
            </p:cNvPr>
            <p:cNvSpPr txBox="1"/>
            <p:nvPr/>
          </p:nvSpPr>
          <p:spPr>
            <a:xfrm>
              <a:off x="2264967" y="2981330"/>
              <a:ext cx="3850991" cy="707886"/>
            </a:xfrm>
            <a:prstGeom prst="rect">
              <a:avLst/>
            </a:prstGeom>
            <a:noFill/>
          </p:spPr>
          <p:txBody>
            <a:bodyPr wrap="none" rtlCol="0">
              <a:spAutoFit/>
            </a:bodyPr>
            <a:lstStyle/>
            <a:p>
              <a:r>
                <a:rPr lang="en-US" sz="2000" b="1" dirty="0">
                  <a:solidFill>
                    <a:srgbClr val="00B050"/>
                  </a:solidFill>
                </a:rPr>
                <a:t>Conceptual clarification:</a:t>
              </a:r>
            </a:p>
            <a:p>
              <a:r>
                <a:rPr lang="en-US" sz="2000" dirty="0">
                  <a:solidFill>
                    <a:srgbClr val="00B050"/>
                  </a:solidFill>
                </a:rPr>
                <a:t>Meanings are precise and explicit</a:t>
              </a:r>
            </a:p>
          </p:txBody>
        </p:sp>
        <p:grpSp>
          <p:nvGrpSpPr>
            <p:cNvPr id="42" name="Group 41">
              <a:extLst>
                <a:ext uri="{FF2B5EF4-FFF2-40B4-BE49-F238E27FC236}">
                  <a16:creationId xmlns:a16="http://schemas.microsoft.com/office/drawing/2014/main" id="{EA522D65-EFD1-7D9E-BB93-52C79470EDC7}"/>
                </a:ext>
              </a:extLst>
            </p:cNvPr>
            <p:cNvGrpSpPr/>
            <p:nvPr/>
          </p:nvGrpSpPr>
          <p:grpSpPr>
            <a:xfrm>
              <a:off x="1089807" y="2723025"/>
              <a:ext cx="1224496" cy="1224496"/>
              <a:chOff x="1089807" y="2723025"/>
              <a:chExt cx="1224496" cy="1224496"/>
            </a:xfrm>
          </p:grpSpPr>
          <p:pic>
            <p:nvPicPr>
              <p:cNvPr id="43" name="Graphic 42" descr="Excellent with solid fill">
                <a:extLst>
                  <a:ext uri="{FF2B5EF4-FFF2-40B4-BE49-F238E27FC236}">
                    <a16:creationId xmlns:a16="http://schemas.microsoft.com/office/drawing/2014/main" id="{9C889803-521A-9AA1-7719-572C2016FF1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89807" y="2723025"/>
                <a:ext cx="1224496" cy="1224496"/>
              </a:xfrm>
              <a:prstGeom prst="rect">
                <a:avLst/>
              </a:prstGeom>
            </p:spPr>
          </p:pic>
          <p:sp>
            <p:nvSpPr>
              <p:cNvPr id="44" name="TextBox 43">
                <a:extLst>
                  <a:ext uri="{FF2B5EF4-FFF2-40B4-BE49-F238E27FC236}">
                    <a16:creationId xmlns:a16="http://schemas.microsoft.com/office/drawing/2014/main" id="{977B760C-FCDC-B7D1-12BD-9F2533E0E08C}"/>
                  </a:ext>
                </a:extLst>
              </p:cNvPr>
              <p:cNvSpPr txBox="1"/>
              <p:nvPr/>
            </p:nvSpPr>
            <p:spPr>
              <a:xfrm>
                <a:off x="1527167" y="3104441"/>
                <a:ext cx="349776" cy="461665"/>
              </a:xfrm>
              <a:prstGeom prst="rect">
                <a:avLst/>
              </a:prstGeom>
              <a:noFill/>
            </p:spPr>
            <p:txBody>
              <a:bodyPr wrap="none" rtlCol="0">
                <a:spAutoFit/>
              </a:bodyPr>
              <a:lstStyle/>
              <a:p>
                <a:r>
                  <a:rPr lang="en-US" sz="2400" b="1" dirty="0">
                    <a:solidFill>
                      <a:schemeClr val="bg1"/>
                    </a:solidFill>
                  </a:rPr>
                  <a:t>1</a:t>
                </a:r>
                <a:endParaRPr lang="en-NL" sz="2400" b="1" dirty="0">
                  <a:solidFill>
                    <a:schemeClr val="bg1"/>
                  </a:solidFill>
                </a:endParaRPr>
              </a:p>
            </p:txBody>
          </p:sp>
        </p:grpSp>
      </p:grpSp>
      <p:sp>
        <p:nvSpPr>
          <p:cNvPr id="8" name="TextBox 7">
            <a:extLst>
              <a:ext uri="{FF2B5EF4-FFF2-40B4-BE49-F238E27FC236}">
                <a16:creationId xmlns:a16="http://schemas.microsoft.com/office/drawing/2014/main" id="{886C3E9D-871D-0B66-722F-C62F0FBD5D73}"/>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a:t>
            </a:r>
            <a:r>
              <a:rPr lang="en-US" sz="1200" b="1" cap="small" spc="100" dirty="0">
                <a:solidFill>
                  <a:srgbClr val="000000">
                    <a:lumMod val="95000"/>
                    <a:lumOff val="5000"/>
                  </a:srgbClr>
                </a:solidFill>
                <a:latin typeface="Aptos" panose="020B0004020202020204" pitchFamily="34" charset="0"/>
                <a:ea typeface="+mj-ea"/>
                <a:cs typeface="+mj-cs"/>
              </a:rPr>
              <a:t>1</a:t>
            </a:r>
            <a:endParaRPr lang="en-NL" sz="1000" b="1" dirty="0"/>
          </a:p>
        </p:txBody>
      </p:sp>
      <p:sp>
        <p:nvSpPr>
          <p:cNvPr id="26" name="Title 1">
            <a:extLst>
              <a:ext uri="{FF2B5EF4-FFF2-40B4-BE49-F238E27FC236}">
                <a16:creationId xmlns:a16="http://schemas.microsoft.com/office/drawing/2014/main" id="{9603FB29-44CE-0D74-5657-6927B710F6B1}"/>
              </a:ext>
            </a:extLst>
          </p:cNvPr>
          <p:cNvSpPr>
            <a:spLocks noGrp="1"/>
          </p:cNvSpPr>
          <p:nvPr>
            <p:ph type="title"/>
          </p:nvPr>
        </p:nvSpPr>
        <p:spPr>
          <a:xfrm>
            <a:off x="695325" y="385763"/>
            <a:ext cx="9153525" cy="930275"/>
          </a:xfrm>
        </p:spPr>
        <p:txBody>
          <a:bodyPr/>
          <a:lstStyle/>
          <a:p>
            <a:r>
              <a:rPr lang="en-US" sz="3600" dirty="0"/>
              <a:t>The Health-RI Conceptual Ontology</a:t>
            </a:r>
            <a:endParaRPr lang="en-NL" sz="3600" dirty="0"/>
          </a:p>
        </p:txBody>
      </p:sp>
    </p:spTree>
    <p:extLst>
      <p:ext uri="{BB962C8B-B14F-4D97-AF65-F5344CB8AC3E}">
        <p14:creationId xmlns:p14="http://schemas.microsoft.com/office/powerpoint/2010/main" val="116565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97992-E229-6AC7-07E2-2E26C5B65B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14062B-17CE-297C-493C-D77EEB321988}"/>
              </a:ext>
            </a:extLst>
          </p:cNvPr>
          <p:cNvSpPr>
            <a:spLocks noGrp="1"/>
          </p:cNvSpPr>
          <p:nvPr>
            <p:ph type="title"/>
          </p:nvPr>
        </p:nvSpPr>
        <p:spPr/>
        <p:txBody>
          <a:bodyPr/>
          <a:lstStyle/>
          <a:p>
            <a:r>
              <a:rPr lang="en-US" sz="3600" dirty="0"/>
              <a:t>HRIO Taxonomies for Sex and Gender</a:t>
            </a:r>
            <a:endParaRPr lang="en-NL" sz="3600" dirty="0"/>
          </a:p>
        </p:txBody>
      </p:sp>
      <p:sp>
        <p:nvSpPr>
          <p:cNvPr id="4" name="Slide Number Placeholder 3">
            <a:extLst>
              <a:ext uri="{FF2B5EF4-FFF2-40B4-BE49-F238E27FC236}">
                <a16:creationId xmlns:a16="http://schemas.microsoft.com/office/drawing/2014/main" id="{D40CEB31-3681-926B-116B-7D857604F7C6}"/>
              </a:ext>
            </a:extLst>
          </p:cNvPr>
          <p:cNvSpPr>
            <a:spLocks noGrp="1"/>
          </p:cNvSpPr>
          <p:nvPr>
            <p:ph type="sldNum" sz="quarter" idx="12"/>
          </p:nvPr>
        </p:nvSpPr>
        <p:spPr/>
        <p:txBody>
          <a:bodyPr/>
          <a:lstStyle/>
          <a:p>
            <a:fld id="{4FAB73BC-B049-4115-A692-8D63A059BFB8}" type="slidenum">
              <a:rPr lang="en-US" smtClean="0"/>
              <a:pPr/>
              <a:t>11</a:t>
            </a:fld>
            <a:endParaRPr lang="en-US" dirty="0"/>
          </a:p>
        </p:txBody>
      </p:sp>
      <p:grpSp>
        <p:nvGrpSpPr>
          <p:cNvPr id="66" name="Group 65">
            <a:extLst>
              <a:ext uri="{FF2B5EF4-FFF2-40B4-BE49-F238E27FC236}">
                <a16:creationId xmlns:a16="http://schemas.microsoft.com/office/drawing/2014/main" id="{D6A4639C-C10A-1890-4BF5-11488496F8EE}"/>
              </a:ext>
            </a:extLst>
          </p:cNvPr>
          <p:cNvGrpSpPr/>
          <p:nvPr/>
        </p:nvGrpSpPr>
        <p:grpSpPr>
          <a:xfrm>
            <a:off x="805760" y="1704976"/>
            <a:ext cx="10587698" cy="4200524"/>
            <a:chOff x="1560542" y="1629620"/>
            <a:chExt cx="9070915" cy="3598761"/>
          </a:xfrm>
        </p:grpSpPr>
        <p:grpSp>
          <p:nvGrpSpPr>
            <p:cNvPr id="64" name="Group 63">
              <a:extLst>
                <a:ext uri="{FF2B5EF4-FFF2-40B4-BE49-F238E27FC236}">
                  <a16:creationId xmlns:a16="http://schemas.microsoft.com/office/drawing/2014/main" id="{86BE0B36-A016-5628-5BD2-9B16BC9DF600}"/>
                </a:ext>
              </a:extLst>
            </p:cNvPr>
            <p:cNvGrpSpPr/>
            <p:nvPr/>
          </p:nvGrpSpPr>
          <p:grpSpPr>
            <a:xfrm>
              <a:off x="1560542" y="1629620"/>
              <a:ext cx="4319483" cy="3598761"/>
              <a:chOff x="1560542" y="1629620"/>
              <a:chExt cx="4319483" cy="3598761"/>
            </a:xfrm>
          </p:grpSpPr>
          <p:sp>
            <p:nvSpPr>
              <p:cNvPr id="60" name="Rectangle 59">
                <a:extLst>
                  <a:ext uri="{FF2B5EF4-FFF2-40B4-BE49-F238E27FC236}">
                    <a16:creationId xmlns:a16="http://schemas.microsoft.com/office/drawing/2014/main" id="{F3D3ACD7-6147-E07D-D763-9911B8E5892B}"/>
                  </a:ext>
                </a:extLst>
              </p:cNvPr>
              <p:cNvSpPr/>
              <p:nvPr/>
            </p:nvSpPr>
            <p:spPr>
              <a:xfrm>
                <a:off x="1560542" y="1629620"/>
                <a:ext cx="4319483" cy="3455587"/>
              </a:xfrm>
              <a:prstGeom prst="rect">
                <a:avLst/>
              </a:prstGeom>
              <a:blipFill dpi="0" rotWithShape="1">
                <a:blip r:embed="rId3"/>
                <a:srcRect/>
                <a:stretch>
                  <a:fillRect l="3945" t="12959" r="3945" b="12959"/>
                </a:stretch>
              </a:blipFill>
              <a:ln>
                <a:solidFill>
                  <a:schemeClr val="accent2"/>
                </a:solidFill>
              </a:ln>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NL"/>
              </a:p>
            </p:txBody>
          </p:sp>
          <p:sp>
            <p:nvSpPr>
              <p:cNvPr id="61" name="Freeform: Shape 60">
                <a:extLst>
                  <a:ext uri="{FF2B5EF4-FFF2-40B4-BE49-F238E27FC236}">
                    <a16:creationId xmlns:a16="http://schemas.microsoft.com/office/drawing/2014/main" id="{3313BAAD-1300-DA7A-45CE-EBE2EAB073E6}"/>
                  </a:ext>
                </a:extLst>
              </p:cNvPr>
              <p:cNvSpPr/>
              <p:nvPr/>
            </p:nvSpPr>
            <p:spPr>
              <a:xfrm>
                <a:off x="1949295" y="4739649"/>
                <a:ext cx="3844340" cy="488732"/>
              </a:xfrm>
              <a:custGeom>
                <a:avLst/>
                <a:gdLst>
                  <a:gd name="csX0" fmla="*/ 0 w 3844340"/>
                  <a:gd name="csY0" fmla="*/ 0 h 1209455"/>
                  <a:gd name="csX1" fmla="*/ 2242532 w 3844340"/>
                  <a:gd name="csY1" fmla="*/ 0 h 1209455"/>
                  <a:gd name="csX2" fmla="*/ 2700649 w 3844340"/>
                  <a:gd name="csY2" fmla="*/ -129412 h 1209455"/>
                  <a:gd name="csX3" fmla="*/ 3203617 w 3844340"/>
                  <a:gd name="csY3" fmla="*/ 0 h 1209455"/>
                  <a:gd name="csX4" fmla="*/ 3844340 w 3844340"/>
                  <a:gd name="csY4" fmla="*/ 0 h 1209455"/>
                  <a:gd name="csX5" fmla="*/ 3844340 w 3844340"/>
                  <a:gd name="csY5" fmla="*/ 201576 h 1209455"/>
                  <a:gd name="csX6" fmla="*/ 3844340 w 3844340"/>
                  <a:gd name="csY6" fmla="*/ 201576 h 1209455"/>
                  <a:gd name="csX7" fmla="*/ 3844340 w 3844340"/>
                  <a:gd name="csY7" fmla="*/ 503940 h 1209455"/>
                  <a:gd name="csX8" fmla="*/ 3844340 w 3844340"/>
                  <a:gd name="csY8" fmla="*/ 1209455 h 1209455"/>
                  <a:gd name="csX9" fmla="*/ 3203617 w 3844340"/>
                  <a:gd name="csY9" fmla="*/ 1209455 h 1209455"/>
                  <a:gd name="csX10" fmla="*/ 2242532 w 3844340"/>
                  <a:gd name="csY10" fmla="*/ 1209455 h 1209455"/>
                  <a:gd name="csX11" fmla="*/ 2242532 w 3844340"/>
                  <a:gd name="csY11" fmla="*/ 1209455 h 1209455"/>
                  <a:gd name="csX12" fmla="*/ 0 w 3844340"/>
                  <a:gd name="csY12" fmla="*/ 1209455 h 1209455"/>
                  <a:gd name="csX13" fmla="*/ 0 w 3844340"/>
                  <a:gd name="csY13" fmla="*/ 503940 h 1209455"/>
                  <a:gd name="csX14" fmla="*/ 0 w 3844340"/>
                  <a:gd name="csY14" fmla="*/ 201576 h 1209455"/>
                  <a:gd name="csX15" fmla="*/ 0 w 3844340"/>
                  <a:gd name="csY15" fmla="*/ 201576 h 1209455"/>
                  <a:gd name="csX16" fmla="*/ 0 w 3844340"/>
                  <a:gd name="csY16" fmla="*/ 0 h 12094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844340" h="1209455">
                    <a:moveTo>
                      <a:pt x="0" y="0"/>
                    </a:moveTo>
                    <a:lnTo>
                      <a:pt x="2242532" y="0"/>
                    </a:lnTo>
                    <a:lnTo>
                      <a:pt x="2700649" y="-129412"/>
                    </a:lnTo>
                    <a:lnTo>
                      <a:pt x="3203617" y="0"/>
                    </a:lnTo>
                    <a:lnTo>
                      <a:pt x="3844340" y="0"/>
                    </a:lnTo>
                    <a:lnTo>
                      <a:pt x="3844340" y="201576"/>
                    </a:lnTo>
                    <a:lnTo>
                      <a:pt x="3844340" y="201576"/>
                    </a:lnTo>
                    <a:lnTo>
                      <a:pt x="3844340" y="503940"/>
                    </a:lnTo>
                    <a:lnTo>
                      <a:pt x="3844340" y="1209455"/>
                    </a:lnTo>
                    <a:lnTo>
                      <a:pt x="3203617" y="1209455"/>
                    </a:lnTo>
                    <a:lnTo>
                      <a:pt x="2242532" y="1209455"/>
                    </a:lnTo>
                    <a:lnTo>
                      <a:pt x="2242532" y="1209455"/>
                    </a:lnTo>
                    <a:lnTo>
                      <a:pt x="0" y="1209455"/>
                    </a:lnTo>
                    <a:lnTo>
                      <a:pt x="0" y="503940"/>
                    </a:lnTo>
                    <a:lnTo>
                      <a:pt x="0" y="201576"/>
                    </a:lnTo>
                    <a:lnTo>
                      <a:pt x="0" y="201576"/>
                    </a:lnTo>
                    <a:lnTo>
                      <a:pt x="0" y="0"/>
                    </a:lnTo>
                    <a:close/>
                  </a:path>
                </a:pathLst>
              </a:custGeom>
              <a:solidFill>
                <a:schemeClr val="accent2"/>
              </a:solidFill>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209550" tIns="209550" rIns="209550" bIns="209550" numCol="1" spcCol="1270" anchor="ctr" anchorCtr="0">
                <a:noAutofit/>
              </a:bodyPr>
              <a:lstStyle/>
              <a:p>
                <a:pPr marL="0" lvl="0" indent="0" algn="ctr" defTabSz="2444750">
                  <a:lnSpc>
                    <a:spcPct val="90000"/>
                  </a:lnSpc>
                  <a:spcBef>
                    <a:spcPct val="0"/>
                  </a:spcBef>
                  <a:spcAft>
                    <a:spcPct val="35000"/>
                  </a:spcAft>
                  <a:buNone/>
                </a:pPr>
                <a:r>
                  <a:rPr lang="en-US" sz="3200" kern="1200" dirty="0"/>
                  <a:t>Sex</a:t>
                </a:r>
                <a:endParaRPr lang="en-NL" sz="3200" kern="1200" dirty="0"/>
              </a:p>
            </p:txBody>
          </p:sp>
        </p:grpSp>
        <p:grpSp>
          <p:nvGrpSpPr>
            <p:cNvPr id="65" name="Group 64">
              <a:extLst>
                <a:ext uri="{FF2B5EF4-FFF2-40B4-BE49-F238E27FC236}">
                  <a16:creationId xmlns:a16="http://schemas.microsoft.com/office/drawing/2014/main" id="{164917BD-8983-9693-E178-384CE58508EC}"/>
                </a:ext>
              </a:extLst>
            </p:cNvPr>
            <p:cNvGrpSpPr/>
            <p:nvPr/>
          </p:nvGrpSpPr>
          <p:grpSpPr>
            <a:xfrm>
              <a:off x="6311974" y="1629620"/>
              <a:ext cx="4319483" cy="3598761"/>
              <a:chOff x="6311974" y="1629620"/>
              <a:chExt cx="4319483" cy="3598761"/>
            </a:xfrm>
          </p:grpSpPr>
          <p:sp>
            <p:nvSpPr>
              <p:cNvPr id="62" name="Rectangle 61">
                <a:extLst>
                  <a:ext uri="{FF2B5EF4-FFF2-40B4-BE49-F238E27FC236}">
                    <a16:creationId xmlns:a16="http://schemas.microsoft.com/office/drawing/2014/main" id="{1896E40E-71D7-1675-47C8-EA61C49FC090}"/>
                  </a:ext>
                </a:extLst>
              </p:cNvPr>
              <p:cNvSpPr/>
              <p:nvPr/>
            </p:nvSpPr>
            <p:spPr>
              <a:xfrm>
                <a:off x="6311974" y="1629620"/>
                <a:ext cx="4319483" cy="3455587"/>
              </a:xfrm>
              <a:prstGeom prst="rect">
                <a:avLst/>
              </a:prstGeom>
              <a:blipFill dpi="0" rotWithShape="1">
                <a:blip r:embed="rId4"/>
                <a:srcRect/>
                <a:stretch>
                  <a:fillRect l="2517" t="11175" r="2517" b="11175"/>
                </a:stretch>
              </a:blipFill>
              <a:ln>
                <a:solidFill>
                  <a:schemeClr val="accent1"/>
                </a:solidFill>
              </a:ln>
            </p:spPr>
            <p:style>
              <a:lnRef idx="2">
                <a:schemeClr val="lt1">
                  <a:hueOff val="0"/>
                  <a:satOff val="0"/>
                  <a:lumOff val="0"/>
                  <a:alphaOff val="0"/>
                </a:schemeClr>
              </a:lnRef>
              <a:fillRef idx="1">
                <a:scrgbClr r="0" g="0" b="0"/>
              </a:fillRef>
              <a:effectRef idx="0">
                <a:schemeClr val="accent1">
                  <a:tint val="50000"/>
                  <a:hueOff val="-11648130"/>
                  <a:satOff val="76319"/>
                  <a:lumOff val="18296"/>
                  <a:alphaOff val="0"/>
                </a:schemeClr>
              </a:effectRef>
              <a:fontRef idx="minor">
                <a:schemeClr val="lt1">
                  <a:hueOff val="0"/>
                  <a:satOff val="0"/>
                  <a:lumOff val="0"/>
                  <a:alphaOff val="0"/>
                </a:schemeClr>
              </a:fontRef>
            </p:style>
            <p:txBody>
              <a:bodyPr/>
              <a:lstStyle/>
              <a:p>
                <a:endParaRPr lang="en-NL"/>
              </a:p>
            </p:txBody>
          </p:sp>
          <p:sp>
            <p:nvSpPr>
              <p:cNvPr id="63" name="Freeform: Shape 62">
                <a:extLst>
                  <a:ext uri="{FF2B5EF4-FFF2-40B4-BE49-F238E27FC236}">
                    <a16:creationId xmlns:a16="http://schemas.microsoft.com/office/drawing/2014/main" id="{70D1F94D-2946-D618-8A25-E61DFFF00E78}"/>
                  </a:ext>
                </a:extLst>
              </p:cNvPr>
              <p:cNvSpPr/>
              <p:nvPr/>
            </p:nvSpPr>
            <p:spPr>
              <a:xfrm>
                <a:off x="6700728" y="4739649"/>
                <a:ext cx="3844340" cy="488732"/>
              </a:xfrm>
              <a:custGeom>
                <a:avLst/>
                <a:gdLst>
                  <a:gd name="csX0" fmla="*/ 0 w 3844340"/>
                  <a:gd name="csY0" fmla="*/ 0 h 1209455"/>
                  <a:gd name="csX1" fmla="*/ 2242532 w 3844340"/>
                  <a:gd name="csY1" fmla="*/ 0 h 1209455"/>
                  <a:gd name="csX2" fmla="*/ 2700649 w 3844340"/>
                  <a:gd name="csY2" fmla="*/ -129412 h 1209455"/>
                  <a:gd name="csX3" fmla="*/ 3203617 w 3844340"/>
                  <a:gd name="csY3" fmla="*/ 0 h 1209455"/>
                  <a:gd name="csX4" fmla="*/ 3844340 w 3844340"/>
                  <a:gd name="csY4" fmla="*/ 0 h 1209455"/>
                  <a:gd name="csX5" fmla="*/ 3844340 w 3844340"/>
                  <a:gd name="csY5" fmla="*/ 201576 h 1209455"/>
                  <a:gd name="csX6" fmla="*/ 3844340 w 3844340"/>
                  <a:gd name="csY6" fmla="*/ 201576 h 1209455"/>
                  <a:gd name="csX7" fmla="*/ 3844340 w 3844340"/>
                  <a:gd name="csY7" fmla="*/ 503940 h 1209455"/>
                  <a:gd name="csX8" fmla="*/ 3844340 w 3844340"/>
                  <a:gd name="csY8" fmla="*/ 1209455 h 1209455"/>
                  <a:gd name="csX9" fmla="*/ 3203617 w 3844340"/>
                  <a:gd name="csY9" fmla="*/ 1209455 h 1209455"/>
                  <a:gd name="csX10" fmla="*/ 2242532 w 3844340"/>
                  <a:gd name="csY10" fmla="*/ 1209455 h 1209455"/>
                  <a:gd name="csX11" fmla="*/ 2242532 w 3844340"/>
                  <a:gd name="csY11" fmla="*/ 1209455 h 1209455"/>
                  <a:gd name="csX12" fmla="*/ 0 w 3844340"/>
                  <a:gd name="csY12" fmla="*/ 1209455 h 1209455"/>
                  <a:gd name="csX13" fmla="*/ 0 w 3844340"/>
                  <a:gd name="csY13" fmla="*/ 503940 h 1209455"/>
                  <a:gd name="csX14" fmla="*/ 0 w 3844340"/>
                  <a:gd name="csY14" fmla="*/ 201576 h 1209455"/>
                  <a:gd name="csX15" fmla="*/ 0 w 3844340"/>
                  <a:gd name="csY15" fmla="*/ 201576 h 1209455"/>
                  <a:gd name="csX16" fmla="*/ 0 w 3844340"/>
                  <a:gd name="csY16" fmla="*/ 0 h 12094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844340" h="1209455">
                    <a:moveTo>
                      <a:pt x="0" y="0"/>
                    </a:moveTo>
                    <a:lnTo>
                      <a:pt x="2242532" y="0"/>
                    </a:lnTo>
                    <a:lnTo>
                      <a:pt x="2700649" y="-129412"/>
                    </a:lnTo>
                    <a:lnTo>
                      <a:pt x="3203617" y="0"/>
                    </a:lnTo>
                    <a:lnTo>
                      <a:pt x="3844340" y="0"/>
                    </a:lnTo>
                    <a:lnTo>
                      <a:pt x="3844340" y="201576"/>
                    </a:lnTo>
                    <a:lnTo>
                      <a:pt x="3844340" y="201576"/>
                    </a:lnTo>
                    <a:lnTo>
                      <a:pt x="3844340" y="503940"/>
                    </a:lnTo>
                    <a:lnTo>
                      <a:pt x="3844340" y="1209455"/>
                    </a:lnTo>
                    <a:lnTo>
                      <a:pt x="3203617" y="1209455"/>
                    </a:lnTo>
                    <a:lnTo>
                      <a:pt x="2242532" y="1209455"/>
                    </a:lnTo>
                    <a:lnTo>
                      <a:pt x="2242532" y="1209455"/>
                    </a:lnTo>
                    <a:lnTo>
                      <a:pt x="0" y="1209455"/>
                    </a:lnTo>
                    <a:lnTo>
                      <a:pt x="0" y="503940"/>
                    </a:lnTo>
                    <a:lnTo>
                      <a:pt x="0" y="201576"/>
                    </a:lnTo>
                    <a:lnTo>
                      <a:pt x="0" y="201576"/>
                    </a:lnTo>
                    <a:lnTo>
                      <a:pt x="0" y="0"/>
                    </a:lnTo>
                    <a:close/>
                  </a:path>
                </a:pathLst>
              </a:custGeom>
              <a:solidFill>
                <a:schemeClr val="accent1"/>
              </a:solidFill>
              <a:ln>
                <a:solidFill>
                  <a:schemeClr val="accent1"/>
                </a:solid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209550" tIns="209550" rIns="209550" bIns="209550" numCol="1" spcCol="1270" anchor="ctr" anchorCtr="0">
                <a:noAutofit/>
              </a:bodyPr>
              <a:lstStyle/>
              <a:p>
                <a:pPr marL="0" lvl="0" indent="0" algn="ctr" defTabSz="2444750">
                  <a:lnSpc>
                    <a:spcPct val="90000"/>
                  </a:lnSpc>
                  <a:spcBef>
                    <a:spcPct val="0"/>
                  </a:spcBef>
                  <a:spcAft>
                    <a:spcPct val="35000"/>
                  </a:spcAft>
                  <a:buNone/>
                </a:pPr>
                <a:r>
                  <a:rPr lang="en-US" sz="3200" kern="1200" dirty="0"/>
                  <a:t>Gender</a:t>
                </a:r>
                <a:endParaRPr lang="en-NL" sz="3200" kern="1200" dirty="0"/>
              </a:p>
            </p:txBody>
          </p:sp>
        </p:grpSp>
      </p:grpSp>
      <p:sp>
        <p:nvSpPr>
          <p:cNvPr id="67" name="Rectangle 66">
            <a:extLst>
              <a:ext uri="{FF2B5EF4-FFF2-40B4-BE49-F238E27FC236}">
                <a16:creationId xmlns:a16="http://schemas.microsoft.com/office/drawing/2014/main" id="{8F02E293-835B-02C1-A970-19655D9AB547}"/>
              </a:ext>
            </a:extLst>
          </p:cNvPr>
          <p:cNvSpPr/>
          <p:nvPr/>
        </p:nvSpPr>
        <p:spPr>
          <a:xfrm>
            <a:off x="894660" y="2097087"/>
            <a:ext cx="1746940" cy="39052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8" name="Rectangle 67">
            <a:extLst>
              <a:ext uri="{FF2B5EF4-FFF2-40B4-BE49-F238E27FC236}">
                <a16:creationId xmlns:a16="http://schemas.microsoft.com/office/drawing/2014/main" id="{4E63156A-A2BD-1BBA-02F0-3C000D3C54EE}"/>
              </a:ext>
            </a:extLst>
          </p:cNvPr>
          <p:cNvSpPr/>
          <p:nvPr/>
        </p:nvSpPr>
        <p:spPr>
          <a:xfrm>
            <a:off x="6451600" y="2006600"/>
            <a:ext cx="1501775" cy="2857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7" name="TextBox 6">
            <a:extLst>
              <a:ext uri="{FF2B5EF4-FFF2-40B4-BE49-F238E27FC236}">
                <a16:creationId xmlns:a16="http://schemas.microsoft.com/office/drawing/2014/main" id="{58801D53-3884-8EEF-34D8-8DFA4520E2F6}"/>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a:t>
            </a:r>
            <a:r>
              <a:rPr lang="en-US" sz="1200" b="1" cap="small" spc="100" dirty="0">
                <a:solidFill>
                  <a:srgbClr val="000000">
                    <a:lumMod val="95000"/>
                    <a:lumOff val="5000"/>
                  </a:srgbClr>
                </a:solidFill>
                <a:latin typeface="Aptos" panose="020B0004020202020204" pitchFamily="34" charset="0"/>
                <a:ea typeface="+mj-ea"/>
                <a:cs typeface="+mj-cs"/>
              </a:rPr>
              <a:t>1</a:t>
            </a:r>
            <a:endParaRPr lang="en-NL" sz="1000" b="1" dirty="0"/>
          </a:p>
        </p:txBody>
      </p:sp>
    </p:spTree>
    <p:extLst>
      <p:ext uri="{BB962C8B-B14F-4D97-AF65-F5344CB8AC3E}">
        <p14:creationId xmlns:p14="http://schemas.microsoft.com/office/powerpoint/2010/main" val="10468643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468DA7-F56B-90E6-8C37-FCE93DDEF90C}"/>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45AB9760-91F1-673F-7F8F-A09A57A99B44}"/>
              </a:ext>
            </a:extLst>
          </p:cNvPr>
          <p:cNvPicPr>
            <a:picLocks noChangeAspect="1"/>
          </p:cNvPicPr>
          <p:nvPr/>
        </p:nvPicPr>
        <p:blipFill>
          <a:blip r:embed="rId3"/>
          <a:stretch>
            <a:fillRect/>
          </a:stretch>
        </p:blipFill>
        <p:spPr>
          <a:xfrm>
            <a:off x="695324" y="1567515"/>
            <a:ext cx="10801351" cy="3602108"/>
          </a:xfrm>
          <a:prstGeom prst="rect">
            <a:avLst/>
          </a:prstGeom>
        </p:spPr>
      </p:pic>
      <p:sp>
        <p:nvSpPr>
          <p:cNvPr id="2" name="Title 1">
            <a:extLst>
              <a:ext uri="{FF2B5EF4-FFF2-40B4-BE49-F238E27FC236}">
                <a16:creationId xmlns:a16="http://schemas.microsoft.com/office/drawing/2014/main" id="{415820E4-A608-E26C-EC56-E5127EF84DE0}"/>
              </a:ext>
            </a:extLst>
          </p:cNvPr>
          <p:cNvSpPr>
            <a:spLocks noGrp="1"/>
          </p:cNvSpPr>
          <p:nvPr>
            <p:ph type="title"/>
          </p:nvPr>
        </p:nvSpPr>
        <p:spPr>
          <a:xfrm>
            <a:off x="695327" y="386001"/>
            <a:ext cx="9288461" cy="929259"/>
          </a:xfrm>
        </p:spPr>
        <p:txBody>
          <a:bodyPr/>
          <a:lstStyle/>
          <a:p>
            <a:r>
              <a:rPr lang="en-US" sz="3600" dirty="0"/>
              <a:t>Variables Map to Distinct Meanings</a:t>
            </a:r>
            <a:endParaRPr lang="en-NL" sz="4400" dirty="0"/>
          </a:p>
        </p:txBody>
      </p:sp>
      <p:sp>
        <p:nvSpPr>
          <p:cNvPr id="4" name="Slide Number Placeholder 3">
            <a:extLst>
              <a:ext uri="{FF2B5EF4-FFF2-40B4-BE49-F238E27FC236}">
                <a16:creationId xmlns:a16="http://schemas.microsoft.com/office/drawing/2014/main" id="{5E76FF41-5EB3-17BA-3C8B-9A59746D4571}"/>
              </a:ext>
            </a:extLst>
          </p:cNvPr>
          <p:cNvSpPr>
            <a:spLocks noGrp="1"/>
          </p:cNvSpPr>
          <p:nvPr>
            <p:ph type="sldNum" sz="quarter" idx="12"/>
          </p:nvPr>
        </p:nvSpPr>
        <p:spPr/>
        <p:txBody>
          <a:bodyPr/>
          <a:lstStyle/>
          <a:p>
            <a:fld id="{4FAB73BC-B049-4115-A692-8D63A059BFB8}" type="slidenum">
              <a:rPr lang="en-US" smtClean="0"/>
              <a:pPr/>
              <a:t>12</a:t>
            </a:fld>
            <a:endParaRPr lang="en-US" dirty="0"/>
          </a:p>
        </p:txBody>
      </p:sp>
      <p:grpSp>
        <p:nvGrpSpPr>
          <p:cNvPr id="8" name="Group 7">
            <a:extLst>
              <a:ext uri="{FF2B5EF4-FFF2-40B4-BE49-F238E27FC236}">
                <a16:creationId xmlns:a16="http://schemas.microsoft.com/office/drawing/2014/main" id="{3AA39D5E-3313-2E69-EC55-2832ED504DE5}"/>
              </a:ext>
            </a:extLst>
          </p:cNvPr>
          <p:cNvGrpSpPr/>
          <p:nvPr/>
        </p:nvGrpSpPr>
        <p:grpSpPr>
          <a:xfrm>
            <a:off x="888191" y="4016010"/>
            <a:ext cx="3291520" cy="1838518"/>
            <a:chOff x="888191" y="4016010"/>
            <a:chExt cx="3291520" cy="1838518"/>
          </a:xfrm>
        </p:grpSpPr>
        <p:sp>
          <p:nvSpPr>
            <p:cNvPr id="18" name="Freeform: Shape 17">
              <a:extLst>
                <a:ext uri="{FF2B5EF4-FFF2-40B4-BE49-F238E27FC236}">
                  <a16:creationId xmlns:a16="http://schemas.microsoft.com/office/drawing/2014/main" id="{B5DA3D58-6A72-A25F-4D46-25F7351FF8D4}"/>
                </a:ext>
              </a:extLst>
            </p:cNvPr>
            <p:cNvSpPr/>
            <p:nvPr/>
          </p:nvSpPr>
          <p:spPr>
            <a:xfrm>
              <a:off x="888191" y="4016010"/>
              <a:ext cx="3291520" cy="822880"/>
            </a:xfrm>
            <a:custGeom>
              <a:avLst/>
              <a:gdLst>
                <a:gd name="csX0" fmla="*/ 0 w 3291520"/>
                <a:gd name="csY0" fmla="*/ 82288 h 822880"/>
                <a:gd name="csX1" fmla="*/ 82288 w 3291520"/>
                <a:gd name="csY1" fmla="*/ 0 h 822880"/>
                <a:gd name="csX2" fmla="*/ 3209232 w 3291520"/>
                <a:gd name="csY2" fmla="*/ 0 h 822880"/>
                <a:gd name="csX3" fmla="*/ 3291520 w 3291520"/>
                <a:gd name="csY3" fmla="*/ 82288 h 822880"/>
                <a:gd name="csX4" fmla="*/ 3291520 w 3291520"/>
                <a:gd name="csY4" fmla="*/ 740592 h 822880"/>
                <a:gd name="csX5" fmla="*/ 3209232 w 3291520"/>
                <a:gd name="csY5" fmla="*/ 822880 h 822880"/>
                <a:gd name="csX6" fmla="*/ 82288 w 3291520"/>
                <a:gd name="csY6" fmla="*/ 822880 h 822880"/>
                <a:gd name="csX7" fmla="*/ 0 w 3291520"/>
                <a:gd name="csY7" fmla="*/ 740592 h 822880"/>
                <a:gd name="csX8" fmla="*/ 0 w 3291520"/>
                <a:gd name="csY8" fmla="*/ 82288 h 8228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291520" h="822880">
                  <a:moveTo>
                    <a:pt x="0" y="82288"/>
                  </a:moveTo>
                  <a:cubicBezTo>
                    <a:pt x="0" y="36842"/>
                    <a:pt x="36842" y="0"/>
                    <a:pt x="82288" y="0"/>
                  </a:cubicBezTo>
                  <a:lnTo>
                    <a:pt x="3209232" y="0"/>
                  </a:lnTo>
                  <a:cubicBezTo>
                    <a:pt x="3254678" y="0"/>
                    <a:pt x="3291520" y="36842"/>
                    <a:pt x="3291520" y="82288"/>
                  </a:cubicBezTo>
                  <a:lnTo>
                    <a:pt x="3291520" y="740592"/>
                  </a:lnTo>
                  <a:cubicBezTo>
                    <a:pt x="3291520" y="786038"/>
                    <a:pt x="3254678" y="822880"/>
                    <a:pt x="3209232" y="822880"/>
                  </a:cubicBezTo>
                  <a:lnTo>
                    <a:pt x="82288" y="822880"/>
                  </a:lnTo>
                  <a:cubicBezTo>
                    <a:pt x="36842" y="822880"/>
                    <a:pt x="0" y="786038"/>
                    <a:pt x="0" y="740592"/>
                  </a:cubicBezTo>
                  <a:lnTo>
                    <a:pt x="0" y="82288"/>
                  </a:lnTo>
                  <a:close/>
                </a:path>
              </a:pathLst>
            </a:cu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0" tIns="41881" rIns="0" bIns="41881" numCol="1" spcCol="1270" anchor="ctr" anchorCtr="0">
              <a:noAutofit/>
            </a:bodyPr>
            <a:lstStyle/>
            <a:p>
              <a:pPr algn="ctr" defTabSz="622300">
                <a:spcBef>
                  <a:spcPts val="600"/>
                </a:spcBef>
              </a:pPr>
              <a:r>
                <a:rPr lang="en-US" sz="1600" b="1" dirty="0" err="1">
                  <a:latin typeface="Courier New" panose="02070309020205020404" pitchFamily="49" charset="0"/>
                  <a:cs typeface="Courier New" panose="02070309020205020404" pitchFamily="49" charset="0"/>
                </a:rPr>
                <a:t>care-sm:Sex</a:t>
              </a:r>
              <a:endParaRPr lang="en-NL" sz="1600" b="1" dirty="0">
                <a:latin typeface="Courier New" panose="02070309020205020404" pitchFamily="49" charset="0"/>
                <a:cs typeface="Courier New" panose="02070309020205020404" pitchFamily="49" charset="0"/>
              </a:endParaRPr>
            </a:p>
            <a:p>
              <a:pPr algn="ctr" defTabSz="622300">
                <a:spcBef>
                  <a:spcPts val="600"/>
                </a:spcBef>
              </a:pPr>
              <a:r>
                <a:rPr lang="en-US" sz="1600" dirty="0">
                  <a:latin typeface="Courier New" panose="02070309020205020404" pitchFamily="49" charset="0"/>
                  <a:cs typeface="Courier New" panose="02070309020205020404" pitchFamily="49" charset="0"/>
                </a:rPr>
                <a:t>“Biological sex”@</a:t>
              </a:r>
              <a:r>
                <a:rPr lang="en-US" sz="1600" dirty="0" err="1">
                  <a:latin typeface="Courier New" panose="02070309020205020404" pitchFamily="49" charset="0"/>
                  <a:cs typeface="Courier New" panose="02070309020205020404" pitchFamily="49" charset="0"/>
                </a:rPr>
                <a:t>en</a:t>
              </a:r>
              <a:endParaRPr lang="en-NL" sz="1600" dirty="0">
                <a:latin typeface="Courier New" panose="02070309020205020404" pitchFamily="49" charset="0"/>
                <a:cs typeface="Courier New" panose="02070309020205020404" pitchFamily="49" charset="0"/>
              </a:endParaRPr>
            </a:p>
          </p:txBody>
        </p:sp>
        <p:sp>
          <p:nvSpPr>
            <p:cNvPr id="20" name="Freeform: Shape 19">
              <a:extLst>
                <a:ext uri="{FF2B5EF4-FFF2-40B4-BE49-F238E27FC236}">
                  <a16:creationId xmlns:a16="http://schemas.microsoft.com/office/drawing/2014/main" id="{7216D57E-3BE3-44C3-4F24-54FC4540B99F}"/>
                </a:ext>
              </a:extLst>
            </p:cNvPr>
            <p:cNvSpPr/>
            <p:nvPr/>
          </p:nvSpPr>
          <p:spPr>
            <a:xfrm>
              <a:off x="888191" y="5031648"/>
              <a:ext cx="3291520" cy="822880"/>
            </a:xfrm>
            <a:custGeom>
              <a:avLst/>
              <a:gdLst>
                <a:gd name="csX0" fmla="*/ 0 w 3291520"/>
                <a:gd name="csY0" fmla="*/ 82288 h 822880"/>
                <a:gd name="csX1" fmla="*/ 82288 w 3291520"/>
                <a:gd name="csY1" fmla="*/ 0 h 822880"/>
                <a:gd name="csX2" fmla="*/ 3209232 w 3291520"/>
                <a:gd name="csY2" fmla="*/ 0 h 822880"/>
                <a:gd name="csX3" fmla="*/ 3291520 w 3291520"/>
                <a:gd name="csY3" fmla="*/ 82288 h 822880"/>
                <a:gd name="csX4" fmla="*/ 3291520 w 3291520"/>
                <a:gd name="csY4" fmla="*/ 740592 h 822880"/>
                <a:gd name="csX5" fmla="*/ 3209232 w 3291520"/>
                <a:gd name="csY5" fmla="*/ 822880 h 822880"/>
                <a:gd name="csX6" fmla="*/ 82288 w 3291520"/>
                <a:gd name="csY6" fmla="*/ 822880 h 822880"/>
                <a:gd name="csX7" fmla="*/ 0 w 3291520"/>
                <a:gd name="csY7" fmla="*/ 740592 h 822880"/>
                <a:gd name="csX8" fmla="*/ 0 w 3291520"/>
                <a:gd name="csY8" fmla="*/ 82288 h 8228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291520" h="822880">
                  <a:moveTo>
                    <a:pt x="0" y="82288"/>
                  </a:moveTo>
                  <a:cubicBezTo>
                    <a:pt x="0" y="36842"/>
                    <a:pt x="36842" y="0"/>
                    <a:pt x="82288" y="0"/>
                  </a:cubicBezTo>
                  <a:lnTo>
                    <a:pt x="3209232" y="0"/>
                  </a:lnTo>
                  <a:cubicBezTo>
                    <a:pt x="3254678" y="0"/>
                    <a:pt x="3291520" y="36842"/>
                    <a:pt x="3291520" y="82288"/>
                  </a:cubicBezTo>
                  <a:lnTo>
                    <a:pt x="3291520" y="740592"/>
                  </a:lnTo>
                  <a:cubicBezTo>
                    <a:pt x="3291520" y="786038"/>
                    <a:pt x="3254678" y="822880"/>
                    <a:pt x="3209232" y="822880"/>
                  </a:cubicBezTo>
                  <a:lnTo>
                    <a:pt x="82288" y="822880"/>
                  </a:lnTo>
                  <a:cubicBezTo>
                    <a:pt x="36842" y="822880"/>
                    <a:pt x="0" y="786038"/>
                    <a:pt x="0" y="740592"/>
                  </a:cubicBezTo>
                  <a:lnTo>
                    <a:pt x="0" y="82288"/>
                  </a:lnTo>
                  <a:close/>
                </a:path>
              </a:pathLst>
            </a:custGeom>
            <a:ln>
              <a:noFill/>
            </a:ln>
            <a:effectLst>
              <a:outerShdw blurRad="50800" dist="38100" dir="8100000" algn="tr" rotWithShape="0">
                <a:prstClr val="black">
                  <a:alpha val="40000"/>
                </a:prstClr>
              </a:outerShdw>
            </a:effectLst>
            <a:scene3d>
              <a:camera prst="orthographicFront">
                <a:rot lat="0" lon="0" rev="0"/>
              </a:camera>
              <a:lightRig rig="balanced" dir="t">
                <a:rot lat="0" lon="0" rev="8700000"/>
              </a:lightRig>
            </a:scene3d>
            <a:sp3d>
              <a:bevelT w="190500" h="38100"/>
            </a:sp3d>
          </p:spPr>
          <p:style>
            <a:lnRef idx="2">
              <a:schemeClr val="accent2">
                <a:shade val="15000"/>
              </a:schemeClr>
            </a:lnRef>
            <a:fillRef idx="1">
              <a:schemeClr val="accent2"/>
            </a:fillRef>
            <a:effectRef idx="0">
              <a:schemeClr val="accent2"/>
            </a:effectRef>
            <a:fontRef idx="minor">
              <a:schemeClr val="lt1"/>
            </a:fontRef>
          </p:style>
          <p:txBody>
            <a:bodyPr spcFirstLastPara="0" vert="horz" wrap="square" lIns="46961" tIns="46961" rIns="46961" bIns="46961" numCol="1" spcCol="1270" anchor="ctr" anchorCtr="0">
              <a:noAutofit/>
            </a:bodyPr>
            <a:lstStyle/>
            <a:p>
              <a:pPr marL="0" lvl="0" indent="0" algn="ctr" defTabSz="800100">
                <a:lnSpc>
                  <a:spcPct val="90000"/>
                </a:lnSpc>
                <a:spcBef>
                  <a:spcPts val="600"/>
                </a:spcBef>
                <a:buNone/>
              </a:pPr>
              <a:r>
                <a:rPr lang="en-US" sz="1600" b="1" kern="1200" dirty="0">
                  <a:latin typeface="Courier New" panose="02070309020205020404" pitchFamily="49" charset="0"/>
                  <a:cs typeface="Courier New" panose="02070309020205020404" pitchFamily="49" charset="0"/>
                </a:rPr>
                <a:t>HRIO’s Sex</a:t>
              </a:r>
              <a:endParaRPr lang="en-NL" sz="1600" b="1" kern="1200" dirty="0">
                <a:latin typeface="Courier New" panose="02070309020205020404" pitchFamily="49" charset="0"/>
                <a:cs typeface="Courier New" panose="02070309020205020404" pitchFamily="49" charset="0"/>
              </a:endParaRPr>
            </a:p>
          </p:txBody>
        </p:sp>
        <p:sp>
          <p:nvSpPr>
            <p:cNvPr id="19" name="Arrow: Right 18">
              <a:extLst>
                <a:ext uri="{FF2B5EF4-FFF2-40B4-BE49-F238E27FC236}">
                  <a16:creationId xmlns:a16="http://schemas.microsoft.com/office/drawing/2014/main" id="{399CBB2C-29D0-28D1-3F2C-8C84D2D66FC4}"/>
                </a:ext>
              </a:extLst>
            </p:cNvPr>
            <p:cNvSpPr/>
            <p:nvPr/>
          </p:nvSpPr>
          <p:spPr>
            <a:xfrm rot="5400000">
              <a:off x="2353951" y="4736515"/>
              <a:ext cx="360000" cy="432000"/>
            </a:xfrm>
            <a:prstGeom prst="rightArrow">
              <a:avLst>
                <a:gd name="adj1" fmla="val 66700"/>
                <a:gd name="adj2" fmla="val 50000"/>
              </a:avLst>
            </a:prstGeom>
            <a:solidFill>
              <a:schemeClr val="accent5">
                <a:lumMod val="75000"/>
              </a:schemeClr>
            </a:solidFill>
          </p:spPr>
          <p:style>
            <a:lnRef idx="0">
              <a:schemeClr val="accent5">
                <a:tint val="60000"/>
                <a:hueOff val="0"/>
                <a:satOff val="0"/>
                <a:lumOff val="0"/>
                <a:alphaOff val="0"/>
              </a:schemeClr>
            </a:lnRef>
            <a:fillRef idx="3">
              <a:schemeClr val="accent5">
                <a:tint val="60000"/>
                <a:hueOff val="0"/>
                <a:satOff val="0"/>
                <a:lumOff val="0"/>
                <a:alphaOff val="0"/>
              </a:schemeClr>
            </a:fillRef>
            <a:effectRef idx="2">
              <a:schemeClr val="accent5">
                <a:tint val="60000"/>
                <a:hueOff val="0"/>
                <a:satOff val="0"/>
                <a:lumOff val="0"/>
                <a:alphaOff val="0"/>
              </a:schemeClr>
            </a:effectRef>
            <a:fontRef idx="minor">
              <a:schemeClr val="lt1"/>
            </a:fontRef>
          </p:style>
          <p:txBody>
            <a:bodyPr/>
            <a:lstStyle/>
            <a:p>
              <a:endParaRPr lang="en-NL"/>
            </a:p>
          </p:txBody>
        </p:sp>
      </p:grpSp>
      <p:grpSp>
        <p:nvGrpSpPr>
          <p:cNvPr id="9" name="Group 8">
            <a:extLst>
              <a:ext uri="{FF2B5EF4-FFF2-40B4-BE49-F238E27FC236}">
                <a16:creationId xmlns:a16="http://schemas.microsoft.com/office/drawing/2014/main" id="{20E439BB-B96F-4D9D-1358-A257A5E0F2D5}"/>
              </a:ext>
            </a:extLst>
          </p:cNvPr>
          <p:cNvGrpSpPr/>
          <p:nvPr/>
        </p:nvGrpSpPr>
        <p:grpSpPr>
          <a:xfrm>
            <a:off x="4456374" y="4016010"/>
            <a:ext cx="3291520" cy="1838518"/>
            <a:chOff x="4450023" y="4016010"/>
            <a:chExt cx="3291520" cy="1838518"/>
          </a:xfrm>
        </p:grpSpPr>
        <p:sp>
          <p:nvSpPr>
            <p:cNvPr id="21" name="Freeform: Shape 20">
              <a:extLst>
                <a:ext uri="{FF2B5EF4-FFF2-40B4-BE49-F238E27FC236}">
                  <a16:creationId xmlns:a16="http://schemas.microsoft.com/office/drawing/2014/main" id="{C446BDDC-F3C0-F811-5E90-B2B98F839891}"/>
                </a:ext>
              </a:extLst>
            </p:cNvPr>
            <p:cNvSpPr/>
            <p:nvPr/>
          </p:nvSpPr>
          <p:spPr>
            <a:xfrm>
              <a:off x="4450023" y="4016010"/>
              <a:ext cx="3291520" cy="822880"/>
            </a:xfrm>
            <a:custGeom>
              <a:avLst/>
              <a:gdLst>
                <a:gd name="csX0" fmla="*/ 0 w 3291520"/>
                <a:gd name="csY0" fmla="*/ 82288 h 822880"/>
                <a:gd name="csX1" fmla="*/ 82288 w 3291520"/>
                <a:gd name="csY1" fmla="*/ 0 h 822880"/>
                <a:gd name="csX2" fmla="*/ 3209232 w 3291520"/>
                <a:gd name="csY2" fmla="*/ 0 h 822880"/>
                <a:gd name="csX3" fmla="*/ 3291520 w 3291520"/>
                <a:gd name="csY3" fmla="*/ 82288 h 822880"/>
                <a:gd name="csX4" fmla="*/ 3291520 w 3291520"/>
                <a:gd name="csY4" fmla="*/ 740592 h 822880"/>
                <a:gd name="csX5" fmla="*/ 3209232 w 3291520"/>
                <a:gd name="csY5" fmla="*/ 822880 h 822880"/>
                <a:gd name="csX6" fmla="*/ 82288 w 3291520"/>
                <a:gd name="csY6" fmla="*/ 822880 h 822880"/>
                <a:gd name="csX7" fmla="*/ 0 w 3291520"/>
                <a:gd name="csY7" fmla="*/ 740592 h 822880"/>
                <a:gd name="csX8" fmla="*/ 0 w 3291520"/>
                <a:gd name="csY8" fmla="*/ 82288 h 8228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291520" h="822880">
                  <a:moveTo>
                    <a:pt x="0" y="82288"/>
                  </a:moveTo>
                  <a:cubicBezTo>
                    <a:pt x="0" y="36842"/>
                    <a:pt x="36842" y="0"/>
                    <a:pt x="82288" y="0"/>
                  </a:cubicBezTo>
                  <a:lnTo>
                    <a:pt x="3209232" y="0"/>
                  </a:lnTo>
                  <a:cubicBezTo>
                    <a:pt x="3254678" y="0"/>
                    <a:pt x="3291520" y="36842"/>
                    <a:pt x="3291520" y="82288"/>
                  </a:cubicBezTo>
                  <a:lnTo>
                    <a:pt x="3291520" y="740592"/>
                  </a:lnTo>
                  <a:cubicBezTo>
                    <a:pt x="3291520" y="786038"/>
                    <a:pt x="3254678" y="822880"/>
                    <a:pt x="3209232" y="822880"/>
                  </a:cubicBezTo>
                  <a:lnTo>
                    <a:pt x="82288" y="822880"/>
                  </a:lnTo>
                  <a:cubicBezTo>
                    <a:pt x="36842" y="822880"/>
                    <a:pt x="0" y="786038"/>
                    <a:pt x="0" y="740592"/>
                  </a:cubicBezTo>
                  <a:lnTo>
                    <a:pt x="0" y="82288"/>
                  </a:lnTo>
                  <a:close/>
                </a:path>
              </a:pathLst>
            </a:cu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0" tIns="41881" rIns="0" bIns="41881" numCol="1" spcCol="1270" anchor="ctr" anchorCtr="0">
              <a:noAutofit/>
            </a:bodyPr>
            <a:lstStyle/>
            <a:p>
              <a:pPr algn="ctr" defTabSz="622300">
                <a:spcBef>
                  <a:spcPts val="600"/>
                </a:spcBef>
              </a:pPr>
              <a:r>
                <a:rPr lang="en-US" sz="1600" b="1" dirty="0" err="1">
                  <a:latin typeface="Courier New" panose="02070309020205020404" pitchFamily="49" charset="0"/>
                  <a:cs typeface="Courier New" panose="02070309020205020404" pitchFamily="49" charset="0"/>
                </a:rPr>
                <a:t>hri-openehr:legal-gender</a:t>
              </a:r>
              <a:endParaRPr lang="en-NL" sz="1600" b="1" dirty="0">
                <a:latin typeface="Courier New" panose="02070309020205020404" pitchFamily="49" charset="0"/>
                <a:cs typeface="Courier New" panose="02070309020205020404" pitchFamily="49" charset="0"/>
              </a:endParaRPr>
            </a:p>
            <a:p>
              <a:pPr algn="ctr" defTabSz="622300">
                <a:spcBef>
                  <a:spcPts val="600"/>
                </a:spcBef>
              </a:pPr>
              <a:r>
                <a:rPr lang="en-US" sz="1600" dirty="0">
                  <a:latin typeface="Courier New" panose="02070309020205020404" pitchFamily="49" charset="0"/>
                  <a:cs typeface="Courier New" panose="02070309020205020404" pitchFamily="49" charset="0"/>
                </a:rPr>
                <a:t>“Legal gender”@</a:t>
              </a:r>
              <a:r>
                <a:rPr lang="en-US" sz="1600" dirty="0" err="1">
                  <a:latin typeface="Courier New" panose="02070309020205020404" pitchFamily="49" charset="0"/>
                  <a:cs typeface="Courier New" panose="02070309020205020404" pitchFamily="49" charset="0"/>
                </a:rPr>
                <a:t>en</a:t>
              </a:r>
              <a:endParaRPr lang="en-NL" sz="1600" dirty="0">
                <a:latin typeface="Courier New" panose="02070309020205020404" pitchFamily="49" charset="0"/>
                <a:cs typeface="Courier New" panose="02070309020205020404" pitchFamily="49" charset="0"/>
              </a:endParaRPr>
            </a:p>
          </p:txBody>
        </p:sp>
        <p:sp>
          <p:nvSpPr>
            <p:cNvPr id="23" name="Freeform: Shape 22">
              <a:extLst>
                <a:ext uri="{FF2B5EF4-FFF2-40B4-BE49-F238E27FC236}">
                  <a16:creationId xmlns:a16="http://schemas.microsoft.com/office/drawing/2014/main" id="{1B5243F9-3C79-26EB-5ACC-8DD536A33D87}"/>
                </a:ext>
              </a:extLst>
            </p:cNvPr>
            <p:cNvSpPr/>
            <p:nvPr/>
          </p:nvSpPr>
          <p:spPr>
            <a:xfrm>
              <a:off x="4450023" y="5031648"/>
              <a:ext cx="3291520" cy="822880"/>
            </a:xfrm>
            <a:custGeom>
              <a:avLst/>
              <a:gdLst>
                <a:gd name="csX0" fmla="*/ 0 w 3291520"/>
                <a:gd name="csY0" fmla="*/ 82288 h 822880"/>
                <a:gd name="csX1" fmla="*/ 82288 w 3291520"/>
                <a:gd name="csY1" fmla="*/ 0 h 822880"/>
                <a:gd name="csX2" fmla="*/ 3209232 w 3291520"/>
                <a:gd name="csY2" fmla="*/ 0 h 822880"/>
                <a:gd name="csX3" fmla="*/ 3291520 w 3291520"/>
                <a:gd name="csY3" fmla="*/ 82288 h 822880"/>
                <a:gd name="csX4" fmla="*/ 3291520 w 3291520"/>
                <a:gd name="csY4" fmla="*/ 740592 h 822880"/>
                <a:gd name="csX5" fmla="*/ 3209232 w 3291520"/>
                <a:gd name="csY5" fmla="*/ 822880 h 822880"/>
                <a:gd name="csX6" fmla="*/ 82288 w 3291520"/>
                <a:gd name="csY6" fmla="*/ 822880 h 822880"/>
                <a:gd name="csX7" fmla="*/ 0 w 3291520"/>
                <a:gd name="csY7" fmla="*/ 740592 h 822880"/>
                <a:gd name="csX8" fmla="*/ 0 w 3291520"/>
                <a:gd name="csY8" fmla="*/ 82288 h 8228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291520" h="822880">
                  <a:moveTo>
                    <a:pt x="0" y="82288"/>
                  </a:moveTo>
                  <a:cubicBezTo>
                    <a:pt x="0" y="36842"/>
                    <a:pt x="36842" y="0"/>
                    <a:pt x="82288" y="0"/>
                  </a:cubicBezTo>
                  <a:lnTo>
                    <a:pt x="3209232" y="0"/>
                  </a:lnTo>
                  <a:cubicBezTo>
                    <a:pt x="3254678" y="0"/>
                    <a:pt x="3291520" y="36842"/>
                    <a:pt x="3291520" y="82288"/>
                  </a:cubicBezTo>
                  <a:lnTo>
                    <a:pt x="3291520" y="740592"/>
                  </a:lnTo>
                  <a:cubicBezTo>
                    <a:pt x="3291520" y="786038"/>
                    <a:pt x="3254678" y="822880"/>
                    <a:pt x="3209232" y="822880"/>
                  </a:cubicBezTo>
                  <a:lnTo>
                    <a:pt x="82288" y="822880"/>
                  </a:lnTo>
                  <a:cubicBezTo>
                    <a:pt x="36842" y="822880"/>
                    <a:pt x="0" y="786038"/>
                    <a:pt x="0" y="740592"/>
                  </a:cubicBezTo>
                  <a:lnTo>
                    <a:pt x="0" y="82288"/>
                  </a:lnTo>
                  <a:close/>
                </a:path>
              </a:pathLst>
            </a:cu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2">
                <a:shade val="15000"/>
              </a:schemeClr>
            </a:lnRef>
            <a:fillRef idx="1">
              <a:schemeClr val="accent2"/>
            </a:fillRef>
            <a:effectRef idx="0">
              <a:schemeClr val="accent2"/>
            </a:effectRef>
            <a:fontRef idx="minor">
              <a:schemeClr val="lt1"/>
            </a:fontRef>
          </p:style>
          <p:txBody>
            <a:bodyPr spcFirstLastPara="0" vert="horz" wrap="square" lIns="46961" tIns="46961" rIns="46961" bIns="46961" numCol="1" spcCol="1270" anchor="ctr" anchorCtr="0">
              <a:noAutofit/>
            </a:bodyPr>
            <a:lstStyle/>
            <a:p>
              <a:pPr marL="0" lvl="0" indent="0" algn="ctr" defTabSz="800100">
                <a:lnSpc>
                  <a:spcPct val="90000"/>
                </a:lnSpc>
                <a:spcBef>
                  <a:spcPts val="0"/>
                </a:spcBef>
                <a:spcAft>
                  <a:spcPts val="600"/>
                </a:spcAft>
                <a:buNone/>
              </a:pPr>
              <a:r>
                <a:rPr lang="en-US" sz="1600" b="1" kern="1200" dirty="0">
                  <a:latin typeface="Courier New" panose="02070309020205020404" pitchFamily="49" charset="0"/>
                  <a:cs typeface="Courier New" panose="02070309020205020404" pitchFamily="49" charset="0"/>
                </a:rPr>
                <a:t>HRIO’s Legal Gender</a:t>
              </a:r>
              <a:endParaRPr lang="en-NL" sz="1600" b="1" kern="1200" dirty="0">
                <a:latin typeface="Courier New" panose="02070309020205020404" pitchFamily="49" charset="0"/>
                <a:cs typeface="Courier New" panose="02070309020205020404" pitchFamily="49" charset="0"/>
              </a:endParaRPr>
            </a:p>
          </p:txBody>
        </p:sp>
        <p:sp>
          <p:nvSpPr>
            <p:cNvPr id="22" name="Arrow: Right 21">
              <a:extLst>
                <a:ext uri="{FF2B5EF4-FFF2-40B4-BE49-F238E27FC236}">
                  <a16:creationId xmlns:a16="http://schemas.microsoft.com/office/drawing/2014/main" id="{C4A881DA-D55F-432A-C087-2841428580AB}"/>
                </a:ext>
              </a:extLst>
            </p:cNvPr>
            <p:cNvSpPr/>
            <p:nvPr/>
          </p:nvSpPr>
          <p:spPr>
            <a:xfrm rot="5400000">
              <a:off x="5930086" y="4736515"/>
              <a:ext cx="360000" cy="432000"/>
            </a:xfrm>
            <a:prstGeom prst="rightArrow">
              <a:avLst>
                <a:gd name="adj1" fmla="val 66700"/>
                <a:gd name="adj2" fmla="val 50000"/>
              </a:avLst>
            </a:prstGeom>
            <a:solidFill>
              <a:schemeClr val="accent5">
                <a:lumMod val="75000"/>
              </a:schemeClr>
            </a:solidFill>
          </p:spPr>
          <p:style>
            <a:lnRef idx="0">
              <a:schemeClr val="accent5">
                <a:tint val="60000"/>
                <a:hueOff val="0"/>
                <a:satOff val="0"/>
                <a:lumOff val="0"/>
                <a:alphaOff val="0"/>
              </a:schemeClr>
            </a:lnRef>
            <a:fillRef idx="3">
              <a:schemeClr val="accent5">
                <a:tint val="60000"/>
                <a:hueOff val="0"/>
                <a:satOff val="0"/>
                <a:lumOff val="0"/>
                <a:alphaOff val="0"/>
              </a:schemeClr>
            </a:fillRef>
            <a:effectRef idx="2">
              <a:schemeClr val="accent5">
                <a:tint val="60000"/>
                <a:hueOff val="0"/>
                <a:satOff val="0"/>
                <a:lumOff val="0"/>
                <a:alphaOff val="0"/>
              </a:schemeClr>
            </a:effectRef>
            <a:fontRef idx="minor">
              <a:schemeClr val="lt1"/>
            </a:fontRef>
          </p:style>
          <p:txBody>
            <a:bodyPr/>
            <a:lstStyle/>
            <a:p>
              <a:endParaRPr lang="en-NL"/>
            </a:p>
          </p:txBody>
        </p:sp>
      </p:grpSp>
      <p:grpSp>
        <p:nvGrpSpPr>
          <p:cNvPr id="10" name="Group 9">
            <a:extLst>
              <a:ext uri="{FF2B5EF4-FFF2-40B4-BE49-F238E27FC236}">
                <a16:creationId xmlns:a16="http://schemas.microsoft.com/office/drawing/2014/main" id="{BAD5496C-B1EE-A72F-BDF3-74B04BE79E33}"/>
              </a:ext>
            </a:extLst>
          </p:cNvPr>
          <p:cNvGrpSpPr/>
          <p:nvPr/>
        </p:nvGrpSpPr>
        <p:grpSpPr>
          <a:xfrm>
            <a:off x="8024556" y="4016010"/>
            <a:ext cx="3291520" cy="1838518"/>
            <a:chOff x="8024556" y="4016010"/>
            <a:chExt cx="3291520" cy="1838518"/>
          </a:xfrm>
        </p:grpSpPr>
        <p:sp>
          <p:nvSpPr>
            <p:cNvPr id="24" name="Freeform: Shape 23">
              <a:extLst>
                <a:ext uri="{FF2B5EF4-FFF2-40B4-BE49-F238E27FC236}">
                  <a16:creationId xmlns:a16="http://schemas.microsoft.com/office/drawing/2014/main" id="{4C5DCE7D-9E3A-26D3-8859-426BF5A97925}"/>
                </a:ext>
              </a:extLst>
            </p:cNvPr>
            <p:cNvSpPr/>
            <p:nvPr/>
          </p:nvSpPr>
          <p:spPr>
            <a:xfrm>
              <a:off x="8024556" y="4016010"/>
              <a:ext cx="3291520" cy="822880"/>
            </a:xfrm>
            <a:custGeom>
              <a:avLst/>
              <a:gdLst>
                <a:gd name="csX0" fmla="*/ 0 w 3291520"/>
                <a:gd name="csY0" fmla="*/ 82288 h 822880"/>
                <a:gd name="csX1" fmla="*/ 82288 w 3291520"/>
                <a:gd name="csY1" fmla="*/ 0 h 822880"/>
                <a:gd name="csX2" fmla="*/ 3209232 w 3291520"/>
                <a:gd name="csY2" fmla="*/ 0 h 822880"/>
                <a:gd name="csX3" fmla="*/ 3291520 w 3291520"/>
                <a:gd name="csY3" fmla="*/ 82288 h 822880"/>
                <a:gd name="csX4" fmla="*/ 3291520 w 3291520"/>
                <a:gd name="csY4" fmla="*/ 740592 h 822880"/>
                <a:gd name="csX5" fmla="*/ 3209232 w 3291520"/>
                <a:gd name="csY5" fmla="*/ 822880 h 822880"/>
                <a:gd name="csX6" fmla="*/ 82288 w 3291520"/>
                <a:gd name="csY6" fmla="*/ 822880 h 822880"/>
                <a:gd name="csX7" fmla="*/ 0 w 3291520"/>
                <a:gd name="csY7" fmla="*/ 740592 h 822880"/>
                <a:gd name="csX8" fmla="*/ 0 w 3291520"/>
                <a:gd name="csY8" fmla="*/ 82288 h 8228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291520" h="822880">
                  <a:moveTo>
                    <a:pt x="0" y="82288"/>
                  </a:moveTo>
                  <a:cubicBezTo>
                    <a:pt x="0" y="36842"/>
                    <a:pt x="36842" y="0"/>
                    <a:pt x="82288" y="0"/>
                  </a:cubicBezTo>
                  <a:lnTo>
                    <a:pt x="3209232" y="0"/>
                  </a:lnTo>
                  <a:cubicBezTo>
                    <a:pt x="3254678" y="0"/>
                    <a:pt x="3291520" y="36842"/>
                    <a:pt x="3291520" y="82288"/>
                  </a:cubicBezTo>
                  <a:lnTo>
                    <a:pt x="3291520" y="740592"/>
                  </a:lnTo>
                  <a:cubicBezTo>
                    <a:pt x="3291520" y="786038"/>
                    <a:pt x="3254678" y="822880"/>
                    <a:pt x="3209232" y="822880"/>
                  </a:cubicBezTo>
                  <a:lnTo>
                    <a:pt x="82288" y="822880"/>
                  </a:lnTo>
                  <a:cubicBezTo>
                    <a:pt x="36842" y="822880"/>
                    <a:pt x="0" y="786038"/>
                    <a:pt x="0" y="740592"/>
                  </a:cubicBezTo>
                  <a:lnTo>
                    <a:pt x="0" y="82288"/>
                  </a:lnTo>
                  <a:close/>
                </a:path>
              </a:pathLst>
            </a:cu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0" tIns="41881" rIns="0" bIns="41881" numCol="1" spcCol="1270" anchor="ctr" anchorCtr="0">
              <a:noAutofit/>
            </a:bodyPr>
            <a:lstStyle/>
            <a:p>
              <a:pPr lvl="0" algn="ctr" defTabSz="622300">
                <a:spcBef>
                  <a:spcPts val="600"/>
                </a:spcBef>
              </a:pPr>
              <a:r>
                <a:rPr lang="en-US" sz="1600" b="1" dirty="0">
                  <a:latin typeface="Courier New" panose="02070309020205020404" pitchFamily="49" charset="0"/>
                  <a:cs typeface="Courier New" panose="02070309020205020404" pitchFamily="49" charset="0"/>
                </a:rPr>
                <a:t>loinc:107454-1</a:t>
              </a:r>
            </a:p>
            <a:p>
              <a:pPr lvl="0" algn="ctr" defTabSz="622300">
                <a:spcBef>
                  <a:spcPts val="600"/>
                </a:spcBef>
              </a:pPr>
              <a:r>
                <a:rPr lang="en-US" sz="1600" dirty="0">
                  <a:latin typeface="Courier New" panose="02070309020205020404" pitchFamily="49" charset="0"/>
                  <a:cs typeface="Courier New" panose="02070309020205020404" pitchFamily="49" charset="0"/>
                </a:rPr>
                <a:t>“Administrative gender”@</a:t>
              </a:r>
              <a:r>
                <a:rPr lang="en-US" sz="1600" dirty="0" err="1">
                  <a:latin typeface="Courier New" panose="02070309020205020404" pitchFamily="49" charset="0"/>
                  <a:cs typeface="Courier New" panose="02070309020205020404" pitchFamily="49" charset="0"/>
                </a:rPr>
                <a:t>en</a:t>
              </a:r>
              <a:endParaRPr lang="en-US" sz="1600" dirty="0">
                <a:latin typeface="Courier New" panose="02070309020205020404" pitchFamily="49" charset="0"/>
                <a:cs typeface="Courier New" panose="02070309020205020404" pitchFamily="49" charset="0"/>
              </a:endParaRPr>
            </a:p>
          </p:txBody>
        </p:sp>
        <p:sp>
          <p:nvSpPr>
            <p:cNvPr id="26" name="Freeform: Shape 25">
              <a:extLst>
                <a:ext uri="{FF2B5EF4-FFF2-40B4-BE49-F238E27FC236}">
                  <a16:creationId xmlns:a16="http://schemas.microsoft.com/office/drawing/2014/main" id="{0320FB1C-10D6-354F-AD29-D596FBA8E345}"/>
                </a:ext>
              </a:extLst>
            </p:cNvPr>
            <p:cNvSpPr/>
            <p:nvPr/>
          </p:nvSpPr>
          <p:spPr>
            <a:xfrm>
              <a:off x="8024556" y="5031648"/>
              <a:ext cx="3291520" cy="822880"/>
            </a:xfrm>
            <a:custGeom>
              <a:avLst/>
              <a:gdLst>
                <a:gd name="csX0" fmla="*/ 0 w 3291520"/>
                <a:gd name="csY0" fmla="*/ 82288 h 822880"/>
                <a:gd name="csX1" fmla="*/ 82288 w 3291520"/>
                <a:gd name="csY1" fmla="*/ 0 h 822880"/>
                <a:gd name="csX2" fmla="*/ 3209232 w 3291520"/>
                <a:gd name="csY2" fmla="*/ 0 h 822880"/>
                <a:gd name="csX3" fmla="*/ 3291520 w 3291520"/>
                <a:gd name="csY3" fmla="*/ 82288 h 822880"/>
                <a:gd name="csX4" fmla="*/ 3291520 w 3291520"/>
                <a:gd name="csY4" fmla="*/ 740592 h 822880"/>
                <a:gd name="csX5" fmla="*/ 3209232 w 3291520"/>
                <a:gd name="csY5" fmla="*/ 822880 h 822880"/>
                <a:gd name="csX6" fmla="*/ 82288 w 3291520"/>
                <a:gd name="csY6" fmla="*/ 822880 h 822880"/>
                <a:gd name="csX7" fmla="*/ 0 w 3291520"/>
                <a:gd name="csY7" fmla="*/ 740592 h 822880"/>
                <a:gd name="csX8" fmla="*/ 0 w 3291520"/>
                <a:gd name="csY8" fmla="*/ 82288 h 8228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291520" h="822880">
                  <a:moveTo>
                    <a:pt x="0" y="82288"/>
                  </a:moveTo>
                  <a:cubicBezTo>
                    <a:pt x="0" y="36842"/>
                    <a:pt x="36842" y="0"/>
                    <a:pt x="82288" y="0"/>
                  </a:cubicBezTo>
                  <a:lnTo>
                    <a:pt x="3209232" y="0"/>
                  </a:lnTo>
                  <a:cubicBezTo>
                    <a:pt x="3254678" y="0"/>
                    <a:pt x="3291520" y="36842"/>
                    <a:pt x="3291520" y="82288"/>
                  </a:cubicBezTo>
                  <a:lnTo>
                    <a:pt x="3291520" y="740592"/>
                  </a:lnTo>
                  <a:cubicBezTo>
                    <a:pt x="3291520" y="786038"/>
                    <a:pt x="3254678" y="822880"/>
                    <a:pt x="3209232" y="822880"/>
                  </a:cubicBezTo>
                  <a:lnTo>
                    <a:pt x="82288" y="822880"/>
                  </a:lnTo>
                  <a:cubicBezTo>
                    <a:pt x="36842" y="822880"/>
                    <a:pt x="0" y="786038"/>
                    <a:pt x="0" y="740592"/>
                  </a:cubicBezTo>
                  <a:lnTo>
                    <a:pt x="0" y="82288"/>
                  </a:lnTo>
                  <a:close/>
                </a:path>
              </a:pathLst>
            </a:cu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2">
                <a:shade val="15000"/>
              </a:schemeClr>
            </a:lnRef>
            <a:fillRef idx="1">
              <a:schemeClr val="accent2"/>
            </a:fillRef>
            <a:effectRef idx="0">
              <a:schemeClr val="accent2"/>
            </a:effectRef>
            <a:fontRef idx="minor">
              <a:schemeClr val="lt1"/>
            </a:fontRef>
          </p:style>
          <p:txBody>
            <a:bodyPr spcFirstLastPara="0" vert="horz" wrap="square" lIns="46961" tIns="46961" rIns="46961" bIns="46961" numCol="1" spcCol="1270" anchor="ctr" anchorCtr="0">
              <a:noAutofit/>
            </a:bodyPr>
            <a:lstStyle/>
            <a:p>
              <a:pPr marL="0" lvl="0" indent="0" algn="ctr" defTabSz="800100">
                <a:lnSpc>
                  <a:spcPct val="90000"/>
                </a:lnSpc>
                <a:spcBef>
                  <a:spcPts val="0"/>
                </a:spcBef>
                <a:spcAft>
                  <a:spcPts val="600"/>
                </a:spcAft>
                <a:buNone/>
              </a:pPr>
              <a:r>
                <a:rPr lang="en-US" sz="1600" b="1" kern="1200" dirty="0">
                  <a:latin typeface="Courier New" panose="02070309020205020404" pitchFamily="49" charset="0"/>
                  <a:cs typeface="Courier New" panose="02070309020205020404" pitchFamily="49" charset="0"/>
                </a:rPr>
                <a:t>HRIO’s Administrative Gender</a:t>
              </a:r>
              <a:endParaRPr lang="en-NL" sz="1600" b="1" kern="1200" dirty="0">
                <a:latin typeface="Courier New" panose="02070309020205020404" pitchFamily="49" charset="0"/>
                <a:cs typeface="Courier New" panose="02070309020205020404" pitchFamily="49" charset="0"/>
              </a:endParaRPr>
            </a:p>
          </p:txBody>
        </p:sp>
        <p:sp>
          <p:nvSpPr>
            <p:cNvPr id="25" name="Arrow: Right 24">
              <a:extLst>
                <a:ext uri="{FF2B5EF4-FFF2-40B4-BE49-F238E27FC236}">
                  <a16:creationId xmlns:a16="http://schemas.microsoft.com/office/drawing/2014/main" id="{226D901C-0DDD-18D2-B0A8-2326CD33E155}"/>
                </a:ext>
              </a:extLst>
            </p:cNvPr>
            <p:cNvSpPr/>
            <p:nvPr/>
          </p:nvSpPr>
          <p:spPr>
            <a:xfrm rot="5400000">
              <a:off x="9518924" y="4736515"/>
              <a:ext cx="360000" cy="432000"/>
            </a:xfrm>
            <a:prstGeom prst="rightArrow">
              <a:avLst>
                <a:gd name="adj1" fmla="val 66700"/>
                <a:gd name="adj2" fmla="val 50000"/>
              </a:avLst>
            </a:prstGeom>
            <a:solidFill>
              <a:schemeClr val="accent5">
                <a:lumMod val="75000"/>
              </a:schemeClr>
            </a:solidFill>
          </p:spPr>
          <p:style>
            <a:lnRef idx="0">
              <a:schemeClr val="accent5">
                <a:tint val="60000"/>
                <a:hueOff val="0"/>
                <a:satOff val="0"/>
                <a:lumOff val="0"/>
                <a:alphaOff val="0"/>
              </a:schemeClr>
            </a:lnRef>
            <a:fillRef idx="3">
              <a:schemeClr val="accent5">
                <a:tint val="60000"/>
                <a:hueOff val="0"/>
                <a:satOff val="0"/>
                <a:lumOff val="0"/>
                <a:alphaOff val="0"/>
              </a:schemeClr>
            </a:fillRef>
            <a:effectRef idx="2">
              <a:schemeClr val="accent5">
                <a:tint val="60000"/>
                <a:hueOff val="0"/>
                <a:satOff val="0"/>
                <a:lumOff val="0"/>
                <a:alphaOff val="0"/>
              </a:schemeClr>
            </a:effectRef>
            <a:fontRef idx="minor">
              <a:schemeClr val="lt1"/>
            </a:fontRef>
          </p:style>
          <p:txBody>
            <a:bodyPr/>
            <a:lstStyle/>
            <a:p>
              <a:endParaRPr lang="en-NL"/>
            </a:p>
          </p:txBody>
        </p:sp>
      </p:grpSp>
      <p:sp>
        <p:nvSpPr>
          <p:cNvPr id="5" name="TextBox 4">
            <a:extLst>
              <a:ext uri="{FF2B5EF4-FFF2-40B4-BE49-F238E27FC236}">
                <a16:creationId xmlns:a16="http://schemas.microsoft.com/office/drawing/2014/main" id="{512B64B0-3D4D-BCC7-92C8-173B320D7758}"/>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a:t>
            </a:r>
            <a:r>
              <a:rPr lang="en-US" sz="1200" b="1" cap="small" spc="100" dirty="0">
                <a:solidFill>
                  <a:srgbClr val="000000">
                    <a:lumMod val="95000"/>
                    <a:lumOff val="5000"/>
                  </a:srgbClr>
                </a:solidFill>
                <a:latin typeface="Aptos" panose="020B0004020202020204" pitchFamily="34" charset="0"/>
                <a:ea typeface="+mj-ea"/>
                <a:cs typeface="+mj-cs"/>
              </a:rPr>
              <a:t>1</a:t>
            </a:r>
            <a:endParaRPr lang="en-NL" sz="1000" b="1" dirty="0"/>
          </a:p>
        </p:txBody>
      </p:sp>
    </p:spTree>
    <p:extLst>
      <p:ext uri="{BB962C8B-B14F-4D97-AF65-F5344CB8AC3E}">
        <p14:creationId xmlns:p14="http://schemas.microsoft.com/office/powerpoint/2010/main" val="4732731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31EFCC-225A-A07D-5F9E-307C838D810D}"/>
            </a:ext>
          </a:extLst>
        </p:cNvPr>
        <p:cNvGrpSpPr/>
        <p:nvPr/>
      </p:nvGrpSpPr>
      <p:grpSpPr>
        <a:xfrm>
          <a:off x="0" y="0"/>
          <a:ext cx="0" cy="0"/>
          <a:chOff x="0" y="0"/>
          <a:chExt cx="0" cy="0"/>
        </a:xfrm>
      </p:grpSpPr>
      <p:graphicFrame>
        <p:nvGraphicFramePr>
          <p:cNvPr id="57" name="Content Placeholder 4">
            <a:extLst>
              <a:ext uri="{FF2B5EF4-FFF2-40B4-BE49-F238E27FC236}">
                <a16:creationId xmlns:a16="http://schemas.microsoft.com/office/drawing/2014/main" id="{DF5E1460-AFF6-B0E6-CEC9-A75F9114814B}"/>
              </a:ext>
            </a:extLst>
          </p:cNvPr>
          <p:cNvGraphicFramePr>
            <a:graphicFrameLocks/>
          </p:cNvGraphicFramePr>
          <p:nvPr>
            <p:extLst>
              <p:ext uri="{D42A27DB-BD31-4B8C-83A1-F6EECF244321}">
                <p14:modId xmlns:p14="http://schemas.microsoft.com/office/powerpoint/2010/main" val="302257295"/>
              </p:ext>
            </p:extLst>
          </p:nvPr>
        </p:nvGraphicFramePr>
        <p:xfrm>
          <a:off x="8040280" y="3118199"/>
          <a:ext cx="2811677" cy="1278051"/>
        </p:xfrm>
        <a:graphic>
          <a:graphicData uri="http://schemas.openxmlformats.org/drawingml/2006/table">
            <a:tbl>
              <a:tblPr firstRow="1" bandRow="1">
                <a:effectLst>
                  <a:outerShdw blurRad="50800" dist="38100" dir="2700000" algn="tl" rotWithShape="0">
                    <a:prstClr val="black">
                      <a:alpha val="40000"/>
                    </a:prstClr>
                  </a:outerShdw>
                </a:effectLst>
                <a:tableStyleId>{21E4AEA4-8DFA-4A89-87EB-49C32662AFE0}</a:tableStyleId>
              </a:tblPr>
              <a:tblGrid>
                <a:gridCol w="360000">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67200">
                <a:tc>
                  <a:txBody>
                    <a:bodyPr/>
                    <a:lstStyle/>
                    <a:p>
                      <a:pPr algn="l"/>
                      <a:endParaRPr lang="en-NL" sz="1100" dirty="0"/>
                    </a:p>
                  </a:txBody>
                  <a:tcPr marL="72000" anchor="ctr"/>
                </a:tc>
                <a:tc>
                  <a:txBody>
                    <a:bodyPr/>
                    <a:lstStyle/>
                    <a:p>
                      <a:pPr algn="l"/>
                      <a:r>
                        <a:rPr lang="en-US" sz="900" dirty="0" err="1"/>
                        <a:t>hri-openehr:legal-gender</a:t>
                      </a:r>
                      <a:endParaRPr lang="en-US" sz="900" dirty="0"/>
                    </a:p>
                    <a:p>
                      <a:pPr algn="l"/>
                      <a:r>
                        <a:rPr lang="en-US" sz="900" dirty="0"/>
                        <a:t>("Legal gender"@</a:t>
                      </a:r>
                      <a:r>
                        <a:rPr lang="en-US" sz="900" dirty="0" err="1"/>
                        <a:t>en</a:t>
                      </a:r>
                      <a:r>
                        <a:rPr lang="en-US" sz="900" dirty="0"/>
                        <a:t>)</a:t>
                      </a:r>
                      <a:endParaRPr lang="en-US" sz="850" dirty="0"/>
                    </a:p>
                  </a:txBody>
                  <a:tcPr marL="72000" marR="18000" marT="0" marB="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012902903"/>
                  </a:ext>
                </a:extLst>
              </a:tr>
              <a:tr h="306000">
                <a:tc>
                  <a:txBody>
                    <a:bodyPr/>
                    <a:lstStyle/>
                    <a:p>
                      <a:pPr algn="l"/>
                      <a:endParaRPr lang="en-NL" sz="1100" dirty="0"/>
                    </a:p>
                  </a:txBody>
                  <a:tcPr marL="72000" anchor="ctr"/>
                </a:tc>
                <a:tc>
                  <a:txBody>
                    <a:bodyPr/>
                    <a:lstStyle/>
                    <a:p>
                      <a:pPr algn="l"/>
                      <a:r>
                        <a:rPr lang="en-US" sz="1100" b="1" dirty="0"/>
                        <a:t>female</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1249708150"/>
                  </a:ext>
                </a:extLst>
              </a:tr>
              <a:tr h="306000">
                <a:tc>
                  <a:txBody>
                    <a:bodyPr/>
                    <a:lstStyle/>
                    <a:p>
                      <a:pPr algn="l"/>
                      <a:endParaRPr lang="en-NL" sz="1100" dirty="0"/>
                    </a:p>
                  </a:txBody>
                  <a:tcPr marL="72000" anchor="ctr"/>
                </a:tc>
                <a:tc>
                  <a:txBody>
                    <a:bodyPr/>
                    <a:lstStyle/>
                    <a:p>
                      <a:pPr algn="l"/>
                      <a:r>
                        <a:rPr lang="en-US" sz="1100" b="1" dirty="0"/>
                        <a:t>male</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850974854"/>
                  </a:ext>
                </a:extLst>
              </a:tr>
              <a:tr h="298851">
                <a:tc>
                  <a:txBody>
                    <a:bodyPr/>
                    <a:lstStyle/>
                    <a:p>
                      <a:pPr algn="l"/>
                      <a:endParaRPr lang="en-NL" sz="1100" dirty="0"/>
                    </a:p>
                  </a:txBody>
                  <a:tcPr marL="72000" anchor="ctr"/>
                </a:tc>
                <a:tc>
                  <a:txBody>
                    <a:bodyPr/>
                    <a:lstStyle/>
                    <a:p>
                      <a:pPr algn="l"/>
                      <a:r>
                        <a:rPr lang="en-US" sz="1100" b="1" dirty="0"/>
                        <a:t>nonbinary</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58" name="Rectangle: Rounded Corners 57">
            <a:extLst>
              <a:ext uri="{FF2B5EF4-FFF2-40B4-BE49-F238E27FC236}">
                <a16:creationId xmlns:a16="http://schemas.microsoft.com/office/drawing/2014/main" id="{340785FF-9467-0E30-1E57-7988A43BCCC6}"/>
              </a:ext>
            </a:extLst>
          </p:cNvPr>
          <p:cNvSpPr/>
          <p:nvPr/>
        </p:nvSpPr>
        <p:spPr>
          <a:xfrm>
            <a:off x="9742090" y="3764351"/>
            <a:ext cx="1642188" cy="710132"/>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NL"/>
          </a:p>
        </p:txBody>
      </p:sp>
      <p:graphicFrame>
        <p:nvGraphicFramePr>
          <p:cNvPr id="59" name="Content Placeholder 4">
            <a:extLst>
              <a:ext uri="{FF2B5EF4-FFF2-40B4-BE49-F238E27FC236}">
                <a16:creationId xmlns:a16="http://schemas.microsoft.com/office/drawing/2014/main" id="{B5FA0AE0-D4D0-B55D-F058-DACD6DB79A02}"/>
              </a:ext>
            </a:extLst>
          </p:cNvPr>
          <p:cNvGraphicFramePr>
            <a:graphicFrameLocks/>
          </p:cNvGraphicFramePr>
          <p:nvPr>
            <p:extLst>
              <p:ext uri="{D42A27DB-BD31-4B8C-83A1-F6EECF244321}">
                <p14:modId xmlns:p14="http://schemas.microsoft.com/office/powerpoint/2010/main" val="3331900790"/>
              </p:ext>
            </p:extLst>
          </p:nvPr>
        </p:nvGraphicFramePr>
        <p:xfrm>
          <a:off x="8040280" y="4538762"/>
          <a:ext cx="2811600" cy="1285200"/>
        </p:xfrm>
        <a:graphic>
          <a:graphicData uri="http://schemas.openxmlformats.org/drawingml/2006/table">
            <a:tbl>
              <a:tblPr firstRow="1" bandRow="1">
                <a:effectLst>
                  <a:outerShdw blurRad="50800" dist="38100" dir="2700000" algn="tl" rotWithShape="0">
                    <a:prstClr val="black">
                      <a:alpha val="40000"/>
                    </a:prstClr>
                  </a:outerShdw>
                </a:effectLst>
                <a:tableStyleId>{00A15C55-8517-42AA-B614-E9B94910E393}</a:tableStyleId>
              </a:tblPr>
              <a:tblGrid>
                <a:gridCol w="360000">
                  <a:extLst>
                    <a:ext uri="{9D8B030D-6E8A-4147-A177-3AD203B41FA5}">
                      <a16:colId xmlns:a16="http://schemas.microsoft.com/office/drawing/2014/main" val="979315127"/>
                    </a:ext>
                  </a:extLst>
                </a:gridCol>
                <a:gridCol w="1731600">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67200">
                <a:tc>
                  <a:txBody>
                    <a:bodyPr/>
                    <a:lstStyle/>
                    <a:p>
                      <a:endParaRPr lang="en-NL" sz="1100" dirty="0"/>
                    </a:p>
                  </a:txBody>
                  <a:tcPr marL="72000" anchor="ctr"/>
                </a:tc>
                <a:tc>
                  <a:txBody>
                    <a:bodyPr/>
                    <a:lstStyle/>
                    <a:p>
                      <a:r>
                        <a:rPr lang="en-US" sz="900" dirty="0"/>
                        <a:t>loinc:107454-1</a:t>
                      </a:r>
                    </a:p>
                    <a:p>
                      <a:r>
                        <a:rPr lang="en-US" sz="900" dirty="0"/>
                        <a:t>("Administrative gender"@</a:t>
                      </a:r>
                      <a:r>
                        <a:rPr lang="en-US" sz="900" dirty="0" err="1"/>
                        <a:t>en</a:t>
                      </a:r>
                      <a:r>
                        <a:rPr lang="en-US" sz="900" dirty="0"/>
                        <a:t>)</a:t>
                      </a:r>
                      <a:endParaRPr lang="en-NL" sz="900" dirty="0"/>
                    </a:p>
                  </a:txBody>
                  <a:tcPr marL="72000" marR="0" marT="0" marB="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012902903"/>
                  </a:ext>
                </a:extLst>
              </a:tr>
              <a:tr h="306000">
                <a:tc>
                  <a:txBody>
                    <a:bodyPr/>
                    <a:lstStyle/>
                    <a:p>
                      <a:endParaRPr lang="en-NL" sz="1100" dirty="0"/>
                    </a:p>
                  </a:txBody>
                  <a:tcPr marL="72000" anchor="ctr"/>
                </a:tc>
                <a:tc>
                  <a:txBody>
                    <a:bodyPr/>
                    <a:lstStyle/>
                    <a:p>
                      <a:r>
                        <a:rPr lang="en-US" sz="1100" b="1" dirty="0"/>
                        <a:t>woman</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1249708150"/>
                  </a:ext>
                </a:extLst>
              </a:tr>
              <a:tr h="306000">
                <a:tc>
                  <a:txBody>
                    <a:bodyPr/>
                    <a:lstStyle/>
                    <a:p>
                      <a:endParaRPr lang="en-NL" sz="1100" dirty="0"/>
                    </a:p>
                  </a:txBody>
                  <a:tcPr marL="72000" anchor="ctr"/>
                </a:tc>
                <a:tc>
                  <a:txBody>
                    <a:bodyPr/>
                    <a:lstStyle/>
                    <a:p>
                      <a:r>
                        <a:rPr lang="en-US" sz="1100" b="1" dirty="0"/>
                        <a:t>man</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850974854"/>
                  </a:ext>
                </a:extLst>
              </a:tr>
              <a:tr h="306000">
                <a:tc>
                  <a:txBody>
                    <a:bodyPr/>
                    <a:lstStyle/>
                    <a:p>
                      <a:endParaRPr lang="en-NL" sz="1100" dirty="0"/>
                    </a:p>
                  </a:txBody>
                  <a:tcPr marL="72000" anchor="ctr"/>
                </a:tc>
                <a:tc>
                  <a:txBody>
                    <a:bodyPr/>
                    <a:lstStyle/>
                    <a:p>
                      <a:r>
                        <a:rPr lang="en-US" sz="1100" b="1" dirty="0"/>
                        <a:t>non-binary</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60" name="Rectangle: Rounded Corners 59">
            <a:extLst>
              <a:ext uri="{FF2B5EF4-FFF2-40B4-BE49-F238E27FC236}">
                <a16:creationId xmlns:a16="http://schemas.microsoft.com/office/drawing/2014/main" id="{A74250FB-8B50-789F-B4AA-9170EC062CF6}"/>
              </a:ext>
            </a:extLst>
          </p:cNvPr>
          <p:cNvSpPr/>
          <p:nvPr/>
        </p:nvSpPr>
        <p:spPr>
          <a:xfrm>
            <a:off x="9742091" y="5182068"/>
            <a:ext cx="1642188" cy="710132"/>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NL"/>
          </a:p>
        </p:txBody>
      </p:sp>
      <p:graphicFrame>
        <p:nvGraphicFramePr>
          <p:cNvPr id="61" name="Content Placeholder 4">
            <a:extLst>
              <a:ext uri="{FF2B5EF4-FFF2-40B4-BE49-F238E27FC236}">
                <a16:creationId xmlns:a16="http://schemas.microsoft.com/office/drawing/2014/main" id="{3AD2F0E7-27EA-2BD3-2376-204BCAA6B3C4}"/>
              </a:ext>
            </a:extLst>
          </p:cNvPr>
          <p:cNvGraphicFramePr>
            <a:graphicFrameLocks/>
          </p:cNvGraphicFramePr>
          <p:nvPr>
            <p:extLst>
              <p:ext uri="{D42A27DB-BD31-4B8C-83A1-F6EECF244321}">
                <p14:modId xmlns:p14="http://schemas.microsoft.com/office/powerpoint/2010/main" val="2766951376"/>
              </p:ext>
            </p:extLst>
          </p:nvPr>
        </p:nvGraphicFramePr>
        <p:xfrm>
          <a:off x="8040280" y="1695020"/>
          <a:ext cx="2811677" cy="128376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360000">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24000">
                <a:tc>
                  <a:txBody>
                    <a:bodyPr/>
                    <a:lstStyle/>
                    <a:p>
                      <a:endParaRPr lang="en-NL" sz="1100" dirty="0"/>
                    </a:p>
                  </a:txBody>
                  <a:tcPr marL="72000" anchor="ctr"/>
                </a:tc>
                <a:tc>
                  <a:txBody>
                    <a:bodyPr/>
                    <a:lstStyle/>
                    <a:p>
                      <a:r>
                        <a:rPr lang="en-US" sz="900" dirty="0" err="1"/>
                        <a:t>care-sm:Sex</a:t>
                      </a:r>
                      <a:endParaRPr lang="en-US" sz="900" dirty="0"/>
                    </a:p>
                    <a:p>
                      <a:r>
                        <a:rPr lang="en-US" sz="900" dirty="0"/>
                        <a:t>("Biological sex"@</a:t>
                      </a:r>
                      <a:r>
                        <a:rPr lang="en-US" sz="900" dirty="0" err="1"/>
                        <a:t>en</a:t>
                      </a:r>
                      <a:r>
                        <a:rPr lang="en-US" sz="900" dirty="0"/>
                        <a:t>)</a:t>
                      </a:r>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012902903"/>
                  </a:ext>
                </a:extLst>
              </a:tr>
              <a:tr h="306000">
                <a:tc>
                  <a:txBody>
                    <a:bodyPr/>
                    <a:lstStyle/>
                    <a:p>
                      <a:endParaRPr lang="en-NL" sz="1100" dirty="0"/>
                    </a:p>
                  </a:txBody>
                  <a:tcPr marL="72000" anchor="ctr"/>
                </a:tc>
                <a:tc>
                  <a:txBody>
                    <a:bodyPr/>
                    <a:lstStyle/>
                    <a:p>
                      <a:r>
                        <a:rPr lang="en-US" sz="1100" b="1" dirty="0"/>
                        <a:t>female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1249708150"/>
                  </a:ext>
                </a:extLst>
              </a:tr>
              <a:tr h="306000">
                <a:tc>
                  <a:txBody>
                    <a:bodyPr/>
                    <a:lstStyle/>
                    <a:p>
                      <a:endParaRPr lang="en-NL" sz="1100" dirty="0"/>
                    </a:p>
                  </a:txBody>
                  <a:tcPr marL="72000" anchor="ctr"/>
                </a:tc>
                <a:tc>
                  <a:txBody>
                    <a:bodyPr/>
                    <a:lstStyle/>
                    <a:p>
                      <a:r>
                        <a:rPr lang="en-US" sz="1100" b="1" dirty="0"/>
                        <a:t>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850974854"/>
                  </a:ext>
                </a:extLst>
              </a:tr>
              <a:tr h="306000">
                <a:tc>
                  <a:txBody>
                    <a:bodyPr/>
                    <a:lstStyle/>
                    <a:p>
                      <a:endParaRPr lang="en-NL" sz="1100" dirty="0"/>
                    </a:p>
                  </a:txBody>
                  <a:tcPr marL="72000" anchor="ctr"/>
                </a:tc>
                <a:tc>
                  <a:txBody>
                    <a:bodyPr/>
                    <a:lstStyle/>
                    <a:p>
                      <a:r>
                        <a:rPr lang="en-US" sz="1100" b="1" dirty="0"/>
                        <a:t>female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62" name="Rectangle: Rounded Corners 61">
            <a:extLst>
              <a:ext uri="{FF2B5EF4-FFF2-40B4-BE49-F238E27FC236}">
                <a16:creationId xmlns:a16="http://schemas.microsoft.com/office/drawing/2014/main" id="{2D5D23A7-240F-CD85-EDC1-D330E538B8A2}"/>
              </a:ext>
            </a:extLst>
          </p:cNvPr>
          <p:cNvSpPr/>
          <p:nvPr/>
        </p:nvSpPr>
        <p:spPr>
          <a:xfrm>
            <a:off x="9742090" y="2343789"/>
            <a:ext cx="1642188" cy="710132"/>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NL"/>
          </a:p>
        </p:txBody>
      </p:sp>
      <p:pic>
        <p:nvPicPr>
          <p:cNvPr id="63" name="Picture 62">
            <a:extLst>
              <a:ext uri="{FF2B5EF4-FFF2-40B4-BE49-F238E27FC236}">
                <a16:creationId xmlns:a16="http://schemas.microsoft.com/office/drawing/2014/main" id="{0A7D41A3-2FD9-D54B-C671-256469C887A5}"/>
              </a:ext>
            </a:extLst>
          </p:cNvPr>
          <p:cNvPicPr>
            <a:picLocks noChangeAspect="1"/>
          </p:cNvPicPr>
          <p:nvPr/>
        </p:nvPicPr>
        <p:blipFill>
          <a:blip r:embed="rId3"/>
          <a:srcRect l="17222" t="33069" r="27186" b="41346"/>
          <a:stretch>
            <a:fillRect/>
          </a:stretch>
        </p:blipFill>
        <p:spPr>
          <a:xfrm>
            <a:off x="9843095" y="2477918"/>
            <a:ext cx="1440178" cy="441874"/>
          </a:xfrm>
          <a:prstGeom prst="rect">
            <a:avLst/>
          </a:prstGeom>
        </p:spPr>
      </p:pic>
      <p:pic>
        <p:nvPicPr>
          <p:cNvPr id="64" name="Picture 63">
            <a:extLst>
              <a:ext uri="{FF2B5EF4-FFF2-40B4-BE49-F238E27FC236}">
                <a16:creationId xmlns:a16="http://schemas.microsoft.com/office/drawing/2014/main" id="{458FD06D-82CA-D203-E490-AB944AA0D3BE}"/>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Effect>
                      <a14:brightnessContrast contrast="-40000"/>
                    </a14:imgEffect>
                  </a14:imgLayer>
                </a14:imgProps>
              </a:ext>
            </a:extLst>
          </a:blip>
          <a:srcRect l="22593" t="33818" r="26296" b="42564"/>
          <a:stretch>
            <a:fillRect/>
          </a:stretch>
        </p:blipFill>
        <p:spPr>
          <a:xfrm>
            <a:off x="9843184" y="3897611"/>
            <a:ext cx="1440000" cy="443613"/>
          </a:xfrm>
          <a:prstGeom prst="rect">
            <a:avLst/>
          </a:prstGeom>
        </p:spPr>
      </p:pic>
      <p:pic>
        <p:nvPicPr>
          <p:cNvPr id="65" name="Picture 64">
            <a:extLst>
              <a:ext uri="{FF2B5EF4-FFF2-40B4-BE49-F238E27FC236}">
                <a16:creationId xmlns:a16="http://schemas.microsoft.com/office/drawing/2014/main" id="{EACF379D-820D-1A10-96F9-260F30C08D21}"/>
              </a:ext>
            </a:extLst>
          </p:cNvPr>
          <p:cNvPicPr>
            <a:picLocks noChangeAspect="1"/>
          </p:cNvPicPr>
          <p:nvPr/>
        </p:nvPicPr>
        <p:blipFill>
          <a:blip r:embed="rId6"/>
          <a:srcRect l="13027" t="27953" r="16204" b="38897"/>
          <a:stretch>
            <a:fillRect/>
          </a:stretch>
        </p:blipFill>
        <p:spPr>
          <a:xfrm>
            <a:off x="9843185" y="5312288"/>
            <a:ext cx="1440000" cy="449693"/>
          </a:xfrm>
          <a:prstGeom prst="rect">
            <a:avLst/>
          </a:prstGeom>
        </p:spPr>
      </p:pic>
      <p:grpSp>
        <p:nvGrpSpPr>
          <p:cNvPr id="15" name="Group 14">
            <a:extLst>
              <a:ext uri="{FF2B5EF4-FFF2-40B4-BE49-F238E27FC236}">
                <a16:creationId xmlns:a16="http://schemas.microsoft.com/office/drawing/2014/main" id="{99D026FE-6686-C839-080A-7C6E970FC345}"/>
              </a:ext>
            </a:extLst>
          </p:cNvPr>
          <p:cNvGrpSpPr/>
          <p:nvPr/>
        </p:nvGrpSpPr>
        <p:grpSpPr>
          <a:xfrm>
            <a:off x="695327" y="1641474"/>
            <a:ext cx="7099934" cy="4321175"/>
            <a:chOff x="695327" y="1641474"/>
            <a:chExt cx="10801348" cy="4321175"/>
          </a:xfrm>
        </p:grpSpPr>
        <p:pic>
          <p:nvPicPr>
            <p:cNvPr id="13" name="Picture 12">
              <a:extLst>
                <a:ext uri="{FF2B5EF4-FFF2-40B4-BE49-F238E27FC236}">
                  <a16:creationId xmlns:a16="http://schemas.microsoft.com/office/drawing/2014/main" id="{D953E169-E1CA-4112-0C1B-8141A616B0A3}"/>
                </a:ext>
              </a:extLst>
            </p:cNvPr>
            <p:cNvPicPr>
              <a:picLocks noChangeAspect="1"/>
            </p:cNvPicPr>
            <p:nvPr/>
          </p:nvPicPr>
          <p:blipFill>
            <a:blip r:embed="rId7" cstate="hqprint">
              <a:extLst>
                <a:ext uri="{28A0092B-C50C-407E-A947-70E740481C1C}">
                  <a14:useLocalDpi xmlns:a14="http://schemas.microsoft.com/office/drawing/2010/main"/>
                </a:ext>
              </a:extLst>
            </a:blip>
            <a:stretch>
              <a:fillRect/>
            </a:stretch>
          </p:blipFill>
          <p:spPr>
            <a:xfrm>
              <a:off x="695327" y="1641474"/>
              <a:ext cx="10801348" cy="4321175"/>
            </a:xfrm>
            <a:prstGeom prst="rect">
              <a:avLst/>
            </a:prstGeom>
          </p:spPr>
        </p:pic>
        <p:sp>
          <p:nvSpPr>
            <p:cNvPr id="14" name="Rectangle 13">
              <a:extLst>
                <a:ext uri="{FF2B5EF4-FFF2-40B4-BE49-F238E27FC236}">
                  <a16:creationId xmlns:a16="http://schemas.microsoft.com/office/drawing/2014/main" id="{19858E09-ED58-7D2D-AFC2-3E92C2A79C7F}"/>
                </a:ext>
              </a:extLst>
            </p:cNvPr>
            <p:cNvSpPr/>
            <p:nvPr/>
          </p:nvSpPr>
          <p:spPr>
            <a:xfrm>
              <a:off x="695327" y="1854200"/>
              <a:ext cx="1054100" cy="3937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grpSp>
      <p:sp>
        <p:nvSpPr>
          <p:cNvPr id="2" name="Title 1">
            <a:extLst>
              <a:ext uri="{FF2B5EF4-FFF2-40B4-BE49-F238E27FC236}">
                <a16:creationId xmlns:a16="http://schemas.microsoft.com/office/drawing/2014/main" id="{0F4C4811-8EAD-E0B4-C0BB-50E0DBF074CD}"/>
              </a:ext>
            </a:extLst>
          </p:cNvPr>
          <p:cNvSpPr>
            <a:spLocks noGrp="1"/>
          </p:cNvSpPr>
          <p:nvPr>
            <p:ph type="title"/>
          </p:nvPr>
        </p:nvSpPr>
        <p:spPr/>
        <p:txBody>
          <a:bodyPr/>
          <a:lstStyle/>
          <a:p>
            <a:r>
              <a:rPr lang="en-US" sz="3600" dirty="0"/>
              <a:t>Similar Variables, Different Meanings</a:t>
            </a:r>
            <a:endParaRPr lang="en-NL" dirty="0"/>
          </a:p>
        </p:txBody>
      </p:sp>
      <p:sp>
        <p:nvSpPr>
          <p:cNvPr id="4" name="Slide Number Placeholder 3">
            <a:extLst>
              <a:ext uri="{FF2B5EF4-FFF2-40B4-BE49-F238E27FC236}">
                <a16:creationId xmlns:a16="http://schemas.microsoft.com/office/drawing/2014/main" id="{54C0BD5C-73BF-66F9-88BD-1B358189B19D}"/>
              </a:ext>
            </a:extLst>
          </p:cNvPr>
          <p:cNvSpPr>
            <a:spLocks noGrp="1"/>
          </p:cNvSpPr>
          <p:nvPr>
            <p:ph type="sldNum" sz="quarter" idx="12"/>
          </p:nvPr>
        </p:nvSpPr>
        <p:spPr/>
        <p:txBody>
          <a:bodyPr/>
          <a:lstStyle/>
          <a:p>
            <a:fld id="{4FAB73BC-B049-4115-A692-8D63A059BFB8}" type="slidenum">
              <a:rPr lang="en-US" smtClean="0"/>
              <a:pPr/>
              <a:t>13</a:t>
            </a:fld>
            <a:endParaRPr lang="en-US" dirty="0"/>
          </a:p>
        </p:txBody>
      </p:sp>
      <p:sp>
        <p:nvSpPr>
          <p:cNvPr id="18" name="Oval 17">
            <a:extLst>
              <a:ext uri="{FF2B5EF4-FFF2-40B4-BE49-F238E27FC236}">
                <a16:creationId xmlns:a16="http://schemas.microsoft.com/office/drawing/2014/main" id="{FDA926D1-0537-0020-FE64-3E10FFA60315}"/>
              </a:ext>
            </a:extLst>
          </p:cNvPr>
          <p:cNvSpPr/>
          <p:nvPr/>
        </p:nvSpPr>
        <p:spPr>
          <a:xfrm>
            <a:off x="8382929" y="4474483"/>
            <a:ext cx="1466850" cy="468000"/>
          </a:xfrm>
          <a:prstGeom prst="ellipse">
            <a:avLst/>
          </a:prstGeom>
          <a:noFill/>
          <a:ln w="47625">
            <a:solidFill>
              <a:srgbClr val="FF000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22" name="Straight Arrow Connector 21">
            <a:extLst>
              <a:ext uri="{FF2B5EF4-FFF2-40B4-BE49-F238E27FC236}">
                <a16:creationId xmlns:a16="http://schemas.microsoft.com/office/drawing/2014/main" id="{9A57F96E-A70F-A842-7326-1BC726B4E3B9}"/>
              </a:ext>
            </a:extLst>
          </p:cNvPr>
          <p:cNvCxnSpPr>
            <a:cxnSpLocks/>
            <a:stCxn id="18" idx="2"/>
          </p:cNvCxnSpPr>
          <p:nvPr/>
        </p:nvCxnSpPr>
        <p:spPr>
          <a:xfrm flipH="1" flipV="1">
            <a:off x="952500" y="4619625"/>
            <a:ext cx="7430429" cy="88858"/>
          </a:xfrm>
          <a:prstGeom prst="straightConnector1">
            <a:avLst/>
          </a:prstGeom>
          <a:ln w="47625">
            <a:solidFill>
              <a:srgbClr val="FF0000"/>
            </a:solidFill>
            <a:tailEnd type="arrow"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32" name="Oval 31">
            <a:extLst>
              <a:ext uri="{FF2B5EF4-FFF2-40B4-BE49-F238E27FC236}">
                <a16:creationId xmlns:a16="http://schemas.microsoft.com/office/drawing/2014/main" id="{26DD9F63-ACD2-2537-40D3-1C6EC15B6BF9}"/>
              </a:ext>
            </a:extLst>
          </p:cNvPr>
          <p:cNvSpPr/>
          <p:nvPr/>
        </p:nvSpPr>
        <p:spPr>
          <a:xfrm>
            <a:off x="8382929" y="3047819"/>
            <a:ext cx="1466850" cy="468000"/>
          </a:xfrm>
          <a:prstGeom prst="ellipse">
            <a:avLst/>
          </a:prstGeom>
          <a:noFill/>
          <a:ln w="47625">
            <a:solidFill>
              <a:srgbClr val="FF000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3" name="Straight Arrow Connector 32">
            <a:extLst>
              <a:ext uri="{FF2B5EF4-FFF2-40B4-BE49-F238E27FC236}">
                <a16:creationId xmlns:a16="http://schemas.microsoft.com/office/drawing/2014/main" id="{6EA33F2F-8449-8B9E-B495-5DA9EB8C534F}"/>
              </a:ext>
            </a:extLst>
          </p:cNvPr>
          <p:cNvCxnSpPr>
            <a:cxnSpLocks/>
            <a:stCxn id="32" idx="2"/>
          </p:cNvCxnSpPr>
          <p:nvPr/>
        </p:nvCxnSpPr>
        <p:spPr>
          <a:xfrm flipH="1">
            <a:off x="952500" y="3281819"/>
            <a:ext cx="7430429" cy="218290"/>
          </a:xfrm>
          <a:prstGeom prst="straightConnector1">
            <a:avLst/>
          </a:prstGeom>
          <a:ln w="47625">
            <a:solidFill>
              <a:srgbClr val="FF0000"/>
            </a:solidFill>
            <a:tailEnd type="arrow"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34" name="Oval 33">
            <a:extLst>
              <a:ext uri="{FF2B5EF4-FFF2-40B4-BE49-F238E27FC236}">
                <a16:creationId xmlns:a16="http://schemas.microsoft.com/office/drawing/2014/main" id="{2770854B-B42C-9409-E100-240E07B648B3}"/>
              </a:ext>
            </a:extLst>
          </p:cNvPr>
          <p:cNvSpPr/>
          <p:nvPr/>
        </p:nvSpPr>
        <p:spPr>
          <a:xfrm>
            <a:off x="8382929" y="1621155"/>
            <a:ext cx="1466850" cy="468000"/>
          </a:xfrm>
          <a:prstGeom prst="ellipse">
            <a:avLst/>
          </a:prstGeom>
          <a:noFill/>
          <a:ln w="47625">
            <a:solidFill>
              <a:srgbClr val="FF000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6" name="Straight Arrow Connector 35">
            <a:extLst>
              <a:ext uri="{FF2B5EF4-FFF2-40B4-BE49-F238E27FC236}">
                <a16:creationId xmlns:a16="http://schemas.microsoft.com/office/drawing/2014/main" id="{FA59A38F-27DA-1046-43AE-D936D92853D0}"/>
              </a:ext>
            </a:extLst>
          </p:cNvPr>
          <p:cNvCxnSpPr>
            <a:cxnSpLocks/>
          </p:cNvCxnSpPr>
          <p:nvPr/>
        </p:nvCxnSpPr>
        <p:spPr>
          <a:xfrm flipH="1">
            <a:off x="6991350" y="1955607"/>
            <a:ext cx="1457325" cy="151799"/>
          </a:xfrm>
          <a:prstGeom prst="straightConnector1">
            <a:avLst/>
          </a:prstGeom>
          <a:ln w="47625">
            <a:solidFill>
              <a:srgbClr val="FF0000"/>
            </a:solidFill>
            <a:tailEnd type="arrow"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017ECA1D-5453-72F7-31EC-9A8269554C87}"/>
              </a:ext>
            </a:extLst>
          </p:cNvPr>
          <p:cNvSpPr txBox="1"/>
          <p:nvPr/>
        </p:nvSpPr>
        <p:spPr>
          <a:xfrm>
            <a:off x="706665" y="5026620"/>
            <a:ext cx="4505326" cy="923330"/>
          </a:xfrm>
          <a:prstGeom prst="rect">
            <a:avLst/>
          </a:prstGeom>
          <a:solidFill>
            <a:schemeClr val="accent4"/>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r>
              <a:rPr lang="en-US" dirty="0">
                <a:solidFill>
                  <a:schemeClr val="bg1"/>
                </a:solidFill>
              </a:rPr>
              <a:t>The variables may look comparable, but they are linked to different meanings and should not be treated as interchangeable.</a:t>
            </a:r>
            <a:endParaRPr lang="en-NL" dirty="0">
              <a:solidFill>
                <a:schemeClr val="bg1"/>
              </a:solidFill>
            </a:endParaRPr>
          </a:p>
        </p:txBody>
      </p:sp>
      <p:sp>
        <p:nvSpPr>
          <p:cNvPr id="6" name="TextBox 5">
            <a:extLst>
              <a:ext uri="{FF2B5EF4-FFF2-40B4-BE49-F238E27FC236}">
                <a16:creationId xmlns:a16="http://schemas.microsoft.com/office/drawing/2014/main" id="{18A290A6-256E-D236-A8BE-987F948ADD1B}"/>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a:t>
            </a:r>
            <a:r>
              <a:rPr lang="en-US" sz="1200" b="1" cap="small" spc="100" dirty="0">
                <a:solidFill>
                  <a:srgbClr val="000000">
                    <a:lumMod val="95000"/>
                    <a:lumOff val="5000"/>
                  </a:srgbClr>
                </a:solidFill>
                <a:latin typeface="Aptos" panose="020B0004020202020204" pitchFamily="34" charset="0"/>
                <a:ea typeface="+mj-ea"/>
                <a:cs typeface="+mj-cs"/>
              </a:rPr>
              <a:t>1</a:t>
            </a:r>
            <a:endParaRPr lang="en-NL" sz="1000" b="1" dirty="0"/>
          </a:p>
        </p:txBody>
      </p:sp>
    </p:spTree>
    <p:extLst>
      <p:ext uri="{BB962C8B-B14F-4D97-AF65-F5344CB8AC3E}">
        <p14:creationId xmlns:p14="http://schemas.microsoft.com/office/powerpoint/2010/main" val="15949249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D67687-B4A4-8F18-0692-2B04A8040CA2}"/>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2EC0CBF1-AC22-E1BD-85CC-A437099F0022}"/>
              </a:ext>
            </a:extLst>
          </p:cNvPr>
          <p:cNvPicPr>
            <a:picLocks noChangeAspect="1"/>
          </p:cNvPicPr>
          <p:nvPr/>
        </p:nvPicPr>
        <p:blipFill>
          <a:blip r:embed="rId3"/>
          <a:srcRect t="21286" r="49991" b="18695"/>
          <a:stretch>
            <a:fillRect/>
          </a:stretch>
        </p:blipFill>
        <p:spPr>
          <a:xfrm>
            <a:off x="695325" y="1628775"/>
            <a:ext cx="5400675" cy="4321175"/>
          </a:xfrm>
          <a:prstGeom prst="rect">
            <a:avLst/>
          </a:prstGeom>
        </p:spPr>
      </p:pic>
      <p:sp>
        <p:nvSpPr>
          <p:cNvPr id="31" name="Rectangle 30">
            <a:extLst>
              <a:ext uri="{FF2B5EF4-FFF2-40B4-BE49-F238E27FC236}">
                <a16:creationId xmlns:a16="http://schemas.microsoft.com/office/drawing/2014/main" id="{EAC637E0-837B-4EDC-485A-FFDE3A178643}"/>
              </a:ext>
            </a:extLst>
          </p:cNvPr>
          <p:cNvSpPr/>
          <p:nvPr/>
        </p:nvSpPr>
        <p:spPr>
          <a:xfrm>
            <a:off x="5136204" y="1628775"/>
            <a:ext cx="6350219" cy="4321175"/>
          </a:xfrm>
          <a:prstGeom prst="rect">
            <a:avLst/>
          </a:prstGeom>
          <a:solidFill>
            <a:schemeClr val="accent1">
              <a:lumMod val="20000"/>
              <a:lumOff val="80000"/>
              <a:alpha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0" tIns="180000" rIns="180000" bIns="180000" rtlCol="0" anchor="ctr"/>
          <a:lstStyle/>
          <a:p>
            <a:endParaRPr lang="en-NL" sz="2000" i="1" dirty="0">
              <a:solidFill>
                <a:schemeClr val="tx1"/>
              </a:solidFill>
            </a:endParaRPr>
          </a:p>
        </p:txBody>
      </p:sp>
      <p:cxnSp>
        <p:nvCxnSpPr>
          <p:cNvPr id="8" name="Connector: Elbow 7">
            <a:extLst>
              <a:ext uri="{FF2B5EF4-FFF2-40B4-BE49-F238E27FC236}">
                <a16:creationId xmlns:a16="http://schemas.microsoft.com/office/drawing/2014/main" id="{C697A515-B751-E3E0-17FF-660284D9B91A}"/>
              </a:ext>
            </a:extLst>
          </p:cNvPr>
          <p:cNvCxnSpPr>
            <a:cxnSpLocks/>
          </p:cNvCxnSpPr>
          <p:nvPr/>
        </p:nvCxnSpPr>
        <p:spPr>
          <a:xfrm flipV="1">
            <a:off x="7405404" y="3789363"/>
            <a:ext cx="2269615" cy="826612"/>
          </a:xfrm>
          <a:prstGeom prst="bentConnector3">
            <a:avLst>
              <a:gd name="adj1" fmla="val 86472"/>
            </a:avLst>
          </a:pr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cxnSp>
      <p:sp>
        <p:nvSpPr>
          <p:cNvPr id="9" name="Rectangle 8">
            <a:extLst>
              <a:ext uri="{FF2B5EF4-FFF2-40B4-BE49-F238E27FC236}">
                <a16:creationId xmlns:a16="http://schemas.microsoft.com/office/drawing/2014/main" id="{463301BA-782A-BCD2-22D8-178E438ABAF3}"/>
              </a:ext>
            </a:extLst>
          </p:cNvPr>
          <p:cNvSpPr/>
          <p:nvPr/>
        </p:nvSpPr>
        <p:spPr>
          <a:xfrm>
            <a:off x="7405404" y="4390615"/>
            <a:ext cx="1774451" cy="359279"/>
          </a:xfrm>
          <a:prstGeom prst="rect">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0" tIns="180000" rIns="180000" bIns="180000" rtlCol="0" anchor="ctr"/>
          <a:lstStyle/>
          <a:p>
            <a:endParaRPr lang="en-NL" sz="1200" i="1">
              <a:solidFill>
                <a:schemeClr val="tx1"/>
              </a:solidFill>
            </a:endParaRPr>
          </a:p>
        </p:txBody>
      </p:sp>
      <p:sp>
        <p:nvSpPr>
          <p:cNvPr id="2" name="Title 1">
            <a:extLst>
              <a:ext uri="{FF2B5EF4-FFF2-40B4-BE49-F238E27FC236}">
                <a16:creationId xmlns:a16="http://schemas.microsoft.com/office/drawing/2014/main" id="{91EEA462-5353-5530-CB89-FE6A6A2EF952}"/>
              </a:ext>
            </a:extLst>
          </p:cNvPr>
          <p:cNvSpPr>
            <a:spLocks noGrp="1"/>
          </p:cNvSpPr>
          <p:nvPr>
            <p:ph type="title"/>
          </p:nvPr>
        </p:nvSpPr>
        <p:spPr/>
        <p:txBody>
          <a:bodyPr/>
          <a:lstStyle/>
          <a:p>
            <a:r>
              <a:rPr lang="en-US" sz="3600" b="1" dirty="0"/>
              <a:t>Scenario 2: Identify the datasets that represent the right meaning</a:t>
            </a:r>
          </a:p>
        </p:txBody>
      </p:sp>
      <p:sp>
        <p:nvSpPr>
          <p:cNvPr id="4" name="Slide Number Placeholder 3">
            <a:extLst>
              <a:ext uri="{FF2B5EF4-FFF2-40B4-BE49-F238E27FC236}">
                <a16:creationId xmlns:a16="http://schemas.microsoft.com/office/drawing/2014/main" id="{61D4A03F-D759-3199-5D06-FB7E5301DE54}"/>
              </a:ext>
            </a:extLst>
          </p:cNvPr>
          <p:cNvSpPr>
            <a:spLocks noGrp="1"/>
          </p:cNvSpPr>
          <p:nvPr>
            <p:ph type="sldNum" sz="quarter" idx="12"/>
          </p:nvPr>
        </p:nvSpPr>
        <p:spPr/>
        <p:txBody>
          <a:bodyPr/>
          <a:lstStyle/>
          <a:p>
            <a:fld id="{4FAB73BC-B049-4115-A692-8D63A059BFB8}" type="slidenum">
              <a:rPr lang="en-US" smtClean="0"/>
              <a:pPr/>
              <a:t>14</a:t>
            </a:fld>
            <a:endParaRPr lang="en-US" dirty="0"/>
          </a:p>
        </p:txBody>
      </p:sp>
      <p:sp>
        <p:nvSpPr>
          <p:cNvPr id="35" name="Freeform: Shape 34">
            <a:extLst>
              <a:ext uri="{FF2B5EF4-FFF2-40B4-BE49-F238E27FC236}">
                <a16:creationId xmlns:a16="http://schemas.microsoft.com/office/drawing/2014/main" id="{FEF10B4E-575F-803C-F98D-51B12CCFF913}"/>
              </a:ext>
            </a:extLst>
          </p:cNvPr>
          <p:cNvSpPr/>
          <p:nvPr/>
        </p:nvSpPr>
        <p:spPr>
          <a:xfrm>
            <a:off x="7034190" y="2917030"/>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2" tIns="43711" rIns="188262" bIns="43711" numCol="1" spcCol="1270" anchor="ctr" anchorCtr="0">
            <a:noAutofit/>
          </a:bodyPr>
          <a:lstStyle/>
          <a:p>
            <a:pPr marL="0" lvl="0" indent="0" algn="ctr" defTabSz="222250">
              <a:lnSpc>
                <a:spcPct val="90000"/>
              </a:lnSpc>
              <a:spcBef>
                <a:spcPct val="0"/>
              </a:spcBef>
              <a:spcAft>
                <a:spcPct val="35000"/>
              </a:spcAft>
              <a:buNone/>
            </a:pPr>
            <a:endParaRPr lang="en-NL" sz="1200" kern="1200" dirty="0"/>
          </a:p>
        </p:txBody>
      </p:sp>
      <p:sp>
        <p:nvSpPr>
          <p:cNvPr id="36" name="Freeform: Shape 35">
            <a:extLst>
              <a:ext uri="{FF2B5EF4-FFF2-40B4-BE49-F238E27FC236}">
                <a16:creationId xmlns:a16="http://schemas.microsoft.com/office/drawing/2014/main" id="{5C21F144-EEF6-6F32-7D0D-6C59B8629612}"/>
              </a:ext>
            </a:extLst>
          </p:cNvPr>
          <p:cNvSpPr/>
          <p:nvPr/>
        </p:nvSpPr>
        <p:spPr>
          <a:xfrm>
            <a:off x="6162481" y="3486855"/>
            <a:ext cx="2206819" cy="572615"/>
          </a:xfrm>
          <a:custGeom>
            <a:avLst/>
            <a:gdLst>
              <a:gd name="csX0" fmla="*/ 4297663 w 4297663"/>
              <a:gd name="csY0" fmla="*/ 0 h 371214"/>
              <a:gd name="csX1" fmla="*/ 4297663 w 4297663"/>
              <a:gd name="csY1" fmla="*/ 202707 h 371214"/>
              <a:gd name="csX2" fmla="*/ 0 w 4297663"/>
              <a:gd name="csY2" fmla="*/ 202707 h 371214"/>
              <a:gd name="csX3" fmla="*/ 0 w 4297663"/>
              <a:gd name="csY3" fmla="*/ 371214 h 371214"/>
            </a:gdLst>
            <a:ahLst/>
            <a:cxnLst>
              <a:cxn ang="0">
                <a:pos x="csX0" y="csY0"/>
              </a:cxn>
              <a:cxn ang="0">
                <a:pos x="csX1" y="csY1"/>
              </a:cxn>
              <a:cxn ang="0">
                <a:pos x="csX2" y="csY2"/>
              </a:cxn>
              <a:cxn ang="0">
                <a:pos x="csX3" y="csY3"/>
              </a:cxn>
            </a:cxnLst>
            <a:rect l="l" t="t" r="r" b="b"/>
            <a:pathLst>
              <a:path w="4297663" h="371214">
                <a:moveTo>
                  <a:pt x="4297663" y="0"/>
                </a:moveTo>
                <a:lnTo>
                  <a:pt x="4297663" y="202707"/>
                </a:lnTo>
                <a:lnTo>
                  <a:pt x="0" y="202707"/>
                </a:lnTo>
                <a:lnTo>
                  <a:pt x="0" y="371214"/>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2053622" tIns="183598" rIns="2053621" bIns="183598" numCol="1" spcCol="1270" anchor="ctr" anchorCtr="0">
            <a:noAutofit/>
          </a:bodyPr>
          <a:lstStyle/>
          <a:p>
            <a:pPr marL="0" lvl="0" indent="0" algn="ctr" defTabSz="222250">
              <a:lnSpc>
                <a:spcPct val="90000"/>
              </a:lnSpc>
              <a:spcBef>
                <a:spcPct val="0"/>
              </a:spcBef>
              <a:spcAft>
                <a:spcPct val="35000"/>
              </a:spcAft>
              <a:buNone/>
            </a:pPr>
            <a:endParaRPr lang="en-NL" sz="1200" kern="1200"/>
          </a:p>
        </p:txBody>
      </p:sp>
      <p:sp>
        <p:nvSpPr>
          <p:cNvPr id="37" name="Freeform: Shape 36">
            <a:extLst>
              <a:ext uri="{FF2B5EF4-FFF2-40B4-BE49-F238E27FC236}">
                <a16:creationId xmlns:a16="http://schemas.microsoft.com/office/drawing/2014/main" id="{1852A353-EF9E-D46B-C45A-F9B4DBC1C252}"/>
              </a:ext>
            </a:extLst>
          </p:cNvPr>
          <p:cNvSpPr/>
          <p:nvPr/>
        </p:nvSpPr>
        <p:spPr>
          <a:xfrm>
            <a:off x="7034190" y="4570255"/>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2" tIns="43711" rIns="188262" bIns="43711" numCol="1" spcCol="1270" anchor="ctr" anchorCtr="0">
            <a:noAutofit/>
          </a:bodyPr>
          <a:lstStyle/>
          <a:p>
            <a:pPr marL="0" lvl="0" indent="0" algn="ctr" defTabSz="222250">
              <a:lnSpc>
                <a:spcPct val="90000"/>
              </a:lnSpc>
              <a:spcBef>
                <a:spcPct val="0"/>
              </a:spcBef>
              <a:spcAft>
                <a:spcPct val="35000"/>
              </a:spcAft>
              <a:buNone/>
            </a:pPr>
            <a:endParaRPr lang="en-NL" sz="1200" kern="1200"/>
          </a:p>
        </p:txBody>
      </p:sp>
      <p:sp>
        <p:nvSpPr>
          <p:cNvPr id="38" name="Freeform: Shape 37">
            <a:extLst>
              <a:ext uri="{FF2B5EF4-FFF2-40B4-BE49-F238E27FC236}">
                <a16:creationId xmlns:a16="http://schemas.microsoft.com/office/drawing/2014/main" id="{64006475-0CC8-D21C-EBFC-EE6A85FBE50F}"/>
              </a:ext>
            </a:extLst>
          </p:cNvPr>
          <p:cNvSpPr/>
          <p:nvPr/>
        </p:nvSpPr>
        <p:spPr>
          <a:xfrm>
            <a:off x="5288972" y="4091870"/>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algn="ctr" defTabSz="400050">
              <a:lnSpc>
                <a:spcPct val="90000"/>
              </a:lnSpc>
              <a:spcBef>
                <a:spcPct val="0"/>
              </a:spcBef>
              <a:spcAft>
                <a:spcPct val="35000"/>
              </a:spcAft>
            </a:pPr>
            <a:r>
              <a:rPr lang="en-US" sz="1200" b="1" dirty="0"/>
              <a:t>Scenario 3</a:t>
            </a:r>
            <a:endParaRPr lang="en-NL" sz="1200" dirty="0"/>
          </a:p>
        </p:txBody>
      </p:sp>
      <p:sp>
        <p:nvSpPr>
          <p:cNvPr id="39" name="Freeform: Shape 38">
            <a:extLst>
              <a:ext uri="{FF2B5EF4-FFF2-40B4-BE49-F238E27FC236}">
                <a16:creationId xmlns:a16="http://schemas.microsoft.com/office/drawing/2014/main" id="{F66B3474-711B-1CCD-ACA4-34824807F834}"/>
              </a:ext>
            </a:extLst>
          </p:cNvPr>
          <p:cNvSpPr/>
          <p:nvPr/>
        </p:nvSpPr>
        <p:spPr>
          <a:xfrm>
            <a:off x="7437804" y="4091870"/>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algn="ctr" defTabSz="400050">
              <a:lnSpc>
                <a:spcPct val="90000"/>
              </a:lnSpc>
              <a:spcBef>
                <a:spcPct val="0"/>
              </a:spcBef>
              <a:spcAft>
                <a:spcPct val="35000"/>
              </a:spcAft>
            </a:pPr>
            <a:r>
              <a:rPr lang="en-US" sz="1200" b="1" dirty="0">
                <a:solidFill>
                  <a:schemeClr val="bg1"/>
                </a:solidFill>
              </a:rPr>
              <a:t>Scenario 4</a:t>
            </a:r>
            <a:endParaRPr lang="en-NL" sz="1200" dirty="0">
              <a:solidFill>
                <a:schemeClr val="bg1"/>
              </a:solidFill>
            </a:endParaRPr>
          </a:p>
        </p:txBody>
      </p:sp>
      <p:sp>
        <p:nvSpPr>
          <p:cNvPr id="40" name="Freeform: Shape 39">
            <a:extLst>
              <a:ext uri="{FF2B5EF4-FFF2-40B4-BE49-F238E27FC236}">
                <a16:creationId xmlns:a16="http://schemas.microsoft.com/office/drawing/2014/main" id="{64129995-E07B-57F1-86F8-25097CDB6DFB}"/>
              </a:ext>
            </a:extLst>
          </p:cNvPr>
          <p:cNvSpPr/>
          <p:nvPr/>
        </p:nvSpPr>
        <p:spPr>
          <a:xfrm>
            <a:off x="5288972" y="2438645"/>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it-IT" sz="1200" b="1" dirty="0"/>
              <a:t>Scenario 1: </a:t>
            </a:r>
            <a:r>
              <a:rPr lang="en-US" sz="1200" dirty="0"/>
              <a:t>Clarify Meanings Before Reuse</a:t>
            </a:r>
            <a:endParaRPr lang="en-NL" sz="1200" dirty="0"/>
          </a:p>
        </p:txBody>
      </p:sp>
      <p:sp>
        <p:nvSpPr>
          <p:cNvPr id="41" name="Freeform: Shape 40">
            <a:extLst>
              <a:ext uri="{FF2B5EF4-FFF2-40B4-BE49-F238E27FC236}">
                <a16:creationId xmlns:a16="http://schemas.microsoft.com/office/drawing/2014/main" id="{73C9D5E3-7D92-265D-FCB9-64C220623909}"/>
              </a:ext>
            </a:extLst>
          </p:cNvPr>
          <p:cNvSpPr/>
          <p:nvPr/>
        </p:nvSpPr>
        <p:spPr>
          <a:xfrm>
            <a:off x="7437804" y="2438645"/>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en-US" sz="1200" b="1" u="none" kern="1200" dirty="0"/>
              <a:t>Scenario 2: </a:t>
            </a:r>
            <a:r>
              <a:rPr lang="en-US" sz="1200" dirty="0"/>
              <a:t>Identify the datasets that represent the right meaning</a:t>
            </a:r>
            <a:endParaRPr lang="en-NL" sz="1200" b="0" u="none" kern="1200" dirty="0"/>
          </a:p>
        </p:txBody>
      </p:sp>
      <p:grpSp>
        <p:nvGrpSpPr>
          <p:cNvPr id="3" name="Group 2">
            <a:extLst>
              <a:ext uri="{FF2B5EF4-FFF2-40B4-BE49-F238E27FC236}">
                <a16:creationId xmlns:a16="http://schemas.microsoft.com/office/drawing/2014/main" id="{BD6EB000-1F93-2518-B91C-4618B53A56A9}"/>
              </a:ext>
            </a:extLst>
          </p:cNvPr>
          <p:cNvGrpSpPr/>
          <p:nvPr/>
        </p:nvGrpSpPr>
        <p:grpSpPr>
          <a:xfrm>
            <a:off x="9704903" y="2357067"/>
            <a:ext cx="1554653" cy="2783013"/>
            <a:chOff x="9704903" y="2357067"/>
            <a:chExt cx="1554653" cy="2783013"/>
          </a:xfrm>
        </p:grpSpPr>
        <p:sp>
          <p:nvSpPr>
            <p:cNvPr id="5" name="Freeform: Shape 4">
              <a:extLst>
                <a:ext uri="{FF2B5EF4-FFF2-40B4-BE49-F238E27FC236}">
                  <a16:creationId xmlns:a16="http://schemas.microsoft.com/office/drawing/2014/main" id="{FD4847A8-D945-35DD-32EA-CBEB670AAF83}"/>
                </a:ext>
              </a:extLst>
            </p:cNvPr>
            <p:cNvSpPr/>
            <p:nvPr/>
          </p:nvSpPr>
          <p:spPr>
            <a:xfrm>
              <a:off x="9704903" y="2438645"/>
              <a:ext cx="1554653" cy="2701435"/>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a:ln>
              <a:solidFill>
                <a:schemeClr val="accent1"/>
              </a:solidFill>
            </a:ln>
          </p:spPr>
          <p:style>
            <a:lnRef idx="1">
              <a:schemeClr val="accent2"/>
            </a:lnRef>
            <a:fillRef idx="3">
              <a:schemeClr val="accent2"/>
            </a:fillRef>
            <a:effectRef idx="2">
              <a:schemeClr val="accent2"/>
            </a:effectRef>
            <a:fontRef idx="minor">
              <a:schemeClr val="lt1"/>
            </a:fontRef>
          </p:style>
          <p:txBody>
            <a:bodyPr spcFirstLastPara="0" vert="horz" wrap="square" lIns="64008" tIns="64008" rIns="64008" bIns="64008" numCol="1" spcCol="1270" anchor="ctr" anchorCtr="0">
              <a:noAutofit/>
            </a:bodyPr>
            <a:lstStyle/>
            <a:p>
              <a:pPr lvl="0" algn="ctr" defTabSz="400050">
                <a:spcBef>
                  <a:spcPct val="0"/>
                </a:spcBef>
                <a:spcAft>
                  <a:spcPts val="600"/>
                </a:spcAft>
              </a:pPr>
              <a:r>
                <a:rPr lang="en-US" sz="1200" b="1" dirty="0">
                  <a:solidFill>
                    <a:schemeClr val="accent1"/>
                  </a:solidFill>
                </a:rPr>
                <a:t>Result</a:t>
              </a:r>
              <a:endParaRPr lang="en-NL" sz="1200" dirty="0">
                <a:solidFill>
                  <a:schemeClr val="accent1"/>
                </a:solidFill>
              </a:endParaRPr>
            </a:p>
          </p:txBody>
        </p:sp>
        <p:pic>
          <p:nvPicPr>
            <p:cNvPr id="6" name="Graphic 5" descr="Completed with solid fill">
              <a:extLst>
                <a:ext uri="{FF2B5EF4-FFF2-40B4-BE49-F238E27FC236}">
                  <a16:creationId xmlns:a16="http://schemas.microsoft.com/office/drawing/2014/main" id="{DAF69F25-3B52-0462-B051-A101C5FC97C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695082" y="2357067"/>
              <a:ext cx="549093" cy="549093"/>
            </a:xfrm>
            <a:prstGeom prst="rect">
              <a:avLst/>
            </a:prstGeom>
          </p:spPr>
        </p:pic>
      </p:grpSp>
    </p:spTree>
    <p:extLst>
      <p:ext uri="{BB962C8B-B14F-4D97-AF65-F5344CB8AC3E}">
        <p14:creationId xmlns:p14="http://schemas.microsoft.com/office/powerpoint/2010/main" val="2185495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grpId="0" nodeType="withEffect">
                                  <p:stCondLst>
                                    <p:cond delay="0"/>
                                  </p:stCondLst>
                                  <p:childTnLst>
                                    <p:animScale>
                                      <p:cBhvr>
                                        <p:cTn id="6" dur="1000" fill="hold"/>
                                        <p:tgtEl>
                                          <p:spTgt spid="41"/>
                                        </p:tgtEl>
                                      </p:cBhvr>
                                      <p:by x="125000" y="125000"/>
                                    </p:animScale>
                                  </p:childTnLst>
                                </p:cTn>
                              </p:par>
                              <p:par>
                                <p:cTn id="7" presetID="9" presetClass="emph" presetSubtype="0" grpId="0" nodeType="withEffect">
                                  <p:stCondLst>
                                    <p:cond delay="0"/>
                                  </p:stCondLst>
                                  <p:childTnLst>
                                    <p:set>
                                      <p:cBhvr>
                                        <p:cTn id="8" dur="indefinite"/>
                                        <p:tgtEl>
                                          <p:spTgt spid="40"/>
                                        </p:tgtEl>
                                        <p:attrNameLst>
                                          <p:attrName>style.opacity</p:attrName>
                                        </p:attrNameLst>
                                      </p:cBhvr>
                                      <p:to>
                                        <p:strVal val="0.5"/>
                                      </p:to>
                                    </p:set>
                                    <p:animEffect filter="image" prLst="opacity: 0.5">
                                      <p:cBhvr rctx="IE">
                                        <p:cTn id="9" dur="indefinite"/>
                                        <p:tgtEl>
                                          <p:spTgt spid="40"/>
                                        </p:tgtEl>
                                      </p:cBhvr>
                                    </p:animEffect>
                                  </p:childTnLst>
                                </p:cTn>
                              </p:par>
                              <p:par>
                                <p:cTn id="10" presetID="9" presetClass="emph" presetSubtype="0" grpId="0" nodeType="withEffect">
                                  <p:stCondLst>
                                    <p:cond delay="0"/>
                                  </p:stCondLst>
                                  <p:childTnLst>
                                    <p:set>
                                      <p:cBhvr>
                                        <p:cTn id="11" dur="indefinite"/>
                                        <p:tgtEl>
                                          <p:spTgt spid="38"/>
                                        </p:tgtEl>
                                        <p:attrNameLst>
                                          <p:attrName>style.opacity</p:attrName>
                                        </p:attrNameLst>
                                      </p:cBhvr>
                                      <p:to>
                                        <p:strVal val="0.5"/>
                                      </p:to>
                                    </p:set>
                                    <p:animEffect filter="image" prLst="opacity: 0.5">
                                      <p:cBhvr rctx="IE">
                                        <p:cTn id="12" dur="indefinite"/>
                                        <p:tgtEl>
                                          <p:spTgt spid="38"/>
                                        </p:tgtEl>
                                      </p:cBhvr>
                                    </p:animEffect>
                                  </p:childTnLst>
                                </p:cTn>
                              </p:par>
                              <p:par>
                                <p:cTn id="13" presetID="9" presetClass="emph" presetSubtype="0" grpId="0" nodeType="withEffect">
                                  <p:stCondLst>
                                    <p:cond delay="0"/>
                                  </p:stCondLst>
                                  <p:childTnLst>
                                    <p:set>
                                      <p:cBhvr>
                                        <p:cTn id="14" dur="indefinite"/>
                                        <p:tgtEl>
                                          <p:spTgt spid="39"/>
                                        </p:tgtEl>
                                        <p:attrNameLst>
                                          <p:attrName>style.opacity</p:attrName>
                                        </p:attrNameLst>
                                      </p:cBhvr>
                                      <p:to>
                                        <p:strVal val="0.5"/>
                                      </p:to>
                                    </p:set>
                                    <p:animEffect filter="image" prLst="opacity: 0.5">
                                      <p:cBhvr rctx="IE">
                                        <p:cTn id="15" dur="indefinite"/>
                                        <p:tgtEl>
                                          <p:spTgt spid="39"/>
                                        </p:tgtEl>
                                      </p:cBhvr>
                                    </p:animEffect>
                                  </p:childTnLst>
                                </p:cTn>
                              </p:par>
                              <p:par>
                                <p:cTn id="16" presetID="9" presetClass="emph" presetSubtype="0" nodeType="withEffect">
                                  <p:stCondLst>
                                    <p:cond delay="0"/>
                                  </p:stCondLst>
                                  <p:childTnLst>
                                    <p:set>
                                      <p:cBhvr>
                                        <p:cTn id="17" dur="indefinite"/>
                                        <p:tgtEl>
                                          <p:spTgt spid="3"/>
                                        </p:tgtEl>
                                        <p:attrNameLst>
                                          <p:attrName>style.opacity</p:attrName>
                                        </p:attrNameLst>
                                      </p:cBhvr>
                                      <p:to>
                                        <p:strVal val="0.5"/>
                                      </p:to>
                                    </p:set>
                                    <p:animEffect filter="image" prLst="opacity: 0.5">
                                      <p:cBhvr rctx="IE">
                                        <p:cTn id="18" dur="indefinite"/>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39" grpId="0" animBg="1"/>
      <p:bldP spid="40" grpId="0" animBg="1"/>
      <p:bldP spid="4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5FC34-85CB-A95B-2E9C-0219562478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A8DDB5-D479-D255-3F47-8D1E7902661B}"/>
              </a:ext>
            </a:extLst>
          </p:cNvPr>
          <p:cNvSpPr>
            <a:spLocks noGrp="1"/>
          </p:cNvSpPr>
          <p:nvPr>
            <p:ph type="title"/>
          </p:nvPr>
        </p:nvSpPr>
        <p:spPr>
          <a:xfrm>
            <a:off x="695327" y="386001"/>
            <a:ext cx="9296398" cy="929259"/>
          </a:xfrm>
        </p:spPr>
        <p:txBody>
          <a:bodyPr/>
          <a:lstStyle/>
          <a:p>
            <a:r>
              <a:rPr lang="en-US" sz="3600" dirty="0"/>
              <a:t>Scenario 2: Amir’s Question and Challenge</a:t>
            </a:r>
            <a:endParaRPr lang="en-NL" sz="3600" dirty="0"/>
          </a:p>
        </p:txBody>
      </p:sp>
      <p:sp>
        <p:nvSpPr>
          <p:cNvPr id="4" name="Slide Number Placeholder 3">
            <a:extLst>
              <a:ext uri="{FF2B5EF4-FFF2-40B4-BE49-F238E27FC236}">
                <a16:creationId xmlns:a16="http://schemas.microsoft.com/office/drawing/2014/main" id="{0C663118-9FB4-D93E-81C9-F778B4484E00}"/>
              </a:ext>
            </a:extLst>
          </p:cNvPr>
          <p:cNvSpPr>
            <a:spLocks noGrp="1"/>
          </p:cNvSpPr>
          <p:nvPr>
            <p:ph type="sldNum" sz="quarter" idx="12"/>
          </p:nvPr>
        </p:nvSpPr>
        <p:spPr/>
        <p:txBody>
          <a:bodyPr/>
          <a:lstStyle/>
          <a:p>
            <a:fld id="{4FAB73BC-B049-4115-A692-8D63A059BFB8}" type="slidenum">
              <a:rPr lang="en-US" smtClean="0"/>
              <a:pPr/>
              <a:t>15</a:t>
            </a:fld>
            <a:endParaRPr lang="en-US" dirty="0"/>
          </a:p>
        </p:txBody>
      </p:sp>
      <p:pic>
        <p:nvPicPr>
          <p:cNvPr id="5" name="Picture 4">
            <a:extLst>
              <a:ext uri="{FF2B5EF4-FFF2-40B4-BE49-F238E27FC236}">
                <a16:creationId xmlns:a16="http://schemas.microsoft.com/office/drawing/2014/main" id="{146220A7-E1D6-4292-B02C-562D631FF537}"/>
              </a:ext>
            </a:extLst>
          </p:cNvPr>
          <p:cNvPicPr>
            <a:picLocks noChangeAspect="1"/>
          </p:cNvPicPr>
          <p:nvPr/>
        </p:nvPicPr>
        <p:blipFill>
          <a:blip r:embed="rId3"/>
          <a:srcRect t="21286" r="49991" b="18695"/>
          <a:stretch>
            <a:fillRect/>
          </a:stretch>
        </p:blipFill>
        <p:spPr>
          <a:xfrm>
            <a:off x="695325" y="1628775"/>
            <a:ext cx="5400675" cy="4321175"/>
          </a:xfrm>
          <a:prstGeom prst="rect">
            <a:avLst/>
          </a:prstGeom>
        </p:spPr>
      </p:pic>
      <p:sp>
        <p:nvSpPr>
          <p:cNvPr id="7" name="Rectangle 6">
            <a:extLst>
              <a:ext uri="{FF2B5EF4-FFF2-40B4-BE49-F238E27FC236}">
                <a16:creationId xmlns:a16="http://schemas.microsoft.com/office/drawing/2014/main" id="{DD969938-B7FD-42C8-3652-769C8E2EE061}"/>
              </a:ext>
            </a:extLst>
          </p:cNvPr>
          <p:cNvSpPr/>
          <p:nvPr/>
        </p:nvSpPr>
        <p:spPr>
          <a:xfrm>
            <a:off x="5136204" y="1628775"/>
            <a:ext cx="6350219" cy="4321175"/>
          </a:xfrm>
          <a:prstGeom prst="rect">
            <a:avLst/>
          </a:prstGeom>
          <a:solidFill>
            <a:schemeClr val="accent1">
              <a:lumMod val="20000"/>
              <a:lumOff val="80000"/>
              <a:alpha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0" tIns="180000" rIns="180000" bIns="180000" rtlCol="0" anchor="ctr"/>
          <a:lstStyle/>
          <a:p>
            <a:endParaRPr lang="en-NL" sz="2000" i="1" dirty="0">
              <a:solidFill>
                <a:schemeClr val="tx1"/>
              </a:solidFill>
            </a:endParaRPr>
          </a:p>
        </p:txBody>
      </p:sp>
      <p:graphicFrame>
        <p:nvGraphicFramePr>
          <p:cNvPr id="8" name="Content Placeholder 4">
            <a:extLst>
              <a:ext uri="{FF2B5EF4-FFF2-40B4-BE49-F238E27FC236}">
                <a16:creationId xmlns:a16="http://schemas.microsoft.com/office/drawing/2014/main" id="{6767C028-E9BD-A74A-0072-B2FD80F956E2}"/>
              </a:ext>
            </a:extLst>
          </p:cNvPr>
          <p:cNvGraphicFramePr>
            <a:graphicFrameLocks noGrp="1"/>
          </p:cNvGraphicFramePr>
          <p:nvPr>
            <p:ph idx="1"/>
          </p:nvPr>
        </p:nvGraphicFramePr>
        <p:xfrm>
          <a:off x="5506200" y="1762125"/>
          <a:ext cx="5610226" cy="405447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42888353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FE7CE-40DC-34CC-B3B8-0FC7CDC3A9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107FA7-5E8C-4CC7-A410-4FB58890EDBF}"/>
              </a:ext>
            </a:extLst>
          </p:cNvPr>
          <p:cNvSpPr>
            <a:spLocks noGrp="1"/>
          </p:cNvSpPr>
          <p:nvPr>
            <p:ph type="title"/>
          </p:nvPr>
        </p:nvSpPr>
        <p:spPr>
          <a:xfrm>
            <a:off x="695327" y="386001"/>
            <a:ext cx="9704449" cy="929259"/>
          </a:xfrm>
        </p:spPr>
        <p:txBody>
          <a:bodyPr/>
          <a:lstStyle/>
          <a:p>
            <a:r>
              <a:rPr lang="en-US" sz="3600" dirty="0"/>
              <a:t>When are two datasets interoperable?</a:t>
            </a:r>
            <a:endParaRPr lang="en-NL" sz="3600" dirty="0"/>
          </a:p>
        </p:txBody>
      </p:sp>
      <p:sp>
        <p:nvSpPr>
          <p:cNvPr id="4" name="Slide Number Placeholder 3">
            <a:extLst>
              <a:ext uri="{FF2B5EF4-FFF2-40B4-BE49-F238E27FC236}">
                <a16:creationId xmlns:a16="http://schemas.microsoft.com/office/drawing/2014/main" id="{0B880598-C7C1-7C39-ABA9-798386D62E52}"/>
              </a:ext>
            </a:extLst>
          </p:cNvPr>
          <p:cNvSpPr>
            <a:spLocks noGrp="1"/>
          </p:cNvSpPr>
          <p:nvPr>
            <p:ph type="sldNum" sz="quarter" idx="12"/>
          </p:nvPr>
        </p:nvSpPr>
        <p:spPr/>
        <p:txBody>
          <a:bodyPr/>
          <a:lstStyle/>
          <a:p>
            <a:fld id="{4FAB73BC-B049-4115-A692-8D63A059BFB8}" type="slidenum">
              <a:rPr lang="en-US" smtClean="0"/>
              <a:pPr/>
              <a:t>16</a:t>
            </a:fld>
            <a:endParaRPr lang="en-US" dirty="0"/>
          </a:p>
        </p:txBody>
      </p:sp>
      <p:cxnSp>
        <p:nvCxnSpPr>
          <p:cNvPr id="25" name="Straight Connector 24">
            <a:extLst>
              <a:ext uri="{FF2B5EF4-FFF2-40B4-BE49-F238E27FC236}">
                <a16:creationId xmlns:a16="http://schemas.microsoft.com/office/drawing/2014/main" id="{29592EFC-476C-EA57-7B74-907B558548BD}"/>
              </a:ext>
            </a:extLst>
          </p:cNvPr>
          <p:cNvCxnSpPr>
            <a:cxnSpLocks/>
          </p:cNvCxnSpPr>
          <p:nvPr/>
        </p:nvCxnSpPr>
        <p:spPr>
          <a:xfrm>
            <a:off x="2440086" y="2514600"/>
            <a:ext cx="0" cy="2159000"/>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30" name="Parallelogram 29">
            <a:extLst>
              <a:ext uri="{FF2B5EF4-FFF2-40B4-BE49-F238E27FC236}">
                <a16:creationId xmlns:a16="http://schemas.microsoft.com/office/drawing/2014/main" id="{672DD2F8-F933-78B0-B9B1-AA397DE46F60}"/>
              </a:ext>
            </a:extLst>
          </p:cNvPr>
          <p:cNvSpPr/>
          <p:nvPr/>
        </p:nvSpPr>
        <p:spPr>
          <a:xfrm>
            <a:off x="982761" y="3153944"/>
            <a:ext cx="10229850" cy="1276350"/>
          </a:xfrm>
          <a:prstGeom prst="parallelogram">
            <a:avLst>
              <a:gd name="adj" fmla="val 113806"/>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31" name="TextBox 30">
            <a:extLst>
              <a:ext uri="{FF2B5EF4-FFF2-40B4-BE49-F238E27FC236}">
                <a16:creationId xmlns:a16="http://schemas.microsoft.com/office/drawing/2014/main" id="{98E3D537-AAFE-9E9C-1ECC-E377A4D39E93}"/>
              </a:ext>
            </a:extLst>
          </p:cNvPr>
          <p:cNvSpPr txBox="1"/>
          <p:nvPr/>
        </p:nvSpPr>
        <p:spPr>
          <a:xfrm>
            <a:off x="1218930" y="4122517"/>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33" name="Parallelogram 32">
            <a:extLst>
              <a:ext uri="{FF2B5EF4-FFF2-40B4-BE49-F238E27FC236}">
                <a16:creationId xmlns:a16="http://schemas.microsoft.com/office/drawing/2014/main" id="{B0AE23CF-C5A2-0EEE-B90C-6AABA31A64E4}"/>
              </a:ext>
            </a:extLst>
          </p:cNvPr>
          <p:cNvSpPr/>
          <p:nvPr/>
        </p:nvSpPr>
        <p:spPr>
          <a:xfrm>
            <a:off x="982761" y="4673600"/>
            <a:ext cx="10229850" cy="1276350"/>
          </a:xfrm>
          <a:prstGeom prst="parallelogram">
            <a:avLst>
              <a:gd name="adj" fmla="val 113806"/>
            </a:avLst>
          </a:prstGeom>
          <a:solidFill>
            <a:schemeClr val="accent4">
              <a:lumMod val="20000"/>
              <a:lumOff val="8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4" name="TextBox 33">
            <a:extLst>
              <a:ext uri="{FF2B5EF4-FFF2-40B4-BE49-F238E27FC236}">
                <a16:creationId xmlns:a16="http://schemas.microsoft.com/office/drawing/2014/main" id="{704CA369-D8AB-87EA-592B-A6079B175CE3}"/>
              </a:ext>
            </a:extLst>
          </p:cNvPr>
          <p:cNvSpPr txBox="1"/>
          <p:nvPr/>
        </p:nvSpPr>
        <p:spPr>
          <a:xfrm>
            <a:off x="1258204" y="5642173"/>
            <a:ext cx="152958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4"/>
                </a:solidFill>
              </a:rPr>
              <a:t>Dataset Columns</a:t>
            </a:r>
            <a:endParaRPr lang="en-NL" sz="1400" dirty="0">
              <a:solidFill>
                <a:schemeClr val="accent4"/>
              </a:solidFill>
            </a:endParaRPr>
          </a:p>
        </p:txBody>
      </p:sp>
      <p:cxnSp>
        <p:nvCxnSpPr>
          <p:cNvPr id="36" name="Straight Connector 35">
            <a:extLst>
              <a:ext uri="{FF2B5EF4-FFF2-40B4-BE49-F238E27FC236}">
                <a16:creationId xmlns:a16="http://schemas.microsoft.com/office/drawing/2014/main" id="{FA730DF4-F3A6-1CA3-DE93-57244F6CFF7A}"/>
              </a:ext>
            </a:extLst>
          </p:cNvPr>
          <p:cNvCxnSpPr>
            <a:cxnSpLocks/>
          </p:cNvCxnSpPr>
          <p:nvPr/>
        </p:nvCxnSpPr>
        <p:spPr>
          <a:xfrm>
            <a:off x="983453" y="2245519"/>
            <a:ext cx="0" cy="3704431"/>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C427A952-D955-C1BD-3824-36563D1F5152}"/>
              </a:ext>
            </a:extLst>
          </p:cNvPr>
          <p:cNvCxnSpPr>
            <a:cxnSpLocks/>
          </p:cNvCxnSpPr>
          <p:nvPr/>
        </p:nvCxnSpPr>
        <p:spPr>
          <a:xfrm>
            <a:off x="11204086" y="2272464"/>
            <a:ext cx="0" cy="24011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A0610333-5929-FD1D-FD64-504E424FDC21}"/>
              </a:ext>
            </a:extLst>
          </p:cNvPr>
          <p:cNvCxnSpPr>
            <a:cxnSpLocks/>
          </p:cNvCxnSpPr>
          <p:nvPr/>
        </p:nvCxnSpPr>
        <p:spPr>
          <a:xfrm>
            <a:off x="9762478" y="2438400"/>
            <a:ext cx="0" cy="3511550"/>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56" name="Oval 55">
            <a:extLst>
              <a:ext uri="{FF2B5EF4-FFF2-40B4-BE49-F238E27FC236}">
                <a16:creationId xmlns:a16="http://schemas.microsoft.com/office/drawing/2014/main" id="{1F75FDBC-BAB7-A2F8-FCC8-1F6A253DA53B}"/>
              </a:ext>
            </a:extLst>
          </p:cNvPr>
          <p:cNvSpPr/>
          <p:nvPr/>
        </p:nvSpPr>
        <p:spPr>
          <a:xfrm>
            <a:off x="4362045" y="3587331"/>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C1</a:t>
            </a:r>
            <a:endParaRPr lang="en-NL" dirty="0"/>
          </a:p>
        </p:txBody>
      </p:sp>
      <p:sp>
        <p:nvSpPr>
          <p:cNvPr id="57" name="Oval 56">
            <a:extLst>
              <a:ext uri="{FF2B5EF4-FFF2-40B4-BE49-F238E27FC236}">
                <a16:creationId xmlns:a16="http://schemas.microsoft.com/office/drawing/2014/main" id="{8A20A610-7AF0-DD44-A74D-3C23058FC460}"/>
              </a:ext>
            </a:extLst>
          </p:cNvPr>
          <p:cNvSpPr/>
          <p:nvPr/>
        </p:nvSpPr>
        <p:spPr>
          <a:xfrm>
            <a:off x="7262609" y="3906419"/>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C3</a:t>
            </a:r>
            <a:endParaRPr lang="en-NL" dirty="0"/>
          </a:p>
        </p:txBody>
      </p:sp>
      <p:sp>
        <p:nvSpPr>
          <p:cNvPr id="58" name="Oval 57">
            <a:extLst>
              <a:ext uri="{FF2B5EF4-FFF2-40B4-BE49-F238E27FC236}">
                <a16:creationId xmlns:a16="http://schemas.microsoft.com/office/drawing/2014/main" id="{3CDDB1F0-BCD3-7DD3-BCD8-365434EBA457}"/>
              </a:ext>
            </a:extLst>
          </p:cNvPr>
          <p:cNvSpPr/>
          <p:nvPr/>
        </p:nvSpPr>
        <p:spPr>
          <a:xfrm>
            <a:off x="5812327" y="326824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C2</a:t>
            </a:r>
            <a:endParaRPr lang="en-NL" dirty="0"/>
          </a:p>
        </p:txBody>
      </p:sp>
      <p:cxnSp>
        <p:nvCxnSpPr>
          <p:cNvPr id="11" name="Straight Arrow Connector 10">
            <a:extLst>
              <a:ext uri="{FF2B5EF4-FFF2-40B4-BE49-F238E27FC236}">
                <a16:creationId xmlns:a16="http://schemas.microsoft.com/office/drawing/2014/main" id="{C847F680-E316-EE3A-0C9E-DF7A9B0709AC}"/>
              </a:ext>
            </a:extLst>
          </p:cNvPr>
          <p:cNvCxnSpPr>
            <a:cxnSpLocks/>
            <a:stCxn id="35" idx="7"/>
            <a:endCxn id="56" idx="3"/>
          </p:cNvCxnSpPr>
          <p:nvPr/>
        </p:nvCxnSpPr>
        <p:spPr>
          <a:xfrm flipV="1">
            <a:off x="3545914" y="3936925"/>
            <a:ext cx="876112" cy="877837"/>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2ABD5595-F39A-AE0F-2074-9FF6B485A00C}"/>
              </a:ext>
            </a:extLst>
          </p:cNvPr>
          <p:cNvCxnSpPr>
            <a:cxnSpLocks/>
            <a:endCxn id="56" idx="4"/>
          </p:cNvCxnSpPr>
          <p:nvPr/>
        </p:nvCxnSpPr>
        <p:spPr>
          <a:xfrm flipH="1" flipV="1">
            <a:off x="4566833" y="3996906"/>
            <a:ext cx="383508" cy="1541880"/>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23" name="Cloud 22">
            <a:extLst>
              <a:ext uri="{FF2B5EF4-FFF2-40B4-BE49-F238E27FC236}">
                <a16:creationId xmlns:a16="http://schemas.microsoft.com/office/drawing/2014/main" id="{898936EA-0DB6-B3DA-67B0-8DB53F38EB77}"/>
              </a:ext>
            </a:extLst>
          </p:cNvPr>
          <p:cNvSpPr/>
          <p:nvPr/>
        </p:nvSpPr>
        <p:spPr>
          <a:xfrm>
            <a:off x="982761" y="1899659"/>
            <a:ext cx="10229850" cy="719659"/>
          </a:xfrm>
          <a:prstGeom prst="cloud">
            <a:avLst/>
          </a:prstGeom>
          <a:solidFill>
            <a:schemeClr val="accent1">
              <a:lumMod val="20000"/>
              <a:lumOff val="80000"/>
              <a:alpha val="5000"/>
            </a:schemeClr>
          </a:solidFill>
          <a:ln>
            <a:solidFill>
              <a:schemeClr val="accent1">
                <a:lumMod val="20000"/>
                <a:lumOff val="80000"/>
                <a:alpha val="4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61" name="Straight Arrow Connector 60">
            <a:extLst>
              <a:ext uri="{FF2B5EF4-FFF2-40B4-BE49-F238E27FC236}">
                <a16:creationId xmlns:a16="http://schemas.microsoft.com/office/drawing/2014/main" id="{4CB2FC5D-EFA9-482D-0DAD-FDF42EBDB18C}"/>
              </a:ext>
            </a:extLst>
          </p:cNvPr>
          <p:cNvCxnSpPr>
            <a:cxnSpLocks/>
            <a:endCxn id="58" idx="4"/>
          </p:cNvCxnSpPr>
          <p:nvPr/>
        </p:nvCxnSpPr>
        <p:spPr>
          <a:xfrm flipH="1" flipV="1">
            <a:off x="6017115" y="3677819"/>
            <a:ext cx="495205" cy="131709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5C1EB2D7-6BEA-1110-B48C-DEE0F5CC7407}"/>
              </a:ext>
            </a:extLst>
          </p:cNvPr>
          <p:cNvCxnSpPr>
            <a:cxnSpLocks/>
            <a:endCxn id="57" idx="4"/>
          </p:cNvCxnSpPr>
          <p:nvPr/>
        </p:nvCxnSpPr>
        <p:spPr>
          <a:xfrm flipH="1" flipV="1">
            <a:off x="7467397" y="4315994"/>
            <a:ext cx="632967" cy="122279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grpSp>
        <p:nvGrpSpPr>
          <p:cNvPr id="80" name="Group 79">
            <a:extLst>
              <a:ext uri="{FF2B5EF4-FFF2-40B4-BE49-F238E27FC236}">
                <a16:creationId xmlns:a16="http://schemas.microsoft.com/office/drawing/2014/main" id="{29EFCED1-5140-972C-A894-EECFD7278B60}"/>
              </a:ext>
            </a:extLst>
          </p:cNvPr>
          <p:cNvGrpSpPr/>
          <p:nvPr/>
        </p:nvGrpSpPr>
        <p:grpSpPr>
          <a:xfrm>
            <a:off x="3196320" y="4754781"/>
            <a:ext cx="3542413" cy="409575"/>
            <a:chOff x="3196320" y="4783356"/>
            <a:chExt cx="3542413" cy="409575"/>
          </a:xfrm>
        </p:grpSpPr>
        <p:sp>
          <p:nvSpPr>
            <p:cNvPr id="35" name="Oval 34">
              <a:extLst>
                <a:ext uri="{FF2B5EF4-FFF2-40B4-BE49-F238E27FC236}">
                  <a16:creationId xmlns:a16="http://schemas.microsoft.com/office/drawing/2014/main" id="{DE59E4D6-752D-5A0B-9EED-548293633FE4}"/>
                </a:ext>
              </a:extLst>
            </p:cNvPr>
            <p:cNvSpPr/>
            <p:nvPr/>
          </p:nvSpPr>
          <p:spPr>
            <a:xfrm>
              <a:off x="3196320" y="4783356"/>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D1</a:t>
              </a:r>
              <a:endParaRPr lang="en-NL" dirty="0"/>
            </a:p>
          </p:txBody>
        </p:sp>
        <p:sp>
          <p:nvSpPr>
            <p:cNvPr id="41" name="Oval 40">
              <a:extLst>
                <a:ext uri="{FF2B5EF4-FFF2-40B4-BE49-F238E27FC236}">
                  <a16:creationId xmlns:a16="http://schemas.microsoft.com/office/drawing/2014/main" id="{AB642A05-D4D4-93E0-665E-1E978F4B74BF}"/>
                </a:ext>
              </a:extLst>
            </p:cNvPr>
            <p:cNvSpPr/>
            <p:nvPr/>
          </p:nvSpPr>
          <p:spPr>
            <a:xfrm>
              <a:off x="6329158" y="4783356"/>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D2</a:t>
              </a:r>
              <a:endParaRPr lang="en-NL" dirty="0"/>
            </a:p>
          </p:txBody>
        </p:sp>
      </p:grpSp>
      <p:grpSp>
        <p:nvGrpSpPr>
          <p:cNvPr id="79" name="Group 78">
            <a:extLst>
              <a:ext uri="{FF2B5EF4-FFF2-40B4-BE49-F238E27FC236}">
                <a16:creationId xmlns:a16="http://schemas.microsoft.com/office/drawing/2014/main" id="{0A82C962-4D38-21A9-81F8-6D463603FEEE}"/>
              </a:ext>
            </a:extLst>
          </p:cNvPr>
          <p:cNvGrpSpPr/>
          <p:nvPr/>
        </p:nvGrpSpPr>
        <p:grpSpPr>
          <a:xfrm>
            <a:off x="4762739" y="5457825"/>
            <a:ext cx="3542414" cy="409575"/>
            <a:chOff x="4762739" y="5334000"/>
            <a:chExt cx="3542414" cy="409575"/>
          </a:xfrm>
        </p:grpSpPr>
        <p:sp>
          <p:nvSpPr>
            <p:cNvPr id="52" name="Oval 51">
              <a:extLst>
                <a:ext uri="{FF2B5EF4-FFF2-40B4-BE49-F238E27FC236}">
                  <a16:creationId xmlns:a16="http://schemas.microsoft.com/office/drawing/2014/main" id="{A1E44AE7-CEE8-F6E6-B9BB-35C1C7B41656}"/>
                </a:ext>
              </a:extLst>
            </p:cNvPr>
            <p:cNvSpPr/>
            <p:nvPr/>
          </p:nvSpPr>
          <p:spPr>
            <a:xfrm>
              <a:off x="4762739" y="5334000"/>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D3</a:t>
              </a:r>
              <a:endParaRPr lang="en-NL" dirty="0"/>
            </a:p>
          </p:txBody>
        </p:sp>
        <p:sp>
          <p:nvSpPr>
            <p:cNvPr id="53" name="Oval 52">
              <a:extLst>
                <a:ext uri="{FF2B5EF4-FFF2-40B4-BE49-F238E27FC236}">
                  <a16:creationId xmlns:a16="http://schemas.microsoft.com/office/drawing/2014/main" id="{0698888C-4C12-519F-60B3-175ACD022D75}"/>
                </a:ext>
              </a:extLst>
            </p:cNvPr>
            <p:cNvSpPr/>
            <p:nvPr/>
          </p:nvSpPr>
          <p:spPr>
            <a:xfrm>
              <a:off x="7895578" y="5334000"/>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D4</a:t>
              </a:r>
              <a:endParaRPr lang="en-NL" dirty="0"/>
            </a:p>
          </p:txBody>
        </p:sp>
      </p:grpSp>
      <p:sp>
        <p:nvSpPr>
          <p:cNvPr id="78" name="Speech Bubble: Rectangle 77">
            <a:extLst>
              <a:ext uri="{FF2B5EF4-FFF2-40B4-BE49-F238E27FC236}">
                <a16:creationId xmlns:a16="http://schemas.microsoft.com/office/drawing/2014/main" id="{5C9A5480-03BC-0050-1736-C789910B6A6C}"/>
              </a:ext>
            </a:extLst>
          </p:cNvPr>
          <p:cNvSpPr/>
          <p:nvPr/>
        </p:nvSpPr>
        <p:spPr>
          <a:xfrm>
            <a:off x="704849" y="1648634"/>
            <a:ext cx="5391151" cy="596884"/>
          </a:xfrm>
          <a:prstGeom prst="wedgeRectCallout">
            <a:avLst>
              <a:gd name="adj1" fmla="val -20801"/>
              <a:gd name="adj2" fmla="val 107946"/>
            </a:avLst>
          </a:prstGeom>
          <a:solidFill>
            <a:schemeClr val="bg1">
              <a:lumMod val="95000"/>
              <a:alpha val="90000"/>
            </a:schemeClr>
          </a:solidFill>
        </p:spPr>
        <p:style>
          <a:lnRef idx="2">
            <a:schemeClr val="dk1"/>
          </a:lnRef>
          <a:fillRef idx="1">
            <a:schemeClr val="lt1"/>
          </a:fillRef>
          <a:effectRef idx="0">
            <a:schemeClr val="dk1"/>
          </a:effectRef>
          <a:fontRef idx="minor">
            <a:schemeClr val="dk1"/>
          </a:fontRef>
        </p:style>
        <p:txBody>
          <a:bodyPr rtlCol="0" anchor="ctr"/>
          <a:lstStyle/>
          <a:p>
            <a:pPr>
              <a:spcAft>
                <a:spcPts val="600"/>
              </a:spcAft>
            </a:pPr>
            <a:r>
              <a:rPr lang="en-US" dirty="0"/>
              <a:t>When can two datasets be safely reused together?</a:t>
            </a:r>
          </a:p>
        </p:txBody>
      </p:sp>
      <p:cxnSp>
        <p:nvCxnSpPr>
          <p:cNvPr id="3" name="Connector: Curved 2">
            <a:extLst>
              <a:ext uri="{FF2B5EF4-FFF2-40B4-BE49-F238E27FC236}">
                <a16:creationId xmlns:a16="http://schemas.microsoft.com/office/drawing/2014/main" id="{4C05A326-22CD-EA0B-6FAF-4F055EF1C8BB}"/>
              </a:ext>
            </a:extLst>
          </p:cNvPr>
          <p:cNvCxnSpPr/>
          <p:nvPr/>
        </p:nvCxnSpPr>
        <p:spPr>
          <a:xfrm rot="10800000">
            <a:off x="3401109" y="5164357"/>
            <a:ext cx="1361631" cy="498257"/>
          </a:xfrm>
          <a:prstGeom prst="curvedConnector2">
            <a:avLst/>
          </a:prstGeom>
          <a:ln w="38100" cap="rnd">
            <a:solidFill>
              <a:srgbClr val="00B050"/>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E603A873-F6C9-DA90-2197-C61BE7B036F9}"/>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2</a:t>
            </a:r>
            <a:endParaRPr lang="en-NL" sz="1000" b="1" dirty="0"/>
          </a:p>
        </p:txBody>
      </p:sp>
      <p:sp>
        <p:nvSpPr>
          <p:cNvPr id="5" name="TextBox 4">
            <a:extLst>
              <a:ext uri="{FF2B5EF4-FFF2-40B4-BE49-F238E27FC236}">
                <a16:creationId xmlns:a16="http://schemas.microsoft.com/office/drawing/2014/main" id="{BADB3FDB-6374-BC4B-CED4-A5BEADFAF129}"/>
              </a:ext>
            </a:extLst>
          </p:cNvPr>
          <p:cNvSpPr txBox="1"/>
          <p:nvPr/>
        </p:nvSpPr>
        <p:spPr>
          <a:xfrm>
            <a:off x="3996162" y="2140587"/>
            <a:ext cx="7485507" cy="369332"/>
          </a:xfrm>
          <a:prstGeom prst="rect">
            <a:avLst/>
          </a:prstGeom>
          <a:ln/>
        </p:spPr>
        <p:style>
          <a:lnRef idx="0">
            <a:schemeClr val="accent4"/>
          </a:lnRef>
          <a:fillRef idx="3">
            <a:schemeClr val="accent4"/>
          </a:fillRef>
          <a:effectRef idx="3">
            <a:schemeClr val="accent4"/>
          </a:effectRef>
          <a:fontRef idx="minor">
            <a:schemeClr val="lt1"/>
          </a:fontRef>
        </p:style>
        <p:txBody>
          <a:bodyPr wrap="square">
            <a:spAutoFit/>
          </a:bodyPr>
          <a:lstStyle/>
          <a:p>
            <a:r>
              <a:rPr lang="en-US" dirty="0">
                <a:solidFill>
                  <a:schemeClr val="bg1"/>
                </a:solidFill>
              </a:rPr>
              <a:t>When their relevant columns implement the same standard concept.</a:t>
            </a:r>
            <a:endParaRPr lang="en-NL" dirty="0">
              <a:solidFill>
                <a:schemeClr val="bg1"/>
              </a:solidFill>
            </a:endParaRPr>
          </a:p>
        </p:txBody>
      </p:sp>
      <p:sp>
        <p:nvSpPr>
          <p:cNvPr id="7" name="TextBox 6">
            <a:extLst>
              <a:ext uri="{FF2B5EF4-FFF2-40B4-BE49-F238E27FC236}">
                <a16:creationId xmlns:a16="http://schemas.microsoft.com/office/drawing/2014/main" id="{FB93D673-6E5C-20F4-FA95-06230571E83A}"/>
              </a:ext>
            </a:extLst>
          </p:cNvPr>
          <p:cNvSpPr txBox="1"/>
          <p:nvPr/>
        </p:nvSpPr>
        <p:spPr>
          <a:xfrm>
            <a:off x="4005016" y="2560820"/>
            <a:ext cx="7485507" cy="646331"/>
          </a:xfrm>
          <a:prstGeom prst="rect">
            <a:avLst/>
          </a:prstGeom>
          <a:ln/>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a:solidFill>
                  <a:sysClr val="windowText" lastClr="000000"/>
                </a:solidFill>
              </a:rPr>
              <a:t>However, this works only if (1) the standard concept is well defined, and </a:t>
            </a:r>
          </a:p>
          <a:p>
            <a:r>
              <a:rPr lang="en-US" dirty="0">
                <a:solidFill>
                  <a:sysClr val="windowText" lastClr="000000"/>
                </a:solidFill>
              </a:rPr>
              <a:t>(2) the datasets implement it correctly.</a:t>
            </a:r>
            <a:endParaRPr lang="en-NL" dirty="0">
              <a:solidFill>
                <a:sysClr val="windowText" lastClr="000000"/>
              </a:solidFill>
            </a:endParaRPr>
          </a:p>
        </p:txBody>
      </p:sp>
    </p:spTree>
    <p:extLst>
      <p:ext uri="{BB962C8B-B14F-4D97-AF65-F5344CB8AC3E}">
        <p14:creationId xmlns:p14="http://schemas.microsoft.com/office/powerpoint/2010/main" val="3079210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0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25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57A14F-F3DB-FC47-BE87-1AAA08E6E437}"/>
            </a:ext>
          </a:extLst>
        </p:cNvPr>
        <p:cNvGrpSpPr/>
        <p:nvPr/>
      </p:nvGrpSpPr>
      <p:grpSpPr>
        <a:xfrm>
          <a:off x="0" y="0"/>
          <a:ext cx="0" cy="0"/>
          <a:chOff x="0" y="0"/>
          <a:chExt cx="0" cy="0"/>
        </a:xfrm>
      </p:grpSpPr>
      <p:sp>
        <p:nvSpPr>
          <p:cNvPr id="60" name="Cloud 59">
            <a:extLst>
              <a:ext uri="{FF2B5EF4-FFF2-40B4-BE49-F238E27FC236}">
                <a16:creationId xmlns:a16="http://schemas.microsoft.com/office/drawing/2014/main" id="{D4DD2EC3-101F-2B3F-4653-DBD5B3A1BCFC}"/>
              </a:ext>
            </a:extLst>
          </p:cNvPr>
          <p:cNvSpPr/>
          <p:nvPr/>
        </p:nvSpPr>
        <p:spPr>
          <a:xfrm>
            <a:off x="982761" y="1899659"/>
            <a:ext cx="10229850" cy="719659"/>
          </a:xfrm>
          <a:prstGeom prst="cloud">
            <a:avLst/>
          </a:prstGeom>
          <a:solidFill>
            <a:schemeClr val="accent1">
              <a:lumMod val="20000"/>
              <a:lumOff val="80000"/>
              <a:alpha val="5000"/>
            </a:schemeClr>
          </a:solidFill>
          <a:ln>
            <a:solidFill>
              <a:schemeClr val="accent1">
                <a:lumMod val="20000"/>
                <a:lumOff val="80000"/>
                <a:alpha val="4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 name="Title 1">
            <a:extLst>
              <a:ext uri="{FF2B5EF4-FFF2-40B4-BE49-F238E27FC236}">
                <a16:creationId xmlns:a16="http://schemas.microsoft.com/office/drawing/2014/main" id="{C57E4BE5-376A-9E7F-35C3-5233761B8DDA}"/>
              </a:ext>
            </a:extLst>
          </p:cNvPr>
          <p:cNvSpPr>
            <a:spLocks noGrp="1"/>
          </p:cNvSpPr>
          <p:nvPr>
            <p:ph type="title"/>
          </p:nvPr>
        </p:nvSpPr>
        <p:spPr/>
        <p:txBody>
          <a:bodyPr/>
          <a:lstStyle/>
          <a:p>
            <a:r>
              <a:rPr lang="en-US" sz="3600" dirty="0"/>
              <a:t>When are two datasets interoperable?</a:t>
            </a:r>
            <a:endParaRPr lang="en-NL" sz="3600" dirty="0"/>
          </a:p>
        </p:txBody>
      </p:sp>
      <p:sp>
        <p:nvSpPr>
          <p:cNvPr id="4" name="Slide Number Placeholder 3">
            <a:extLst>
              <a:ext uri="{FF2B5EF4-FFF2-40B4-BE49-F238E27FC236}">
                <a16:creationId xmlns:a16="http://schemas.microsoft.com/office/drawing/2014/main" id="{8C1813A7-7C4A-9DC2-D9E6-3BF6A407284B}"/>
              </a:ext>
            </a:extLst>
          </p:cNvPr>
          <p:cNvSpPr>
            <a:spLocks noGrp="1"/>
          </p:cNvSpPr>
          <p:nvPr>
            <p:ph type="sldNum" sz="quarter" idx="12"/>
          </p:nvPr>
        </p:nvSpPr>
        <p:spPr/>
        <p:txBody>
          <a:bodyPr/>
          <a:lstStyle/>
          <a:p>
            <a:fld id="{4FAB73BC-B049-4115-A692-8D63A059BFB8}" type="slidenum">
              <a:rPr lang="en-US" smtClean="0"/>
              <a:pPr/>
              <a:t>17</a:t>
            </a:fld>
            <a:endParaRPr lang="en-US" dirty="0"/>
          </a:p>
        </p:txBody>
      </p:sp>
      <p:cxnSp>
        <p:nvCxnSpPr>
          <p:cNvPr id="25" name="Straight Connector 24">
            <a:extLst>
              <a:ext uri="{FF2B5EF4-FFF2-40B4-BE49-F238E27FC236}">
                <a16:creationId xmlns:a16="http://schemas.microsoft.com/office/drawing/2014/main" id="{D67DD427-FE73-842A-B915-A4E83C603EA4}"/>
              </a:ext>
            </a:extLst>
          </p:cNvPr>
          <p:cNvCxnSpPr>
            <a:cxnSpLocks/>
          </p:cNvCxnSpPr>
          <p:nvPr/>
        </p:nvCxnSpPr>
        <p:spPr>
          <a:xfrm>
            <a:off x="2440086" y="2514600"/>
            <a:ext cx="0" cy="2159000"/>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30" name="Parallelogram 29">
            <a:extLst>
              <a:ext uri="{FF2B5EF4-FFF2-40B4-BE49-F238E27FC236}">
                <a16:creationId xmlns:a16="http://schemas.microsoft.com/office/drawing/2014/main" id="{64E3545E-5912-05FE-664C-5A6E7E8FBCB2}"/>
              </a:ext>
            </a:extLst>
          </p:cNvPr>
          <p:cNvSpPr/>
          <p:nvPr/>
        </p:nvSpPr>
        <p:spPr>
          <a:xfrm>
            <a:off x="982761" y="3153944"/>
            <a:ext cx="10229850" cy="1276350"/>
          </a:xfrm>
          <a:prstGeom prst="parallelogram">
            <a:avLst>
              <a:gd name="adj" fmla="val 113806"/>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31" name="TextBox 30">
            <a:extLst>
              <a:ext uri="{FF2B5EF4-FFF2-40B4-BE49-F238E27FC236}">
                <a16:creationId xmlns:a16="http://schemas.microsoft.com/office/drawing/2014/main" id="{9861AB09-09B3-7F85-579B-F38161FC78CD}"/>
              </a:ext>
            </a:extLst>
          </p:cNvPr>
          <p:cNvSpPr txBox="1"/>
          <p:nvPr/>
        </p:nvSpPr>
        <p:spPr>
          <a:xfrm>
            <a:off x="1218930" y="4122517"/>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33" name="Parallelogram 32">
            <a:extLst>
              <a:ext uri="{FF2B5EF4-FFF2-40B4-BE49-F238E27FC236}">
                <a16:creationId xmlns:a16="http://schemas.microsoft.com/office/drawing/2014/main" id="{BEA4D262-6B27-EA25-B690-89B03F3AE04A}"/>
              </a:ext>
            </a:extLst>
          </p:cNvPr>
          <p:cNvSpPr/>
          <p:nvPr/>
        </p:nvSpPr>
        <p:spPr>
          <a:xfrm>
            <a:off x="982761" y="4673600"/>
            <a:ext cx="10229850" cy="1276350"/>
          </a:xfrm>
          <a:prstGeom prst="parallelogram">
            <a:avLst>
              <a:gd name="adj" fmla="val 113806"/>
            </a:avLst>
          </a:prstGeom>
          <a:solidFill>
            <a:schemeClr val="accent4">
              <a:lumMod val="20000"/>
              <a:lumOff val="8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4" name="TextBox 33">
            <a:extLst>
              <a:ext uri="{FF2B5EF4-FFF2-40B4-BE49-F238E27FC236}">
                <a16:creationId xmlns:a16="http://schemas.microsoft.com/office/drawing/2014/main" id="{9C303F23-F34F-54CD-646F-9B0AED08727A}"/>
              </a:ext>
            </a:extLst>
          </p:cNvPr>
          <p:cNvSpPr txBox="1"/>
          <p:nvPr/>
        </p:nvSpPr>
        <p:spPr>
          <a:xfrm>
            <a:off x="1258204" y="5642173"/>
            <a:ext cx="152958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4"/>
                </a:solidFill>
              </a:rPr>
              <a:t>Dataset Columns</a:t>
            </a:r>
            <a:endParaRPr lang="en-NL" sz="1400" dirty="0">
              <a:solidFill>
                <a:schemeClr val="accent4"/>
              </a:solidFill>
            </a:endParaRPr>
          </a:p>
        </p:txBody>
      </p:sp>
      <p:cxnSp>
        <p:nvCxnSpPr>
          <p:cNvPr id="36" name="Straight Connector 35">
            <a:extLst>
              <a:ext uri="{FF2B5EF4-FFF2-40B4-BE49-F238E27FC236}">
                <a16:creationId xmlns:a16="http://schemas.microsoft.com/office/drawing/2014/main" id="{74C68E94-D302-AD87-C29C-7D4C6CCC38FA}"/>
              </a:ext>
            </a:extLst>
          </p:cNvPr>
          <p:cNvCxnSpPr>
            <a:cxnSpLocks/>
          </p:cNvCxnSpPr>
          <p:nvPr/>
        </p:nvCxnSpPr>
        <p:spPr>
          <a:xfrm>
            <a:off x="983453" y="2245519"/>
            <a:ext cx="0" cy="3704431"/>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8819E487-3D4C-A77B-7017-B4912C478227}"/>
              </a:ext>
            </a:extLst>
          </p:cNvPr>
          <p:cNvCxnSpPr>
            <a:cxnSpLocks/>
          </p:cNvCxnSpPr>
          <p:nvPr/>
        </p:nvCxnSpPr>
        <p:spPr>
          <a:xfrm>
            <a:off x="11204086" y="2272464"/>
            <a:ext cx="0" cy="24011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CAE78E32-B506-E4A5-D1A3-CA2527D42EEE}"/>
              </a:ext>
            </a:extLst>
          </p:cNvPr>
          <p:cNvCxnSpPr>
            <a:cxnSpLocks/>
          </p:cNvCxnSpPr>
          <p:nvPr/>
        </p:nvCxnSpPr>
        <p:spPr>
          <a:xfrm>
            <a:off x="9762478" y="2438400"/>
            <a:ext cx="0" cy="3511550"/>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8C4A1993-255F-DC61-CDA1-7EF4F99593AB}"/>
              </a:ext>
            </a:extLst>
          </p:cNvPr>
          <p:cNvCxnSpPr>
            <a:cxnSpLocks/>
            <a:stCxn id="35" idx="7"/>
            <a:endCxn id="56" idx="3"/>
          </p:cNvCxnSpPr>
          <p:nvPr/>
        </p:nvCxnSpPr>
        <p:spPr>
          <a:xfrm flipV="1">
            <a:off x="3545914" y="3936925"/>
            <a:ext cx="876112" cy="877837"/>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C94A593C-913C-4E3F-6E94-0FC4ACC98C1A}"/>
              </a:ext>
            </a:extLst>
          </p:cNvPr>
          <p:cNvCxnSpPr>
            <a:cxnSpLocks/>
            <a:endCxn id="56" idx="4"/>
          </p:cNvCxnSpPr>
          <p:nvPr/>
        </p:nvCxnSpPr>
        <p:spPr>
          <a:xfrm flipH="1" flipV="1">
            <a:off x="4566833" y="3996906"/>
            <a:ext cx="383508" cy="1541880"/>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E4D5F3FA-30BE-82B0-32C6-24F8A9EE1608}"/>
              </a:ext>
            </a:extLst>
          </p:cNvPr>
          <p:cNvCxnSpPr>
            <a:cxnSpLocks/>
            <a:endCxn id="58" idx="4"/>
          </p:cNvCxnSpPr>
          <p:nvPr/>
        </p:nvCxnSpPr>
        <p:spPr>
          <a:xfrm flipH="1" flipV="1">
            <a:off x="6017115" y="3677819"/>
            <a:ext cx="495205" cy="131709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3B451271-E63A-A5F5-7548-4172B717F7C8}"/>
              </a:ext>
            </a:extLst>
          </p:cNvPr>
          <p:cNvCxnSpPr>
            <a:cxnSpLocks/>
            <a:endCxn id="57" idx="4"/>
          </p:cNvCxnSpPr>
          <p:nvPr/>
        </p:nvCxnSpPr>
        <p:spPr>
          <a:xfrm flipH="1" flipV="1">
            <a:off x="7467397" y="4315994"/>
            <a:ext cx="632967" cy="122279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grpSp>
        <p:nvGrpSpPr>
          <p:cNvPr id="80" name="Group 79">
            <a:extLst>
              <a:ext uri="{FF2B5EF4-FFF2-40B4-BE49-F238E27FC236}">
                <a16:creationId xmlns:a16="http://schemas.microsoft.com/office/drawing/2014/main" id="{23636FC2-7067-B2B7-57E0-F1A98F1A6DB3}"/>
              </a:ext>
            </a:extLst>
          </p:cNvPr>
          <p:cNvGrpSpPr/>
          <p:nvPr/>
        </p:nvGrpSpPr>
        <p:grpSpPr>
          <a:xfrm>
            <a:off x="3196320" y="4754781"/>
            <a:ext cx="3542413" cy="409575"/>
            <a:chOff x="3196320" y="4783356"/>
            <a:chExt cx="3542413" cy="409575"/>
          </a:xfrm>
        </p:grpSpPr>
        <p:sp>
          <p:nvSpPr>
            <p:cNvPr id="35" name="Oval 34">
              <a:extLst>
                <a:ext uri="{FF2B5EF4-FFF2-40B4-BE49-F238E27FC236}">
                  <a16:creationId xmlns:a16="http://schemas.microsoft.com/office/drawing/2014/main" id="{2610B7B2-B537-0A67-CF74-B00D6B27F09A}"/>
                </a:ext>
              </a:extLst>
            </p:cNvPr>
            <p:cNvSpPr/>
            <p:nvPr/>
          </p:nvSpPr>
          <p:spPr>
            <a:xfrm>
              <a:off x="3196320" y="4783356"/>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D1</a:t>
              </a:r>
              <a:endParaRPr lang="en-NL" dirty="0"/>
            </a:p>
          </p:txBody>
        </p:sp>
        <p:sp>
          <p:nvSpPr>
            <p:cNvPr id="41" name="Oval 40">
              <a:extLst>
                <a:ext uri="{FF2B5EF4-FFF2-40B4-BE49-F238E27FC236}">
                  <a16:creationId xmlns:a16="http://schemas.microsoft.com/office/drawing/2014/main" id="{F927041C-C4C2-A8C8-07B7-CBD46D929C66}"/>
                </a:ext>
              </a:extLst>
            </p:cNvPr>
            <p:cNvSpPr/>
            <p:nvPr/>
          </p:nvSpPr>
          <p:spPr>
            <a:xfrm>
              <a:off x="6329158" y="4783356"/>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D2</a:t>
              </a:r>
              <a:endParaRPr lang="en-NL" dirty="0"/>
            </a:p>
          </p:txBody>
        </p:sp>
      </p:grpSp>
      <p:sp>
        <p:nvSpPr>
          <p:cNvPr id="52" name="Oval 51">
            <a:extLst>
              <a:ext uri="{FF2B5EF4-FFF2-40B4-BE49-F238E27FC236}">
                <a16:creationId xmlns:a16="http://schemas.microsoft.com/office/drawing/2014/main" id="{C515BE55-9689-6181-7BF5-356862EB56F2}"/>
              </a:ext>
            </a:extLst>
          </p:cNvPr>
          <p:cNvSpPr/>
          <p:nvPr/>
        </p:nvSpPr>
        <p:spPr>
          <a:xfrm>
            <a:off x="4762739" y="5457825"/>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D3</a:t>
            </a:r>
            <a:endParaRPr lang="en-NL" dirty="0"/>
          </a:p>
        </p:txBody>
      </p:sp>
      <p:sp>
        <p:nvSpPr>
          <p:cNvPr id="53" name="Oval 52">
            <a:extLst>
              <a:ext uri="{FF2B5EF4-FFF2-40B4-BE49-F238E27FC236}">
                <a16:creationId xmlns:a16="http://schemas.microsoft.com/office/drawing/2014/main" id="{17E74ED3-8899-552C-9DD6-413E72E0103A}"/>
              </a:ext>
            </a:extLst>
          </p:cNvPr>
          <p:cNvSpPr/>
          <p:nvPr/>
        </p:nvSpPr>
        <p:spPr>
          <a:xfrm>
            <a:off x="7895578" y="5457825"/>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D4</a:t>
            </a:r>
            <a:endParaRPr lang="en-NL" dirty="0"/>
          </a:p>
        </p:txBody>
      </p:sp>
      <p:sp>
        <p:nvSpPr>
          <p:cNvPr id="56" name="Oval 55">
            <a:extLst>
              <a:ext uri="{FF2B5EF4-FFF2-40B4-BE49-F238E27FC236}">
                <a16:creationId xmlns:a16="http://schemas.microsoft.com/office/drawing/2014/main" id="{6C52ECA0-0571-5603-019B-597D19F08C06}"/>
              </a:ext>
            </a:extLst>
          </p:cNvPr>
          <p:cNvSpPr/>
          <p:nvPr/>
        </p:nvSpPr>
        <p:spPr>
          <a:xfrm>
            <a:off x="4362045" y="3587331"/>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C1</a:t>
            </a:r>
            <a:endParaRPr lang="en-NL" dirty="0"/>
          </a:p>
        </p:txBody>
      </p:sp>
      <p:sp>
        <p:nvSpPr>
          <p:cNvPr id="57" name="Oval 56">
            <a:extLst>
              <a:ext uri="{FF2B5EF4-FFF2-40B4-BE49-F238E27FC236}">
                <a16:creationId xmlns:a16="http://schemas.microsoft.com/office/drawing/2014/main" id="{D60A6AE2-4528-3514-6853-37AE0C417EAC}"/>
              </a:ext>
            </a:extLst>
          </p:cNvPr>
          <p:cNvSpPr/>
          <p:nvPr/>
        </p:nvSpPr>
        <p:spPr>
          <a:xfrm>
            <a:off x="7262609" y="3906419"/>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C3</a:t>
            </a:r>
            <a:endParaRPr lang="en-NL" dirty="0"/>
          </a:p>
        </p:txBody>
      </p:sp>
      <p:sp>
        <p:nvSpPr>
          <p:cNvPr id="58" name="Oval 57">
            <a:extLst>
              <a:ext uri="{FF2B5EF4-FFF2-40B4-BE49-F238E27FC236}">
                <a16:creationId xmlns:a16="http://schemas.microsoft.com/office/drawing/2014/main" id="{B625D8F5-3751-C925-F796-3F97CD692AD5}"/>
              </a:ext>
            </a:extLst>
          </p:cNvPr>
          <p:cNvSpPr/>
          <p:nvPr/>
        </p:nvSpPr>
        <p:spPr>
          <a:xfrm>
            <a:off x="5812327" y="326824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C2</a:t>
            </a:r>
            <a:endParaRPr lang="en-NL" dirty="0"/>
          </a:p>
        </p:txBody>
      </p:sp>
      <p:cxnSp>
        <p:nvCxnSpPr>
          <p:cNvPr id="40" name="Straight Arrow Connector 39">
            <a:extLst>
              <a:ext uri="{FF2B5EF4-FFF2-40B4-BE49-F238E27FC236}">
                <a16:creationId xmlns:a16="http://schemas.microsoft.com/office/drawing/2014/main" id="{92B2EDD4-E0EF-320D-F5F8-B3EB4A5A75A2}"/>
              </a:ext>
            </a:extLst>
          </p:cNvPr>
          <p:cNvCxnSpPr>
            <a:cxnSpLocks/>
            <a:stCxn id="35" idx="6"/>
            <a:endCxn id="41" idx="2"/>
          </p:cNvCxnSpPr>
          <p:nvPr/>
        </p:nvCxnSpPr>
        <p:spPr>
          <a:xfrm>
            <a:off x="3605895" y="4959569"/>
            <a:ext cx="2723263" cy="0"/>
          </a:xfrm>
          <a:prstGeom prst="straightConnector1">
            <a:avLst/>
          </a:prstGeom>
          <a:ln w="38100" cap="rnd">
            <a:solidFill>
              <a:schemeClr val="accent2"/>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51" name="Speech Bubble: Rectangle 50">
            <a:extLst>
              <a:ext uri="{FF2B5EF4-FFF2-40B4-BE49-F238E27FC236}">
                <a16:creationId xmlns:a16="http://schemas.microsoft.com/office/drawing/2014/main" id="{4E377E5B-97EE-F5C4-6466-04D920389DE3}"/>
              </a:ext>
            </a:extLst>
          </p:cNvPr>
          <p:cNvSpPr/>
          <p:nvPr/>
        </p:nvSpPr>
        <p:spPr>
          <a:xfrm>
            <a:off x="704850" y="1648634"/>
            <a:ext cx="5391150" cy="597600"/>
          </a:xfrm>
          <a:prstGeom prst="wedgeRectCallout">
            <a:avLst>
              <a:gd name="adj1" fmla="val -21059"/>
              <a:gd name="adj2" fmla="val 105541"/>
            </a:avLst>
          </a:prstGeom>
          <a:solidFill>
            <a:schemeClr val="bg1">
              <a:lumMod val="95000"/>
              <a:alpha val="90000"/>
            </a:schemeClr>
          </a:solidFill>
        </p:spPr>
        <p:style>
          <a:lnRef idx="2">
            <a:schemeClr val="dk1"/>
          </a:lnRef>
          <a:fillRef idx="1">
            <a:schemeClr val="lt1"/>
          </a:fillRef>
          <a:effectRef idx="0">
            <a:schemeClr val="dk1"/>
          </a:effectRef>
          <a:fontRef idx="minor">
            <a:schemeClr val="dk1"/>
          </a:fontRef>
        </p:style>
        <p:txBody>
          <a:bodyPr rtlCol="0" anchor="ctr"/>
          <a:lstStyle/>
          <a:p>
            <a:pPr>
              <a:spcAft>
                <a:spcPts val="600"/>
              </a:spcAft>
            </a:pPr>
            <a:r>
              <a:rPr lang="en-US" dirty="0"/>
              <a:t>Can </a:t>
            </a:r>
            <a:r>
              <a:rPr lang="en-US" b="1" dirty="0"/>
              <a:t>D1 </a:t>
            </a:r>
            <a:r>
              <a:rPr lang="en-US" dirty="0"/>
              <a:t>and </a:t>
            </a:r>
            <a:r>
              <a:rPr lang="en-US" b="1" dirty="0"/>
              <a:t>D2 </a:t>
            </a:r>
            <a:r>
              <a:rPr lang="en-US" dirty="0"/>
              <a:t>be safely reused together?</a:t>
            </a:r>
          </a:p>
        </p:txBody>
      </p:sp>
      <p:grpSp>
        <p:nvGrpSpPr>
          <p:cNvPr id="54" name="Group 53">
            <a:extLst>
              <a:ext uri="{FF2B5EF4-FFF2-40B4-BE49-F238E27FC236}">
                <a16:creationId xmlns:a16="http://schemas.microsoft.com/office/drawing/2014/main" id="{A02BE12A-2D49-D829-0E10-2C665D3E589D}"/>
              </a:ext>
            </a:extLst>
          </p:cNvPr>
          <p:cNvGrpSpPr/>
          <p:nvPr/>
        </p:nvGrpSpPr>
        <p:grpSpPr>
          <a:xfrm>
            <a:off x="5046632" y="4507324"/>
            <a:ext cx="914400" cy="914400"/>
            <a:chOff x="4493141" y="273788"/>
            <a:chExt cx="914400" cy="914400"/>
          </a:xfrm>
        </p:grpSpPr>
        <p:sp>
          <p:nvSpPr>
            <p:cNvPr id="55" name="Oval 54">
              <a:extLst>
                <a:ext uri="{FF2B5EF4-FFF2-40B4-BE49-F238E27FC236}">
                  <a16:creationId xmlns:a16="http://schemas.microsoft.com/office/drawing/2014/main" id="{DF55D619-E9BC-6BCB-AF4D-95E34CE58435}"/>
                </a:ext>
              </a:extLst>
            </p:cNvPr>
            <p:cNvSpPr/>
            <p:nvPr/>
          </p:nvSpPr>
          <p:spPr>
            <a:xfrm>
              <a:off x="4630335" y="410982"/>
              <a:ext cx="640013" cy="640013"/>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pic>
          <p:nvPicPr>
            <p:cNvPr id="59" name="Graphic 58" descr="Badge Question Mark with solid fill">
              <a:extLst>
                <a:ext uri="{FF2B5EF4-FFF2-40B4-BE49-F238E27FC236}">
                  <a16:creationId xmlns:a16="http://schemas.microsoft.com/office/drawing/2014/main" id="{A38543B5-A96A-4596-72DF-90C27C14123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493141" y="273788"/>
              <a:ext cx="914400" cy="914400"/>
            </a:xfrm>
            <a:prstGeom prst="rect">
              <a:avLst/>
            </a:prstGeom>
          </p:spPr>
        </p:pic>
      </p:grpSp>
      <p:cxnSp>
        <p:nvCxnSpPr>
          <p:cNvPr id="3" name="Connector: Curved 2">
            <a:extLst>
              <a:ext uri="{FF2B5EF4-FFF2-40B4-BE49-F238E27FC236}">
                <a16:creationId xmlns:a16="http://schemas.microsoft.com/office/drawing/2014/main" id="{85B0BC83-FEDD-EF93-A36A-770ECF4A99FE}"/>
              </a:ext>
            </a:extLst>
          </p:cNvPr>
          <p:cNvCxnSpPr/>
          <p:nvPr/>
        </p:nvCxnSpPr>
        <p:spPr>
          <a:xfrm rot="10800000">
            <a:off x="3401109" y="5164357"/>
            <a:ext cx="1361631" cy="498257"/>
          </a:xfrm>
          <a:prstGeom prst="curvedConnector2">
            <a:avLst/>
          </a:prstGeom>
          <a:ln w="38100" cap="rnd">
            <a:solidFill>
              <a:srgbClr val="00B050"/>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0306C4D3-2E46-3518-C650-ACEFF58C2ADA}"/>
              </a:ext>
            </a:extLst>
          </p:cNvPr>
          <p:cNvSpPr txBox="1"/>
          <p:nvPr/>
        </p:nvSpPr>
        <p:spPr>
          <a:xfrm>
            <a:off x="3996162" y="2164971"/>
            <a:ext cx="7485507" cy="646331"/>
          </a:xfrm>
          <a:prstGeom prst="rect">
            <a:avLst/>
          </a:prstGeom>
        </p:spPr>
        <p:style>
          <a:lnRef idx="0">
            <a:schemeClr val="accent6"/>
          </a:lnRef>
          <a:fillRef idx="3">
            <a:schemeClr val="accent6"/>
          </a:fillRef>
          <a:effectRef idx="3">
            <a:schemeClr val="accent6"/>
          </a:effectRef>
          <a:fontRef idx="minor">
            <a:schemeClr val="lt1"/>
          </a:fontRef>
        </p:style>
        <p:txBody>
          <a:bodyPr wrap="square">
            <a:spAutoFit/>
          </a:bodyPr>
          <a:lstStyle/>
          <a:p>
            <a:r>
              <a:rPr lang="en-US" dirty="0">
                <a:solidFill>
                  <a:schemeClr val="bg1"/>
                </a:solidFill>
              </a:rPr>
              <a:t>Without explicit meanings, we can only see interoperability when datasets share the same standard concept.</a:t>
            </a:r>
            <a:endParaRPr lang="en-NL" dirty="0">
              <a:solidFill>
                <a:schemeClr val="bg1"/>
              </a:solidFill>
            </a:endParaRPr>
          </a:p>
        </p:txBody>
      </p:sp>
      <p:sp>
        <p:nvSpPr>
          <p:cNvPr id="9" name="TextBox 8">
            <a:extLst>
              <a:ext uri="{FF2B5EF4-FFF2-40B4-BE49-F238E27FC236}">
                <a16:creationId xmlns:a16="http://schemas.microsoft.com/office/drawing/2014/main" id="{C624DFD0-4B86-B7CC-66A9-C850A6610F1E}"/>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2</a:t>
            </a:r>
            <a:endParaRPr lang="en-NL" sz="1000" b="1" dirty="0"/>
          </a:p>
        </p:txBody>
      </p:sp>
    </p:spTree>
    <p:extLst>
      <p:ext uri="{BB962C8B-B14F-4D97-AF65-F5344CB8AC3E}">
        <p14:creationId xmlns:p14="http://schemas.microsoft.com/office/powerpoint/2010/main" val="2761131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00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22B88-155E-F865-7781-6F65155FBB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F56267-1763-5EE9-5E38-2351EDD07B5B}"/>
              </a:ext>
            </a:extLst>
          </p:cNvPr>
          <p:cNvSpPr>
            <a:spLocks noGrp="1"/>
          </p:cNvSpPr>
          <p:nvPr>
            <p:ph type="title"/>
          </p:nvPr>
        </p:nvSpPr>
        <p:spPr/>
        <p:txBody>
          <a:bodyPr/>
          <a:lstStyle/>
          <a:p>
            <a:r>
              <a:rPr lang="en-US" sz="3600" dirty="0"/>
              <a:t>Semantic Interoperability Conditions</a:t>
            </a:r>
          </a:p>
        </p:txBody>
      </p:sp>
      <p:sp>
        <p:nvSpPr>
          <p:cNvPr id="4" name="Slide Number Placeholder 3">
            <a:extLst>
              <a:ext uri="{FF2B5EF4-FFF2-40B4-BE49-F238E27FC236}">
                <a16:creationId xmlns:a16="http://schemas.microsoft.com/office/drawing/2014/main" id="{7FE807DD-5CE4-8A1B-C37A-252A3F48C8F9}"/>
              </a:ext>
            </a:extLst>
          </p:cNvPr>
          <p:cNvSpPr>
            <a:spLocks noGrp="1"/>
          </p:cNvSpPr>
          <p:nvPr>
            <p:ph type="sldNum" sz="quarter" idx="12"/>
          </p:nvPr>
        </p:nvSpPr>
        <p:spPr/>
        <p:txBody>
          <a:bodyPr/>
          <a:lstStyle/>
          <a:p>
            <a:fld id="{4FAB73BC-B049-4115-A692-8D63A059BFB8}" type="slidenum">
              <a:rPr lang="en-US" smtClean="0"/>
              <a:pPr/>
              <a:t>18</a:t>
            </a:fld>
            <a:endParaRPr lang="en-US" dirty="0"/>
          </a:p>
        </p:txBody>
      </p:sp>
      <p:cxnSp>
        <p:nvCxnSpPr>
          <p:cNvPr id="25" name="Straight Connector 24">
            <a:extLst>
              <a:ext uri="{FF2B5EF4-FFF2-40B4-BE49-F238E27FC236}">
                <a16:creationId xmlns:a16="http://schemas.microsoft.com/office/drawing/2014/main" id="{F8B6B38F-EBC1-375D-4E98-EA61B35728E8}"/>
              </a:ext>
            </a:extLst>
          </p:cNvPr>
          <p:cNvCxnSpPr>
            <a:cxnSpLocks/>
          </p:cNvCxnSpPr>
          <p:nvPr/>
        </p:nvCxnSpPr>
        <p:spPr>
          <a:xfrm>
            <a:off x="2440086" y="2514600"/>
            <a:ext cx="0" cy="2159000"/>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30" name="Parallelogram 29">
            <a:extLst>
              <a:ext uri="{FF2B5EF4-FFF2-40B4-BE49-F238E27FC236}">
                <a16:creationId xmlns:a16="http://schemas.microsoft.com/office/drawing/2014/main" id="{D8BB496D-A7A1-09DE-5879-4B67CDEE4248}"/>
              </a:ext>
            </a:extLst>
          </p:cNvPr>
          <p:cNvSpPr/>
          <p:nvPr/>
        </p:nvSpPr>
        <p:spPr>
          <a:xfrm>
            <a:off x="982761" y="3153944"/>
            <a:ext cx="10229850" cy="1276350"/>
          </a:xfrm>
          <a:prstGeom prst="parallelogram">
            <a:avLst>
              <a:gd name="adj" fmla="val 113806"/>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31" name="TextBox 30">
            <a:extLst>
              <a:ext uri="{FF2B5EF4-FFF2-40B4-BE49-F238E27FC236}">
                <a16:creationId xmlns:a16="http://schemas.microsoft.com/office/drawing/2014/main" id="{3E8C4001-4F8B-DC1F-6739-944EDC4193E0}"/>
              </a:ext>
            </a:extLst>
          </p:cNvPr>
          <p:cNvSpPr txBox="1"/>
          <p:nvPr/>
        </p:nvSpPr>
        <p:spPr>
          <a:xfrm>
            <a:off x="1218930" y="4122517"/>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33" name="Parallelogram 32">
            <a:extLst>
              <a:ext uri="{FF2B5EF4-FFF2-40B4-BE49-F238E27FC236}">
                <a16:creationId xmlns:a16="http://schemas.microsoft.com/office/drawing/2014/main" id="{5578AA24-E804-94ED-9AA3-04727176BB7A}"/>
              </a:ext>
            </a:extLst>
          </p:cNvPr>
          <p:cNvSpPr/>
          <p:nvPr/>
        </p:nvSpPr>
        <p:spPr>
          <a:xfrm>
            <a:off x="982761" y="4673600"/>
            <a:ext cx="10229850" cy="1276350"/>
          </a:xfrm>
          <a:prstGeom prst="parallelogram">
            <a:avLst>
              <a:gd name="adj" fmla="val 113806"/>
            </a:avLst>
          </a:prstGeom>
          <a:solidFill>
            <a:schemeClr val="accent4">
              <a:lumMod val="20000"/>
              <a:lumOff val="8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4" name="TextBox 33">
            <a:extLst>
              <a:ext uri="{FF2B5EF4-FFF2-40B4-BE49-F238E27FC236}">
                <a16:creationId xmlns:a16="http://schemas.microsoft.com/office/drawing/2014/main" id="{F26E2583-D5A6-8CF1-D240-985A39547AFE}"/>
              </a:ext>
            </a:extLst>
          </p:cNvPr>
          <p:cNvSpPr txBox="1"/>
          <p:nvPr/>
        </p:nvSpPr>
        <p:spPr>
          <a:xfrm>
            <a:off x="1258204" y="5642173"/>
            <a:ext cx="152958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4"/>
                </a:solidFill>
              </a:rPr>
              <a:t>Dataset Columns</a:t>
            </a:r>
            <a:endParaRPr lang="en-NL" sz="1400" dirty="0">
              <a:solidFill>
                <a:schemeClr val="accent4"/>
              </a:solidFill>
            </a:endParaRPr>
          </a:p>
        </p:txBody>
      </p:sp>
      <p:cxnSp>
        <p:nvCxnSpPr>
          <p:cNvPr id="36" name="Straight Connector 35">
            <a:extLst>
              <a:ext uri="{FF2B5EF4-FFF2-40B4-BE49-F238E27FC236}">
                <a16:creationId xmlns:a16="http://schemas.microsoft.com/office/drawing/2014/main" id="{1EA763DD-2057-9F94-7310-D228860E4B7D}"/>
              </a:ext>
            </a:extLst>
          </p:cNvPr>
          <p:cNvCxnSpPr>
            <a:cxnSpLocks/>
          </p:cNvCxnSpPr>
          <p:nvPr/>
        </p:nvCxnSpPr>
        <p:spPr>
          <a:xfrm>
            <a:off x="983453" y="2245519"/>
            <a:ext cx="0" cy="3704431"/>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3E95C421-1D02-227B-4B44-659565F6D60F}"/>
              </a:ext>
            </a:extLst>
          </p:cNvPr>
          <p:cNvCxnSpPr>
            <a:cxnSpLocks/>
          </p:cNvCxnSpPr>
          <p:nvPr/>
        </p:nvCxnSpPr>
        <p:spPr>
          <a:xfrm>
            <a:off x="11204086" y="2272464"/>
            <a:ext cx="0" cy="24011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878AA581-09A0-3644-6DCF-A893DDCB2797}"/>
              </a:ext>
            </a:extLst>
          </p:cNvPr>
          <p:cNvCxnSpPr>
            <a:cxnSpLocks/>
          </p:cNvCxnSpPr>
          <p:nvPr/>
        </p:nvCxnSpPr>
        <p:spPr>
          <a:xfrm>
            <a:off x="9762478" y="2438400"/>
            <a:ext cx="0" cy="3511550"/>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AF6203B1-FA4A-5AE7-94E3-B03F9DC0AE5E}"/>
              </a:ext>
            </a:extLst>
          </p:cNvPr>
          <p:cNvCxnSpPr>
            <a:cxnSpLocks/>
            <a:stCxn id="35" idx="7"/>
            <a:endCxn id="56" idx="3"/>
          </p:cNvCxnSpPr>
          <p:nvPr/>
        </p:nvCxnSpPr>
        <p:spPr>
          <a:xfrm flipV="1">
            <a:off x="3545914" y="3936925"/>
            <a:ext cx="876112" cy="877837"/>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E4C83CD8-5950-0E40-789D-14B85BBFF471}"/>
              </a:ext>
            </a:extLst>
          </p:cNvPr>
          <p:cNvCxnSpPr>
            <a:cxnSpLocks/>
            <a:endCxn id="56" idx="4"/>
          </p:cNvCxnSpPr>
          <p:nvPr/>
        </p:nvCxnSpPr>
        <p:spPr>
          <a:xfrm flipH="1" flipV="1">
            <a:off x="4566833" y="3996906"/>
            <a:ext cx="383508" cy="1541880"/>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23" name="Cloud 22">
            <a:extLst>
              <a:ext uri="{FF2B5EF4-FFF2-40B4-BE49-F238E27FC236}">
                <a16:creationId xmlns:a16="http://schemas.microsoft.com/office/drawing/2014/main" id="{64162AA6-1BBC-E3B0-3AB1-9C504E2095DD}"/>
              </a:ext>
            </a:extLst>
          </p:cNvPr>
          <p:cNvSpPr/>
          <p:nvPr/>
        </p:nvSpPr>
        <p:spPr>
          <a:xfrm>
            <a:off x="982761" y="1899659"/>
            <a:ext cx="10229850" cy="719659"/>
          </a:xfrm>
          <a:prstGeom prst="cloud">
            <a:avLst/>
          </a:prstGeom>
          <a:solidFill>
            <a:schemeClr val="accent1">
              <a:lumMod val="20000"/>
              <a:lumOff val="80000"/>
              <a:alpha val="50000"/>
            </a:schemeClr>
          </a:solidFill>
          <a:ln>
            <a:solidFill>
              <a:schemeClr val="accent1">
                <a:lumMod val="20000"/>
                <a:lumOff val="80000"/>
                <a:alpha val="9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61" name="Straight Arrow Connector 60">
            <a:extLst>
              <a:ext uri="{FF2B5EF4-FFF2-40B4-BE49-F238E27FC236}">
                <a16:creationId xmlns:a16="http://schemas.microsoft.com/office/drawing/2014/main" id="{D8A22B13-A704-6A4A-3BD0-FABBF7FACF6B}"/>
              </a:ext>
            </a:extLst>
          </p:cNvPr>
          <p:cNvCxnSpPr>
            <a:cxnSpLocks/>
            <a:endCxn id="58" idx="4"/>
          </p:cNvCxnSpPr>
          <p:nvPr/>
        </p:nvCxnSpPr>
        <p:spPr>
          <a:xfrm flipH="1" flipV="1">
            <a:off x="6017115" y="3677819"/>
            <a:ext cx="495205" cy="131709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930B3950-2241-6C58-1169-203BF934A3A7}"/>
              </a:ext>
            </a:extLst>
          </p:cNvPr>
          <p:cNvCxnSpPr>
            <a:cxnSpLocks/>
            <a:endCxn id="57" idx="4"/>
          </p:cNvCxnSpPr>
          <p:nvPr/>
        </p:nvCxnSpPr>
        <p:spPr>
          <a:xfrm flipH="1" flipV="1">
            <a:off x="7467397" y="4315994"/>
            <a:ext cx="632967" cy="122279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grpSp>
        <p:nvGrpSpPr>
          <p:cNvPr id="80" name="Group 79">
            <a:extLst>
              <a:ext uri="{FF2B5EF4-FFF2-40B4-BE49-F238E27FC236}">
                <a16:creationId xmlns:a16="http://schemas.microsoft.com/office/drawing/2014/main" id="{04B97203-3C6B-DAC9-ED6C-AA97692BA222}"/>
              </a:ext>
            </a:extLst>
          </p:cNvPr>
          <p:cNvGrpSpPr/>
          <p:nvPr/>
        </p:nvGrpSpPr>
        <p:grpSpPr>
          <a:xfrm>
            <a:off x="3196320" y="4754781"/>
            <a:ext cx="3542413" cy="409575"/>
            <a:chOff x="3196320" y="4783356"/>
            <a:chExt cx="3542413" cy="409575"/>
          </a:xfrm>
        </p:grpSpPr>
        <p:sp>
          <p:nvSpPr>
            <p:cNvPr id="35" name="Oval 34">
              <a:extLst>
                <a:ext uri="{FF2B5EF4-FFF2-40B4-BE49-F238E27FC236}">
                  <a16:creationId xmlns:a16="http://schemas.microsoft.com/office/drawing/2014/main" id="{1E73AEFB-06A0-14E5-9CD5-99D5F3D4A7DC}"/>
                </a:ext>
              </a:extLst>
            </p:cNvPr>
            <p:cNvSpPr/>
            <p:nvPr/>
          </p:nvSpPr>
          <p:spPr>
            <a:xfrm>
              <a:off x="3196320" y="4783356"/>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D1</a:t>
              </a:r>
              <a:endParaRPr lang="en-NL" dirty="0"/>
            </a:p>
          </p:txBody>
        </p:sp>
        <p:sp>
          <p:nvSpPr>
            <p:cNvPr id="41" name="Oval 40">
              <a:extLst>
                <a:ext uri="{FF2B5EF4-FFF2-40B4-BE49-F238E27FC236}">
                  <a16:creationId xmlns:a16="http://schemas.microsoft.com/office/drawing/2014/main" id="{0E19FE88-C46F-8705-C27E-5670AF3F85C5}"/>
                </a:ext>
              </a:extLst>
            </p:cNvPr>
            <p:cNvSpPr/>
            <p:nvPr/>
          </p:nvSpPr>
          <p:spPr>
            <a:xfrm>
              <a:off x="6329158" y="4783356"/>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D2</a:t>
              </a:r>
              <a:endParaRPr lang="en-NL" dirty="0"/>
            </a:p>
          </p:txBody>
        </p:sp>
      </p:grpSp>
      <p:sp>
        <p:nvSpPr>
          <p:cNvPr id="52" name="Oval 51">
            <a:extLst>
              <a:ext uri="{FF2B5EF4-FFF2-40B4-BE49-F238E27FC236}">
                <a16:creationId xmlns:a16="http://schemas.microsoft.com/office/drawing/2014/main" id="{D17E82C7-F274-DA4C-1899-33FE521187E2}"/>
              </a:ext>
            </a:extLst>
          </p:cNvPr>
          <p:cNvSpPr/>
          <p:nvPr/>
        </p:nvSpPr>
        <p:spPr>
          <a:xfrm>
            <a:off x="4762739" y="5457825"/>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D3</a:t>
            </a:r>
            <a:endParaRPr lang="en-NL" dirty="0"/>
          </a:p>
        </p:txBody>
      </p:sp>
      <p:sp>
        <p:nvSpPr>
          <p:cNvPr id="53" name="Oval 52">
            <a:extLst>
              <a:ext uri="{FF2B5EF4-FFF2-40B4-BE49-F238E27FC236}">
                <a16:creationId xmlns:a16="http://schemas.microsoft.com/office/drawing/2014/main" id="{B89C4342-5044-1030-48A9-CDA46AE36F95}"/>
              </a:ext>
            </a:extLst>
          </p:cNvPr>
          <p:cNvSpPr/>
          <p:nvPr/>
        </p:nvSpPr>
        <p:spPr>
          <a:xfrm>
            <a:off x="7895578" y="5457825"/>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D4</a:t>
            </a:r>
            <a:endParaRPr lang="en-NL" dirty="0"/>
          </a:p>
        </p:txBody>
      </p:sp>
      <p:sp>
        <p:nvSpPr>
          <p:cNvPr id="8" name="Oval 7">
            <a:extLst>
              <a:ext uri="{FF2B5EF4-FFF2-40B4-BE49-F238E27FC236}">
                <a16:creationId xmlns:a16="http://schemas.microsoft.com/office/drawing/2014/main" id="{5AC3D4D7-3EA3-ED61-ED86-16F83D35FCC8}"/>
              </a:ext>
            </a:extLst>
          </p:cNvPr>
          <p:cNvSpPr/>
          <p:nvPr/>
        </p:nvSpPr>
        <p:spPr>
          <a:xfrm>
            <a:off x="4357605" y="2066869"/>
            <a:ext cx="409575" cy="409575"/>
          </a:xfrm>
          <a:prstGeom prst="ellipse">
            <a:avLst/>
          </a:prstGeom>
          <a:solidFill>
            <a:schemeClr val="accent1">
              <a:lumMod val="40000"/>
              <a:lumOff val="60000"/>
            </a:schemeClr>
          </a:solidFill>
          <a:ln>
            <a:prstDash val="sys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700" dirty="0"/>
              <a:t>M1</a:t>
            </a:r>
            <a:endParaRPr lang="en-NL" sz="1700" dirty="0"/>
          </a:p>
        </p:txBody>
      </p:sp>
      <p:sp>
        <p:nvSpPr>
          <p:cNvPr id="9" name="Oval 8">
            <a:extLst>
              <a:ext uri="{FF2B5EF4-FFF2-40B4-BE49-F238E27FC236}">
                <a16:creationId xmlns:a16="http://schemas.microsoft.com/office/drawing/2014/main" id="{56179E8A-F1FC-7602-E87E-C8F27C786535}"/>
              </a:ext>
            </a:extLst>
          </p:cNvPr>
          <p:cNvSpPr/>
          <p:nvPr/>
        </p:nvSpPr>
        <p:spPr>
          <a:xfrm>
            <a:off x="5812327" y="2056579"/>
            <a:ext cx="409575" cy="409575"/>
          </a:xfrm>
          <a:prstGeom prst="ellipse">
            <a:avLst/>
          </a:prstGeom>
          <a:solidFill>
            <a:schemeClr val="accent1">
              <a:lumMod val="40000"/>
              <a:lumOff val="60000"/>
            </a:schemeClr>
          </a:solidFill>
          <a:ln>
            <a:prstDash val="sys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700" dirty="0"/>
              <a:t>M2</a:t>
            </a:r>
            <a:endParaRPr lang="en-NL" sz="1700" dirty="0"/>
          </a:p>
        </p:txBody>
      </p:sp>
      <p:cxnSp>
        <p:nvCxnSpPr>
          <p:cNvPr id="10" name="Straight Arrow Connector 9">
            <a:extLst>
              <a:ext uri="{FF2B5EF4-FFF2-40B4-BE49-F238E27FC236}">
                <a16:creationId xmlns:a16="http://schemas.microsoft.com/office/drawing/2014/main" id="{F98ED3DA-1168-1690-61DE-4CDA5DFAC078}"/>
              </a:ext>
            </a:extLst>
          </p:cNvPr>
          <p:cNvCxnSpPr>
            <a:cxnSpLocks/>
            <a:stCxn id="56" idx="0"/>
            <a:endCxn id="8" idx="4"/>
          </p:cNvCxnSpPr>
          <p:nvPr/>
        </p:nvCxnSpPr>
        <p:spPr>
          <a:xfrm flipH="1" flipV="1">
            <a:off x="4562393" y="2476444"/>
            <a:ext cx="4440" cy="1110887"/>
          </a:xfrm>
          <a:prstGeom prst="straightConnector1">
            <a:avLst/>
          </a:prstGeom>
          <a:ln w="38100">
            <a:solidFill>
              <a:schemeClr val="tx1">
                <a:lumMod val="50000"/>
                <a:lumOff val="50000"/>
              </a:schemeClr>
            </a:solidFill>
            <a:prstDash val="sysDot"/>
            <a:tailEnd type="triangle" w="lg" len="med"/>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D240B7C5-5996-3553-F230-41B46E7BD4B3}"/>
              </a:ext>
            </a:extLst>
          </p:cNvPr>
          <p:cNvCxnSpPr>
            <a:cxnSpLocks/>
            <a:stCxn id="58" idx="0"/>
            <a:endCxn id="9" idx="4"/>
          </p:cNvCxnSpPr>
          <p:nvPr/>
        </p:nvCxnSpPr>
        <p:spPr>
          <a:xfrm flipV="1">
            <a:off x="6017115" y="2466154"/>
            <a:ext cx="0" cy="802090"/>
          </a:xfrm>
          <a:prstGeom prst="straightConnector1">
            <a:avLst/>
          </a:prstGeom>
          <a:ln w="38100">
            <a:solidFill>
              <a:schemeClr val="tx1">
                <a:lumMod val="50000"/>
                <a:lumOff val="50000"/>
              </a:schemeClr>
            </a:solidFill>
            <a:prstDash val="sysDot"/>
            <a:tailEnd type="triangle" w="lg" len="med"/>
          </a:ln>
        </p:spPr>
        <p:style>
          <a:lnRef idx="1">
            <a:schemeClr val="accent1"/>
          </a:lnRef>
          <a:fillRef idx="0">
            <a:schemeClr val="accent1"/>
          </a:fillRef>
          <a:effectRef idx="0">
            <a:schemeClr val="accent1"/>
          </a:effectRef>
          <a:fontRef idx="minor">
            <a:schemeClr val="tx1"/>
          </a:fontRef>
        </p:style>
      </p:cxnSp>
      <p:sp>
        <p:nvSpPr>
          <p:cNvPr id="56" name="Oval 55">
            <a:extLst>
              <a:ext uri="{FF2B5EF4-FFF2-40B4-BE49-F238E27FC236}">
                <a16:creationId xmlns:a16="http://schemas.microsoft.com/office/drawing/2014/main" id="{A89FBF7C-CD15-F8F3-E501-07E64C564745}"/>
              </a:ext>
            </a:extLst>
          </p:cNvPr>
          <p:cNvSpPr/>
          <p:nvPr/>
        </p:nvSpPr>
        <p:spPr>
          <a:xfrm>
            <a:off x="4362045" y="3587331"/>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C1</a:t>
            </a:r>
            <a:endParaRPr lang="en-NL" dirty="0"/>
          </a:p>
        </p:txBody>
      </p:sp>
      <p:sp>
        <p:nvSpPr>
          <p:cNvPr id="57" name="Oval 56">
            <a:extLst>
              <a:ext uri="{FF2B5EF4-FFF2-40B4-BE49-F238E27FC236}">
                <a16:creationId xmlns:a16="http://schemas.microsoft.com/office/drawing/2014/main" id="{61386E59-3937-0FB4-F690-33553320474C}"/>
              </a:ext>
            </a:extLst>
          </p:cNvPr>
          <p:cNvSpPr/>
          <p:nvPr/>
        </p:nvSpPr>
        <p:spPr>
          <a:xfrm>
            <a:off x="7262609" y="3906419"/>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C3</a:t>
            </a:r>
            <a:endParaRPr lang="en-NL" dirty="0"/>
          </a:p>
        </p:txBody>
      </p:sp>
      <p:sp>
        <p:nvSpPr>
          <p:cNvPr id="58" name="Oval 57">
            <a:extLst>
              <a:ext uri="{FF2B5EF4-FFF2-40B4-BE49-F238E27FC236}">
                <a16:creationId xmlns:a16="http://schemas.microsoft.com/office/drawing/2014/main" id="{0D862D82-1568-902F-157B-C79D58A66811}"/>
              </a:ext>
            </a:extLst>
          </p:cNvPr>
          <p:cNvSpPr/>
          <p:nvPr/>
        </p:nvSpPr>
        <p:spPr>
          <a:xfrm>
            <a:off x="5812327" y="326824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C2</a:t>
            </a:r>
            <a:endParaRPr lang="en-NL" dirty="0"/>
          </a:p>
        </p:txBody>
      </p:sp>
      <p:cxnSp>
        <p:nvCxnSpPr>
          <p:cNvPr id="40" name="Straight Arrow Connector 39">
            <a:extLst>
              <a:ext uri="{FF2B5EF4-FFF2-40B4-BE49-F238E27FC236}">
                <a16:creationId xmlns:a16="http://schemas.microsoft.com/office/drawing/2014/main" id="{499F7B4E-884E-2904-6A7A-2C2369EC5EB7}"/>
              </a:ext>
            </a:extLst>
          </p:cNvPr>
          <p:cNvCxnSpPr>
            <a:cxnSpLocks/>
            <a:stCxn id="35" idx="6"/>
            <a:endCxn id="41" idx="2"/>
          </p:cNvCxnSpPr>
          <p:nvPr/>
        </p:nvCxnSpPr>
        <p:spPr>
          <a:xfrm>
            <a:off x="3605895" y="4959569"/>
            <a:ext cx="2723263" cy="0"/>
          </a:xfrm>
          <a:prstGeom prst="straightConnector1">
            <a:avLst/>
          </a:prstGeom>
          <a:ln w="38100" cap="rnd">
            <a:solidFill>
              <a:schemeClr val="accent2"/>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grpSp>
        <p:nvGrpSpPr>
          <p:cNvPr id="22" name="Group 21">
            <a:extLst>
              <a:ext uri="{FF2B5EF4-FFF2-40B4-BE49-F238E27FC236}">
                <a16:creationId xmlns:a16="http://schemas.microsoft.com/office/drawing/2014/main" id="{AEBEBD47-5D8E-2EB9-E02C-5E68AD7B0A3F}"/>
              </a:ext>
            </a:extLst>
          </p:cNvPr>
          <p:cNvGrpSpPr/>
          <p:nvPr/>
        </p:nvGrpSpPr>
        <p:grpSpPr>
          <a:xfrm>
            <a:off x="5050172" y="4502368"/>
            <a:ext cx="914400" cy="914400"/>
            <a:chOff x="5026342" y="319898"/>
            <a:chExt cx="914400" cy="914400"/>
          </a:xfrm>
        </p:grpSpPr>
        <p:sp>
          <p:nvSpPr>
            <p:cNvPr id="48" name="Oval 47">
              <a:extLst>
                <a:ext uri="{FF2B5EF4-FFF2-40B4-BE49-F238E27FC236}">
                  <a16:creationId xmlns:a16="http://schemas.microsoft.com/office/drawing/2014/main" id="{454117BC-97F4-73CE-F4B4-1A771D1F5FFE}"/>
                </a:ext>
              </a:extLst>
            </p:cNvPr>
            <p:cNvSpPr/>
            <p:nvPr/>
          </p:nvSpPr>
          <p:spPr>
            <a:xfrm>
              <a:off x="5163536" y="457092"/>
              <a:ext cx="640013" cy="640013"/>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p>
          </p:txBody>
        </p:sp>
        <p:pic>
          <p:nvPicPr>
            <p:cNvPr id="21" name="Graphic 20" descr="Badge Cross with solid fill">
              <a:extLst>
                <a:ext uri="{FF2B5EF4-FFF2-40B4-BE49-F238E27FC236}">
                  <a16:creationId xmlns:a16="http://schemas.microsoft.com/office/drawing/2014/main" id="{46FBE4E4-A6B0-130D-AC05-560DFAC7642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26342" y="319898"/>
              <a:ext cx="914400" cy="914400"/>
            </a:xfrm>
            <a:prstGeom prst="rect">
              <a:avLst/>
            </a:prstGeom>
          </p:spPr>
        </p:pic>
      </p:grpSp>
      <p:sp>
        <p:nvSpPr>
          <p:cNvPr id="43" name="TextBox 42">
            <a:extLst>
              <a:ext uri="{FF2B5EF4-FFF2-40B4-BE49-F238E27FC236}">
                <a16:creationId xmlns:a16="http://schemas.microsoft.com/office/drawing/2014/main" id="{F558A9DB-131C-D819-EBC1-2723FC36A670}"/>
              </a:ext>
            </a:extLst>
          </p:cNvPr>
          <p:cNvSpPr txBox="1"/>
          <p:nvPr/>
        </p:nvSpPr>
        <p:spPr>
          <a:xfrm>
            <a:off x="1258204" y="2101155"/>
            <a:ext cx="954107"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1"/>
                </a:solidFill>
              </a:rPr>
              <a:t>Meanings</a:t>
            </a:r>
            <a:endParaRPr lang="en-NL" sz="1400" dirty="0">
              <a:solidFill>
                <a:schemeClr val="accent1"/>
              </a:solidFill>
            </a:endParaRPr>
          </a:p>
        </p:txBody>
      </p:sp>
      <p:cxnSp>
        <p:nvCxnSpPr>
          <p:cNvPr id="3" name="Connector: Curved 2">
            <a:extLst>
              <a:ext uri="{FF2B5EF4-FFF2-40B4-BE49-F238E27FC236}">
                <a16:creationId xmlns:a16="http://schemas.microsoft.com/office/drawing/2014/main" id="{B1B7C4C8-2B76-C4AB-FCEE-5ACFDC9AFB35}"/>
              </a:ext>
            </a:extLst>
          </p:cNvPr>
          <p:cNvCxnSpPr/>
          <p:nvPr/>
        </p:nvCxnSpPr>
        <p:spPr>
          <a:xfrm rot="10800000">
            <a:off x="3401109" y="5164357"/>
            <a:ext cx="1361631" cy="498257"/>
          </a:xfrm>
          <a:prstGeom prst="curvedConnector2">
            <a:avLst/>
          </a:prstGeom>
          <a:ln w="38100" cap="rnd">
            <a:solidFill>
              <a:srgbClr val="00B050"/>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2E9B0544-0348-3556-0193-9DDE38E2720C}"/>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2</a:t>
            </a:r>
            <a:endParaRPr lang="en-NL" sz="1000" b="1" dirty="0"/>
          </a:p>
        </p:txBody>
      </p:sp>
      <p:sp>
        <p:nvSpPr>
          <p:cNvPr id="14" name="TextBox 13">
            <a:extLst>
              <a:ext uri="{FF2B5EF4-FFF2-40B4-BE49-F238E27FC236}">
                <a16:creationId xmlns:a16="http://schemas.microsoft.com/office/drawing/2014/main" id="{5E36416E-15C0-A1AA-9886-0C5396DCE65D}"/>
              </a:ext>
            </a:extLst>
          </p:cNvPr>
          <p:cNvSpPr txBox="1"/>
          <p:nvPr/>
        </p:nvSpPr>
        <p:spPr>
          <a:xfrm>
            <a:off x="6890659" y="1662239"/>
            <a:ext cx="4606016" cy="338554"/>
          </a:xfrm>
          <a:prstGeom prst="rect">
            <a:avLst/>
          </a:prstGeom>
          <a:ln/>
        </p:spPr>
        <p:style>
          <a:lnRef idx="0">
            <a:schemeClr val="accent4"/>
          </a:lnRef>
          <a:fillRef idx="3">
            <a:schemeClr val="accent4"/>
          </a:fillRef>
          <a:effectRef idx="3">
            <a:schemeClr val="accent4"/>
          </a:effectRef>
          <a:fontRef idx="minor">
            <a:schemeClr val="lt1"/>
          </a:fontRef>
        </p:style>
        <p:txBody>
          <a:bodyPr wrap="square">
            <a:spAutoFit/>
          </a:bodyPr>
          <a:lstStyle/>
          <a:p>
            <a:r>
              <a:rPr lang="en-US" sz="1600" dirty="0">
                <a:solidFill>
                  <a:schemeClr val="bg1"/>
                </a:solidFill>
              </a:rPr>
              <a:t>We need precise and explicit meanings.</a:t>
            </a:r>
            <a:endParaRPr lang="en-NL" sz="1600" dirty="0">
              <a:solidFill>
                <a:schemeClr val="bg1"/>
              </a:solidFill>
            </a:endParaRPr>
          </a:p>
        </p:txBody>
      </p:sp>
      <p:sp>
        <p:nvSpPr>
          <p:cNvPr id="17" name="TextBox 16">
            <a:extLst>
              <a:ext uri="{FF2B5EF4-FFF2-40B4-BE49-F238E27FC236}">
                <a16:creationId xmlns:a16="http://schemas.microsoft.com/office/drawing/2014/main" id="{D4F6795E-40B7-FC11-251F-5B2BA2CB9F69}"/>
              </a:ext>
            </a:extLst>
          </p:cNvPr>
          <p:cNvSpPr txBox="1"/>
          <p:nvPr/>
        </p:nvSpPr>
        <p:spPr>
          <a:xfrm>
            <a:off x="6890660" y="2123439"/>
            <a:ext cx="4606015" cy="338554"/>
          </a:xfrm>
          <a:prstGeom prst="rect">
            <a:avLst/>
          </a:prstGeom>
          <a:ln/>
        </p:spPr>
        <p:style>
          <a:lnRef idx="0">
            <a:schemeClr val="accent6"/>
          </a:lnRef>
          <a:fillRef idx="3">
            <a:schemeClr val="accent6"/>
          </a:fillRef>
          <a:effectRef idx="3">
            <a:schemeClr val="accent6"/>
          </a:effectRef>
          <a:fontRef idx="minor">
            <a:schemeClr val="lt1"/>
          </a:fontRef>
        </p:style>
        <p:txBody>
          <a:bodyPr wrap="square">
            <a:spAutoFit/>
          </a:bodyPr>
          <a:lstStyle/>
          <a:p>
            <a:r>
              <a:rPr lang="en-US" sz="1600" dirty="0">
                <a:solidFill>
                  <a:schemeClr val="bg1"/>
                </a:solidFill>
              </a:rPr>
              <a:t>If meanings differ, interoperability is not possible.</a:t>
            </a:r>
            <a:endParaRPr lang="en-NL" sz="1600" dirty="0">
              <a:solidFill>
                <a:schemeClr val="bg1"/>
              </a:solidFill>
            </a:endParaRPr>
          </a:p>
        </p:txBody>
      </p:sp>
      <p:sp>
        <p:nvSpPr>
          <p:cNvPr id="19" name="TextBox 18">
            <a:extLst>
              <a:ext uri="{FF2B5EF4-FFF2-40B4-BE49-F238E27FC236}">
                <a16:creationId xmlns:a16="http://schemas.microsoft.com/office/drawing/2014/main" id="{F3E4D7F5-32F2-2331-0A1A-4D93902CA297}"/>
              </a:ext>
            </a:extLst>
          </p:cNvPr>
          <p:cNvSpPr txBox="1"/>
          <p:nvPr/>
        </p:nvSpPr>
        <p:spPr>
          <a:xfrm>
            <a:off x="5550713" y="4490138"/>
            <a:ext cx="581025" cy="400110"/>
          </a:xfrm>
          <a:prstGeom prst="rect">
            <a:avLst/>
          </a:prstGeom>
          <a:noFill/>
        </p:spPr>
        <p:txBody>
          <a:bodyPr wrap="square" rtlCol="0">
            <a:spAutoFit/>
          </a:bodyPr>
          <a:lstStyle/>
          <a:p>
            <a:r>
              <a:rPr lang="en-US" sz="2000" dirty="0">
                <a:latin typeface="Amasis MT Pro Black" panose="02040A04050005020304" pitchFamily="18" charset="0"/>
              </a:rPr>
              <a:t>*</a:t>
            </a:r>
            <a:endParaRPr lang="en-NL" sz="300" dirty="0">
              <a:latin typeface="Amasis MT Pro Black" panose="02040A04050005020304" pitchFamily="18" charset="0"/>
            </a:endParaRPr>
          </a:p>
        </p:txBody>
      </p:sp>
    </p:spTree>
    <p:extLst>
      <p:ext uri="{BB962C8B-B14F-4D97-AF65-F5344CB8AC3E}">
        <p14:creationId xmlns:p14="http://schemas.microsoft.com/office/powerpoint/2010/main" val="2323760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E52BED-73BE-A7E1-9D70-716383B470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27C900-8572-836D-027D-79F7391311E4}"/>
              </a:ext>
            </a:extLst>
          </p:cNvPr>
          <p:cNvSpPr>
            <a:spLocks noGrp="1"/>
          </p:cNvSpPr>
          <p:nvPr>
            <p:ph type="title"/>
          </p:nvPr>
        </p:nvSpPr>
        <p:spPr/>
        <p:txBody>
          <a:bodyPr/>
          <a:lstStyle/>
          <a:p>
            <a:r>
              <a:rPr lang="en-US" sz="3600" dirty="0"/>
              <a:t>Semantic Interoperability Conditions</a:t>
            </a:r>
          </a:p>
        </p:txBody>
      </p:sp>
      <p:sp>
        <p:nvSpPr>
          <p:cNvPr id="4" name="Slide Number Placeholder 3">
            <a:extLst>
              <a:ext uri="{FF2B5EF4-FFF2-40B4-BE49-F238E27FC236}">
                <a16:creationId xmlns:a16="http://schemas.microsoft.com/office/drawing/2014/main" id="{9E386F84-2EBB-ABD0-C8A0-3CEF960CB43A}"/>
              </a:ext>
            </a:extLst>
          </p:cNvPr>
          <p:cNvSpPr>
            <a:spLocks noGrp="1"/>
          </p:cNvSpPr>
          <p:nvPr>
            <p:ph type="sldNum" sz="quarter" idx="12"/>
          </p:nvPr>
        </p:nvSpPr>
        <p:spPr/>
        <p:txBody>
          <a:bodyPr/>
          <a:lstStyle/>
          <a:p>
            <a:fld id="{4FAB73BC-B049-4115-A692-8D63A059BFB8}" type="slidenum">
              <a:rPr lang="en-US" smtClean="0"/>
              <a:pPr/>
              <a:t>19</a:t>
            </a:fld>
            <a:endParaRPr lang="en-US" dirty="0"/>
          </a:p>
        </p:txBody>
      </p:sp>
      <p:cxnSp>
        <p:nvCxnSpPr>
          <p:cNvPr id="25" name="Straight Connector 24">
            <a:extLst>
              <a:ext uri="{FF2B5EF4-FFF2-40B4-BE49-F238E27FC236}">
                <a16:creationId xmlns:a16="http://schemas.microsoft.com/office/drawing/2014/main" id="{61ED798C-B701-559D-9153-6D7B75563837}"/>
              </a:ext>
            </a:extLst>
          </p:cNvPr>
          <p:cNvCxnSpPr>
            <a:cxnSpLocks/>
          </p:cNvCxnSpPr>
          <p:nvPr/>
        </p:nvCxnSpPr>
        <p:spPr>
          <a:xfrm>
            <a:off x="2440086" y="2514600"/>
            <a:ext cx="0" cy="2159000"/>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30" name="Parallelogram 29">
            <a:extLst>
              <a:ext uri="{FF2B5EF4-FFF2-40B4-BE49-F238E27FC236}">
                <a16:creationId xmlns:a16="http://schemas.microsoft.com/office/drawing/2014/main" id="{02D860CF-52A6-2E09-80FE-BE7C70C0B3F9}"/>
              </a:ext>
            </a:extLst>
          </p:cNvPr>
          <p:cNvSpPr/>
          <p:nvPr/>
        </p:nvSpPr>
        <p:spPr>
          <a:xfrm>
            <a:off x="982761" y="3153944"/>
            <a:ext cx="10229850" cy="1276350"/>
          </a:xfrm>
          <a:prstGeom prst="parallelogram">
            <a:avLst>
              <a:gd name="adj" fmla="val 113806"/>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31" name="TextBox 30">
            <a:extLst>
              <a:ext uri="{FF2B5EF4-FFF2-40B4-BE49-F238E27FC236}">
                <a16:creationId xmlns:a16="http://schemas.microsoft.com/office/drawing/2014/main" id="{5273C1B1-A85C-00DE-833D-E1DE7B205B88}"/>
              </a:ext>
            </a:extLst>
          </p:cNvPr>
          <p:cNvSpPr txBox="1"/>
          <p:nvPr/>
        </p:nvSpPr>
        <p:spPr>
          <a:xfrm>
            <a:off x="1218930" y="4122517"/>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33" name="Parallelogram 32">
            <a:extLst>
              <a:ext uri="{FF2B5EF4-FFF2-40B4-BE49-F238E27FC236}">
                <a16:creationId xmlns:a16="http://schemas.microsoft.com/office/drawing/2014/main" id="{864DA527-CBF1-631A-C154-AD510603CAB1}"/>
              </a:ext>
            </a:extLst>
          </p:cNvPr>
          <p:cNvSpPr/>
          <p:nvPr/>
        </p:nvSpPr>
        <p:spPr>
          <a:xfrm>
            <a:off x="982761" y="4673600"/>
            <a:ext cx="10229850" cy="1276350"/>
          </a:xfrm>
          <a:prstGeom prst="parallelogram">
            <a:avLst>
              <a:gd name="adj" fmla="val 113806"/>
            </a:avLst>
          </a:prstGeom>
          <a:solidFill>
            <a:schemeClr val="accent4">
              <a:lumMod val="20000"/>
              <a:lumOff val="8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4" name="TextBox 33">
            <a:extLst>
              <a:ext uri="{FF2B5EF4-FFF2-40B4-BE49-F238E27FC236}">
                <a16:creationId xmlns:a16="http://schemas.microsoft.com/office/drawing/2014/main" id="{E7E0A84D-5B60-DC4B-0489-E3CC54455AD4}"/>
              </a:ext>
            </a:extLst>
          </p:cNvPr>
          <p:cNvSpPr txBox="1"/>
          <p:nvPr/>
        </p:nvSpPr>
        <p:spPr>
          <a:xfrm>
            <a:off x="1258204" y="5642173"/>
            <a:ext cx="152958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4"/>
                </a:solidFill>
              </a:rPr>
              <a:t>Dataset Columns</a:t>
            </a:r>
            <a:endParaRPr lang="en-NL" sz="1400" dirty="0">
              <a:solidFill>
                <a:schemeClr val="accent4"/>
              </a:solidFill>
            </a:endParaRPr>
          </a:p>
        </p:txBody>
      </p:sp>
      <p:cxnSp>
        <p:nvCxnSpPr>
          <p:cNvPr id="36" name="Straight Connector 35">
            <a:extLst>
              <a:ext uri="{FF2B5EF4-FFF2-40B4-BE49-F238E27FC236}">
                <a16:creationId xmlns:a16="http://schemas.microsoft.com/office/drawing/2014/main" id="{02557A1C-92BA-FDFC-C18C-8809F99556AD}"/>
              </a:ext>
            </a:extLst>
          </p:cNvPr>
          <p:cNvCxnSpPr>
            <a:cxnSpLocks/>
          </p:cNvCxnSpPr>
          <p:nvPr/>
        </p:nvCxnSpPr>
        <p:spPr>
          <a:xfrm>
            <a:off x="983453" y="2245519"/>
            <a:ext cx="0" cy="3704431"/>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F696AFA4-014F-422B-FA99-F022B8DF7020}"/>
              </a:ext>
            </a:extLst>
          </p:cNvPr>
          <p:cNvCxnSpPr>
            <a:cxnSpLocks/>
          </p:cNvCxnSpPr>
          <p:nvPr/>
        </p:nvCxnSpPr>
        <p:spPr>
          <a:xfrm>
            <a:off x="11204086" y="2272464"/>
            <a:ext cx="0" cy="24011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E2CFE052-6A61-EAB8-4AE3-AFABEAE6D3B4}"/>
              </a:ext>
            </a:extLst>
          </p:cNvPr>
          <p:cNvCxnSpPr>
            <a:cxnSpLocks/>
          </p:cNvCxnSpPr>
          <p:nvPr/>
        </p:nvCxnSpPr>
        <p:spPr>
          <a:xfrm>
            <a:off x="9762478" y="2438400"/>
            <a:ext cx="0" cy="3511550"/>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7E95164A-3DF1-B793-7ABD-CD0E736D5C49}"/>
              </a:ext>
            </a:extLst>
          </p:cNvPr>
          <p:cNvCxnSpPr>
            <a:cxnSpLocks/>
            <a:stCxn id="35" idx="7"/>
            <a:endCxn id="56" idx="3"/>
          </p:cNvCxnSpPr>
          <p:nvPr/>
        </p:nvCxnSpPr>
        <p:spPr>
          <a:xfrm flipV="1">
            <a:off x="3545914" y="3936925"/>
            <a:ext cx="876112" cy="877837"/>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267F3CA6-E89E-A301-FAD0-3AD263925FDF}"/>
              </a:ext>
            </a:extLst>
          </p:cNvPr>
          <p:cNvCxnSpPr>
            <a:cxnSpLocks/>
            <a:endCxn id="56" idx="4"/>
          </p:cNvCxnSpPr>
          <p:nvPr/>
        </p:nvCxnSpPr>
        <p:spPr>
          <a:xfrm flipH="1" flipV="1">
            <a:off x="4566833" y="3996906"/>
            <a:ext cx="383508" cy="1541880"/>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23" name="Cloud 22">
            <a:extLst>
              <a:ext uri="{FF2B5EF4-FFF2-40B4-BE49-F238E27FC236}">
                <a16:creationId xmlns:a16="http://schemas.microsoft.com/office/drawing/2014/main" id="{53595EAC-ADDF-60F8-8794-BEDA069BAAE9}"/>
              </a:ext>
            </a:extLst>
          </p:cNvPr>
          <p:cNvSpPr/>
          <p:nvPr/>
        </p:nvSpPr>
        <p:spPr>
          <a:xfrm>
            <a:off x="982761" y="1899659"/>
            <a:ext cx="10229850" cy="719659"/>
          </a:xfrm>
          <a:prstGeom prst="cloud">
            <a:avLst/>
          </a:prstGeom>
          <a:solidFill>
            <a:schemeClr val="accent1">
              <a:lumMod val="20000"/>
              <a:lumOff val="80000"/>
              <a:alpha val="50000"/>
            </a:schemeClr>
          </a:solidFill>
          <a:ln>
            <a:solidFill>
              <a:schemeClr val="accent1">
                <a:lumMod val="20000"/>
                <a:lumOff val="80000"/>
                <a:alpha val="9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61" name="Straight Arrow Connector 60">
            <a:extLst>
              <a:ext uri="{FF2B5EF4-FFF2-40B4-BE49-F238E27FC236}">
                <a16:creationId xmlns:a16="http://schemas.microsoft.com/office/drawing/2014/main" id="{664937B2-86FF-A339-C130-DFF6DA8E3669}"/>
              </a:ext>
            </a:extLst>
          </p:cNvPr>
          <p:cNvCxnSpPr>
            <a:cxnSpLocks/>
            <a:endCxn id="58" idx="4"/>
          </p:cNvCxnSpPr>
          <p:nvPr/>
        </p:nvCxnSpPr>
        <p:spPr>
          <a:xfrm flipH="1" flipV="1">
            <a:off x="6017115" y="3677819"/>
            <a:ext cx="495205" cy="131709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8EE8C0DA-86CF-A11F-5B21-B3A4912F2F6A}"/>
              </a:ext>
            </a:extLst>
          </p:cNvPr>
          <p:cNvCxnSpPr>
            <a:cxnSpLocks/>
            <a:endCxn id="57" idx="4"/>
          </p:cNvCxnSpPr>
          <p:nvPr/>
        </p:nvCxnSpPr>
        <p:spPr>
          <a:xfrm flipH="1" flipV="1">
            <a:off x="7467397" y="4315994"/>
            <a:ext cx="632967" cy="122279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grpSp>
        <p:nvGrpSpPr>
          <p:cNvPr id="80" name="Group 79">
            <a:extLst>
              <a:ext uri="{FF2B5EF4-FFF2-40B4-BE49-F238E27FC236}">
                <a16:creationId xmlns:a16="http://schemas.microsoft.com/office/drawing/2014/main" id="{8C447A41-3AA6-A84F-7D9D-F9F26E4A7BF3}"/>
              </a:ext>
            </a:extLst>
          </p:cNvPr>
          <p:cNvGrpSpPr/>
          <p:nvPr/>
        </p:nvGrpSpPr>
        <p:grpSpPr>
          <a:xfrm>
            <a:off x="3196320" y="4754781"/>
            <a:ext cx="3542413" cy="409575"/>
            <a:chOff x="3196320" y="4783356"/>
            <a:chExt cx="3542413" cy="409575"/>
          </a:xfrm>
        </p:grpSpPr>
        <p:sp>
          <p:nvSpPr>
            <p:cNvPr id="35" name="Oval 34">
              <a:extLst>
                <a:ext uri="{FF2B5EF4-FFF2-40B4-BE49-F238E27FC236}">
                  <a16:creationId xmlns:a16="http://schemas.microsoft.com/office/drawing/2014/main" id="{41B979FF-09DE-5407-4C9C-D689EDE1E106}"/>
                </a:ext>
              </a:extLst>
            </p:cNvPr>
            <p:cNvSpPr/>
            <p:nvPr/>
          </p:nvSpPr>
          <p:spPr>
            <a:xfrm>
              <a:off x="3196320" y="4783356"/>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D1</a:t>
              </a:r>
              <a:endParaRPr lang="en-NL" dirty="0"/>
            </a:p>
          </p:txBody>
        </p:sp>
        <p:sp>
          <p:nvSpPr>
            <p:cNvPr id="41" name="Oval 40">
              <a:extLst>
                <a:ext uri="{FF2B5EF4-FFF2-40B4-BE49-F238E27FC236}">
                  <a16:creationId xmlns:a16="http://schemas.microsoft.com/office/drawing/2014/main" id="{AA8D3C8E-8F4D-E2F8-9C91-F8F4406304C0}"/>
                </a:ext>
              </a:extLst>
            </p:cNvPr>
            <p:cNvSpPr/>
            <p:nvPr/>
          </p:nvSpPr>
          <p:spPr>
            <a:xfrm>
              <a:off x="6329158" y="4783356"/>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D2</a:t>
              </a:r>
              <a:endParaRPr lang="en-NL" dirty="0"/>
            </a:p>
          </p:txBody>
        </p:sp>
      </p:grpSp>
      <p:sp>
        <p:nvSpPr>
          <p:cNvPr id="52" name="Oval 51">
            <a:extLst>
              <a:ext uri="{FF2B5EF4-FFF2-40B4-BE49-F238E27FC236}">
                <a16:creationId xmlns:a16="http://schemas.microsoft.com/office/drawing/2014/main" id="{50AEF8EF-AD53-E4B2-B079-11FC1BFA94EC}"/>
              </a:ext>
            </a:extLst>
          </p:cNvPr>
          <p:cNvSpPr/>
          <p:nvPr/>
        </p:nvSpPr>
        <p:spPr>
          <a:xfrm>
            <a:off x="4762739" y="5457825"/>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D3</a:t>
            </a:r>
            <a:endParaRPr lang="en-NL" dirty="0"/>
          </a:p>
        </p:txBody>
      </p:sp>
      <p:sp>
        <p:nvSpPr>
          <p:cNvPr id="53" name="Oval 52">
            <a:extLst>
              <a:ext uri="{FF2B5EF4-FFF2-40B4-BE49-F238E27FC236}">
                <a16:creationId xmlns:a16="http://schemas.microsoft.com/office/drawing/2014/main" id="{834EF26D-E8D3-EB34-206D-0E9E7E528F43}"/>
              </a:ext>
            </a:extLst>
          </p:cNvPr>
          <p:cNvSpPr/>
          <p:nvPr/>
        </p:nvSpPr>
        <p:spPr>
          <a:xfrm>
            <a:off x="7895578" y="5457825"/>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D4</a:t>
            </a:r>
            <a:endParaRPr lang="en-NL" dirty="0"/>
          </a:p>
        </p:txBody>
      </p:sp>
      <p:sp>
        <p:nvSpPr>
          <p:cNvPr id="8" name="Oval 7">
            <a:extLst>
              <a:ext uri="{FF2B5EF4-FFF2-40B4-BE49-F238E27FC236}">
                <a16:creationId xmlns:a16="http://schemas.microsoft.com/office/drawing/2014/main" id="{E9DEEE98-1320-ED69-1FC7-21CAC9D6130A}"/>
              </a:ext>
            </a:extLst>
          </p:cNvPr>
          <p:cNvSpPr/>
          <p:nvPr/>
        </p:nvSpPr>
        <p:spPr>
          <a:xfrm>
            <a:off x="4357605" y="2066869"/>
            <a:ext cx="409575" cy="409575"/>
          </a:xfrm>
          <a:prstGeom prst="ellipse">
            <a:avLst/>
          </a:prstGeom>
          <a:solidFill>
            <a:schemeClr val="accent1">
              <a:lumMod val="40000"/>
              <a:lumOff val="60000"/>
            </a:schemeClr>
          </a:solidFill>
          <a:ln>
            <a:prstDash val="sys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700" dirty="0"/>
              <a:t>M1</a:t>
            </a:r>
            <a:endParaRPr lang="en-NL" sz="1700" dirty="0"/>
          </a:p>
        </p:txBody>
      </p:sp>
      <p:cxnSp>
        <p:nvCxnSpPr>
          <p:cNvPr id="10" name="Straight Arrow Connector 9">
            <a:extLst>
              <a:ext uri="{FF2B5EF4-FFF2-40B4-BE49-F238E27FC236}">
                <a16:creationId xmlns:a16="http://schemas.microsoft.com/office/drawing/2014/main" id="{B2A08A67-CEDC-4845-72B4-3701C828706B}"/>
              </a:ext>
            </a:extLst>
          </p:cNvPr>
          <p:cNvCxnSpPr>
            <a:cxnSpLocks/>
            <a:stCxn id="56" idx="0"/>
            <a:endCxn id="8" idx="4"/>
          </p:cNvCxnSpPr>
          <p:nvPr/>
        </p:nvCxnSpPr>
        <p:spPr>
          <a:xfrm flipH="1" flipV="1">
            <a:off x="4562393" y="2476444"/>
            <a:ext cx="4440" cy="1110887"/>
          </a:xfrm>
          <a:prstGeom prst="straightConnector1">
            <a:avLst/>
          </a:prstGeom>
          <a:ln w="38100">
            <a:solidFill>
              <a:schemeClr val="tx1">
                <a:lumMod val="50000"/>
                <a:lumOff val="50000"/>
              </a:schemeClr>
            </a:solidFill>
            <a:prstDash val="sysDot"/>
            <a:tailEnd type="triangle" w="lg" len="med"/>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31800E94-BEAD-22C5-E77B-B11B4A2A9AA9}"/>
              </a:ext>
            </a:extLst>
          </p:cNvPr>
          <p:cNvCxnSpPr>
            <a:cxnSpLocks/>
            <a:endCxn id="8" idx="5"/>
          </p:cNvCxnSpPr>
          <p:nvPr/>
        </p:nvCxnSpPr>
        <p:spPr>
          <a:xfrm flipH="1" flipV="1">
            <a:off x="4707199" y="2416463"/>
            <a:ext cx="1309915" cy="1056568"/>
          </a:xfrm>
          <a:prstGeom prst="straightConnector1">
            <a:avLst/>
          </a:prstGeom>
          <a:ln w="38100">
            <a:solidFill>
              <a:schemeClr val="tx1">
                <a:lumMod val="50000"/>
                <a:lumOff val="50000"/>
              </a:schemeClr>
            </a:solidFill>
            <a:prstDash val="sysDot"/>
            <a:tailEnd type="triangle" w="lg" len="med"/>
          </a:ln>
        </p:spPr>
        <p:style>
          <a:lnRef idx="1">
            <a:schemeClr val="accent1"/>
          </a:lnRef>
          <a:fillRef idx="0">
            <a:schemeClr val="accent1"/>
          </a:fillRef>
          <a:effectRef idx="0">
            <a:schemeClr val="accent1"/>
          </a:effectRef>
          <a:fontRef idx="minor">
            <a:schemeClr val="tx1"/>
          </a:fontRef>
        </p:style>
      </p:cxnSp>
      <p:sp>
        <p:nvSpPr>
          <p:cNvPr id="56" name="Oval 55">
            <a:extLst>
              <a:ext uri="{FF2B5EF4-FFF2-40B4-BE49-F238E27FC236}">
                <a16:creationId xmlns:a16="http://schemas.microsoft.com/office/drawing/2014/main" id="{265C240B-1792-F6B3-6188-61246E9E1B62}"/>
              </a:ext>
            </a:extLst>
          </p:cNvPr>
          <p:cNvSpPr/>
          <p:nvPr/>
        </p:nvSpPr>
        <p:spPr>
          <a:xfrm>
            <a:off x="4362045" y="3587331"/>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C1</a:t>
            </a:r>
            <a:endParaRPr lang="en-NL" dirty="0"/>
          </a:p>
        </p:txBody>
      </p:sp>
      <p:sp>
        <p:nvSpPr>
          <p:cNvPr id="57" name="Oval 56">
            <a:extLst>
              <a:ext uri="{FF2B5EF4-FFF2-40B4-BE49-F238E27FC236}">
                <a16:creationId xmlns:a16="http://schemas.microsoft.com/office/drawing/2014/main" id="{EEDEEFE1-62BF-827F-4B94-80A318BD15E4}"/>
              </a:ext>
            </a:extLst>
          </p:cNvPr>
          <p:cNvSpPr/>
          <p:nvPr/>
        </p:nvSpPr>
        <p:spPr>
          <a:xfrm>
            <a:off x="7262609" y="3906419"/>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C3</a:t>
            </a:r>
            <a:endParaRPr lang="en-NL" dirty="0"/>
          </a:p>
        </p:txBody>
      </p:sp>
      <p:sp>
        <p:nvSpPr>
          <p:cNvPr id="58" name="Oval 57">
            <a:extLst>
              <a:ext uri="{FF2B5EF4-FFF2-40B4-BE49-F238E27FC236}">
                <a16:creationId xmlns:a16="http://schemas.microsoft.com/office/drawing/2014/main" id="{9D11341F-0651-84A7-A830-AD048DE121EE}"/>
              </a:ext>
            </a:extLst>
          </p:cNvPr>
          <p:cNvSpPr/>
          <p:nvPr/>
        </p:nvSpPr>
        <p:spPr>
          <a:xfrm>
            <a:off x="5812327" y="326824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C2</a:t>
            </a:r>
            <a:endParaRPr lang="en-NL" dirty="0"/>
          </a:p>
        </p:txBody>
      </p:sp>
      <p:cxnSp>
        <p:nvCxnSpPr>
          <p:cNvPr id="40" name="Straight Arrow Connector 39">
            <a:extLst>
              <a:ext uri="{FF2B5EF4-FFF2-40B4-BE49-F238E27FC236}">
                <a16:creationId xmlns:a16="http://schemas.microsoft.com/office/drawing/2014/main" id="{A53CF1D1-18AC-F2F4-D40C-51A6D7331438}"/>
              </a:ext>
            </a:extLst>
          </p:cNvPr>
          <p:cNvCxnSpPr>
            <a:cxnSpLocks/>
            <a:stCxn id="35" idx="6"/>
            <a:endCxn id="41" idx="2"/>
          </p:cNvCxnSpPr>
          <p:nvPr/>
        </p:nvCxnSpPr>
        <p:spPr>
          <a:xfrm>
            <a:off x="3605895" y="4959569"/>
            <a:ext cx="2723263" cy="0"/>
          </a:xfrm>
          <a:prstGeom prst="straightConnector1">
            <a:avLst/>
          </a:prstGeom>
          <a:ln w="38100" cap="rnd">
            <a:solidFill>
              <a:schemeClr val="accent2"/>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B82FBDE5-E9E8-DC5B-6826-29AE3F82D561}"/>
              </a:ext>
            </a:extLst>
          </p:cNvPr>
          <p:cNvGrpSpPr/>
          <p:nvPr/>
        </p:nvGrpSpPr>
        <p:grpSpPr>
          <a:xfrm>
            <a:off x="5055963" y="4511893"/>
            <a:ext cx="914400" cy="914400"/>
            <a:chOff x="4312140" y="357778"/>
            <a:chExt cx="914400" cy="914400"/>
          </a:xfrm>
        </p:grpSpPr>
        <p:sp>
          <p:nvSpPr>
            <p:cNvPr id="48" name="Oval 47">
              <a:extLst>
                <a:ext uri="{FF2B5EF4-FFF2-40B4-BE49-F238E27FC236}">
                  <a16:creationId xmlns:a16="http://schemas.microsoft.com/office/drawing/2014/main" id="{5CC09C2D-3C68-7C4A-9987-26F89ADB8090}"/>
                </a:ext>
              </a:extLst>
            </p:cNvPr>
            <p:cNvSpPr/>
            <p:nvPr/>
          </p:nvSpPr>
          <p:spPr>
            <a:xfrm>
              <a:off x="4449334" y="494972"/>
              <a:ext cx="640013" cy="640013"/>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p>
          </p:txBody>
        </p:sp>
        <p:pic>
          <p:nvPicPr>
            <p:cNvPr id="7" name="Graphic 6" descr="Badge Tick1 with solid fill">
              <a:extLst>
                <a:ext uri="{FF2B5EF4-FFF2-40B4-BE49-F238E27FC236}">
                  <a16:creationId xmlns:a16="http://schemas.microsoft.com/office/drawing/2014/main" id="{42EF232A-1F3B-3221-70E9-D55E5DCC8D6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312140" y="357778"/>
              <a:ext cx="914400" cy="914400"/>
            </a:xfrm>
            <a:prstGeom prst="rect">
              <a:avLst/>
            </a:prstGeom>
          </p:spPr>
        </p:pic>
      </p:grpSp>
      <p:sp>
        <p:nvSpPr>
          <p:cNvPr id="6" name="Oval 5">
            <a:extLst>
              <a:ext uri="{FF2B5EF4-FFF2-40B4-BE49-F238E27FC236}">
                <a16:creationId xmlns:a16="http://schemas.microsoft.com/office/drawing/2014/main" id="{F1BC3500-BBDE-96FB-D08B-F79A9E0D0105}"/>
              </a:ext>
            </a:extLst>
          </p:cNvPr>
          <p:cNvSpPr/>
          <p:nvPr/>
        </p:nvSpPr>
        <p:spPr>
          <a:xfrm>
            <a:off x="5812327" y="2056579"/>
            <a:ext cx="409575" cy="409575"/>
          </a:xfrm>
          <a:prstGeom prst="ellipse">
            <a:avLst/>
          </a:prstGeom>
          <a:solidFill>
            <a:schemeClr val="accent1">
              <a:lumMod val="40000"/>
              <a:lumOff val="60000"/>
            </a:schemeClr>
          </a:solidFill>
          <a:ln>
            <a:prstDash val="sys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700" dirty="0"/>
              <a:t>M2</a:t>
            </a:r>
            <a:endParaRPr lang="en-NL" sz="1700" dirty="0"/>
          </a:p>
        </p:txBody>
      </p:sp>
      <p:sp>
        <p:nvSpPr>
          <p:cNvPr id="14" name="TextBox 13">
            <a:extLst>
              <a:ext uri="{FF2B5EF4-FFF2-40B4-BE49-F238E27FC236}">
                <a16:creationId xmlns:a16="http://schemas.microsoft.com/office/drawing/2014/main" id="{2325DCC7-94A0-4700-7472-75E631C10418}"/>
              </a:ext>
            </a:extLst>
          </p:cNvPr>
          <p:cNvSpPr txBox="1"/>
          <p:nvPr/>
        </p:nvSpPr>
        <p:spPr>
          <a:xfrm>
            <a:off x="1258204" y="2101155"/>
            <a:ext cx="954107"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1"/>
                </a:solidFill>
              </a:rPr>
              <a:t>Meanings</a:t>
            </a:r>
            <a:endParaRPr lang="en-NL" sz="1400" dirty="0">
              <a:solidFill>
                <a:schemeClr val="accent1"/>
              </a:solidFill>
            </a:endParaRPr>
          </a:p>
        </p:txBody>
      </p:sp>
      <p:cxnSp>
        <p:nvCxnSpPr>
          <p:cNvPr id="3" name="Connector: Curved 2">
            <a:extLst>
              <a:ext uri="{FF2B5EF4-FFF2-40B4-BE49-F238E27FC236}">
                <a16:creationId xmlns:a16="http://schemas.microsoft.com/office/drawing/2014/main" id="{9E0C7616-D178-8963-45FE-118E2E3D1A93}"/>
              </a:ext>
            </a:extLst>
          </p:cNvPr>
          <p:cNvCxnSpPr/>
          <p:nvPr/>
        </p:nvCxnSpPr>
        <p:spPr>
          <a:xfrm rot="10800000">
            <a:off x="3401109" y="5164357"/>
            <a:ext cx="1361631" cy="498257"/>
          </a:xfrm>
          <a:prstGeom prst="curvedConnector2">
            <a:avLst/>
          </a:prstGeom>
          <a:ln w="38100" cap="rnd">
            <a:solidFill>
              <a:srgbClr val="00B050"/>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49CB1E23-C828-D596-0ABD-FC6213AC76D2}"/>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2</a:t>
            </a:r>
            <a:endParaRPr lang="en-NL" sz="1000" b="1" dirty="0"/>
          </a:p>
        </p:txBody>
      </p:sp>
      <p:sp>
        <p:nvSpPr>
          <p:cNvPr id="9" name="TextBox 8">
            <a:extLst>
              <a:ext uri="{FF2B5EF4-FFF2-40B4-BE49-F238E27FC236}">
                <a16:creationId xmlns:a16="http://schemas.microsoft.com/office/drawing/2014/main" id="{93F0713D-493C-C986-59F6-70AB24EF542A}"/>
              </a:ext>
            </a:extLst>
          </p:cNvPr>
          <p:cNvSpPr txBox="1"/>
          <p:nvPr/>
        </p:nvSpPr>
        <p:spPr>
          <a:xfrm>
            <a:off x="6890659" y="1662239"/>
            <a:ext cx="4606016" cy="338554"/>
          </a:xfrm>
          <a:prstGeom prst="rect">
            <a:avLst/>
          </a:prstGeom>
          <a:ln/>
        </p:spPr>
        <p:style>
          <a:lnRef idx="0">
            <a:schemeClr val="accent4"/>
          </a:lnRef>
          <a:fillRef idx="3">
            <a:schemeClr val="accent4"/>
          </a:fillRef>
          <a:effectRef idx="3">
            <a:schemeClr val="accent4"/>
          </a:effectRef>
          <a:fontRef idx="minor">
            <a:schemeClr val="lt1"/>
          </a:fontRef>
        </p:style>
        <p:txBody>
          <a:bodyPr wrap="square">
            <a:spAutoFit/>
          </a:bodyPr>
          <a:lstStyle/>
          <a:p>
            <a:r>
              <a:rPr lang="en-US" sz="1600" dirty="0">
                <a:solidFill>
                  <a:schemeClr val="bg1"/>
                </a:solidFill>
              </a:rPr>
              <a:t>We need precise and explicit meanings.</a:t>
            </a:r>
            <a:endParaRPr lang="en-NL" sz="1600" dirty="0">
              <a:solidFill>
                <a:schemeClr val="bg1"/>
              </a:solidFill>
            </a:endParaRPr>
          </a:p>
        </p:txBody>
      </p:sp>
      <p:sp>
        <p:nvSpPr>
          <p:cNvPr id="17" name="TextBox 16">
            <a:extLst>
              <a:ext uri="{FF2B5EF4-FFF2-40B4-BE49-F238E27FC236}">
                <a16:creationId xmlns:a16="http://schemas.microsoft.com/office/drawing/2014/main" id="{7E397F22-103B-C529-C563-9C452A477457}"/>
              </a:ext>
            </a:extLst>
          </p:cNvPr>
          <p:cNvSpPr txBox="1"/>
          <p:nvPr/>
        </p:nvSpPr>
        <p:spPr>
          <a:xfrm>
            <a:off x="6890660" y="2584640"/>
            <a:ext cx="4606015" cy="584775"/>
          </a:xfrm>
          <a:prstGeom prst="rect">
            <a:avLst/>
          </a:prstGeom>
          <a:ln/>
        </p:spPr>
        <p:style>
          <a:lnRef idx="0">
            <a:schemeClr val="accent2"/>
          </a:lnRef>
          <a:fillRef idx="3">
            <a:schemeClr val="accent2"/>
          </a:fillRef>
          <a:effectRef idx="3">
            <a:schemeClr val="accent2"/>
          </a:effectRef>
          <a:fontRef idx="minor">
            <a:schemeClr val="lt1"/>
          </a:fontRef>
        </p:style>
        <p:txBody>
          <a:bodyPr wrap="square">
            <a:spAutoFit/>
          </a:bodyPr>
          <a:lstStyle/>
          <a:p>
            <a:r>
              <a:rPr lang="en-US" sz="1600" dirty="0">
                <a:solidFill>
                  <a:sysClr val="windowText" lastClr="000000"/>
                </a:solidFill>
              </a:rPr>
              <a:t>If the concepts share the same meaning, interoperability is possible.</a:t>
            </a:r>
            <a:endParaRPr lang="en-NL" sz="1600" dirty="0">
              <a:solidFill>
                <a:sysClr val="windowText" lastClr="000000"/>
              </a:solidFill>
            </a:endParaRPr>
          </a:p>
        </p:txBody>
      </p:sp>
      <p:sp>
        <p:nvSpPr>
          <p:cNvPr id="19" name="TextBox 18">
            <a:extLst>
              <a:ext uri="{FF2B5EF4-FFF2-40B4-BE49-F238E27FC236}">
                <a16:creationId xmlns:a16="http://schemas.microsoft.com/office/drawing/2014/main" id="{B36715D2-BB91-8959-56B9-A0D1580CB23E}"/>
              </a:ext>
            </a:extLst>
          </p:cNvPr>
          <p:cNvSpPr txBox="1"/>
          <p:nvPr/>
        </p:nvSpPr>
        <p:spPr>
          <a:xfrm>
            <a:off x="6890660" y="2123439"/>
            <a:ext cx="4606015" cy="338554"/>
          </a:xfrm>
          <a:prstGeom prst="rect">
            <a:avLst/>
          </a:prstGeom>
          <a:ln/>
        </p:spPr>
        <p:style>
          <a:lnRef idx="0">
            <a:schemeClr val="accent6"/>
          </a:lnRef>
          <a:fillRef idx="3">
            <a:schemeClr val="accent6"/>
          </a:fillRef>
          <a:effectRef idx="3">
            <a:schemeClr val="accent6"/>
          </a:effectRef>
          <a:fontRef idx="minor">
            <a:schemeClr val="lt1"/>
          </a:fontRef>
        </p:style>
        <p:txBody>
          <a:bodyPr wrap="square">
            <a:spAutoFit/>
          </a:bodyPr>
          <a:lstStyle/>
          <a:p>
            <a:r>
              <a:rPr lang="en-US" sz="1600" dirty="0">
                <a:solidFill>
                  <a:schemeClr val="bg1"/>
                </a:solidFill>
              </a:rPr>
              <a:t>If meanings differ, interoperability is not possible.</a:t>
            </a:r>
            <a:endParaRPr lang="en-NL" sz="1600" dirty="0">
              <a:solidFill>
                <a:schemeClr val="bg1"/>
              </a:solidFill>
            </a:endParaRPr>
          </a:p>
        </p:txBody>
      </p:sp>
      <p:sp>
        <p:nvSpPr>
          <p:cNvPr id="20" name="TextBox 19">
            <a:extLst>
              <a:ext uri="{FF2B5EF4-FFF2-40B4-BE49-F238E27FC236}">
                <a16:creationId xmlns:a16="http://schemas.microsoft.com/office/drawing/2014/main" id="{067F9BA5-7CAB-1AD7-A008-83F39FB2D30F}"/>
              </a:ext>
            </a:extLst>
          </p:cNvPr>
          <p:cNvSpPr txBox="1"/>
          <p:nvPr/>
        </p:nvSpPr>
        <p:spPr>
          <a:xfrm>
            <a:off x="5550713" y="4490138"/>
            <a:ext cx="581025" cy="400110"/>
          </a:xfrm>
          <a:prstGeom prst="rect">
            <a:avLst/>
          </a:prstGeom>
          <a:noFill/>
        </p:spPr>
        <p:txBody>
          <a:bodyPr wrap="square" rtlCol="0">
            <a:spAutoFit/>
          </a:bodyPr>
          <a:lstStyle/>
          <a:p>
            <a:r>
              <a:rPr lang="en-US" sz="2000" dirty="0">
                <a:latin typeface="Amasis MT Pro Black" panose="02040A04050005020304" pitchFamily="18" charset="0"/>
              </a:rPr>
              <a:t>*</a:t>
            </a:r>
            <a:endParaRPr lang="en-NL" sz="300" dirty="0">
              <a:latin typeface="Amasis MT Pro Black" panose="02040A04050005020304" pitchFamily="18" charset="0"/>
            </a:endParaRPr>
          </a:p>
        </p:txBody>
      </p:sp>
    </p:spTree>
    <p:extLst>
      <p:ext uri="{BB962C8B-B14F-4D97-AF65-F5344CB8AC3E}">
        <p14:creationId xmlns:p14="http://schemas.microsoft.com/office/powerpoint/2010/main" val="26118679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BA2023-D6E2-EE7D-EE7F-68F24FC02DF2}"/>
            </a:ext>
          </a:extLst>
        </p:cNvPr>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CCEAB0FE-E77C-8E6B-AB95-435BE5F0FF49}"/>
              </a:ext>
            </a:extLst>
          </p:cNvPr>
          <p:cNvCxnSpPr/>
          <p:nvPr/>
        </p:nvCxnSpPr>
        <p:spPr>
          <a:xfrm>
            <a:off x="5903371" y="1673750"/>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897AB0F6-25B9-D4EA-2B5B-EAD9F845C843}"/>
              </a:ext>
            </a:extLst>
          </p:cNvPr>
          <p:cNvSpPr>
            <a:spLocks noGrp="1"/>
          </p:cNvSpPr>
          <p:nvPr>
            <p:ph type="title"/>
          </p:nvPr>
        </p:nvSpPr>
        <p:spPr>
          <a:xfrm>
            <a:off x="695327" y="386001"/>
            <a:ext cx="9351540" cy="929259"/>
          </a:xfrm>
        </p:spPr>
        <p:txBody>
          <a:bodyPr/>
          <a:lstStyle/>
          <a:p>
            <a:r>
              <a:rPr lang="en-US" sz="3200" dirty="0"/>
              <a:t>From Conceptual Clarity to Actionable Semantics</a:t>
            </a:r>
            <a:endParaRPr lang="en-NL" sz="3200" dirty="0"/>
          </a:p>
        </p:txBody>
      </p:sp>
      <p:sp>
        <p:nvSpPr>
          <p:cNvPr id="4" name="Slide Number Placeholder 3">
            <a:extLst>
              <a:ext uri="{FF2B5EF4-FFF2-40B4-BE49-F238E27FC236}">
                <a16:creationId xmlns:a16="http://schemas.microsoft.com/office/drawing/2014/main" id="{0B80037D-11B1-ED59-7DDB-A4D224324AE9}"/>
              </a:ext>
            </a:extLst>
          </p:cNvPr>
          <p:cNvSpPr>
            <a:spLocks noGrp="1"/>
          </p:cNvSpPr>
          <p:nvPr>
            <p:ph type="sldNum" sz="quarter" idx="12"/>
          </p:nvPr>
        </p:nvSpPr>
        <p:spPr/>
        <p:txBody>
          <a:bodyPr/>
          <a:lstStyle/>
          <a:p>
            <a:fld id="{4FAB73BC-B049-4115-A692-8D63A059BFB8}" type="slidenum">
              <a:rPr lang="en-US" smtClean="0"/>
              <a:pPr/>
              <a:t>20</a:t>
            </a:fld>
            <a:endParaRPr lang="en-US" dirty="0"/>
          </a:p>
        </p:txBody>
      </p:sp>
      <p:sp>
        <p:nvSpPr>
          <p:cNvPr id="30" name="Parallelogram 29">
            <a:extLst>
              <a:ext uri="{FF2B5EF4-FFF2-40B4-BE49-F238E27FC236}">
                <a16:creationId xmlns:a16="http://schemas.microsoft.com/office/drawing/2014/main" id="{A2230CAE-DA16-9DE8-B991-8E37683B173D}"/>
              </a:ext>
            </a:extLst>
          </p:cNvPr>
          <p:cNvSpPr/>
          <p:nvPr/>
        </p:nvSpPr>
        <p:spPr>
          <a:xfrm>
            <a:off x="4434896" y="3164830"/>
            <a:ext cx="6886250" cy="1276350"/>
          </a:xfrm>
          <a:prstGeom prst="parallelogram">
            <a:avLst>
              <a:gd name="adj" fmla="val 113806"/>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31" name="TextBox 30">
            <a:extLst>
              <a:ext uri="{FF2B5EF4-FFF2-40B4-BE49-F238E27FC236}">
                <a16:creationId xmlns:a16="http://schemas.microsoft.com/office/drawing/2014/main" id="{903FA0B7-FC95-CC60-41D1-3A516E38A40C}"/>
              </a:ext>
            </a:extLst>
          </p:cNvPr>
          <p:cNvSpPr txBox="1"/>
          <p:nvPr/>
        </p:nvSpPr>
        <p:spPr>
          <a:xfrm>
            <a:off x="4671064" y="4133403"/>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33" name="Parallelogram 32">
            <a:extLst>
              <a:ext uri="{FF2B5EF4-FFF2-40B4-BE49-F238E27FC236}">
                <a16:creationId xmlns:a16="http://schemas.microsoft.com/office/drawing/2014/main" id="{9E916CC6-A69B-5114-3B0F-FE07BAD0946E}"/>
              </a:ext>
            </a:extLst>
          </p:cNvPr>
          <p:cNvSpPr/>
          <p:nvPr/>
        </p:nvSpPr>
        <p:spPr>
          <a:xfrm>
            <a:off x="4434896" y="4684486"/>
            <a:ext cx="6886250" cy="1276350"/>
          </a:xfrm>
          <a:prstGeom prst="parallelogram">
            <a:avLst>
              <a:gd name="adj" fmla="val 113806"/>
            </a:avLst>
          </a:prstGeom>
          <a:solidFill>
            <a:schemeClr val="accent4">
              <a:lumMod val="20000"/>
              <a:lumOff val="8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4" name="TextBox 33">
            <a:extLst>
              <a:ext uri="{FF2B5EF4-FFF2-40B4-BE49-F238E27FC236}">
                <a16:creationId xmlns:a16="http://schemas.microsoft.com/office/drawing/2014/main" id="{6DD24FD7-AA32-FBE8-C1C6-950D3D06FEDC}"/>
              </a:ext>
            </a:extLst>
          </p:cNvPr>
          <p:cNvSpPr txBox="1"/>
          <p:nvPr/>
        </p:nvSpPr>
        <p:spPr>
          <a:xfrm>
            <a:off x="4710338" y="5653059"/>
            <a:ext cx="152958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4"/>
                </a:solidFill>
              </a:rPr>
              <a:t>Dataset Columns</a:t>
            </a:r>
            <a:endParaRPr lang="en-NL" sz="1400" dirty="0">
              <a:solidFill>
                <a:schemeClr val="accent4"/>
              </a:solidFill>
            </a:endParaRPr>
          </a:p>
        </p:txBody>
      </p:sp>
      <p:sp>
        <p:nvSpPr>
          <p:cNvPr id="16" name="Parallelogram 15">
            <a:extLst>
              <a:ext uri="{FF2B5EF4-FFF2-40B4-BE49-F238E27FC236}">
                <a16:creationId xmlns:a16="http://schemas.microsoft.com/office/drawing/2014/main" id="{114F32D6-8EA6-99C6-D6A9-C9A345B5674E}"/>
              </a:ext>
            </a:extLst>
          </p:cNvPr>
          <p:cNvSpPr/>
          <p:nvPr/>
        </p:nvSpPr>
        <p:spPr>
          <a:xfrm>
            <a:off x="4434896" y="1645175"/>
            <a:ext cx="6886250" cy="1276350"/>
          </a:xfrm>
          <a:prstGeom prst="parallelogram">
            <a:avLst>
              <a:gd name="adj" fmla="val 113806"/>
            </a:avLst>
          </a:prstGeom>
          <a:solidFill>
            <a:schemeClr val="accent1">
              <a:lumMod val="20000"/>
              <a:lumOff val="80000"/>
              <a:alpha val="9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7" name="TextBox 16">
            <a:extLst>
              <a:ext uri="{FF2B5EF4-FFF2-40B4-BE49-F238E27FC236}">
                <a16:creationId xmlns:a16="http://schemas.microsoft.com/office/drawing/2014/main" id="{C418C424-A6FF-2455-CF2B-80EA63C970DF}"/>
              </a:ext>
            </a:extLst>
          </p:cNvPr>
          <p:cNvSpPr txBox="1"/>
          <p:nvPr/>
        </p:nvSpPr>
        <p:spPr>
          <a:xfrm>
            <a:off x="4804589" y="2613747"/>
            <a:ext cx="954107"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Meanings</a:t>
            </a:r>
            <a:endParaRPr lang="en-NL" sz="1400" dirty="0">
              <a:solidFill>
                <a:schemeClr val="tx2">
                  <a:lumMod val="90000"/>
                  <a:lumOff val="10000"/>
                </a:schemeClr>
              </a:solidFill>
            </a:endParaRPr>
          </a:p>
        </p:txBody>
      </p:sp>
      <p:cxnSp>
        <p:nvCxnSpPr>
          <p:cNvPr id="18" name="Straight Connector 17">
            <a:extLst>
              <a:ext uri="{FF2B5EF4-FFF2-40B4-BE49-F238E27FC236}">
                <a16:creationId xmlns:a16="http://schemas.microsoft.com/office/drawing/2014/main" id="{DB62E8F5-965A-BE0B-68F1-B8B5A6EF5B21}"/>
              </a:ext>
            </a:extLst>
          </p:cNvPr>
          <p:cNvCxnSpPr/>
          <p:nvPr/>
        </p:nvCxnSpPr>
        <p:spPr>
          <a:xfrm>
            <a:off x="4434894" y="295010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63" name="TextBox 62">
            <a:extLst>
              <a:ext uri="{FF2B5EF4-FFF2-40B4-BE49-F238E27FC236}">
                <a16:creationId xmlns:a16="http://schemas.microsoft.com/office/drawing/2014/main" id="{98D5191B-84A5-9FDD-B987-576F6FF0880C}"/>
              </a:ext>
            </a:extLst>
          </p:cNvPr>
          <p:cNvSpPr txBox="1"/>
          <p:nvPr/>
        </p:nvSpPr>
        <p:spPr>
          <a:xfrm rot="18900000">
            <a:off x="5917118" y="2071359"/>
            <a:ext cx="719364" cy="276999"/>
          </a:xfrm>
          <a:prstGeom prst="rect">
            <a:avLst/>
          </a:prstGeom>
          <a:noFill/>
        </p:spPr>
        <p:txBody>
          <a:bodyPr wrap="none" rtlCol="0" anchor="ctr">
            <a:spAutoFit/>
          </a:bodyPr>
          <a:lstStyle/>
          <a:p>
            <a:pPr algn="ctr"/>
            <a:r>
              <a:rPr lang="en-US" sz="1200" dirty="0" err="1"/>
              <a:t>hrio:Sex</a:t>
            </a:r>
            <a:endParaRPr lang="en-NL" sz="1200" dirty="0"/>
          </a:p>
        </p:txBody>
      </p:sp>
      <p:sp>
        <p:nvSpPr>
          <p:cNvPr id="5" name="TextBox 4">
            <a:extLst>
              <a:ext uri="{FF2B5EF4-FFF2-40B4-BE49-F238E27FC236}">
                <a16:creationId xmlns:a16="http://schemas.microsoft.com/office/drawing/2014/main" id="{D18D7790-BAE7-C37D-6947-DE1BAA4D2C10}"/>
              </a:ext>
            </a:extLst>
          </p:cNvPr>
          <p:cNvSpPr txBox="1"/>
          <p:nvPr/>
        </p:nvSpPr>
        <p:spPr>
          <a:xfrm rot="18900000">
            <a:off x="5538713" y="3564366"/>
            <a:ext cx="1476174" cy="276999"/>
          </a:xfrm>
          <a:prstGeom prst="rect">
            <a:avLst/>
          </a:prstGeom>
          <a:noFill/>
        </p:spPr>
        <p:txBody>
          <a:bodyPr wrap="square" anchor="ctr">
            <a:spAutoFit/>
          </a:bodyPr>
          <a:lstStyle/>
          <a:p>
            <a:pPr algn="ctr"/>
            <a:r>
              <a:rPr lang="en-NL" sz="1200" dirty="0" err="1"/>
              <a:t>care-sm:Sex</a:t>
            </a:r>
            <a:endParaRPr lang="en-NL" sz="1200" dirty="0"/>
          </a:p>
        </p:txBody>
      </p:sp>
      <p:sp>
        <p:nvSpPr>
          <p:cNvPr id="24" name="TextBox 23">
            <a:extLst>
              <a:ext uri="{FF2B5EF4-FFF2-40B4-BE49-F238E27FC236}">
                <a16:creationId xmlns:a16="http://schemas.microsoft.com/office/drawing/2014/main" id="{9C670239-EDC7-77F5-F446-82DAE97CEBF3}"/>
              </a:ext>
            </a:extLst>
          </p:cNvPr>
          <p:cNvSpPr txBox="1"/>
          <p:nvPr/>
        </p:nvSpPr>
        <p:spPr>
          <a:xfrm rot="18900000">
            <a:off x="7046322" y="2071359"/>
            <a:ext cx="1336456" cy="276999"/>
          </a:xfrm>
          <a:prstGeom prst="rect">
            <a:avLst/>
          </a:prstGeom>
          <a:noFill/>
        </p:spPr>
        <p:txBody>
          <a:bodyPr wrap="none" rtlCol="0" anchor="ctr">
            <a:spAutoFit/>
          </a:bodyPr>
          <a:lstStyle/>
          <a:p>
            <a:pPr algn="ctr"/>
            <a:r>
              <a:rPr lang="en-US" sz="1200" dirty="0" err="1"/>
              <a:t>hrio:LegalGender</a:t>
            </a:r>
            <a:endParaRPr lang="en-NL" sz="1200" dirty="0"/>
          </a:p>
        </p:txBody>
      </p:sp>
      <p:sp>
        <p:nvSpPr>
          <p:cNvPr id="54" name="TextBox 53">
            <a:extLst>
              <a:ext uri="{FF2B5EF4-FFF2-40B4-BE49-F238E27FC236}">
                <a16:creationId xmlns:a16="http://schemas.microsoft.com/office/drawing/2014/main" id="{93703511-4BBF-1E67-BAF2-0CFAF397544A}"/>
              </a:ext>
            </a:extLst>
          </p:cNvPr>
          <p:cNvSpPr txBox="1"/>
          <p:nvPr/>
        </p:nvSpPr>
        <p:spPr>
          <a:xfrm rot="18900000">
            <a:off x="6793817" y="3564366"/>
            <a:ext cx="1841466" cy="276999"/>
          </a:xfrm>
          <a:prstGeom prst="rect">
            <a:avLst/>
          </a:prstGeom>
          <a:noFill/>
        </p:spPr>
        <p:txBody>
          <a:bodyPr wrap="none" rtlCol="0" anchor="ctr">
            <a:spAutoFit/>
          </a:bodyPr>
          <a:lstStyle>
            <a:defPPr>
              <a:defRPr lang="en-US"/>
            </a:defPPr>
            <a:lvl1pPr algn="ctr">
              <a:defRPr sz="1400"/>
            </a:lvl1pPr>
          </a:lstStyle>
          <a:p>
            <a:r>
              <a:rPr lang="en-US" sz="1200" dirty="0" err="1"/>
              <a:t>hri-openehr:legal-gender</a:t>
            </a:r>
            <a:endParaRPr lang="en-NL" sz="1200" dirty="0"/>
          </a:p>
        </p:txBody>
      </p:sp>
      <p:sp>
        <p:nvSpPr>
          <p:cNvPr id="78" name="TextBox 77">
            <a:extLst>
              <a:ext uri="{FF2B5EF4-FFF2-40B4-BE49-F238E27FC236}">
                <a16:creationId xmlns:a16="http://schemas.microsoft.com/office/drawing/2014/main" id="{92235045-C8C9-1702-969A-11C017757C1D}"/>
              </a:ext>
            </a:extLst>
          </p:cNvPr>
          <p:cNvSpPr txBox="1"/>
          <p:nvPr/>
        </p:nvSpPr>
        <p:spPr>
          <a:xfrm rot="18900000">
            <a:off x="8548050" y="3564366"/>
            <a:ext cx="1168590" cy="276999"/>
          </a:xfrm>
          <a:prstGeom prst="rect">
            <a:avLst/>
          </a:prstGeom>
          <a:noFill/>
        </p:spPr>
        <p:txBody>
          <a:bodyPr wrap="none" rtlCol="0" anchor="ctr">
            <a:spAutoFit/>
          </a:bodyPr>
          <a:lstStyle>
            <a:defPPr>
              <a:defRPr lang="en-US"/>
            </a:defPPr>
            <a:lvl1pPr algn="ctr">
              <a:defRPr sz="1400"/>
            </a:lvl1pPr>
          </a:lstStyle>
          <a:p>
            <a:r>
              <a:rPr lang="en-US" sz="1200" dirty="0"/>
              <a:t>loinc:107454-1</a:t>
            </a:r>
            <a:endParaRPr lang="en-NL" sz="1200" dirty="0"/>
          </a:p>
        </p:txBody>
      </p:sp>
      <p:sp>
        <p:nvSpPr>
          <p:cNvPr id="80" name="TextBox 79">
            <a:extLst>
              <a:ext uri="{FF2B5EF4-FFF2-40B4-BE49-F238E27FC236}">
                <a16:creationId xmlns:a16="http://schemas.microsoft.com/office/drawing/2014/main" id="{B1B76DCA-3978-323E-FA8A-F7E01D184DBE}"/>
              </a:ext>
            </a:extLst>
          </p:cNvPr>
          <p:cNvSpPr txBox="1"/>
          <p:nvPr/>
        </p:nvSpPr>
        <p:spPr>
          <a:xfrm rot="18900000">
            <a:off x="5559168" y="5043615"/>
            <a:ext cx="1435265" cy="461665"/>
          </a:xfrm>
          <a:prstGeom prst="rect">
            <a:avLst/>
          </a:prstGeom>
          <a:noFill/>
        </p:spPr>
        <p:txBody>
          <a:bodyPr wrap="none" rtlCol="0" anchor="ctr">
            <a:spAutoFit/>
          </a:bodyPr>
          <a:lstStyle>
            <a:defPPr>
              <a:defRPr lang="en-US"/>
            </a:defPPr>
            <a:lvl1pPr algn="ctr">
              <a:defRPr sz="1400"/>
            </a:lvl1pPr>
          </a:lstStyle>
          <a:p>
            <a:r>
              <a:rPr lang="en-US" sz="1200" dirty="0"/>
              <a:t>NPR Demographic </a:t>
            </a:r>
          </a:p>
          <a:p>
            <a:r>
              <a:rPr lang="en-US" sz="1200" dirty="0"/>
              <a:t>Extract</a:t>
            </a:r>
            <a:endParaRPr lang="en-NL" sz="1200" dirty="0"/>
          </a:p>
        </p:txBody>
      </p:sp>
      <p:sp>
        <p:nvSpPr>
          <p:cNvPr id="3" name="TextBox 2">
            <a:extLst>
              <a:ext uri="{FF2B5EF4-FFF2-40B4-BE49-F238E27FC236}">
                <a16:creationId xmlns:a16="http://schemas.microsoft.com/office/drawing/2014/main" id="{FAFB936A-6F59-7D88-5708-455F4E33B369}"/>
              </a:ext>
            </a:extLst>
          </p:cNvPr>
          <p:cNvSpPr txBox="1"/>
          <p:nvPr/>
        </p:nvSpPr>
        <p:spPr>
          <a:xfrm rot="18900000">
            <a:off x="8325714" y="5043615"/>
            <a:ext cx="1613262" cy="461665"/>
          </a:xfrm>
          <a:prstGeom prst="rect">
            <a:avLst/>
          </a:prstGeom>
          <a:noFill/>
        </p:spPr>
        <p:txBody>
          <a:bodyPr wrap="none" rtlCol="0" anchor="ctr">
            <a:spAutoFit/>
          </a:bodyPr>
          <a:lstStyle>
            <a:defPPr>
              <a:defRPr lang="en-US"/>
            </a:defPPr>
            <a:lvl1pPr algn="ctr">
              <a:defRPr sz="1400"/>
            </a:lvl1pPr>
          </a:lstStyle>
          <a:p>
            <a:r>
              <a:rPr lang="en-US" sz="1200" dirty="0"/>
              <a:t>Administrative Intake </a:t>
            </a:r>
          </a:p>
          <a:p>
            <a:r>
              <a:rPr lang="en-US" sz="1200" dirty="0"/>
              <a:t>Extract</a:t>
            </a:r>
            <a:endParaRPr lang="en-NL" sz="1100" dirty="0">
              <a:effectLst/>
            </a:endParaRPr>
          </a:p>
        </p:txBody>
      </p:sp>
      <p:sp>
        <p:nvSpPr>
          <p:cNvPr id="6" name="TextBox 5">
            <a:extLst>
              <a:ext uri="{FF2B5EF4-FFF2-40B4-BE49-F238E27FC236}">
                <a16:creationId xmlns:a16="http://schemas.microsoft.com/office/drawing/2014/main" id="{51C0BDAA-B435-9264-61EA-1241921A87C9}"/>
              </a:ext>
            </a:extLst>
          </p:cNvPr>
          <p:cNvSpPr txBox="1"/>
          <p:nvPr/>
        </p:nvSpPr>
        <p:spPr>
          <a:xfrm rot="18900000">
            <a:off x="6910965" y="5043615"/>
            <a:ext cx="1607170" cy="461665"/>
          </a:xfrm>
          <a:prstGeom prst="rect">
            <a:avLst/>
          </a:prstGeom>
          <a:noFill/>
        </p:spPr>
        <p:txBody>
          <a:bodyPr wrap="none" rtlCol="0" anchor="ctr">
            <a:spAutoFit/>
          </a:bodyPr>
          <a:lstStyle>
            <a:defPPr>
              <a:defRPr lang="en-US"/>
            </a:defPPr>
            <a:lvl1pPr algn="ctr">
              <a:defRPr sz="1400"/>
            </a:lvl1pPr>
          </a:lstStyle>
          <a:p>
            <a:r>
              <a:rPr lang="en-US" sz="1200" dirty="0"/>
              <a:t>Hospital Registration </a:t>
            </a:r>
          </a:p>
          <a:p>
            <a:r>
              <a:rPr lang="en-US" sz="1200" dirty="0"/>
              <a:t>Extract</a:t>
            </a:r>
            <a:endParaRPr lang="en-NL" sz="1200" dirty="0"/>
          </a:p>
        </p:txBody>
      </p:sp>
      <p:sp>
        <p:nvSpPr>
          <p:cNvPr id="12" name="TextBox 11">
            <a:extLst>
              <a:ext uri="{FF2B5EF4-FFF2-40B4-BE49-F238E27FC236}">
                <a16:creationId xmlns:a16="http://schemas.microsoft.com/office/drawing/2014/main" id="{4FD9D017-B176-7475-C6CB-C56C3381452B}"/>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2</a:t>
            </a:r>
            <a:endParaRPr lang="en-NL" sz="1000" b="1" dirty="0"/>
          </a:p>
        </p:txBody>
      </p:sp>
      <p:sp>
        <p:nvSpPr>
          <p:cNvPr id="56" name="Oval 55">
            <a:extLst>
              <a:ext uri="{FF2B5EF4-FFF2-40B4-BE49-F238E27FC236}">
                <a16:creationId xmlns:a16="http://schemas.microsoft.com/office/drawing/2014/main" id="{8B5C4AC4-81AE-F0BF-C101-B7B12FC5CC97}"/>
              </a:ext>
            </a:extLst>
          </p:cNvPr>
          <p:cNvSpPr/>
          <p:nvPr/>
        </p:nvSpPr>
        <p:spPr>
          <a:xfrm>
            <a:off x="6523967" y="3598218"/>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endParaRPr lang="en-NL" dirty="0"/>
          </a:p>
        </p:txBody>
      </p:sp>
      <p:sp>
        <p:nvSpPr>
          <p:cNvPr id="8" name="Oval 7">
            <a:extLst>
              <a:ext uri="{FF2B5EF4-FFF2-40B4-BE49-F238E27FC236}">
                <a16:creationId xmlns:a16="http://schemas.microsoft.com/office/drawing/2014/main" id="{23858712-1D7A-4253-C40C-33B9B61A5E97}"/>
              </a:ext>
            </a:extLst>
          </p:cNvPr>
          <p:cNvSpPr/>
          <p:nvPr/>
        </p:nvSpPr>
        <p:spPr>
          <a:xfrm>
            <a:off x="6517372" y="2078563"/>
            <a:ext cx="409575" cy="409575"/>
          </a:xfrm>
          <a:prstGeom prst="ellipse">
            <a:avLst/>
          </a:prstGeom>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NL" sz="1700" dirty="0"/>
          </a:p>
        </p:txBody>
      </p:sp>
      <p:sp>
        <p:nvSpPr>
          <p:cNvPr id="58" name="Oval 57">
            <a:extLst>
              <a:ext uri="{FF2B5EF4-FFF2-40B4-BE49-F238E27FC236}">
                <a16:creationId xmlns:a16="http://schemas.microsoft.com/office/drawing/2014/main" id="{0ADF0A27-5E9D-3934-064F-B238A287A47B}"/>
              </a:ext>
            </a:extLst>
          </p:cNvPr>
          <p:cNvSpPr/>
          <p:nvPr/>
        </p:nvSpPr>
        <p:spPr>
          <a:xfrm>
            <a:off x="7959097" y="3598218"/>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endParaRPr lang="en-NL" dirty="0"/>
          </a:p>
        </p:txBody>
      </p:sp>
      <p:sp>
        <p:nvSpPr>
          <p:cNvPr id="49" name="Oval 48">
            <a:extLst>
              <a:ext uri="{FF2B5EF4-FFF2-40B4-BE49-F238E27FC236}">
                <a16:creationId xmlns:a16="http://schemas.microsoft.com/office/drawing/2014/main" id="{C2623585-F6D6-F1B3-97A5-253A18848A0A}"/>
              </a:ext>
            </a:extLst>
          </p:cNvPr>
          <p:cNvSpPr/>
          <p:nvPr/>
        </p:nvSpPr>
        <p:spPr>
          <a:xfrm>
            <a:off x="9394226" y="3598218"/>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endParaRPr lang="en-NL" dirty="0"/>
          </a:p>
        </p:txBody>
      </p:sp>
      <p:sp>
        <p:nvSpPr>
          <p:cNvPr id="72" name="Oval 71">
            <a:extLst>
              <a:ext uri="{FF2B5EF4-FFF2-40B4-BE49-F238E27FC236}">
                <a16:creationId xmlns:a16="http://schemas.microsoft.com/office/drawing/2014/main" id="{24D96955-A91B-F127-AA5F-9D2F6C46DD45}"/>
              </a:ext>
            </a:extLst>
          </p:cNvPr>
          <p:cNvSpPr/>
          <p:nvPr/>
        </p:nvSpPr>
        <p:spPr>
          <a:xfrm>
            <a:off x="6523967" y="5117874"/>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endParaRPr lang="en-NL" dirty="0"/>
          </a:p>
        </p:txBody>
      </p:sp>
      <p:sp>
        <p:nvSpPr>
          <p:cNvPr id="73" name="Oval 72">
            <a:extLst>
              <a:ext uri="{FF2B5EF4-FFF2-40B4-BE49-F238E27FC236}">
                <a16:creationId xmlns:a16="http://schemas.microsoft.com/office/drawing/2014/main" id="{025F0D81-7358-9DA8-1A4D-7E45BA19BFD1}"/>
              </a:ext>
            </a:extLst>
          </p:cNvPr>
          <p:cNvSpPr/>
          <p:nvPr/>
        </p:nvSpPr>
        <p:spPr>
          <a:xfrm>
            <a:off x="7959097" y="5117874"/>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endParaRPr lang="en-NL" dirty="0"/>
          </a:p>
        </p:txBody>
      </p:sp>
      <p:sp>
        <p:nvSpPr>
          <p:cNvPr id="74" name="Oval 73">
            <a:extLst>
              <a:ext uri="{FF2B5EF4-FFF2-40B4-BE49-F238E27FC236}">
                <a16:creationId xmlns:a16="http://schemas.microsoft.com/office/drawing/2014/main" id="{3116CA4C-15B9-A0F6-4FFC-D05DABF1F8EC}"/>
              </a:ext>
            </a:extLst>
          </p:cNvPr>
          <p:cNvSpPr/>
          <p:nvPr/>
        </p:nvSpPr>
        <p:spPr>
          <a:xfrm>
            <a:off x="9394226" y="5117874"/>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endParaRPr lang="en-NL" dirty="0"/>
          </a:p>
        </p:txBody>
      </p:sp>
      <p:sp>
        <p:nvSpPr>
          <p:cNvPr id="21" name="Oval 20">
            <a:extLst>
              <a:ext uri="{FF2B5EF4-FFF2-40B4-BE49-F238E27FC236}">
                <a16:creationId xmlns:a16="http://schemas.microsoft.com/office/drawing/2014/main" id="{5BC43E62-DC3A-D76D-57AA-25990727D2CD}"/>
              </a:ext>
            </a:extLst>
          </p:cNvPr>
          <p:cNvSpPr/>
          <p:nvPr/>
        </p:nvSpPr>
        <p:spPr>
          <a:xfrm>
            <a:off x="9394226" y="2078563"/>
            <a:ext cx="409575" cy="409575"/>
          </a:xfrm>
          <a:prstGeom prst="ellipse">
            <a:avLst/>
          </a:prstGeom>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NL" sz="1700" dirty="0"/>
          </a:p>
        </p:txBody>
      </p:sp>
      <p:cxnSp>
        <p:nvCxnSpPr>
          <p:cNvPr id="26" name="Straight Arrow Connector 25">
            <a:extLst>
              <a:ext uri="{FF2B5EF4-FFF2-40B4-BE49-F238E27FC236}">
                <a16:creationId xmlns:a16="http://schemas.microsoft.com/office/drawing/2014/main" id="{E8329F88-235F-F32F-FD85-2D1E9F58F911}"/>
              </a:ext>
            </a:extLst>
          </p:cNvPr>
          <p:cNvCxnSpPr>
            <a:cxnSpLocks/>
            <a:stCxn id="56" idx="0"/>
            <a:endCxn id="8" idx="4"/>
          </p:cNvCxnSpPr>
          <p:nvPr/>
        </p:nvCxnSpPr>
        <p:spPr>
          <a:xfrm flipH="1" flipV="1">
            <a:off x="6722160" y="2488138"/>
            <a:ext cx="6595" cy="1110080"/>
          </a:xfrm>
          <a:prstGeom prst="straightConnector1">
            <a:avLst/>
          </a:prstGeom>
          <a:ln w="38100">
            <a:solidFill>
              <a:schemeClr val="tx1">
                <a:lumMod val="50000"/>
                <a:lumOff val="50000"/>
              </a:schemeClr>
            </a:solidFill>
            <a:prstDash val="sysDot"/>
            <a:tailEnd type="triangle" w="lg" len="med"/>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A79B0268-750B-C7E5-D1CA-92F5DD1DFF71}"/>
              </a:ext>
            </a:extLst>
          </p:cNvPr>
          <p:cNvCxnSpPr>
            <a:cxnSpLocks/>
            <a:stCxn id="58" idx="0"/>
            <a:endCxn id="88" idx="4"/>
          </p:cNvCxnSpPr>
          <p:nvPr/>
        </p:nvCxnSpPr>
        <p:spPr>
          <a:xfrm flipH="1" flipV="1">
            <a:off x="8163884" y="2488206"/>
            <a:ext cx="1" cy="1110012"/>
          </a:xfrm>
          <a:prstGeom prst="straightConnector1">
            <a:avLst/>
          </a:prstGeom>
          <a:ln w="38100">
            <a:solidFill>
              <a:schemeClr val="tx1">
                <a:lumMod val="50000"/>
                <a:lumOff val="50000"/>
              </a:schemeClr>
            </a:solidFill>
            <a:prstDash val="sysDot"/>
            <a:tailEnd type="triangle" w="lg" len="med"/>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1E0C29FA-7113-915A-D578-84C563A5B15B}"/>
              </a:ext>
            </a:extLst>
          </p:cNvPr>
          <p:cNvCxnSpPr>
            <a:cxnSpLocks/>
            <a:stCxn id="73" idx="0"/>
            <a:endCxn id="58" idx="4"/>
          </p:cNvCxnSpPr>
          <p:nvPr/>
        </p:nvCxnSpPr>
        <p:spPr>
          <a:xfrm flipV="1">
            <a:off x="8163885" y="4007793"/>
            <a:ext cx="0" cy="1110081"/>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F99EA313-6AE0-D480-B8CC-77252EFCF431}"/>
              </a:ext>
            </a:extLst>
          </p:cNvPr>
          <p:cNvCxnSpPr>
            <a:cxnSpLocks/>
            <a:stCxn id="72" idx="0"/>
            <a:endCxn id="56" idx="4"/>
          </p:cNvCxnSpPr>
          <p:nvPr/>
        </p:nvCxnSpPr>
        <p:spPr>
          <a:xfrm flipV="1">
            <a:off x="6728755" y="4007793"/>
            <a:ext cx="0" cy="1110081"/>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8A3DA0B3-68C9-9A48-A855-A42D46AF5F16}"/>
              </a:ext>
            </a:extLst>
          </p:cNvPr>
          <p:cNvCxnSpPr>
            <a:cxnSpLocks/>
            <a:stCxn id="49" idx="0"/>
            <a:endCxn id="21" idx="4"/>
          </p:cNvCxnSpPr>
          <p:nvPr/>
        </p:nvCxnSpPr>
        <p:spPr>
          <a:xfrm flipV="1">
            <a:off x="9599014" y="2488138"/>
            <a:ext cx="0" cy="1110080"/>
          </a:xfrm>
          <a:prstGeom prst="straightConnector1">
            <a:avLst/>
          </a:prstGeom>
          <a:ln w="38100">
            <a:solidFill>
              <a:schemeClr val="tx1">
                <a:lumMod val="50000"/>
                <a:lumOff val="50000"/>
              </a:schemeClr>
            </a:solidFill>
            <a:prstDash val="sysDot"/>
            <a:tailEnd type="triangle" w="lg" len="med"/>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31EF5E0A-F6EE-AB95-D4DA-4553547256E1}"/>
              </a:ext>
            </a:extLst>
          </p:cNvPr>
          <p:cNvCxnSpPr>
            <a:cxnSpLocks/>
            <a:stCxn id="74" idx="0"/>
            <a:endCxn id="49" idx="4"/>
          </p:cNvCxnSpPr>
          <p:nvPr/>
        </p:nvCxnSpPr>
        <p:spPr>
          <a:xfrm flipV="1">
            <a:off x="9599014" y="4007793"/>
            <a:ext cx="0" cy="1110081"/>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88" name="Oval 87">
            <a:extLst>
              <a:ext uri="{FF2B5EF4-FFF2-40B4-BE49-F238E27FC236}">
                <a16:creationId xmlns:a16="http://schemas.microsoft.com/office/drawing/2014/main" id="{D5609DBC-2C6E-EEEE-EEC9-1C0CE73946E4}"/>
              </a:ext>
            </a:extLst>
          </p:cNvPr>
          <p:cNvSpPr/>
          <p:nvPr/>
        </p:nvSpPr>
        <p:spPr>
          <a:xfrm>
            <a:off x="7959096" y="2078631"/>
            <a:ext cx="409575" cy="409575"/>
          </a:xfrm>
          <a:prstGeom prst="ellipse">
            <a:avLst/>
          </a:prstGeom>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NL" sz="1700" dirty="0"/>
          </a:p>
        </p:txBody>
      </p:sp>
      <p:sp>
        <p:nvSpPr>
          <p:cNvPr id="25" name="TextBox 24">
            <a:extLst>
              <a:ext uri="{FF2B5EF4-FFF2-40B4-BE49-F238E27FC236}">
                <a16:creationId xmlns:a16="http://schemas.microsoft.com/office/drawing/2014/main" id="{4D6615F3-56AC-35C0-A02D-BC8AD5DB263A}"/>
              </a:ext>
            </a:extLst>
          </p:cNvPr>
          <p:cNvSpPr txBox="1"/>
          <p:nvPr/>
        </p:nvSpPr>
        <p:spPr>
          <a:xfrm rot="18900000">
            <a:off x="8164099" y="2071359"/>
            <a:ext cx="1936492" cy="276999"/>
          </a:xfrm>
          <a:prstGeom prst="rect">
            <a:avLst/>
          </a:prstGeom>
          <a:noFill/>
        </p:spPr>
        <p:txBody>
          <a:bodyPr wrap="none" rtlCol="0" anchor="ctr">
            <a:spAutoFit/>
          </a:bodyPr>
          <a:lstStyle/>
          <a:p>
            <a:pPr algn="ctr"/>
            <a:r>
              <a:rPr lang="en-US" sz="1200" dirty="0" err="1"/>
              <a:t>hrio:AdministrativeGender</a:t>
            </a:r>
            <a:endParaRPr lang="en-NL" sz="1200" dirty="0"/>
          </a:p>
        </p:txBody>
      </p:sp>
      <p:sp>
        <p:nvSpPr>
          <p:cNvPr id="14" name="Content Placeholder 2">
            <a:extLst>
              <a:ext uri="{FF2B5EF4-FFF2-40B4-BE49-F238E27FC236}">
                <a16:creationId xmlns:a16="http://schemas.microsoft.com/office/drawing/2014/main" id="{918DA243-88BD-7FEA-A20D-5C54F2F02EA3}"/>
              </a:ext>
            </a:extLst>
          </p:cNvPr>
          <p:cNvSpPr>
            <a:spLocks noGrp="1"/>
          </p:cNvSpPr>
          <p:nvPr>
            <p:ph idx="1"/>
          </p:nvPr>
        </p:nvSpPr>
        <p:spPr>
          <a:xfrm>
            <a:off x="695325" y="1628776"/>
            <a:ext cx="3224529" cy="4321174"/>
          </a:xfrm>
        </p:spPr>
        <p:txBody>
          <a:bodyPr>
            <a:normAutofit/>
          </a:bodyPr>
          <a:lstStyle/>
          <a:p>
            <a:pPr>
              <a:lnSpc>
                <a:spcPct val="85000"/>
              </a:lnSpc>
              <a:spcAft>
                <a:spcPts val="1800"/>
              </a:spcAft>
            </a:pPr>
            <a:r>
              <a:rPr lang="en-US" sz="2000" dirty="0"/>
              <a:t>The meanings are now clear in the conceptual model, but Amir still cannot query or compute over them directly.</a:t>
            </a:r>
          </a:p>
          <a:p>
            <a:pPr>
              <a:lnSpc>
                <a:spcPct val="85000"/>
              </a:lnSpc>
              <a:spcAft>
                <a:spcPts val="1800"/>
              </a:spcAft>
            </a:pPr>
            <a:r>
              <a:rPr lang="en-US" sz="2000" dirty="0"/>
              <a:t>The next step is to turn these conceptual meanings into machine-readable, </a:t>
            </a:r>
            <a:r>
              <a:rPr lang="en-US" sz="2000" dirty="0" err="1"/>
              <a:t>queryable</a:t>
            </a:r>
            <a:r>
              <a:rPr lang="en-US" sz="2000" dirty="0"/>
              <a:t>, and actionable relations.</a:t>
            </a:r>
            <a:endParaRPr lang="en-NL" sz="2000" dirty="0"/>
          </a:p>
        </p:txBody>
      </p:sp>
      <p:cxnSp>
        <p:nvCxnSpPr>
          <p:cNvPr id="7" name="Straight Connector 6">
            <a:extLst>
              <a:ext uri="{FF2B5EF4-FFF2-40B4-BE49-F238E27FC236}">
                <a16:creationId xmlns:a16="http://schemas.microsoft.com/office/drawing/2014/main" id="{2C630D9A-ECAC-11C4-1A8E-1E744C7D3BB5}"/>
              </a:ext>
            </a:extLst>
          </p:cNvPr>
          <p:cNvCxnSpPr/>
          <p:nvPr/>
        </p:nvCxnSpPr>
        <p:spPr>
          <a:xfrm>
            <a:off x="11313795" y="1675518"/>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0C972586-4D87-38A4-A350-A774715DC44C}"/>
              </a:ext>
            </a:extLst>
          </p:cNvPr>
          <p:cNvCxnSpPr/>
          <p:nvPr/>
        </p:nvCxnSpPr>
        <p:spPr>
          <a:xfrm>
            <a:off x="9865622" y="2921524"/>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649200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9D7A88-E09B-1CB2-2129-B7C06E604D56}"/>
            </a:ext>
          </a:extLst>
        </p:cNvPr>
        <p:cNvGrpSpPr/>
        <p:nvPr/>
      </p:nvGrpSpPr>
      <p:grpSpPr>
        <a:xfrm>
          <a:off x="0" y="0"/>
          <a:ext cx="0" cy="0"/>
          <a:chOff x="0" y="0"/>
          <a:chExt cx="0" cy="0"/>
        </a:xfrm>
      </p:grpSpPr>
      <p:sp>
        <p:nvSpPr>
          <p:cNvPr id="30" name="Rectangle 29">
            <a:extLst>
              <a:ext uri="{FF2B5EF4-FFF2-40B4-BE49-F238E27FC236}">
                <a16:creationId xmlns:a16="http://schemas.microsoft.com/office/drawing/2014/main" id="{8A643824-B184-4E2E-4D20-9F9981DB5FF3}"/>
              </a:ext>
            </a:extLst>
          </p:cNvPr>
          <p:cNvSpPr/>
          <p:nvPr/>
        </p:nvSpPr>
        <p:spPr>
          <a:xfrm>
            <a:off x="695325" y="2320417"/>
            <a:ext cx="10801348" cy="3633279"/>
          </a:xfrm>
          <a:prstGeom prst="rect">
            <a:avLst/>
          </a:prstGeom>
          <a:solidFill>
            <a:schemeClr val="bg1">
              <a:lumMod val="95000"/>
            </a:schemeClr>
          </a:solidFill>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NL" dirty="0"/>
          </a:p>
        </p:txBody>
      </p:sp>
      <p:sp>
        <p:nvSpPr>
          <p:cNvPr id="2" name="Title 1">
            <a:extLst>
              <a:ext uri="{FF2B5EF4-FFF2-40B4-BE49-F238E27FC236}">
                <a16:creationId xmlns:a16="http://schemas.microsoft.com/office/drawing/2014/main" id="{EF9E7A67-4594-01D4-D524-663D89E0D601}"/>
              </a:ext>
            </a:extLst>
          </p:cNvPr>
          <p:cNvSpPr>
            <a:spLocks noGrp="1"/>
          </p:cNvSpPr>
          <p:nvPr>
            <p:ph type="title"/>
          </p:nvPr>
        </p:nvSpPr>
        <p:spPr/>
        <p:txBody>
          <a:bodyPr/>
          <a:lstStyle/>
          <a:p>
            <a:r>
              <a:rPr lang="en-US" sz="3600" dirty="0"/>
              <a:t>The Health-RI Computational Ontology</a:t>
            </a:r>
            <a:endParaRPr lang="en-NL" sz="3600" dirty="0"/>
          </a:p>
        </p:txBody>
      </p:sp>
      <p:sp>
        <p:nvSpPr>
          <p:cNvPr id="4" name="Slide Number Placeholder 3">
            <a:extLst>
              <a:ext uri="{FF2B5EF4-FFF2-40B4-BE49-F238E27FC236}">
                <a16:creationId xmlns:a16="http://schemas.microsoft.com/office/drawing/2014/main" id="{6695E951-13AB-488A-CFC9-43CDA6FE4CF3}"/>
              </a:ext>
            </a:extLst>
          </p:cNvPr>
          <p:cNvSpPr>
            <a:spLocks noGrp="1"/>
          </p:cNvSpPr>
          <p:nvPr>
            <p:ph type="sldNum" sz="quarter" idx="12"/>
          </p:nvPr>
        </p:nvSpPr>
        <p:spPr/>
        <p:txBody>
          <a:bodyPr/>
          <a:lstStyle/>
          <a:p>
            <a:fld id="{4FAB73BC-B049-4115-A692-8D63A059BFB8}" type="slidenum">
              <a:rPr lang="en-US" smtClean="0"/>
              <a:pPr/>
              <a:t>21</a:t>
            </a:fld>
            <a:endParaRPr lang="en-US" dirty="0"/>
          </a:p>
        </p:txBody>
      </p:sp>
      <p:sp>
        <p:nvSpPr>
          <p:cNvPr id="31" name="Freeform: Shape 30">
            <a:extLst>
              <a:ext uri="{FF2B5EF4-FFF2-40B4-BE49-F238E27FC236}">
                <a16:creationId xmlns:a16="http://schemas.microsoft.com/office/drawing/2014/main" id="{FAD2CCD1-2CF6-9959-3D10-A296F877185F}"/>
              </a:ext>
            </a:extLst>
          </p:cNvPr>
          <p:cNvSpPr/>
          <p:nvPr/>
        </p:nvSpPr>
        <p:spPr>
          <a:xfrm>
            <a:off x="695325" y="1627628"/>
            <a:ext cx="10801349" cy="625636"/>
          </a:xfrm>
          <a:custGeom>
            <a:avLst/>
            <a:gdLst>
              <a:gd name="csX0" fmla="*/ 0 w 4438051"/>
              <a:gd name="csY0" fmla="*/ 0 h 647514"/>
              <a:gd name="csX1" fmla="*/ 4438051 w 4438051"/>
              <a:gd name="csY1" fmla="*/ 0 h 647514"/>
              <a:gd name="csX2" fmla="*/ 4438051 w 4438051"/>
              <a:gd name="csY2" fmla="*/ 647514 h 647514"/>
              <a:gd name="csX3" fmla="*/ 0 w 4438051"/>
              <a:gd name="csY3" fmla="*/ 647514 h 647514"/>
              <a:gd name="csX4" fmla="*/ 0 w 4438051"/>
              <a:gd name="csY4" fmla="*/ 0 h 647514"/>
            </a:gdLst>
            <a:ahLst/>
            <a:cxnLst>
              <a:cxn ang="0">
                <a:pos x="csX0" y="csY0"/>
              </a:cxn>
              <a:cxn ang="0">
                <a:pos x="csX1" y="csY1"/>
              </a:cxn>
              <a:cxn ang="0">
                <a:pos x="csX2" y="csY2"/>
              </a:cxn>
              <a:cxn ang="0">
                <a:pos x="csX3" y="csY3"/>
              </a:cxn>
              <a:cxn ang="0">
                <a:pos x="csX4" y="csY4"/>
              </a:cxn>
            </a:cxnLst>
            <a:rect l="l" t="t" r="r" b="b"/>
            <a:pathLst>
              <a:path w="4438051" h="647514">
                <a:moveTo>
                  <a:pt x="0" y="0"/>
                </a:moveTo>
                <a:lnTo>
                  <a:pt x="4438051" y="0"/>
                </a:lnTo>
                <a:lnTo>
                  <a:pt x="4438051" y="647514"/>
                </a:lnTo>
                <a:lnTo>
                  <a:pt x="0" y="647514"/>
                </a:lnTo>
                <a:lnTo>
                  <a:pt x="0" y="0"/>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2000" b="1" kern="1200" dirty="0">
                <a:solidFill>
                  <a:schemeClr val="accent1"/>
                </a:solidFill>
              </a:rPr>
              <a:t>The Health-RI Semantic Interoperability Initiative</a:t>
            </a:r>
            <a:endParaRPr lang="en-NL" sz="2000" b="1" kern="1200" dirty="0"/>
          </a:p>
        </p:txBody>
      </p:sp>
      <p:sp>
        <p:nvSpPr>
          <p:cNvPr id="5" name="Callout: Bent Line with Border and Accent Bar 4">
            <a:extLst>
              <a:ext uri="{FF2B5EF4-FFF2-40B4-BE49-F238E27FC236}">
                <a16:creationId xmlns:a16="http://schemas.microsoft.com/office/drawing/2014/main" id="{085147C8-7CB4-E979-8DDD-BF894B585799}"/>
              </a:ext>
            </a:extLst>
          </p:cNvPr>
          <p:cNvSpPr/>
          <p:nvPr/>
        </p:nvSpPr>
        <p:spPr>
          <a:xfrm flipH="1">
            <a:off x="2390284" y="2613062"/>
            <a:ext cx="1884698" cy="1089388"/>
          </a:xfrm>
          <a:prstGeom prst="accentBorderCallout2">
            <a:avLst>
              <a:gd name="adj1" fmla="val 18750"/>
              <a:gd name="adj2" fmla="val -8333"/>
              <a:gd name="adj3" fmla="val 18750"/>
              <a:gd name="adj4" fmla="val -16667"/>
              <a:gd name="adj5" fmla="val 69622"/>
              <a:gd name="adj6" fmla="val -52586"/>
            </a:avLst>
          </a:prstGeom>
          <a:solidFill>
            <a:schemeClr val="bg1">
              <a:lumMod val="95000"/>
            </a:schemeClr>
          </a:solidFill>
          <a:ln w="19050">
            <a:solidFill>
              <a:schemeClr val="bg1">
                <a:lumMod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NL"/>
          </a:p>
        </p:txBody>
      </p:sp>
      <p:sp>
        <p:nvSpPr>
          <p:cNvPr id="6" name="Callout: Bent Line with Border and Accent Bar 5">
            <a:extLst>
              <a:ext uri="{FF2B5EF4-FFF2-40B4-BE49-F238E27FC236}">
                <a16:creationId xmlns:a16="http://schemas.microsoft.com/office/drawing/2014/main" id="{842930E4-F0FC-D20C-7344-AB31202E23FD}"/>
              </a:ext>
            </a:extLst>
          </p:cNvPr>
          <p:cNvSpPr/>
          <p:nvPr/>
        </p:nvSpPr>
        <p:spPr>
          <a:xfrm>
            <a:off x="7887488" y="4655497"/>
            <a:ext cx="1884699" cy="1089388"/>
          </a:xfrm>
          <a:prstGeom prst="accentBorderCallout2">
            <a:avLst>
              <a:gd name="adj1" fmla="val 84593"/>
              <a:gd name="adj2" fmla="val -7926"/>
              <a:gd name="adj3" fmla="val 84381"/>
              <a:gd name="adj4" fmla="val -21082"/>
              <a:gd name="adj5" fmla="val 32889"/>
              <a:gd name="adj6" fmla="val -54287"/>
            </a:avLst>
          </a:prstGeom>
          <a:solidFill>
            <a:schemeClr val="bg1">
              <a:lumMod val="95000"/>
            </a:schemeClr>
          </a:solidFill>
          <a:ln w="19050">
            <a:solidFill>
              <a:schemeClr val="bg1">
                <a:lumMod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NL"/>
          </a:p>
        </p:txBody>
      </p:sp>
      <p:sp>
        <p:nvSpPr>
          <p:cNvPr id="7" name="Callout: Bent Line with Border and Accent Bar 6">
            <a:extLst>
              <a:ext uri="{FF2B5EF4-FFF2-40B4-BE49-F238E27FC236}">
                <a16:creationId xmlns:a16="http://schemas.microsoft.com/office/drawing/2014/main" id="{E441779E-7662-71A4-D752-4A117DCA19DA}"/>
              </a:ext>
            </a:extLst>
          </p:cNvPr>
          <p:cNvSpPr/>
          <p:nvPr/>
        </p:nvSpPr>
        <p:spPr>
          <a:xfrm>
            <a:off x="7887488" y="2617427"/>
            <a:ext cx="1884698" cy="1089388"/>
          </a:xfrm>
          <a:prstGeom prst="accentBorderCallout2">
            <a:avLst>
              <a:gd name="adj1" fmla="val 18750"/>
              <a:gd name="adj2" fmla="val -8333"/>
              <a:gd name="adj3" fmla="val 18750"/>
              <a:gd name="adj4" fmla="val -16667"/>
              <a:gd name="adj5" fmla="val 69622"/>
              <a:gd name="adj6" fmla="val -52586"/>
            </a:avLst>
          </a:prstGeom>
          <a:solidFill>
            <a:schemeClr val="bg1">
              <a:lumMod val="95000"/>
            </a:schemeClr>
          </a:solidFill>
          <a:ln w="19050">
            <a:solidFill>
              <a:schemeClr val="bg1">
                <a:lumMod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NL"/>
          </a:p>
        </p:txBody>
      </p:sp>
      <p:sp>
        <p:nvSpPr>
          <p:cNvPr id="9" name="Freeform: Shape 8">
            <a:extLst>
              <a:ext uri="{FF2B5EF4-FFF2-40B4-BE49-F238E27FC236}">
                <a16:creationId xmlns:a16="http://schemas.microsoft.com/office/drawing/2014/main" id="{C43FFCDB-B498-9A6E-7CCA-54774947529C}"/>
              </a:ext>
            </a:extLst>
          </p:cNvPr>
          <p:cNvSpPr/>
          <p:nvPr/>
        </p:nvSpPr>
        <p:spPr>
          <a:xfrm>
            <a:off x="4941618" y="2936040"/>
            <a:ext cx="2380471" cy="2380471"/>
          </a:xfrm>
          <a:custGeom>
            <a:avLst/>
            <a:gdLst>
              <a:gd name="connsiteX0" fmla="*/ 1920240 w 3840480"/>
              <a:gd name="connsiteY0" fmla="*/ 0 h 3840480"/>
              <a:gd name="connsiteX1" fmla="*/ 3583217 w 3840480"/>
              <a:gd name="connsiteY1" fmla="*/ 960120 h 3840480"/>
              <a:gd name="connsiteX2" fmla="*/ 3583217 w 3840480"/>
              <a:gd name="connsiteY2" fmla="*/ 2880360 h 3840480"/>
              <a:gd name="connsiteX3" fmla="*/ 1920240 w 3840480"/>
              <a:gd name="connsiteY3" fmla="*/ 1920240 h 3840480"/>
              <a:gd name="connsiteX4" fmla="*/ 1920240 w 3840480"/>
              <a:gd name="connsiteY4" fmla="*/ 0 h 3840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40480" h="3840480">
                <a:moveTo>
                  <a:pt x="1920240" y="0"/>
                </a:moveTo>
                <a:cubicBezTo>
                  <a:pt x="2606276" y="0"/>
                  <a:pt x="3240199" y="365996"/>
                  <a:pt x="3583217" y="960120"/>
                </a:cubicBezTo>
                <a:cubicBezTo>
                  <a:pt x="3926235" y="1554244"/>
                  <a:pt x="3926235" y="2286236"/>
                  <a:pt x="3583217" y="2880360"/>
                </a:cubicBezTo>
                <a:lnTo>
                  <a:pt x="1920240" y="1920240"/>
                </a:lnTo>
                <a:lnTo>
                  <a:pt x="1920240" y="0"/>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2054505" tIns="844296" rIns="475335" bIns="1914144" numCol="1" spcCol="1270" anchor="ctr" anchorCtr="0">
            <a:noAutofit/>
          </a:bodyPr>
          <a:lstStyle/>
          <a:p>
            <a:pPr marL="0" lvl="0" indent="0" algn="ctr" defTabSz="1066800">
              <a:lnSpc>
                <a:spcPct val="90000"/>
              </a:lnSpc>
              <a:spcBef>
                <a:spcPct val="0"/>
              </a:spcBef>
              <a:spcAft>
                <a:spcPct val="35000"/>
              </a:spcAft>
              <a:buNone/>
            </a:pPr>
            <a:endParaRPr lang="en-US" sz="2800" b="1" kern="1200" dirty="0">
              <a:latin typeface="Neue Haas Grotesk Text Pro Blac" panose="020B0504020202020204" pitchFamily="34" charset="0"/>
            </a:endParaRPr>
          </a:p>
        </p:txBody>
      </p:sp>
      <p:sp>
        <p:nvSpPr>
          <p:cNvPr id="10" name="Freeform: Shape 9">
            <a:extLst>
              <a:ext uri="{FF2B5EF4-FFF2-40B4-BE49-F238E27FC236}">
                <a16:creationId xmlns:a16="http://schemas.microsoft.com/office/drawing/2014/main" id="{8AD7C18C-9245-EAD6-3976-8774E197638E}"/>
              </a:ext>
            </a:extLst>
          </p:cNvPr>
          <p:cNvSpPr/>
          <p:nvPr/>
        </p:nvSpPr>
        <p:spPr>
          <a:xfrm>
            <a:off x="4895541" y="3015941"/>
            <a:ext cx="2380471" cy="2380471"/>
          </a:xfrm>
          <a:custGeom>
            <a:avLst/>
            <a:gdLst>
              <a:gd name="connsiteX0" fmla="*/ 3583217 w 3840480"/>
              <a:gd name="connsiteY0" fmla="*/ 2880360 h 3840480"/>
              <a:gd name="connsiteX1" fmla="*/ 1920240 w 3840480"/>
              <a:gd name="connsiteY1" fmla="*/ 3840480 h 3840480"/>
              <a:gd name="connsiteX2" fmla="*/ 257263 w 3840480"/>
              <a:gd name="connsiteY2" fmla="*/ 2880360 h 3840480"/>
              <a:gd name="connsiteX3" fmla="*/ 1920240 w 3840480"/>
              <a:gd name="connsiteY3" fmla="*/ 1920240 h 3840480"/>
              <a:gd name="connsiteX4" fmla="*/ 3583217 w 3840480"/>
              <a:gd name="connsiteY4" fmla="*/ 2880360 h 3840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40480" h="3840480">
                <a:moveTo>
                  <a:pt x="3583217" y="2880360"/>
                </a:moveTo>
                <a:cubicBezTo>
                  <a:pt x="3240199" y="3474484"/>
                  <a:pt x="2606276" y="3840480"/>
                  <a:pt x="1920240" y="3840480"/>
                </a:cubicBezTo>
                <a:cubicBezTo>
                  <a:pt x="1234204" y="3840480"/>
                  <a:pt x="600281" y="3474484"/>
                  <a:pt x="257263" y="2880360"/>
                </a:cubicBezTo>
                <a:lnTo>
                  <a:pt x="1920240" y="1920240"/>
                </a:lnTo>
                <a:lnTo>
                  <a:pt x="3583217" y="2880360"/>
                </a:lnTo>
                <a:close/>
              </a:path>
            </a:pathLst>
          </a:custGeom>
          <a:solidFill>
            <a:srgbClr val="00B0F0"/>
          </a:solidFill>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944880" tIns="2522221" rIns="899160" bIns="373379" numCol="1" spcCol="1270" anchor="t" anchorCtr="0">
            <a:noAutofit/>
          </a:bodyPr>
          <a:lstStyle/>
          <a:p>
            <a:pPr marL="0" lvl="0" indent="0" algn="ctr" defTabSz="1066800">
              <a:lnSpc>
                <a:spcPct val="90000"/>
              </a:lnSpc>
              <a:spcBef>
                <a:spcPct val="0"/>
              </a:spcBef>
              <a:spcAft>
                <a:spcPct val="35000"/>
              </a:spcAft>
              <a:buNone/>
            </a:pPr>
            <a:endParaRPr lang="en-NL" sz="2800" b="1" kern="1200" dirty="0">
              <a:latin typeface="Neue Haas Grotesk Text Pro Blac" panose="020B0504020202020204" pitchFamily="34" charset="0"/>
            </a:endParaRPr>
          </a:p>
        </p:txBody>
      </p:sp>
      <p:sp>
        <p:nvSpPr>
          <p:cNvPr id="11" name="Freeform: Shape 10">
            <a:extLst>
              <a:ext uri="{FF2B5EF4-FFF2-40B4-BE49-F238E27FC236}">
                <a16:creationId xmlns:a16="http://schemas.microsoft.com/office/drawing/2014/main" id="{D3AFE626-7345-1AE4-4225-74777528DBF5}"/>
              </a:ext>
            </a:extLst>
          </p:cNvPr>
          <p:cNvSpPr/>
          <p:nvPr/>
        </p:nvSpPr>
        <p:spPr>
          <a:xfrm>
            <a:off x="4849464" y="2936040"/>
            <a:ext cx="2380471" cy="2380471"/>
          </a:xfrm>
          <a:custGeom>
            <a:avLst/>
            <a:gdLst>
              <a:gd name="connsiteX0" fmla="*/ 257263 w 3840480"/>
              <a:gd name="connsiteY0" fmla="*/ 2880360 h 3840480"/>
              <a:gd name="connsiteX1" fmla="*/ 257263 w 3840480"/>
              <a:gd name="connsiteY1" fmla="*/ 960120 h 3840480"/>
              <a:gd name="connsiteX2" fmla="*/ 1920240 w 3840480"/>
              <a:gd name="connsiteY2" fmla="*/ 0 h 3840480"/>
              <a:gd name="connsiteX3" fmla="*/ 1920240 w 3840480"/>
              <a:gd name="connsiteY3" fmla="*/ 1920240 h 3840480"/>
              <a:gd name="connsiteX4" fmla="*/ 257263 w 3840480"/>
              <a:gd name="connsiteY4" fmla="*/ 2880360 h 3840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40480" h="3840480">
                <a:moveTo>
                  <a:pt x="257263" y="2880360"/>
                </a:moveTo>
                <a:cubicBezTo>
                  <a:pt x="-85755" y="2286236"/>
                  <a:pt x="-85755" y="1554244"/>
                  <a:pt x="257263" y="960120"/>
                </a:cubicBezTo>
                <a:cubicBezTo>
                  <a:pt x="600281" y="365996"/>
                  <a:pt x="1234204" y="0"/>
                  <a:pt x="1920240" y="0"/>
                </a:cubicBezTo>
                <a:lnTo>
                  <a:pt x="1920240" y="1920240"/>
                </a:lnTo>
                <a:lnTo>
                  <a:pt x="257263" y="2880360"/>
                </a:lnTo>
                <a:close/>
              </a:path>
            </a:pathLst>
          </a:cu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475336" tIns="844296" rIns="2054504" bIns="1914144" numCol="1" spcCol="1270" anchor="ctr" anchorCtr="0">
            <a:noAutofit/>
          </a:bodyPr>
          <a:lstStyle/>
          <a:p>
            <a:pPr marL="0" lvl="0" indent="0" algn="ctr" defTabSz="1066800">
              <a:lnSpc>
                <a:spcPct val="90000"/>
              </a:lnSpc>
              <a:spcBef>
                <a:spcPct val="0"/>
              </a:spcBef>
              <a:spcAft>
                <a:spcPct val="35000"/>
              </a:spcAft>
              <a:buNone/>
            </a:pPr>
            <a:endParaRPr lang="en-NL" sz="2400" kern="1200" dirty="0"/>
          </a:p>
        </p:txBody>
      </p:sp>
      <p:sp>
        <p:nvSpPr>
          <p:cNvPr id="12" name="Arrow: Circular 11">
            <a:extLst>
              <a:ext uri="{FF2B5EF4-FFF2-40B4-BE49-F238E27FC236}">
                <a16:creationId xmlns:a16="http://schemas.microsoft.com/office/drawing/2014/main" id="{95A0578B-EFDE-BB37-0DE2-1EC8F7C55CB1}"/>
              </a:ext>
            </a:extLst>
          </p:cNvPr>
          <p:cNvSpPr/>
          <p:nvPr/>
        </p:nvSpPr>
        <p:spPr>
          <a:xfrm>
            <a:off x="4789899" y="2793218"/>
            <a:ext cx="2675196" cy="2675196"/>
          </a:xfrm>
          <a:prstGeom prst="circularArrow">
            <a:avLst>
              <a:gd name="adj1" fmla="val 5085"/>
              <a:gd name="adj2" fmla="val 327528"/>
              <a:gd name="adj3" fmla="val 1472472"/>
              <a:gd name="adj4" fmla="val 16199432"/>
              <a:gd name="adj5" fmla="val 5932"/>
            </a:avLst>
          </a:prstGeom>
          <a:solidFill>
            <a:schemeClr val="accent2">
              <a:lumMod val="50000"/>
            </a:schemeClr>
          </a:solidFill>
        </p:spPr>
        <p:style>
          <a:lnRef idx="0">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hueOff val="0"/>
              <a:satOff val="0"/>
              <a:lumOff val="0"/>
              <a:alphaOff val="0"/>
            </a:schemeClr>
          </a:fontRef>
        </p:style>
        <p:txBody>
          <a:bodyPr/>
          <a:lstStyle/>
          <a:p>
            <a:endParaRPr lang="en-NL"/>
          </a:p>
        </p:txBody>
      </p:sp>
      <p:sp>
        <p:nvSpPr>
          <p:cNvPr id="13" name="Arrow: Circular 12">
            <a:extLst>
              <a:ext uri="{FF2B5EF4-FFF2-40B4-BE49-F238E27FC236}">
                <a16:creationId xmlns:a16="http://schemas.microsoft.com/office/drawing/2014/main" id="{9F4FB4D0-1BB0-A9F7-C916-4A67881ADA28}"/>
              </a:ext>
            </a:extLst>
          </p:cNvPr>
          <p:cNvSpPr/>
          <p:nvPr/>
        </p:nvSpPr>
        <p:spPr>
          <a:xfrm>
            <a:off x="4743638" y="2872979"/>
            <a:ext cx="2675196" cy="2675196"/>
          </a:xfrm>
          <a:prstGeom prst="circularArrow">
            <a:avLst>
              <a:gd name="adj1" fmla="val 5085"/>
              <a:gd name="adj2" fmla="val 327528"/>
              <a:gd name="adj3" fmla="val 8671970"/>
              <a:gd name="adj4" fmla="val 1800502"/>
              <a:gd name="adj5" fmla="val 5932"/>
            </a:avLst>
          </a:prstGeom>
          <a:solidFill>
            <a:srgbClr val="0070C0"/>
          </a:solidFill>
        </p:spPr>
        <p:style>
          <a:lnRef idx="0">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hueOff val="0"/>
              <a:satOff val="0"/>
              <a:lumOff val="0"/>
              <a:alphaOff val="0"/>
            </a:schemeClr>
          </a:fontRef>
        </p:style>
        <p:txBody>
          <a:bodyPr/>
          <a:lstStyle/>
          <a:p>
            <a:endParaRPr lang="en-NL"/>
          </a:p>
        </p:txBody>
      </p:sp>
      <p:sp>
        <p:nvSpPr>
          <p:cNvPr id="14" name="Arrow: Circular 13">
            <a:extLst>
              <a:ext uri="{FF2B5EF4-FFF2-40B4-BE49-F238E27FC236}">
                <a16:creationId xmlns:a16="http://schemas.microsoft.com/office/drawing/2014/main" id="{EBE3ACC8-EFF3-B475-08F4-381657A56175}"/>
              </a:ext>
            </a:extLst>
          </p:cNvPr>
          <p:cNvSpPr/>
          <p:nvPr/>
        </p:nvSpPr>
        <p:spPr>
          <a:xfrm>
            <a:off x="4697376" y="2793218"/>
            <a:ext cx="2675196" cy="2675196"/>
          </a:xfrm>
          <a:prstGeom prst="circularArrow">
            <a:avLst>
              <a:gd name="adj1" fmla="val 5085"/>
              <a:gd name="adj2" fmla="val 327528"/>
              <a:gd name="adj3" fmla="val 15873039"/>
              <a:gd name="adj4" fmla="val 9000000"/>
              <a:gd name="adj5" fmla="val 5932"/>
            </a:avLst>
          </a:prstGeom>
          <a:solidFill>
            <a:schemeClr val="accent4">
              <a:lumMod val="50000"/>
            </a:schemeClr>
          </a:solidFill>
          <a:ln w="38100">
            <a:noFill/>
            <a:prstDash val="solid"/>
          </a:ln>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hueOff val="0"/>
              <a:satOff val="0"/>
              <a:lumOff val="0"/>
              <a:alphaOff val="0"/>
            </a:schemeClr>
          </a:fontRef>
        </p:style>
        <p:txBody>
          <a:bodyPr/>
          <a:lstStyle/>
          <a:p>
            <a:endParaRPr lang="en-NL"/>
          </a:p>
        </p:txBody>
      </p:sp>
      <p:pic>
        <p:nvPicPr>
          <p:cNvPr id="15" name="Picture 2" descr="Logo vertical | OntoUML Community Portal">
            <a:extLst>
              <a:ext uri="{FF2B5EF4-FFF2-40B4-BE49-F238E27FC236}">
                <a16:creationId xmlns:a16="http://schemas.microsoft.com/office/drawing/2014/main" id="{2E495D52-1C91-1B61-47FE-AE27AD8AB6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70367" y="2833440"/>
            <a:ext cx="1718941" cy="657360"/>
          </a:xfrm>
          <a:prstGeom prst="rect">
            <a:avLst/>
          </a:prstGeom>
          <a:noFill/>
          <a:extLst>
            <a:ext uri="{909E8E84-426E-40DD-AFC4-6F175D3DCCD1}">
              <a14:hiddenFill xmlns:a14="http://schemas.microsoft.com/office/drawing/2010/main">
                <a:solidFill>
                  <a:srgbClr val="FFFFFF"/>
                </a:solidFill>
              </a14:hiddenFill>
            </a:ext>
          </a:extLst>
        </p:spPr>
      </p:pic>
      <p:grpSp>
        <p:nvGrpSpPr>
          <p:cNvPr id="16" name="Group 15">
            <a:extLst>
              <a:ext uri="{FF2B5EF4-FFF2-40B4-BE49-F238E27FC236}">
                <a16:creationId xmlns:a16="http://schemas.microsoft.com/office/drawing/2014/main" id="{CF2A1AF9-1976-AD01-4527-6BCB59FCD9BD}"/>
              </a:ext>
            </a:extLst>
          </p:cNvPr>
          <p:cNvGrpSpPr/>
          <p:nvPr/>
        </p:nvGrpSpPr>
        <p:grpSpPr>
          <a:xfrm>
            <a:off x="8107224" y="4789911"/>
            <a:ext cx="1445229" cy="820560"/>
            <a:chOff x="6119493" y="4341725"/>
            <a:chExt cx="2393775" cy="1359120"/>
          </a:xfrm>
        </p:grpSpPr>
        <p:pic>
          <p:nvPicPr>
            <p:cNvPr id="17" name="Picture 12" descr="What is the Semantic Web? - Jean Delahousse">
              <a:extLst>
                <a:ext uri="{FF2B5EF4-FFF2-40B4-BE49-F238E27FC236}">
                  <a16:creationId xmlns:a16="http://schemas.microsoft.com/office/drawing/2014/main" id="{F6608BB3-0CBD-3221-FD9C-E3C109FA508F}"/>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119493" y="4434598"/>
              <a:ext cx="1168843" cy="1266247"/>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4" descr="What is the Semantic Web? - Jean Delahousse">
              <a:extLst>
                <a:ext uri="{FF2B5EF4-FFF2-40B4-BE49-F238E27FC236}">
                  <a16:creationId xmlns:a16="http://schemas.microsoft.com/office/drawing/2014/main" id="{69DCC5AE-FE5F-843F-4322-955F48EFFE02}"/>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344425" y="4341725"/>
              <a:ext cx="1168843" cy="1359120"/>
            </a:xfrm>
            <a:prstGeom prst="rect">
              <a:avLst/>
            </a:prstGeom>
            <a:noFill/>
            <a:extLst>
              <a:ext uri="{909E8E84-426E-40DD-AFC4-6F175D3DCCD1}">
                <a14:hiddenFill xmlns:a14="http://schemas.microsoft.com/office/drawing/2010/main">
                  <a:solidFill>
                    <a:srgbClr val="FFFFFF"/>
                  </a:solidFill>
                </a14:hiddenFill>
              </a:ext>
            </a:extLst>
          </p:spPr>
        </p:pic>
      </p:grpSp>
      <p:pic>
        <p:nvPicPr>
          <p:cNvPr id="19" name="Picture 2" descr="GitHub - mapping-commons/sssom: Simple Standard for Sharing Ontology  Mappings">
            <a:extLst>
              <a:ext uri="{FF2B5EF4-FFF2-40B4-BE49-F238E27FC236}">
                <a16:creationId xmlns:a16="http://schemas.microsoft.com/office/drawing/2014/main" id="{55469AF0-5A48-B37A-56D5-4B58C8323EF3}"/>
              </a:ext>
            </a:extLst>
          </p:cNvPr>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276707" y="2718885"/>
            <a:ext cx="2111854" cy="877740"/>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6D749D8C-A330-A044-972D-533D4EA4898C}"/>
              </a:ext>
            </a:extLst>
          </p:cNvPr>
          <p:cNvSpPr txBox="1"/>
          <p:nvPr/>
        </p:nvSpPr>
        <p:spPr>
          <a:xfrm>
            <a:off x="5468718" y="4500304"/>
            <a:ext cx="1239827" cy="553998"/>
          </a:xfrm>
          <a:prstGeom prst="rect">
            <a:avLst/>
          </a:prstGeom>
          <a:noFill/>
        </p:spPr>
        <p:txBody>
          <a:bodyPr wrap="none" rtlCol="0">
            <a:spAutoFit/>
          </a:bodyPr>
          <a:lstStyle/>
          <a:p>
            <a:pPr algn="ctr"/>
            <a:r>
              <a:rPr lang="en-US" b="1" dirty="0">
                <a:solidFill>
                  <a:schemeClr val="bg1"/>
                </a:solidFill>
                <a:latin typeface="Neue Haas Grotesk Text Pro Blac" panose="020B0504020202020204" pitchFamily="34" charset="0"/>
              </a:rPr>
              <a:t>HRIO</a:t>
            </a:r>
          </a:p>
          <a:p>
            <a:pPr algn="ctr"/>
            <a:r>
              <a:rPr lang="en-US" sz="1200" b="1" dirty="0">
                <a:solidFill>
                  <a:schemeClr val="bg1"/>
                </a:solidFill>
              </a:rPr>
              <a:t>Computational</a:t>
            </a:r>
            <a:endParaRPr lang="en-NL" sz="1200" b="1" dirty="0">
              <a:solidFill>
                <a:schemeClr val="bg1"/>
              </a:solidFill>
            </a:endParaRPr>
          </a:p>
        </p:txBody>
      </p:sp>
      <p:sp>
        <p:nvSpPr>
          <p:cNvPr id="21" name="TextBox 20">
            <a:extLst>
              <a:ext uri="{FF2B5EF4-FFF2-40B4-BE49-F238E27FC236}">
                <a16:creationId xmlns:a16="http://schemas.microsoft.com/office/drawing/2014/main" id="{6A208FD6-D1DD-D927-3EB8-3B8E6FE2315F}"/>
              </a:ext>
            </a:extLst>
          </p:cNvPr>
          <p:cNvSpPr txBox="1"/>
          <p:nvPr/>
        </p:nvSpPr>
        <p:spPr>
          <a:xfrm>
            <a:off x="6146123" y="3505364"/>
            <a:ext cx="1005404" cy="553998"/>
          </a:xfrm>
          <a:prstGeom prst="rect">
            <a:avLst/>
          </a:prstGeom>
          <a:noFill/>
        </p:spPr>
        <p:txBody>
          <a:bodyPr wrap="none" rtlCol="0">
            <a:spAutoFit/>
          </a:bodyPr>
          <a:lstStyle/>
          <a:p>
            <a:pPr algn="ctr"/>
            <a:r>
              <a:rPr lang="en-US" b="1" dirty="0">
                <a:solidFill>
                  <a:schemeClr val="bg1"/>
                </a:solidFill>
                <a:latin typeface="Neue Haas Grotesk Text Pro Blac" panose="020B0504020202020204" pitchFamily="34" charset="0"/>
              </a:rPr>
              <a:t>HRIO</a:t>
            </a:r>
          </a:p>
          <a:p>
            <a:pPr algn="ctr"/>
            <a:r>
              <a:rPr lang="en-US" sz="1200" b="1" dirty="0">
                <a:solidFill>
                  <a:schemeClr val="bg1"/>
                </a:solidFill>
              </a:rPr>
              <a:t>Conceptual</a:t>
            </a:r>
            <a:endParaRPr lang="en-NL" sz="1200" b="1" dirty="0">
              <a:solidFill>
                <a:schemeClr val="bg1"/>
              </a:solidFill>
            </a:endParaRPr>
          </a:p>
        </p:txBody>
      </p:sp>
      <p:sp>
        <p:nvSpPr>
          <p:cNvPr id="22" name="TextBox 21">
            <a:extLst>
              <a:ext uri="{FF2B5EF4-FFF2-40B4-BE49-F238E27FC236}">
                <a16:creationId xmlns:a16="http://schemas.microsoft.com/office/drawing/2014/main" id="{FE94EFA1-8F4C-2C4A-4A8D-8862D8531B3A}"/>
              </a:ext>
            </a:extLst>
          </p:cNvPr>
          <p:cNvSpPr txBox="1"/>
          <p:nvPr/>
        </p:nvSpPr>
        <p:spPr>
          <a:xfrm>
            <a:off x="4968721" y="3505364"/>
            <a:ext cx="1048684" cy="553998"/>
          </a:xfrm>
          <a:prstGeom prst="rect">
            <a:avLst/>
          </a:prstGeom>
          <a:noFill/>
        </p:spPr>
        <p:txBody>
          <a:bodyPr wrap="none" rtlCol="0">
            <a:spAutoFit/>
          </a:bodyPr>
          <a:lstStyle/>
          <a:p>
            <a:pPr algn="ctr"/>
            <a:r>
              <a:rPr lang="en-US" b="1" dirty="0">
                <a:ln>
                  <a:solidFill>
                    <a:schemeClr val="tx1">
                      <a:lumMod val="50000"/>
                      <a:lumOff val="50000"/>
                    </a:schemeClr>
                  </a:solidFill>
                </a:ln>
                <a:solidFill>
                  <a:schemeClr val="bg1"/>
                </a:solidFill>
                <a:latin typeface="Neue Haas Grotesk Text Pro Blac" panose="020B0504020202020204" pitchFamily="34" charset="0"/>
              </a:rPr>
              <a:t>HRIM</a:t>
            </a:r>
          </a:p>
          <a:p>
            <a:pPr algn="ctr"/>
            <a:r>
              <a:rPr lang="en-US" sz="1200" b="1" dirty="0">
                <a:ln>
                  <a:solidFill>
                    <a:schemeClr val="tx1">
                      <a:lumMod val="50000"/>
                      <a:lumOff val="50000"/>
                    </a:schemeClr>
                  </a:solidFill>
                </a:ln>
                <a:solidFill>
                  <a:schemeClr val="bg1"/>
                </a:solidFill>
              </a:rPr>
              <a:t>Mapping Set</a:t>
            </a:r>
            <a:endParaRPr lang="en-NL" sz="1200" b="1" dirty="0">
              <a:ln>
                <a:solidFill>
                  <a:schemeClr val="tx1">
                    <a:lumMod val="50000"/>
                    <a:lumOff val="50000"/>
                  </a:schemeClr>
                </a:solidFill>
              </a:ln>
              <a:solidFill>
                <a:schemeClr val="bg1"/>
              </a:solidFill>
            </a:endParaRPr>
          </a:p>
        </p:txBody>
      </p:sp>
      <p:sp>
        <p:nvSpPr>
          <p:cNvPr id="24" name="Rectangle 23">
            <a:extLst>
              <a:ext uri="{FF2B5EF4-FFF2-40B4-BE49-F238E27FC236}">
                <a16:creationId xmlns:a16="http://schemas.microsoft.com/office/drawing/2014/main" id="{E92E20EC-DCBE-241D-24E9-BE518C1EF6E3}"/>
              </a:ext>
            </a:extLst>
          </p:cNvPr>
          <p:cNvSpPr/>
          <p:nvPr/>
        </p:nvSpPr>
        <p:spPr>
          <a:xfrm>
            <a:off x="2114546" y="2449937"/>
            <a:ext cx="4298350" cy="2360188"/>
          </a:xfrm>
          <a:custGeom>
            <a:avLst/>
            <a:gdLst>
              <a:gd name="csX0" fmla="*/ 0 w 3981455"/>
              <a:gd name="csY0" fmla="*/ 0 h 2339153"/>
              <a:gd name="csX1" fmla="*/ 3981455 w 3981455"/>
              <a:gd name="csY1" fmla="*/ 0 h 2339153"/>
              <a:gd name="csX2" fmla="*/ 3981455 w 3981455"/>
              <a:gd name="csY2" fmla="*/ 2339153 h 2339153"/>
              <a:gd name="csX3" fmla="*/ 0 w 3981455"/>
              <a:gd name="csY3" fmla="*/ 2339153 h 2339153"/>
              <a:gd name="csX4" fmla="*/ 0 w 3981455"/>
              <a:gd name="csY4" fmla="*/ 0 h 2339153"/>
              <a:gd name="csX0" fmla="*/ 0 w 3981455"/>
              <a:gd name="csY0" fmla="*/ 0 h 2339153"/>
              <a:gd name="csX1" fmla="*/ 3981455 w 3981455"/>
              <a:gd name="csY1" fmla="*/ 0 h 2339153"/>
              <a:gd name="csX2" fmla="*/ 3479011 w 3981455"/>
              <a:gd name="csY2" fmla="*/ 2001015 h 2339153"/>
              <a:gd name="csX3" fmla="*/ 0 w 3981455"/>
              <a:gd name="csY3" fmla="*/ 2339153 h 2339153"/>
              <a:gd name="csX4" fmla="*/ 0 w 3981455"/>
              <a:gd name="csY4" fmla="*/ 0 h 2339153"/>
              <a:gd name="csX0" fmla="*/ 0 w 3981455"/>
              <a:gd name="csY0" fmla="*/ 0 h 2339153"/>
              <a:gd name="csX1" fmla="*/ 3981455 w 3981455"/>
              <a:gd name="csY1" fmla="*/ 0 h 2339153"/>
              <a:gd name="csX2" fmla="*/ 3479011 w 3981455"/>
              <a:gd name="csY2" fmla="*/ 2001015 h 2339153"/>
              <a:gd name="csX3" fmla="*/ 0 w 3981455"/>
              <a:gd name="csY3" fmla="*/ 2339153 h 2339153"/>
              <a:gd name="csX4" fmla="*/ 0 w 3981455"/>
              <a:gd name="csY4" fmla="*/ 0 h 2339153"/>
              <a:gd name="csX0" fmla="*/ 0 w 3981455"/>
              <a:gd name="csY0" fmla="*/ 0 h 2339153"/>
              <a:gd name="csX1" fmla="*/ 3981455 w 3981455"/>
              <a:gd name="csY1" fmla="*/ 0 h 2339153"/>
              <a:gd name="csX2" fmla="*/ 3479011 w 3981455"/>
              <a:gd name="csY2" fmla="*/ 2001015 h 2339153"/>
              <a:gd name="csX3" fmla="*/ 0 w 3981455"/>
              <a:gd name="csY3" fmla="*/ 2339153 h 2339153"/>
              <a:gd name="csX4" fmla="*/ 0 w 3981455"/>
              <a:gd name="csY4" fmla="*/ 0 h 2339153"/>
              <a:gd name="csX0" fmla="*/ 0 w 3981455"/>
              <a:gd name="csY0" fmla="*/ 0 h 2359367"/>
              <a:gd name="csX1" fmla="*/ 3981455 w 3981455"/>
              <a:gd name="csY1" fmla="*/ 0 h 2359367"/>
              <a:gd name="csX2" fmla="*/ 3479011 w 3981455"/>
              <a:gd name="csY2" fmla="*/ 2001015 h 2359367"/>
              <a:gd name="csX3" fmla="*/ 2783686 w 3981455"/>
              <a:gd name="csY3" fmla="*/ 2359367 h 2359367"/>
              <a:gd name="csX4" fmla="*/ 0 w 3981455"/>
              <a:gd name="csY4" fmla="*/ 2339153 h 2359367"/>
              <a:gd name="csX5" fmla="*/ 0 w 3981455"/>
              <a:gd name="csY5" fmla="*/ 0 h 2359367"/>
              <a:gd name="csX0" fmla="*/ 0 w 4274275"/>
              <a:gd name="csY0" fmla="*/ 0 h 2359367"/>
              <a:gd name="csX1" fmla="*/ 3981455 w 4274275"/>
              <a:gd name="csY1" fmla="*/ 0 h 2359367"/>
              <a:gd name="csX2" fmla="*/ 3926686 w 4274275"/>
              <a:gd name="csY2" fmla="*/ 1683092 h 2359367"/>
              <a:gd name="csX3" fmla="*/ 3479011 w 4274275"/>
              <a:gd name="csY3" fmla="*/ 2001015 h 2359367"/>
              <a:gd name="csX4" fmla="*/ 2783686 w 4274275"/>
              <a:gd name="csY4" fmla="*/ 2359367 h 2359367"/>
              <a:gd name="csX5" fmla="*/ 0 w 4274275"/>
              <a:gd name="csY5" fmla="*/ 2339153 h 2359367"/>
              <a:gd name="csX6" fmla="*/ 0 w 4274275"/>
              <a:gd name="csY6" fmla="*/ 0 h 2359367"/>
              <a:gd name="csX0" fmla="*/ 0 w 4298867"/>
              <a:gd name="csY0" fmla="*/ 0 h 2359367"/>
              <a:gd name="csX1" fmla="*/ 3981455 w 4298867"/>
              <a:gd name="csY1" fmla="*/ 0 h 2359367"/>
              <a:gd name="csX2" fmla="*/ 3976693 w 4298867"/>
              <a:gd name="csY2" fmla="*/ 504373 h 2359367"/>
              <a:gd name="csX3" fmla="*/ 3926686 w 4298867"/>
              <a:gd name="csY3" fmla="*/ 1683092 h 2359367"/>
              <a:gd name="csX4" fmla="*/ 3479011 w 4298867"/>
              <a:gd name="csY4" fmla="*/ 2001015 h 2359367"/>
              <a:gd name="csX5" fmla="*/ 2783686 w 4298867"/>
              <a:gd name="csY5" fmla="*/ 2359367 h 2359367"/>
              <a:gd name="csX6" fmla="*/ 0 w 4298867"/>
              <a:gd name="csY6" fmla="*/ 2339153 h 2359367"/>
              <a:gd name="csX7" fmla="*/ 0 w 4298867"/>
              <a:gd name="csY7" fmla="*/ 0 h 2359367"/>
              <a:gd name="csX0" fmla="*/ 0 w 4301430"/>
              <a:gd name="csY0" fmla="*/ 0 h 2359367"/>
              <a:gd name="csX1" fmla="*/ 3981455 w 4301430"/>
              <a:gd name="csY1" fmla="*/ 0 h 2359367"/>
              <a:gd name="csX2" fmla="*/ 3986218 w 4301430"/>
              <a:gd name="csY2" fmla="*/ 97180 h 2359367"/>
              <a:gd name="csX3" fmla="*/ 3976693 w 4301430"/>
              <a:gd name="csY3" fmla="*/ 504373 h 2359367"/>
              <a:gd name="csX4" fmla="*/ 3926686 w 4301430"/>
              <a:gd name="csY4" fmla="*/ 1683092 h 2359367"/>
              <a:gd name="csX5" fmla="*/ 3479011 w 4301430"/>
              <a:gd name="csY5" fmla="*/ 2001015 h 2359367"/>
              <a:gd name="csX6" fmla="*/ 2783686 w 4301430"/>
              <a:gd name="csY6" fmla="*/ 2359367 h 2359367"/>
              <a:gd name="csX7" fmla="*/ 0 w 4301430"/>
              <a:gd name="csY7" fmla="*/ 2339153 h 2359367"/>
              <a:gd name="csX8" fmla="*/ 0 w 4301430"/>
              <a:gd name="csY8" fmla="*/ 0 h 2359367"/>
              <a:gd name="csX0" fmla="*/ 0 w 4298350"/>
              <a:gd name="csY0" fmla="*/ 821 h 2360188"/>
              <a:gd name="csX1" fmla="*/ 3981455 w 4298350"/>
              <a:gd name="csY1" fmla="*/ 821 h 2360188"/>
              <a:gd name="csX2" fmla="*/ 3974310 w 4298350"/>
              <a:gd name="csY2" fmla="*/ 9894 h 2360188"/>
              <a:gd name="csX3" fmla="*/ 3986218 w 4298350"/>
              <a:gd name="csY3" fmla="*/ 98001 h 2360188"/>
              <a:gd name="csX4" fmla="*/ 3976693 w 4298350"/>
              <a:gd name="csY4" fmla="*/ 505194 h 2360188"/>
              <a:gd name="csX5" fmla="*/ 3926686 w 4298350"/>
              <a:gd name="csY5" fmla="*/ 1683913 h 2360188"/>
              <a:gd name="csX6" fmla="*/ 3479011 w 4298350"/>
              <a:gd name="csY6" fmla="*/ 2001836 h 2360188"/>
              <a:gd name="csX7" fmla="*/ 2783686 w 4298350"/>
              <a:gd name="csY7" fmla="*/ 2360188 h 2360188"/>
              <a:gd name="csX8" fmla="*/ 0 w 4298350"/>
              <a:gd name="csY8" fmla="*/ 2339974 h 2360188"/>
              <a:gd name="csX9" fmla="*/ 0 w 4298350"/>
              <a:gd name="csY9" fmla="*/ 821 h 23601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4298350" h="2360188">
                <a:moveTo>
                  <a:pt x="0" y="821"/>
                </a:moveTo>
                <a:lnTo>
                  <a:pt x="3981455" y="821"/>
                </a:lnTo>
                <a:cubicBezTo>
                  <a:pt x="4699006" y="2730"/>
                  <a:pt x="3973516" y="-6303"/>
                  <a:pt x="3974310" y="9894"/>
                </a:cubicBezTo>
                <a:cubicBezTo>
                  <a:pt x="3975104" y="26091"/>
                  <a:pt x="4040986" y="15848"/>
                  <a:pt x="3986218" y="98001"/>
                </a:cubicBezTo>
                <a:cubicBezTo>
                  <a:pt x="3931450" y="180154"/>
                  <a:pt x="4039002" y="242463"/>
                  <a:pt x="3976693" y="505194"/>
                </a:cubicBezTo>
                <a:cubicBezTo>
                  <a:pt x="3914384" y="767925"/>
                  <a:pt x="4059242" y="1438441"/>
                  <a:pt x="3926686" y="1683913"/>
                </a:cubicBezTo>
                <a:cubicBezTo>
                  <a:pt x="3794130" y="1929385"/>
                  <a:pt x="3663955" y="1883170"/>
                  <a:pt x="3479011" y="2001836"/>
                </a:cubicBezTo>
                <a:cubicBezTo>
                  <a:pt x="3241680" y="2023655"/>
                  <a:pt x="3021017" y="2338369"/>
                  <a:pt x="2783686" y="2360188"/>
                </a:cubicBezTo>
                <a:lnTo>
                  <a:pt x="0" y="2339974"/>
                </a:lnTo>
                <a:lnTo>
                  <a:pt x="0" y="821"/>
                </a:lnTo>
                <a:close/>
              </a:path>
            </a:pathLst>
          </a:custGeom>
          <a:solidFill>
            <a:srgbClr val="F2F2F2">
              <a:alpha val="9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p>
        </p:txBody>
      </p:sp>
      <p:sp>
        <p:nvSpPr>
          <p:cNvPr id="3" name="Freeform: Shape 2">
            <a:extLst>
              <a:ext uri="{FF2B5EF4-FFF2-40B4-BE49-F238E27FC236}">
                <a16:creationId xmlns:a16="http://schemas.microsoft.com/office/drawing/2014/main" id="{AE727679-E9F4-9BD9-D281-BDFB0AA9FB50}"/>
              </a:ext>
            </a:extLst>
          </p:cNvPr>
          <p:cNvSpPr/>
          <p:nvPr/>
        </p:nvSpPr>
        <p:spPr>
          <a:xfrm>
            <a:off x="2295988" y="2381967"/>
            <a:ext cx="7568037" cy="3548277"/>
          </a:xfrm>
          <a:custGeom>
            <a:avLst/>
            <a:gdLst>
              <a:gd name="csX0" fmla="*/ 2791330 w 5967667"/>
              <a:gd name="csY0" fmla="*/ 57752 h 2598821"/>
              <a:gd name="csX1" fmla="*/ 221385 w 5967667"/>
              <a:gd name="csY1" fmla="*/ 67377 h 2598821"/>
              <a:gd name="csX2" fmla="*/ 19254 w 5967667"/>
              <a:gd name="csY2" fmla="*/ 86628 h 2598821"/>
              <a:gd name="csX3" fmla="*/ 19254 w 5967667"/>
              <a:gd name="csY3" fmla="*/ 500514 h 2598821"/>
              <a:gd name="csX4" fmla="*/ 57756 w 5967667"/>
              <a:gd name="csY4" fmla="*/ 606392 h 2598821"/>
              <a:gd name="csX5" fmla="*/ 67381 w 5967667"/>
              <a:gd name="csY5" fmla="*/ 693019 h 2598821"/>
              <a:gd name="csX6" fmla="*/ 77006 w 5967667"/>
              <a:gd name="csY6" fmla="*/ 981777 h 2598821"/>
              <a:gd name="csX7" fmla="*/ 105882 w 5967667"/>
              <a:gd name="csY7" fmla="*/ 1049154 h 2598821"/>
              <a:gd name="csX8" fmla="*/ 134758 w 5967667"/>
              <a:gd name="csY8" fmla="*/ 1126156 h 2598821"/>
              <a:gd name="csX9" fmla="*/ 231010 w 5967667"/>
              <a:gd name="csY9" fmla="*/ 1232034 h 2598821"/>
              <a:gd name="csX10" fmla="*/ 279137 w 5967667"/>
              <a:gd name="csY10" fmla="*/ 1251284 h 2598821"/>
              <a:gd name="csX11" fmla="*/ 914404 w 5967667"/>
              <a:gd name="csY11" fmla="*/ 1270535 h 2598821"/>
              <a:gd name="csX12" fmla="*/ 1164661 w 5967667"/>
              <a:gd name="csY12" fmla="*/ 1578543 h 2598821"/>
              <a:gd name="csX13" fmla="*/ 1212787 w 5967667"/>
              <a:gd name="csY13" fmla="*/ 1665171 h 2598821"/>
              <a:gd name="csX14" fmla="*/ 1280164 w 5967667"/>
              <a:gd name="csY14" fmla="*/ 1761423 h 2598821"/>
              <a:gd name="csX15" fmla="*/ 1337916 w 5967667"/>
              <a:gd name="csY15" fmla="*/ 1867301 h 2598821"/>
              <a:gd name="csX16" fmla="*/ 1607423 w 5967667"/>
              <a:gd name="csY16" fmla="*/ 2146434 h 2598821"/>
              <a:gd name="csX17" fmla="*/ 1896181 w 5967667"/>
              <a:gd name="csY17" fmla="*/ 2300438 h 2598821"/>
              <a:gd name="csX18" fmla="*/ 1992433 w 5967667"/>
              <a:gd name="csY18" fmla="*/ 2338939 h 2598821"/>
              <a:gd name="csX19" fmla="*/ 2252316 w 5967667"/>
              <a:gd name="csY19" fmla="*/ 2387066 h 2598821"/>
              <a:gd name="csX20" fmla="*/ 2839457 w 5967667"/>
              <a:gd name="csY20" fmla="*/ 2464068 h 2598821"/>
              <a:gd name="csX21" fmla="*/ 3157090 w 5967667"/>
              <a:gd name="csY21" fmla="*/ 2502569 h 2598821"/>
              <a:gd name="csX22" fmla="*/ 3696105 w 5967667"/>
              <a:gd name="csY22" fmla="*/ 2521819 h 2598821"/>
              <a:gd name="csX23" fmla="*/ 4081116 w 5967667"/>
              <a:gd name="csY23" fmla="*/ 2560320 h 2598821"/>
              <a:gd name="csX24" fmla="*/ 4475751 w 5967667"/>
              <a:gd name="csY24" fmla="*/ 2569946 h 2598821"/>
              <a:gd name="csX25" fmla="*/ 4957014 w 5967667"/>
              <a:gd name="csY25" fmla="*/ 2598821 h 2598821"/>
              <a:gd name="csX26" fmla="*/ 5852164 w 5967667"/>
              <a:gd name="csY26" fmla="*/ 2569946 h 2598821"/>
              <a:gd name="csX27" fmla="*/ 5929166 w 5967667"/>
              <a:gd name="csY27" fmla="*/ 2483318 h 2598821"/>
              <a:gd name="csX28" fmla="*/ 5948417 w 5967667"/>
              <a:gd name="csY28" fmla="*/ 2300438 h 2598821"/>
              <a:gd name="csX29" fmla="*/ 5967667 w 5967667"/>
              <a:gd name="csY29" fmla="*/ 2030931 h 2598821"/>
              <a:gd name="csX30" fmla="*/ 5938791 w 5967667"/>
              <a:gd name="csY30" fmla="*/ 1366788 h 2598821"/>
              <a:gd name="csX31" fmla="*/ 5881040 w 5967667"/>
              <a:gd name="csY31" fmla="*/ 1328287 h 2598821"/>
              <a:gd name="csX32" fmla="*/ 5784787 w 5967667"/>
              <a:gd name="csY32" fmla="*/ 1309036 h 2598821"/>
              <a:gd name="csX33" fmla="*/ 5582657 w 5967667"/>
              <a:gd name="csY33" fmla="*/ 1289786 h 2598821"/>
              <a:gd name="csX34" fmla="*/ 4764509 w 5967667"/>
              <a:gd name="csY34" fmla="*/ 1309036 h 2598821"/>
              <a:gd name="csX35" fmla="*/ 4600880 w 5967667"/>
              <a:gd name="csY35" fmla="*/ 1357162 h 2598821"/>
              <a:gd name="csX36" fmla="*/ 4514252 w 5967667"/>
              <a:gd name="csY36" fmla="*/ 1386038 h 2598821"/>
              <a:gd name="csX37" fmla="*/ 4379499 w 5967667"/>
              <a:gd name="csY37" fmla="*/ 1443790 h 2598821"/>
              <a:gd name="csX38" fmla="*/ 4292871 w 5967667"/>
              <a:gd name="csY38" fmla="*/ 1501541 h 2598821"/>
              <a:gd name="csX39" fmla="*/ 4196619 w 5967667"/>
              <a:gd name="csY39" fmla="*/ 1549668 h 2598821"/>
              <a:gd name="csX40" fmla="*/ 4042614 w 5967667"/>
              <a:gd name="csY40" fmla="*/ 1645920 h 2598821"/>
              <a:gd name="csX41" fmla="*/ 3994488 w 5967667"/>
              <a:gd name="csY41" fmla="*/ 1674796 h 2598821"/>
              <a:gd name="csX42" fmla="*/ 3946362 w 5967667"/>
              <a:gd name="csY42" fmla="*/ 1713297 h 2598821"/>
              <a:gd name="csX43" fmla="*/ 3888610 w 5967667"/>
              <a:gd name="csY43" fmla="*/ 1742173 h 2598821"/>
              <a:gd name="csX44" fmla="*/ 3840484 w 5967667"/>
              <a:gd name="csY44" fmla="*/ 1780674 h 2598821"/>
              <a:gd name="csX45" fmla="*/ 3763482 w 5967667"/>
              <a:gd name="csY45" fmla="*/ 1819175 h 2598821"/>
              <a:gd name="csX46" fmla="*/ 3657604 w 5967667"/>
              <a:gd name="csY46" fmla="*/ 1790299 h 2598821"/>
              <a:gd name="csX47" fmla="*/ 3619103 w 5967667"/>
              <a:gd name="csY47" fmla="*/ 1761423 h 2598821"/>
              <a:gd name="csX48" fmla="*/ 3561351 w 5967667"/>
              <a:gd name="csY48" fmla="*/ 1713297 h 2598821"/>
              <a:gd name="csX49" fmla="*/ 3522850 w 5967667"/>
              <a:gd name="csY49" fmla="*/ 1665171 h 2598821"/>
              <a:gd name="csX50" fmla="*/ 3493974 w 5967667"/>
              <a:gd name="csY50" fmla="*/ 1645920 h 2598821"/>
              <a:gd name="csX51" fmla="*/ 3426598 w 5967667"/>
              <a:gd name="csY51" fmla="*/ 1588169 h 2598821"/>
              <a:gd name="csX52" fmla="*/ 3397722 w 5967667"/>
              <a:gd name="csY52" fmla="*/ 1578543 h 2598821"/>
              <a:gd name="csX53" fmla="*/ 3320720 w 5967667"/>
              <a:gd name="csY53" fmla="*/ 1511167 h 2598821"/>
              <a:gd name="csX54" fmla="*/ 3253343 w 5967667"/>
              <a:gd name="csY54" fmla="*/ 1472666 h 2598821"/>
              <a:gd name="csX55" fmla="*/ 3205217 w 5967667"/>
              <a:gd name="csY55" fmla="*/ 1443790 h 2598821"/>
              <a:gd name="csX56" fmla="*/ 3137840 w 5967667"/>
              <a:gd name="csY56" fmla="*/ 1386038 h 2598821"/>
              <a:gd name="csX57" fmla="*/ 3080088 w 5967667"/>
              <a:gd name="csY57" fmla="*/ 1366788 h 2598821"/>
              <a:gd name="csX58" fmla="*/ 3031962 w 5967667"/>
              <a:gd name="csY58" fmla="*/ 1347537 h 2598821"/>
              <a:gd name="csX59" fmla="*/ 2954960 w 5967667"/>
              <a:gd name="csY59" fmla="*/ 1299411 h 2598821"/>
              <a:gd name="csX60" fmla="*/ 2897208 w 5967667"/>
              <a:gd name="csY60" fmla="*/ 1212783 h 2598821"/>
              <a:gd name="csX61" fmla="*/ 2926084 w 5967667"/>
              <a:gd name="csY61" fmla="*/ 577516 h 2598821"/>
              <a:gd name="csX62" fmla="*/ 2916459 w 5967667"/>
              <a:gd name="csY62" fmla="*/ 308009 h 2598821"/>
              <a:gd name="csX63" fmla="*/ 2897208 w 5967667"/>
              <a:gd name="csY63" fmla="*/ 192506 h 2598821"/>
              <a:gd name="csX64" fmla="*/ 2877958 w 5967667"/>
              <a:gd name="csY64" fmla="*/ 144379 h 2598821"/>
              <a:gd name="csX65" fmla="*/ 2820206 w 5967667"/>
              <a:gd name="csY65" fmla="*/ 77002 h 2598821"/>
              <a:gd name="csX66" fmla="*/ 2791330 w 5967667"/>
              <a:gd name="csY66" fmla="*/ 38501 h 2598821"/>
              <a:gd name="csX67" fmla="*/ 2733579 w 5967667"/>
              <a:gd name="csY67" fmla="*/ 0 h 2598821"/>
              <a:gd name="csX0" fmla="*/ 2791330 w 5967667"/>
              <a:gd name="csY0" fmla="*/ 57752 h 2598821"/>
              <a:gd name="csX1" fmla="*/ 221385 w 5967667"/>
              <a:gd name="csY1" fmla="*/ 67377 h 2598821"/>
              <a:gd name="csX2" fmla="*/ 19254 w 5967667"/>
              <a:gd name="csY2" fmla="*/ 86628 h 2598821"/>
              <a:gd name="csX3" fmla="*/ 19254 w 5967667"/>
              <a:gd name="csY3" fmla="*/ 500514 h 2598821"/>
              <a:gd name="csX4" fmla="*/ 57756 w 5967667"/>
              <a:gd name="csY4" fmla="*/ 606392 h 2598821"/>
              <a:gd name="csX5" fmla="*/ 67381 w 5967667"/>
              <a:gd name="csY5" fmla="*/ 693019 h 2598821"/>
              <a:gd name="csX6" fmla="*/ 77006 w 5967667"/>
              <a:gd name="csY6" fmla="*/ 981777 h 2598821"/>
              <a:gd name="csX7" fmla="*/ 105882 w 5967667"/>
              <a:gd name="csY7" fmla="*/ 1049154 h 2598821"/>
              <a:gd name="csX8" fmla="*/ 134758 w 5967667"/>
              <a:gd name="csY8" fmla="*/ 1126156 h 2598821"/>
              <a:gd name="csX9" fmla="*/ 231010 w 5967667"/>
              <a:gd name="csY9" fmla="*/ 1232034 h 2598821"/>
              <a:gd name="csX10" fmla="*/ 279137 w 5967667"/>
              <a:gd name="csY10" fmla="*/ 1251284 h 2598821"/>
              <a:gd name="csX11" fmla="*/ 914404 w 5967667"/>
              <a:gd name="csY11" fmla="*/ 1270535 h 2598821"/>
              <a:gd name="csX12" fmla="*/ 1164661 w 5967667"/>
              <a:gd name="csY12" fmla="*/ 1578543 h 2598821"/>
              <a:gd name="csX13" fmla="*/ 1212787 w 5967667"/>
              <a:gd name="csY13" fmla="*/ 1665171 h 2598821"/>
              <a:gd name="csX14" fmla="*/ 1280164 w 5967667"/>
              <a:gd name="csY14" fmla="*/ 1761423 h 2598821"/>
              <a:gd name="csX15" fmla="*/ 1337916 w 5967667"/>
              <a:gd name="csY15" fmla="*/ 1867301 h 2598821"/>
              <a:gd name="csX16" fmla="*/ 1607423 w 5967667"/>
              <a:gd name="csY16" fmla="*/ 2146434 h 2598821"/>
              <a:gd name="csX17" fmla="*/ 1896181 w 5967667"/>
              <a:gd name="csY17" fmla="*/ 2300438 h 2598821"/>
              <a:gd name="csX18" fmla="*/ 1992433 w 5967667"/>
              <a:gd name="csY18" fmla="*/ 2338939 h 2598821"/>
              <a:gd name="csX19" fmla="*/ 2252316 w 5967667"/>
              <a:gd name="csY19" fmla="*/ 2387066 h 2598821"/>
              <a:gd name="csX20" fmla="*/ 2839457 w 5967667"/>
              <a:gd name="csY20" fmla="*/ 2464068 h 2598821"/>
              <a:gd name="csX21" fmla="*/ 3157090 w 5967667"/>
              <a:gd name="csY21" fmla="*/ 2502569 h 2598821"/>
              <a:gd name="csX22" fmla="*/ 3696105 w 5967667"/>
              <a:gd name="csY22" fmla="*/ 2521819 h 2598821"/>
              <a:gd name="csX23" fmla="*/ 4081116 w 5967667"/>
              <a:gd name="csY23" fmla="*/ 2560320 h 2598821"/>
              <a:gd name="csX24" fmla="*/ 4475751 w 5967667"/>
              <a:gd name="csY24" fmla="*/ 2569946 h 2598821"/>
              <a:gd name="csX25" fmla="*/ 4957014 w 5967667"/>
              <a:gd name="csY25" fmla="*/ 2598821 h 2598821"/>
              <a:gd name="csX26" fmla="*/ 5852164 w 5967667"/>
              <a:gd name="csY26" fmla="*/ 2569946 h 2598821"/>
              <a:gd name="csX27" fmla="*/ 5929166 w 5967667"/>
              <a:gd name="csY27" fmla="*/ 2483318 h 2598821"/>
              <a:gd name="csX28" fmla="*/ 5948417 w 5967667"/>
              <a:gd name="csY28" fmla="*/ 2300438 h 2598821"/>
              <a:gd name="csX29" fmla="*/ 5967667 w 5967667"/>
              <a:gd name="csY29" fmla="*/ 2030931 h 2598821"/>
              <a:gd name="csX30" fmla="*/ 5938791 w 5967667"/>
              <a:gd name="csY30" fmla="*/ 1366788 h 2598821"/>
              <a:gd name="csX31" fmla="*/ 5881040 w 5967667"/>
              <a:gd name="csY31" fmla="*/ 1328287 h 2598821"/>
              <a:gd name="csX32" fmla="*/ 5784787 w 5967667"/>
              <a:gd name="csY32" fmla="*/ 1309036 h 2598821"/>
              <a:gd name="csX33" fmla="*/ 5582657 w 5967667"/>
              <a:gd name="csY33" fmla="*/ 1289786 h 2598821"/>
              <a:gd name="csX34" fmla="*/ 4764509 w 5967667"/>
              <a:gd name="csY34" fmla="*/ 1309036 h 2598821"/>
              <a:gd name="csX35" fmla="*/ 4600880 w 5967667"/>
              <a:gd name="csY35" fmla="*/ 1357162 h 2598821"/>
              <a:gd name="csX36" fmla="*/ 4514252 w 5967667"/>
              <a:gd name="csY36" fmla="*/ 1386038 h 2598821"/>
              <a:gd name="csX37" fmla="*/ 4379499 w 5967667"/>
              <a:gd name="csY37" fmla="*/ 1443790 h 2598821"/>
              <a:gd name="csX38" fmla="*/ 4292871 w 5967667"/>
              <a:gd name="csY38" fmla="*/ 1501541 h 2598821"/>
              <a:gd name="csX39" fmla="*/ 4196619 w 5967667"/>
              <a:gd name="csY39" fmla="*/ 1549668 h 2598821"/>
              <a:gd name="csX40" fmla="*/ 4042614 w 5967667"/>
              <a:gd name="csY40" fmla="*/ 1645920 h 2598821"/>
              <a:gd name="csX41" fmla="*/ 3994488 w 5967667"/>
              <a:gd name="csY41" fmla="*/ 1674796 h 2598821"/>
              <a:gd name="csX42" fmla="*/ 3946362 w 5967667"/>
              <a:gd name="csY42" fmla="*/ 1713297 h 2598821"/>
              <a:gd name="csX43" fmla="*/ 3888610 w 5967667"/>
              <a:gd name="csY43" fmla="*/ 1742173 h 2598821"/>
              <a:gd name="csX44" fmla="*/ 3840484 w 5967667"/>
              <a:gd name="csY44" fmla="*/ 1780674 h 2598821"/>
              <a:gd name="csX45" fmla="*/ 3763482 w 5967667"/>
              <a:gd name="csY45" fmla="*/ 1819175 h 2598821"/>
              <a:gd name="csX46" fmla="*/ 3657604 w 5967667"/>
              <a:gd name="csY46" fmla="*/ 1790299 h 2598821"/>
              <a:gd name="csX47" fmla="*/ 3638153 w 5967667"/>
              <a:gd name="csY47" fmla="*/ 1709036 h 2598821"/>
              <a:gd name="csX48" fmla="*/ 3561351 w 5967667"/>
              <a:gd name="csY48" fmla="*/ 1713297 h 2598821"/>
              <a:gd name="csX49" fmla="*/ 3522850 w 5967667"/>
              <a:gd name="csY49" fmla="*/ 1665171 h 2598821"/>
              <a:gd name="csX50" fmla="*/ 3493974 w 5967667"/>
              <a:gd name="csY50" fmla="*/ 1645920 h 2598821"/>
              <a:gd name="csX51" fmla="*/ 3426598 w 5967667"/>
              <a:gd name="csY51" fmla="*/ 1588169 h 2598821"/>
              <a:gd name="csX52" fmla="*/ 3397722 w 5967667"/>
              <a:gd name="csY52" fmla="*/ 1578543 h 2598821"/>
              <a:gd name="csX53" fmla="*/ 3320720 w 5967667"/>
              <a:gd name="csY53" fmla="*/ 1511167 h 2598821"/>
              <a:gd name="csX54" fmla="*/ 3253343 w 5967667"/>
              <a:gd name="csY54" fmla="*/ 1472666 h 2598821"/>
              <a:gd name="csX55" fmla="*/ 3205217 w 5967667"/>
              <a:gd name="csY55" fmla="*/ 1443790 h 2598821"/>
              <a:gd name="csX56" fmla="*/ 3137840 w 5967667"/>
              <a:gd name="csY56" fmla="*/ 1386038 h 2598821"/>
              <a:gd name="csX57" fmla="*/ 3080088 w 5967667"/>
              <a:gd name="csY57" fmla="*/ 1366788 h 2598821"/>
              <a:gd name="csX58" fmla="*/ 3031962 w 5967667"/>
              <a:gd name="csY58" fmla="*/ 1347537 h 2598821"/>
              <a:gd name="csX59" fmla="*/ 2954960 w 5967667"/>
              <a:gd name="csY59" fmla="*/ 1299411 h 2598821"/>
              <a:gd name="csX60" fmla="*/ 2897208 w 5967667"/>
              <a:gd name="csY60" fmla="*/ 1212783 h 2598821"/>
              <a:gd name="csX61" fmla="*/ 2926084 w 5967667"/>
              <a:gd name="csY61" fmla="*/ 577516 h 2598821"/>
              <a:gd name="csX62" fmla="*/ 2916459 w 5967667"/>
              <a:gd name="csY62" fmla="*/ 308009 h 2598821"/>
              <a:gd name="csX63" fmla="*/ 2897208 w 5967667"/>
              <a:gd name="csY63" fmla="*/ 192506 h 2598821"/>
              <a:gd name="csX64" fmla="*/ 2877958 w 5967667"/>
              <a:gd name="csY64" fmla="*/ 144379 h 2598821"/>
              <a:gd name="csX65" fmla="*/ 2820206 w 5967667"/>
              <a:gd name="csY65" fmla="*/ 77002 h 2598821"/>
              <a:gd name="csX66" fmla="*/ 2791330 w 5967667"/>
              <a:gd name="csY66" fmla="*/ 38501 h 2598821"/>
              <a:gd name="csX67" fmla="*/ 2733579 w 5967667"/>
              <a:gd name="csY67" fmla="*/ 0 h 2598821"/>
              <a:gd name="csX0" fmla="*/ 2791330 w 5967667"/>
              <a:gd name="csY0" fmla="*/ 57752 h 2598821"/>
              <a:gd name="csX1" fmla="*/ 221385 w 5967667"/>
              <a:gd name="csY1" fmla="*/ 67377 h 2598821"/>
              <a:gd name="csX2" fmla="*/ 19254 w 5967667"/>
              <a:gd name="csY2" fmla="*/ 86628 h 2598821"/>
              <a:gd name="csX3" fmla="*/ 19254 w 5967667"/>
              <a:gd name="csY3" fmla="*/ 500514 h 2598821"/>
              <a:gd name="csX4" fmla="*/ 57756 w 5967667"/>
              <a:gd name="csY4" fmla="*/ 606392 h 2598821"/>
              <a:gd name="csX5" fmla="*/ 67381 w 5967667"/>
              <a:gd name="csY5" fmla="*/ 693019 h 2598821"/>
              <a:gd name="csX6" fmla="*/ 77006 w 5967667"/>
              <a:gd name="csY6" fmla="*/ 981777 h 2598821"/>
              <a:gd name="csX7" fmla="*/ 105882 w 5967667"/>
              <a:gd name="csY7" fmla="*/ 1049154 h 2598821"/>
              <a:gd name="csX8" fmla="*/ 134758 w 5967667"/>
              <a:gd name="csY8" fmla="*/ 1126156 h 2598821"/>
              <a:gd name="csX9" fmla="*/ 231010 w 5967667"/>
              <a:gd name="csY9" fmla="*/ 1232034 h 2598821"/>
              <a:gd name="csX10" fmla="*/ 279137 w 5967667"/>
              <a:gd name="csY10" fmla="*/ 1251284 h 2598821"/>
              <a:gd name="csX11" fmla="*/ 914404 w 5967667"/>
              <a:gd name="csY11" fmla="*/ 1270535 h 2598821"/>
              <a:gd name="csX12" fmla="*/ 1164661 w 5967667"/>
              <a:gd name="csY12" fmla="*/ 1578543 h 2598821"/>
              <a:gd name="csX13" fmla="*/ 1212787 w 5967667"/>
              <a:gd name="csY13" fmla="*/ 1665171 h 2598821"/>
              <a:gd name="csX14" fmla="*/ 1280164 w 5967667"/>
              <a:gd name="csY14" fmla="*/ 1761423 h 2598821"/>
              <a:gd name="csX15" fmla="*/ 1337916 w 5967667"/>
              <a:gd name="csY15" fmla="*/ 1867301 h 2598821"/>
              <a:gd name="csX16" fmla="*/ 1607423 w 5967667"/>
              <a:gd name="csY16" fmla="*/ 2146434 h 2598821"/>
              <a:gd name="csX17" fmla="*/ 1896181 w 5967667"/>
              <a:gd name="csY17" fmla="*/ 2300438 h 2598821"/>
              <a:gd name="csX18" fmla="*/ 1992433 w 5967667"/>
              <a:gd name="csY18" fmla="*/ 2338939 h 2598821"/>
              <a:gd name="csX19" fmla="*/ 2252316 w 5967667"/>
              <a:gd name="csY19" fmla="*/ 2387066 h 2598821"/>
              <a:gd name="csX20" fmla="*/ 2839457 w 5967667"/>
              <a:gd name="csY20" fmla="*/ 2464068 h 2598821"/>
              <a:gd name="csX21" fmla="*/ 3157090 w 5967667"/>
              <a:gd name="csY21" fmla="*/ 2502569 h 2598821"/>
              <a:gd name="csX22" fmla="*/ 3696105 w 5967667"/>
              <a:gd name="csY22" fmla="*/ 2521819 h 2598821"/>
              <a:gd name="csX23" fmla="*/ 4081116 w 5967667"/>
              <a:gd name="csY23" fmla="*/ 2560320 h 2598821"/>
              <a:gd name="csX24" fmla="*/ 4475751 w 5967667"/>
              <a:gd name="csY24" fmla="*/ 2569946 h 2598821"/>
              <a:gd name="csX25" fmla="*/ 4957014 w 5967667"/>
              <a:gd name="csY25" fmla="*/ 2598821 h 2598821"/>
              <a:gd name="csX26" fmla="*/ 5852164 w 5967667"/>
              <a:gd name="csY26" fmla="*/ 2569946 h 2598821"/>
              <a:gd name="csX27" fmla="*/ 5929166 w 5967667"/>
              <a:gd name="csY27" fmla="*/ 2483318 h 2598821"/>
              <a:gd name="csX28" fmla="*/ 5948417 w 5967667"/>
              <a:gd name="csY28" fmla="*/ 2300438 h 2598821"/>
              <a:gd name="csX29" fmla="*/ 5967667 w 5967667"/>
              <a:gd name="csY29" fmla="*/ 2030931 h 2598821"/>
              <a:gd name="csX30" fmla="*/ 5938791 w 5967667"/>
              <a:gd name="csY30" fmla="*/ 1366788 h 2598821"/>
              <a:gd name="csX31" fmla="*/ 5881040 w 5967667"/>
              <a:gd name="csY31" fmla="*/ 1328287 h 2598821"/>
              <a:gd name="csX32" fmla="*/ 5784787 w 5967667"/>
              <a:gd name="csY32" fmla="*/ 1309036 h 2598821"/>
              <a:gd name="csX33" fmla="*/ 5582657 w 5967667"/>
              <a:gd name="csY33" fmla="*/ 1289786 h 2598821"/>
              <a:gd name="csX34" fmla="*/ 4764509 w 5967667"/>
              <a:gd name="csY34" fmla="*/ 1309036 h 2598821"/>
              <a:gd name="csX35" fmla="*/ 4600880 w 5967667"/>
              <a:gd name="csY35" fmla="*/ 1357162 h 2598821"/>
              <a:gd name="csX36" fmla="*/ 4514252 w 5967667"/>
              <a:gd name="csY36" fmla="*/ 1386038 h 2598821"/>
              <a:gd name="csX37" fmla="*/ 4379499 w 5967667"/>
              <a:gd name="csY37" fmla="*/ 1443790 h 2598821"/>
              <a:gd name="csX38" fmla="*/ 4292871 w 5967667"/>
              <a:gd name="csY38" fmla="*/ 1501541 h 2598821"/>
              <a:gd name="csX39" fmla="*/ 4196619 w 5967667"/>
              <a:gd name="csY39" fmla="*/ 1549668 h 2598821"/>
              <a:gd name="csX40" fmla="*/ 4042614 w 5967667"/>
              <a:gd name="csY40" fmla="*/ 1645920 h 2598821"/>
              <a:gd name="csX41" fmla="*/ 3994488 w 5967667"/>
              <a:gd name="csY41" fmla="*/ 1674796 h 2598821"/>
              <a:gd name="csX42" fmla="*/ 3946362 w 5967667"/>
              <a:gd name="csY42" fmla="*/ 1713297 h 2598821"/>
              <a:gd name="csX43" fmla="*/ 3888610 w 5967667"/>
              <a:gd name="csY43" fmla="*/ 1742173 h 2598821"/>
              <a:gd name="csX44" fmla="*/ 3840484 w 5967667"/>
              <a:gd name="csY44" fmla="*/ 1780674 h 2598821"/>
              <a:gd name="csX45" fmla="*/ 3763482 w 5967667"/>
              <a:gd name="csY45" fmla="*/ 1819175 h 2598821"/>
              <a:gd name="csX46" fmla="*/ 3702848 w 5967667"/>
              <a:gd name="csY46" fmla="*/ 1756962 h 2598821"/>
              <a:gd name="csX47" fmla="*/ 3638153 w 5967667"/>
              <a:gd name="csY47" fmla="*/ 1709036 h 2598821"/>
              <a:gd name="csX48" fmla="*/ 3561351 w 5967667"/>
              <a:gd name="csY48" fmla="*/ 1713297 h 2598821"/>
              <a:gd name="csX49" fmla="*/ 3522850 w 5967667"/>
              <a:gd name="csY49" fmla="*/ 1665171 h 2598821"/>
              <a:gd name="csX50" fmla="*/ 3493974 w 5967667"/>
              <a:gd name="csY50" fmla="*/ 1645920 h 2598821"/>
              <a:gd name="csX51" fmla="*/ 3426598 w 5967667"/>
              <a:gd name="csY51" fmla="*/ 1588169 h 2598821"/>
              <a:gd name="csX52" fmla="*/ 3397722 w 5967667"/>
              <a:gd name="csY52" fmla="*/ 1578543 h 2598821"/>
              <a:gd name="csX53" fmla="*/ 3320720 w 5967667"/>
              <a:gd name="csY53" fmla="*/ 1511167 h 2598821"/>
              <a:gd name="csX54" fmla="*/ 3253343 w 5967667"/>
              <a:gd name="csY54" fmla="*/ 1472666 h 2598821"/>
              <a:gd name="csX55" fmla="*/ 3205217 w 5967667"/>
              <a:gd name="csY55" fmla="*/ 1443790 h 2598821"/>
              <a:gd name="csX56" fmla="*/ 3137840 w 5967667"/>
              <a:gd name="csY56" fmla="*/ 1386038 h 2598821"/>
              <a:gd name="csX57" fmla="*/ 3080088 w 5967667"/>
              <a:gd name="csY57" fmla="*/ 1366788 h 2598821"/>
              <a:gd name="csX58" fmla="*/ 3031962 w 5967667"/>
              <a:gd name="csY58" fmla="*/ 1347537 h 2598821"/>
              <a:gd name="csX59" fmla="*/ 2954960 w 5967667"/>
              <a:gd name="csY59" fmla="*/ 1299411 h 2598821"/>
              <a:gd name="csX60" fmla="*/ 2897208 w 5967667"/>
              <a:gd name="csY60" fmla="*/ 1212783 h 2598821"/>
              <a:gd name="csX61" fmla="*/ 2926084 w 5967667"/>
              <a:gd name="csY61" fmla="*/ 577516 h 2598821"/>
              <a:gd name="csX62" fmla="*/ 2916459 w 5967667"/>
              <a:gd name="csY62" fmla="*/ 308009 h 2598821"/>
              <a:gd name="csX63" fmla="*/ 2897208 w 5967667"/>
              <a:gd name="csY63" fmla="*/ 192506 h 2598821"/>
              <a:gd name="csX64" fmla="*/ 2877958 w 5967667"/>
              <a:gd name="csY64" fmla="*/ 144379 h 2598821"/>
              <a:gd name="csX65" fmla="*/ 2820206 w 5967667"/>
              <a:gd name="csY65" fmla="*/ 77002 h 2598821"/>
              <a:gd name="csX66" fmla="*/ 2791330 w 5967667"/>
              <a:gd name="csY66" fmla="*/ 38501 h 2598821"/>
              <a:gd name="csX67" fmla="*/ 2733579 w 5967667"/>
              <a:gd name="csY67" fmla="*/ 0 h 2598821"/>
              <a:gd name="csX0" fmla="*/ 2791330 w 5967667"/>
              <a:gd name="csY0" fmla="*/ 57752 h 2598821"/>
              <a:gd name="csX1" fmla="*/ 221385 w 5967667"/>
              <a:gd name="csY1" fmla="*/ 67377 h 2598821"/>
              <a:gd name="csX2" fmla="*/ 19254 w 5967667"/>
              <a:gd name="csY2" fmla="*/ 86628 h 2598821"/>
              <a:gd name="csX3" fmla="*/ 19254 w 5967667"/>
              <a:gd name="csY3" fmla="*/ 500514 h 2598821"/>
              <a:gd name="csX4" fmla="*/ 57756 w 5967667"/>
              <a:gd name="csY4" fmla="*/ 606392 h 2598821"/>
              <a:gd name="csX5" fmla="*/ 67381 w 5967667"/>
              <a:gd name="csY5" fmla="*/ 693019 h 2598821"/>
              <a:gd name="csX6" fmla="*/ 77006 w 5967667"/>
              <a:gd name="csY6" fmla="*/ 981777 h 2598821"/>
              <a:gd name="csX7" fmla="*/ 105882 w 5967667"/>
              <a:gd name="csY7" fmla="*/ 1049154 h 2598821"/>
              <a:gd name="csX8" fmla="*/ 134758 w 5967667"/>
              <a:gd name="csY8" fmla="*/ 1126156 h 2598821"/>
              <a:gd name="csX9" fmla="*/ 231010 w 5967667"/>
              <a:gd name="csY9" fmla="*/ 1232034 h 2598821"/>
              <a:gd name="csX10" fmla="*/ 279137 w 5967667"/>
              <a:gd name="csY10" fmla="*/ 1251284 h 2598821"/>
              <a:gd name="csX11" fmla="*/ 914404 w 5967667"/>
              <a:gd name="csY11" fmla="*/ 1270535 h 2598821"/>
              <a:gd name="csX12" fmla="*/ 1164661 w 5967667"/>
              <a:gd name="csY12" fmla="*/ 1578543 h 2598821"/>
              <a:gd name="csX13" fmla="*/ 1212787 w 5967667"/>
              <a:gd name="csY13" fmla="*/ 1665171 h 2598821"/>
              <a:gd name="csX14" fmla="*/ 1280164 w 5967667"/>
              <a:gd name="csY14" fmla="*/ 1761423 h 2598821"/>
              <a:gd name="csX15" fmla="*/ 1337916 w 5967667"/>
              <a:gd name="csY15" fmla="*/ 1867301 h 2598821"/>
              <a:gd name="csX16" fmla="*/ 1607423 w 5967667"/>
              <a:gd name="csY16" fmla="*/ 2146434 h 2598821"/>
              <a:gd name="csX17" fmla="*/ 1896181 w 5967667"/>
              <a:gd name="csY17" fmla="*/ 2300438 h 2598821"/>
              <a:gd name="csX18" fmla="*/ 1992433 w 5967667"/>
              <a:gd name="csY18" fmla="*/ 2338939 h 2598821"/>
              <a:gd name="csX19" fmla="*/ 2252316 w 5967667"/>
              <a:gd name="csY19" fmla="*/ 2387066 h 2598821"/>
              <a:gd name="csX20" fmla="*/ 2839457 w 5967667"/>
              <a:gd name="csY20" fmla="*/ 2464068 h 2598821"/>
              <a:gd name="csX21" fmla="*/ 3157090 w 5967667"/>
              <a:gd name="csY21" fmla="*/ 2502569 h 2598821"/>
              <a:gd name="csX22" fmla="*/ 3696105 w 5967667"/>
              <a:gd name="csY22" fmla="*/ 2521819 h 2598821"/>
              <a:gd name="csX23" fmla="*/ 4081116 w 5967667"/>
              <a:gd name="csY23" fmla="*/ 2560320 h 2598821"/>
              <a:gd name="csX24" fmla="*/ 4475751 w 5967667"/>
              <a:gd name="csY24" fmla="*/ 2569946 h 2598821"/>
              <a:gd name="csX25" fmla="*/ 4957014 w 5967667"/>
              <a:gd name="csY25" fmla="*/ 2598821 h 2598821"/>
              <a:gd name="csX26" fmla="*/ 5852164 w 5967667"/>
              <a:gd name="csY26" fmla="*/ 2569946 h 2598821"/>
              <a:gd name="csX27" fmla="*/ 5929166 w 5967667"/>
              <a:gd name="csY27" fmla="*/ 2483318 h 2598821"/>
              <a:gd name="csX28" fmla="*/ 5948417 w 5967667"/>
              <a:gd name="csY28" fmla="*/ 2300438 h 2598821"/>
              <a:gd name="csX29" fmla="*/ 5967667 w 5967667"/>
              <a:gd name="csY29" fmla="*/ 2030931 h 2598821"/>
              <a:gd name="csX30" fmla="*/ 5938791 w 5967667"/>
              <a:gd name="csY30" fmla="*/ 1366788 h 2598821"/>
              <a:gd name="csX31" fmla="*/ 5881040 w 5967667"/>
              <a:gd name="csY31" fmla="*/ 1328287 h 2598821"/>
              <a:gd name="csX32" fmla="*/ 5784787 w 5967667"/>
              <a:gd name="csY32" fmla="*/ 1309036 h 2598821"/>
              <a:gd name="csX33" fmla="*/ 5582657 w 5967667"/>
              <a:gd name="csY33" fmla="*/ 1289786 h 2598821"/>
              <a:gd name="csX34" fmla="*/ 4764509 w 5967667"/>
              <a:gd name="csY34" fmla="*/ 1309036 h 2598821"/>
              <a:gd name="csX35" fmla="*/ 4600880 w 5967667"/>
              <a:gd name="csY35" fmla="*/ 1357162 h 2598821"/>
              <a:gd name="csX36" fmla="*/ 4514252 w 5967667"/>
              <a:gd name="csY36" fmla="*/ 1386038 h 2598821"/>
              <a:gd name="csX37" fmla="*/ 4379499 w 5967667"/>
              <a:gd name="csY37" fmla="*/ 1443790 h 2598821"/>
              <a:gd name="csX38" fmla="*/ 4292871 w 5967667"/>
              <a:gd name="csY38" fmla="*/ 1501541 h 2598821"/>
              <a:gd name="csX39" fmla="*/ 4196619 w 5967667"/>
              <a:gd name="csY39" fmla="*/ 1549668 h 2598821"/>
              <a:gd name="csX40" fmla="*/ 4042614 w 5967667"/>
              <a:gd name="csY40" fmla="*/ 1645920 h 2598821"/>
              <a:gd name="csX41" fmla="*/ 3994488 w 5967667"/>
              <a:gd name="csY41" fmla="*/ 1674796 h 2598821"/>
              <a:gd name="csX42" fmla="*/ 3946362 w 5967667"/>
              <a:gd name="csY42" fmla="*/ 1713297 h 2598821"/>
              <a:gd name="csX43" fmla="*/ 3888610 w 5967667"/>
              <a:gd name="csY43" fmla="*/ 1742173 h 2598821"/>
              <a:gd name="csX44" fmla="*/ 3840484 w 5967667"/>
              <a:gd name="csY44" fmla="*/ 1780674 h 2598821"/>
              <a:gd name="csX45" fmla="*/ 3763482 w 5967667"/>
              <a:gd name="csY45" fmla="*/ 1819175 h 2598821"/>
              <a:gd name="csX46" fmla="*/ 3702848 w 5967667"/>
              <a:gd name="csY46" fmla="*/ 1756962 h 2598821"/>
              <a:gd name="csX47" fmla="*/ 3638153 w 5967667"/>
              <a:gd name="csY47" fmla="*/ 1709036 h 2598821"/>
              <a:gd name="csX48" fmla="*/ 3578020 w 5967667"/>
              <a:gd name="csY48" fmla="*/ 1684722 h 2598821"/>
              <a:gd name="csX49" fmla="*/ 3522850 w 5967667"/>
              <a:gd name="csY49" fmla="*/ 1665171 h 2598821"/>
              <a:gd name="csX50" fmla="*/ 3493974 w 5967667"/>
              <a:gd name="csY50" fmla="*/ 1645920 h 2598821"/>
              <a:gd name="csX51" fmla="*/ 3426598 w 5967667"/>
              <a:gd name="csY51" fmla="*/ 1588169 h 2598821"/>
              <a:gd name="csX52" fmla="*/ 3397722 w 5967667"/>
              <a:gd name="csY52" fmla="*/ 1578543 h 2598821"/>
              <a:gd name="csX53" fmla="*/ 3320720 w 5967667"/>
              <a:gd name="csY53" fmla="*/ 1511167 h 2598821"/>
              <a:gd name="csX54" fmla="*/ 3253343 w 5967667"/>
              <a:gd name="csY54" fmla="*/ 1472666 h 2598821"/>
              <a:gd name="csX55" fmla="*/ 3205217 w 5967667"/>
              <a:gd name="csY55" fmla="*/ 1443790 h 2598821"/>
              <a:gd name="csX56" fmla="*/ 3137840 w 5967667"/>
              <a:gd name="csY56" fmla="*/ 1386038 h 2598821"/>
              <a:gd name="csX57" fmla="*/ 3080088 w 5967667"/>
              <a:gd name="csY57" fmla="*/ 1366788 h 2598821"/>
              <a:gd name="csX58" fmla="*/ 3031962 w 5967667"/>
              <a:gd name="csY58" fmla="*/ 1347537 h 2598821"/>
              <a:gd name="csX59" fmla="*/ 2954960 w 5967667"/>
              <a:gd name="csY59" fmla="*/ 1299411 h 2598821"/>
              <a:gd name="csX60" fmla="*/ 2897208 w 5967667"/>
              <a:gd name="csY60" fmla="*/ 1212783 h 2598821"/>
              <a:gd name="csX61" fmla="*/ 2926084 w 5967667"/>
              <a:gd name="csY61" fmla="*/ 577516 h 2598821"/>
              <a:gd name="csX62" fmla="*/ 2916459 w 5967667"/>
              <a:gd name="csY62" fmla="*/ 308009 h 2598821"/>
              <a:gd name="csX63" fmla="*/ 2897208 w 5967667"/>
              <a:gd name="csY63" fmla="*/ 192506 h 2598821"/>
              <a:gd name="csX64" fmla="*/ 2877958 w 5967667"/>
              <a:gd name="csY64" fmla="*/ 144379 h 2598821"/>
              <a:gd name="csX65" fmla="*/ 2820206 w 5967667"/>
              <a:gd name="csY65" fmla="*/ 77002 h 2598821"/>
              <a:gd name="csX66" fmla="*/ 2791330 w 5967667"/>
              <a:gd name="csY66" fmla="*/ 38501 h 2598821"/>
              <a:gd name="csX67" fmla="*/ 2733579 w 5967667"/>
              <a:gd name="csY67" fmla="*/ 0 h 2598821"/>
              <a:gd name="csX0" fmla="*/ 2791330 w 5967667"/>
              <a:gd name="csY0" fmla="*/ 57752 h 2598821"/>
              <a:gd name="csX1" fmla="*/ 221385 w 5967667"/>
              <a:gd name="csY1" fmla="*/ 67377 h 2598821"/>
              <a:gd name="csX2" fmla="*/ 19254 w 5967667"/>
              <a:gd name="csY2" fmla="*/ 86628 h 2598821"/>
              <a:gd name="csX3" fmla="*/ 19254 w 5967667"/>
              <a:gd name="csY3" fmla="*/ 500514 h 2598821"/>
              <a:gd name="csX4" fmla="*/ 57756 w 5967667"/>
              <a:gd name="csY4" fmla="*/ 606392 h 2598821"/>
              <a:gd name="csX5" fmla="*/ 67381 w 5967667"/>
              <a:gd name="csY5" fmla="*/ 693019 h 2598821"/>
              <a:gd name="csX6" fmla="*/ 77006 w 5967667"/>
              <a:gd name="csY6" fmla="*/ 981777 h 2598821"/>
              <a:gd name="csX7" fmla="*/ 105882 w 5967667"/>
              <a:gd name="csY7" fmla="*/ 1049154 h 2598821"/>
              <a:gd name="csX8" fmla="*/ 134758 w 5967667"/>
              <a:gd name="csY8" fmla="*/ 1126156 h 2598821"/>
              <a:gd name="csX9" fmla="*/ 231010 w 5967667"/>
              <a:gd name="csY9" fmla="*/ 1232034 h 2598821"/>
              <a:gd name="csX10" fmla="*/ 279137 w 5967667"/>
              <a:gd name="csY10" fmla="*/ 1251284 h 2598821"/>
              <a:gd name="csX11" fmla="*/ 914404 w 5967667"/>
              <a:gd name="csY11" fmla="*/ 1270535 h 2598821"/>
              <a:gd name="csX12" fmla="*/ 1164661 w 5967667"/>
              <a:gd name="csY12" fmla="*/ 1578543 h 2598821"/>
              <a:gd name="csX13" fmla="*/ 1212787 w 5967667"/>
              <a:gd name="csY13" fmla="*/ 1665171 h 2598821"/>
              <a:gd name="csX14" fmla="*/ 1280164 w 5967667"/>
              <a:gd name="csY14" fmla="*/ 1761423 h 2598821"/>
              <a:gd name="csX15" fmla="*/ 1337916 w 5967667"/>
              <a:gd name="csY15" fmla="*/ 1867301 h 2598821"/>
              <a:gd name="csX16" fmla="*/ 1607423 w 5967667"/>
              <a:gd name="csY16" fmla="*/ 2146434 h 2598821"/>
              <a:gd name="csX17" fmla="*/ 1896181 w 5967667"/>
              <a:gd name="csY17" fmla="*/ 2300438 h 2598821"/>
              <a:gd name="csX18" fmla="*/ 1992433 w 5967667"/>
              <a:gd name="csY18" fmla="*/ 2338939 h 2598821"/>
              <a:gd name="csX19" fmla="*/ 2252316 w 5967667"/>
              <a:gd name="csY19" fmla="*/ 2387066 h 2598821"/>
              <a:gd name="csX20" fmla="*/ 2839457 w 5967667"/>
              <a:gd name="csY20" fmla="*/ 2464068 h 2598821"/>
              <a:gd name="csX21" fmla="*/ 3157090 w 5967667"/>
              <a:gd name="csY21" fmla="*/ 2502569 h 2598821"/>
              <a:gd name="csX22" fmla="*/ 3696105 w 5967667"/>
              <a:gd name="csY22" fmla="*/ 2521819 h 2598821"/>
              <a:gd name="csX23" fmla="*/ 4081116 w 5967667"/>
              <a:gd name="csY23" fmla="*/ 2560320 h 2598821"/>
              <a:gd name="csX24" fmla="*/ 4475751 w 5967667"/>
              <a:gd name="csY24" fmla="*/ 2569946 h 2598821"/>
              <a:gd name="csX25" fmla="*/ 4957014 w 5967667"/>
              <a:gd name="csY25" fmla="*/ 2598821 h 2598821"/>
              <a:gd name="csX26" fmla="*/ 5852164 w 5967667"/>
              <a:gd name="csY26" fmla="*/ 2569946 h 2598821"/>
              <a:gd name="csX27" fmla="*/ 5929166 w 5967667"/>
              <a:gd name="csY27" fmla="*/ 2483318 h 2598821"/>
              <a:gd name="csX28" fmla="*/ 5948417 w 5967667"/>
              <a:gd name="csY28" fmla="*/ 2300438 h 2598821"/>
              <a:gd name="csX29" fmla="*/ 5967667 w 5967667"/>
              <a:gd name="csY29" fmla="*/ 2030931 h 2598821"/>
              <a:gd name="csX30" fmla="*/ 5938791 w 5967667"/>
              <a:gd name="csY30" fmla="*/ 1366788 h 2598821"/>
              <a:gd name="csX31" fmla="*/ 5881040 w 5967667"/>
              <a:gd name="csY31" fmla="*/ 1328287 h 2598821"/>
              <a:gd name="csX32" fmla="*/ 5784787 w 5967667"/>
              <a:gd name="csY32" fmla="*/ 1309036 h 2598821"/>
              <a:gd name="csX33" fmla="*/ 5582657 w 5967667"/>
              <a:gd name="csY33" fmla="*/ 1289786 h 2598821"/>
              <a:gd name="csX34" fmla="*/ 4764509 w 5967667"/>
              <a:gd name="csY34" fmla="*/ 1309036 h 2598821"/>
              <a:gd name="csX35" fmla="*/ 4600880 w 5967667"/>
              <a:gd name="csY35" fmla="*/ 1357162 h 2598821"/>
              <a:gd name="csX36" fmla="*/ 4514252 w 5967667"/>
              <a:gd name="csY36" fmla="*/ 1386038 h 2598821"/>
              <a:gd name="csX37" fmla="*/ 4379499 w 5967667"/>
              <a:gd name="csY37" fmla="*/ 1443790 h 2598821"/>
              <a:gd name="csX38" fmla="*/ 4292871 w 5967667"/>
              <a:gd name="csY38" fmla="*/ 1501541 h 2598821"/>
              <a:gd name="csX39" fmla="*/ 4196619 w 5967667"/>
              <a:gd name="csY39" fmla="*/ 1549668 h 2598821"/>
              <a:gd name="csX40" fmla="*/ 4042614 w 5967667"/>
              <a:gd name="csY40" fmla="*/ 1645920 h 2598821"/>
              <a:gd name="csX41" fmla="*/ 3994488 w 5967667"/>
              <a:gd name="csY41" fmla="*/ 1674796 h 2598821"/>
              <a:gd name="csX42" fmla="*/ 3946362 w 5967667"/>
              <a:gd name="csY42" fmla="*/ 1713297 h 2598821"/>
              <a:gd name="csX43" fmla="*/ 3888610 w 5967667"/>
              <a:gd name="csY43" fmla="*/ 1742173 h 2598821"/>
              <a:gd name="csX44" fmla="*/ 3840484 w 5967667"/>
              <a:gd name="csY44" fmla="*/ 1780674 h 2598821"/>
              <a:gd name="csX45" fmla="*/ 3763482 w 5967667"/>
              <a:gd name="csY45" fmla="*/ 1819175 h 2598821"/>
              <a:gd name="csX46" fmla="*/ 3702848 w 5967667"/>
              <a:gd name="csY46" fmla="*/ 1756962 h 2598821"/>
              <a:gd name="csX47" fmla="*/ 3638153 w 5967667"/>
              <a:gd name="csY47" fmla="*/ 1709036 h 2598821"/>
              <a:gd name="csX48" fmla="*/ 3578020 w 5967667"/>
              <a:gd name="csY48" fmla="*/ 1684722 h 2598821"/>
              <a:gd name="csX49" fmla="*/ 3522850 w 5967667"/>
              <a:gd name="csY49" fmla="*/ 1665171 h 2598821"/>
              <a:gd name="csX50" fmla="*/ 3493974 w 5967667"/>
              <a:gd name="csY50" fmla="*/ 1645920 h 2598821"/>
              <a:gd name="csX51" fmla="*/ 3426598 w 5967667"/>
              <a:gd name="csY51" fmla="*/ 1588169 h 2598821"/>
              <a:gd name="csX52" fmla="*/ 3397722 w 5967667"/>
              <a:gd name="csY52" fmla="*/ 1578543 h 2598821"/>
              <a:gd name="csX53" fmla="*/ 3320720 w 5967667"/>
              <a:gd name="csY53" fmla="*/ 1511167 h 2598821"/>
              <a:gd name="csX54" fmla="*/ 3253343 w 5967667"/>
              <a:gd name="csY54" fmla="*/ 1472666 h 2598821"/>
              <a:gd name="csX55" fmla="*/ 3205217 w 5967667"/>
              <a:gd name="csY55" fmla="*/ 1443790 h 2598821"/>
              <a:gd name="csX56" fmla="*/ 3135459 w 5967667"/>
              <a:gd name="csY56" fmla="*/ 1412232 h 2598821"/>
              <a:gd name="csX57" fmla="*/ 3080088 w 5967667"/>
              <a:gd name="csY57" fmla="*/ 1366788 h 2598821"/>
              <a:gd name="csX58" fmla="*/ 3031962 w 5967667"/>
              <a:gd name="csY58" fmla="*/ 1347537 h 2598821"/>
              <a:gd name="csX59" fmla="*/ 2954960 w 5967667"/>
              <a:gd name="csY59" fmla="*/ 1299411 h 2598821"/>
              <a:gd name="csX60" fmla="*/ 2897208 w 5967667"/>
              <a:gd name="csY60" fmla="*/ 1212783 h 2598821"/>
              <a:gd name="csX61" fmla="*/ 2926084 w 5967667"/>
              <a:gd name="csY61" fmla="*/ 577516 h 2598821"/>
              <a:gd name="csX62" fmla="*/ 2916459 w 5967667"/>
              <a:gd name="csY62" fmla="*/ 308009 h 2598821"/>
              <a:gd name="csX63" fmla="*/ 2897208 w 5967667"/>
              <a:gd name="csY63" fmla="*/ 192506 h 2598821"/>
              <a:gd name="csX64" fmla="*/ 2877958 w 5967667"/>
              <a:gd name="csY64" fmla="*/ 144379 h 2598821"/>
              <a:gd name="csX65" fmla="*/ 2820206 w 5967667"/>
              <a:gd name="csY65" fmla="*/ 77002 h 2598821"/>
              <a:gd name="csX66" fmla="*/ 2791330 w 5967667"/>
              <a:gd name="csY66" fmla="*/ 38501 h 2598821"/>
              <a:gd name="csX67" fmla="*/ 2733579 w 5967667"/>
              <a:gd name="csY67" fmla="*/ 0 h 2598821"/>
              <a:gd name="csX0" fmla="*/ 2776992 w 5953329"/>
              <a:gd name="csY0" fmla="*/ 57752 h 2598821"/>
              <a:gd name="csX1" fmla="*/ 207047 w 5953329"/>
              <a:gd name="csY1" fmla="*/ 67377 h 2598821"/>
              <a:gd name="csX2" fmla="*/ 162078 w 5953329"/>
              <a:gd name="csY2" fmla="*/ 131872 h 2598821"/>
              <a:gd name="csX3" fmla="*/ 4916 w 5953329"/>
              <a:gd name="csY3" fmla="*/ 500514 h 2598821"/>
              <a:gd name="csX4" fmla="*/ 43418 w 5953329"/>
              <a:gd name="csY4" fmla="*/ 606392 h 2598821"/>
              <a:gd name="csX5" fmla="*/ 53043 w 5953329"/>
              <a:gd name="csY5" fmla="*/ 693019 h 2598821"/>
              <a:gd name="csX6" fmla="*/ 62668 w 5953329"/>
              <a:gd name="csY6" fmla="*/ 981777 h 2598821"/>
              <a:gd name="csX7" fmla="*/ 91544 w 5953329"/>
              <a:gd name="csY7" fmla="*/ 1049154 h 2598821"/>
              <a:gd name="csX8" fmla="*/ 120420 w 5953329"/>
              <a:gd name="csY8" fmla="*/ 1126156 h 2598821"/>
              <a:gd name="csX9" fmla="*/ 216672 w 5953329"/>
              <a:gd name="csY9" fmla="*/ 1232034 h 2598821"/>
              <a:gd name="csX10" fmla="*/ 264799 w 5953329"/>
              <a:gd name="csY10" fmla="*/ 1251284 h 2598821"/>
              <a:gd name="csX11" fmla="*/ 900066 w 5953329"/>
              <a:gd name="csY11" fmla="*/ 1270535 h 2598821"/>
              <a:gd name="csX12" fmla="*/ 1150323 w 5953329"/>
              <a:gd name="csY12" fmla="*/ 1578543 h 2598821"/>
              <a:gd name="csX13" fmla="*/ 1198449 w 5953329"/>
              <a:gd name="csY13" fmla="*/ 1665171 h 2598821"/>
              <a:gd name="csX14" fmla="*/ 1265826 w 5953329"/>
              <a:gd name="csY14" fmla="*/ 1761423 h 2598821"/>
              <a:gd name="csX15" fmla="*/ 1323578 w 5953329"/>
              <a:gd name="csY15" fmla="*/ 1867301 h 2598821"/>
              <a:gd name="csX16" fmla="*/ 1593085 w 5953329"/>
              <a:gd name="csY16" fmla="*/ 2146434 h 2598821"/>
              <a:gd name="csX17" fmla="*/ 1881843 w 5953329"/>
              <a:gd name="csY17" fmla="*/ 2300438 h 2598821"/>
              <a:gd name="csX18" fmla="*/ 1978095 w 5953329"/>
              <a:gd name="csY18" fmla="*/ 2338939 h 2598821"/>
              <a:gd name="csX19" fmla="*/ 2237978 w 5953329"/>
              <a:gd name="csY19" fmla="*/ 2387066 h 2598821"/>
              <a:gd name="csX20" fmla="*/ 2825119 w 5953329"/>
              <a:gd name="csY20" fmla="*/ 2464068 h 2598821"/>
              <a:gd name="csX21" fmla="*/ 3142752 w 5953329"/>
              <a:gd name="csY21" fmla="*/ 2502569 h 2598821"/>
              <a:gd name="csX22" fmla="*/ 3681767 w 5953329"/>
              <a:gd name="csY22" fmla="*/ 2521819 h 2598821"/>
              <a:gd name="csX23" fmla="*/ 4066778 w 5953329"/>
              <a:gd name="csY23" fmla="*/ 2560320 h 2598821"/>
              <a:gd name="csX24" fmla="*/ 4461413 w 5953329"/>
              <a:gd name="csY24" fmla="*/ 2569946 h 2598821"/>
              <a:gd name="csX25" fmla="*/ 4942676 w 5953329"/>
              <a:gd name="csY25" fmla="*/ 2598821 h 2598821"/>
              <a:gd name="csX26" fmla="*/ 5837826 w 5953329"/>
              <a:gd name="csY26" fmla="*/ 2569946 h 2598821"/>
              <a:gd name="csX27" fmla="*/ 5914828 w 5953329"/>
              <a:gd name="csY27" fmla="*/ 2483318 h 2598821"/>
              <a:gd name="csX28" fmla="*/ 5934079 w 5953329"/>
              <a:gd name="csY28" fmla="*/ 2300438 h 2598821"/>
              <a:gd name="csX29" fmla="*/ 5953329 w 5953329"/>
              <a:gd name="csY29" fmla="*/ 2030931 h 2598821"/>
              <a:gd name="csX30" fmla="*/ 5924453 w 5953329"/>
              <a:gd name="csY30" fmla="*/ 1366788 h 2598821"/>
              <a:gd name="csX31" fmla="*/ 5866702 w 5953329"/>
              <a:gd name="csY31" fmla="*/ 1328287 h 2598821"/>
              <a:gd name="csX32" fmla="*/ 5770449 w 5953329"/>
              <a:gd name="csY32" fmla="*/ 1309036 h 2598821"/>
              <a:gd name="csX33" fmla="*/ 5568319 w 5953329"/>
              <a:gd name="csY33" fmla="*/ 1289786 h 2598821"/>
              <a:gd name="csX34" fmla="*/ 4750171 w 5953329"/>
              <a:gd name="csY34" fmla="*/ 1309036 h 2598821"/>
              <a:gd name="csX35" fmla="*/ 4586542 w 5953329"/>
              <a:gd name="csY35" fmla="*/ 1357162 h 2598821"/>
              <a:gd name="csX36" fmla="*/ 4499914 w 5953329"/>
              <a:gd name="csY36" fmla="*/ 1386038 h 2598821"/>
              <a:gd name="csX37" fmla="*/ 4365161 w 5953329"/>
              <a:gd name="csY37" fmla="*/ 1443790 h 2598821"/>
              <a:gd name="csX38" fmla="*/ 4278533 w 5953329"/>
              <a:gd name="csY38" fmla="*/ 1501541 h 2598821"/>
              <a:gd name="csX39" fmla="*/ 4182281 w 5953329"/>
              <a:gd name="csY39" fmla="*/ 1549668 h 2598821"/>
              <a:gd name="csX40" fmla="*/ 4028276 w 5953329"/>
              <a:gd name="csY40" fmla="*/ 1645920 h 2598821"/>
              <a:gd name="csX41" fmla="*/ 3980150 w 5953329"/>
              <a:gd name="csY41" fmla="*/ 1674796 h 2598821"/>
              <a:gd name="csX42" fmla="*/ 3932024 w 5953329"/>
              <a:gd name="csY42" fmla="*/ 1713297 h 2598821"/>
              <a:gd name="csX43" fmla="*/ 3874272 w 5953329"/>
              <a:gd name="csY43" fmla="*/ 1742173 h 2598821"/>
              <a:gd name="csX44" fmla="*/ 3826146 w 5953329"/>
              <a:gd name="csY44" fmla="*/ 1780674 h 2598821"/>
              <a:gd name="csX45" fmla="*/ 3749144 w 5953329"/>
              <a:gd name="csY45" fmla="*/ 1819175 h 2598821"/>
              <a:gd name="csX46" fmla="*/ 3688510 w 5953329"/>
              <a:gd name="csY46" fmla="*/ 1756962 h 2598821"/>
              <a:gd name="csX47" fmla="*/ 3623815 w 5953329"/>
              <a:gd name="csY47" fmla="*/ 1709036 h 2598821"/>
              <a:gd name="csX48" fmla="*/ 3563682 w 5953329"/>
              <a:gd name="csY48" fmla="*/ 1684722 h 2598821"/>
              <a:gd name="csX49" fmla="*/ 3508512 w 5953329"/>
              <a:gd name="csY49" fmla="*/ 1665171 h 2598821"/>
              <a:gd name="csX50" fmla="*/ 3479636 w 5953329"/>
              <a:gd name="csY50" fmla="*/ 1645920 h 2598821"/>
              <a:gd name="csX51" fmla="*/ 3412260 w 5953329"/>
              <a:gd name="csY51" fmla="*/ 1588169 h 2598821"/>
              <a:gd name="csX52" fmla="*/ 3383384 w 5953329"/>
              <a:gd name="csY52" fmla="*/ 1578543 h 2598821"/>
              <a:gd name="csX53" fmla="*/ 3306382 w 5953329"/>
              <a:gd name="csY53" fmla="*/ 1511167 h 2598821"/>
              <a:gd name="csX54" fmla="*/ 3239005 w 5953329"/>
              <a:gd name="csY54" fmla="*/ 1472666 h 2598821"/>
              <a:gd name="csX55" fmla="*/ 3190879 w 5953329"/>
              <a:gd name="csY55" fmla="*/ 1443790 h 2598821"/>
              <a:gd name="csX56" fmla="*/ 3121121 w 5953329"/>
              <a:gd name="csY56" fmla="*/ 1412232 h 2598821"/>
              <a:gd name="csX57" fmla="*/ 3065750 w 5953329"/>
              <a:gd name="csY57" fmla="*/ 1366788 h 2598821"/>
              <a:gd name="csX58" fmla="*/ 3017624 w 5953329"/>
              <a:gd name="csY58" fmla="*/ 1347537 h 2598821"/>
              <a:gd name="csX59" fmla="*/ 2940622 w 5953329"/>
              <a:gd name="csY59" fmla="*/ 1299411 h 2598821"/>
              <a:gd name="csX60" fmla="*/ 2882870 w 5953329"/>
              <a:gd name="csY60" fmla="*/ 1212783 h 2598821"/>
              <a:gd name="csX61" fmla="*/ 2911746 w 5953329"/>
              <a:gd name="csY61" fmla="*/ 577516 h 2598821"/>
              <a:gd name="csX62" fmla="*/ 2902121 w 5953329"/>
              <a:gd name="csY62" fmla="*/ 308009 h 2598821"/>
              <a:gd name="csX63" fmla="*/ 2882870 w 5953329"/>
              <a:gd name="csY63" fmla="*/ 192506 h 2598821"/>
              <a:gd name="csX64" fmla="*/ 2863620 w 5953329"/>
              <a:gd name="csY64" fmla="*/ 144379 h 2598821"/>
              <a:gd name="csX65" fmla="*/ 2805868 w 5953329"/>
              <a:gd name="csY65" fmla="*/ 77002 h 2598821"/>
              <a:gd name="csX66" fmla="*/ 2776992 w 5953329"/>
              <a:gd name="csY66" fmla="*/ 38501 h 2598821"/>
              <a:gd name="csX67" fmla="*/ 2719241 w 5953329"/>
              <a:gd name="csY67" fmla="*/ 0 h 2598821"/>
              <a:gd name="csX0" fmla="*/ 2734685 w 5911022"/>
              <a:gd name="csY0" fmla="*/ 57752 h 2598821"/>
              <a:gd name="csX1" fmla="*/ 164740 w 5911022"/>
              <a:gd name="csY1" fmla="*/ 67377 h 2598821"/>
              <a:gd name="csX2" fmla="*/ 119771 w 5911022"/>
              <a:gd name="csY2" fmla="*/ 131872 h 2598821"/>
              <a:gd name="csX3" fmla="*/ 110246 w 5911022"/>
              <a:gd name="csY3" fmla="*/ 543376 h 2598821"/>
              <a:gd name="csX4" fmla="*/ 1111 w 5911022"/>
              <a:gd name="csY4" fmla="*/ 606392 h 2598821"/>
              <a:gd name="csX5" fmla="*/ 10736 w 5911022"/>
              <a:gd name="csY5" fmla="*/ 693019 h 2598821"/>
              <a:gd name="csX6" fmla="*/ 20361 w 5911022"/>
              <a:gd name="csY6" fmla="*/ 981777 h 2598821"/>
              <a:gd name="csX7" fmla="*/ 49237 w 5911022"/>
              <a:gd name="csY7" fmla="*/ 1049154 h 2598821"/>
              <a:gd name="csX8" fmla="*/ 78113 w 5911022"/>
              <a:gd name="csY8" fmla="*/ 1126156 h 2598821"/>
              <a:gd name="csX9" fmla="*/ 174365 w 5911022"/>
              <a:gd name="csY9" fmla="*/ 1232034 h 2598821"/>
              <a:gd name="csX10" fmla="*/ 222492 w 5911022"/>
              <a:gd name="csY10" fmla="*/ 1251284 h 2598821"/>
              <a:gd name="csX11" fmla="*/ 857759 w 5911022"/>
              <a:gd name="csY11" fmla="*/ 1270535 h 2598821"/>
              <a:gd name="csX12" fmla="*/ 1108016 w 5911022"/>
              <a:gd name="csY12" fmla="*/ 1578543 h 2598821"/>
              <a:gd name="csX13" fmla="*/ 1156142 w 5911022"/>
              <a:gd name="csY13" fmla="*/ 1665171 h 2598821"/>
              <a:gd name="csX14" fmla="*/ 1223519 w 5911022"/>
              <a:gd name="csY14" fmla="*/ 1761423 h 2598821"/>
              <a:gd name="csX15" fmla="*/ 1281271 w 5911022"/>
              <a:gd name="csY15" fmla="*/ 1867301 h 2598821"/>
              <a:gd name="csX16" fmla="*/ 1550778 w 5911022"/>
              <a:gd name="csY16" fmla="*/ 2146434 h 2598821"/>
              <a:gd name="csX17" fmla="*/ 1839536 w 5911022"/>
              <a:gd name="csY17" fmla="*/ 2300438 h 2598821"/>
              <a:gd name="csX18" fmla="*/ 1935788 w 5911022"/>
              <a:gd name="csY18" fmla="*/ 2338939 h 2598821"/>
              <a:gd name="csX19" fmla="*/ 2195671 w 5911022"/>
              <a:gd name="csY19" fmla="*/ 2387066 h 2598821"/>
              <a:gd name="csX20" fmla="*/ 2782812 w 5911022"/>
              <a:gd name="csY20" fmla="*/ 2464068 h 2598821"/>
              <a:gd name="csX21" fmla="*/ 3100445 w 5911022"/>
              <a:gd name="csY21" fmla="*/ 2502569 h 2598821"/>
              <a:gd name="csX22" fmla="*/ 3639460 w 5911022"/>
              <a:gd name="csY22" fmla="*/ 2521819 h 2598821"/>
              <a:gd name="csX23" fmla="*/ 4024471 w 5911022"/>
              <a:gd name="csY23" fmla="*/ 2560320 h 2598821"/>
              <a:gd name="csX24" fmla="*/ 4419106 w 5911022"/>
              <a:gd name="csY24" fmla="*/ 2569946 h 2598821"/>
              <a:gd name="csX25" fmla="*/ 4900369 w 5911022"/>
              <a:gd name="csY25" fmla="*/ 2598821 h 2598821"/>
              <a:gd name="csX26" fmla="*/ 5795519 w 5911022"/>
              <a:gd name="csY26" fmla="*/ 2569946 h 2598821"/>
              <a:gd name="csX27" fmla="*/ 5872521 w 5911022"/>
              <a:gd name="csY27" fmla="*/ 2483318 h 2598821"/>
              <a:gd name="csX28" fmla="*/ 5891772 w 5911022"/>
              <a:gd name="csY28" fmla="*/ 2300438 h 2598821"/>
              <a:gd name="csX29" fmla="*/ 5911022 w 5911022"/>
              <a:gd name="csY29" fmla="*/ 2030931 h 2598821"/>
              <a:gd name="csX30" fmla="*/ 5882146 w 5911022"/>
              <a:gd name="csY30" fmla="*/ 1366788 h 2598821"/>
              <a:gd name="csX31" fmla="*/ 5824395 w 5911022"/>
              <a:gd name="csY31" fmla="*/ 1328287 h 2598821"/>
              <a:gd name="csX32" fmla="*/ 5728142 w 5911022"/>
              <a:gd name="csY32" fmla="*/ 1309036 h 2598821"/>
              <a:gd name="csX33" fmla="*/ 5526012 w 5911022"/>
              <a:gd name="csY33" fmla="*/ 1289786 h 2598821"/>
              <a:gd name="csX34" fmla="*/ 4707864 w 5911022"/>
              <a:gd name="csY34" fmla="*/ 1309036 h 2598821"/>
              <a:gd name="csX35" fmla="*/ 4544235 w 5911022"/>
              <a:gd name="csY35" fmla="*/ 1357162 h 2598821"/>
              <a:gd name="csX36" fmla="*/ 4457607 w 5911022"/>
              <a:gd name="csY36" fmla="*/ 1386038 h 2598821"/>
              <a:gd name="csX37" fmla="*/ 4322854 w 5911022"/>
              <a:gd name="csY37" fmla="*/ 1443790 h 2598821"/>
              <a:gd name="csX38" fmla="*/ 4236226 w 5911022"/>
              <a:gd name="csY38" fmla="*/ 1501541 h 2598821"/>
              <a:gd name="csX39" fmla="*/ 4139974 w 5911022"/>
              <a:gd name="csY39" fmla="*/ 1549668 h 2598821"/>
              <a:gd name="csX40" fmla="*/ 3985969 w 5911022"/>
              <a:gd name="csY40" fmla="*/ 1645920 h 2598821"/>
              <a:gd name="csX41" fmla="*/ 3937843 w 5911022"/>
              <a:gd name="csY41" fmla="*/ 1674796 h 2598821"/>
              <a:gd name="csX42" fmla="*/ 3889717 w 5911022"/>
              <a:gd name="csY42" fmla="*/ 1713297 h 2598821"/>
              <a:gd name="csX43" fmla="*/ 3831965 w 5911022"/>
              <a:gd name="csY43" fmla="*/ 1742173 h 2598821"/>
              <a:gd name="csX44" fmla="*/ 3783839 w 5911022"/>
              <a:gd name="csY44" fmla="*/ 1780674 h 2598821"/>
              <a:gd name="csX45" fmla="*/ 3706837 w 5911022"/>
              <a:gd name="csY45" fmla="*/ 1819175 h 2598821"/>
              <a:gd name="csX46" fmla="*/ 3646203 w 5911022"/>
              <a:gd name="csY46" fmla="*/ 1756962 h 2598821"/>
              <a:gd name="csX47" fmla="*/ 3581508 w 5911022"/>
              <a:gd name="csY47" fmla="*/ 1709036 h 2598821"/>
              <a:gd name="csX48" fmla="*/ 3521375 w 5911022"/>
              <a:gd name="csY48" fmla="*/ 1684722 h 2598821"/>
              <a:gd name="csX49" fmla="*/ 3466205 w 5911022"/>
              <a:gd name="csY49" fmla="*/ 1665171 h 2598821"/>
              <a:gd name="csX50" fmla="*/ 3437329 w 5911022"/>
              <a:gd name="csY50" fmla="*/ 1645920 h 2598821"/>
              <a:gd name="csX51" fmla="*/ 3369953 w 5911022"/>
              <a:gd name="csY51" fmla="*/ 1588169 h 2598821"/>
              <a:gd name="csX52" fmla="*/ 3341077 w 5911022"/>
              <a:gd name="csY52" fmla="*/ 1578543 h 2598821"/>
              <a:gd name="csX53" fmla="*/ 3264075 w 5911022"/>
              <a:gd name="csY53" fmla="*/ 1511167 h 2598821"/>
              <a:gd name="csX54" fmla="*/ 3196698 w 5911022"/>
              <a:gd name="csY54" fmla="*/ 1472666 h 2598821"/>
              <a:gd name="csX55" fmla="*/ 3148572 w 5911022"/>
              <a:gd name="csY55" fmla="*/ 1443790 h 2598821"/>
              <a:gd name="csX56" fmla="*/ 3078814 w 5911022"/>
              <a:gd name="csY56" fmla="*/ 1412232 h 2598821"/>
              <a:gd name="csX57" fmla="*/ 3023443 w 5911022"/>
              <a:gd name="csY57" fmla="*/ 1366788 h 2598821"/>
              <a:gd name="csX58" fmla="*/ 2975317 w 5911022"/>
              <a:gd name="csY58" fmla="*/ 1347537 h 2598821"/>
              <a:gd name="csX59" fmla="*/ 2898315 w 5911022"/>
              <a:gd name="csY59" fmla="*/ 1299411 h 2598821"/>
              <a:gd name="csX60" fmla="*/ 2840563 w 5911022"/>
              <a:gd name="csY60" fmla="*/ 1212783 h 2598821"/>
              <a:gd name="csX61" fmla="*/ 2869439 w 5911022"/>
              <a:gd name="csY61" fmla="*/ 577516 h 2598821"/>
              <a:gd name="csX62" fmla="*/ 2859814 w 5911022"/>
              <a:gd name="csY62" fmla="*/ 308009 h 2598821"/>
              <a:gd name="csX63" fmla="*/ 2840563 w 5911022"/>
              <a:gd name="csY63" fmla="*/ 192506 h 2598821"/>
              <a:gd name="csX64" fmla="*/ 2821313 w 5911022"/>
              <a:gd name="csY64" fmla="*/ 144379 h 2598821"/>
              <a:gd name="csX65" fmla="*/ 2763561 w 5911022"/>
              <a:gd name="csY65" fmla="*/ 77002 h 2598821"/>
              <a:gd name="csX66" fmla="*/ 2734685 w 5911022"/>
              <a:gd name="csY66" fmla="*/ 38501 h 2598821"/>
              <a:gd name="csX67" fmla="*/ 2676934 w 5911022"/>
              <a:gd name="csY67" fmla="*/ 0 h 2598821"/>
              <a:gd name="csX0" fmla="*/ 2731877 w 5908214"/>
              <a:gd name="csY0" fmla="*/ 57752 h 2598821"/>
              <a:gd name="csX1" fmla="*/ 161932 w 5908214"/>
              <a:gd name="csY1" fmla="*/ 67377 h 2598821"/>
              <a:gd name="csX2" fmla="*/ 116963 w 5908214"/>
              <a:gd name="csY2" fmla="*/ 131872 h 2598821"/>
              <a:gd name="csX3" fmla="*/ 107438 w 5908214"/>
              <a:gd name="csY3" fmla="*/ 543376 h 2598821"/>
              <a:gd name="csX4" fmla="*/ 126890 w 5908214"/>
              <a:gd name="csY4" fmla="*/ 1101692 h 2598821"/>
              <a:gd name="csX5" fmla="*/ 7928 w 5908214"/>
              <a:gd name="csY5" fmla="*/ 693019 h 2598821"/>
              <a:gd name="csX6" fmla="*/ 17553 w 5908214"/>
              <a:gd name="csY6" fmla="*/ 981777 h 2598821"/>
              <a:gd name="csX7" fmla="*/ 46429 w 5908214"/>
              <a:gd name="csY7" fmla="*/ 1049154 h 2598821"/>
              <a:gd name="csX8" fmla="*/ 75305 w 5908214"/>
              <a:gd name="csY8" fmla="*/ 1126156 h 2598821"/>
              <a:gd name="csX9" fmla="*/ 171557 w 5908214"/>
              <a:gd name="csY9" fmla="*/ 1232034 h 2598821"/>
              <a:gd name="csX10" fmla="*/ 219684 w 5908214"/>
              <a:gd name="csY10" fmla="*/ 1251284 h 2598821"/>
              <a:gd name="csX11" fmla="*/ 854951 w 5908214"/>
              <a:gd name="csY11" fmla="*/ 1270535 h 2598821"/>
              <a:gd name="csX12" fmla="*/ 1105208 w 5908214"/>
              <a:gd name="csY12" fmla="*/ 1578543 h 2598821"/>
              <a:gd name="csX13" fmla="*/ 1153334 w 5908214"/>
              <a:gd name="csY13" fmla="*/ 1665171 h 2598821"/>
              <a:gd name="csX14" fmla="*/ 1220711 w 5908214"/>
              <a:gd name="csY14" fmla="*/ 1761423 h 2598821"/>
              <a:gd name="csX15" fmla="*/ 1278463 w 5908214"/>
              <a:gd name="csY15" fmla="*/ 1867301 h 2598821"/>
              <a:gd name="csX16" fmla="*/ 1547970 w 5908214"/>
              <a:gd name="csY16" fmla="*/ 2146434 h 2598821"/>
              <a:gd name="csX17" fmla="*/ 1836728 w 5908214"/>
              <a:gd name="csY17" fmla="*/ 2300438 h 2598821"/>
              <a:gd name="csX18" fmla="*/ 1932980 w 5908214"/>
              <a:gd name="csY18" fmla="*/ 2338939 h 2598821"/>
              <a:gd name="csX19" fmla="*/ 2192863 w 5908214"/>
              <a:gd name="csY19" fmla="*/ 2387066 h 2598821"/>
              <a:gd name="csX20" fmla="*/ 2780004 w 5908214"/>
              <a:gd name="csY20" fmla="*/ 2464068 h 2598821"/>
              <a:gd name="csX21" fmla="*/ 3097637 w 5908214"/>
              <a:gd name="csY21" fmla="*/ 2502569 h 2598821"/>
              <a:gd name="csX22" fmla="*/ 3636652 w 5908214"/>
              <a:gd name="csY22" fmla="*/ 2521819 h 2598821"/>
              <a:gd name="csX23" fmla="*/ 4021663 w 5908214"/>
              <a:gd name="csY23" fmla="*/ 2560320 h 2598821"/>
              <a:gd name="csX24" fmla="*/ 4416298 w 5908214"/>
              <a:gd name="csY24" fmla="*/ 2569946 h 2598821"/>
              <a:gd name="csX25" fmla="*/ 4897561 w 5908214"/>
              <a:gd name="csY25" fmla="*/ 2598821 h 2598821"/>
              <a:gd name="csX26" fmla="*/ 5792711 w 5908214"/>
              <a:gd name="csY26" fmla="*/ 2569946 h 2598821"/>
              <a:gd name="csX27" fmla="*/ 5869713 w 5908214"/>
              <a:gd name="csY27" fmla="*/ 2483318 h 2598821"/>
              <a:gd name="csX28" fmla="*/ 5888964 w 5908214"/>
              <a:gd name="csY28" fmla="*/ 2300438 h 2598821"/>
              <a:gd name="csX29" fmla="*/ 5908214 w 5908214"/>
              <a:gd name="csY29" fmla="*/ 2030931 h 2598821"/>
              <a:gd name="csX30" fmla="*/ 5879338 w 5908214"/>
              <a:gd name="csY30" fmla="*/ 1366788 h 2598821"/>
              <a:gd name="csX31" fmla="*/ 5821587 w 5908214"/>
              <a:gd name="csY31" fmla="*/ 1328287 h 2598821"/>
              <a:gd name="csX32" fmla="*/ 5725334 w 5908214"/>
              <a:gd name="csY32" fmla="*/ 1309036 h 2598821"/>
              <a:gd name="csX33" fmla="*/ 5523204 w 5908214"/>
              <a:gd name="csY33" fmla="*/ 1289786 h 2598821"/>
              <a:gd name="csX34" fmla="*/ 4705056 w 5908214"/>
              <a:gd name="csY34" fmla="*/ 1309036 h 2598821"/>
              <a:gd name="csX35" fmla="*/ 4541427 w 5908214"/>
              <a:gd name="csY35" fmla="*/ 1357162 h 2598821"/>
              <a:gd name="csX36" fmla="*/ 4454799 w 5908214"/>
              <a:gd name="csY36" fmla="*/ 1386038 h 2598821"/>
              <a:gd name="csX37" fmla="*/ 4320046 w 5908214"/>
              <a:gd name="csY37" fmla="*/ 1443790 h 2598821"/>
              <a:gd name="csX38" fmla="*/ 4233418 w 5908214"/>
              <a:gd name="csY38" fmla="*/ 1501541 h 2598821"/>
              <a:gd name="csX39" fmla="*/ 4137166 w 5908214"/>
              <a:gd name="csY39" fmla="*/ 1549668 h 2598821"/>
              <a:gd name="csX40" fmla="*/ 3983161 w 5908214"/>
              <a:gd name="csY40" fmla="*/ 1645920 h 2598821"/>
              <a:gd name="csX41" fmla="*/ 3935035 w 5908214"/>
              <a:gd name="csY41" fmla="*/ 1674796 h 2598821"/>
              <a:gd name="csX42" fmla="*/ 3886909 w 5908214"/>
              <a:gd name="csY42" fmla="*/ 1713297 h 2598821"/>
              <a:gd name="csX43" fmla="*/ 3829157 w 5908214"/>
              <a:gd name="csY43" fmla="*/ 1742173 h 2598821"/>
              <a:gd name="csX44" fmla="*/ 3781031 w 5908214"/>
              <a:gd name="csY44" fmla="*/ 1780674 h 2598821"/>
              <a:gd name="csX45" fmla="*/ 3704029 w 5908214"/>
              <a:gd name="csY45" fmla="*/ 1819175 h 2598821"/>
              <a:gd name="csX46" fmla="*/ 3643395 w 5908214"/>
              <a:gd name="csY46" fmla="*/ 1756962 h 2598821"/>
              <a:gd name="csX47" fmla="*/ 3578700 w 5908214"/>
              <a:gd name="csY47" fmla="*/ 1709036 h 2598821"/>
              <a:gd name="csX48" fmla="*/ 3518567 w 5908214"/>
              <a:gd name="csY48" fmla="*/ 1684722 h 2598821"/>
              <a:gd name="csX49" fmla="*/ 3463397 w 5908214"/>
              <a:gd name="csY49" fmla="*/ 1665171 h 2598821"/>
              <a:gd name="csX50" fmla="*/ 3434521 w 5908214"/>
              <a:gd name="csY50" fmla="*/ 1645920 h 2598821"/>
              <a:gd name="csX51" fmla="*/ 3367145 w 5908214"/>
              <a:gd name="csY51" fmla="*/ 1588169 h 2598821"/>
              <a:gd name="csX52" fmla="*/ 3338269 w 5908214"/>
              <a:gd name="csY52" fmla="*/ 1578543 h 2598821"/>
              <a:gd name="csX53" fmla="*/ 3261267 w 5908214"/>
              <a:gd name="csY53" fmla="*/ 1511167 h 2598821"/>
              <a:gd name="csX54" fmla="*/ 3193890 w 5908214"/>
              <a:gd name="csY54" fmla="*/ 1472666 h 2598821"/>
              <a:gd name="csX55" fmla="*/ 3145764 w 5908214"/>
              <a:gd name="csY55" fmla="*/ 1443790 h 2598821"/>
              <a:gd name="csX56" fmla="*/ 3076006 w 5908214"/>
              <a:gd name="csY56" fmla="*/ 1412232 h 2598821"/>
              <a:gd name="csX57" fmla="*/ 3020635 w 5908214"/>
              <a:gd name="csY57" fmla="*/ 1366788 h 2598821"/>
              <a:gd name="csX58" fmla="*/ 2972509 w 5908214"/>
              <a:gd name="csY58" fmla="*/ 1347537 h 2598821"/>
              <a:gd name="csX59" fmla="*/ 2895507 w 5908214"/>
              <a:gd name="csY59" fmla="*/ 1299411 h 2598821"/>
              <a:gd name="csX60" fmla="*/ 2837755 w 5908214"/>
              <a:gd name="csY60" fmla="*/ 1212783 h 2598821"/>
              <a:gd name="csX61" fmla="*/ 2866631 w 5908214"/>
              <a:gd name="csY61" fmla="*/ 577516 h 2598821"/>
              <a:gd name="csX62" fmla="*/ 2857006 w 5908214"/>
              <a:gd name="csY62" fmla="*/ 308009 h 2598821"/>
              <a:gd name="csX63" fmla="*/ 2837755 w 5908214"/>
              <a:gd name="csY63" fmla="*/ 192506 h 2598821"/>
              <a:gd name="csX64" fmla="*/ 2818505 w 5908214"/>
              <a:gd name="csY64" fmla="*/ 144379 h 2598821"/>
              <a:gd name="csX65" fmla="*/ 2760753 w 5908214"/>
              <a:gd name="csY65" fmla="*/ 77002 h 2598821"/>
              <a:gd name="csX66" fmla="*/ 2731877 w 5908214"/>
              <a:gd name="csY66" fmla="*/ 38501 h 2598821"/>
              <a:gd name="csX67" fmla="*/ 2674126 w 5908214"/>
              <a:gd name="csY67" fmla="*/ 0 h 2598821"/>
              <a:gd name="csX0" fmla="*/ 2719192 w 5895529"/>
              <a:gd name="csY0" fmla="*/ 57752 h 2598821"/>
              <a:gd name="csX1" fmla="*/ 149247 w 5895529"/>
              <a:gd name="csY1" fmla="*/ 67377 h 2598821"/>
              <a:gd name="csX2" fmla="*/ 104278 w 5895529"/>
              <a:gd name="csY2" fmla="*/ 131872 h 2598821"/>
              <a:gd name="csX3" fmla="*/ 94753 w 5895529"/>
              <a:gd name="csY3" fmla="*/ 543376 h 2598821"/>
              <a:gd name="csX4" fmla="*/ 114205 w 5895529"/>
              <a:gd name="csY4" fmla="*/ 1101692 h 2598821"/>
              <a:gd name="csX5" fmla="*/ 142881 w 5895529"/>
              <a:gd name="csY5" fmla="*/ 1214512 h 2598821"/>
              <a:gd name="csX6" fmla="*/ 4868 w 5895529"/>
              <a:gd name="csY6" fmla="*/ 981777 h 2598821"/>
              <a:gd name="csX7" fmla="*/ 33744 w 5895529"/>
              <a:gd name="csY7" fmla="*/ 1049154 h 2598821"/>
              <a:gd name="csX8" fmla="*/ 62620 w 5895529"/>
              <a:gd name="csY8" fmla="*/ 1126156 h 2598821"/>
              <a:gd name="csX9" fmla="*/ 158872 w 5895529"/>
              <a:gd name="csY9" fmla="*/ 1232034 h 2598821"/>
              <a:gd name="csX10" fmla="*/ 206999 w 5895529"/>
              <a:gd name="csY10" fmla="*/ 1251284 h 2598821"/>
              <a:gd name="csX11" fmla="*/ 842266 w 5895529"/>
              <a:gd name="csY11" fmla="*/ 1270535 h 2598821"/>
              <a:gd name="csX12" fmla="*/ 1092523 w 5895529"/>
              <a:gd name="csY12" fmla="*/ 1578543 h 2598821"/>
              <a:gd name="csX13" fmla="*/ 1140649 w 5895529"/>
              <a:gd name="csY13" fmla="*/ 1665171 h 2598821"/>
              <a:gd name="csX14" fmla="*/ 1208026 w 5895529"/>
              <a:gd name="csY14" fmla="*/ 1761423 h 2598821"/>
              <a:gd name="csX15" fmla="*/ 1265778 w 5895529"/>
              <a:gd name="csY15" fmla="*/ 1867301 h 2598821"/>
              <a:gd name="csX16" fmla="*/ 1535285 w 5895529"/>
              <a:gd name="csY16" fmla="*/ 2146434 h 2598821"/>
              <a:gd name="csX17" fmla="*/ 1824043 w 5895529"/>
              <a:gd name="csY17" fmla="*/ 2300438 h 2598821"/>
              <a:gd name="csX18" fmla="*/ 1920295 w 5895529"/>
              <a:gd name="csY18" fmla="*/ 2338939 h 2598821"/>
              <a:gd name="csX19" fmla="*/ 2180178 w 5895529"/>
              <a:gd name="csY19" fmla="*/ 2387066 h 2598821"/>
              <a:gd name="csX20" fmla="*/ 2767319 w 5895529"/>
              <a:gd name="csY20" fmla="*/ 2464068 h 2598821"/>
              <a:gd name="csX21" fmla="*/ 3084952 w 5895529"/>
              <a:gd name="csY21" fmla="*/ 2502569 h 2598821"/>
              <a:gd name="csX22" fmla="*/ 3623967 w 5895529"/>
              <a:gd name="csY22" fmla="*/ 2521819 h 2598821"/>
              <a:gd name="csX23" fmla="*/ 4008978 w 5895529"/>
              <a:gd name="csY23" fmla="*/ 2560320 h 2598821"/>
              <a:gd name="csX24" fmla="*/ 4403613 w 5895529"/>
              <a:gd name="csY24" fmla="*/ 2569946 h 2598821"/>
              <a:gd name="csX25" fmla="*/ 4884876 w 5895529"/>
              <a:gd name="csY25" fmla="*/ 2598821 h 2598821"/>
              <a:gd name="csX26" fmla="*/ 5780026 w 5895529"/>
              <a:gd name="csY26" fmla="*/ 2569946 h 2598821"/>
              <a:gd name="csX27" fmla="*/ 5857028 w 5895529"/>
              <a:gd name="csY27" fmla="*/ 2483318 h 2598821"/>
              <a:gd name="csX28" fmla="*/ 5876279 w 5895529"/>
              <a:gd name="csY28" fmla="*/ 2300438 h 2598821"/>
              <a:gd name="csX29" fmla="*/ 5895529 w 5895529"/>
              <a:gd name="csY29" fmla="*/ 2030931 h 2598821"/>
              <a:gd name="csX30" fmla="*/ 5866653 w 5895529"/>
              <a:gd name="csY30" fmla="*/ 1366788 h 2598821"/>
              <a:gd name="csX31" fmla="*/ 5808902 w 5895529"/>
              <a:gd name="csY31" fmla="*/ 1328287 h 2598821"/>
              <a:gd name="csX32" fmla="*/ 5712649 w 5895529"/>
              <a:gd name="csY32" fmla="*/ 1309036 h 2598821"/>
              <a:gd name="csX33" fmla="*/ 5510519 w 5895529"/>
              <a:gd name="csY33" fmla="*/ 1289786 h 2598821"/>
              <a:gd name="csX34" fmla="*/ 4692371 w 5895529"/>
              <a:gd name="csY34" fmla="*/ 1309036 h 2598821"/>
              <a:gd name="csX35" fmla="*/ 4528742 w 5895529"/>
              <a:gd name="csY35" fmla="*/ 1357162 h 2598821"/>
              <a:gd name="csX36" fmla="*/ 4442114 w 5895529"/>
              <a:gd name="csY36" fmla="*/ 1386038 h 2598821"/>
              <a:gd name="csX37" fmla="*/ 4307361 w 5895529"/>
              <a:gd name="csY37" fmla="*/ 1443790 h 2598821"/>
              <a:gd name="csX38" fmla="*/ 4220733 w 5895529"/>
              <a:gd name="csY38" fmla="*/ 1501541 h 2598821"/>
              <a:gd name="csX39" fmla="*/ 4124481 w 5895529"/>
              <a:gd name="csY39" fmla="*/ 1549668 h 2598821"/>
              <a:gd name="csX40" fmla="*/ 3970476 w 5895529"/>
              <a:gd name="csY40" fmla="*/ 1645920 h 2598821"/>
              <a:gd name="csX41" fmla="*/ 3922350 w 5895529"/>
              <a:gd name="csY41" fmla="*/ 1674796 h 2598821"/>
              <a:gd name="csX42" fmla="*/ 3874224 w 5895529"/>
              <a:gd name="csY42" fmla="*/ 1713297 h 2598821"/>
              <a:gd name="csX43" fmla="*/ 3816472 w 5895529"/>
              <a:gd name="csY43" fmla="*/ 1742173 h 2598821"/>
              <a:gd name="csX44" fmla="*/ 3768346 w 5895529"/>
              <a:gd name="csY44" fmla="*/ 1780674 h 2598821"/>
              <a:gd name="csX45" fmla="*/ 3691344 w 5895529"/>
              <a:gd name="csY45" fmla="*/ 1819175 h 2598821"/>
              <a:gd name="csX46" fmla="*/ 3630710 w 5895529"/>
              <a:gd name="csY46" fmla="*/ 1756962 h 2598821"/>
              <a:gd name="csX47" fmla="*/ 3566015 w 5895529"/>
              <a:gd name="csY47" fmla="*/ 1709036 h 2598821"/>
              <a:gd name="csX48" fmla="*/ 3505882 w 5895529"/>
              <a:gd name="csY48" fmla="*/ 1684722 h 2598821"/>
              <a:gd name="csX49" fmla="*/ 3450712 w 5895529"/>
              <a:gd name="csY49" fmla="*/ 1665171 h 2598821"/>
              <a:gd name="csX50" fmla="*/ 3421836 w 5895529"/>
              <a:gd name="csY50" fmla="*/ 1645920 h 2598821"/>
              <a:gd name="csX51" fmla="*/ 3354460 w 5895529"/>
              <a:gd name="csY51" fmla="*/ 1588169 h 2598821"/>
              <a:gd name="csX52" fmla="*/ 3325584 w 5895529"/>
              <a:gd name="csY52" fmla="*/ 1578543 h 2598821"/>
              <a:gd name="csX53" fmla="*/ 3248582 w 5895529"/>
              <a:gd name="csY53" fmla="*/ 1511167 h 2598821"/>
              <a:gd name="csX54" fmla="*/ 3181205 w 5895529"/>
              <a:gd name="csY54" fmla="*/ 1472666 h 2598821"/>
              <a:gd name="csX55" fmla="*/ 3133079 w 5895529"/>
              <a:gd name="csY55" fmla="*/ 1443790 h 2598821"/>
              <a:gd name="csX56" fmla="*/ 3063321 w 5895529"/>
              <a:gd name="csY56" fmla="*/ 1412232 h 2598821"/>
              <a:gd name="csX57" fmla="*/ 3007950 w 5895529"/>
              <a:gd name="csY57" fmla="*/ 1366788 h 2598821"/>
              <a:gd name="csX58" fmla="*/ 2959824 w 5895529"/>
              <a:gd name="csY58" fmla="*/ 1347537 h 2598821"/>
              <a:gd name="csX59" fmla="*/ 2882822 w 5895529"/>
              <a:gd name="csY59" fmla="*/ 1299411 h 2598821"/>
              <a:gd name="csX60" fmla="*/ 2825070 w 5895529"/>
              <a:gd name="csY60" fmla="*/ 1212783 h 2598821"/>
              <a:gd name="csX61" fmla="*/ 2853946 w 5895529"/>
              <a:gd name="csY61" fmla="*/ 577516 h 2598821"/>
              <a:gd name="csX62" fmla="*/ 2844321 w 5895529"/>
              <a:gd name="csY62" fmla="*/ 308009 h 2598821"/>
              <a:gd name="csX63" fmla="*/ 2825070 w 5895529"/>
              <a:gd name="csY63" fmla="*/ 192506 h 2598821"/>
              <a:gd name="csX64" fmla="*/ 2805820 w 5895529"/>
              <a:gd name="csY64" fmla="*/ 144379 h 2598821"/>
              <a:gd name="csX65" fmla="*/ 2748068 w 5895529"/>
              <a:gd name="csY65" fmla="*/ 77002 h 2598821"/>
              <a:gd name="csX66" fmla="*/ 2719192 w 5895529"/>
              <a:gd name="csY66" fmla="*/ 38501 h 2598821"/>
              <a:gd name="csX67" fmla="*/ 2661441 w 5895529"/>
              <a:gd name="csY67" fmla="*/ 0 h 2598821"/>
              <a:gd name="csX0" fmla="*/ 2689962 w 5866299"/>
              <a:gd name="csY0" fmla="*/ 57752 h 2598821"/>
              <a:gd name="csX1" fmla="*/ 120017 w 5866299"/>
              <a:gd name="csY1" fmla="*/ 67377 h 2598821"/>
              <a:gd name="csX2" fmla="*/ 75048 w 5866299"/>
              <a:gd name="csY2" fmla="*/ 131872 h 2598821"/>
              <a:gd name="csX3" fmla="*/ 65523 w 5866299"/>
              <a:gd name="csY3" fmla="*/ 543376 h 2598821"/>
              <a:gd name="csX4" fmla="*/ 84975 w 5866299"/>
              <a:gd name="csY4" fmla="*/ 1101692 h 2598821"/>
              <a:gd name="csX5" fmla="*/ 113651 w 5866299"/>
              <a:gd name="csY5" fmla="*/ 1214512 h 2598821"/>
              <a:gd name="csX6" fmla="*/ 130419 w 5866299"/>
              <a:gd name="csY6" fmla="*/ 1222283 h 2598821"/>
              <a:gd name="csX7" fmla="*/ 4514 w 5866299"/>
              <a:gd name="csY7" fmla="*/ 1049154 h 2598821"/>
              <a:gd name="csX8" fmla="*/ 33390 w 5866299"/>
              <a:gd name="csY8" fmla="*/ 1126156 h 2598821"/>
              <a:gd name="csX9" fmla="*/ 129642 w 5866299"/>
              <a:gd name="csY9" fmla="*/ 1232034 h 2598821"/>
              <a:gd name="csX10" fmla="*/ 177769 w 5866299"/>
              <a:gd name="csY10" fmla="*/ 1251284 h 2598821"/>
              <a:gd name="csX11" fmla="*/ 813036 w 5866299"/>
              <a:gd name="csY11" fmla="*/ 1270535 h 2598821"/>
              <a:gd name="csX12" fmla="*/ 1063293 w 5866299"/>
              <a:gd name="csY12" fmla="*/ 1578543 h 2598821"/>
              <a:gd name="csX13" fmla="*/ 1111419 w 5866299"/>
              <a:gd name="csY13" fmla="*/ 1665171 h 2598821"/>
              <a:gd name="csX14" fmla="*/ 1178796 w 5866299"/>
              <a:gd name="csY14" fmla="*/ 1761423 h 2598821"/>
              <a:gd name="csX15" fmla="*/ 1236548 w 5866299"/>
              <a:gd name="csY15" fmla="*/ 1867301 h 2598821"/>
              <a:gd name="csX16" fmla="*/ 1506055 w 5866299"/>
              <a:gd name="csY16" fmla="*/ 2146434 h 2598821"/>
              <a:gd name="csX17" fmla="*/ 1794813 w 5866299"/>
              <a:gd name="csY17" fmla="*/ 2300438 h 2598821"/>
              <a:gd name="csX18" fmla="*/ 1891065 w 5866299"/>
              <a:gd name="csY18" fmla="*/ 2338939 h 2598821"/>
              <a:gd name="csX19" fmla="*/ 2150948 w 5866299"/>
              <a:gd name="csY19" fmla="*/ 2387066 h 2598821"/>
              <a:gd name="csX20" fmla="*/ 2738089 w 5866299"/>
              <a:gd name="csY20" fmla="*/ 2464068 h 2598821"/>
              <a:gd name="csX21" fmla="*/ 3055722 w 5866299"/>
              <a:gd name="csY21" fmla="*/ 2502569 h 2598821"/>
              <a:gd name="csX22" fmla="*/ 3594737 w 5866299"/>
              <a:gd name="csY22" fmla="*/ 2521819 h 2598821"/>
              <a:gd name="csX23" fmla="*/ 3979748 w 5866299"/>
              <a:gd name="csY23" fmla="*/ 2560320 h 2598821"/>
              <a:gd name="csX24" fmla="*/ 4374383 w 5866299"/>
              <a:gd name="csY24" fmla="*/ 2569946 h 2598821"/>
              <a:gd name="csX25" fmla="*/ 4855646 w 5866299"/>
              <a:gd name="csY25" fmla="*/ 2598821 h 2598821"/>
              <a:gd name="csX26" fmla="*/ 5750796 w 5866299"/>
              <a:gd name="csY26" fmla="*/ 2569946 h 2598821"/>
              <a:gd name="csX27" fmla="*/ 5827798 w 5866299"/>
              <a:gd name="csY27" fmla="*/ 2483318 h 2598821"/>
              <a:gd name="csX28" fmla="*/ 5847049 w 5866299"/>
              <a:gd name="csY28" fmla="*/ 2300438 h 2598821"/>
              <a:gd name="csX29" fmla="*/ 5866299 w 5866299"/>
              <a:gd name="csY29" fmla="*/ 2030931 h 2598821"/>
              <a:gd name="csX30" fmla="*/ 5837423 w 5866299"/>
              <a:gd name="csY30" fmla="*/ 1366788 h 2598821"/>
              <a:gd name="csX31" fmla="*/ 5779672 w 5866299"/>
              <a:gd name="csY31" fmla="*/ 1328287 h 2598821"/>
              <a:gd name="csX32" fmla="*/ 5683419 w 5866299"/>
              <a:gd name="csY32" fmla="*/ 1309036 h 2598821"/>
              <a:gd name="csX33" fmla="*/ 5481289 w 5866299"/>
              <a:gd name="csY33" fmla="*/ 1289786 h 2598821"/>
              <a:gd name="csX34" fmla="*/ 4663141 w 5866299"/>
              <a:gd name="csY34" fmla="*/ 1309036 h 2598821"/>
              <a:gd name="csX35" fmla="*/ 4499512 w 5866299"/>
              <a:gd name="csY35" fmla="*/ 1357162 h 2598821"/>
              <a:gd name="csX36" fmla="*/ 4412884 w 5866299"/>
              <a:gd name="csY36" fmla="*/ 1386038 h 2598821"/>
              <a:gd name="csX37" fmla="*/ 4278131 w 5866299"/>
              <a:gd name="csY37" fmla="*/ 1443790 h 2598821"/>
              <a:gd name="csX38" fmla="*/ 4191503 w 5866299"/>
              <a:gd name="csY38" fmla="*/ 1501541 h 2598821"/>
              <a:gd name="csX39" fmla="*/ 4095251 w 5866299"/>
              <a:gd name="csY39" fmla="*/ 1549668 h 2598821"/>
              <a:gd name="csX40" fmla="*/ 3941246 w 5866299"/>
              <a:gd name="csY40" fmla="*/ 1645920 h 2598821"/>
              <a:gd name="csX41" fmla="*/ 3893120 w 5866299"/>
              <a:gd name="csY41" fmla="*/ 1674796 h 2598821"/>
              <a:gd name="csX42" fmla="*/ 3844994 w 5866299"/>
              <a:gd name="csY42" fmla="*/ 1713297 h 2598821"/>
              <a:gd name="csX43" fmla="*/ 3787242 w 5866299"/>
              <a:gd name="csY43" fmla="*/ 1742173 h 2598821"/>
              <a:gd name="csX44" fmla="*/ 3739116 w 5866299"/>
              <a:gd name="csY44" fmla="*/ 1780674 h 2598821"/>
              <a:gd name="csX45" fmla="*/ 3662114 w 5866299"/>
              <a:gd name="csY45" fmla="*/ 1819175 h 2598821"/>
              <a:gd name="csX46" fmla="*/ 3601480 w 5866299"/>
              <a:gd name="csY46" fmla="*/ 1756962 h 2598821"/>
              <a:gd name="csX47" fmla="*/ 3536785 w 5866299"/>
              <a:gd name="csY47" fmla="*/ 1709036 h 2598821"/>
              <a:gd name="csX48" fmla="*/ 3476652 w 5866299"/>
              <a:gd name="csY48" fmla="*/ 1684722 h 2598821"/>
              <a:gd name="csX49" fmla="*/ 3421482 w 5866299"/>
              <a:gd name="csY49" fmla="*/ 1665171 h 2598821"/>
              <a:gd name="csX50" fmla="*/ 3392606 w 5866299"/>
              <a:gd name="csY50" fmla="*/ 1645920 h 2598821"/>
              <a:gd name="csX51" fmla="*/ 3325230 w 5866299"/>
              <a:gd name="csY51" fmla="*/ 1588169 h 2598821"/>
              <a:gd name="csX52" fmla="*/ 3296354 w 5866299"/>
              <a:gd name="csY52" fmla="*/ 1578543 h 2598821"/>
              <a:gd name="csX53" fmla="*/ 3219352 w 5866299"/>
              <a:gd name="csY53" fmla="*/ 1511167 h 2598821"/>
              <a:gd name="csX54" fmla="*/ 3151975 w 5866299"/>
              <a:gd name="csY54" fmla="*/ 1472666 h 2598821"/>
              <a:gd name="csX55" fmla="*/ 3103849 w 5866299"/>
              <a:gd name="csY55" fmla="*/ 1443790 h 2598821"/>
              <a:gd name="csX56" fmla="*/ 3034091 w 5866299"/>
              <a:gd name="csY56" fmla="*/ 1412232 h 2598821"/>
              <a:gd name="csX57" fmla="*/ 2978720 w 5866299"/>
              <a:gd name="csY57" fmla="*/ 1366788 h 2598821"/>
              <a:gd name="csX58" fmla="*/ 2930594 w 5866299"/>
              <a:gd name="csY58" fmla="*/ 1347537 h 2598821"/>
              <a:gd name="csX59" fmla="*/ 2853592 w 5866299"/>
              <a:gd name="csY59" fmla="*/ 1299411 h 2598821"/>
              <a:gd name="csX60" fmla="*/ 2795840 w 5866299"/>
              <a:gd name="csY60" fmla="*/ 1212783 h 2598821"/>
              <a:gd name="csX61" fmla="*/ 2824716 w 5866299"/>
              <a:gd name="csY61" fmla="*/ 577516 h 2598821"/>
              <a:gd name="csX62" fmla="*/ 2815091 w 5866299"/>
              <a:gd name="csY62" fmla="*/ 308009 h 2598821"/>
              <a:gd name="csX63" fmla="*/ 2795840 w 5866299"/>
              <a:gd name="csY63" fmla="*/ 192506 h 2598821"/>
              <a:gd name="csX64" fmla="*/ 2776590 w 5866299"/>
              <a:gd name="csY64" fmla="*/ 144379 h 2598821"/>
              <a:gd name="csX65" fmla="*/ 2718838 w 5866299"/>
              <a:gd name="csY65" fmla="*/ 77002 h 2598821"/>
              <a:gd name="csX66" fmla="*/ 2689962 w 5866299"/>
              <a:gd name="csY66" fmla="*/ 38501 h 2598821"/>
              <a:gd name="csX67" fmla="*/ 2632211 w 5866299"/>
              <a:gd name="csY67" fmla="*/ 0 h 2598821"/>
              <a:gd name="csX0" fmla="*/ 2656576 w 5832913"/>
              <a:gd name="csY0" fmla="*/ 57752 h 2598821"/>
              <a:gd name="csX1" fmla="*/ 86631 w 5832913"/>
              <a:gd name="csY1" fmla="*/ 67377 h 2598821"/>
              <a:gd name="csX2" fmla="*/ 41662 w 5832913"/>
              <a:gd name="csY2" fmla="*/ 131872 h 2598821"/>
              <a:gd name="csX3" fmla="*/ 32137 w 5832913"/>
              <a:gd name="csY3" fmla="*/ 543376 h 2598821"/>
              <a:gd name="csX4" fmla="*/ 51589 w 5832913"/>
              <a:gd name="csY4" fmla="*/ 1101692 h 2598821"/>
              <a:gd name="csX5" fmla="*/ 80265 w 5832913"/>
              <a:gd name="csY5" fmla="*/ 1214512 h 2598821"/>
              <a:gd name="csX6" fmla="*/ 97033 w 5832913"/>
              <a:gd name="csY6" fmla="*/ 1222283 h 2598821"/>
              <a:gd name="csX7" fmla="*/ 99715 w 5832913"/>
              <a:gd name="csY7" fmla="*/ 1218222 h 2598821"/>
              <a:gd name="csX8" fmla="*/ 4 w 5832913"/>
              <a:gd name="csY8" fmla="*/ 1126156 h 2598821"/>
              <a:gd name="csX9" fmla="*/ 96256 w 5832913"/>
              <a:gd name="csY9" fmla="*/ 1232034 h 2598821"/>
              <a:gd name="csX10" fmla="*/ 144383 w 5832913"/>
              <a:gd name="csY10" fmla="*/ 1251284 h 2598821"/>
              <a:gd name="csX11" fmla="*/ 779650 w 5832913"/>
              <a:gd name="csY11" fmla="*/ 1270535 h 2598821"/>
              <a:gd name="csX12" fmla="*/ 1029907 w 5832913"/>
              <a:gd name="csY12" fmla="*/ 1578543 h 2598821"/>
              <a:gd name="csX13" fmla="*/ 1078033 w 5832913"/>
              <a:gd name="csY13" fmla="*/ 1665171 h 2598821"/>
              <a:gd name="csX14" fmla="*/ 1145410 w 5832913"/>
              <a:gd name="csY14" fmla="*/ 1761423 h 2598821"/>
              <a:gd name="csX15" fmla="*/ 1203162 w 5832913"/>
              <a:gd name="csY15" fmla="*/ 1867301 h 2598821"/>
              <a:gd name="csX16" fmla="*/ 1472669 w 5832913"/>
              <a:gd name="csY16" fmla="*/ 2146434 h 2598821"/>
              <a:gd name="csX17" fmla="*/ 1761427 w 5832913"/>
              <a:gd name="csY17" fmla="*/ 2300438 h 2598821"/>
              <a:gd name="csX18" fmla="*/ 1857679 w 5832913"/>
              <a:gd name="csY18" fmla="*/ 2338939 h 2598821"/>
              <a:gd name="csX19" fmla="*/ 2117562 w 5832913"/>
              <a:gd name="csY19" fmla="*/ 2387066 h 2598821"/>
              <a:gd name="csX20" fmla="*/ 2704703 w 5832913"/>
              <a:gd name="csY20" fmla="*/ 2464068 h 2598821"/>
              <a:gd name="csX21" fmla="*/ 3022336 w 5832913"/>
              <a:gd name="csY21" fmla="*/ 2502569 h 2598821"/>
              <a:gd name="csX22" fmla="*/ 3561351 w 5832913"/>
              <a:gd name="csY22" fmla="*/ 2521819 h 2598821"/>
              <a:gd name="csX23" fmla="*/ 3946362 w 5832913"/>
              <a:gd name="csY23" fmla="*/ 2560320 h 2598821"/>
              <a:gd name="csX24" fmla="*/ 4340997 w 5832913"/>
              <a:gd name="csY24" fmla="*/ 2569946 h 2598821"/>
              <a:gd name="csX25" fmla="*/ 4822260 w 5832913"/>
              <a:gd name="csY25" fmla="*/ 2598821 h 2598821"/>
              <a:gd name="csX26" fmla="*/ 5717410 w 5832913"/>
              <a:gd name="csY26" fmla="*/ 2569946 h 2598821"/>
              <a:gd name="csX27" fmla="*/ 5794412 w 5832913"/>
              <a:gd name="csY27" fmla="*/ 2483318 h 2598821"/>
              <a:gd name="csX28" fmla="*/ 5813663 w 5832913"/>
              <a:gd name="csY28" fmla="*/ 2300438 h 2598821"/>
              <a:gd name="csX29" fmla="*/ 5832913 w 5832913"/>
              <a:gd name="csY29" fmla="*/ 2030931 h 2598821"/>
              <a:gd name="csX30" fmla="*/ 5804037 w 5832913"/>
              <a:gd name="csY30" fmla="*/ 1366788 h 2598821"/>
              <a:gd name="csX31" fmla="*/ 5746286 w 5832913"/>
              <a:gd name="csY31" fmla="*/ 1328287 h 2598821"/>
              <a:gd name="csX32" fmla="*/ 5650033 w 5832913"/>
              <a:gd name="csY32" fmla="*/ 1309036 h 2598821"/>
              <a:gd name="csX33" fmla="*/ 5447903 w 5832913"/>
              <a:gd name="csY33" fmla="*/ 1289786 h 2598821"/>
              <a:gd name="csX34" fmla="*/ 4629755 w 5832913"/>
              <a:gd name="csY34" fmla="*/ 1309036 h 2598821"/>
              <a:gd name="csX35" fmla="*/ 4466126 w 5832913"/>
              <a:gd name="csY35" fmla="*/ 1357162 h 2598821"/>
              <a:gd name="csX36" fmla="*/ 4379498 w 5832913"/>
              <a:gd name="csY36" fmla="*/ 1386038 h 2598821"/>
              <a:gd name="csX37" fmla="*/ 4244745 w 5832913"/>
              <a:gd name="csY37" fmla="*/ 1443790 h 2598821"/>
              <a:gd name="csX38" fmla="*/ 4158117 w 5832913"/>
              <a:gd name="csY38" fmla="*/ 1501541 h 2598821"/>
              <a:gd name="csX39" fmla="*/ 4061865 w 5832913"/>
              <a:gd name="csY39" fmla="*/ 1549668 h 2598821"/>
              <a:gd name="csX40" fmla="*/ 3907860 w 5832913"/>
              <a:gd name="csY40" fmla="*/ 1645920 h 2598821"/>
              <a:gd name="csX41" fmla="*/ 3859734 w 5832913"/>
              <a:gd name="csY41" fmla="*/ 1674796 h 2598821"/>
              <a:gd name="csX42" fmla="*/ 3811608 w 5832913"/>
              <a:gd name="csY42" fmla="*/ 1713297 h 2598821"/>
              <a:gd name="csX43" fmla="*/ 3753856 w 5832913"/>
              <a:gd name="csY43" fmla="*/ 1742173 h 2598821"/>
              <a:gd name="csX44" fmla="*/ 3705730 w 5832913"/>
              <a:gd name="csY44" fmla="*/ 1780674 h 2598821"/>
              <a:gd name="csX45" fmla="*/ 3628728 w 5832913"/>
              <a:gd name="csY45" fmla="*/ 1819175 h 2598821"/>
              <a:gd name="csX46" fmla="*/ 3568094 w 5832913"/>
              <a:gd name="csY46" fmla="*/ 1756962 h 2598821"/>
              <a:gd name="csX47" fmla="*/ 3503399 w 5832913"/>
              <a:gd name="csY47" fmla="*/ 1709036 h 2598821"/>
              <a:gd name="csX48" fmla="*/ 3443266 w 5832913"/>
              <a:gd name="csY48" fmla="*/ 1684722 h 2598821"/>
              <a:gd name="csX49" fmla="*/ 3388096 w 5832913"/>
              <a:gd name="csY49" fmla="*/ 1665171 h 2598821"/>
              <a:gd name="csX50" fmla="*/ 3359220 w 5832913"/>
              <a:gd name="csY50" fmla="*/ 1645920 h 2598821"/>
              <a:gd name="csX51" fmla="*/ 3291844 w 5832913"/>
              <a:gd name="csY51" fmla="*/ 1588169 h 2598821"/>
              <a:gd name="csX52" fmla="*/ 3262968 w 5832913"/>
              <a:gd name="csY52" fmla="*/ 1578543 h 2598821"/>
              <a:gd name="csX53" fmla="*/ 3185966 w 5832913"/>
              <a:gd name="csY53" fmla="*/ 1511167 h 2598821"/>
              <a:gd name="csX54" fmla="*/ 3118589 w 5832913"/>
              <a:gd name="csY54" fmla="*/ 1472666 h 2598821"/>
              <a:gd name="csX55" fmla="*/ 3070463 w 5832913"/>
              <a:gd name="csY55" fmla="*/ 1443790 h 2598821"/>
              <a:gd name="csX56" fmla="*/ 3000705 w 5832913"/>
              <a:gd name="csY56" fmla="*/ 1412232 h 2598821"/>
              <a:gd name="csX57" fmla="*/ 2945334 w 5832913"/>
              <a:gd name="csY57" fmla="*/ 1366788 h 2598821"/>
              <a:gd name="csX58" fmla="*/ 2897208 w 5832913"/>
              <a:gd name="csY58" fmla="*/ 1347537 h 2598821"/>
              <a:gd name="csX59" fmla="*/ 2820206 w 5832913"/>
              <a:gd name="csY59" fmla="*/ 1299411 h 2598821"/>
              <a:gd name="csX60" fmla="*/ 2762454 w 5832913"/>
              <a:gd name="csY60" fmla="*/ 1212783 h 2598821"/>
              <a:gd name="csX61" fmla="*/ 2791330 w 5832913"/>
              <a:gd name="csY61" fmla="*/ 577516 h 2598821"/>
              <a:gd name="csX62" fmla="*/ 2781705 w 5832913"/>
              <a:gd name="csY62" fmla="*/ 308009 h 2598821"/>
              <a:gd name="csX63" fmla="*/ 2762454 w 5832913"/>
              <a:gd name="csY63" fmla="*/ 192506 h 2598821"/>
              <a:gd name="csX64" fmla="*/ 2743204 w 5832913"/>
              <a:gd name="csY64" fmla="*/ 144379 h 2598821"/>
              <a:gd name="csX65" fmla="*/ 2685452 w 5832913"/>
              <a:gd name="csY65" fmla="*/ 77002 h 2598821"/>
              <a:gd name="csX66" fmla="*/ 2656576 w 5832913"/>
              <a:gd name="csY66" fmla="*/ 38501 h 2598821"/>
              <a:gd name="csX67" fmla="*/ 2598825 w 5832913"/>
              <a:gd name="csY67" fmla="*/ 0 h 2598821"/>
              <a:gd name="csX0" fmla="*/ 2625809 w 5802146"/>
              <a:gd name="csY0" fmla="*/ 57752 h 2598821"/>
              <a:gd name="csX1" fmla="*/ 55864 w 5802146"/>
              <a:gd name="csY1" fmla="*/ 67377 h 2598821"/>
              <a:gd name="csX2" fmla="*/ 10895 w 5802146"/>
              <a:gd name="csY2" fmla="*/ 131872 h 2598821"/>
              <a:gd name="csX3" fmla="*/ 1370 w 5802146"/>
              <a:gd name="csY3" fmla="*/ 543376 h 2598821"/>
              <a:gd name="csX4" fmla="*/ 20822 w 5802146"/>
              <a:gd name="csY4" fmla="*/ 1101692 h 2598821"/>
              <a:gd name="csX5" fmla="*/ 49498 w 5802146"/>
              <a:gd name="csY5" fmla="*/ 1214512 h 2598821"/>
              <a:gd name="csX6" fmla="*/ 66266 w 5802146"/>
              <a:gd name="csY6" fmla="*/ 1222283 h 2598821"/>
              <a:gd name="csX7" fmla="*/ 68948 w 5802146"/>
              <a:gd name="csY7" fmla="*/ 1218222 h 2598821"/>
              <a:gd name="csX8" fmla="*/ 85918 w 5802146"/>
              <a:gd name="csY8" fmla="*/ 1202356 h 2598821"/>
              <a:gd name="csX9" fmla="*/ 65489 w 5802146"/>
              <a:gd name="csY9" fmla="*/ 1232034 h 2598821"/>
              <a:gd name="csX10" fmla="*/ 113616 w 5802146"/>
              <a:gd name="csY10" fmla="*/ 1251284 h 2598821"/>
              <a:gd name="csX11" fmla="*/ 748883 w 5802146"/>
              <a:gd name="csY11" fmla="*/ 1270535 h 2598821"/>
              <a:gd name="csX12" fmla="*/ 999140 w 5802146"/>
              <a:gd name="csY12" fmla="*/ 1578543 h 2598821"/>
              <a:gd name="csX13" fmla="*/ 1047266 w 5802146"/>
              <a:gd name="csY13" fmla="*/ 1665171 h 2598821"/>
              <a:gd name="csX14" fmla="*/ 1114643 w 5802146"/>
              <a:gd name="csY14" fmla="*/ 1761423 h 2598821"/>
              <a:gd name="csX15" fmla="*/ 1172395 w 5802146"/>
              <a:gd name="csY15" fmla="*/ 1867301 h 2598821"/>
              <a:gd name="csX16" fmla="*/ 1441902 w 5802146"/>
              <a:gd name="csY16" fmla="*/ 2146434 h 2598821"/>
              <a:gd name="csX17" fmla="*/ 1730660 w 5802146"/>
              <a:gd name="csY17" fmla="*/ 2300438 h 2598821"/>
              <a:gd name="csX18" fmla="*/ 1826912 w 5802146"/>
              <a:gd name="csY18" fmla="*/ 2338939 h 2598821"/>
              <a:gd name="csX19" fmla="*/ 2086795 w 5802146"/>
              <a:gd name="csY19" fmla="*/ 2387066 h 2598821"/>
              <a:gd name="csX20" fmla="*/ 2673936 w 5802146"/>
              <a:gd name="csY20" fmla="*/ 2464068 h 2598821"/>
              <a:gd name="csX21" fmla="*/ 2991569 w 5802146"/>
              <a:gd name="csY21" fmla="*/ 2502569 h 2598821"/>
              <a:gd name="csX22" fmla="*/ 3530584 w 5802146"/>
              <a:gd name="csY22" fmla="*/ 2521819 h 2598821"/>
              <a:gd name="csX23" fmla="*/ 3915595 w 5802146"/>
              <a:gd name="csY23" fmla="*/ 2560320 h 2598821"/>
              <a:gd name="csX24" fmla="*/ 4310230 w 5802146"/>
              <a:gd name="csY24" fmla="*/ 2569946 h 2598821"/>
              <a:gd name="csX25" fmla="*/ 4791493 w 5802146"/>
              <a:gd name="csY25" fmla="*/ 2598821 h 2598821"/>
              <a:gd name="csX26" fmla="*/ 5686643 w 5802146"/>
              <a:gd name="csY26" fmla="*/ 2569946 h 2598821"/>
              <a:gd name="csX27" fmla="*/ 5763645 w 5802146"/>
              <a:gd name="csY27" fmla="*/ 2483318 h 2598821"/>
              <a:gd name="csX28" fmla="*/ 5782896 w 5802146"/>
              <a:gd name="csY28" fmla="*/ 2300438 h 2598821"/>
              <a:gd name="csX29" fmla="*/ 5802146 w 5802146"/>
              <a:gd name="csY29" fmla="*/ 2030931 h 2598821"/>
              <a:gd name="csX30" fmla="*/ 5773270 w 5802146"/>
              <a:gd name="csY30" fmla="*/ 1366788 h 2598821"/>
              <a:gd name="csX31" fmla="*/ 5715519 w 5802146"/>
              <a:gd name="csY31" fmla="*/ 1328287 h 2598821"/>
              <a:gd name="csX32" fmla="*/ 5619266 w 5802146"/>
              <a:gd name="csY32" fmla="*/ 1309036 h 2598821"/>
              <a:gd name="csX33" fmla="*/ 5417136 w 5802146"/>
              <a:gd name="csY33" fmla="*/ 1289786 h 2598821"/>
              <a:gd name="csX34" fmla="*/ 4598988 w 5802146"/>
              <a:gd name="csY34" fmla="*/ 1309036 h 2598821"/>
              <a:gd name="csX35" fmla="*/ 4435359 w 5802146"/>
              <a:gd name="csY35" fmla="*/ 1357162 h 2598821"/>
              <a:gd name="csX36" fmla="*/ 4348731 w 5802146"/>
              <a:gd name="csY36" fmla="*/ 1386038 h 2598821"/>
              <a:gd name="csX37" fmla="*/ 4213978 w 5802146"/>
              <a:gd name="csY37" fmla="*/ 1443790 h 2598821"/>
              <a:gd name="csX38" fmla="*/ 4127350 w 5802146"/>
              <a:gd name="csY38" fmla="*/ 1501541 h 2598821"/>
              <a:gd name="csX39" fmla="*/ 4031098 w 5802146"/>
              <a:gd name="csY39" fmla="*/ 1549668 h 2598821"/>
              <a:gd name="csX40" fmla="*/ 3877093 w 5802146"/>
              <a:gd name="csY40" fmla="*/ 1645920 h 2598821"/>
              <a:gd name="csX41" fmla="*/ 3828967 w 5802146"/>
              <a:gd name="csY41" fmla="*/ 1674796 h 2598821"/>
              <a:gd name="csX42" fmla="*/ 3780841 w 5802146"/>
              <a:gd name="csY42" fmla="*/ 1713297 h 2598821"/>
              <a:gd name="csX43" fmla="*/ 3723089 w 5802146"/>
              <a:gd name="csY43" fmla="*/ 1742173 h 2598821"/>
              <a:gd name="csX44" fmla="*/ 3674963 w 5802146"/>
              <a:gd name="csY44" fmla="*/ 1780674 h 2598821"/>
              <a:gd name="csX45" fmla="*/ 3597961 w 5802146"/>
              <a:gd name="csY45" fmla="*/ 1819175 h 2598821"/>
              <a:gd name="csX46" fmla="*/ 3537327 w 5802146"/>
              <a:gd name="csY46" fmla="*/ 1756962 h 2598821"/>
              <a:gd name="csX47" fmla="*/ 3472632 w 5802146"/>
              <a:gd name="csY47" fmla="*/ 1709036 h 2598821"/>
              <a:gd name="csX48" fmla="*/ 3412499 w 5802146"/>
              <a:gd name="csY48" fmla="*/ 1684722 h 2598821"/>
              <a:gd name="csX49" fmla="*/ 3357329 w 5802146"/>
              <a:gd name="csY49" fmla="*/ 1665171 h 2598821"/>
              <a:gd name="csX50" fmla="*/ 3328453 w 5802146"/>
              <a:gd name="csY50" fmla="*/ 1645920 h 2598821"/>
              <a:gd name="csX51" fmla="*/ 3261077 w 5802146"/>
              <a:gd name="csY51" fmla="*/ 1588169 h 2598821"/>
              <a:gd name="csX52" fmla="*/ 3232201 w 5802146"/>
              <a:gd name="csY52" fmla="*/ 1578543 h 2598821"/>
              <a:gd name="csX53" fmla="*/ 3155199 w 5802146"/>
              <a:gd name="csY53" fmla="*/ 1511167 h 2598821"/>
              <a:gd name="csX54" fmla="*/ 3087822 w 5802146"/>
              <a:gd name="csY54" fmla="*/ 1472666 h 2598821"/>
              <a:gd name="csX55" fmla="*/ 3039696 w 5802146"/>
              <a:gd name="csY55" fmla="*/ 1443790 h 2598821"/>
              <a:gd name="csX56" fmla="*/ 2969938 w 5802146"/>
              <a:gd name="csY56" fmla="*/ 1412232 h 2598821"/>
              <a:gd name="csX57" fmla="*/ 2914567 w 5802146"/>
              <a:gd name="csY57" fmla="*/ 1366788 h 2598821"/>
              <a:gd name="csX58" fmla="*/ 2866441 w 5802146"/>
              <a:gd name="csY58" fmla="*/ 1347537 h 2598821"/>
              <a:gd name="csX59" fmla="*/ 2789439 w 5802146"/>
              <a:gd name="csY59" fmla="*/ 1299411 h 2598821"/>
              <a:gd name="csX60" fmla="*/ 2731687 w 5802146"/>
              <a:gd name="csY60" fmla="*/ 1212783 h 2598821"/>
              <a:gd name="csX61" fmla="*/ 2760563 w 5802146"/>
              <a:gd name="csY61" fmla="*/ 577516 h 2598821"/>
              <a:gd name="csX62" fmla="*/ 2750938 w 5802146"/>
              <a:gd name="csY62" fmla="*/ 308009 h 2598821"/>
              <a:gd name="csX63" fmla="*/ 2731687 w 5802146"/>
              <a:gd name="csY63" fmla="*/ 192506 h 2598821"/>
              <a:gd name="csX64" fmla="*/ 2712437 w 5802146"/>
              <a:gd name="csY64" fmla="*/ 144379 h 2598821"/>
              <a:gd name="csX65" fmla="*/ 2654685 w 5802146"/>
              <a:gd name="csY65" fmla="*/ 77002 h 2598821"/>
              <a:gd name="csX66" fmla="*/ 2625809 w 5802146"/>
              <a:gd name="csY66" fmla="*/ 38501 h 2598821"/>
              <a:gd name="csX67" fmla="*/ 2568058 w 5802146"/>
              <a:gd name="csY67" fmla="*/ 0 h 2598821"/>
              <a:gd name="csX0" fmla="*/ 2625809 w 5802146"/>
              <a:gd name="csY0" fmla="*/ 57752 h 2598821"/>
              <a:gd name="csX1" fmla="*/ 55864 w 5802146"/>
              <a:gd name="csY1" fmla="*/ 67377 h 2598821"/>
              <a:gd name="csX2" fmla="*/ 10895 w 5802146"/>
              <a:gd name="csY2" fmla="*/ 131872 h 2598821"/>
              <a:gd name="csX3" fmla="*/ 1370 w 5802146"/>
              <a:gd name="csY3" fmla="*/ 543376 h 2598821"/>
              <a:gd name="csX4" fmla="*/ 20822 w 5802146"/>
              <a:gd name="csY4" fmla="*/ 1101692 h 2598821"/>
              <a:gd name="csX5" fmla="*/ 49498 w 5802146"/>
              <a:gd name="csY5" fmla="*/ 1214512 h 2598821"/>
              <a:gd name="csX6" fmla="*/ 66266 w 5802146"/>
              <a:gd name="csY6" fmla="*/ 1222283 h 2598821"/>
              <a:gd name="csX7" fmla="*/ 68948 w 5802146"/>
              <a:gd name="csY7" fmla="*/ 1218222 h 2598821"/>
              <a:gd name="csX8" fmla="*/ 85918 w 5802146"/>
              <a:gd name="csY8" fmla="*/ 1202356 h 2598821"/>
              <a:gd name="csX9" fmla="*/ 65489 w 5802146"/>
              <a:gd name="csY9" fmla="*/ 1232034 h 2598821"/>
              <a:gd name="csX10" fmla="*/ 113616 w 5802146"/>
              <a:gd name="csY10" fmla="*/ 1251284 h 2598821"/>
              <a:gd name="csX11" fmla="*/ 748883 w 5802146"/>
              <a:gd name="csY11" fmla="*/ 1270535 h 2598821"/>
              <a:gd name="csX12" fmla="*/ 999140 w 5802146"/>
              <a:gd name="csY12" fmla="*/ 1578543 h 2598821"/>
              <a:gd name="csX13" fmla="*/ 1047266 w 5802146"/>
              <a:gd name="csY13" fmla="*/ 1665171 h 2598821"/>
              <a:gd name="csX14" fmla="*/ 1114643 w 5802146"/>
              <a:gd name="csY14" fmla="*/ 1761423 h 2598821"/>
              <a:gd name="csX15" fmla="*/ 1172395 w 5802146"/>
              <a:gd name="csY15" fmla="*/ 1867301 h 2598821"/>
              <a:gd name="csX16" fmla="*/ 1441902 w 5802146"/>
              <a:gd name="csY16" fmla="*/ 2146434 h 2598821"/>
              <a:gd name="csX17" fmla="*/ 1730660 w 5802146"/>
              <a:gd name="csY17" fmla="*/ 2300438 h 2598821"/>
              <a:gd name="csX18" fmla="*/ 1826912 w 5802146"/>
              <a:gd name="csY18" fmla="*/ 2338939 h 2598821"/>
              <a:gd name="csX19" fmla="*/ 2086795 w 5802146"/>
              <a:gd name="csY19" fmla="*/ 2387066 h 2598821"/>
              <a:gd name="csX20" fmla="*/ 2673936 w 5802146"/>
              <a:gd name="csY20" fmla="*/ 2464068 h 2598821"/>
              <a:gd name="csX21" fmla="*/ 2991569 w 5802146"/>
              <a:gd name="csY21" fmla="*/ 2502569 h 2598821"/>
              <a:gd name="csX22" fmla="*/ 3530584 w 5802146"/>
              <a:gd name="csY22" fmla="*/ 2521819 h 2598821"/>
              <a:gd name="csX23" fmla="*/ 3915595 w 5802146"/>
              <a:gd name="csY23" fmla="*/ 2560320 h 2598821"/>
              <a:gd name="csX24" fmla="*/ 4310230 w 5802146"/>
              <a:gd name="csY24" fmla="*/ 2569946 h 2598821"/>
              <a:gd name="csX25" fmla="*/ 4791493 w 5802146"/>
              <a:gd name="csY25" fmla="*/ 2598821 h 2598821"/>
              <a:gd name="csX26" fmla="*/ 5686643 w 5802146"/>
              <a:gd name="csY26" fmla="*/ 2569946 h 2598821"/>
              <a:gd name="csX27" fmla="*/ 5763645 w 5802146"/>
              <a:gd name="csY27" fmla="*/ 2483318 h 2598821"/>
              <a:gd name="csX28" fmla="*/ 5782896 w 5802146"/>
              <a:gd name="csY28" fmla="*/ 2300438 h 2598821"/>
              <a:gd name="csX29" fmla="*/ 5802146 w 5802146"/>
              <a:gd name="csY29" fmla="*/ 2030931 h 2598821"/>
              <a:gd name="csX30" fmla="*/ 5773270 w 5802146"/>
              <a:gd name="csY30" fmla="*/ 1366788 h 2598821"/>
              <a:gd name="csX31" fmla="*/ 5715519 w 5802146"/>
              <a:gd name="csY31" fmla="*/ 1328287 h 2598821"/>
              <a:gd name="csX32" fmla="*/ 5619266 w 5802146"/>
              <a:gd name="csY32" fmla="*/ 1309036 h 2598821"/>
              <a:gd name="csX33" fmla="*/ 5417136 w 5802146"/>
              <a:gd name="csY33" fmla="*/ 1289786 h 2598821"/>
              <a:gd name="csX34" fmla="*/ 4598988 w 5802146"/>
              <a:gd name="csY34" fmla="*/ 1309036 h 2598821"/>
              <a:gd name="csX35" fmla="*/ 4435359 w 5802146"/>
              <a:gd name="csY35" fmla="*/ 1357162 h 2598821"/>
              <a:gd name="csX36" fmla="*/ 4348731 w 5802146"/>
              <a:gd name="csY36" fmla="*/ 1386038 h 2598821"/>
              <a:gd name="csX37" fmla="*/ 4213978 w 5802146"/>
              <a:gd name="csY37" fmla="*/ 1443790 h 2598821"/>
              <a:gd name="csX38" fmla="*/ 4127350 w 5802146"/>
              <a:gd name="csY38" fmla="*/ 1501541 h 2598821"/>
              <a:gd name="csX39" fmla="*/ 4031098 w 5802146"/>
              <a:gd name="csY39" fmla="*/ 1549668 h 2598821"/>
              <a:gd name="csX40" fmla="*/ 3877093 w 5802146"/>
              <a:gd name="csY40" fmla="*/ 1645920 h 2598821"/>
              <a:gd name="csX41" fmla="*/ 3828967 w 5802146"/>
              <a:gd name="csY41" fmla="*/ 1674796 h 2598821"/>
              <a:gd name="csX42" fmla="*/ 3780841 w 5802146"/>
              <a:gd name="csY42" fmla="*/ 1713297 h 2598821"/>
              <a:gd name="csX43" fmla="*/ 3723089 w 5802146"/>
              <a:gd name="csY43" fmla="*/ 1742173 h 2598821"/>
              <a:gd name="csX44" fmla="*/ 3674963 w 5802146"/>
              <a:gd name="csY44" fmla="*/ 1780674 h 2598821"/>
              <a:gd name="csX45" fmla="*/ 3597961 w 5802146"/>
              <a:gd name="csY45" fmla="*/ 1819175 h 2598821"/>
              <a:gd name="csX46" fmla="*/ 3537327 w 5802146"/>
              <a:gd name="csY46" fmla="*/ 1756962 h 2598821"/>
              <a:gd name="csX47" fmla="*/ 3472632 w 5802146"/>
              <a:gd name="csY47" fmla="*/ 1709036 h 2598821"/>
              <a:gd name="csX48" fmla="*/ 3412499 w 5802146"/>
              <a:gd name="csY48" fmla="*/ 1684722 h 2598821"/>
              <a:gd name="csX49" fmla="*/ 3357329 w 5802146"/>
              <a:gd name="csY49" fmla="*/ 1665171 h 2598821"/>
              <a:gd name="csX50" fmla="*/ 3328453 w 5802146"/>
              <a:gd name="csY50" fmla="*/ 1645920 h 2598821"/>
              <a:gd name="csX51" fmla="*/ 3261077 w 5802146"/>
              <a:gd name="csY51" fmla="*/ 1588169 h 2598821"/>
              <a:gd name="csX52" fmla="*/ 3232201 w 5802146"/>
              <a:gd name="csY52" fmla="*/ 1578543 h 2598821"/>
              <a:gd name="csX53" fmla="*/ 3155199 w 5802146"/>
              <a:gd name="csY53" fmla="*/ 1511167 h 2598821"/>
              <a:gd name="csX54" fmla="*/ 3087822 w 5802146"/>
              <a:gd name="csY54" fmla="*/ 1472666 h 2598821"/>
              <a:gd name="csX55" fmla="*/ 3039696 w 5802146"/>
              <a:gd name="csY55" fmla="*/ 1443790 h 2598821"/>
              <a:gd name="csX56" fmla="*/ 2969938 w 5802146"/>
              <a:gd name="csY56" fmla="*/ 1412232 h 2598821"/>
              <a:gd name="csX57" fmla="*/ 2914567 w 5802146"/>
              <a:gd name="csY57" fmla="*/ 1366788 h 2598821"/>
              <a:gd name="csX58" fmla="*/ 2866441 w 5802146"/>
              <a:gd name="csY58" fmla="*/ 1347537 h 2598821"/>
              <a:gd name="csX59" fmla="*/ 2789439 w 5802146"/>
              <a:gd name="csY59" fmla="*/ 1299411 h 2598821"/>
              <a:gd name="csX60" fmla="*/ 2731687 w 5802146"/>
              <a:gd name="csY60" fmla="*/ 1212783 h 2598821"/>
              <a:gd name="csX61" fmla="*/ 2760563 w 5802146"/>
              <a:gd name="csY61" fmla="*/ 577516 h 2598821"/>
              <a:gd name="csX62" fmla="*/ 2750938 w 5802146"/>
              <a:gd name="csY62" fmla="*/ 308009 h 2598821"/>
              <a:gd name="csX63" fmla="*/ 2731687 w 5802146"/>
              <a:gd name="csY63" fmla="*/ 192506 h 2598821"/>
              <a:gd name="csX64" fmla="*/ 2712437 w 5802146"/>
              <a:gd name="csY64" fmla="*/ 144379 h 2598821"/>
              <a:gd name="csX65" fmla="*/ 2654685 w 5802146"/>
              <a:gd name="csY65" fmla="*/ 77002 h 2598821"/>
              <a:gd name="csX66" fmla="*/ 2625809 w 5802146"/>
              <a:gd name="csY66" fmla="*/ 38501 h 2598821"/>
              <a:gd name="csX67" fmla="*/ 2568058 w 5802146"/>
              <a:gd name="csY67" fmla="*/ 0 h 2598821"/>
              <a:gd name="csX68" fmla="*/ 2625809 w 5802146"/>
              <a:gd name="csY68" fmla="*/ 57752 h 2598821"/>
              <a:gd name="csX0" fmla="*/ 2625809 w 5802146"/>
              <a:gd name="csY0" fmla="*/ 57752 h 2598821"/>
              <a:gd name="csX1" fmla="*/ 55864 w 5802146"/>
              <a:gd name="csY1" fmla="*/ 67377 h 2598821"/>
              <a:gd name="csX2" fmla="*/ 10895 w 5802146"/>
              <a:gd name="csY2" fmla="*/ 131872 h 2598821"/>
              <a:gd name="csX3" fmla="*/ 1370 w 5802146"/>
              <a:gd name="csY3" fmla="*/ 543376 h 2598821"/>
              <a:gd name="csX4" fmla="*/ 20822 w 5802146"/>
              <a:gd name="csY4" fmla="*/ 1101692 h 2598821"/>
              <a:gd name="csX5" fmla="*/ 49498 w 5802146"/>
              <a:gd name="csY5" fmla="*/ 1214512 h 2598821"/>
              <a:gd name="csX6" fmla="*/ 66266 w 5802146"/>
              <a:gd name="csY6" fmla="*/ 1222283 h 2598821"/>
              <a:gd name="csX7" fmla="*/ 68948 w 5802146"/>
              <a:gd name="csY7" fmla="*/ 1218222 h 2598821"/>
              <a:gd name="csX8" fmla="*/ 85918 w 5802146"/>
              <a:gd name="csY8" fmla="*/ 1202356 h 2598821"/>
              <a:gd name="csX9" fmla="*/ 65489 w 5802146"/>
              <a:gd name="csY9" fmla="*/ 1232034 h 2598821"/>
              <a:gd name="csX10" fmla="*/ 113616 w 5802146"/>
              <a:gd name="csY10" fmla="*/ 1251284 h 2598821"/>
              <a:gd name="csX11" fmla="*/ 748883 w 5802146"/>
              <a:gd name="csY11" fmla="*/ 1270535 h 2598821"/>
              <a:gd name="csX12" fmla="*/ 999140 w 5802146"/>
              <a:gd name="csY12" fmla="*/ 1578543 h 2598821"/>
              <a:gd name="csX13" fmla="*/ 1047266 w 5802146"/>
              <a:gd name="csY13" fmla="*/ 1665171 h 2598821"/>
              <a:gd name="csX14" fmla="*/ 1114643 w 5802146"/>
              <a:gd name="csY14" fmla="*/ 1761423 h 2598821"/>
              <a:gd name="csX15" fmla="*/ 1172395 w 5802146"/>
              <a:gd name="csY15" fmla="*/ 1867301 h 2598821"/>
              <a:gd name="csX16" fmla="*/ 1441902 w 5802146"/>
              <a:gd name="csY16" fmla="*/ 2146434 h 2598821"/>
              <a:gd name="csX17" fmla="*/ 1730660 w 5802146"/>
              <a:gd name="csY17" fmla="*/ 2300438 h 2598821"/>
              <a:gd name="csX18" fmla="*/ 1826912 w 5802146"/>
              <a:gd name="csY18" fmla="*/ 2338939 h 2598821"/>
              <a:gd name="csX19" fmla="*/ 2086795 w 5802146"/>
              <a:gd name="csY19" fmla="*/ 2387066 h 2598821"/>
              <a:gd name="csX20" fmla="*/ 2673936 w 5802146"/>
              <a:gd name="csY20" fmla="*/ 2464068 h 2598821"/>
              <a:gd name="csX21" fmla="*/ 2991569 w 5802146"/>
              <a:gd name="csY21" fmla="*/ 2502569 h 2598821"/>
              <a:gd name="csX22" fmla="*/ 3530584 w 5802146"/>
              <a:gd name="csY22" fmla="*/ 2521819 h 2598821"/>
              <a:gd name="csX23" fmla="*/ 3915595 w 5802146"/>
              <a:gd name="csY23" fmla="*/ 2560320 h 2598821"/>
              <a:gd name="csX24" fmla="*/ 4310230 w 5802146"/>
              <a:gd name="csY24" fmla="*/ 2569946 h 2598821"/>
              <a:gd name="csX25" fmla="*/ 4791493 w 5802146"/>
              <a:gd name="csY25" fmla="*/ 2598821 h 2598821"/>
              <a:gd name="csX26" fmla="*/ 5686643 w 5802146"/>
              <a:gd name="csY26" fmla="*/ 2569946 h 2598821"/>
              <a:gd name="csX27" fmla="*/ 5763645 w 5802146"/>
              <a:gd name="csY27" fmla="*/ 2483318 h 2598821"/>
              <a:gd name="csX28" fmla="*/ 5782896 w 5802146"/>
              <a:gd name="csY28" fmla="*/ 2300438 h 2598821"/>
              <a:gd name="csX29" fmla="*/ 5802146 w 5802146"/>
              <a:gd name="csY29" fmla="*/ 2030931 h 2598821"/>
              <a:gd name="csX30" fmla="*/ 5773270 w 5802146"/>
              <a:gd name="csY30" fmla="*/ 1366788 h 2598821"/>
              <a:gd name="csX31" fmla="*/ 5715519 w 5802146"/>
              <a:gd name="csY31" fmla="*/ 1328287 h 2598821"/>
              <a:gd name="csX32" fmla="*/ 5619266 w 5802146"/>
              <a:gd name="csY32" fmla="*/ 1309036 h 2598821"/>
              <a:gd name="csX33" fmla="*/ 5417136 w 5802146"/>
              <a:gd name="csY33" fmla="*/ 1289786 h 2598821"/>
              <a:gd name="csX34" fmla="*/ 4598988 w 5802146"/>
              <a:gd name="csY34" fmla="*/ 1309036 h 2598821"/>
              <a:gd name="csX35" fmla="*/ 4435359 w 5802146"/>
              <a:gd name="csY35" fmla="*/ 1357162 h 2598821"/>
              <a:gd name="csX36" fmla="*/ 4348731 w 5802146"/>
              <a:gd name="csY36" fmla="*/ 1386038 h 2598821"/>
              <a:gd name="csX37" fmla="*/ 4213978 w 5802146"/>
              <a:gd name="csY37" fmla="*/ 1443790 h 2598821"/>
              <a:gd name="csX38" fmla="*/ 4127350 w 5802146"/>
              <a:gd name="csY38" fmla="*/ 1501541 h 2598821"/>
              <a:gd name="csX39" fmla="*/ 4031098 w 5802146"/>
              <a:gd name="csY39" fmla="*/ 1549668 h 2598821"/>
              <a:gd name="csX40" fmla="*/ 3877093 w 5802146"/>
              <a:gd name="csY40" fmla="*/ 1645920 h 2598821"/>
              <a:gd name="csX41" fmla="*/ 3828967 w 5802146"/>
              <a:gd name="csY41" fmla="*/ 1674796 h 2598821"/>
              <a:gd name="csX42" fmla="*/ 3780841 w 5802146"/>
              <a:gd name="csY42" fmla="*/ 1713297 h 2598821"/>
              <a:gd name="csX43" fmla="*/ 3723089 w 5802146"/>
              <a:gd name="csY43" fmla="*/ 1742173 h 2598821"/>
              <a:gd name="csX44" fmla="*/ 3674963 w 5802146"/>
              <a:gd name="csY44" fmla="*/ 1780674 h 2598821"/>
              <a:gd name="csX45" fmla="*/ 3597961 w 5802146"/>
              <a:gd name="csY45" fmla="*/ 1819175 h 2598821"/>
              <a:gd name="csX46" fmla="*/ 3537327 w 5802146"/>
              <a:gd name="csY46" fmla="*/ 1756962 h 2598821"/>
              <a:gd name="csX47" fmla="*/ 3472632 w 5802146"/>
              <a:gd name="csY47" fmla="*/ 1709036 h 2598821"/>
              <a:gd name="csX48" fmla="*/ 3412499 w 5802146"/>
              <a:gd name="csY48" fmla="*/ 1684722 h 2598821"/>
              <a:gd name="csX49" fmla="*/ 3357329 w 5802146"/>
              <a:gd name="csY49" fmla="*/ 1665171 h 2598821"/>
              <a:gd name="csX50" fmla="*/ 3328453 w 5802146"/>
              <a:gd name="csY50" fmla="*/ 1645920 h 2598821"/>
              <a:gd name="csX51" fmla="*/ 3261077 w 5802146"/>
              <a:gd name="csY51" fmla="*/ 1588169 h 2598821"/>
              <a:gd name="csX52" fmla="*/ 3232201 w 5802146"/>
              <a:gd name="csY52" fmla="*/ 1578543 h 2598821"/>
              <a:gd name="csX53" fmla="*/ 3155199 w 5802146"/>
              <a:gd name="csY53" fmla="*/ 1511167 h 2598821"/>
              <a:gd name="csX54" fmla="*/ 3087822 w 5802146"/>
              <a:gd name="csY54" fmla="*/ 1472666 h 2598821"/>
              <a:gd name="csX55" fmla="*/ 3039696 w 5802146"/>
              <a:gd name="csY55" fmla="*/ 1443790 h 2598821"/>
              <a:gd name="csX56" fmla="*/ 2969938 w 5802146"/>
              <a:gd name="csY56" fmla="*/ 1412232 h 2598821"/>
              <a:gd name="csX57" fmla="*/ 2914567 w 5802146"/>
              <a:gd name="csY57" fmla="*/ 1366788 h 2598821"/>
              <a:gd name="csX58" fmla="*/ 2866441 w 5802146"/>
              <a:gd name="csY58" fmla="*/ 1347537 h 2598821"/>
              <a:gd name="csX59" fmla="*/ 2789439 w 5802146"/>
              <a:gd name="csY59" fmla="*/ 1299411 h 2598821"/>
              <a:gd name="csX60" fmla="*/ 2731687 w 5802146"/>
              <a:gd name="csY60" fmla="*/ 1212783 h 2598821"/>
              <a:gd name="csX61" fmla="*/ 2760563 w 5802146"/>
              <a:gd name="csY61" fmla="*/ 577516 h 2598821"/>
              <a:gd name="csX62" fmla="*/ 2750938 w 5802146"/>
              <a:gd name="csY62" fmla="*/ 308009 h 2598821"/>
              <a:gd name="csX63" fmla="*/ 2731687 w 5802146"/>
              <a:gd name="csY63" fmla="*/ 192506 h 2598821"/>
              <a:gd name="csX64" fmla="*/ 2712437 w 5802146"/>
              <a:gd name="csY64" fmla="*/ 144379 h 2598821"/>
              <a:gd name="csX65" fmla="*/ 2654685 w 5802146"/>
              <a:gd name="csY65" fmla="*/ 77002 h 2598821"/>
              <a:gd name="csX66" fmla="*/ 2625809 w 5802146"/>
              <a:gd name="csY66" fmla="*/ 38501 h 2598821"/>
              <a:gd name="csX67" fmla="*/ 2568058 w 5802146"/>
              <a:gd name="csY67" fmla="*/ 0 h 2598821"/>
              <a:gd name="csX68" fmla="*/ 2625809 w 5802146"/>
              <a:gd name="csY68" fmla="*/ 57752 h 2598821"/>
              <a:gd name="csX0" fmla="*/ 2625809 w 5802146"/>
              <a:gd name="csY0" fmla="*/ 57752 h 2598821"/>
              <a:gd name="csX1" fmla="*/ 55864 w 5802146"/>
              <a:gd name="csY1" fmla="*/ 67377 h 2598821"/>
              <a:gd name="csX2" fmla="*/ 10895 w 5802146"/>
              <a:gd name="csY2" fmla="*/ 131872 h 2598821"/>
              <a:gd name="csX3" fmla="*/ 1370 w 5802146"/>
              <a:gd name="csY3" fmla="*/ 543376 h 2598821"/>
              <a:gd name="csX4" fmla="*/ 20822 w 5802146"/>
              <a:gd name="csY4" fmla="*/ 1101692 h 2598821"/>
              <a:gd name="csX5" fmla="*/ 49498 w 5802146"/>
              <a:gd name="csY5" fmla="*/ 1214512 h 2598821"/>
              <a:gd name="csX6" fmla="*/ 66266 w 5802146"/>
              <a:gd name="csY6" fmla="*/ 1222283 h 2598821"/>
              <a:gd name="csX7" fmla="*/ 68948 w 5802146"/>
              <a:gd name="csY7" fmla="*/ 1218222 h 2598821"/>
              <a:gd name="csX8" fmla="*/ 85918 w 5802146"/>
              <a:gd name="csY8" fmla="*/ 1202356 h 2598821"/>
              <a:gd name="csX9" fmla="*/ 65489 w 5802146"/>
              <a:gd name="csY9" fmla="*/ 1232034 h 2598821"/>
              <a:gd name="csX10" fmla="*/ 113616 w 5802146"/>
              <a:gd name="csY10" fmla="*/ 1251284 h 2598821"/>
              <a:gd name="csX11" fmla="*/ 748883 w 5802146"/>
              <a:gd name="csY11" fmla="*/ 1270535 h 2598821"/>
              <a:gd name="csX12" fmla="*/ 999140 w 5802146"/>
              <a:gd name="csY12" fmla="*/ 1578543 h 2598821"/>
              <a:gd name="csX13" fmla="*/ 1047266 w 5802146"/>
              <a:gd name="csY13" fmla="*/ 1665171 h 2598821"/>
              <a:gd name="csX14" fmla="*/ 1114643 w 5802146"/>
              <a:gd name="csY14" fmla="*/ 1761423 h 2598821"/>
              <a:gd name="csX15" fmla="*/ 1172395 w 5802146"/>
              <a:gd name="csY15" fmla="*/ 1867301 h 2598821"/>
              <a:gd name="csX16" fmla="*/ 1441902 w 5802146"/>
              <a:gd name="csY16" fmla="*/ 2146434 h 2598821"/>
              <a:gd name="csX17" fmla="*/ 1730660 w 5802146"/>
              <a:gd name="csY17" fmla="*/ 2300438 h 2598821"/>
              <a:gd name="csX18" fmla="*/ 1826912 w 5802146"/>
              <a:gd name="csY18" fmla="*/ 2338939 h 2598821"/>
              <a:gd name="csX19" fmla="*/ 2086795 w 5802146"/>
              <a:gd name="csY19" fmla="*/ 2387066 h 2598821"/>
              <a:gd name="csX20" fmla="*/ 2673936 w 5802146"/>
              <a:gd name="csY20" fmla="*/ 2464068 h 2598821"/>
              <a:gd name="csX21" fmla="*/ 2991569 w 5802146"/>
              <a:gd name="csY21" fmla="*/ 2502569 h 2598821"/>
              <a:gd name="csX22" fmla="*/ 3530584 w 5802146"/>
              <a:gd name="csY22" fmla="*/ 2521819 h 2598821"/>
              <a:gd name="csX23" fmla="*/ 3915595 w 5802146"/>
              <a:gd name="csY23" fmla="*/ 2560320 h 2598821"/>
              <a:gd name="csX24" fmla="*/ 4310230 w 5802146"/>
              <a:gd name="csY24" fmla="*/ 2569946 h 2598821"/>
              <a:gd name="csX25" fmla="*/ 4791493 w 5802146"/>
              <a:gd name="csY25" fmla="*/ 2598821 h 2598821"/>
              <a:gd name="csX26" fmla="*/ 5686643 w 5802146"/>
              <a:gd name="csY26" fmla="*/ 2569946 h 2598821"/>
              <a:gd name="csX27" fmla="*/ 5763645 w 5802146"/>
              <a:gd name="csY27" fmla="*/ 2483318 h 2598821"/>
              <a:gd name="csX28" fmla="*/ 5782896 w 5802146"/>
              <a:gd name="csY28" fmla="*/ 2300438 h 2598821"/>
              <a:gd name="csX29" fmla="*/ 5802146 w 5802146"/>
              <a:gd name="csY29" fmla="*/ 2030931 h 2598821"/>
              <a:gd name="csX30" fmla="*/ 5773270 w 5802146"/>
              <a:gd name="csY30" fmla="*/ 1366788 h 2598821"/>
              <a:gd name="csX31" fmla="*/ 5715519 w 5802146"/>
              <a:gd name="csY31" fmla="*/ 1328287 h 2598821"/>
              <a:gd name="csX32" fmla="*/ 5619266 w 5802146"/>
              <a:gd name="csY32" fmla="*/ 1309036 h 2598821"/>
              <a:gd name="csX33" fmla="*/ 5417136 w 5802146"/>
              <a:gd name="csY33" fmla="*/ 1289786 h 2598821"/>
              <a:gd name="csX34" fmla="*/ 4598988 w 5802146"/>
              <a:gd name="csY34" fmla="*/ 1309036 h 2598821"/>
              <a:gd name="csX35" fmla="*/ 4435359 w 5802146"/>
              <a:gd name="csY35" fmla="*/ 1357162 h 2598821"/>
              <a:gd name="csX36" fmla="*/ 4348731 w 5802146"/>
              <a:gd name="csY36" fmla="*/ 1386038 h 2598821"/>
              <a:gd name="csX37" fmla="*/ 4213978 w 5802146"/>
              <a:gd name="csY37" fmla="*/ 1443790 h 2598821"/>
              <a:gd name="csX38" fmla="*/ 4127350 w 5802146"/>
              <a:gd name="csY38" fmla="*/ 1501541 h 2598821"/>
              <a:gd name="csX39" fmla="*/ 4031098 w 5802146"/>
              <a:gd name="csY39" fmla="*/ 1549668 h 2598821"/>
              <a:gd name="csX40" fmla="*/ 3877093 w 5802146"/>
              <a:gd name="csY40" fmla="*/ 1645920 h 2598821"/>
              <a:gd name="csX41" fmla="*/ 3828967 w 5802146"/>
              <a:gd name="csY41" fmla="*/ 1674796 h 2598821"/>
              <a:gd name="csX42" fmla="*/ 3780841 w 5802146"/>
              <a:gd name="csY42" fmla="*/ 1713297 h 2598821"/>
              <a:gd name="csX43" fmla="*/ 3723089 w 5802146"/>
              <a:gd name="csY43" fmla="*/ 1742173 h 2598821"/>
              <a:gd name="csX44" fmla="*/ 3674963 w 5802146"/>
              <a:gd name="csY44" fmla="*/ 1780674 h 2598821"/>
              <a:gd name="csX45" fmla="*/ 3597961 w 5802146"/>
              <a:gd name="csY45" fmla="*/ 1819175 h 2598821"/>
              <a:gd name="csX46" fmla="*/ 3537327 w 5802146"/>
              <a:gd name="csY46" fmla="*/ 1756962 h 2598821"/>
              <a:gd name="csX47" fmla="*/ 3472632 w 5802146"/>
              <a:gd name="csY47" fmla="*/ 1709036 h 2598821"/>
              <a:gd name="csX48" fmla="*/ 3412499 w 5802146"/>
              <a:gd name="csY48" fmla="*/ 1684722 h 2598821"/>
              <a:gd name="csX49" fmla="*/ 3357329 w 5802146"/>
              <a:gd name="csY49" fmla="*/ 1665171 h 2598821"/>
              <a:gd name="csX50" fmla="*/ 3328453 w 5802146"/>
              <a:gd name="csY50" fmla="*/ 1645920 h 2598821"/>
              <a:gd name="csX51" fmla="*/ 3261077 w 5802146"/>
              <a:gd name="csY51" fmla="*/ 1588169 h 2598821"/>
              <a:gd name="csX52" fmla="*/ 3232201 w 5802146"/>
              <a:gd name="csY52" fmla="*/ 1578543 h 2598821"/>
              <a:gd name="csX53" fmla="*/ 3155199 w 5802146"/>
              <a:gd name="csY53" fmla="*/ 1511167 h 2598821"/>
              <a:gd name="csX54" fmla="*/ 3087822 w 5802146"/>
              <a:gd name="csY54" fmla="*/ 1472666 h 2598821"/>
              <a:gd name="csX55" fmla="*/ 3039696 w 5802146"/>
              <a:gd name="csY55" fmla="*/ 1443790 h 2598821"/>
              <a:gd name="csX56" fmla="*/ 2969938 w 5802146"/>
              <a:gd name="csY56" fmla="*/ 1412232 h 2598821"/>
              <a:gd name="csX57" fmla="*/ 2914567 w 5802146"/>
              <a:gd name="csY57" fmla="*/ 1366788 h 2598821"/>
              <a:gd name="csX58" fmla="*/ 2866441 w 5802146"/>
              <a:gd name="csY58" fmla="*/ 1347537 h 2598821"/>
              <a:gd name="csX59" fmla="*/ 2789439 w 5802146"/>
              <a:gd name="csY59" fmla="*/ 1299411 h 2598821"/>
              <a:gd name="csX60" fmla="*/ 2731687 w 5802146"/>
              <a:gd name="csY60" fmla="*/ 1212783 h 2598821"/>
              <a:gd name="csX61" fmla="*/ 2760563 w 5802146"/>
              <a:gd name="csY61" fmla="*/ 577516 h 2598821"/>
              <a:gd name="csX62" fmla="*/ 2750938 w 5802146"/>
              <a:gd name="csY62" fmla="*/ 308009 h 2598821"/>
              <a:gd name="csX63" fmla="*/ 2731687 w 5802146"/>
              <a:gd name="csY63" fmla="*/ 192506 h 2598821"/>
              <a:gd name="csX64" fmla="*/ 2712437 w 5802146"/>
              <a:gd name="csY64" fmla="*/ 144379 h 2598821"/>
              <a:gd name="csX65" fmla="*/ 2654685 w 5802146"/>
              <a:gd name="csY65" fmla="*/ 77002 h 2598821"/>
              <a:gd name="csX66" fmla="*/ 2625809 w 5802146"/>
              <a:gd name="csY66" fmla="*/ 38501 h 2598821"/>
              <a:gd name="csX67" fmla="*/ 2568058 w 5802146"/>
              <a:gd name="csY67" fmla="*/ 0 h 2598821"/>
              <a:gd name="csX68" fmla="*/ 2625809 w 5802146"/>
              <a:gd name="csY68" fmla="*/ 57752 h 2598821"/>
              <a:gd name="csX0" fmla="*/ 2625809 w 5802146"/>
              <a:gd name="csY0" fmla="*/ 57752 h 2598821"/>
              <a:gd name="csX1" fmla="*/ 55864 w 5802146"/>
              <a:gd name="csY1" fmla="*/ 67377 h 2598821"/>
              <a:gd name="csX2" fmla="*/ 10895 w 5802146"/>
              <a:gd name="csY2" fmla="*/ 131872 h 2598821"/>
              <a:gd name="csX3" fmla="*/ 1370 w 5802146"/>
              <a:gd name="csY3" fmla="*/ 543376 h 2598821"/>
              <a:gd name="csX4" fmla="*/ 20822 w 5802146"/>
              <a:gd name="csY4" fmla="*/ 1101692 h 2598821"/>
              <a:gd name="csX5" fmla="*/ 49498 w 5802146"/>
              <a:gd name="csY5" fmla="*/ 1214512 h 2598821"/>
              <a:gd name="csX6" fmla="*/ 66266 w 5802146"/>
              <a:gd name="csY6" fmla="*/ 1222283 h 2598821"/>
              <a:gd name="csX7" fmla="*/ 68948 w 5802146"/>
              <a:gd name="csY7" fmla="*/ 1218222 h 2598821"/>
              <a:gd name="csX8" fmla="*/ 85918 w 5802146"/>
              <a:gd name="csY8" fmla="*/ 1202356 h 2598821"/>
              <a:gd name="csX9" fmla="*/ 165501 w 5802146"/>
              <a:gd name="csY9" fmla="*/ 1134403 h 2598821"/>
              <a:gd name="csX10" fmla="*/ 113616 w 5802146"/>
              <a:gd name="csY10" fmla="*/ 1251284 h 2598821"/>
              <a:gd name="csX11" fmla="*/ 748883 w 5802146"/>
              <a:gd name="csY11" fmla="*/ 1270535 h 2598821"/>
              <a:gd name="csX12" fmla="*/ 999140 w 5802146"/>
              <a:gd name="csY12" fmla="*/ 1578543 h 2598821"/>
              <a:gd name="csX13" fmla="*/ 1047266 w 5802146"/>
              <a:gd name="csY13" fmla="*/ 1665171 h 2598821"/>
              <a:gd name="csX14" fmla="*/ 1114643 w 5802146"/>
              <a:gd name="csY14" fmla="*/ 1761423 h 2598821"/>
              <a:gd name="csX15" fmla="*/ 1172395 w 5802146"/>
              <a:gd name="csY15" fmla="*/ 1867301 h 2598821"/>
              <a:gd name="csX16" fmla="*/ 1441902 w 5802146"/>
              <a:gd name="csY16" fmla="*/ 2146434 h 2598821"/>
              <a:gd name="csX17" fmla="*/ 1730660 w 5802146"/>
              <a:gd name="csY17" fmla="*/ 2300438 h 2598821"/>
              <a:gd name="csX18" fmla="*/ 1826912 w 5802146"/>
              <a:gd name="csY18" fmla="*/ 2338939 h 2598821"/>
              <a:gd name="csX19" fmla="*/ 2086795 w 5802146"/>
              <a:gd name="csY19" fmla="*/ 2387066 h 2598821"/>
              <a:gd name="csX20" fmla="*/ 2673936 w 5802146"/>
              <a:gd name="csY20" fmla="*/ 2464068 h 2598821"/>
              <a:gd name="csX21" fmla="*/ 2991569 w 5802146"/>
              <a:gd name="csY21" fmla="*/ 2502569 h 2598821"/>
              <a:gd name="csX22" fmla="*/ 3530584 w 5802146"/>
              <a:gd name="csY22" fmla="*/ 2521819 h 2598821"/>
              <a:gd name="csX23" fmla="*/ 3915595 w 5802146"/>
              <a:gd name="csY23" fmla="*/ 2560320 h 2598821"/>
              <a:gd name="csX24" fmla="*/ 4310230 w 5802146"/>
              <a:gd name="csY24" fmla="*/ 2569946 h 2598821"/>
              <a:gd name="csX25" fmla="*/ 4791493 w 5802146"/>
              <a:gd name="csY25" fmla="*/ 2598821 h 2598821"/>
              <a:gd name="csX26" fmla="*/ 5686643 w 5802146"/>
              <a:gd name="csY26" fmla="*/ 2569946 h 2598821"/>
              <a:gd name="csX27" fmla="*/ 5763645 w 5802146"/>
              <a:gd name="csY27" fmla="*/ 2483318 h 2598821"/>
              <a:gd name="csX28" fmla="*/ 5782896 w 5802146"/>
              <a:gd name="csY28" fmla="*/ 2300438 h 2598821"/>
              <a:gd name="csX29" fmla="*/ 5802146 w 5802146"/>
              <a:gd name="csY29" fmla="*/ 2030931 h 2598821"/>
              <a:gd name="csX30" fmla="*/ 5773270 w 5802146"/>
              <a:gd name="csY30" fmla="*/ 1366788 h 2598821"/>
              <a:gd name="csX31" fmla="*/ 5715519 w 5802146"/>
              <a:gd name="csY31" fmla="*/ 1328287 h 2598821"/>
              <a:gd name="csX32" fmla="*/ 5619266 w 5802146"/>
              <a:gd name="csY32" fmla="*/ 1309036 h 2598821"/>
              <a:gd name="csX33" fmla="*/ 5417136 w 5802146"/>
              <a:gd name="csY33" fmla="*/ 1289786 h 2598821"/>
              <a:gd name="csX34" fmla="*/ 4598988 w 5802146"/>
              <a:gd name="csY34" fmla="*/ 1309036 h 2598821"/>
              <a:gd name="csX35" fmla="*/ 4435359 w 5802146"/>
              <a:gd name="csY35" fmla="*/ 1357162 h 2598821"/>
              <a:gd name="csX36" fmla="*/ 4348731 w 5802146"/>
              <a:gd name="csY36" fmla="*/ 1386038 h 2598821"/>
              <a:gd name="csX37" fmla="*/ 4213978 w 5802146"/>
              <a:gd name="csY37" fmla="*/ 1443790 h 2598821"/>
              <a:gd name="csX38" fmla="*/ 4127350 w 5802146"/>
              <a:gd name="csY38" fmla="*/ 1501541 h 2598821"/>
              <a:gd name="csX39" fmla="*/ 4031098 w 5802146"/>
              <a:gd name="csY39" fmla="*/ 1549668 h 2598821"/>
              <a:gd name="csX40" fmla="*/ 3877093 w 5802146"/>
              <a:gd name="csY40" fmla="*/ 1645920 h 2598821"/>
              <a:gd name="csX41" fmla="*/ 3828967 w 5802146"/>
              <a:gd name="csY41" fmla="*/ 1674796 h 2598821"/>
              <a:gd name="csX42" fmla="*/ 3780841 w 5802146"/>
              <a:gd name="csY42" fmla="*/ 1713297 h 2598821"/>
              <a:gd name="csX43" fmla="*/ 3723089 w 5802146"/>
              <a:gd name="csY43" fmla="*/ 1742173 h 2598821"/>
              <a:gd name="csX44" fmla="*/ 3674963 w 5802146"/>
              <a:gd name="csY44" fmla="*/ 1780674 h 2598821"/>
              <a:gd name="csX45" fmla="*/ 3597961 w 5802146"/>
              <a:gd name="csY45" fmla="*/ 1819175 h 2598821"/>
              <a:gd name="csX46" fmla="*/ 3537327 w 5802146"/>
              <a:gd name="csY46" fmla="*/ 1756962 h 2598821"/>
              <a:gd name="csX47" fmla="*/ 3472632 w 5802146"/>
              <a:gd name="csY47" fmla="*/ 1709036 h 2598821"/>
              <a:gd name="csX48" fmla="*/ 3412499 w 5802146"/>
              <a:gd name="csY48" fmla="*/ 1684722 h 2598821"/>
              <a:gd name="csX49" fmla="*/ 3357329 w 5802146"/>
              <a:gd name="csY49" fmla="*/ 1665171 h 2598821"/>
              <a:gd name="csX50" fmla="*/ 3328453 w 5802146"/>
              <a:gd name="csY50" fmla="*/ 1645920 h 2598821"/>
              <a:gd name="csX51" fmla="*/ 3261077 w 5802146"/>
              <a:gd name="csY51" fmla="*/ 1588169 h 2598821"/>
              <a:gd name="csX52" fmla="*/ 3232201 w 5802146"/>
              <a:gd name="csY52" fmla="*/ 1578543 h 2598821"/>
              <a:gd name="csX53" fmla="*/ 3155199 w 5802146"/>
              <a:gd name="csY53" fmla="*/ 1511167 h 2598821"/>
              <a:gd name="csX54" fmla="*/ 3087822 w 5802146"/>
              <a:gd name="csY54" fmla="*/ 1472666 h 2598821"/>
              <a:gd name="csX55" fmla="*/ 3039696 w 5802146"/>
              <a:gd name="csY55" fmla="*/ 1443790 h 2598821"/>
              <a:gd name="csX56" fmla="*/ 2969938 w 5802146"/>
              <a:gd name="csY56" fmla="*/ 1412232 h 2598821"/>
              <a:gd name="csX57" fmla="*/ 2914567 w 5802146"/>
              <a:gd name="csY57" fmla="*/ 1366788 h 2598821"/>
              <a:gd name="csX58" fmla="*/ 2866441 w 5802146"/>
              <a:gd name="csY58" fmla="*/ 1347537 h 2598821"/>
              <a:gd name="csX59" fmla="*/ 2789439 w 5802146"/>
              <a:gd name="csY59" fmla="*/ 1299411 h 2598821"/>
              <a:gd name="csX60" fmla="*/ 2731687 w 5802146"/>
              <a:gd name="csY60" fmla="*/ 1212783 h 2598821"/>
              <a:gd name="csX61" fmla="*/ 2760563 w 5802146"/>
              <a:gd name="csY61" fmla="*/ 577516 h 2598821"/>
              <a:gd name="csX62" fmla="*/ 2750938 w 5802146"/>
              <a:gd name="csY62" fmla="*/ 308009 h 2598821"/>
              <a:gd name="csX63" fmla="*/ 2731687 w 5802146"/>
              <a:gd name="csY63" fmla="*/ 192506 h 2598821"/>
              <a:gd name="csX64" fmla="*/ 2712437 w 5802146"/>
              <a:gd name="csY64" fmla="*/ 144379 h 2598821"/>
              <a:gd name="csX65" fmla="*/ 2654685 w 5802146"/>
              <a:gd name="csY65" fmla="*/ 77002 h 2598821"/>
              <a:gd name="csX66" fmla="*/ 2625809 w 5802146"/>
              <a:gd name="csY66" fmla="*/ 38501 h 2598821"/>
              <a:gd name="csX67" fmla="*/ 2568058 w 5802146"/>
              <a:gd name="csY67" fmla="*/ 0 h 2598821"/>
              <a:gd name="csX68" fmla="*/ 2625809 w 5802146"/>
              <a:gd name="csY68" fmla="*/ 57752 h 2598821"/>
              <a:gd name="csX0" fmla="*/ 2625809 w 5806976"/>
              <a:gd name="csY0" fmla="*/ 57752 h 2598821"/>
              <a:gd name="csX1" fmla="*/ 55864 w 5806976"/>
              <a:gd name="csY1" fmla="*/ 67377 h 2598821"/>
              <a:gd name="csX2" fmla="*/ 10895 w 5806976"/>
              <a:gd name="csY2" fmla="*/ 131872 h 2598821"/>
              <a:gd name="csX3" fmla="*/ 1370 w 5806976"/>
              <a:gd name="csY3" fmla="*/ 543376 h 2598821"/>
              <a:gd name="csX4" fmla="*/ 20822 w 5806976"/>
              <a:gd name="csY4" fmla="*/ 1101692 h 2598821"/>
              <a:gd name="csX5" fmla="*/ 49498 w 5806976"/>
              <a:gd name="csY5" fmla="*/ 1214512 h 2598821"/>
              <a:gd name="csX6" fmla="*/ 66266 w 5806976"/>
              <a:gd name="csY6" fmla="*/ 1222283 h 2598821"/>
              <a:gd name="csX7" fmla="*/ 68948 w 5806976"/>
              <a:gd name="csY7" fmla="*/ 1218222 h 2598821"/>
              <a:gd name="csX8" fmla="*/ 85918 w 5806976"/>
              <a:gd name="csY8" fmla="*/ 1202356 h 2598821"/>
              <a:gd name="csX9" fmla="*/ 165501 w 5806976"/>
              <a:gd name="csY9" fmla="*/ 1134403 h 2598821"/>
              <a:gd name="csX10" fmla="*/ 113616 w 5806976"/>
              <a:gd name="csY10" fmla="*/ 1251284 h 2598821"/>
              <a:gd name="csX11" fmla="*/ 748883 w 5806976"/>
              <a:gd name="csY11" fmla="*/ 1270535 h 2598821"/>
              <a:gd name="csX12" fmla="*/ 999140 w 5806976"/>
              <a:gd name="csY12" fmla="*/ 1578543 h 2598821"/>
              <a:gd name="csX13" fmla="*/ 1047266 w 5806976"/>
              <a:gd name="csY13" fmla="*/ 1665171 h 2598821"/>
              <a:gd name="csX14" fmla="*/ 1114643 w 5806976"/>
              <a:gd name="csY14" fmla="*/ 1761423 h 2598821"/>
              <a:gd name="csX15" fmla="*/ 1172395 w 5806976"/>
              <a:gd name="csY15" fmla="*/ 1867301 h 2598821"/>
              <a:gd name="csX16" fmla="*/ 1441902 w 5806976"/>
              <a:gd name="csY16" fmla="*/ 2146434 h 2598821"/>
              <a:gd name="csX17" fmla="*/ 1730660 w 5806976"/>
              <a:gd name="csY17" fmla="*/ 2300438 h 2598821"/>
              <a:gd name="csX18" fmla="*/ 1826912 w 5806976"/>
              <a:gd name="csY18" fmla="*/ 2338939 h 2598821"/>
              <a:gd name="csX19" fmla="*/ 2086795 w 5806976"/>
              <a:gd name="csY19" fmla="*/ 2387066 h 2598821"/>
              <a:gd name="csX20" fmla="*/ 2673936 w 5806976"/>
              <a:gd name="csY20" fmla="*/ 2464068 h 2598821"/>
              <a:gd name="csX21" fmla="*/ 2991569 w 5806976"/>
              <a:gd name="csY21" fmla="*/ 2502569 h 2598821"/>
              <a:gd name="csX22" fmla="*/ 3530584 w 5806976"/>
              <a:gd name="csY22" fmla="*/ 2521819 h 2598821"/>
              <a:gd name="csX23" fmla="*/ 3915595 w 5806976"/>
              <a:gd name="csY23" fmla="*/ 2560320 h 2598821"/>
              <a:gd name="csX24" fmla="*/ 4310230 w 5806976"/>
              <a:gd name="csY24" fmla="*/ 2569946 h 2598821"/>
              <a:gd name="csX25" fmla="*/ 4791493 w 5806976"/>
              <a:gd name="csY25" fmla="*/ 2598821 h 2598821"/>
              <a:gd name="csX26" fmla="*/ 5686643 w 5806976"/>
              <a:gd name="csY26" fmla="*/ 2569946 h 2598821"/>
              <a:gd name="csX27" fmla="*/ 5537426 w 5806976"/>
              <a:gd name="csY27" fmla="*/ 2330918 h 2598821"/>
              <a:gd name="csX28" fmla="*/ 5782896 w 5806976"/>
              <a:gd name="csY28" fmla="*/ 2300438 h 2598821"/>
              <a:gd name="csX29" fmla="*/ 5802146 w 5806976"/>
              <a:gd name="csY29" fmla="*/ 2030931 h 2598821"/>
              <a:gd name="csX30" fmla="*/ 5773270 w 5806976"/>
              <a:gd name="csY30" fmla="*/ 1366788 h 2598821"/>
              <a:gd name="csX31" fmla="*/ 5715519 w 5806976"/>
              <a:gd name="csY31" fmla="*/ 1328287 h 2598821"/>
              <a:gd name="csX32" fmla="*/ 5619266 w 5806976"/>
              <a:gd name="csY32" fmla="*/ 1309036 h 2598821"/>
              <a:gd name="csX33" fmla="*/ 5417136 w 5806976"/>
              <a:gd name="csY33" fmla="*/ 1289786 h 2598821"/>
              <a:gd name="csX34" fmla="*/ 4598988 w 5806976"/>
              <a:gd name="csY34" fmla="*/ 1309036 h 2598821"/>
              <a:gd name="csX35" fmla="*/ 4435359 w 5806976"/>
              <a:gd name="csY35" fmla="*/ 1357162 h 2598821"/>
              <a:gd name="csX36" fmla="*/ 4348731 w 5806976"/>
              <a:gd name="csY36" fmla="*/ 1386038 h 2598821"/>
              <a:gd name="csX37" fmla="*/ 4213978 w 5806976"/>
              <a:gd name="csY37" fmla="*/ 1443790 h 2598821"/>
              <a:gd name="csX38" fmla="*/ 4127350 w 5806976"/>
              <a:gd name="csY38" fmla="*/ 1501541 h 2598821"/>
              <a:gd name="csX39" fmla="*/ 4031098 w 5806976"/>
              <a:gd name="csY39" fmla="*/ 1549668 h 2598821"/>
              <a:gd name="csX40" fmla="*/ 3877093 w 5806976"/>
              <a:gd name="csY40" fmla="*/ 1645920 h 2598821"/>
              <a:gd name="csX41" fmla="*/ 3828967 w 5806976"/>
              <a:gd name="csY41" fmla="*/ 1674796 h 2598821"/>
              <a:gd name="csX42" fmla="*/ 3780841 w 5806976"/>
              <a:gd name="csY42" fmla="*/ 1713297 h 2598821"/>
              <a:gd name="csX43" fmla="*/ 3723089 w 5806976"/>
              <a:gd name="csY43" fmla="*/ 1742173 h 2598821"/>
              <a:gd name="csX44" fmla="*/ 3674963 w 5806976"/>
              <a:gd name="csY44" fmla="*/ 1780674 h 2598821"/>
              <a:gd name="csX45" fmla="*/ 3597961 w 5806976"/>
              <a:gd name="csY45" fmla="*/ 1819175 h 2598821"/>
              <a:gd name="csX46" fmla="*/ 3537327 w 5806976"/>
              <a:gd name="csY46" fmla="*/ 1756962 h 2598821"/>
              <a:gd name="csX47" fmla="*/ 3472632 w 5806976"/>
              <a:gd name="csY47" fmla="*/ 1709036 h 2598821"/>
              <a:gd name="csX48" fmla="*/ 3412499 w 5806976"/>
              <a:gd name="csY48" fmla="*/ 1684722 h 2598821"/>
              <a:gd name="csX49" fmla="*/ 3357329 w 5806976"/>
              <a:gd name="csY49" fmla="*/ 1665171 h 2598821"/>
              <a:gd name="csX50" fmla="*/ 3328453 w 5806976"/>
              <a:gd name="csY50" fmla="*/ 1645920 h 2598821"/>
              <a:gd name="csX51" fmla="*/ 3261077 w 5806976"/>
              <a:gd name="csY51" fmla="*/ 1588169 h 2598821"/>
              <a:gd name="csX52" fmla="*/ 3232201 w 5806976"/>
              <a:gd name="csY52" fmla="*/ 1578543 h 2598821"/>
              <a:gd name="csX53" fmla="*/ 3155199 w 5806976"/>
              <a:gd name="csY53" fmla="*/ 1511167 h 2598821"/>
              <a:gd name="csX54" fmla="*/ 3087822 w 5806976"/>
              <a:gd name="csY54" fmla="*/ 1472666 h 2598821"/>
              <a:gd name="csX55" fmla="*/ 3039696 w 5806976"/>
              <a:gd name="csY55" fmla="*/ 1443790 h 2598821"/>
              <a:gd name="csX56" fmla="*/ 2969938 w 5806976"/>
              <a:gd name="csY56" fmla="*/ 1412232 h 2598821"/>
              <a:gd name="csX57" fmla="*/ 2914567 w 5806976"/>
              <a:gd name="csY57" fmla="*/ 1366788 h 2598821"/>
              <a:gd name="csX58" fmla="*/ 2866441 w 5806976"/>
              <a:gd name="csY58" fmla="*/ 1347537 h 2598821"/>
              <a:gd name="csX59" fmla="*/ 2789439 w 5806976"/>
              <a:gd name="csY59" fmla="*/ 1299411 h 2598821"/>
              <a:gd name="csX60" fmla="*/ 2731687 w 5806976"/>
              <a:gd name="csY60" fmla="*/ 1212783 h 2598821"/>
              <a:gd name="csX61" fmla="*/ 2760563 w 5806976"/>
              <a:gd name="csY61" fmla="*/ 577516 h 2598821"/>
              <a:gd name="csX62" fmla="*/ 2750938 w 5806976"/>
              <a:gd name="csY62" fmla="*/ 308009 h 2598821"/>
              <a:gd name="csX63" fmla="*/ 2731687 w 5806976"/>
              <a:gd name="csY63" fmla="*/ 192506 h 2598821"/>
              <a:gd name="csX64" fmla="*/ 2712437 w 5806976"/>
              <a:gd name="csY64" fmla="*/ 144379 h 2598821"/>
              <a:gd name="csX65" fmla="*/ 2654685 w 5806976"/>
              <a:gd name="csY65" fmla="*/ 77002 h 2598821"/>
              <a:gd name="csX66" fmla="*/ 2625809 w 5806976"/>
              <a:gd name="csY66" fmla="*/ 38501 h 2598821"/>
              <a:gd name="csX67" fmla="*/ 2568058 w 5806976"/>
              <a:gd name="csY67" fmla="*/ 0 h 2598821"/>
              <a:gd name="csX68" fmla="*/ 2625809 w 5806976"/>
              <a:gd name="csY68" fmla="*/ 57752 h 2598821"/>
              <a:gd name="csX0" fmla="*/ 2625809 w 5806976"/>
              <a:gd name="csY0" fmla="*/ 57752 h 2598821"/>
              <a:gd name="csX1" fmla="*/ 55864 w 5806976"/>
              <a:gd name="csY1" fmla="*/ 67377 h 2598821"/>
              <a:gd name="csX2" fmla="*/ 10895 w 5806976"/>
              <a:gd name="csY2" fmla="*/ 131872 h 2598821"/>
              <a:gd name="csX3" fmla="*/ 1370 w 5806976"/>
              <a:gd name="csY3" fmla="*/ 543376 h 2598821"/>
              <a:gd name="csX4" fmla="*/ 20822 w 5806976"/>
              <a:gd name="csY4" fmla="*/ 1101692 h 2598821"/>
              <a:gd name="csX5" fmla="*/ 49498 w 5806976"/>
              <a:gd name="csY5" fmla="*/ 1214512 h 2598821"/>
              <a:gd name="csX6" fmla="*/ 66266 w 5806976"/>
              <a:gd name="csY6" fmla="*/ 1222283 h 2598821"/>
              <a:gd name="csX7" fmla="*/ 68948 w 5806976"/>
              <a:gd name="csY7" fmla="*/ 1218222 h 2598821"/>
              <a:gd name="csX8" fmla="*/ 85918 w 5806976"/>
              <a:gd name="csY8" fmla="*/ 1202356 h 2598821"/>
              <a:gd name="csX9" fmla="*/ 165501 w 5806976"/>
              <a:gd name="csY9" fmla="*/ 1134403 h 2598821"/>
              <a:gd name="csX10" fmla="*/ 113616 w 5806976"/>
              <a:gd name="csY10" fmla="*/ 1251284 h 2598821"/>
              <a:gd name="csX11" fmla="*/ 748883 w 5806976"/>
              <a:gd name="csY11" fmla="*/ 1270535 h 2598821"/>
              <a:gd name="csX12" fmla="*/ 999140 w 5806976"/>
              <a:gd name="csY12" fmla="*/ 1578543 h 2598821"/>
              <a:gd name="csX13" fmla="*/ 1047266 w 5806976"/>
              <a:gd name="csY13" fmla="*/ 1665171 h 2598821"/>
              <a:gd name="csX14" fmla="*/ 1114643 w 5806976"/>
              <a:gd name="csY14" fmla="*/ 1761423 h 2598821"/>
              <a:gd name="csX15" fmla="*/ 1172395 w 5806976"/>
              <a:gd name="csY15" fmla="*/ 1867301 h 2598821"/>
              <a:gd name="csX16" fmla="*/ 1441902 w 5806976"/>
              <a:gd name="csY16" fmla="*/ 2146434 h 2598821"/>
              <a:gd name="csX17" fmla="*/ 1730660 w 5806976"/>
              <a:gd name="csY17" fmla="*/ 2300438 h 2598821"/>
              <a:gd name="csX18" fmla="*/ 1826912 w 5806976"/>
              <a:gd name="csY18" fmla="*/ 2338939 h 2598821"/>
              <a:gd name="csX19" fmla="*/ 2086795 w 5806976"/>
              <a:gd name="csY19" fmla="*/ 2387066 h 2598821"/>
              <a:gd name="csX20" fmla="*/ 2673936 w 5806976"/>
              <a:gd name="csY20" fmla="*/ 2464068 h 2598821"/>
              <a:gd name="csX21" fmla="*/ 2991569 w 5806976"/>
              <a:gd name="csY21" fmla="*/ 2502569 h 2598821"/>
              <a:gd name="csX22" fmla="*/ 3530584 w 5806976"/>
              <a:gd name="csY22" fmla="*/ 2521819 h 2598821"/>
              <a:gd name="csX23" fmla="*/ 3915595 w 5806976"/>
              <a:gd name="csY23" fmla="*/ 2560320 h 2598821"/>
              <a:gd name="csX24" fmla="*/ 4310230 w 5806976"/>
              <a:gd name="csY24" fmla="*/ 2569946 h 2598821"/>
              <a:gd name="csX25" fmla="*/ 4791493 w 5806976"/>
              <a:gd name="csY25" fmla="*/ 2598821 h 2598821"/>
              <a:gd name="csX26" fmla="*/ 5405655 w 5806976"/>
              <a:gd name="csY26" fmla="*/ 2527084 h 2598821"/>
              <a:gd name="csX27" fmla="*/ 5537426 w 5806976"/>
              <a:gd name="csY27" fmla="*/ 2330918 h 2598821"/>
              <a:gd name="csX28" fmla="*/ 5782896 w 5806976"/>
              <a:gd name="csY28" fmla="*/ 2300438 h 2598821"/>
              <a:gd name="csX29" fmla="*/ 5802146 w 5806976"/>
              <a:gd name="csY29" fmla="*/ 2030931 h 2598821"/>
              <a:gd name="csX30" fmla="*/ 5773270 w 5806976"/>
              <a:gd name="csY30" fmla="*/ 1366788 h 2598821"/>
              <a:gd name="csX31" fmla="*/ 5715519 w 5806976"/>
              <a:gd name="csY31" fmla="*/ 1328287 h 2598821"/>
              <a:gd name="csX32" fmla="*/ 5619266 w 5806976"/>
              <a:gd name="csY32" fmla="*/ 1309036 h 2598821"/>
              <a:gd name="csX33" fmla="*/ 5417136 w 5806976"/>
              <a:gd name="csY33" fmla="*/ 1289786 h 2598821"/>
              <a:gd name="csX34" fmla="*/ 4598988 w 5806976"/>
              <a:gd name="csY34" fmla="*/ 1309036 h 2598821"/>
              <a:gd name="csX35" fmla="*/ 4435359 w 5806976"/>
              <a:gd name="csY35" fmla="*/ 1357162 h 2598821"/>
              <a:gd name="csX36" fmla="*/ 4348731 w 5806976"/>
              <a:gd name="csY36" fmla="*/ 1386038 h 2598821"/>
              <a:gd name="csX37" fmla="*/ 4213978 w 5806976"/>
              <a:gd name="csY37" fmla="*/ 1443790 h 2598821"/>
              <a:gd name="csX38" fmla="*/ 4127350 w 5806976"/>
              <a:gd name="csY38" fmla="*/ 1501541 h 2598821"/>
              <a:gd name="csX39" fmla="*/ 4031098 w 5806976"/>
              <a:gd name="csY39" fmla="*/ 1549668 h 2598821"/>
              <a:gd name="csX40" fmla="*/ 3877093 w 5806976"/>
              <a:gd name="csY40" fmla="*/ 1645920 h 2598821"/>
              <a:gd name="csX41" fmla="*/ 3828967 w 5806976"/>
              <a:gd name="csY41" fmla="*/ 1674796 h 2598821"/>
              <a:gd name="csX42" fmla="*/ 3780841 w 5806976"/>
              <a:gd name="csY42" fmla="*/ 1713297 h 2598821"/>
              <a:gd name="csX43" fmla="*/ 3723089 w 5806976"/>
              <a:gd name="csY43" fmla="*/ 1742173 h 2598821"/>
              <a:gd name="csX44" fmla="*/ 3674963 w 5806976"/>
              <a:gd name="csY44" fmla="*/ 1780674 h 2598821"/>
              <a:gd name="csX45" fmla="*/ 3597961 w 5806976"/>
              <a:gd name="csY45" fmla="*/ 1819175 h 2598821"/>
              <a:gd name="csX46" fmla="*/ 3537327 w 5806976"/>
              <a:gd name="csY46" fmla="*/ 1756962 h 2598821"/>
              <a:gd name="csX47" fmla="*/ 3472632 w 5806976"/>
              <a:gd name="csY47" fmla="*/ 1709036 h 2598821"/>
              <a:gd name="csX48" fmla="*/ 3412499 w 5806976"/>
              <a:gd name="csY48" fmla="*/ 1684722 h 2598821"/>
              <a:gd name="csX49" fmla="*/ 3357329 w 5806976"/>
              <a:gd name="csY49" fmla="*/ 1665171 h 2598821"/>
              <a:gd name="csX50" fmla="*/ 3328453 w 5806976"/>
              <a:gd name="csY50" fmla="*/ 1645920 h 2598821"/>
              <a:gd name="csX51" fmla="*/ 3261077 w 5806976"/>
              <a:gd name="csY51" fmla="*/ 1588169 h 2598821"/>
              <a:gd name="csX52" fmla="*/ 3232201 w 5806976"/>
              <a:gd name="csY52" fmla="*/ 1578543 h 2598821"/>
              <a:gd name="csX53" fmla="*/ 3155199 w 5806976"/>
              <a:gd name="csY53" fmla="*/ 1511167 h 2598821"/>
              <a:gd name="csX54" fmla="*/ 3087822 w 5806976"/>
              <a:gd name="csY54" fmla="*/ 1472666 h 2598821"/>
              <a:gd name="csX55" fmla="*/ 3039696 w 5806976"/>
              <a:gd name="csY55" fmla="*/ 1443790 h 2598821"/>
              <a:gd name="csX56" fmla="*/ 2969938 w 5806976"/>
              <a:gd name="csY56" fmla="*/ 1412232 h 2598821"/>
              <a:gd name="csX57" fmla="*/ 2914567 w 5806976"/>
              <a:gd name="csY57" fmla="*/ 1366788 h 2598821"/>
              <a:gd name="csX58" fmla="*/ 2866441 w 5806976"/>
              <a:gd name="csY58" fmla="*/ 1347537 h 2598821"/>
              <a:gd name="csX59" fmla="*/ 2789439 w 5806976"/>
              <a:gd name="csY59" fmla="*/ 1299411 h 2598821"/>
              <a:gd name="csX60" fmla="*/ 2731687 w 5806976"/>
              <a:gd name="csY60" fmla="*/ 1212783 h 2598821"/>
              <a:gd name="csX61" fmla="*/ 2760563 w 5806976"/>
              <a:gd name="csY61" fmla="*/ 577516 h 2598821"/>
              <a:gd name="csX62" fmla="*/ 2750938 w 5806976"/>
              <a:gd name="csY62" fmla="*/ 308009 h 2598821"/>
              <a:gd name="csX63" fmla="*/ 2731687 w 5806976"/>
              <a:gd name="csY63" fmla="*/ 192506 h 2598821"/>
              <a:gd name="csX64" fmla="*/ 2712437 w 5806976"/>
              <a:gd name="csY64" fmla="*/ 144379 h 2598821"/>
              <a:gd name="csX65" fmla="*/ 2654685 w 5806976"/>
              <a:gd name="csY65" fmla="*/ 77002 h 2598821"/>
              <a:gd name="csX66" fmla="*/ 2625809 w 5806976"/>
              <a:gd name="csY66" fmla="*/ 38501 h 2598821"/>
              <a:gd name="csX67" fmla="*/ 2568058 w 5806976"/>
              <a:gd name="csY67" fmla="*/ 0 h 2598821"/>
              <a:gd name="csX68" fmla="*/ 2625809 w 5806976"/>
              <a:gd name="csY68" fmla="*/ 57752 h 2598821"/>
              <a:gd name="csX0" fmla="*/ 2625809 w 5802146"/>
              <a:gd name="csY0" fmla="*/ 57752 h 2598821"/>
              <a:gd name="csX1" fmla="*/ 55864 w 5802146"/>
              <a:gd name="csY1" fmla="*/ 67377 h 2598821"/>
              <a:gd name="csX2" fmla="*/ 10895 w 5802146"/>
              <a:gd name="csY2" fmla="*/ 131872 h 2598821"/>
              <a:gd name="csX3" fmla="*/ 1370 w 5802146"/>
              <a:gd name="csY3" fmla="*/ 543376 h 2598821"/>
              <a:gd name="csX4" fmla="*/ 20822 w 5802146"/>
              <a:gd name="csY4" fmla="*/ 1101692 h 2598821"/>
              <a:gd name="csX5" fmla="*/ 49498 w 5802146"/>
              <a:gd name="csY5" fmla="*/ 1214512 h 2598821"/>
              <a:gd name="csX6" fmla="*/ 66266 w 5802146"/>
              <a:gd name="csY6" fmla="*/ 1222283 h 2598821"/>
              <a:gd name="csX7" fmla="*/ 68948 w 5802146"/>
              <a:gd name="csY7" fmla="*/ 1218222 h 2598821"/>
              <a:gd name="csX8" fmla="*/ 85918 w 5802146"/>
              <a:gd name="csY8" fmla="*/ 1202356 h 2598821"/>
              <a:gd name="csX9" fmla="*/ 165501 w 5802146"/>
              <a:gd name="csY9" fmla="*/ 1134403 h 2598821"/>
              <a:gd name="csX10" fmla="*/ 113616 w 5802146"/>
              <a:gd name="csY10" fmla="*/ 1251284 h 2598821"/>
              <a:gd name="csX11" fmla="*/ 748883 w 5802146"/>
              <a:gd name="csY11" fmla="*/ 1270535 h 2598821"/>
              <a:gd name="csX12" fmla="*/ 999140 w 5802146"/>
              <a:gd name="csY12" fmla="*/ 1578543 h 2598821"/>
              <a:gd name="csX13" fmla="*/ 1047266 w 5802146"/>
              <a:gd name="csY13" fmla="*/ 1665171 h 2598821"/>
              <a:gd name="csX14" fmla="*/ 1114643 w 5802146"/>
              <a:gd name="csY14" fmla="*/ 1761423 h 2598821"/>
              <a:gd name="csX15" fmla="*/ 1172395 w 5802146"/>
              <a:gd name="csY15" fmla="*/ 1867301 h 2598821"/>
              <a:gd name="csX16" fmla="*/ 1441902 w 5802146"/>
              <a:gd name="csY16" fmla="*/ 2146434 h 2598821"/>
              <a:gd name="csX17" fmla="*/ 1730660 w 5802146"/>
              <a:gd name="csY17" fmla="*/ 2300438 h 2598821"/>
              <a:gd name="csX18" fmla="*/ 1826912 w 5802146"/>
              <a:gd name="csY18" fmla="*/ 2338939 h 2598821"/>
              <a:gd name="csX19" fmla="*/ 2086795 w 5802146"/>
              <a:gd name="csY19" fmla="*/ 2387066 h 2598821"/>
              <a:gd name="csX20" fmla="*/ 2673936 w 5802146"/>
              <a:gd name="csY20" fmla="*/ 2464068 h 2598821"/>
              <a:gd name="csX21" fmla="*/ 2991569 w 5802146"/>
              <a:gd name="csY21" fmla="*/ 2502569 h 2598821"/>
              <a:gd name="csX22" fmla="*/ 3530584 w 5802146"/>
              <a:gd name="csY22" fmla="*/ 2521819 h 2598821"/>
              <a:gd name="csX23" fmla="*/ 3915595 w 5802146"/>
              <a:gd name="csY23" fmla="*/ 2560320 h 2598821"/>
              <a:gd name="csX24" fmla="*/ 4310230 w 5802146"/>
              <a:gd name="csY24" fmla="*/ 2569946 h 2598821"/>
              <a:gd name="csX25" fmla="*/ 4791493 w 5802146"/>
              <a:gd name="csY25" fmla="*/ 2598821 h 2598821"/>
              <a:gd name="csX26" fmla="*/ 5405655 w 5802146"/>
              <a:gd name="csY26" fmla="*/ 2527084 h 2598821"/>
              <a:gd name="csX27" fmla="*/ 5537426 w 5802146"/>
              <a:gd name="csY27" fmla="*/ 2330918 h 2598821"/>
              <a:gd name="csX28" fmla="*/ 5518577 w 5802146"/>
              <a:gd name="csY28" fmla="*/ 1967063 h 2598821"/>
              <a:gd name="csX29" fmla="*/ 5802146 w 5802146"/>
              <a:gd name="csY29" fmla="*/ 2030931 h 2598821"/>
              <a:gd name="csX30" fmla="*/ 5773270 w 5802146"/>
              <a:gd name="csY30" fmla="*/ 1366788 h 2598821"/>
              <a:gd name="csX31" fmla="*/ 5715519 w 5802146"/>
              <a:gd name="csY31" fmla="*/ 1328287 h 2598821"/>
              <a:gd name="csX32" fmla="*/ 5619266 w 5802146"/>
              <a:gd name="csY32" fmla="*/ 1309036 h 2598821"/>
              <a:gd name="csX33" fmla="*/ 5417136 w 5802146"/>
              <a:gd name="csY33" fmla="*/ 1289786 h 2598821"/>
              <a:gd name="csX34" fmla="*/ 4598988 w 5802146"/>
              <a:gd name="csY34" fmla="*/ 1309036 h 2598821"/>
              <a:gd name="csX35" fmla="*/ 4435359 w 5802146"/>
              <a:gd name="csY35" fmla="*/ 1357162 h 2598821"/>
              <a:gd name="csX36" fmla="*/ 4348731 w 5802146"/>
              <a:gd name="csY36" fmla="*/ 1386038 h 2598821"/>
              <a:gd name="csX37" fmla="*/ 4213978 w 5802146"/>
              <a:gd name="csY37" fmla="*/ 1443790 h 2598821"/>
              <a:gd name="csX38" fmla="*/ 4127350 w 5802146"/>
              <a:gd name="csY38" fmla="*/ 1501541 h 2598821"/>
              <a:gd name="csX39" fmla="*/ 4031098 w 5802146"/>
              <a:gd name="csY39" fmla="*/ 1549668 h 2598821"/>
              <a:gd name="csX40" fmla="*/ 3877093 w 5802146"/>
              <a:gd name="csY40" fmla="*/ 1645920 h 2598821"/>
              <a:gd name="csX41" fmla="*/ 3828967 w 5802146"/>
              <a:gd name="csY41" fmla="*/ 1674796 h 2598821"/>
              <a:gd name="csX42" fmla="*/ 3780841 w 5802146"/>
              <a:gd name="csY42" fmla="*/ 1713297 h 2598821"/>
              <a:gd name="csX43" fmla="*/ 3723089 w 5802146"/>
              <a:gd name="csY43" fmla="*/ 1742173 h 2598821"/>
              <a:gd name="csX44" fmla="*/ 3674963 w 5802146"/>
              <a:gd name="csY44" fmla="*/ 1780674 h 2598821"/>
              <a:gd name="csX45" fmla="*/ 3597961 w 5802146"/>
              <a:gd name="csY45" fmla="*/ 1819175 h 2598821"/>
              <a:gd name="csX46" fmla="*/ 3537327 w 5802146"/>
              <a:gd name="csY46" fmla="*/ 1756962 h 2598821"/>
              <a:gd name="csX47" fmla="*/ 3472632 w 5802146"/>
              <a:gd name="csY47" fmla="*/ 1709036 h 2598821"/>
              <a:gd name="csX48" fmla="*/ 3412499 w 5802146"/>
              <a:gd name="csY48" fmla="*/ 1684722 h 2598821"/>
              <a:gd name="csX49" fmla="*/ 3357329 w 5802146"/>
              <a:gd name="csY49" fmla="*/ 1665171 h 2598821"/>
              <a:gd name="csX50" fmla="*/ 3328453 w 5802146"/>
              <a:gd name="csY50" fmla="*/ 1645920 h 2598821"/>
              <a:gd name="csX51" fmla="*/ 3261077 w 5802146"/>
              <a:gd name="csY51" fmla="*/ 1588169 h 2598821"/>
              <a:gd name="csX52" fmla="*/ 3232201 w 5802146"/>
              <a:gd name="csY52" fmla="*/ 1578543 h 2598821"/>
              <a:gd name="csX53" fmla="*/ 3155199 w 5802146"/>
              <a:gd name="csY53" fmla="*/ 1511167 h 2598821"/>
              <a:gd name="csX54" fmla="*/ 3087822 w 5802146"/>
              <a:gd name="csY54" fmla="*/ 1472666 h 2598821"/>
              <a:gd name="csX55" fmla="*/ 3039696 w 5802146"/>
              <a:gd name="csY55" fmla="*/ 1443790 h 2598821"/>
              <a:gd name="csX56" fmla="*/ 2969938 w 5802146"/>
              <a:gd name="csY56" fmla="*/ 1412232 h 2598821"/>
              <a:gd name="csX57" fmla="*/ 2914567 w 5802146"/>
              <a:gd name="csY57" fmla="*/ 1366788 h 2598821"/>
              <a:gd name="csX58" fmla="*/ 2866441 w 5802146"/>
              <a:gd name="csY58" fmla="*/ 1347537 h 2598821"/>
              <a:gd name="csX59" fmla="*/ 2789439 w 5802146"/>
              <a:gd name="csY59" fmla="*/ 1299411 h 2598821"/>
              <a:gd name="csX60" fmla="*/ 2731687 w 5802146"/>
              <a:gd name="csY60" fmla="*/ 1212783 h 2598821"/>
              <a:gd name="csX61" fmla="*/ 2760563 w 5802146"/>
              <a:gd name="csY61" fmla="*/ 577516 h 2598821"/>
              <a:gd name="csX62" fmla="*/ 2750938 w 5802146"/>
              <a:gd name="csY62" fmla="*/ 308009 h 2598821"/>
              <a:gd name="csX63" fmla="*/ 2731687 w 5802146"/>
              <a:gd name="csY63" fmla="*/ 192506 h 2598821"/>
              <a:gd name="csX64" fmla="*/ 2712437 w 5802146"/>
              <a:gd name="csY64" fmla="*/ 144379 h 2598821"/>
              <a:gd name="csX65" fmla="*/ 2654685 w 5802146"/>
              <a:gd name="csY65" fmla="*/ 77002 h 2598821"/>
              <a:gd name="csX66" fmla="*/ 2625809 w 5802146"/>
              <a:gd name="csY66" fmla="*/ 38501 h 2598821"/>
              <a:gd name="csX67" fmla="*/ 2568058 w 5802146"/>
              <a:gd name="csY67" fmla="*/ 0 h 2598821"/>
              <a:gd name="csX68" fmla="*/ 2625809 w 5802146"/>
              <a:gd name="csY68" fmla="*/ 57752 h 2598821"/>
              <a:gd name="csX0" fmla="*/ 2625809 w 5781826"/>
              <a:gd name="csY0" fmla="*/ 57752 h 2598821"/>
              <a:gd name="csX1" fmla="*/ 55864 w 5781826"/>
              <a:gd name="csY1" fmla="*/ 67377 h 2598821"/>
              <a:gd name="csX2" fmla="*/ 10895 w 5781826"/>
              <a:gd name="csY2" fmla="*/ 131872 h 2598821"/>
              <a:gd name="csX3" fmla="*/ 1370 w 5781826"/>
              <a:gd name="csY3" fmla="*/ 543376 h 2598821"/>
              <a:gd name="csX4" fmla="*/ 20822 w 5781826"/>
              <a:gd name="csY4" fmla="*/ 1101692 h 2598821"/>
              <a:gd name="csX5" fmla="*/ 49498 w 5781826"/>
              <a:gd name="csY5" fmla="*/ 1214512 h 2598821"/>
              <a:gd name="csX6" fmla="*/ 66266 w 5781826"/>
              <a:gd name="csY6" fmla="*/ 1222283 h 2598821"/>
              <a:gd name="csX7" fmla="*/ 68948 w 5781826"/>
              <a:gd name="csY7" fmla="*/ 1218222 h 2598821"/>
              <a:gd name="csX8" fmla="*/ 85918 w 5781826"/>
              <a:gd name="csY8" fmla="*/ 1202356 h 2598821"/>
              <a:gd name="csX9" fmla="*/ 165501 w 5781826"/>
              <a:gd name="csY9" fmla="*/ 1134403 h 2598821"/>
              <a:gd name="csX10" fmla="*/ 113616 w 5781826"/>
              <a:gd name="csY10" fmla="*/ 1251284 h 2598821"/>
              <a:gd name="csX11" fmla="*/ 748883 w 5781826"/>
              <a:gd name="csY11" fmla="*/ 1270535 h 2598821"/>
              <a:gd name="csX12" fmla="*/ 999140 w 5781826"/>
              <a:gd name="csY12" fmla="*/ 1578543 h 2598821"/>
              <a:gd name="csX13" fmla="*/ 1047266 w 5781826"/>
              <a:gd name="csY13" fmla="*/ 1665171 h 2598821"/>
              <a:gd name="csX14" fmla="*/ 1114643 w 5781826"/>
              <a:gd name="csY14" fmla="*/ 1761423 h 2598821"/>
              <a:gd name="csX15" fmla="*/ 1172395 w 5781826"/>
              <a:gd name="csY15" fmla="*/ 1867301 h 2598821"/>
              <a:gd name="csX16" fmla="*/ 1441902 w 5781826"/>
              <a:gd name="csY16" fmla="*/ 2146434 h 2598821"/>
              <a:gd name="csX17" fmla="*/ 1730660 w 5781826"/>
              <a:gd name="csY17" fmla="*/ 2300438 h 2598821"/>
              <a:gd name="csX18" fmla="*/ 1826912 w 5781826"/>
              <a:gd name="csY18" fmla="*/ 2338939 h 2598821"/>
              <a:gd name="csX19" fmla="*/ 2086795 w 5781826"/>
              <a:gd name="csY19" fmla="*/ 2387066 h 2598821"/>
              <a:gd name="csX20" fmla="*/ 2673936 w 5781826"/>
              <a:gd name="csY20" fmla="*/ 2464068 h 2598821"/>
              <a:gd name="csX21" fmla="*/ 2991569 w 5781826"/>
              <a:gd name="csY21" fmla="*/ 2502569 h 2598821"/>
              <a:gd name="csX22" fmla="*/ 3530584 w 5781826"/>
              <a:gd name="csY22" fmla="*/ 2521819 h 2598821"/>
              <a:gd name="csX23" fmla="*/ 3915595 w 5781826"/>
              <a:gd name="csY23" fmla="*/ 2560320 h 2598821"/>
              <a:gd name="csX24" fmla="*/ 4310230 w 5781826"/>
              <a:gd name="csY24" fmla="*/ 2569946 h 2598821"/>
              <a:gd name="csX25" fmla="*/ 4791493 w 5781826"/>
              <a:gd name="csY25" fmla="*/ 2598821 h 2598821"/>
              <a:gd name="csX26" fmla="*/ 5405655 w 5781826"/>
              <a:gd name="csY26" fmla="*/ 2527084 h 2598821"/>
              <a:gd name="csX27" fmla="*/ 5537426 w 5781826"/>
              <a:gd name="csY27" fmla="*/ 2330918 h 2598821"/>
              <a:gd name="csX28" fmla="*/ 5518577 w 5781826"/>
              <a:gd name="csY28" fmla="*/ 1967063 h 2598821"/>
              <a:gd name="csX29" fmla="*/ 5521158 w 5781826"/>
              <a:gd name="csY29" fmla="*/ 1640406 h 2598821"/>
              <a:gd name="csX30" fmla="*/ 5773270 w 5781826"/>
              <a:gd name="csY30" fmla="*/ 1366788 h 2598821"/>
              <a:gd name="csX31" fmla="*/ 5715519 w 5781826"/>
              <a:gd name="csY31" fmla="*/ 1328287 h 2598821"/>
              <a:gd name="csX32" fmla="*/ 5619266 w 5781826"/>
              <a:gd name="csY32" fmla="*/ 1309036 h 2598821"/>
              <a:gd name="csX33" fmla="*/ 5417136 w 5781826"/>
              <a:gd name="csY33" fmla="*/ 1289786 h 2598821"/>
              <a:gd name="csX34" fmla="*/ 4598988 w 5781826"/>
              <a:gd name="csY34" fmla="*/ 1309036 h 2598821"/>
              <a:gd name="csX35" fmla="*/ 4435359 w 5781826"/>
              <a:gd name="csY35" fmla="*/ 1357162 h 2598821"/>
              <a:gd name="csX36" fmla="*/ 4348731 w 5781826"/>
              <a:gd name="csY36" fmla="*/ 1386038 h 2598821"/>
              <a:gd name="csX37" fmla="*/ 4213978 w 5781826"/>
              <a:gd name="csY37" fmla="*/ 1443790 h 2598821"/>
              <a:gd name="csX38" fmla="*/ 4127350 w 5781826"/>
              <a:gd name="csY38" fmla="*/ 1501541 h 2598821"/>
              <a:gd name="csX39" fmla="*/ 4031098 w 5781826"/>
              <a:gd name="csY39" fmla="*/ 1549668 h 2598821"/>
              <a:gd name="csX40" fmla="*/ 3877093 w 5781826"/>
              <a:gd name="csY40" fmla="*/ 1645920 h 2598821"/>
              <a:gd name="csX41" fmla="*/ 3828967 w 5781826"/>
              <a:gd name="csY41" fmla="*/ 1674796 h 2598821"/>
              <a:gd name="csX42" fmla="*/ 3780841 w 5781826"/>
              <a:gd name="csY42" fmla="*/ 1713297 h 2598821"/>
              <a:gd name="csX43" fmla="*/ 3723089 w 5781826"/>
              <a:gd name="csY43" fmla="*/ 1742173 h 2598821"/>
              <a:gd name="csX44" fmla="*/ 3674963 w 5781826"/>
              <a:gd name="csY44" fmla="*/ 1780674 h 2598821"/>
              <a:gd name="csX45" fmla="*/ 3597961 w 5781826"/>
              <a:gd name="csY45" fmla="*/ 1819175 h 2598821"/>
              <a:gd name="csX46" fmla="*/ 3537327 w 5781826"/>
              <a:gd name="csY46" fmla="*/ 1756962 h 2598821"/>
              <a:gd name="csX47" fmla="*/ 3472632 w 5781826"/>
              <a:gd name="csY47" fmla="*/ 1709036 h 2598821"/>
              <a:gd name="csX48" fmla="*/ 3412499 w 5781826"/>
              <a:gd name="csY48" fmla="*/ 1684722 h 2598821"/>
              <a:gd name="csX49" fmla="*/ 3357329 w 5781826"/>
              <a:gd name="csY49" fmla="*/ 1665171 h 2598821"/>
              <a:gd name="csX50" fmla="*/ 3328453 w 5781826"/>
              <a:gd name="csY50" fmla="*/ 1645920 h 2598821"/>
              <a:gd name="csX51" fmla="*/ 3261077 w 5781826"/>
              <a:gd name="csY51" fmla="*/ 1588169 h 2598821"/>
              <a:gd name="csX52" fmla="*/ 3232201 w 5781826"/>
              <a:gd name="csY52" fmla="*/ 1578543 h 2598821"/>
              <a:gd name="csX53" fmla="*/ 3155199 w 5781826"/>
              <a:gd name="csY53" fmla="*/ 1511167 h 2598821"/>
              <a:gd name="csX54" fmla="*/ 3087822 w 5781826"/>
              <a:gd name="csY54" fmla="*/ 1472666 h 2598821"/>
              <a:gd name="csX55" fmla="*/ 3039696 w 5781826"/>
              <a:gd name="csY55" fmla="*/ 1443790 h 2598821"/>
              <a:gd name="csX56" fmla="*/ 2969938 w 5781826"/>
              <a:gd name="csY56" fmla="*/ 1412232 h 2598821"/>
              <a:gd name="csX57" fmla="*/ 2914567 w 5781826"/>
              <a:gd name="csY57" fmla="*/ 1366788 h 2598821"/>
              <a:gd name="csX58" fmla="*/ 2866441 w 5781826"/>
              <a:gd name="csY58" fmla="*/ 1347537 h 2598821"/>
              <a:gd name="csX59" fmla="*/ 2789439 w 5781826"/>
              <a:gd name="csY59" fmla="*/ 1299411 h 2598821"/>
              <a:gd name="csX60" fmla="*/ 2731687 w 5781826"/>
              <a:gd name="csY60" fmla="*/ 1212783 h 2598821"/>
              <a:gd name="csX61" fmla="*/ 2760563 w 5781826"/>
              <a:gd name="csY61" fmla="*/ 577516 h 2598821"/>
              <a:gd name="csX62" fmla="*/ 2750938 w 5781826"/>
              <a:gd name="csY62" fmla="*/ 308009 h 2598821"/>
              <a:gd name="csX63" fmla="*/ 2731687 w 5781826"/>
              <a:gd name="csY63" fmla="*/ 192506 h 2598821"/>
              <a:gd name="csX64" fmla="*/ 2712437 w 5781826"/>
              <a:gd name="csY64" fmla="*/ 144379 h 2598821"/>
              <a:gd name="csX65" fmla="*/ 2654685 w 5781826"/>
              <a:gd name="csY65" fmla="*/ 77002 h 2598821"/>
              <a:gd name="csX66" fmla="*/ 2625809 w 5781826"/>
              <a:gd name="csY66" fmla="*/ 38501 h 2598821"/>
              <a:gd name="csX67" fmla="*/ 2568058 w 5781826"/>
              <a:gd name="csY67" fmla="*/ 0 h 2598821"/>
              <a:gd name="csX68" fmla="*/ 2625809 w 5781826"/>
              <a:gd name="csY68" fmla="*/ 57752 h 2598821"/>
              <a:gd name="csX0" fmla="*/ 2625809 w 5726675"/>
              <a:gd name="csY0" fmla="*/ 57752 h 2598821"/>
              <a:gd name="csX1" fmla="*/ 55864 w 5726675"/>
              <a:gd name="csY1" fmla="*/ 67377 h 2598821"/>
              <a:gd name="csX2" fmla="*/ 10895 w 5726675"/>
              <a:gd name="csY2" fmla="*/ 131872 h 2598821"/>
              <a:gd name="csX3" fmla="*/ 1370 w 5726675"/>
              <a:gd name="csY3" fmla="*/ 543376 h 2598821"/>
              <a:gd name="csX4" fmla="*/ 20822 w 5726675"/>
              <a:gd name="csY4" fmla="*/ 1101692 h 2598821"/>
              <a:gd name="csX5" fmla="*/ 49498 w 5726675"/>
              <a:gd name="csY5" fmla="*/ 1214512 h 2598821"/>
              <a:gd name="csX6" fmla="*/ 66266 w 5726675"/>
              <a:gd name="csY6" fmla="*/ 1222283 h 2598821"/>
              <a:gd name="csX7" fmla="*/ 68948 w 5726675"/>
              <a:gd name="csY7" fmla="*/ 1218222 h 2598821"/>
              <a:gd name="csX8" fmla="*/ 85918 w 5726675"/>
              <a:gd name="csY8" fmla="*/ 1202356 h 2598821"/>
              <a:gd name="csX9" fmla="*/ 165501 w 5726675"/>
              <a:gd name="csY9" fmla="*/ 1134403 h 2598821"/>
              <a:gd name="csX10" fmla="*/ 113616 w 5726675"/>
              <a:gd name="csY10" fmla="*/ 1251284 h 2598821"/>
              <a:gd name="csX11" fmla="*/ 748883 w 5726675"/>
              <a:gd name="csY11" fmla="*/ 1270535 h 2598821"/>
              <a:gd name="csX12" fmla="*/ 999140 w 5726675"/>
              <a:gd name="csY12" fmla="*/ 1578543 h 2598821"/>
              <a:gd name="csX13" fmla="*/ 1047266 w 5726675"/>
              <a:gd name="csY13" fmla="*/ 1665171 h 2598821"/>
              <a:gd name="csX14" fmla="*/ 1114643 w 5726675"/>
              <a:gd name="csY14" fmla="*/ 1761423 h 2598821"/>
              <a:gd name="csX15" fmla="*/ 1172395 w 5726675"/>
              <a:gd name="csY15" fmla="*/ 1867301 h 2598821"/>
              <a:gd name="csX16" fmla="*/ 1441902 w 5726675"/>
              <a:gd name="csY16" fmla="*/ 2146434 h 2598821"/>
              <a:gd name="csX17" fmla="*/ 1730660 w 5726675"/>
              <a:gd name="csY17" fmla="*/ 2300438 h 2598821"/>
              <a:gd name="csX18" fmla="*/ 1826912 w 5726675"/>
              <a:gd name="csY18" fmla="*/ 2338939 h 2598821"/>
              <a:gd name="csX19" fmla="*/ 2086795 w 5726675"/>
              <a:gd name="csY19" fmla="*/ 2387066 h 2598821"/>
              <a:gd name="csX20" fmla="*/ 2673936 w 5726675"/>
              <a:gd name="csY20" fmla="*/ 2464068 h 2598821"/>
              <a:gd name="csX21" fmla="*/ 2991569 w 5726675"/>
              <a:gd name="csY21" fmla="*/ 2502569 h 2598821"/>
              <a:gd name="csX22" fmla="*/ 3530584 w 5726675"/>
              <a:gd name="csY22" fmla="*/ 2521819 h 2598821"/>
              <a:gd name="csX23" fmla="*/ 3915595 w 5726675"/>
              <a:gd name="csY23" fmla="*/ 2560320 h 2598821"/>
              <a:gd name="csX24" fmla="*/ 4310230 w 5726675"/>
              <a:gd name="csY24" fmla="*/ 2569946 h 2598821"/>
              <a:gd name="csX25" fmla="*/ 4791493 w 5726675"/>
              <a:gd name="csY25" fmla="*/ 2598821 h 2598821"/>
              <a:gd name="csX26" fmla="*/ 5405655 w 5726675"/>
              <a:gd name="csY26" fmla="*/ 2527084 h 2598821"/>
              <a:gd name="csX27" fmla="*/ 5537426 w 5726675"/>
              <a:gd name="csY27" fmla="*/ 2330918 h 2598821"/>
              <a:gd name="csX28" fmla="*/ 5518577 w 5726675"/>
              <a:gd name="csY28" fmla="*/ 1967063 h 2598821"/>
              <a:gd name="csX29" fmla="*/ 5521158 w 5726675"/>
              <a:gd name="csY29" fmla="*/ 1640406 h 2598821"/>
              <a:gd name="csX30" fmla="*/ 5342264 w 5726675"/>
              <a:gd name="csY30" fmla="*/ 1466800 h 2598821"/>
              <a:gd name="csX31" fmla="*/ 5715519 w 5726675"/>
              <a:gd name="csY31" fmla="*/ 1328287 h 2598821"/>
              <a:gd name="csX32" fmla="*/ 5619266 w 5726675"/>
              <a:gd name="csY32" fmla="*/ 1309036 h 2598821"/>
              <a:gd name="csX33" fmla="*/ 5417136 w 5726675"/>
              <a:gd name="csY33" fmla="*/ 1289786 h 2598821"/>
              <a:gd name="csX34" fmla="*/ 4598988 w 5726675"/>
              <a:gd name="csY34" fmla="*/ 1309036 h 2598821"/>
              <a:gd name="csX35" fmla="*/ 4435359 w 5726675"/>
              <a:gd name="csY35" fmla="*/ 1357162 h 2598821"/>
              <a:gd name="csX36" fmla="*/ 4348731 w 5726675"/>
              <a:gd name="csY36" fmla="*/ 1386038 h 2598821"/>
              <a:gd name="csX37" fmla="*/ 4213978 w 5726675"/>
              <a:gd name="csY37" fmla="*/ 1443790 h 2598821"/>
              <a:gd name="csX38" fmla="*/ 4127350 w 5726675"/>
              <a:gd name="csY38" fmla="*/ 1501541 h 2598821"/>
              <a:gd name="csX39" fmla="*/ 4031098 w 5726675"/>
              <a:gd name="csY39" fmla="*/ 1549668 h 2598821"/>
              <a:gd name="csX40" fmla="*/ 3877093 w 5726675"/>
              <a:gd name="csY40" fmla="*/ 1645920 h 2598821"/>
              <a:gd name="csX41" fmla="*/ 3828967 w 5726675"/>
              <a:gd name="csY41" fmla="*/ 1674796 h 2598821"/>
              <a:gd name="csX42" fmla="*/ 3780841 w 5726675"/>
              <a:gd name="csY42" fmla="*/ 1713297 h 2598821"/>
              <a:gd name="csX43" fmla="*/ 3723089 w 5726675"/>
              <a:gd name="csY43" fmla="*/ 1742173 h 2598821"/>
              <a:gd name="csX44" fmla="*/ 3674963 w 5726675"/>
              <a:gd name="csY44" fmla="*/ 1780674 h 2598821"/>
              <a:gd name="csX45" fmla="*/ 3597961 w 5726675"/>
              <a:gd name="csY45" fmla="*/ 1819175 h 2598821"/>
              <a:gd name="csX46" fmla="*/ 3537327 w 5726675"/>
              <a:gd name="csY46" fmla="*/ 1756962 h 2598821"/>
              <a:gd name="csX47" fmla="*/ 3472632 w 5726675"/>
              <a:gd name="csY47" fmla="*/ 1709036 h 2598821"/>
              <a:gd name="csX48" fmla="*/ 3412499 w 5726675"/>
              <a:gd name="csY48" fmla="*/ 1684722 h 2598821"/>
              <a:gd name="csX49" fmla="*/ 3357329 w 5726675"/>
              <a:gd name="csY49" fmla="*/ 1665171 h 2598821"/>
              <a:gd name="csX50" fmla="*/ 3328453 w 5726675"/>
              <a:gd name="csY50" fmla="*/ 1645920 h 2598821"/>
              <a:gd name="csX51" fmla="*/ 3261077 w 5726675"/>
              <a:gd name="csY51" fmla="*/ 1588169 h 2598821"/>
              <a:gd name="csX52" fmla="*/ 3232201 w 5726675"/>
              <a:gd name="csY52" fmla="*/ 1578543 h 2598821"/>
              <a:gd name="csX53" fmla="*/ 3155199 w 5726675"/>
              <a:gd name="csY53" fmla="*/ 1511167 h 2598821"/>
              <a:gd name="csX54" fmla="*/ 3087822 w 5726675"/>
              <a:gd name="csY54" fmla="*/ 1472666 h 2598821"/>
              <a:gd name="csX55" fmla="*/ 3039696 w 5726675"/>
              <a:gd name="csY55" fmla="*/ 1443790 h 2598821"/>
              <a:gd name="csX56" fmla="*/ 2969938 w 5726675"/>
              <a:gd name="csY56" fmla="*/ 1412232 h 2598821"/>
              <a:gd name="csX57" fmla="*/ 2914567 w 5726675"/>
              <a:gd name="csY57" fmla="*/ 1366788 h 2598821"/>
              <a:gd name="csX58" fmla="*/ 2866441 w 5726675"/>
              <a:gd name="csY58" fmla="*/ 1347537 h 2598821"/>
              <a:gd name="csX59" fmla="*/ 2789439 w 5726675"/>
              <a:gd name="csY59" fmla="*/ 1299411 h 2598821"/>
              <a:gd name="csX60" fmla="*/ 2731687 w 5726675"/>
              <a:gd name="csY60" fmla="*/ 1212783 h 2598821"/>
              <a:gd name="csX61" fmla="*/ 2760563 w 5726675"/>
              <a:gd name="csY61" fmla="*/ 577516 h 2598821"/>
              <a:gd name="csX62" fmla="*/ 2750938 w 5726675"/>
              <a:gd name="csY62" fmla="*/ 308009 h 2598821"/>
              <a:gd name="csX63" fmla="*/ 2731687 w 5726675"/>
              <a:gd name="csY63" fmla="*/ 192506 h 2598821"/>
              <a:gd name="csX64" fmla="*/ 2712437 w 5726675"/>
              <a:gd name="csY64" fmla="*/ 144379 h 2598821"/>
              <a:gd name="csX65" fmla="*/ 2654685 w 5726675"/>
              <a:gd name="csY65" fmla="*/ 77002 h 2598821"/>
              <a:gd name="csX66" fmla="*/ 2625809 w 5726675"/>
              <a:gd name="csY66" fmla="*/ 38501 h 2598821"/>
              <a:gd name="csX67" fmla="*/ 2568058 w 5726675"/>
              <a:gd name="csY67" fmla="*/ 0 h 2598821"/>
              <a:gd name="csX68" fmla="*/ 2625809 w 5726675"/>
              <a:gd name="csY68" fmla="*/ 57752 h 2598821"/>
              <a:gd name="csX0" fmla="*/ 2625809 w 5717603"/>
              <a:gd name="csY0" fmla="*/ 57752 h 2598821"/>
              <a:gd name="csX1" fmla="*/ 55864 w 5717603"/>
              <a:gd name="csY1" fmla="*/ 67377 h 2598821"/>
              <a:gd name="csX2" fmla="*/ 10895 w 5717603"/>
              <a:gd name="csY2" fmla="*/ 131872 h 2598821"/>
              <a:gd name="csX3" fmla="*/ 1370 w 5717603"/>
              <a:gd name="csY3" fmla="*/ 543376 h 2598821"/>
              <a:gd name="csX4" fmla="*/ 20822 w 5717603"/>
              <a:gd name="csY4" fmla="*/ 1101692 h 2598821"/>
              <a:gd name="csX5" fmla="*/ 49498 w 5717603"/>
              <a:gd name="csY5" fmla="*/ 1214512 h 2598821"/>
              <a:gd name="csX6" fmla="*/ 66266 w 5717603"/>
              <a:gd name="csY6" fmla="*/ 1222283 h 2598821"/>
              <a:gd name="csX7" fmla="*/ 68948 w 5717603"/>
              <a:gd name="csY7" fmla="*/ 1218222 h 2598821"/>
              <a:gd name="csX8" fmla="*/ 85918 w 5717603"/>
              <a:gd name="csY8" fmla="*/ 1202356 h 2598821"/>
              <a:gd name="csX9" fmla="*/ 165501 w 5717603"/>
              <a:gd name="csY9" fmla="*/ 1134403 h 2598821"/>
              <a:gd name="csX10" fmla="*/ 113616 w 5717603"/>
              <a:gd name="csY10" fmla="*/ 1251284 h 2598821"/>
              <a:gd name="csX11" fmla="*/ 748883 w 5717603"/>
              <a:gd name="csY11" fmla="*/ 1270535 h 2598821"/>
              <a:gd name="csX12" fmla="*/ 999140 w 5717603"/>
              <a:gd name="csY12" fmla="*/ 1578543 h 2598821"/>
              <a:gd name="csX13" fmla="*/ 1047266 w 5717603"/>
              <a:gd name="csY13" fmla="*/ 1665171 h 2598821"/>
              <a:gd name="csX14" fmla="*/ 1114643 w 5717603"/>
              <a:gd name="csY14" fmla="*/ 1761423 h 2598821"/>
              <a:gd name="csX15" fmla="*/ 1172395 w 5717603"/>
              <a:gd name="csY15" fmla="*/ 1867301 h 2598821"/>
              <a:gd name="csX16" fmla="*/ 1441902 w 5717603"/>
              <a:gd name="csY16" fmla="*/ 2146434 h 2598821"/>
              <a:gd name="csX17" fmla="*/ 1730660 w 5717603"/>
              <a:gd name="csY17" fmla="*/ 2300438 h 2598821"/>
              <a:gd name="csX18" fmla="*/ 1826912 w 5717603"/>
              <a:gd name="csY18" fmla="*/ 2338939 h 2598821"/>
              <a:gd name="csX19" fmla="*/ 2086795 w 5717603"/>
              <a:gd name="csY19" fmla="*/ 2387066 h 2598821"/>
              <a:gd name="csX20" fmla="*/ 2673936 w 5717603"/>
              <a:gd name="csY20" fmla="*/ 2464068 h 2598821"/>
              <a:gd name="csX21" fmla="*/ 2991569 w 5717603"/>
              <a:gd name="csY21" fmla="*/ 2502569 h 2598821"/>
              <a:gd name="csX22" fmla="*/ 3530584 w 5717603"/>
              <a:gd name="csY22" fmla="*/ 2521819 h 2598821"/>
              <a:gd name="csX23" fmla="*/ 3915595 w 5717603"/>
              <a:gd name="csY23" fmla="*/ 2560320 h 2598821"/>
              <a:gd name="csX24" fmla="*/ 4310230 w 5717603"/>
              <a:gd name="csY24" fmla="*/ 2569946 h 2598821"/>
              <a:gd name="csX25" fmla="*/ 4791493 w 5717603"/>
              <a:gd name="csY25" fmla="*/ 2598821 h 2598821"/>
              <a:gd name="csX26" fmla="*/ 5405655 w 5717603"/>
              <a:gd name="csY26" fmla="*/ 2527084 h 2598821"/>
              <a:gd name="csX27" fmla="*/ 5537426 w 5717603"/>
              <a:gd name="csY27" fmla="*/ 2330918 h 2598821"/>
              <a:gd name="csX28" fmla="*/ 5518577 w 5717603"/>
              <a:gd name="csY28" fmla="*/ 1967063 h 2598821"/>
              <a:gd name="csX29" fmla="*/ 5521158 w 5717603"/>
              <a:gd name="csY29" fmla="*/ 1640406 h 2598821"/>
              <a:gd name="csX30" fmla="*/ 5342264 w 5717603"/>
              <a:gd name="csY30" fmla="*/ 1466800 h 2598821"/>
              <a:gd name="csX31" fmla="*/ 5715519 w 5717603"/>
              <a:gd name="csY31" fmla="*/ 1328287 h 2598821"/>
              <a:gd name="csX32" fmla="*/ 5143016 w 5717603"/>
              <a:gd name="csY32" fmla="*/ 1370949 h 2598821"/>
              <a:gd name="csX33" fmla="*/ 5417136 w 5717603"/>
              <a:gd name="csY33" fmla="*/ 1289786 h 2598821"/>
              <a:gd name="csX34" fmla="*/ 4598988 w 5717603"/>
              <a:gd name="csY34" fmla="*/ 1309036 h 2598821"/>
              <a:gd name="csX35" fmla="*/ 4435359 w 5717603"/>
              <a:gd name="csY35" fmla="*/ 1357162 h 2598821"/>
              <a:gd name="csX36" fmla="*/ 4348731 w 5717603"/>
              <a:gd name="csY36" fmla="*/ 1386038 h 2598821"/>
              <a:gd name="csX37" fmla="*/ 4213978 w 5717603"/>
              <a:gd name="csY37" fmla="*/ 1443790 h 2598821"/>
              <a:gd name="csX38" fmla="*/ 4127350 w 5717603"/>
              <a:gd name="csY38" fmla="*/ 1501541 h 2598821"/>
              <a:gd name="csX39" fmla="*/ 4031098 w 5717603"/>
              <a:gd name="csY39" fmla="*/ 1549668 h 2598821"/>
              <a:gd name="csX40" fmla="*/ 3877093 w 5717603"/>
              <a:gd name="csY40" fmla="*/ 1645920 h 2598821"/>
              <a:gd name="csX41" fmla="*/ 3828967 w 5717603"/>
              <a:gd name="csY41" fmla="*/ 1674796 h 2598821"/>
              <a:gd name="csX42" fmla="*/ 3780841 w 5717603"/>
              <a:gd name="csY42" fmla="*/ 1713297 h 2598821"/>
              <a:gd name="csX43" fmla="*/ 3723089 w 5717603"/>
              <a:gd name="csY43" fmla="*/ 1742173 h 2598821"/>
              <a:gd name="csX44" fmla="*/ 3674963 w 5717603"/>
              <a:gd name="csY44" fmla="*/ 1780674 h 2598821"/>
              <a:gd name="csX45" fmla="*/ 3597961 w 5717603"/>
              <a:gd name="csY45" fmla="*/ 1819175 h 2598821"/>
              <a:gd name="csX46" fmla="*/ 3537327 w 5717603"/>
              <a:gd name="csY46" fmla="*/ 1756962 h 2598821"/>
              <a:gd name="csX47" fmla="*/ 3472632 w 5717603"/>
              <a:gd name="csY47" fmla="*/ 1709036 h 2598821"/>
              <a:gd name="csX48" fmla="*/ 3412499 w 5717603"/>
              <a:gd name="csY48" fmla="*/ 1684722 h 2598821"/>
              <a:gd name="csX49" fmla="*/ 3357329 w 5717603"/>
              <a:gd name="csY49" fmla="*/ 1665171 h 2598821"/>
              <a:gd name="csX50" fmla="*/ 3328453 w 5717603"/>
              <a:gd name="csY50" fmla="*/ 1645920 h 2598821"/>
              <a:gd name="csX51" fmla="*/ 3261077 w 5717603"/>
              <a:gd name="csY51" fmla="*/ 1588169 h 2598821"/>
              <a:gd name="csX52" fmla="*/ 3232201 w 5717603"/>
              <a:gd name="csY52" fmla="*/ 1578543 h 2598821"/>
              <a:gd name="csX53" fmla="*/ 3155199 w 5717603"/>
              <a:gd name="csY53" fmla="*/ 1511167 h 2598821"/>
              <a:gd name="csX54" fmla="*/ 3087822 w 5717603"/>
              <a:gd name="csY54" fmla="*/ 1472666 h 2598821"/>
              <a:gd name="csX55" fmla="*/ 3039696 w 5717603"/>
              <a:gd name="csY55" fmla="*/ 1443790 h 2598821"/>
              <a:gd name="csX56" fmla="*/ 2969938 w 5717603"/>
              <a:gd name="csY56" fmla="*/ 1412232 h 2598821"/>
              <a:gd name="csX57" fmla="*/ 2914567 w 5717603"/>
              <a:gd name="csY57" fmla="*/ 1366788 h 2598821"/>
              <a:gd name="csX58" fmla="*/ 2866441 w 5717603"/>
              <a:gd name="csY58" fmla="*/ 1347537 h 2598821"/>
              <a:gd name="csX59" fmla="*/ 2789439 w 5717603"/>
              <a:gd name="csY59" fmla="*/ 1299411 h 2598821"/>
              <a:gd name="csX60" fmla="*/ 2731687 w 5717603"/>
              <a:gd name="csY60" fmla="*/ 1212783 h 2598821"/>
              <a:gd name="csX61" fmla="*/ 2760563 w 5717603"/>
              <a:gd name="csY61" fmla="*/ 577516 h 2598821"/>
              <a:gd name="csX62" fmla="*/ 2750938 w 5717603"/>
              <a:gd name="csY62" fmla="*/ 308009 h 2598821"/>
              <a:gd name="csX63" fmla="*/ 2731687 w 5717603"/>
              <a:gd name="csY63" fmla="*/ 192506 h 2598821"/>
              <a:gd name="csX64" fmla="*/ 2712437 w 5717603"/>
              <a:gd name="csY64" fmla="*/ 144379 h 2598821"/>
              <a:gd name="csX65" fmla="*/ 2654685 w 5717603"/>
              <a:gd name="csY65" fmla="*/ 77002 h 2598821"/>
              <a:gd name="csX66" fmla="*/ 2625809 w 5717603"/>
              <a:gd name="csY66" fmla="*/ 38501 h 2598821"/>
              <a:gd name="csX67" fmla="*/ 2568058 w 5717603"/>
              <a:gd name="csY67" fmla="*/ 0 h 2598821"/>
              <a:gd name="csX68" fmla="*/ 2625809 w 5717603"/>
              <a:gd name="csY68" fmla="*/ 57752 h 2598821"/>
              <a:gd name="csX0" fmla="*/ 2625809 w 5542964"/>
              <a:gd name="csY0" fmla="*/ 57752 h 2598821"/>
              <a:gd name="csX1" fmla="*/ 55864 w 5542964"/>
              <a:gd name="csY1" fmla="*/ 67377 h 2598821"/>
              <a:gd name="csX2" fmla="*/ 10895 w 5542964"/>
              <a:gd name="csY2" fmla="*/ 131872 h 2598821"/>
              <a:gd name="csX3" fmla="*/ 1370 w 5542964"/>
              <a:gd name="csY3" fmla="*/ 543376 h 2598821"/>
              <a:gd name="csX4" fmla="*/ 20822 w 5542964"/>
              <a:gd name="csY4" fmla="*/ 1101692 h 2598821"/>
              <a:gd name="csX5" fmla="*/ 49498 w 5542964"/>
              <a:gd name="csY5" fmla="*/ 1214512 h 2598821"/>
              <a:gd name="csX6" fmla="*/ 66266 w 5542964"/>
              <a:gd name="csY6" fmla="*/ 1222283 h 2598821"/>
              <a:gd name="csX7" fmla="*/ 68948 w 5542964"/>
              <a:gd name="csY7" fmla="*/ 1218222 h 2598821"/>
              <a:gd name="csX8" fmla="*/ 85918 w 5542964"/>
              <a:gd name="csY8" fmla="*/ 1202356 h 2598821"/>
              <a:gd name="csX9" fmla="*/ 165501 w 5542964"/>
              <a:gd name="csY9" fmla="*/ 1134403 h 2598821"/>
              <a:gd name="csX10" fmla="*/ 113616 w 5542964"/>
              <a:gd name="csY10" fmla="*/ 1251284 h 2598821"/>
              <a:gd name="csX11" fmla="*/ 748883 w 5542964"/>
              <a:gd name="csY11" fmla="*/ 1270535 h 2598821"/>
              <a:gd name="csX12" fmla="*/ 999140 w 5542964"/>
              <a:gd name="csY12" fmla="*/ 1578543 h 2598821"/>
              <a:gd name="csX13" fmla="*/ 1047266 w 5542964"/>
              <a:gd name="csY13" fmla="*/ 1665171 h 2598821"/>
              <a:gd name="csX14" fmla="*/ 1114643 w 5542964"/>
              <a:gd name="csY14" fmla="*/ 1761423 h 2598821"/>
              <a:gd name="csX15" fmla="*/ 1172395 w 5542964"/>
              <a:gd name="csY15" fmla="*/ 1867301 h 2598821"/>
              <a:gd name="csX16" fmla="*/ 1441902 w 5542964"/>
              <a:gd name="csY16" fmla="*/ 2146434 h 2598821"/>
              <a:gd name="csX17" fmla="*/ 1730660 w 5542964"/>
              <a:gd name="csY17" fmla="*/ 2300438 h 2598821"/>
              <a:gd name="csX18" fmla="*/ 1826912 w 5542964"/>
              <a:gd name="csY18" fmla="*/ 2338939 h 2598821"/>
              <a:gd name="csX19" fmla="*/ 2086795 w 5542964"/>
              <a:gd name="csY19" fmla="*/ 2387066 h 2598821"/>
              <a:gd name="csX20" fmla="*/ 2673936 w 5542964"/>
              <a:gd name="csY20" fmla="*/ 2464068 h 2598821"/>
              <a:gd name="csX21" fmla="*/ 2991569 w 5542964"/>
              <a:gd name="csY21" fmla="*/ 2502569 h 2598821"/>
              <a:gd name="csX22" fmla="*/ 3530584 w 5542964"/>
              <a:gd name="csY22" fmla="*/ 2521819 h 2598821"/>
              <a:gd name="csX23" fmla="*/ 3915595 w 5542964"/>
              <a:gd name="csY23" fmla="*/ 2560320 h 2598821"/>
              <a:gd name="csX24" fmla="*/ 4310230 w 5542964"/>
              <a:gd name="csY24" fmla="*/ 2569946 h 2598821"/>
              <a:gd name="csX25" fmla="*/ 4791493 w 5542964"/>
              <a:gd name="csY25" fmla="*/ 2598821 h 2598821"/>
              <a:gd name="csX26" fmla="*/ 5405655 w 5542964"/>
              <a:gd name="csY26" fmla="*/ 2527084 h 2598821"/>
              <a:gd name="csX27" fmla="*/ 5537426 w 5542964"/>
              <a:gd name="csY27" fmla="*/ 2330918 h 2598821"/>
              <a:gd name="csX28" fmla="*/ 5518577 w 5542964"/>
              <a:gd name="csY28" fmla="*/ 1967063 h 2598821"/>
              <a:gd name="csX29" fmla="*/ 5521158 w 5542964"/>
              <a:gd name="csY29" fmla="*/ 1640406 h 2598821"/>
              <a:gd name="csX30" fmla="*/ 5342264 w 5542964"/>
              <a:gd name="csY30" fmla="*/ 1466800 h 2598821"/>
              <a:gd name="csX31" fmla="*/ 5274987 w 5542964"/>
              <a:gd name="csY31" fmla="*/ 1418774 h 2598821"/>
              <a:gd name="csX32" fmla="*/ 5143016 w 5542964"/>
              <a:gd name="csY32" fmla="*/ 1370949 h 2598821"/>
              <a:gd name="csX33" fmla="*/ 5417136 w 5542964"/>
              <a:gd name="csY33" fmla="*/ 1289786 h 2598821"/>
              <a:gd name="csX34" fmla="*/ 4598988 w 5542964"/>
              <a:gd name="csY34" fmla="*/ 1309036 h 2598821"/>
              <a:gd name="csX35" fmla="*/ 4435359 w 5542964"/>
              <a:gd name="csY35" fmla="*/ 1357162 h 2598821"/>
              <a:gd name="csX36" fmla="*/ 4348731 w 5542964"/>
              <a:gd name="csY36" fmla="*/ 1386038 h 2598821"/>
              <a:gd name="csX37" fmla="*/ 4213978 w 5542964"/>
              <a:gd name="csY37" fmla="*/ 1443790 h 2598821"/>
              <a:gd name="csX38" fmla="*/ 4127350 w 5542964"/>
              <a:gd name="csY38" fmla="*/ 1501541 h 2598821"/>
              <a:gd name="csX39" fmla="*/ 4031098 w 5542964"/>
              <a:gd name="csY39" fmla="*/ 1549668 h 2598821"/>
              <a:gd name="csX40" fmla="*/ 3877093 w 5542964"/>
              <a:gd name="csY40" fmla="*/ 1645920 h 2598821"/>
              <a:gd name="csX41" fmla="*/ 3828967 w 5542964"/>
              <a:gd name="csY41" fmla="*/ 1674796 h 2598821"/>
              <a:gd name="csX42" fmla="*/ 3780841 w 5542964"/>
              <a:gd name="csY42" fmla="*/ 1713297 h 2598821"/>
              <a:gd name="csX43" fmla="*/ 3723089 w 5542964"/>
              <a:gd name="csY43" fmla="*/ 1742173 h 2598821"/>
              <a:gd name="csX44" fmla="*/ 3674963 w 5542964"/>
              <a:gd name="csY44" fmla="*/ 1780674 h 2598821"/>
              <a:gd name="csX45" fmla="*/ 3597961 w 5542964"/>
              <a:gd name="csY45" fmla="*/ 1819175 h 2598821"/>
              <a:gd name="csX46" fmla="*/ 3537327 w 5542964"/>
              <a:gd name="csY46" fmla="*/ 1756962 h 2598821"/>
              <a:gd name="csX47" fmla="*/ 3472632 w 5542964"/>
              <a:gd name="csY47" fmla="*/ 1709036 h 2598821"/>
              <a:gd name="csX48" fmla="*/ 3412499 w 5542964"/>
              <a:gd name="csY48" fmla="*/ 1684722 h 2598821"/>
              <a:gd name="csX49" fmla="*/ 3357329 w 5542964"/>
              <a:gd name="csY49" fmla="*/ 1665171 h 2598821"/>
              <a:gd name="csX50" fmla="*/ 3328453 w 5542964"/>
              <a:gd name="csY50" fmla="*/ 1645920 h 2598821"/>
              <a:gd name="csX51" fmla="*/ 3261077 w 5542964"/>
              <a:gd name="csY51" fmla="*/ 1588169 h 2598821"/>
              <a:gd name="csX52" fmla="*/ 3232201 w 5542964"/>
              <a:gd name="csY52" fmla="*/ 1578543 h 2598821"/>
              <a:gd name="csX53" fmla="*/ 3155199 w 5542964"/>
              <a:gd name="csY53" fmla="*/ 1511167 h 2598821"/>
              <a:gd name="csX54" fmla="*/ 3087822 w 5542964"/>
              <a:gd name="csY54" fmla="*/ 1472666 h 2598821"/>
              <a:gd name="csX55" fmla="*/ 3039696 w 5542964"/>
              <a:gd name="csY55" fmla="*/ 1443790 h 2598821"/>
              <a:gd name="csX56" fmla="*/ 2969938 w 5542964"/>
              <a:gd name="csY56" fmla="*/ 1412232 h 2598821"/>
              <a:gd name="csX57" fmla="*/ 2914567 w 5542964"/>
              <a:gd name="csY57" fmla="*/ 1366788 h 2598821"/>
              <a:gd name="csX58" fmla="*/ 2866441 w 5542964"/>
              <a:gd name="csY58" fmla="*/ 1347537 h 2598821"/>
              <a:gd name="csX59" fmla="*/ 2789439 w 5542964"/>
              <a:gd name="csY59" fmla="*/ 1299411 h 2598821"/>
              <a:gd name="csX60" fmla="*/ 2731687 w 5542964"/>
              <a:gd name="csY60" fmla="*/ 1212783 h 2598821"/>
              <a:gd name="csX61" fmla="*/ 2760563 w 5542964"/>
              <a:gd name="csY61" fmla="*/ 577516 h 2598821"/>
              <a:gd name="csX62" fmla="*/ 2750938 w 5542964"/>
              <a:gd name="csY62" fmla="*/ 308009 h 2598821"/>
              <a:gd name="csX63" fmla="*/ 2731687 w 5542964"/>
              <a:gd name="csY63" fmla="*/ 192506 h 2598821"/>
              <a:gd name="csX64" fmla="*/ 2712437 w 5542964"/>
              <a:gd name="csY64" fmla="*/ 144379 h 2598821"/>
              <a:gd name="csX65" fmla="*/ 2654685 w 5542964"/>
              <a:gd name="csY65" fmla="*/ 77002 h 2598821"/>
              <a:gd name="csX66" fmla="*/ 2625809 w 5542964"/>
              <a:gd name="csY66" fmla="*/ 38501 h 2598821"/>
              <a:gd name="csX67" fmla="*/ 2568058 w 5542964"/>
              <a:gd name="csY67" fmla="*/ 0 h 2598821"/>
              <a:gd name="csX68" fmla="*/ 2625809 w 5542964"/>
              <a:gd name="csY68" fmla="*/ 57752 h 2598821"/>
              <a:gd name="csX0" fmla="*/ 2625809 w 5542964"/>
              <a:gd name="csY0" fmla="*/ 57752 h 2598821"/>
              <a:gd name="csX1" fmla="*/ 55864 w 5542964"/>
              <a:gd name="csY1" fmla="*/ 67377 h 2598821"/>
              <a:gd name="csX2" fmla="*/ 10895 w 5542964"/>
              <a:gd name="csY2" fmla="*/ 131872 h 2598821"/>
              <a:gd name="csX3" fmla="*/ 1370 w 5542964"/>
              <a:gd name="csY3" fmla="*/ 543376 h 2598821"/>
              <a:gd name="csX4" fmla="*/ 20822 w 5542964"/>
              <a:gd name="csY4" fmla="*/ 1101692 h 2598821"/>
              <a:gd name="csX5" fmla="*/ 49498 w 5542964"/>
              <a:gd name="csY5" fmla="*/ 1214512 h 2598821"/>
              <a:gd name="csX6" fmla="*/ 66266 w 5542964"/>
              <a:gd name="csY6" fmla="*/ 1222283 h 2598821"/>
              <a:gd name="csX7" fmla="*/ 68948 w 5542964"/>
              <a:gd name="csY7" fmla="*/ 1218222 h 2598821"/>
              <a:gd name="csX8" fmla="*/ 85918 w 5542964"/>
              <a:gd name="csY8" fmla="*/ 1202356 h 2598821"/>
              <a:gd name="csX9" fmla="*/ 165501 w 5542964"/>
              <a:gd name="csY9" fmla="*/ 1134403 h 2598821"/>
              <a:gd name="csX10" fmla="*/ 113616 w 5542964"/>
              <a:gd name="csY10" fmla="*/ 1251284 h 2598821"/>
              <a:gd name="csX11" fmla="*/ 748883 w 5542964"/>
              <a:gd name="csY11" fmla="*/ 1270535 h 2598821"/>
              <a:gd name="csX12" fmla="*/ 999140 w 5542964"/>
              <a:gd name="csY12" fmla="*/ 1578543 h 2598821"/>
              <a:gd name="csX13" fmla="*/ 1047266 w 5542964"/>
              <a:gd name="csY13" fmla="*/ 1665171 h 2598821"/>
              <a:gd name="csX14" fmla="*/ 1114643 w 5542964"/>
              <a:gd name="csY14" fmla="*/ 1761423 h 2598821"/>
              <a:gd name="csX15" fmla="*/ 1172395 w 5542964"/>
              <a:gd name="csY15" fmla="*/ 1867301 h 2598821"/>
              <a:gd name="csX16" fmla="*/ 1441902 w 5542964"/>
              <a:gd name="csY16" fmla="*/ 2146434 h 2598821"/>
              <a:gd name="csX17" fmla="*/ 1730660 w 5542964"/>
              <a:gd name="csY17" fmla="*/ 2300438 h 2598821"/>
              <a:gd name="csX18" fmla="*/ 1826912 w 5542964"/>
              <a:gd name="csY18" fmla="*/ 2338939 h 2598821"/>
              <a:gd name="csX19" fmla="*/ 2086795 w 5542964"/>
              <a:gd name="csY19" fmla="*/ 2387066 h 2598821"/>
              <a:gd name="csX20" fmla="*/ 2673936 w 5542964"/>
              <a:gd name="csY20" fmla="*/ 2464068 h 2598821"/>
              <a:gd name="csX21" fmla="*/ 2991569 w 5542964"/>
              <a:gd name="csY21" fmla="*/ 2502569 h 2598821"/>
              <a:gd name="csX22" fmla="*/ 3530584 w 5542964"/>
              <a:gd name="csY22" fmla="*/ 2521819 h 2598821"/>
              <a:gd name="csX23" fmla="*/ 3915595 w 5542964"/>
              <a:gd name="csY23" fmla="*/ 2560320 h 2598821"/>
              <a:gd name="csX24" fmla="*/ 4310230 w 5542964"/>
              <a:gd name="csY24" fmla="*/ 2569946 h 2598821"/>
              <a:gd name="csX25" fmla="*/ 4791493 w 5542964"/>
              <a:gd name="csY25" fmla="*/ 2598821 h 2598821"/>
              <a:gd name="csX26" fmla="*/ 5405655 w 5542964"/>
              <a:gd name="csY26" fmla="*/ 2527084 h 2598821"/>
              <a:gd name="csX27" fmla="*/ 5537426 w 5542964"/>
              <a:gd name="csY27" fmla="*/ 2330918 h 2598821"/>
              <a:gd name="csX28" fmla="*/ 5518577 w 5542964"/>
              <a:gd name="csY28" fmla="*/ 1967063 h 2598821"/>
              <a:gd name="csX29" fmla="*/ 5521158 w 5542964"/>
              <a:gd name="csY29" fmla="*/ 1640406 h 2598821"/>
              <a:gd name="csX30" fmla="*/ 5342264 w 5542964"/>
              <a:gd name="csY30" fmla="*/ 1466800 h 2598821"/>
              <a:gd name="csX31" fmla="*/ 5274987 w 5542964"/>
              <a:gd name="csY31" fmla="*/ 1418774 h 2598821"/>
              <a:gd name="csX32" fmla="*/ 5143016 w 5542964"/>
              <a:gd name="csY32" fmla="*/ 1370949 h 2598821"/>
              <a:gd name="csX33" fmla="*/ 4957555 w 5542964"/>
              <a:gd name="csY33" fmla="*/ 1325505 h 2598821"/>
              <a:gd name="csX34" fmla="*/ 4598988 w 5542964"/>
              <a:gd name="csY34" fmla="*/ 1309036 h 2598821"/>
              <a:gd name="csX35" fmla="*/ 4435359 w 5542964"/>
              <a:gd name="csY35" fmla="*/ 1357162 h 2598821"/>
              <a:gd name="csX36" fmla="*/ 4348731 w 5542964"/>
              <a:gd name="csY36" fmla="*/ 1386038 h 2598821"/>
              <a:gd name="csX37" fmla="*/ 4213978 w 5542964"/>
              <a:gd name="csY37" fmla="*/ 1443790 h 2598821"/>
              <a:gd name="csX38" fmla="*/ 4127350 w 5542964"/>
              <a:gd name="csY38" fmla="*/ 1501541 h 2598821"/>
              <a:gd name="csX39" fmla="*/ 4031098 w 5542964"/>
              <a:gd name="csY39" fmla="*/ 1549668 h 2598821"/>
              <a:gd name="csX40" fmla="*/ 3877093 w 5542964"/>
              <a:gd name="csY40" fmla="*/ 1645920 h 2598821"/>
              <a:gd name="csX41" fmla="*/ 3828967 w 5542964"/>
              <a:gd name="csY41" fmla="*/ 1674796 h 2598821"/>
              <a:gd name="csX42" fmla="*/ 3780841 w 5542964"/>
              <a:gd name="csY42" fmla="*/ 1713297 h 2598821"/>
              <a:gd name="csX43" fmla="*/ 3723089 w 5542964"/>
              <a:gd name="csY43" fmla="*/ 1742173 h 2598821"/>
              <a:gd name="csX44" fmla="*/ 3674963 w 5542964"/>
              <a:gd name="csY44" fmla="*/ 1780674 h 2598821"/>
              <a:gd name="csX45" fmla="*/ 3597961 w 5542964"/>
              <a:gd name="csY45" fmla="*/ 1819175 h 2598821"/>
              <a:gd name="csX46" fmla="*/ 3537327 w 5542964"/>
              <a:gd name="csY46" fmla="*/ 1756962 h 2598821"/>
              <a:gd name="csX47" fmla="*/ 3472632 w 5542964"/>
              <a:gd name="csY47" fmla="*/ 1709036 h 2598821"/>
              <a:gd name="csX48" fmla="*/ 3412499 w 5542964"/>
              <a:gd name="csY48" fmla="*/ 1684722 h 2598821"/>
              <a:gd name="csX49" fmla="*/ 3357329 w 5542964"/>
              <a:gd name="csY49" fmla="*/ 1665171 h 2598821"/>
              <a:gd name="csX50" fmla="*/ 3328453 w 5542964"/>
              <a:gd name="csY50" fmla="*/ 1645920 h 2598821"/>
              <a:gd name="csX51" fmla="*/ 3261077 w 5542964"/>
              <a:gd name="csY51" fmla="*/ 1588169 h 2598821"/>
              <a:gd name="csX52" fmla="*/ 3232201 w 5542964"/>
              <a:gd name="csY52" fmla="*/ 1578543 h 2598821"/>
              <a:gd name="csX53" fmla="*/ 3155199 w 5542964"/>
              <a:gd name="csY53" fmla="*/ 1511167 h 2598821"/>
              <a:gd name="csX54" fmla="*/ 3087822 w 5542964"/>
              <a:gd name="csY54" fmla="*/ 1472666 h 2598821"/>
              <a:gd name="csX55" fmla="*/ 3039696 w 5542964"/>
              <a:gd name="csY55" fmla="*/ 1443790 h 2598821"/>
              <a:gd name="csX56" fmla="*/ 2969938 w 5542964"/>
              <a:gd name="csY56" fmla="*/ 1412232 h 2598821"/>
              <a:gd name="csX57" fmla="*/ 2914567 w 5542964"/>
              <a:gd name="csY57" fmla="*/ 1366788 h 2598821"/>
              <a:gd name="csX58" fmla="*/ 2866441 w 5542964"/>
              <a:gd name="csY58" fmla="*/ 1347537 h 2598821"/>
              <a:gd name="csX59" fmla="*/ 2789439 w 5542964"/>
              <a:gd name="csY59" fmla="*/ 1299411 h 2598821"/>
              <a:gd name="csX60" fmla="*/ 2731687 w 5542964"/>
              <a:gd name="csY60" fmla="*/ 1212783 h 2598821"/>
              <a:gd name="csX61" fmla="*/ 2760563 w 5542964"/>
              <a:gd name="csY61" fmla="*/ 577516 h 2598821"/>
              <a:gd name="csX62" fmla="*/ 2750938 w 5542964"/>
              <a:gd name="csY62" fmla="*/ 308009 h 2598821"/>
              <a:gd name="csX63" fmla="*/ 2731687 w 5542964"/>
              <a:gd name="csY63" fmla="*/ 192506 h 2598821"/>
              <a:gd name="csX64" fmla="*/ 2712437 w 5542964"/>
              <a:gd name="csY64" fmla="*/ 144379 h 2598821"/>
              <a:gd name="csX65" fmla="*/ 2654685 w 5542964"/>
              <a:gd name="csY65" fmla="*/ 77002 h 2598821"/>
              <a:gd name="csX66" fmla="*/ 2625809 w 5542964"/>
              <a:gd name="csY66" fmla="*/ 38501 h 2598821"/>
              <a:gd name="csX67" fmla="*/ 2568058 w 5542964"/>
              <a:gd name="csY67" fmla="*/ 0 h 2598821"/>
              <a:gd name="csX68" fmla="*/ 2625809 w 5542964"/>
              <a:gd name="csY68" fmla="*/ 57752 h 25988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Lst>
            <a:rect l="l" t="t" r="r" b="b"/>
            <a:pathLst>
              <a:path w="5542964" h="2598821">
                <a:moveTo>
                  <a:pt x="2625809" y="57752"/>
                </a:moveTo>
                <a:lnTo>
                  <a:pt x="55864" y="67377"/>
                </a:lnTo>
                <a:cubicBezTo>
                  <a:pt x="-83285" y="68357"/>
                  <a:pt x="93278" y="111275"/>
                  <a:pt x="10895" y="131872"/>
                </a:cubicBezTo>
                <a:cubicBezTo>
                  <a:pt x="-2972" y="312149"/>
                  <a:pt x="-284" y="381739"/>
                  <a:pt x="1370" y="543376"/>
                </a:cubicBezTo>
                <a:cubicBezTo>
                  <a:pt x="3025" y="705013"/>
                  <a:pt x="7988" y="1066399"/>
                  <a:pt x="20822" y="1101692"/>
                </a:cubicBezTo>
                <a:cubicBezTo>
                  <a:pt x="24030" y="1130568"/>
                  <a:pt x="41924" y="1194414"/>
                  <a:pt x="49498" y="1214512"/>
                </a:cubicBezTo>
                <a:cubicBezTo>
                  <a:pt x="57072" y="1234610"/>
                  <a:pt x="63024" y="1221665"/>
                  <a:pt x="66266" y="1222283"/>
                </a:cubicBezTo>
                <a:cubicBezTo>
                  <a:pt x="69508" y="1222901"/>
                  <a:pt x="65673" y="1221543"/>
                  <a:pt x="68948" y="1218222"/>
                </a:cubicBezTo>
                <a:cubicBezTo>
                  <a:pt x="72223" y="1214901"/>
                  <a:pt x="69826" y="1216326"/>
                  <a:pt x="85918" y="1202356"/>
                </a:cubicBezTo>
                <a:cubicBezTo>
                  <a:pt x="102010" y="1188386"/>
                  <a:pt x="160885" y="1126248"/>
                  <a:pt x="165501" y="1134403"/>
                </a:cubicBezTo>
                <a:cubicBezTo>
                  <a:pt x="170117" y="1142558"/>
                  <a:pt x="97574" y="1244867"/>
                  <a:pt x="113616" y="1251284"/>
                </a:cubicBezTo>
                <a:cubicBezTo>
                  <a:pt x="341655" y="1229216"/>
                  <a:pt x="521103" y="1188147"/>
                  <a:pt x="748883" y="1270535"/>
                </a:cubicBezTo>
                <a:cubicBezTo>
                  <a:pt x="816428" y="1294966"/>
                  <a:pt x="981829" y="1552120"/>
                  <a:pt x="999140" y="1578543"/>
                </a:cubicBezTo>
                <a:cubicBezTo>
                  <a:pt x="1017243" y="1606174"/>
                  <a:pt x="1029627" y="1637242"/>
                  <a:pt x="1047266" y="1665171"/>
                </a:cubicBezTo>
                <a:cubicBezTo>
                  <a:pt x="1068179" y="1698283"/>
                  <a:pt x="1094029" y="1728124"/>
                  <a:pt x="1114643" y="1761423"/>
                </a:cubicBezTo>
                <a:cubicBezTo>
                  <a:pt x="1135803" y="1795605"/>
                  <a:pt x="1149341" y="1834367"/>
                  <a:pt x="1172395" y="1867301"/>
                </a:cubicBezTo>
                <a:cubicBezTo>
                  <a:pt x="1259562" y="1991826"/>
                  <a:pt x="1316066" y="2070347"/>
                  <a:pt x="1441902" y="2146434"/>
                </a:cubicBezTo>
                <a:cubicBezTo>
                  <a:pt x="1535251" y="2202877"/>
                  <a:pt x="1629376" y="2259924"/>
                  <a:pt x="1730660" y="2300438"/>
                </a:cubicBezTo>
                <a:cubicBezTo>
                  <a:pt x="1762744" y="2313272"/>
                  <a:pt x="1793336" y="2330772"/>
                  <a:pt x="1826912" y="2338939"/>
                </a:cubicBezTo>
                <a:cubicBezTo>
                  <a:pt x="1912516" y="2359762"/>
                  <a:pt x="2000035" y="2371755"/>
                  <a:pt x="2086795" y="2387066"/>
                </a:cubicBezTo>
                <a:cubicBezTo>
                  <a:pt x="2408758" y="2443883"/>
                  <a:pt x="2281215" y="2419186"/>
                  <a:pt x="2673936" y="2464068"/>
                </a:cubicBezTo>
                <a:cubicBezTo>
                  <a:pt x="2779899" y="2476178"/>
                  <a:pt x="2885310" y="2493409"/>
                  <a:pt x="2991569" y="2502569"/>
                </a:cubicBezTo>
                <a:cubicBezTo>
                  <a:pt x="3040368" y="2506776"/>
                  <a:pt x="3513036" y="2521253"/>
                  <a:pt x="3530584" y="2521819"/>
                </a:cubicBezTo>
                <a:cubicBezTo>
                  <a:pt x="3658921" y="2534653"/>
                  <a:pt x="3786863" y="2552373"/>
                  <a:pt x="3915595" y="2560320"/>
                </a:cubicBezTo>
                <a:cubicBezTo>
                  <a:pt x="4046929" y="2568427"/>
                  <a:pt x="4178773" y="2564168"/>
                  <a:pt x="4310230" y="2569946"/>
                </a:cubicBezTo>
                <a:cubicBezTo>
                  <a:pt x="4470784" y="2577003"/>
                  <a:pt x="4631072" y="2589196"/>
                  <a:pt x="4791493" y="2598821"/>
                </a:cubicBezTo>
                <a:cubicBezTo>
                  <a:pt x="5089876" y="2589196"/>
                  <a:pt x="5281333" y="2571734"/>
                  <a:pt x="5405655" y="2527084"/>
                </a:cubicBezTo>
                <a:cubicBezTo>
                  <a:pt x="5529977" y="2482434"/>
                  <a:pt x="5518606" y="2424255"/>
                  <a:pt x="5537426" y="2330918"/>
                </a:cubicBezTo>
                <a:cubicBezTo>
                  <a:pt x="5556246" y="2237581"/>
                  <a:pt x="5521288" y="2082148"/>
                  <a:pt x="5518577" y="1967063"/>
                </a:cubicBezTo>
                <a:cubicBezTo>
                  <a:pt x="5515866" y="1851978"/>
                  <a:pt x="5514741" y="1730242"/>
                  <a:pt x="5521158" y="1640406"/>
                </a:cubicBezTo>
                <a:cubicBezTo>
                  <a:pt x="5511533" y="1419025"/>
                  <a:pt x="5383292" y="1503739"/>
                  <a:pt x="5342264" y="1466800"/>
                </a:cubicBezTo>
                <a:cubicBezTo>
                  <a:pt x="5301236" y="1429861"/>
                  <a:pt x="5308195" y="1434749"/>
                  <a:pt x="5274987" y="1418774"/>
                </a:cubicBezTo>
                <a:cubicBezTo>
                  <a:pt x="5241779" y="1402799"/>
                  <a:pt x="5195921" y="1386494"/>
                  <a:pt x="5143016" y="1370949"/>
                </a:cubicBezTo>
                <a:cubicBezTo>
                  <a:pt x="5090111" y="1355404"/>
                  <a:pt x="5024932" y="1331922"/>
                  <a:pt x="4957555" y="1325505"/>
                </a:cubicBezTo>
                <a:cubicBezTo>
                  <a:pt x="4684839" y="1331922"/>
                  <a:pt x="4686021" y="1303760"/>
                  <a:pt x="4598988" y="1309036"/>
                </a:cubicBezTo>
                <a:cubicBezTo>
                  <a:pt x="4511955" y="1314312"/>
                  <a:pt x="4494853" y="1335914"/>
                  <a:pt x="4435359" y="1357162"/>
                </a:cubicBezTo>
                <a:cubicBezTo>
                  <a:pt x="4406694" y="1367399"/>
                  <a:pt x="4377076" y="1374946"/>
                  <a:pt x="4348731" y="1386038"/>
                </a:cubicBezTo>
                <a:cubicBezTo>
                  <a:pt x="4303222" y="1403846"/>
                  <a:pt x="4213978" y="1443790"/>
                  <a:pt x="4213978" y="1443790"/>
                </a:cubicBezTo>
                <a:cubicBezTo>
                  <a:pt x="4141416" y="1516352"/>
                  <a:pt x="4213123" y="1454756"/>
                  <a:pt x="4127350" y="1501541"/>
                </a:cubicBezTo>
                <a:cubicBezTo>
                  <a:pt x="4030379" y="1554434"/>
                  <a:pt x="4108176" y="1530397"/>
                  <a:pt x="4031098" y="1549668"/>
                </a:cubicBezTo>
                <a:cubicBezTo>
                  <a:pt x="3906726" y="1620737"/>
                  <a:pt x="4021284" y="1553226"/>
                  <a:pt x="3877093" y="1645920"/>
                </a:cubicBezTo>
                <a:cubicBezTo>
                  <a:pt x="3861356" y="1656036"/>
                  <a:pt x="3843576" y="1663109"/>
                  <a:pt x="3828967" y="1674796"/>
                </a:cubicBezTo>
                <a:cubicBezTo>
                  <a:pt x="3812925" y="1687630"/>
                  <a:pt x="3798173" y="1702268"/>
                  <a:pt x="3780841" y="1713297"/>
                </a:cubicBezTo>
                <a:cubicBezTo>
                  <a:pt x="3762683" y="1724852"/>
                  <a:pt x="3741247" y="1730618"/>
                  <a:pt x="3723089" y="1742173"/>
                </a:cubicBezTo>
                <a:cubicBezTo>
                  <a:pt x="3705757" y="1753202"/>
                  <a:pt x="3692459" y="1769907"/>
                  <a:pt x="3674963" y="1780674"/>
                </a:cubicBezTo>
                <a:cubicBezTo>
                  <a:pt x="3650523" y="1795714"/>
                  <a:pt x="3620900" y="1823127"/>
                  <a:pt x="3597961" y="1819175"/>
                </a:cubicBezTo>
                <a:cubicBezTo>
                  <a:pt x="3575022" y="1815223"/>
                  <a:pt x="3558215" y="1775318"/>
                  <a:pt x="3537327" y="1756962"/>
                </a:cubicBezTo>
                <a:cubicBezTo>
                  <a:pt x="3516439" y="1738606"/>
                  <a:pt x="3493437" y="1721076"/>
                  <a:pt x="3472632" y="1709036"/>
                </a:cubicBezTo>
                <a:cubicBezTo>
                  <a:pt x="3451827" y="1696996"/>
                  <a:pt x="3431716" y="1692033"/>
                  <a:pt x="3412499" y="1684722"/>
                </a:cubicBezTo>
                <a:cubicBezTo>
                  <a:pt x="3393282" y="1677411"/>
                  <a:pt x="3371337" y="1671638"/>
                  <a:pt x="3357329" y="1665171"/>
                </a:cubicBezTo>
                <a:cubicBezTo>
                  <a:pt x="3343321" y="1658704"/>
                  <a:pt x="3337340" y="1653326"/>
                  <a:pt x="3328453" y="1645920"/>
                </a:cubicBezTo>
                <a:cubicBezTo>
                  <a:pt x="3291211" y="1614884"/>
                  <a:pt x="3306960" y="1614388"/>
                  <a:pt x="3261077" y="1588169"/>
                </a:cubicBezTo>
                <a:cubicBezTo>
                  <a:pt x="3252268" y="1583135"/>
                  <a:pt x="3241826" y="1581752"/>
                  <a:pt x="3232201" y="1578543"/>
                </a:cubicBezTo>
                <a:cubicBezTo>
                  <a:pt x="3120453" y="1494734"/>
                  <a:pt x="3271486" y="1610842"/>
                  <a:pt x="3155199" y="1511167"/>
                </a:cubicBezTo>
                <a:cubicBezTo>
                  <a:pt x="3132904" y="1492057"/>
                  <a:pt x="3113699" y="1487042"/>
                  <a:pt x="3087822" y="1472666"/>
                </a:cubicBezTo>
                <a:cubicBezTo>
                  <a:pt x="3071468" y="1463581"/>
                  <a:pt x="3059343" y="1453862"/>
                  <a:pt x="3039696" y="1443790"/>
                </a:cubicBezTo>
                <a:cubicBezTo>
                  <a:pt x="3020049" y="1433718"/>
                  <a:pt x="2995130" y="1427735"/>
                  <a:pt x="2969938" y="1412232"/>
                </a:cubicBezTo>
                <a:cubicBezTo>
                  <a:pt x="2952656" y="1401597"/>
                  <a:pt x="2931816" y="1377570"/>
                  <a:pt x="2914567" y="1366788"/>
                </a:cubicBezTo>
                <a:cubicBezTo>
                  <a:pt x="2897318" y="1356006"/>
                  <a:pt x="2881654" y="1355728"/>
                  <a:pt x="2866441" y="1347537"/>
                </a:cubicBezTo>
                <a:cubicBezTo>
                  <a:pt x="2839791" y="1333187"/>
                  <a:pt x="2789439" y="1299411"/>
                  <a:pt x="2789439" y="1299411"/>
                </a:cubicBezTo>
                <a:cubicBezTo>
                  <a:pt x="2770188" y="1270535"/>
                  <a:pt x="2730111" y="1247452"/>
                  <a:pt x="2731687" y="1212783"/>
                </a:cubicBezTo>
                <a:lnTo>
                  <a:pt x="2760563" y="577516"/>
                </a:lnTo>
                <a:cubicBezTo>
                  <a:pt x="2757355" y="487680"/>
                  <a:pt x="2755924" y="397764"/>
                  <a:pt x="2750938" y="308009"/>
                </a:cubicBezTo>
                <a:cubicBezTo>
                  <a:pt x="2749255" y="277722"/>
                  <a:pt x="2742684" y="225498"/>
                  <a:pt x="2731687" y="192506"/>
                </a:cubicBezTo>
                <a:cubicBezTo>
                  <a:pt x="2726223" y="176115"/>
                  <a:pt x="2722021" y="158755"/>
                  <a:pt x="2712437" y="144379"/>
                </a:cubicBezTo>
                <a:cubicBezTo>
                  <a:pt x="2696029" y="119767"/>
                  <a:pt x="2673416" y="99896"/>
                  <a:pt x="2654685" y="77002"/>
                </a:cubicBezTo>
                <a:cubicBezTo>
                  <a:pt x="2644526" y="64586"/>
                  <a:pt x="2638643" y="48126"/>
                  <a:pt x="2625809" y="38501"/>
                </a:cubicBezTo>
                <a:cubicBezTo>
                  <a:pt x="2555683" y="-14093"/>
                  <a:pt x="2591779" y="47444"/>
                  <a:pt x="2568058" y="0"/>
                </a:cubicBezTo>
                <a:lnTo>
                  <a:pt x="2625809" y="57752"/>
                </a:lnTo>
                <a:close/>
              </a:path>
            </a:pathLst>
          </a:custGeom>
          <a:solidFill>
            <a:srgbClr val="F2F2F2">
              <a:alpha val="9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p>
        </p:txBody>
      </p:sp>
      <p:grpSp>
        <p:nvGrpSpPr>
          <p:cNvPr id="36" name="Group 35">
            <a:extLst>
              <a:ext uri="{FF2B5EF4-FFF2-40B4-BE49-F238E27FC236}">
                <a16:creationId xmlns:a16="http://schemas.microsoft.com/office/drawing/2014/main" id="{6771EC40-4F48-F33D-8B15-04D3A28DA398}"/>
              </a:ext>
            </a:extLst>
          </p:cNvPr>
          <p:cNvGrpSpPr/>
          <p:nvPr/>
        </p:nvGrpSpPr>
        <p:grpSpPr>
          <a:xfrm>
            <a:off x="785972" y="2418387"/>
            <a:ext cx="5026151" cy="1224496"/>
            <a:chOff x="1089807" y="2723025"/>
            <a:chExt cx="5026151" cy="1224496"/>
          </a:xfrm>
        </p:grpSpPr>
        <p:sp>
          <p:nvSpPr>
            <p:cNvPr id="28" name="TextBox 27">
              <a:extLst>
                <a:ext uri="{FF2B5EF4-FFF2-40B4-BE49-F238E27FC236}">
                  <a16:creationId xmlns:a16="http://schemas.microsoft.com/office/drawing/2014/main" id="{614DC35F-F3F4-35CF-BB50-565858BCEBAA}"/>
                </a:ext>
              </a:extLst>
            </p:cNvPr>
            <p:cNvSpPr txBox="1"/>
            <p:nvPr/>
          </p:nvSpPr>
          <p:spPr>
            <a:xfrm>
              <a:off x="2264967" y="2981330"/>
              <a:ext cx="3850991" cy="707886"/>
            </a:xfrm>
            <a:prstGeom prst="rect">
              <a:avLst/>
            </a:prstGeom>
            <a:noFill/>
          </p:spPr>
          <p:txBody>
            <a:bodyPr wrap="none" rtlCol="0">
              <a:spAutoFit/>
            </a:bodyPr>
            <a:lstStyle/>
            <a:p>
              <a:r>
                <a:rPr lang="en-US" sz="2000" b="1" dirty="0">
                  <a:solidFill>
                    <a:srgbClr val="00B050"/>
                  </a:solidFill>
                </a:rPr>
                <a:t>Conceptual clarification:</a:t>
              </a:r>
            </a:p>
            <a:p>
              <a:r>
                <a:rPr lang="en-US" sz="2000" dirty="0">
                  <a:solidFill>
                    <a:srgbClr val="00B050"/>
                  </a:solidFill>
                </a:rPr>
                <a:t>Meanings are precise and explicit</a:t>
              </a:r>
            </a:p>
          </p:txBody>
        </p:sp>
        <p:grpSp>
          <p:nvGrpSpPr>
            <p:cNvPr id="34" name="Group 33">
              <a:extLst>
                <a:ext uri="{FF2B5EF4-FFF2-40B4-BE49-F238E27FC236}">
                  <a16:creationId xmlns:a16="http://schemas.microsoft.com/office/drawing/2014/main" id="{F44B1B21-065E-2161-1121-36415D9658BA}"/>
                </a:ext>
              </a:extLst>
            </p:cNvPr>
            <p:cNvGrpSpPr/>
            <p:nvPr/>
          </p:nvGrpSpPr>
          <p:grpSpPr>
            <a:xfrm>
              <a:off x="1089807" y="2723025"/>
              <a:ext cx="1224496" cy="1224496"/>
              <a:chOff x="1089807" y="2723025"/>
              <a:chExt cx="1224496" cy="1224496"/>
            </a:xfrm>
          </p:grpSpPr>
          <p:pic>
            <p:nvPicPr>
              <p:cNvPr id="23" name="Graphic 22" descr="Excellent with solid fill">
                <a:extLst>
                  <a:ext uri="{FF2B5EF4-FFF2-40B4-BE49-F238E27FC236}">
                    <a16:creationId xmlns:a16="http://schemas.microsoft.com/office/drawing/2014/main" id="{F7831754-0820-B185-4A95-472C63A48E1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89807" y="2723025"/>
                <a:ext cx="1224496" cy="1224496"/>
              </a:xfrm>
              <a:prstGeom prst="rect">
                <a:avLst/>
              </a:prstGeom>
            </p:spPr>
          </p:pic>
          <p:sp>
            <p:nvSpPr>
              <p:cNvPr id="32" name="TextBox 31">
                <a:extLst>
                  <a:ext uri="{FF2B5EF4-FFF2-40B4-BE49-F238E27FC236}">
                    <a16:creationId xmlns:a16="http://schemas.microsoft.com/office/drawing/2014/main" id="{D19D0579-80DC-0634-51E5-EF8A9E28334F}"/>
                  </a:ext>
                </a:extLst>
              </p:cNvPr>
              <p:cNvSpPr txBox="1"/>
              <p:nvPr/>
            </p:nvSpPr>
            <p:spPr>
              <a:xfrm>
                <a:off x="1527167" y="3104441"/>
                <a:ext cx="349776" cy="461665"/>
              </a:xfrm>
              <a:prstGeom prst="rect">
                <a:avLst/>
              </a:prstGeom>
              <a:noFill/>
            </p:spPr>
            <p:txBody>
              <a:bodyPr wrap="none" rtlCol="0">
                <a:spAutoFit/>
              </a:bodyPr>
              <a:lstStyle/>
              <a:p>
                <a:r>
                  <a:rPr lang="en-US" sz="2400" b="1" dirty="0">
                    <a:solidFill>
                      <a:schemeClr val="bg1"/>
                    </a:solidFill>
                  </a:rPr>
                  <a:t>1</a:t>
                </a:r>
                <a:endParaRPr lang="en-NL" sz="2400" b="1" dirty="0">
                  <a:solidFill>
                    <a:schemeClr val="bg1"/>
                  </a:solidFill>
                </a:endParaRPr>
              </a:p>
            </p:txBody>
          </p:sp>
        </p:grpSp>
      </p:grpSp>
      <p:grpSp>
        <p:nvGrpSpPr>
          <p:cNvPr id="38" name="Group 37">
            <a:extLst>
              <a:ext uri="{FF2B5EF4-FFF2-40B4-BE49-F238E27FC236}">
                <a16:creationId xmlns:a16="http://schemas.microsoft.com/office/drawing/2014/main" id="{5360A695-1600-4F24-125B-3494A8B544A7}"/>
              </a:ext>
            </a:extLst>
          </p:cNvPr>
          <p:cNvGrpSpPr/>
          <p:nvPr/>
        </p:nvGrpSpPr>
        <p:grpSpPr>
          <a:xfrm>
            <a:off x="789309" y="3722997"/>
            <a:ext cx="4523769" cy="1224496"/>
            <a:chOff x="1089807" y="4326591"/>
            <a:chExt cx="4523769" cy="1224496"/>
          </a:xfrm>
        </p:grpSpPr>
        <p:sp>
          <p:nvSpPr>
            <p:cNvPr id="29" name="TextBox 28">
              <a:extLst>
                <a:ext uri="{FF2B5EF4-FFF2-40B4-BE49-F238E27FC236}">
                  <a16:creationId xmlns:a16="http://schemas.microsoft.com/office/drawing/2014/main" id="{CB458F6A-0C71-C16F-28B0-F0A0E4517E98}"/>
                </a:ext>
              </a:extLst>
            </p:cNvPr>
            <p:cNvSpPr txBox="1"/>
            <p:nvPr/>
          </p:nvSpPr>
          <p:spPr>
            <a:xfrm>
              <a:off x="2264967" y="4584896"/>
              <a:ext cx="3348609" cy="707886"/>
            </a:xfrm>
            <a:prstGeom prst="rect">
              <a:avLst/>
            </a:prstGeom>
            <a:noFill/>
          </p:spPr>
          <p:txBody>
            <a:bodyPr wrap="none" rtlCol="0">
              <a:spAutoFit/>
            </a:bodyPr>
            <a:lstStyle/>
            <a:p>
              <a:r>
                <a:rPr lang="en-US" sz="2000" b="1" dirty="0">
                  <a:solidFill>
                    <a:srgbClr val="00B050"/>
                  </a:solidFill>
                </a:rPr>
                <a:t>Computational tractability:</a:t>
              </a:r>
            </a:p>
            <a:p>
              <a:r>
                <a:rPr lang="en-US" sz="2000" dirty="0">
                  <a:solidFill>
                    <a:srgbClr val="00B050"/>
                  </a:solidFill>
                </a:rPr>
                <a:t>Machine-readable relations</a:t>
              </a:r>
            </a:p>
          </p:txBody>
        </p:sp>
        <p:grpSp>
          <p:nvGrpSpPr>
            <p:cNvPr id="37" name="Group 36">
              <a:extLst>
                <a:ext uri="{FF2B5EF4-FFF2-40B4-BE49-F238E27FC236}">
                  <a16:creationId xmlns:a16="http://schemas.microsoft.com/office/drawing/2014/main" id="{B50B6CA2-7D59-DE51-936E-623C43959A71}"/>
                </a:ext>
              </a:extLst>
            </p:cNvPr>
            <p:cNvGrpSpPr/>
            <p:nvPr/>
          </p:nvGrpSpPr>
          <p:grpSpPr>
            <a:xfrm>
              <a:off x="1089807" y="4326591"/>
              <a:ext cx="1224496" cy="1224496"/>
              <a:chOff x="1089807" y="4326591"/>
              <a:chExt cx="1224496" cy="1224496"/>
            </a:xfrm>
          </p:grpSpPr>
          <p:pic>
            <p:nvPicPr>
              <p:cNvPr id="25" name="Graphic 24" descr="Excellent with solid fill">
                <a:extLst>
                  <a:ext uri="{FF2B5EF4-FFF2-40B4-BE49-F238E27FC236}">
                    <a16:creationId xmlns:a16="http://schemas.microsoft.com/office/drawing/2014/main" id="{18CD470B-1FAE-9095-DCD5-798C90D5BA8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89807" y="4326591"/>
                <a:ext cx="1224496" cy="1224496"/>
              </a:xfrm>
              <a:prstGeom prst="rect">
                <a:avLst/>
              </a:prstGeom>
            </p:spPr>
          </p:pic>
          <p:sp>
            <p:nvSpPr>
              <p:cNvPr id="33" name="TextBox 32">
                <a:extLst>
                  <a:ext uri="{FF2B5EF4-FFF2-40B4-BE49-F238E27FC236}">
                    <a16:creationId xmlns:a16="http://schemas.microsoft.com/office/drawing/2014/main" id="{051792E4-6104-FC76-A21C-20EE61C15440}"/>
                  </a:ext>
                </a:extLst>
              </p:cNvPr>
              <p:cNvSpPr txBox="1"/>
              <p:nvPr/>
            </p:nvSpPr>
            <p:spPr>
              <a:xfrm>
                <a:off x="1527167" y="4708007"/>
                <a:ext cx="349776" cy="461665"/>
              </a:xfrm>
              <a:prstGeom prst="rect">
                <a:avLst/>
              </a:prstGeom>
              <a:noFill/>
            </p:spPr>
            <p:txBody>
              <a:bodyPr wrap="none" rtlCol="0">
                <a:spAutoFit/>
              </a:bodyPr>
              <a:lstStyle/>
              <a:p>
                <a:r>
                  <a:rPr lang="en-US" sz="2400" b="1" dirty="0">
                    <a:solidFill>
                      <a:schemeClr val="bg1"/>
                    </a:solidFill>
                  </a:rPr>
                  <a:t>2</a:t>
                </a:r>
                <a:endParaRPr lang="en-NL" sz="2400" b="1" dirty="0">
                  <a:solidFill>
                    <a:schemeClr val="bg1"/>
                  </a:solidFill>
                </a:endParaRPr>
              </a:p>
            </p:txBody>
          </p:sp>
        </p:grpSp>
      </p:grpSp>
      <p:sp>
        <p:nvSpPr>
          <p:cNvPr id="8" name="TextBox 7">
            <a:extLst>
              <a:ext uri="{FF2B5EF4-FFF2-40B4-BE49-F238E27FC236}">
                <a16:creationId xmlns:a16="http://schemas.microsoft.com/office/drawing/2014/main" id="{C71BA5A6-0767-933C-C225-6917C1E50812}"/>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2</a:t>
            </a:r>
            <a:endParaRPr lang="en-NL" sz="1000" b="1" dirty="0"/>
          </a:p>
        </p:txBody>
      </p:sp>
    </p:spTree>
    <p:extLst>
      <p:ext uri="{BB962C8B-B14F-4D97-AF65-F5344CB8AC3E}">
        <p14:creationId xmlns:p14="http://schemas.microsoft.com/office/powerpoint/2010/main" val="760574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xit" presetSubtype="0" fill="hold" grpId="0" nodeType="withEffect">
                                  <p:stCondLst>
                                    <p:cond delay="0"/>
                                  </p:stCondLst>
                                  <p:childTnLst>
                                    <p:animEffect transition="out" filter="fade">
                                      <p:cBhvr>
                                        <p:cTn id="6" dur="1000"/>
                                        <p:tgtEl>
                                          <p:spTgt spid="3"/>
                                        </p:tgtEl>
                                      </p:cBhvr>
                                    </p:animEffect>
                                    <p:set>
                                      <p:cBhvr>
                                        <p:cTn id="7" dur="1" fill="hold">
                                          <p:stCondLst>
                                            <p:cond delay="999"/>
                                          </p:stCondLst>
                                        </p:cTn>
                                        <p:tgtEl>
                                          <p:spTgt spid="3"/>
                                        </p:tgtEl>
                                        <p:attrNameLst>
                                          <p:attrName>style.visibility</p:attrName>
                                        </p:attrNameLst>
                                      </p:cBhvr>
                                      <p:to>
                                        <p:strVal val="hidden"/>
                                      </p:to>
                                    </p:se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38"/>
                                        </p:tgtEl>
                                        <p:attrNameLst>
                                          <p:attrName>style.visibility</p:attrName>
                                        </p:attrNameLst>
                                      </p:cBhvr>
                                      <p:to>
                                        <p:strVal val="visible"/>
                                      </p:to>
                                    </p:set>
                                    <p:animEffect transition="in" filter="fade">
                                      <p:cBhvr>
                                        <p:cTn id="11" dur="10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9261D-9223-1CE6-D9B2-F3B39F1CE2DA}"/>
            </a:ext>
          </a:extLst>
        </p:cNvPr>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51A8ACAF-2EEF-8606-F589-BC0D0E02C2E5}"/>
              </a:ext>
            </a:extLst>
          </p:cNvPr>
          <p:cNvCxnSpPr/>
          <p:nvPr/>
        </p:nvCxnSpPr>
        <p:spPr>
          <a:xfrm>
            <a:off x="5903371" y="1673750"/>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83FBF620-6AFB-7584-8C52-0F29FA242CBA}"/>
              </a:ext>
            </a:extLst>
          </p:cNvPr>
          <p:cNvSpPr>
            <a:spLocks noGrp="1"/>
          </p:cNvSpPr>
          <p:nvPr>
            <p:ph type="title"/>
          </p:nvPr>
        </p:nvSpPr>
        <p:spPr>
          <a:xfrm>
            <a:off x="695327" y="386001"/>
            <a:ext cx="9351540" cy="929259"/>
          </a:xfrm>
        </p:spPr>
        <p:txBody>
          <a:bodyPr/>
          <a:lstStyle/>
          <a:p>
            <a:r>
              <a:rPr lang="en-US" sz="3200" dirty="0"/>
              <a:t>From Conceptual Clarity to Actionable Semantics</a:t>
            </a:r>
            <a:endParaRPr lang="en-NL" sz="3200" dirty="0"/>
          </a:p>
        </p:txBody>
      </p:sp>
      <p:sp>
        <p:nvSpPr>
          <p:cNvPr id="4" name="Slide Number Placeholder 3">
            <a:extLst>
              <a:ext uri="{FF2B5EF4-FFF2-40B4-BE49-F238E27FC236}">
                <a16:creationId xmlns:a16="http://schemas.microsoft.com/office/drawing/2014/main" id="{08C4959E-55A2-22E4-BC04-125277EA52F2}"/>
              </a:ext>
            </a:extLst>
          </p:cNvPr>
          <p:cNvSpPr>
            <a:spLocks noGrp="1"/>
          </p:cNvSpPr>
          <p:nvPr>
            <p:ph type="sldNum" sz="quarter" idx="12"/>
          </p:nvPr>
        </p:nvSpPr>
        <p:spPr/>
        <p:txBody>
          <a:bodyPr/>
          <a:lstStyle/>
          <a:p>
            <a:fld id="{4FAB73BC-B049-4115-A692-8D63A059BFB8}" type="slidenum">
              <a:rPr lang="en-US" smtClean="0"/>
              <a:pPr/>
              <a:t>22</a:t>
            </a:fld>
            <a:endParaRPr lang="en-US" dirty="0"/>
          </a:p>
        </p:txBody>
      </p:sp>
      <p:sp>
        <p:nvSpPr>
          <p:cNvPr id="30" name="Parallelogram 29">
            <a:extLst>
              <a:ext uri="{FF2B5EF4-FFF2-40B4-BE49-F238E27FC236}">
                <a16:creationId xmlns:a16="http://schemas.microsoft.com/office/drawing/2014/main" id="{14A0346A-892B-5A03-4750-55217956957C}"/>
              </a:ext>
            </a:extLst>
          </p:cNvPr>
          <p:cNvSpPr/>
          <p:nvPr/>
        </p:nvSpPr>
        <p:spPr>
          <a:xfrm>
            <a:off x="4434896" y="3164830"/>
            <a:ext cx="6886250" cy="1276350"/>
          </a:xfrm>
          <a:prstGeom prst="parallelogram">
            <a:avLst>
              <a:gd name="adj" fmla="val 113806"/>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31" name="TextBox 30">
            <a:extLst>
              <a:ext uri="{FF2B5EF4-FFF2-40B4-BE49-F238E27FC236}">
                <a16:creationId xmlns:a16="http://schemas.microsoft.com/office/drawing/2014/main" id="{8A78FFDC-C09A-7D7E-AB10-FD1E13288443}"/>
              </a:ext>
            </a:extLst>
          </p:cNvPr>
          <p:cNvSpPr txBox="1"/>
          <p:nvPr/>
        </p:nvSpPr>
        <p:spPr>
          <a:xfrm>
            <a:off x="4671064" y="4133403"/>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33" name="Parallelogram 32">
            <a:extLst>
              <a:ext uri="{FF2B5EF4-FFF2-40B4-BE49-F238E27FC236}">
                <a16:creationId xmlns:a16="http://schemas.microsoft.com/office/drawing/2014/main" id="{935E4319-E447-E74C-E51E-6CAC86B210C0}"/>
              </a:ext>
            </a:extLst>
          </p:cNvPr>
          <p:cNvSpPr/>
          <p:nvPr/>
        </p:nvSpPr>
        <p:spPr>
          <a:xfrm>
            <a:off x="4434896" y="4684486"/>
            <a:ext cx="6886250" cy="1276350"/>
          </a:xfrm>
          <a:prstGeom prst="parallelogram">
            <a:avLst>
              <a:gd name="adj" fmla="val 113806"/>
            </a:avLst>
          </a:prstGeom>
          <a:solidFill>
            <a:schemeClr val="accent4">
              <a:lumMod val="20000"/>
              <a:lumOff val="8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4" name="TextBox 33">
            <a:extLst>
              <a:ext uri="{FF2B5EF4-FFF2-40B4-BE49-F238E27FC236}">
                <a16:creationId xmlns:a16="http://schemas.microsoft.com/office/drawing/2014/main" id="{774FE3BF-BFFB-E6DA-3405-70B7B1E3DDF8}"/>
              </a:ext>
            </a:extLst>
          </p:cNvPr>
          <p:cNvSpPr txBox="1"/>
          <p:nvPr/>
        </p:nvSpPr>
        <p:spPr>
          <a:xfrm>
            <a:off x="4710338" y="5653059"/>
            <a:ext cx="152958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4"/>
                </a:solidFill>
              </a:rPr>
              <a:t>Dataset Columns</a:t>
            </a:r>
            <a:endParaRPr lang="en-NL" sz="1400" dirty="0">
              <a:solidFill>
                <a:schemeClr val="accent4"/>
              </a:solidFill>
            </a:endParaRPr>
          </a:p>
        </p:txBody>
      </p:sp>
      <p:sp>
        <p:nvSpPr>
          <p:cNvPr id="16" name="Parallelogram 15">
            <a:extLst>
              <a:ext uri="{FF2B5EF4-FFF2-40B4-BE49-F238E27FC236}">
                <a16:creationId xmlns:a16="http://schemas.microsoft.com/office/drawing/2014/main" id="{E5E408B3-AF68-E3B8-3F8B-B6C1671E8B07}"/>
              </a:ext>
            </a:extLst>
          </p:cNvPr>
          <p:cNvSpPr/>
          <p:nvPr/>
        </p:nvSpPr>
        <p:spPr>
          <a:xfrm>
            <a:off x="4434896" y="1645175"/>
            <a:ext cx="6886250" cy="1276350"/>
          </a:xfrm>
          <a:prstGeom prst="parallelogram">
            <a:avLst>
              <a:gd name="adj" fmla="val 113806"/>
            </a:avLst>
          </a:prstGeom>
          <a:solidFill>
            <a:schemeClr val="accent1">
              <a:lumMod val="20000"/>
              <a:lumOff val="80000"/>
              <a:alpha val="9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7" name="TextBox 16">
            <a:extLst>
              <a:ext uri="{FF2B5EF4-FFF2-40B4-BE49-F238E27FC236}">
                <a16:creationId xmlns:a16="http://schemas.microsoft.com/office/drawing/2014/main" id="{6BCC97C2-6647-F47D-5055-0D8E72671472}"/>
              </a:ext>
            </a:extLst>
          </p:cNvPr>
          <p:cNvSpPr txBox="1"/>
          <p:nvPr/>
        </p:nvSpPr>
        <p:spPr>
          <a:xfrm>
            <a:off x="4804589" y="2613747"/>
            <a:ext cx="954107"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Meanings</a:t>
            </a:r>
            <a:endParaRPr lang="en-NL" sz="1400" dirty="0">
              <a:solidFill>
                <a:schemeClr val="tx2">
                  <a:lumMod val="90000"/>
                  <a:lumOff val="10000"/>
                </a:schemeClr>
              </a:solidFill>
            </a:endParaRPr>
          </a:p>
        </p:txBody>
      </p:sp>
      <p:cxnSp>
        <p:nvCxnSpPr>
          <p:cNvPr id="18" name="Straight Connector 17">
            <a:extLst>
              <a:ext uri="{FF2B5EF4-FFF2-40B4-BE49-F238E27FC236}">
                <a16:creationId xmlns:a16="http://schemas.microsoft.com/office/drawing/2014/main" id="{400C3A88-E329-36BB-26E0-B4D36BBD51DA}"/>
              </a:ext>
            </a:extLst>
          </p:cNvPr>
          <p:cNvCxnSpPr/>
          <p:nvPr/>
        </p:nvCxnSpPr>
        <p:spPr>
          <a:xfrm>
            <a:off x="4434894" y="295010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2B1B52C1-F0D4-85B5-8711-B4B384E1DE48}"/>
              </a:ext>
            </a:extLst>
          </p:cNvPr>
          <p:cNvCxnSpPr/>
          <p:nvPr/>
        </p:nvCxnSpPr>
        <p:spPr>
          <a:xfrm>
            <a:off x="11321146" y="167375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FAEB28AE-436A-AA7F-B892-939D6505A97E}"/>
              </a:ext>
            </a:extLst>
          </p:cNvPr>
          <p:cNvCxnSpPr/>
          <p:nvPr/>
        </p:nvCxnSpPr>
        <p:spPr>
          <a:xfrm>
            <a:off x="9873466" y="2918356"/>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63" name="TextBox 62">
            <a:extLst>
              <a:ext uri="{FF2B5EF4-FFF2-40B4-BE49-F238E27FC236}">
                <a16:creationId xmlns:a16="http://schemas.microsoft.com/office/drawing/2014/main" id="{D4903228-B2E7-922A-048E-C4175F9AB475}"/>
              </a:ext>
            </a:extLst>
          </p:cNvPr>
          <p:cNvSpPr txBox="1"/>
          <p:nvPr/>
        </p:nvSpPr>
        <p:spPr>
          <a:xfrm rot="18900000">
            <a:off x="5917118" y="2071359"/>
            <a:ext cx="719364" cy="276999"/>
          </a:xfrm>
          <a:prstGeom prst="rect">
            <a:avLst/>
          </a:prstGeom>
          <a:noFill/>
        </p:spPr>
        <p:txBody>
          <a:bodyPr wrap="none" rtlCol="0" anchor="ctr">
            <a:spAutoFit/>
          </a:bodyPr>
          <a:lstStyle/>
          <a:p>
            <a:pPr algn="ctr"/>
            <a:r>
              <a:rPr lang="en-US" sz="1200" dirty="0" err="1"/>
              <a:t>hrio:Sex</a:t>
            </a:r>
            <a:endParaRPr lang="en-NL" sz="1200" dirty="0"/>
          </a:p>
        </p:txBody>
      </p:sp>
      <p:sp>
        <p:nvSpPr>
          <p:cNvPr id="5" name="TextBox 4">
            <a:extLst>
              <a:ext uri="{FF2B5EF4-FFF2-40B4-BE49-F238E27FC236}">
                <a16:creationId xmlns:a16="http://schemas.microsoft.com/office/drawing/2014/main" id="{9E40DA5C-2921-B0AF-7B32-54597C243C58}"/>
              </a:ext>
            </a:extLst>
          </p:cNvPr>
          <p:cNvSpPr txBox="1"/>
          <p:nvPr/>
        </p:nvSpPr>
        <p:spPr>
          <a:xfrm rot="18900000">
            <a:off x="5538713" y="3564366"/>
            <a:ext cx="1476174" cy="276999"/>
          </a:xfrm>
          <a:prstGeom prst="rect">
            <a:avLst/>
          </a:prstGeom>
          <a:noFill/>
        </p:spPr>
        <p:txBody>
          <a:bodyPr wrap="square" anchor="ctr">
            <a:spAutoFit/>
          </a:bodyPr>
          <a:lstStyle/>
          <a:p>
            <a:pPr algn="ctr"/>
            <a:r>
              <a:rPr lang="en-NL" sz="1200" dirty="0" err="1"/>
              <a:t>care-sm:Sex</a:t>
            </a:r>
            <a:endParaRPr lang="en-NL" sz="1200" dirty="0"/>
          </a:p>
        </p:txBody>
      </p:sp>
      <p:sp>
        <p:nvSpPr>
          <p:cNvPr id="24" name="TextBox 23">
            <a:extLst>
              <a:ext uri="{FF2B5EF4-FFF2-40B4-BE49-F238E27FC236}">
                <a16:creationId xmlns:a16="http://schemas.microsoft.com/office/drawing/2014/main" id="{62157E67-7678-6084-0B64-D5B8D1254C37}"/>
              </a:ext>
            </a:extLst>
          </p:cNvPr>
          <p:cNvSpPr txBox="1"/>
          <p:nvPr/>
        </p:nvSpPr>
        <p:spPr>
          <a:xfrm rot="18900000">
            <a:off x="7046322" y="2071359"/>
            <a:ext cx="1336456" cy="276999"/>
          </a:xfrm>
          <a:prstGeom prst="rect">
            <a:avLst/>
          </a:prstGeom>
          <a:noFill/>
        </p:spPr>
        <p:txBody>
          <a:bodyPr wrap="none" rtlCol="0" anchor="ctr">
            <a:spAutoFit/>
          </a:bodyPr>
          <a:lstStyle/>
          <a:p>
            <a:pPr algn="ctr"/>
            <a:r>
              <a:rPr lang="en-US" sz="1200" dirty="0" err="1"/>
              <a:t>hrio:LegalGender</a:t>
            </a:r>
            <a:endParaRPr lang="en-NL" sz="1200" dirty="0"/>
          </a:p>
        </p:txBody>
      </p:sp>
      <p:sp>
        <p:nvSpPr>
          <p:cNvPr id="54" name="TextBox 53">
            <a:extLst>
              <a:ext uri="{FF2B5EF4-FFF2-40B4-BE49-F238E27FC236}">
                <a16:creationId xmlns:a16="http://schemas.microsoft.com/office/drawing/2014/main" id="{6D99EFB3-65C7-8081-77DD-B83B005B9E75}"/>
              </a:ext>
            </a:extLst>
          </p:cNvPr>
          <p:cNvSpPr txBox="1"/>
          <p:nvPr/>
        </p:nvSpPr>
        <p:spPr>
          <a:xfrm rot="18900000">
            <a:off x="6793817" y="3564366"/>
            <a:ext cx="1841466" cy="276999"/>
          </a:xfrm>
          <a:prstGeom prst="rect">
            <a:avLst/>
          </a:prstGeom>
          <a:noFill/>
        </p:spPr>
        <p:txBody>
          <a:bodyPr wrap="none" rtlCol="0" anchor="ctr">
            <a:spAutoFit/>
          </a:bodyPr>
          <a:lstStyle>
            <a:defPPr>
              <a:defRPr lang="en-US"/>
            </a:defPPr>
            <a:lvl1pPr algn="ctr">
              <a:defRPr sz="1400"/>
            </a:lvl1pPr>
          </a:lstStyle>
          <a:p>
            <a:r>
              <a:rPr lang="en-US" sz="1200" dirty="0" err="1"/>
              <a:t>hri-openehr:legal-gender</a:t>
            </a:r>
            <a:endParaRPr lang="en-NL" sz="1200" dirty="0"/>
          </a:p>
        </p:txBody>
      </p:sp>
      <p:sp>
        <p:nvSpPr>
          <p:cNvPr id="78" name="TextBox 77">
            <a:extLst>
              <a:ext uri="{FF2B5EF4-FFF2-40B4-BE49-F238E27FC236}">
                <a16:creationId xmlns:a16="http://schemas.microsoft.com/office/drawing/2014/main" id="{AC829292-8D6F-0F1A-72FB-06F78F5DB4A6}"/>
              </a:ext>
            </a:extLst>
          </p:cNvPr>
          <p:cNvSpPr txBox="1"/>
          <p:nvPr/>
        </p:nvSpPr>
        <p:spPr>
          <a:xfrm rot="18900000">
            <a:off x="8548050" y="3564366"/>
            <a:ext cx="1168590" cy="276999"/>
          </a:xfrm>
          <a:prstGeom prst="rect">
            <a:avLst/>
          </a:prstGeom>
          <a:noFill/>
        </p:spPr>
        <p:txBody>
          <a:bodyPr wrap="none" rtlCol="0" anchor="ctr">
            <a:spAutoFit/>
          </a:bodyPr>
          <a:lstStyle>
            <a:defPPr>
              <a:defRPr lang="en-US"/>
            </a:defPPr>
            <a:lvl1pPr algn="ctr">
              <a:defRPr sz="1400"/>
            </a:lvl1pPr>
          </a:lstStyle>
          <a:p>
            <a:r>
              <a:rPr lang="en-US" sz="1200" dirty="0"/>
              <a:t>loinc:107454-1</a:t>
            </a:r>
            <a:endParaRPr lang="en-NL" sz="1200" dirty="0"/>
          </a:p>
        </p:txBody>
      </p:sp>
      <p:sp>
        <p:nvSpPr>
          <p:cNvPr id="80" name="TextBox 79">
            <a:extLst>
              <a:ext uri="{FF2B5EF4-FFF2-40B4-BE49-F238E27FC236}">
                <a16:creationId xmlns:a16="http://schemas.microsoft.com/office/drawing/2014/main" id="{E61895C9-ED15-C2EA-9DF2-0FD6355A7E13}"/>
              </a:ext>
            </a:extLst>
          </p:cNvPr>
          <p:cNvSpPr txBox="1"/>
          <p:nvPr/>
        </p:nvSpPr>
        <p:spPr>
          <a:xfrm rot="18900000">
            <a:off x="5559168" y="5043615"/>
            <a:ext cx="1435265" cy="461665"/>
          </a:xfrm>
          <a:prstGeom prst="rect">
            <a:avLst/>
          </a:prstGeom>
          <a:noFill/>
        </p:spPr>
        <p:txBody>
          <a:bodyPr wrap="none" rtlCol="0" anchor="ctr">
            <a:spAutoFit/>
          </a:bodyPr>
          <a:lstStyle>
            <a:defPPr>
              <a:defRPr lang="en-US"/>
            </a:defPPr>
            <a:lvl1pPr algn="ctr">
              <a:defRPr sz="1400"/>
            </a:lvl1pPr>
          </a:lstStyle>
          <a:p>
            <a:r>
              <a:rPr lang="en-US" sz="1200" dirty="0"/>
              <a:t>NPR Demographic </a:t>
            </a:r>
          </a:p>
          <a:p>
            <a:r>
              <a:rPr lang="en-US" sz="1200" dirty="0"/>
              <a:t>Extract</a:t>
            </a:r>
            <a:endParaRPr lang="en-NL" sz="1200" dirty="0"/>
          </a:p>
        </p:txBody>
      </p:sp>
      <p:sp>
        <p:nvSpPr>
          <p:cNvPr id="3" name="TextBox 2">
            <a:extLst>
              <a:ext uri="{FF2B5EF4-FFF2-40B4-BE49-F238E27FC236}">
                <a16:creationId xmlns:a16="http://schemas.microsoft.com/office/drawing/2014/main" id="{62713477-1399-210E-F6BC-761711A0D3C6}"/>
              </a:ext>
            </a:extLst>
          </p:cNvPr>
          <p:cNvSpPr txBox="1"/>
          <p:nvPr/>
        </p:nvSpPr>
        <p:spPr>
          <a:xfrm rot="18900000">
            <a:off x="8325714" y="5043615"/>
            <a:ext cx="1613262" cy="461665"/>
          </a:xfrm>
          <a:prstGeom prst="rect">
            <a:avLst/>
          </a:prstGeom>
          <a:noFill/>
        </p:spPr>
        <p:txBody>
          <a:bodyPr wrap="none" rtlCol="0" anchor="ctr">
            <a:spAutoFit/>
          </a:bodyPr>
          <a:lstStyle>
            <a:defPPr>
              <a:defRPr lang="en-US"/>
            </a:defPPr>
            <a:lvl1pPr algn="ctr">
              <a:defRPr sz="1400"/>
            </a:lvl1pPr>
          </a:lstStyle>
          <a:p>
            <a:r>
              <a:rPr lang="en-US" sz="1200" dirty="0"/>
              <a:t>Administrative Intake </a:t>
            </a:r>
          </a:p>
          <a:p>
            <a:r>
              <a:rPr lang="en-US" sz="1200" dirty="0"/>
              <a:t>Extract</a:t>
            </a:r>
            <a:endParaRPr lang="en-NL" sz="1100" dirty="0">
              <a:effectLst/>
            </a:endParaRPr>
          </a:p>
        </p:txBody>
      </p:sp>
      <p:sp>
        <p:nvSpPr>
          <p:cNvPr id="6" name="TextBox 5">
            <a:extLst>
              <a:ext uri="{FF2B5EF4-FFF2-40B4-BE49-F238E27FC236}">
                <a16:creationId xmlns:a16="http://schemas.microsoft.com/office/drawing/2014/main" id="{7AB44C87-9619-02BB-D22B-0FCB1B285ED1}"/>
              </a:ext>
            </a:extLst>
          </p:cNvPr>
          <p:cNvSpPr txBox="1"/>
          <p:nvPr/>
        </p:nvSpPr>
        <p:spPr>
          <a:xfrm rot="18900000">
            <a:off x="6910965" y="5043615"/>
            <a:ext cx="1607170" cy="461665"/>
          </a:xfrm>
          <a:prstGeom prst="rect">
            <a:avLst/>
          </a:prstGeom>
          <a:noFill/>
        </p:spPr>
        <p:txBody>
          <a:bodyPr wrap="none" rtlCol="0" anchor="ctr">
            <a:spAutoFit/>
          </a:bodyPr>
          <a:lstStyle>
            <a:defPPr>
              <a:defRPr lang="en-US"/>
            </a:defPPr>
            <a:lvl1pPr algn="ctr">
              <a:defRPr sz="1400"/>
            </a:lvl1pPr>
          </a:lstStyle>
          <a:p>
            <a:r>
              <a:rPr lang="en-US" sz="1200" dirty="0"/>
              <a:t>Hospital Registration </a:t>
            </a:r>
          </a:p>
          <a:p>
            <a:r>
              <a:rPr lang="en-US" sz="1200" dirty="0"/>
              <a:t>Extract</a:t>
            </a:r>
            <a:endParaRPr lang="en-NL" sz="1200" dirty="0"/>
          </a:p>
        </p:txBody>
      </p:sp>
      <p:sp>
        <p:nvSpPr>
          <p:cNvPr id="12" name="TextBox 11">
            <a:extLst>
              <a:ext uri="{FF2B5EF4-FFF2-40B4-BE49-F238E27FC236}">
                <a16:creationId xmlns:a16="http://schemas.microsoft.com/office/drawing/2014/main" id="{12064FDA-95E8-3C3E-09CD-6873AD0C5864}"/>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2</a:t>
            </a:r>
            <a:endParaRPr lang="en-NL" sz="1000" b="1" dirty="0"/>
          </a:p>
        </p:txBody>
      </p:sp>
      <p:sp>
        <p:nvSpPr>
          <p:cNvPr id="56" name="Oval 55">
            <a:extLst>
              <a:ext uri="{FF2B5EF4-FFF2-40B4-BE49-F238E27FC236}">
                <a16:creationId xmlns:a16="http://schemas.microsoft.com/office/drawing/2014/main" id="{F84417C9-3DED-515B-D157-E2888970319A}"/>
              </a:ext>
            </a:extLst>
          </p:cNvPr>
          <p:cNvSpPr/>
          <p:nvPr/>
        </p:nvSpPr>
        <p:spPr>
          <a:xfrm>
            <a:off x="6523967" y="3598218"/>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endParaRPr lang="en-NL" dirty="0"/>
          </a:p>
        </p:txBody>
      </p:sp>
      <p:sp>
        <p:nvSpPr>
          <p:cNvPr id="8" name="Oval 7">
            <a:extLst>
              <a:ext uri="{FF2B5EF4-FFF2-40B4-BE49-F238E27FC236}">
                <a16:creationId xmlns:a16="http://schemas.microsoft.com/office/drawing/2014/main" id="{E084727B-9829-EC5F-929B-E0342FB1CBB6}"/>
              </a:ext>
            </a:extLst>
          </p:cNvPr>
          <p:cNvSpPr/>
          <p:nvPr/>
        </p:nvSpPr>
        <p:spPr>
          <a:xfrm>
            <a:off x="6517372" y="2078563"/>
            <a:ext cx="409575" cy="409575"/>
          </a:xfrm>
          <a:prstGeom prst="ellipse">
            <a:avLst/>
          </a:prstGeom>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NL" sz="1700" dirty="0"/>
          </a:p>
        </p:txBody>
      </p:sp>
      <p:sp>
        <p:nvSpPr>
          <p:cNvPr id="58" name="Oval 57">
            <a:extLst>
              <a:ext uri="{FF2B5EF4-FFF2-40B4-BE49-F238E27FC236}">
                <a16:creationId xmlns:a16="http://schemas.microsoft.com/office/drawing/2014/main" id="{F462F5F4-745B-2428-210F-F8E816C8503F}"/>
              </a:ext>
            </a:extLst>
          </p:cNvPr>
          <p:cNvSpPr/>
          <p:nvPr/>
        </p:nvSpPr>
        <p:spPr>
          <a:xfrm>
            <a:off x="7959097" y="3598218"/>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endParaRPr lang="en-NL" dirty="0"/>
          </a:p>
        </p:txBody>
      </p:sp>
      <p:sp>
        <p:nvSpPr>
          <p:cNvPr id="49" name="Oval 48">
            <a:extLst>
              <a:ext uri="{FF2B5EF4-FFF2-40B4-BE49-F238E27FC236}">
                <a16:creationId xmlns:a16="http://schemas.microsoft.com/office/drawing/2014/main" id="{C45F2D83-E14F-34C6-CC0A-3BE8521DF614}"/>
              </a:ext>
            </a:extLst>
          </p:cNvPr>
          <p:cNvSpPr/>
          <p:nvPr/>
        </p:nvSpPr>
        <p:spPr>
          <a:xfrm>
            <a:off x="9394226" y="3598218"/>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endParaRPr lang="en-NL" dirty="0"/>
          </a:p>
        </p:txBody>
      </p:sp>
      <p:sp>
        <p:nvSpPr>
          <p:cNvPr id="72" name="Oval 71">
            <a:extLst>
              <a:ext uri="{FF2B5EF4-FFF2-40B4-BE49-F238E27FC236}">
                <a16:creationId xmlns:a16="http://schemas.microsoft.com/office/drawing/2014/main" id="{D4A542C5-DB68-D770-871D-A8E25863C393}"/>
              </a:ext>
            </a:extLst>
          </p:cNvPr>
          <p:cNvSpPr/>
          <p:nvPr/>
        </p:nvSpPr>
        <p:spPr>
          <a:xfrm>
            <a:off x="6523967" y="5117874"/>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endParaRPr lang="en-NL" dirty="0"/>
          </a:p>
        </p:txBody>
      </p:sp>
      <p:sp>
        <p:nvSpPr>
          <p:cNvPr id="73" name="Oval 72">
            <a:extLst>
              <a:ext uri="{FF2B5EF4-FFF2-40B4-BE49-F238E27FC236}">
                <a16:creationId xmlns:a16="http://schemas.microsoft.com/office/drawing/2014/main" id="{7C42049F-FC2D-D518-DA47-B63AFF92CBB7}"/>
              </a:ext>
            </a:extLst>
          </p:cNvPr>
          <p:cNvSpPr/>
          <p:nvPr/>
        </p:nvSpPr>
        <p:spPr>
          <a:xfrm>
            <a:off x="7959097" y="5117874"/>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endParaRPr lang="en-NL" dirty="0"/>
          </a:p>
        </p:txBody>
      </p:sp>
      <p:sp>
        <p:nvSpPr>
          <p:cNvPr id="74" name="Oval 73">
            <a:extLst>
              <a:ext uri="{FF2B5EF4-FFF2-40B4-BE49-F238E27FC236}">
                <a16:creationId xmlns:a16="http://schemas.microsoft.com/office/drawing/2014/main" id="{F45634D5-4D0F-22A2-C31E-90D972D9F40E}"/>
              </a:ext>
            </a:extLst>
          </p:cNvPr>
          <p:cNvSpPr/>
          <p:nvPr/>
        </p:nvSpPr>
        <p:spPr>
          <a:xfrm>
            <a:off x="9394226" y="5117874"/>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endParaRPr lang="en-NL" dirty="0"/>
          </a:p>
        </p:txBody>
      </p:sp>
      <p:sp>
        <p:nvSpPr>
          <p:cNvPr id="21" name="Oval 20">
            <a:extLst>
              <a:ext uri="{FF2B5EF4-FFF2-40B4-BE49-F238E27FC236}">
                <a16:creationId xmlns:a16="http://schemas.microsoft.com/office/drawing/2014/main" id="{D4AEB0B5-61AA-1BFD-F79B-C135392F8921}"/>
              </a:ext>
            </a:extLst>
          </p:cNvPr>
          <p:cNvSpPr/>
          <p:nvPr/>
        </p:nvSpPr>
        <p:spPr>
          <a:xfrm>
            <a:off x="9394226" y="2078563"/>
            <a:ext cx="409575" cy="409575"/>
          </a:xfrm>
          <a:prstGeom prst="ellipse">
            <a:avLst/>
          </a:prstGeom>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NL" sz="1700" dirty="0"/>
          </a:p>
        </p:txBody>
      </p:sp>
      <p:cxnSp>
        <p:nvCxnSpPr>
          <p:cNvPr id="26" name="Straight Arrow Connector 25">
            <a:extLst>
              <a:ext uri="{FF2B5EF4-FFF2-40B4-BE49-F238E27FC236}">
                <a16:creationId xmlns:a16="http://schemas.microsoft.com/office/drawing/2014/main" id="{F74A177D-B76A-6AAB-0188-56022FADB213}"/>
              </a:ext>
            </a:extLst>
          </p:cNvPr>
          <p:cNvCxnSpPr>
            <a:cxnSpLocks/>
            <a:stCxn id="56" idx="0"/>
            <a:endCxn id="8" idx="4"/>
          </p:cNvCxnSpPr>
          <p:nvPr/>
        </p:nvCxnSpPr>
        <p:spPr>
          <a:xfrm flipH="1" flipV="1">
            <a:off x="6722160" y="2488138"/>
            <a:ext cx="6595" cy="1110080"/>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3772761D-C93D-22ED-24D8-6D78A2FE42EC}"/>
              </a:ext>
            </a:extLst>
          </p:cNvPr>
          <p:cNvCxnSpPr>
            <a:cxnSpLocks/>
            <a:stCxn id="58" idx="0"/>
            <a:endCxn id="88" idx="4"/>
          </p:cNvCxnSpPr>
          <p:nvPr/>
        </p:nvCxnSpPr>
        <p:spPr>
          <a:xfrm flipH="1" flipV="1">
            <a:off x="8163884" y="2488206"/>
            <a:ext cx="1" cy="111001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A79B61B2-9F1B-1CEE-395F-38DFF4F1DEA6}"/>
              </a:ext>
            </a:extLst>
          </p:cNvPr>
          <p:cNvCxnSpPr>
            <a:cxnSpLocks/>
            <a:stCxn id="73" idx="0"/>
            <a:endCxn id="58" idx="4"/>
          </p:cNvCxnSpPr>
          <p:nvPr/>
        </p:nvCxnSpPr>
        <p:spPr>
          <a:xfrm flipV="1">
            <a:off x="8163885" y="4007793"/>
            <a:ext cx="0" cy="1110081"/>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FB27C998-1015-3814-C5FE-97AD05CEBE36}"/>
              </a:ext>
            </a:extLst>
          </p:cNvPr>
          <p:cNvCxnSpPr>
            <a:cxnSpLocks/>
            <a:stCxn id="72" idx="0"/>
            <a:endCxn id="56" idx="4"/>
          </p:cNvCxnSpPr>
          <p:nvPr/>
        </p:nvCxnSpPr>
        <p:spPr>
          <a:xfrm flipV="1">
            <a:off x="6728755" y="4007793"/>
            <a:ext cx="0" cy="1110081"/>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2E052502-CB27-47AE-4CD3-E68CC7D86225}"/>
              </a:ext>
            </a:extLst>
          </p:cNvPr>
          <p:cNvCxnSpPr>
            <a:cxnSpLocks/>
            <a:stCxn id="49" idx="0"/>
            <a:endCxn id="21" idx="4"/>
          </p:cNvCxnSpPr>
          <p:nvPr/>
        </p:nvCxnSpPr>
        <p:spPr>
          <a:xfrm flipV="1">
            <a:off x="9599014" y="2488138"/>
            <a:ext cx="0" cy="1110080"/>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A8D7FF10-4490-3A12-44B9-C2F8728BB8BA}"/>
              </a:ext>
            </a:extLst>
          </p:cNvPr>
          <p:cNvCxnSpPr>
            <a:cxnSpLocks/>
            <a:stCxn id="74" idx="0"/>
            <a:endCxn id="49" idx="4"/>
          </p:cNvCxnSpPr>
          <p:nvPr/>
        </p:nvCxnSpPr>
        <p:spPr>
          <a:xfrm flipV="1">
            <a:off x="9599014" y="4007793"/>
            <a:ext cx="0" cy="1110081"/>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88" name="Oval 87">
            <a:extLst>
              <a:ext uri="{FF2B5EF4-FFF2-40B4-BE49-F238E27FC236}">
                <a16:creationId xmlns:a16="http://schemas.microsoft.com/office/drawing/2014/main" id="{217BDF5F-077D-271C-30BE-E3B8385DE1A5}"/>
              </a:ext>
            </a:extLst>
          </p:cNvPr>
          <p:cNvSpPr/>
          <p:nvPr/>
        </p:nvSpPr>
        <p:spPr>
          <a:xfrm>
            <a:off x="7959096" y="2078631"/>
            <a:ext cx="409575" cy="409575"/>
          </a:xfrm>
          <a:prstGeom prst="ellipse">
            <a:avLst/>
          </a:prstGeom>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NL" sz="1700" dirty="0"/>
          </a:p>
        </p:txBody>
      </p:sp>
      <p:sp>
        <p:nvSpPr>
          <p:cNvPr id="25" name="TextBox 24">
            <a:extLst>
              <a:ext uri="{FF2B5EF4-FFF2-40B4-BE49-F238E27FC236}">
                <a16:creationId xmlns:a16="http://schemas.microsoft.com/office/drawing/2014/main" id="{F0EF69A2-6368-5991-6129-DB2B3351D4D4}"/>
              </a:ext>
            </a:extLst>
          </p:cNvPr>
          <p:cNvSpPr txBox="1"/>
          <p:nvPr/>
        </p:nvSpPr>
        <p:spPr>
          <a:xfrm rot="18900000">
            <a:off x="8164099" y="2071359"/>
            <a:ext cx="1936492" cy="276999"/>
          </a:xfrm>
          <a:prstGeom prst="rect">
            <a:avLst/>
          </a:prstGeom>
          <a:noFill/>
        </p:spPr>
        <p:txBody>
          <a:bodyPr wrap="none" rtlCol="0" anchor="ctr">
            <a:spAutoFit/>
          </a:bodyPr>
          <a:lstStyle/>
          <a:p>
            <a:pPr algn="ctr"/>
            <a:r>
              <a:rPr lang="en-US" sz="1200" dirty="0" err="1"/>
              <a:t>hrio:AdministrativeGender</a:t>
            </a:r>
            <a:endParaRPr lang="en-NL" sz="1200" dirty="0"/>
          </a:p>
        </p:txBody>
      </p:sp>
      <p:sp>
        <p:nvSpPr>
          <p:cNvPr id="11" name="TextBox 10">
            <a:extLst>
              <a:ext uri="{FF2B5EF4-FFF2-40B4-BE49-F238E27FC236}">
                <a16:creationId xmlns:a16="http://schemas.microsoft.com/office/drawing/2014/main" id="{B4DC9FC5-C421-6AA2-7562-D89DC51C4EF6}"/>
              </a:ext>
            </a:extLst>
          </p:cNvPr>
          <p:cNvSpPr txBox="1"/>
          <p:nvPr/>
        </p:nvSpPr>
        <p:spPr>
          <a:xfrm>
            <a:off x="731576" y="3332536"/>
            <a:ext cx="4830135" cy="2590453"/>
          </a:xfrm>
          <a:prstGeom prst="rect">
            <a:avLst/>
          </a:prstGeom>
          <a:ln>
            <a:solidFill>
              <a:schemeClr val="accent2"/>
            </a:solidFill>
          </a:ln>
        </p:spPr>
        <p:style>
          <a:lnRef idx="3">
            <a:schemeClr val="lt1"/>
          </a:lnRef>
          <a:fillRef idx="1">
            <a:schemeClr val="dk1"/>
          </a:fillRef>
          <a:effectRef idx="1">
            <a:schemeClr val="dk1"/>
          </a:effectRef>
          <a:fontRef idx="minor">
            <a:schemeClr val="lt1"/>
          </a:fontRef>
        </p:style>
        <p:txBody>
          <a:bodyPr wrap="square" rtlCol="0">
            <a:spAutoFit/>
          </a:bodyPr>
          <a:lstStyle/>
          <a:p>
            <a:pPr>
              <a:spcAft>
                <a:spcPts val="100"/>
              </a:spcAft>
            </a:pPr>
            <a:r>
              <a:rPr lang="en-US" sz="1400" dirty="0">
                <a:solidFill>
                  <a:schemeClr val="bg1"/>
                </a:solidFill>
                <a:latin typeface="Courier New" panose="02070309020205020404" pitchFamily="49" charset="0"/>
                <a:cs typeface="Courier New" panose="02070309020205020404" pitchFamily="49" charset="0"/>
              </a:rPr>
              <a:t>SELECT DISTINCT ?output</a:t>
            </a:r>
          </a:p>
          <a:p>
            <a:pPr>
              <a:spcAft>
                <a:spcPts val="100"/>
              </a:spcAft>
            </a:pPr>
            <a:r>
              <a:rPr lang="en-US" sz="1400" dirty="0">
                <a:solidFill>
                  <a:schemeClr val="bg1"/>
                </a:solidFill>
                <a:latin typeface="Courier New" panose="02070309020205020404" pitchFamily="49" charset="0"/>
                <a:cs typeface="Courier New" panose="02070309020205020404" pitchFamily="49" charset="0"/>
              </a:rPr>
              <a:t>WHERE {</a:t>
            </a:r>
          </a:p>
          <a:p>
            <a:pPr>
              <a:spcAft>
                <a:spcPts val="100"/>
              </a:spcAft>
            </a:pPr>
            <a:r>
              <a:rPr lang="en-US" sz="1400" dirty="0">
                <a:solidFill>
                  <a:schemeClr val="bg1"/>
                </a:solidFill>
                <a:latin typeface="Courier New" panose="02070309020205020404" pitchFamily="49" charset="0"/>
                <a:cs typeface="Courier New" panose="02070309020205020404" pitchFamily="49" charset="0"/>
              </a:rPr>
              <a:t>  VALUES ?input { </a:t>
            </a:r>
            <a:r>
              <a:rPr lang="en-US" sz="1400" dirty="0" err="1">
                <a:solidFill>
                  <a:schemeClr val="bg1"/>
                </a:solidFill>
                <a:latin typeface="Courier New" panose="02070309020205020404" pitchFamily="49" charset="0"/>
                <a:cs typeface="Courier New" panose="02070309020205020404" pitchFamily="49" charset="0"/>
              </a:rPr>
              <a:t>hrio:Sex</a:t>
            </a:r>
            <a:r>
              <a:rPr lang="en-US" sz="1400" dirty="0">
                <a:solidFill>
                  <a:schemeClr val="bg1"/>
                </a:solidFill>
                <a:latin typeface="Courier New" panose="02070309020205020404" pitchFamily="49" charset="0"/>
                <a:cs typeface="Courier New" panose="02070309020205020404" pitchFamily="49" charset="0"/>
              </a:rPr>
              <a:t> }</a:t>
            </a:r>
          </a:p>
          <a:p>
            <a:pPr>
              <a:spcAft>
                <a:spcPts val="100"/>
              </a:spcAft>
            </a:pPr>
            <a:endParaRPr lang="en-US" sz="1400" dirty="0">
              <a:solidFill>
                <a:schemeClr val="bg1"/>
              </a:solidFill>
              <a:latin typeface="Courier New" panose="02070309020205020404" pitchFamily="49" charset="0"/>
              <a:cs typeface="Courier New" panose="02070309020205020404" pitchFamily="49" charset="0"/>
            </a:endParaRPr>
          </a:p>
          <a:p>
            <a:pPr>
              <a:spcAft>
                <a:spcPts val="100"/>
              </a:spcAft>
            </a:pPr>
            <a:r>
              <a:rPr lang="en-US" sz="1400" dirty="0">
                <a:solidFill>
                  <a:schemeClr val="bg1"/>
                </a:solidFill>
                <a:latin typeface="Courier New" panose="02070309020205020404" pitchFamily="49" charset="0"/>
                <a:cs typeface="Courier New" panose="02070309020205020404" pitchFamily="49" charset="0"/>
              </a:rPr>
              <a:t>  ?mapping a </a:t>
            </a:r>
            <a:r>
              <a:rPr lang="en-US" sz="1400" dirty="0" err="1">
                <a:solidFill>
                  <a:schemeClr val="bg1"/>
                </a:solidFill>
                <a:latin typeface="Courier New" panose="02070309020205020404" pitchFamily="49" charset="0"/>
                <a:cs typeface="Courier New" panose="02070309020205020404" pitchFamily="49" charset="0"/>
              </a:rPr>
              <a:t>demo:Mapping</a:t>
            </a:r>
            <a:r>
              <a:rPr lang="en-US" sz="1400" dirty="0">
                <a:solidFill>
                  <a:schemeClr val="bg1"/>
                </a:solidFill>
                <a:latin typeface="Courier New" panose="02070309020205020404" pitchFamily="49" charset="0"/>
                <a:cs typeface="Courier New" panose="02070309020205020404" pitchFamily="49" charset="0"/>
              </a:rPr>
              <a:t> ;</a:t>
            </a:r>
          </a:p>
          <a:p>
            <a:pPr>
              <a:spcAft>
                <a:spcPts val="100"/>
              </a:spcAft>
            </a:pPr>
            <a:r>
              <a:rPr lang="en-US" sz="1400" dirty="0">
                <a:solidFill>
                  <a:schemeClr val="bg1"/>
                </a:solidFill>
                <a:latin typeface="Courier New" panose="02070309020205020404" pitchFamily="49" charset="0"/>
                <a:cs typeface="Courier New" panose="02070309020205020404" pitchFamily="49" charset="0"/>
              </a:rPr>
              <a:t>    </a:t>
            </a:r>
            <a:r>
              <a:rPr lang="en-US" sz="1400" dirty="0" err="1">
                <a:solidFill>
                  <a:schemeClr val="bg1"/>
                </a:solidFill>
                <a:latin typeface="Courier New" panose="02070309020205020404" pitchFamily="49" charset="0"/>
                <a:cs typeface="Courier New" panose="02070309020205020404" pitchFamily="49" charset="0"/>
              </a:rPr>
              <a:t>demo:hasMappingSource</a:t>
            </a:r>
            <a:r>
              <a:rPr lang="en-US" sz="1400" dirty="0">
                <a:solidFill>
                  <a:schemeClr val="bg1"/>
                </a:solidFill>
                <a:latin typeface="Courier New" panose="02070309020205020404" pitchFamily="49" charset="0"/>
                <a:cs typeface="Courier New" panose="02070309020205020404" pitchFamily="49" charset="0"/>
              </a:rPr>
              <a:t> ?concept ;</a:t>
            </a:r>
          </a:p>
          <a:p>
            <a:pPr>
              <a:spcAft>
                <a:spcPts val="100"/>
              </a:spcAft>
            </a:pPr>
            <a:r>
              <a:rPr lang="en-US" sz="1400" dirty="0">
                <a:solidFill>
                  <a:schemeClr val="bg1"/>
                </a:solidFill>
                <a:latin typeface="Courier New" panose="02070309020205020404" pitchFamily="49" charset="0"/>
                <a:cs typeface="Courier New" panose="02070309020205020404" pitchFamily="49" charset="0"/>
              </a:rPr>
              <a:t>    </a:t>
            </a:r>
            <a:r>
              <a:rPr lang="en-US" sz="1400" dirty="0" err="1">
                <a:solidFill>
                  <a:schemeClr val="bg1"/>
                </a:solidFill>
                <a:latin typeface="Courier New" panose="02070309020205020404" pitchFamily="49" charset="0"/>
                <a:cs typeface="Courier New" panose="02070309020205020404" pitchFamily="49" charset="0"/>
              </a:rPr>
              <a:t>demo:hasTargetMeaning</a:t>
            </a:r>
            <a:r>
              <a:rPr lang="en-US" sz="1400" dirty="0">
                <a:solidFill>
                  <a:schemeClr val="bg1"/>
                </a:solidFill>
                <a:latin typeface="Courier New" panose="02070309020205020404" pitchFamily="49" charset="0"/>
                <a:cs typeface="Courier New" panose="02070309020205020404" pitchFamily="49" charset="0"/>
              </a:rPr>
              <a:t> ?input .</a:t>
            </a:r>
          </a:p>
          <a:p>
            <a:pPr>
              <a:spcAft>
                <a:spcPts val="100"/>
              </a:spcAft>
            </a:pPr>
            <a:endParaRPr lang="en-US" sz="1400" dirty="0">
              <a:solidFill>
                <a:schemeClr val="bg1"/>
              </a:solidFill>
              <a:latin typeface="Courier New" panose="02070309020205020404" pitchFamily="49" charset="0"/>
              <a:cs typeface="Courier New" panose="02070309020205020404" pitchFamily="49" charset="0"/>
            </a:endParaRPr>
          </a:p>
          <a:p>
            <a:pPr>
              <a:spcAft>
                <a:spcPts val="100"/>
              </a:spcAft>
            </a:pPr>
            <a:r>
              <a:rPr lang="en-US" sz="1400" dirty="0">
                <a:solidFill>
                  <a:schemeClr val="bg1"/>
                </a:solidFill>
                <a:latin typeface="Courier New" panose="02070309020205020404" pitchFamily="49" charset="0"/>
                <a:cs typeface="Courier New" panose="02070309020205020404" pitchFamily="49" charset="0"/>
              </a:rPr>
              <a:t>  ?output </a:t>
            </a:r>
            <a:r>
              <a:rPr lang="en-US" sz="1400" dirty="0" err="1">
                <a:solidFill>
                  <a:schemeClr val="bg1"/>
                </a:solidFill>
                <a:latin typeface="Courier New" panose="02070309020205020404" pitchFamily="49" charset="0"/>
                <a:cs typeface="Courier New" panose="02070309020205020404" pitchFamily="49" charset="0"/>
              </a:rPr>
              <a:t>demo:implementsConcept</a:t>
            </a:r>
            <a:r>
              <a:rPr lang="en-US" sz="1400" dirty="0">
                <a:solidFill>
                  <a:schemeClr val="bg1"/>
                </a:solidFill>
                <a:latin typeface="Courier New" panose="02070309020205020404" pitchFamily="49" charset="0"/>
                <a:cs typeface="Courier New" panose="02070309020205020404" pitchFamily="49" charset="0"/>
              </a:rPr>
              <a:t> ?concept .</a:t>
            </a:r>
          </a:p>
          <a:p>
            <a:pPr>
              <a:spcAft>
                <a:spcPts val="100"/>
              </a:spcAft>
            </a:pPr>
            <a:r>
              <a:rPr lang="en-US" sz="1400" dirty="0">
                <a:solidFill>
                  <a:schemeClr val="bg1"/>
                </a:solidFill>
                <a:latin typeface="Courier New" panose="02070309020205020404" pitchFamily="49" charset="0"/>
                <a:cs typeface="Courier New" panose="02070309020205020404" pitchFamily="49" charset="0"/>
              </a:rPr>
              <a:t>}</a:t>
            </a:r>
          </a:p>
          <a:p>
            <a:pPr>
              <a:spcAft>
                <a:spcPts val="100"/>
              </a:spcAft>
            </a:pPr>
            <a:r>
              <a:rPr lang="en-US" sz="1400" dirty="0">
                <a:solidFill>
                  <a:schemeClr val="bg1"/>
                </a:solidFill>
                <a:latin typeface="Courier New" panose="02070309020205020404" pitchFamily="49" charset="0"/>
                <a:cs typeface="Courier New" panose="02070309020205020404" pitchFamily="49" charset="0"/>
              </a:rPr>
              <a:t>ORDER BY ?output</a:t>
            </a:r>
          </a:p>
        </p:txBody>
      </p:sp>
      <p:sp>
        <p:nvSpPr>
          <p:cNvPr id="15" name="TextBox 14">
            <a:extLst>
              <a:ext uri="{FF2B5EF4-FFF2-40B4-BE49-F238E27FC236}">
                <a16:creationId xmlns:a16="http://schemas.microsoft.com/office/drawing/2014/main" id="{AC910CAE-7309-5E1E-829E-295469039B00}"/>
              </a:ext>
            </a:extLst>
          </p:cNvPr>
          <p:cNvSpPr txBox="1"/>
          <p:nvPr/>
        </p:nvSpPr>
        <p:spPr>
          <a:xfrm>
            <a:off x="705293" y="1639416"/>
            <a:ext cx="3711674" cy="1323439"/>
          </a:xfrm>
          <a:prstGeom prst="rect">
            <a:avLst/>
          </a:prstGeom>
          <a:noFill/>
        </p:spPr>
        <p:txBody>
          <a:bodyPr wrap="square">
            <a:spAutoFit/>
          </a:bodyPr>
          <a:lstStyle/>
          <a:p>
            <a:pPr marL="285750" indent="-285750">
              <a:buFont typeface="Arial" panose="020B0604020202020204" pitchFamily="34" charset="0"/>
              <a:buChar char="•"/>
            </a:pPr>
            <a:r>
              <a:rPr lang="en-NL" sz="2000" dirty="0"/>
              <a:t>Amir can now query for dataset columns that are mapped to the meaning he needs</a:t>
            </a:r>
            <a:r>
              <a:rPr lang="en-US" sz="2000" dirty="0"/>
              <a:t>: HRIO’s Sex.</a:t>
            </a:r>
            <a:endParaRPr lang="en-NL" sz="2000" dirty="0"/>
          </a:p>
        </p:txBody>
      </p:sp>
      <p:sp>
        <p:nvSpPr>
          <p:cNvPr id="22" name="Rectangle: Rounded Corners 21">
            <a:extLst>
              <a:ext uri="{FF2B5EF4-FFF2-40B4-BE49-F238E27FC236}">
                <a16:creationId xmlns:a16="http://schemas.microsoft.com/office/drawing/2014/main" id="{75B53F95-060E-28EA-A766-3F31C291AB26}"/>
              </a:ext>
            </a:extLst>
          </p:cNvPr>
          <p:cNvSpPr/>
          <p:nvPr/>
        </p:nvSpPr>
        <p:spPr>
          <a:xfrm>
            <a:off x="6403763" y="1983602"/>
            <a:ext cx="632639" cy="632639"/>
          </a:xfrm>
          <a:prstGeom prst="roundRect">
            <a:avLst/>
          </a:prstGeom>
          <a:noFill/>
          <a:ln w="57150"/>
        </p:spPr>
        <p:style>
          <a:lnRef idx="2">
            <a:schemeClr val="accent2"/>
          </a:lnRef>
          <a:fillRef idx="1">
            <a:schemeClr val="lt1"/>
          </a:fillRef>
          <a:effectRef idx="0">
            <a:schemeClr val="accent2"/>
          </a:effectRef>
          <a:fontRef idx="minor">
            <a:schemeClr val="dk1"/>
          </a:fontRef>
        </p:style>
        <p:txBody>
          <a:bodyPr rtlCol="0" anchor="ctr"/>
          <a:lstStyle/>
          <a:p>
            <a:pPr algn="ctr"/>
            <a:endParaRPr lang="en-NL"/>
          </a:p>
        </p:txBody>
      </p:sp>
      <p:sp>
        <p:nvSpPr>
          <p:cNvPr id="23" name="TextBox 22">
            <a:extLst>
              <a:ext uri="{FF2B5EF4-FFF2-40B4-BE49-F238E27FC236}">
                <a16:creationId xmlns:a16="http://schemas.microsoft.com/office/drawing/2014/main" id="{684B0D2C-CB58-51BA-03E6-A5B9975EB8E1}"/>
              </a:ext>
            </a:extLst>
          </p:cNvPr>
          <p:cNvSpPr txBox="1"/>
          <p:nvPr/>
        </p:nvSpPr>
        <p:spPr>
          <a:xfrm>
            <a:off x="6354437" y="1628775"/>
            <a:ext cx="731290" cy="369332"/>
          </a:xfrm>
          <a:prstGeom prst="rect">
            <a:avLst/>
          </a:prstGeom>
          <a:noFill/>
        </p:spPr>
        <p:txBody>
          <a:bodyPr wrap="none" rtlCol="0">
            <a:spAutoFit/>
          </a:bodyPr>
          <a:lstStyle/>
          <a:p>
            <a:pPr algn="ctr"/>
            <a:r>
              <a:rPr lang="en-US" b="1" dirty="0"/>
              <a:t>input</a:t>
            </a:r>
            <a:endParaRPr lang="en-NL" b="1" dirty="0"/>
          </a:p>
        </p:txBody>
      </p:sp>
      <p:sp>
        <p:nvSpPr>
          <p:cNvPr id="29" name="Rectangle: Rounded Corners 28">
            <a:extLst>
              <a:ext uri="{FF2B5EF4-FFF2-40B4-BE49-F238E27FC236}">
                <a16:creationId xmlns:a16="http://schemas.microsoft.com/office/drawing/2014/main" id="{9746A47D-9CC2-3A65-B6F7-80809820C696}"/>
              </a:ext>
            </a:extLst>
          </p:cNvPr>
          <p:cNvSpPr/>
          <p:nvPr/>
        </p:nvSpPr>
        <p:spPr>
          <a:xfrm>
            <a:off x="6403763" y="5000251"/>
            <a:ext cx="632639" cy="632639"/>
          </a:xfrm>
          <a:prstGeom prst="roundRect">
            <a:avLst/>
          </a:prstGeom>
          <a:noFill/>
          <a:ln w="57150"/>
        </p:spPr>
        <p:style>
          <a:lnRef idx="2">
            <a:schemeClr val="accent2"/>
          </a:lnRef>
          <a:fillRef idx="1">
            <a:schemeClr val="lt1"/>
          </a:fillRef>
          <a:effectRef idx="0">
            <a:schemeClr val="accent2"/>
          </a:effectRef>
          <a:fontRef idx="minor">
            <a:schemeClr val="dk1"/>
          </a:fontRef>
        </p:style>
        <p:txBody>
          <a:bodyPr rtlCol="0" anchor="ctr"/>
          <a:lstStyle/>
          <a:p>
            <a:pPr algn="ctr"/>
            <a:endParaRPr lang="en-NL"/>
          </a:p>
        </p:txBody>
      </p:sp>
      <p:sp>
        <p:nvSpPr>
          <p:cNvPr id="32" name="TextBox 31">
            <a:extLst>
              <a:ext uri="{FF2B5EF4-FFF2-40B4-BE49-F238E27FC236}">
                <a16:creationId xmlns:a16="http://schemas.microsoft.com/office/drawing/2014/main" id="{CD086E81-C249-6C9C-29DB-E8C655CFB63E}"/>
              </a:ext>
            </a:extLst>
          </p:cNvPr>
          <p:cNvSpPr txBox="1"/>
          <p:nvPr/>
        </p:nvSpPr>
        <p:spPr>
          <a:xfrm>
            <a:off x="6277493" y="5608006"/>
            <a:ext cx="885179" cy="369332"/>
          </a:xfrm>
          <a:prstGeom prst="rect">
            <a:avLst/>
          </a:prstGeom>
          <a:noFill/>
        </p:spPr>
        <p:txBody>
          <a:bodyPr wrap="none" rtlCol="0">
            <a:spAutoFit/>
          </a:bodyPr>
          <a:lstStyle/>
          <a:p>
            <a:pPr algn="ctr"/>
            <a:r>
              <a:rPr lang="en-US" b="1" dirty="0"/>
              <a:t>output</a:t>
            </a:r>
            <a:endParaRPr lang="en-NL" b="1" dirty="0"/>
          </a:p>
        </p:txBody>
      </p:sp>
    </p:spTree>
    <p:extLst>
      <p:ext uri="{BB962C8B-B14F-4D97-AF65-F5344CB8AC3E}">
        <p14:creationId xmlns:p14="http://schemas.microsoft.com/office/powerpoint/2010/main" val="30266877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mph" presetSubtype="0" fill="hold" grpId="0" nodeType="withEffect">
                                  <p:stCondLst>
                                    <p:cond delay="1000"/>
                                  </p:stCondLst>
                                  <p:childTnLst>
                                    <p:animClr clrSpc="hsl" dir="cw">
                                      <p:cBhvr override="childStyle">
                                        <p:cTn id="6" dur="500" fill="hold"/>
                                        <p:tgtEl>
                                          <p:spTgt spid="6"/>
                                        </p:tgtEl>
                                        <p:attrNameLst>
                                          <p:attrName>style.color</p:attrName>
                                        </p:attrNameLst>
                                      </p:cBhvr>
                                      <p:by>
                                        <p:hsl h="0" s="-70588" l="0"/>
                                      </p:by>
                                    </p:animClr>
                                    <p:animClr clrSpc="hsl" dir="cw">
                                      <p:cBhvr>
                                        <p:cTn id="7" dur="500" fill="hold"/>
                                        <p:tgtEl>
                                          <p:spTgt spid="6"/>
                                        </p:tgtEl>
                                        <p:attrNameLst>
                                          <p:attrName>fillcolor</p:attrName>
                                        </p:attrNameLst>
                                      </p:cBhvr>
                                      <p:by>
                                        <p:hsl h="0" s="-70588" l="0"/>
                                      </p:by>
                                    </p:animClr>
                                    <p:animClr clrSpc="hsl" dir="cw">
                                      <p:cBhvr>
                                        <p:cTn id="8" dur="500" fill="hold"/>
                                        <p:tgtEl>
                                          <p:spTgt spid="6"/>
                                        </p:tgtEl>
                                        <p:attrNameLst>
                                          <p:attrName>stroke.color</p:attrName>
                                        </p:attrNameLst>
                                      </p:cBhvr>
                                      <p:by>
                                        <p:hsl h="0" s="-70588" l="0"/>
                                      </p:by>
                                    </p:animClr>
                                    <p:set>
                                      <p:cBhvr>
                                        <p:cTn id="9" dur="500" fill="hold"/>
                                        <p:tgtEl>
                                          <p:spTgt spid="6"/>
                                        </p:tgtEl>
                                        <p:attrNameLst>
                                          <p:attrName>fill.type</p:attrName>
                                        </p:attrNameLst>
                                      </p:cBhvr>
                                      <p:to>
                                        <p:strVal val="solid"/>
                                      </p:to>
                                    </p:set>
                                  </p:childTnLst>
                                </p:cTn>
                              </p:par>
                              <p:par>
                                <p:cTn id="10" presetID="25" presetClass="emph" presetSubtype="0" fill="hold" grpId="0" nodeType="withEffect">
                                  <p:stCondLst>
                                    <p:cond delay="1000"/>
                                  </p:stCondLst>
                                  <p:childTnLst>
                                    <p:animClr clrSpc="hsl" dir="cw">
                                      <p:cBhvr override="childStyle">
                                        <p:cTn id="11" dur="500" fill="hold"/>
                                        <p:tgtEl>
                                          <p:spTgt spid="3"/>
                                        </p:tgtEl>
                                        <p:attrNameLst>
                                          <p:attrName>style.color</p:attrName>
                                        </p:attrNameLst>
                                      </p:cBhvr>
                                      <p:by>
                                        <p:hsl h="0" s="-70588" l="0"/>
                                      </p:by>
                                    </p:animClr>
                                    <p:animClr clrSpc="hsl" dir="cw">
                                      <p:cBhvr>
                                        <p:cTn id="12" dur="500" fill="hold"/>
                                        <p:tgtEl>
                                          <p:spTgt spid="3"/>
                                        </p:tgtEl>
                                        <p:attrNameLst>
                                          <p:attrName>fillcolor</p:attrName>
                                        </p:attrNameLst>
                                      </p:cBhvr>
                                      <p:by>
                                        <p:hsl h="0" s="-70588" l="0"/>
                                      </p:by>
                                    </p:animClr>
                                    <p:animClr clrSpc="hsl" dir="cw">
                                      <p:cBhvr>
                                        <p:cTn id="13" dur="500" fill="hold"/>
                                        <p:tgtEl>
                                          <p:spTgt spid="3"/>
                                        </p:tgtEl>
                                        <p:attrNameLst>
                                          <p:attrName>stroke.color</p:attrName>
                                        </p:attrNameLst>
                                      </p:cBhvr>
                                      <p:by>
                                        <p:hsl h="0" s="-70588" l="0"/>
                                      </p:by>
                                    </p:animClr>
                                    <p:set>
                                      <p:cBhvr>
                                        <p:cTn id="14" dur="500" fill="hold"/>
                                        <p:tgtEl>
                                          <p:spTgt spid="3"/>
                                        </p:tgtEl>
                                        <p:attrNameLst>
                                          <p:attrName>fill.type</p:attrName>
                                        </p:attrNameLst>
                                      </p:cBhvr>
                                      <p:to>
                                        <p:strVal val="solid"/>
                                      </p:to>
                                    </p:set>
                                  </p:childTnLst>
                                </p:cTn>
                              </p:par>
                              <p:par>
                                <p:cTn id="15" presetID="25" presetClass="emph" presetSubtype="0" fill="hold" nodeType="withEffect">
                                  <p:stCondLst>
                                    <p:cond delay="1000"/>
                                  </p:stCondLst>
                                  <p:childTnLst>
                                    <p:animClr clrSpc="hsl" dir="cw">
                                      <p:cBhvr override="childStyle">
                                        <p:cTn id="16" dur="500" fill="hold"/>
                                        <p:tgtEl>
                                          <p:spTgt spid="19"/>
                                        </p:tgtEl>
                                        <p:attrNameLst>
                                          <p:attrName>style.color</p:attrName>
                                        </p:attrNameLst>
                                      </p:cBhvr>
                                      <p:by>
                                        <p:hsl h="0" s="-70588" l="0"/>
                                      </p:by>
                                    </p:animClr>
                                    <p:animClr clrSpc="hsl" dir="cw">
                                      <p:cBhvr>
                                        <p:cTn id="17" dur="500" fill="hold"/>
                                        <p:tgtEl>
                                          <p:spTgt spid="19"/>
                                        </p:tgtEl>
                                        <p:attrNameLst>
                                          <p:attrName>fillcolor</p:attrName>
                                        </p:attrNameLst>
                                      </p:cBhvr>
                                      <p:by>
                                        <p:hsl h="0" s="-70588" l="0"/>
                                      </p:by>
                                    </p:animClr>
                                    <p:animClr clrSpc="hsl" dir="cw">
                                      <p:cBhvr>
                                        <p:cTn id="18" dur="500" fill="hold"/>
                                        <p:tgtEl>
                                          <p:spTgt spid="19"/>
                                        </p:tgtEl>
                                        <p:attrNameLst>
                                          <p:attrName>stroke.color</p:attrName>
                                        </p:attrNameLst>
                                      </p:cBhvr>
                                      <p:by>
                                        <p:hsl h="0" s="-70588" l="0"/>
                                      </p:by>
                                    </p:animClr>
                                    <p:set>
                                      <p:cBhvr>
                                        <p:cTn id="19" dur="500" fill="hold"/>
                                        <p:tgtEl>
                                          <p:spTgt spid="19"/>
                                        </p:tgtEl>
                                        <p:attrNameLst>
                                          <p:attrName>fill.type</p:attrName>
                                        </p:attrNameLst>
                                      </p:cBhvr>
                                      <p:to>
                                        <p:strVal val="solid"/>
                                      </p:to>
                                    </p:set>
                                  </p:childTnLst>
                                </p:cTn>
                              </p:par>
                              <p:par>
                                <p:cTn id="20" presetID="25" presetClass="emph" presetSubtype="0" fill="hold" nodeType="withEffect">
                                  <p:stCondLst>
                                    <p:cond delay="1000"/>
                                  </p:stCondLst>
                                  <p:childTnLst>
                                    <p:animClr clrSpc="hsl" dir="cw">
                                      <p:cBhvr override="childStyle">
                                        <p:cTn id="21" dur="500" fill="hold"/>
                                        <p:tgtEl>
                                          <p:spTgt spid="20"/>
                                        </p:tgtEl>
                                        <p:attrNameLst>
                                          <p:attrName>style.color</p:attrName>
                                        </p:attrNameLst>
                                      </p:cBhvr>
                                      <p:by>
                                        <p:hsl h="0" s="-70588" l="0"/>
                                      </p:by>
                                    </p:animClr>
                                    <p:animClr clrSpc="hsl" dir="cw">
                                      <p:cBhvr>
                                        <p:cTn id="22" dur="500" fill="hold"/>
                                        <p:tgtEl>
                                          <p:spTgt spid="20"/>
                                        </p:tgtEl>
                                        <p:attrNameLst>
                                          <p:attrName>fillcolor</p:attrName>
                                        </p:attrNameLst>
                                      </p:cBhvr>
                                      <p:by>
                                        <p:hsl h="0" s="-70588" l="0"/>
                                      </p:by>
                                    </p:animClr>
                                    <p:animClr clrSpc="hsl" dir="cw">
                                      <p:cBhvr>
                                        <p:cTn id="23" dur="500" fill="hold"/>
                                        <p:tgtEl>
                                          <p:spTgt spid="20"/>
                                        </p:tgtEl>
                                        <p:attrNameLst>
                                          <p:attrName>stroke.color</p:attrName>
                                        </p:attrNameLst>
                                      </p:cBhvr>
                                      <p:by>
                                        <p:hsl h="0" s="-70588" l="0"/>
                                      </p:by>
                                    </p:animClr>
                                    <p:set>
                                      <p:cBhvr>
                                        <p:cTn id="24" dur="500" fill="hold"/>
                                        <p:tgtEl>
                                          <p:spTgt spid="20"/>
                                        </p:tgtEl>
                                        <p:attrNameLst>
                                          <p:attrName>fill.type</p:attrName>
                                        </p:attrNameLst>
                                      </p:cBhvr>
                                      <p:to>
                                        <p:strVal val="solid"/>
                                      </p:to>
                                    </p:set>
                                  </p:childTnLst>
                                </p:cTn>
                              </p:par>
                              <p:par>
                                <p:cTn id="25" presetID="25" presetClass="emph" presetSubtype="0" fill="hold" grpId="0" nodeType="withEffect">
                                  <p:stCondLst>
                                    <p:cond delay="1000"/>
                                  </p:stCondLst>
                                  <p:childTnLst>
                                    <p:animClr clrSpc="hsl" dir="cw">
                                      <p:cBhvr override="childStyle">
                                        <p:cTn id="26" dur="500" fill="hold"/>
                                        <p:tgtEl>
                                          <p:spTgt spid="78"/>
                                        </p:tgtEl>
                                        <p:attrNameLst>
                                          <p:attrName>style.color</p:attrName>
                                        </p:attrNameLst>
                                      </p:cBhvr>
                                      <p:by>
                                        <p:hsl h="0" s="-70588" l="0"/>
                                      </p:by>
                                    </p:animClr>
                                    <p:animClr clrSpc="hsl" dir="cw">
                                      <p:cBhvr>
                                        <p:cTn id="27" dur="500" fill="hold"/>
                                        <p:tgtEl>
                                          <p:spTgt spid="78"/>
                                        </p:tgtEl>
                                        <p:attrNameLst>
                                          <p:attrName>fillcolor</p:attrName>
                                        </p:attrNameLst>
                                      </p:cBhvr>
                                      <p:by>
                                        <p:hsl h="0" s="-70588" l="0"/>
                                      </p:by>
                                    </p:animClr>
                                    <p:animClr clrSpc="hsl" dir="cw">
                                      <p:cBhvr>
                                        <p:cTn id="28" dur="500" fill="hold"/>
                                        <p:tgtEl>
                                          <p:spTgt spid="78"/>
                                        </p:tgtEl>
                                        <p:attrNameLst>
                                          <p:attrName>stroke.color</p:attrName>
                                        </p:attrNameLst>
                                      </p:cBhvr>
                                      <p:by>
                                        <p:hsl h="0" s="-70588" l="0"/>
                                      </p:by>
                                    </p:animClr>
                                    <p:set>
                                      <p:cBhvr>
                                        <p:cTn id="29" dur="500" fill="hold"/>
                                        <p:tgtEl>
                                          <p:spTgt spid="78"/>
                                        </p:tgtEl>
                                        <p:attrNameLst>
                                          <p:attrName>fill.type</p:attrName>
                                        </p:attrNameLst>
                                      </p:cBhvr>
                                      <p:to>
                                        <p:strVal val="solid"/>
                                      </p:to>
                                    </p:set>
                                  </p:childTnLst>
                                </p:cTn>
                              </p:par>
                              <p:par>
                                <p:cTn id="30" presetID="25" presetClass="emph" presetSubtype="0" fill="hold" grpId="0" nodeType="withEffect">
                                  <p:stCondLst>
                                    <p:cond delay="1000"/>
                                  </p:stCondLst>
                                  <p:childTnLst>
                                    <p:animClr clrSpc="hsl" dir="cw">
                                      <p:cBhvr override="childStyle">
                                        <p:cTn id="31" dur="500" fill="hold"/>
                                        <p:tgtEl>
                                          <p:spTgt spid="58"/>
                                        </p:tgtEl>
                                        <p:attrNameLst>
                                          <p:attrName>style.color</p:attrName>
                                        </p:attrNameLst>
                                      </p:cBhvr>
                                      <p:by>
                                        <p:hsl h="0" s="-70588" l="0"/>
                                      </p:by>
                                    </p:animClr>
                                    <p:animClr clrSpc="hsl" dir="cw">
                                      <p:cBhvr>
                                        <p:cTn id="32" dur="500" fill="hold"/>
                                        <p:tgtEl>
                                          <p:spTgt spid="58"/>
                                        </p:tgtEl>
                                        <p:attrNameLst>
                                          <p:attrName>fillcolor</p:attrName>
                                        </p:attrNameLst>
                                      </p:cBhvr>
                                      <p:by>
                                        <p:hsl h="0" s="-70588" l="0"/>
                                      </p:by>
                                    </p:animClr>
                                    <p:animClr clrSpc="hsl" dir="cw">
                                      <p:cBhvr>
                                        <p:cTn id="33" dur="500" fill="hold"/>
                                        <p:tgtEl>
                                          <p:spTgt spid="58"/>
                                        </p:tgtEl>
                                        <p:attrNameLst>
                                          <p:attrName>stroke.color</p:attrName>
                                        </p:attrNameLst>
                                      </p:cBhvr>
                                      <p:by>
                                        <p:hsl h="0" s="-70588" l="0"/>
                                      </p:by>
                                    </p:animClr>
                                    <p:set>
                                      <p:cBhvr>
                                        <p:cTn id="34" dur="500" fill="hold"/>
                                        <p:tgtEl>
                                          <p:spTgt spid="58"/>
                                        </p:tgtEl>
                                        <p:attrNameLst>
                                          <p:attrName>fill.type</p:attrName>
                                        </p:attrNameLst>
                                      </p:cBhvr>
                                      <p:to>
                                        <p:strVal val="solid"/>
                                      </p:to>
                                    </p:set>
                                  </p:childTnLst>
                                </p:cTn>
                              </p:par>
                              <p:par>
                                <p:cTn id="35" presetID="25" presetClass="emph" presetSubtype="0" fill="hold" grpId="0" nodeType="withEffect">
                                  <p:stCondLst>
                                    <p:cond delay="1000"/>
                                  </p:stCondLst>
                                  <p:childTnLst>
                                    <p:animClr clrSpc="hsl" dir="cw">
                                      <p:cBhvr override="childStyle">
                                        <p:cTn id="36" dur="500" fill="hold"/>
                                        <p:tgtEl>
                                          <p:spTgt spid="49"/>
                                        </p:tgtEl>
                                        <p:attrNameLst>
                                          <p:attrName>style.color</p:attrName>
                                        </p:attrNameLst>
                                      </p:cBhvr>
                                      <p:by>
                                        <p:hsl h="0" s="-70588" l="0"/>
                                      </p:by>
                                    </p:animClr>
                                    <p:animClr clrSpc="hsl" dir="cw">
                                      <p:cBhvr>
                                        <p:cTn id="37" dur="500" fill="hold"/>
                                        <p:tgtEl>
                                          <p:spTgt spid="49"/>
                                        </p:tgtEl>
                                        <p:attrNameLst>
                                          <p:attrName>fillcolor</p:attrName>
                                        </p:attrNameLst>
                                      </p:cBhvr>
                                      <p:by>
                                        <p:hsl h="0" s="-70588" l="0"/>
                                      </p:by>
                                    </p:animClr>
                                    <p:animClr clrSpc="hsl" dir="cw">
                                      <p:cBhvr>
                                        <p:cTn id="38" dur="500" fill="hold"/>
                                        <p:tgtEl>
                                          <p:spTgt spid="49"/>
                                        </p:tgtEl>
                                        <p:attrNameLst>
                                          <p:attrName>stroke.color</p:attrName>
                                        </p:attrNameLst>
                                      </p:cBhvr>
                                      <p:by>
                                        <p:hsl h="0" s="-70588" l="0"/>
                                      </p:by>
                                    </p:animClr>
                                    <p:set>
                                      <p:cBhvr>
                                        <p:cTn id="39" dur="500" fill="hold"/>
                                        <p:tgtEl>
                                          <p:spTgt spid="49"/>
                                        </p:tgtEl>
                                        <p:attrNameLst>
                                          <p:attrName>fill.type</p:attrName>
                                        </p:attrNameLst>
                                      </p:cBhvr>
                                      <p:to>
                                        <p:strVal val="solid"/>
                                      </p:to>
                                    </p:set>
                                  </p:childTnLst>
                                </p:cTn>
                              </p:par>
                              <p:par>
                                <p:cTn id="40" presetID="25" presetClass="emph" presetSubtype="0" fill="hold" grpId="0" nodeType="withEffect">
                                  <p:stCondLst>
                                    <p:cond delay="1000"/>
                                  </p:stCondLst>
                                  <p:childTnLst>
                                    <p:animClr clrSpc="hsl" dir="cw">
                                      <p:cBhvr override="childStyle">
                                        <p:cTn id="41" dur="500" fill="hold"/>
                                        <p:tgtEl>
                                          <p:spTgt spid="73"/>
                                        </p:tgtEl>
                                        <p:attrNameLst>
                                          <p:attrName>style.color</p:attrName>
                                        </p:attrNameLst>
                                      </p:cBhvr>
                                      <p:by>
                                        <p:hsl h="0" s="-70588" l="0"/>
                                      </p:by>
                                    </p:animClr>
                                    <p:animClr clrSpc="hsl" dir="cw">
                                      <p:cBhvr>
                                        <p:cTn id="42" dur="500" fill="hold"/>
                                        <p:tgtEl>
                                          <p:spTgt spid="73"/>
                                        </p:tgtEl>
                                        <p:attrNameLst>
                                          <p:attrName>fillcolor</p:attrName>
                                        </p:attrNameLst>
                                      </p:cBhvr>
                                      <p:by>
                                        <p:hsl h="0" s="-70588" l="0"/>
                                      </p:by>
                                    </p:animClr>
                                    <p:animClr clrSpc="hsl" dir="cw">
                                      <p:cBhvr>
                                        <p:cTn id="43" dur="500" fill="hold"/>
                                        <p:tgtEl>
                                          <p:spTgt spid="73"/>
                                        </p:tgtEl>
                                        <p:attrNameLst>
                                          <p:attrName>stroke.color</p:attrName>
                                        </p:attrNameLst>
                                      </p:cBhvr>
                                      <p:by>
                                        <p:hsl h="0" s="-70588" l="0"/>
                                      </p:by>
                                    </p:animClr>
                                    <p:set>
                                      <p:cBhvr>
                                        <p:cTn id="44" dur="500" fill="hold"/>
                                        <p:tgtEl>
                                          <p:spTgt spid="73"/>
                                        </p:tgtEl>
                                        <p:attrNameLst>
                                          <p:attrName>fill.type</p:attrName>
                                        </p:attrNameLst>
                                      </p:cBhvr>
                                      <p:to>
                                        <p:strVal val="solid"/>
                                      </p:to>
                                    </p:set>
                                  </p:childTnLst>
                                </p:cTn>
                              </p:par>
                              <p:par>
                                <p:cTn id="45" presetID="25" presetClass="emph" presetSubtype="0" fill="hold" grpId="0" nodeType="withEffect">
                                  <p:stCondLst>
                                    <p:cond delay="1000"/>
                                  </p:stCondLst>
                                  <p:childTnLst>
                                    <p:animClr clrSpc="hsl" dir="cw">
                                      <p:cBhvr override="childStyle">
                                        <p:cTn id="46" dur="500" fill="hold"/>
                                        <p:tgtEl>
                                          <p:spTgt spid="74"/>
                                        </p:tgtEl>
                                        <p:attrNameLst>
                                          <p:attrName>style.color</p:attrName>
                                        </p:attrNameLst>
                                      </p:cBhvr>
                                      <p:by>
                                        <p:hsl h="0" s="-70588" l="0"/>
                                      </p:by>
                                    </p:animClr>
                                    <p:animClr clrSpc="hsl" dir="cw">
                                      <p:cBhvr>
                                        <p:cTn id="47" dur="500" fill="hold"/>
                                        <p:tgtEl>
                                          <p:spTgt spid="74"/>
                                        </p:tgtEl>
                                        <p:attrNameLst>
                                          <p:attrName>fillcolor</p:attrName>
                                        </p:attrNameLst>
                                      </p:cBhvr>
                                      <p:by>
                                        <p:hsl h="0" s="-70588" l="0"/>
                                      </p:by>
                                    </p:animClr>
                                    <p:animClr clrSpc="hsl" dir="cw">
                                      <p:cBhvr>
                                        <p:cTn id="48" dur="500" fill="hold"/>
                                        <p:tgtEl>
                                          <p:spTgt spid="74"/>
                                        </p:tgtEl>
                                        <p:attrNameLst>
                                          <p:attrName>stroke.color</p:attrName>
                                        </p:attrNameLst>
                                      </p:cBhvr>
                                      <p:by>
                                        <p:hsl h="0" s="-70588" l="0"/>
                                      </p:by>
                                    </p:animClr>
                                    <p:set>
                                      <p:cBhvr>
                                        <p:cTn id="49" dur="500" fill="hold"/>
                                        <p:tgtEl>
                                          <p:spTgt spid="74"/>
                                        </p:tgtEl>
                                        <p:attrNameLst>
                                          <p:attrName>fill.type</p:attrName>
                                        </p:attrNameLst>
                                      </p:cBhvr>
                                      <p:to>
                                        <p:strVal val="solid"/>
                                      </p:to>
                                    </p:set>
                                  </p:childTnLst>
                                </p:cTn>
                              </p:par>
                              <p:par>
                                <p:cTn id="50" presetID="25" presetClass="emph" presetSubtype="0" fill="hold" grpId="0" nodeType="withEffect">
                                  <p:stCondLst>
                                    <p:cond delay="1000"/>
                                  </p:stCondLst>
                                  <p:childTnLst>
                                    <p:animClr clrSpc="hsl" dir="cw">
                                      <p:cBhvr override="childStyle">
                                        <p:cTn id="51" dur="500" fill="hold"/>
                                        <p:tgtEl>
                                          <p:spTgt spid="21"/>
                                        </p:tgtEl>
                                        <p:attrNameLst>
                                          <p:attrName>style.color</p:attrName>
                                        </p:attrNameLst>
                                      </p:cBhvr>
                                      <p:by>
                                        <p:hsl h="0" s="-70588" l="0"/>
                                      </p:by>
                                    </p:animClr>
                                    <p:animClr clrSpc="hsl" dir="cw">
                                      <p:cBhvr>
                                        <p:cTn id="52" dur="500" fill="hold"/>
                                        <p:tgtEl>
                                          <p:spTgt spid="21"/>
                                        </p:tgtEl>
                                        <p:attrNameLst>
                                          <p:attrName>fillcolor</p:attrName>
                                        </p:attrNameLst>
                                      </p:cBhvr>
                                      <p:by>
                                        <p:hsl h="0" s="-70588" l="0"/>
                                      </p:by>
                                    </p:animClr>
                                    <p:animClr clrSpc="hsl" dir="cw">
                                      <p:cBhvr>
                                        <p:cTn id="53" dur="500" fill="hold"/>
                                        <p:tgtEl>
                                          <p:spTgt spid="21"/>
                                        </p:tgtEl>
                                        <p:attrNameLst>
                                          <p:attrName>stroke.color</p:attrName>
                                        </p:attrNameLst>
                                      </p:cBhvr>
                                      <p:by>
                                        <p:hsl h="0" s="-70588" l="0"/>
                                      </p:by>
                                    </p:animClr>
                                    <p:set>
                                      <p:cBhvr>
                                        <p:cTn id="54" dur="500" fill="hold"/>
                                        <p:tgtEl>
                                          <p:spTgt spid="21"/>
                                        </p:tgtEl>
                                        <p:attrNameLst>
                                          <p:attrName>fill.type</p:attrName>
                                        </p:attrNameLst>
                                      </p:cBhvr>
                                      <p:to>
                                        <p:strVal val="solid"/>
                                      </p:to>
                                    </p:set>
                                  </p:childTnLst>
                                </p:cTn>
                              </p:par>
                              <p:par>
                                <p:cTn id="55" presetID="25" presetClass="emph" presetSubtype="0" fill="hold" nodeType="withEffect">
                                  <p:stCondLst>
                                    <p:cond delay="1000"/>
                                  </p:stCondLst>
                                  <p:childTnLst>
                                    <p:animClr clrSpc="hsl" dir="cw">
                                      <p:cBhvr override="childStyle">
                                        <p:cTn id="56" dur="500" fill="hold"/>
                                        <p:tgtEl>
                                          <p:spTgt spid="27"/>
                                        </p:tgtEl>
                                        <p:attrNameLst>
                                          <p:attrName>style.color</p:attrName>
                                        </p:attrNameLst>
                                      </p:cBhvr>
                                      <p:by>
                                        <p:hsl h="0" s="-70588" l="0"/>
                                      </p:by>
                                    </p:animClr>
                                    <p:animClr clrSpc="hsl" dir="cw">
                                      <p:cBhvr>
                                        <p:cTn id="57" dur="500" fill="hold"/>
                                        <p:tgtEl>
                                          <p:spTgt spid="27"/>
                                        </p:tgtEl>
                                        <p:attrNameLst>
                                          <p:attrName>fillcolor</p:attrName>
                                        </p:attrNameLst>
                                      </p:cBhvr>
                                      <p:by>
                                        <p:hsl h="0" s="-70588" l="0"/>
                                      </p:by>
                                    </p:animClr>
                                    <p:animClr clrSpc="hsl" dir="cw">
                                      <p:cBhvr>
                                        <p:cTn id="58" dur="500" fill="hold"/>
                                        <p:tgtEl>
                                          <p:spTgt spid="27"/>
                                        </p:tgtEl>
                                        <p:attrNameLst>
                                          <p:attrName>stroke.color</p:attrName>
                                        </p:attrNameLst>
                                      </p:cBhvr>
                                      <p:by>
                                        <p:hsl h="0" s="-70588" l="0"/>
                                      </p:by>
                                    </p:animClr>
                                    <p:set>
                                      <p:cBhvr>
                                        <p:cTn id="59" dur="500" fill="hold"/>
                                        <p:tgtEl>
                                          <p:spTgt spid="27"/>
                                        </p:tgtEl>
                                        <p:attrNameLst>
                                          <p:attrName>fill.type</p:attrName>
                                        </p:attrNameLst>
                                      </p:cBhvr>
                                      <p:to>
                                        <p:strVal val="solid"/>
                                      </p:to>
                                    </p:set>
                                  </p:childTnLst>
                                </p:cTn>
                              </p:par>
                              <p:par>
                                <p:cTn id="60" presetID="25" presetClass="emph" presetSubtype="0" fill="hold" nodeType="withEffect">
                                  <p:stCondLst>
                                    <p:cond delay="1000"/>
                                  </p:stCondLst>
                                  <p:childTnLst>
                                    <p:animClr clrSpc="hsl" dir="cw">
                                      <p:cBhvr override="childStyle">
                                        <p:cTn id="61" dur="500" fill="hold"/>
                                        <p:tgtEl>
                                          <p:spTgt spid="28"/>
                                        </p:tgtEl>
                                        <p:attrNameLst>
                                          <p:attrName>style.color</p:attrName>
                                        </p:attrNameLst>
                                      </p:cBhvr>
                                      <p:by>
                                        <p:hsl h="0" s="-70588" l="0"/>
                                      </p:by>
                                    </p:animClr>
                                    <p:animClr clrSpc="hsl" dir="cw">
                                      <p:cBhvr>
                                        <p:cTn id="62" dur="500" fill="hold"/>
                                        <p:tgtEl>
                                          <p:spTgt spid="28"/>
                                        </p:tgtEl>
                                        <p:attrNameLst>
                                          <p:attrName>fillcolor</p:attrName>
                                        </p:attrNameLst>
                                      </p:cBhvr>
                                      <p:by>
                                        <p:hsl h="0" s="-70588" l="0"/>
                                      </p:by>
                                    </p:animClr>
                                    <p:animClr clrSpc="hsl" dir="cw">
                                      <p:cBhvr>
                                        <p:cTn id="63" dur="500" fill="hold"/>
                                        <p:tgtEl>
                                          <p:spTgt spid="28"/>
                                        </p:tgtEl>
                                        <p:attrNameLst>
                                          <p:attrName>stroke.color</p:attrName>
                                        </p:attrNameLst>
                                      </p:cBhvr>
                                      <p:by>
                                        <p:hsl h="0" s="-70588" l="0"/>
                                      </p:by>
                                    </p:animClr>
                                    <p:set>
                                      <p:cBhvr>
                                        <p:cTn id="64" dur="500" fill="hold"/>
                                        <p:tgtEl>
                                          <p:spTgt spid="28"/>
                                        </p:tgtEl>
                                        <p:attrNameLst>
                                          <p:attrName>fill.type</p:attrName>
                                        </p:attrNameLst>
                                      </p:cBhvr>
                                      <p:to>
                                        <p:strVal val="solid"/>
                                      </p:to>
                                    </p:set>
                                  </p:childTnLst>
                                </p:cTn>
                              </p:par>
                              <p:par>
                                <p:cTn id="65" presetID="25" presetClass="emph" presetSubtype="0" fill="hold" nodeType="withEffect">
                                  <p:stCondLst>
                                    <p:cond delay="1000"/>
                                  </p:stCondLst>
                                  <p:childTnLst>
                                    <p:animClr clrSpc="hsl" dir="cw">
                                      <p:cBhvr override="childStyle">
                                        <p:cTn id="66" dur="500" fill="hold"/>
                                        <p:tgtEl>
                                          <p:spTgt spid="44"/>
                                        </p:tgtEl>
                                        <p:attrNameLst>
                                          <p:attrName>style.color</p:attrName>
                                        </p:attrNameLst>
                                      </p:cBhvr>
                                      <p:by>
                                        <p:hsl h="0" s="-70588" l="0"/>
                                      </p:by>
                                    </p:animClr>
                                    <p:animClr clrSpc="hsl" dir="cw">
                                      <p:cBhvr>
                                        <p:cTn id="67" dur="500" fill="hold"/>
                                        <p:tgtEl>
                                          <p:spTgt spid="44"/>
                                        </p:tgtEl>
                                        <p:attrNameLst>
                                          <p:attrName>fillcolor</p:attrName>
                                        </p:attrNameLst>
                                      </p:cBhvr>
                                      <p:by>
                                        <p:hsl h="0" s="-70588" l="0"/>
                                      </p:by>
                                    </p:animClr>
                                    <p:animClr clrSpc="hsl" dir="cw">
                                      <p:cBhvr>
                                        <p:cTn id="68" dur="500" fill="hold"/>
                                        <p:tgtEl>
                                          <p:spTgt spid="44"/>
                                        </p:tgtEl>
                                        <p:attrNameLst>
                                          <p:attrName>stroke.color</p:attrName>
                                        </p:attrNameLst>
                                      </p:cBhvr>
                                      <p:by>
                                        <p:hsl h="0" s="-70588" l="0"/>
                                      </p:by>
                                    </p:animClr>
                                    <p:set>
                                      <p:cBhvr>
                                        <p:cTn id="69" dur="500" fill="hold"/>
                                        <p:tgtEl>
                                          <p:spTgt spid="44"/>
                                        </p:tgtEl>
                                        <p:attrNameLst>
                                          <p:attrName>fill.type</p:attrName>
                                        </p:attrNameLst>
                                      </p:cBhvr>
                                      <p:to>
                                        <p:strVal val="solid"/>
                                      </p:to>
                                    </p:set>
                                  </p:childTnLst>
                                </p:cTn>
                              </p:par>
                              <p:par>
                                <p:cTn id="70" presetID="25" presetClass="emph" presetSubtype="0" fill="hold" nodeType="withEffect">
                                  <p:stCondLst>
                                    <p:cond delay="1000"/>
                                  </p:stCondLst>
                                  <p:childTnLst>
                                    <p:animClr clrSpc="hsl" dir="cw">
                                      <p:cBhvr override="childStyle">
                                        <p:cTn id="71" dur="500" fill="hold"/>
                                        <p:tgtEl>
                                          <p:spTgt spid="48"/>
                                        </p:tgtEl>
                                        <p:attrNameLst>
                                          <p:attrName>style.color</p:attrName>
                                        </p:attrNameLst>
                                      </p:cBhvr>
                                      <p:by>
                                        <p:hsl h="0" s="-70588" l="0"/>
                                      </p:by>
                                    </p:animClr>
                                    <p:animClr clrSpc="hsl" dir="cw">
                                      <p:cBhvr>
                                        <p:cTn id="72" dur="500" fill="hold"/>
                                        <p:tgtEl>
                                          <p:spTgt spid="48"/>
                                        </p:tgtEl>
                                        <p:attrNameLst>
                                          <p:attrName>fillcolor</p:attrName>
                                        </p:attrNameLst>
                                      </p:cBhvr>
                                      <p:by>
                                        <p:hsl h="0" s="-70588" l="0"/>
                                      </p:by>
                                    </p:animClr>
                                    <p:animClr clrSpc="hsl" dir="cw">
                                      <p:cBhvr>
                                        <p:cTn id="73" dur="500" fill="hold"/>
                                        <p:tgtEl>
                                          <p:spTgt spid="48"/>
                                        </p:tgtEl>
                                        <p:attrNameLst>
                                          <p:attrName>stroke.color</p:attrName>
                                        </p:attrNameLst>
                                      </p:cBhvr>
                                      <p:by>
                                        <p:hsl h="0" s="-70588" l="0"/>
                                      </p:by>
                                    </p:animClr>
                                    <p:set>
                                      <p:cBhvr>
                                        <p:cTn id="74" dur="500" fill="hold"/>
                                        <p:tgtEl>
                                          <p:spTgt spid="48"/>
                                        </p:tgtEl>
                                        <p:attrNameLst>
                                          <p:attrName>fill.type</p:attrName>
                                        </p:attrNameLst>
                                      </p:cBhvr>
                                      <p:to>
                                        <p:strVal val="solid"/>
                                      </p:to>
                                    </p:set>
                                  </p:childTnLst>
                                </p:cTn>
                              </p:par>
                              <p:par>
                                <p:cTn id="75" presetID="25" presetClass="emph" presetSubtype="0" fill="hold" grpId="0" nodeType="withEffect">
                                  <p:stCondLst>
                                    <p:cond delay="1000"/>
                                  </p:stCondLst>
                                  <p:childTnLst>
                                    <p:animClr clrSpc="hsl" dir="cw">
                                      <p:cBhvr override="childStyle">
                                        <p:cTn id="76" dur="500" fill="hold"/>
                                        <p:tgtEl>
                                          <p:spTgt spid="88"/>
                                        </p:tgtEl>
                                        <p:attrNameLst>
                                          <p:attrName>style.color</p:attrName>
                                        </p:attrNameLst>
                                      </p:cBhvr>
                                      <p:by>
                                        <p:hsl h="0" s="-70588" l="0"/>
                                      </p:by>
                                    </p:animClr>
                                    <p:animClr clrSpc="hsl" dir="cw">
                                      <p:cBhvr>
                                        <p:cTn id="77" dur="500" fill="hold"/>
                                        <p:tgtEl>
                                          <p:spTgt spid="88"/>
                                        </p:tgtEl>
                                        <p:attrNameLst>
                                          <p:attrName>fillcolor</p:attrName>
                                        </p:attrNameLst>
                                      </p:cBhvr>
                                      <p:by>
                                        <p:hsl h="0" s="-70588" l="0"/>
                                      </p:by>
                                    </p:animClr>
                                    <p:animClr clrSpc="hsl" dir="cw">
                                      <p:cBhvr>
                                        <p:cTn id="78" dur="500" fill="hold"/>
                                        <p:tgtEl>
                                          <p:spTgt spid="88"/>
                                        </p:tgtEl>
                                        <p:attrNameLst>
                                          <p:attrName>stroke.color</p:attrName>
                                        </p:attrNameLst>
                                      </p:cBhvr>
                                      <p:by>
                                        <p:hsl h="0" s="-70588" l="0"/>
                                      </p:by>
                                    </p:animClr>
                                    <p:set>
                                      <p:cBhvr>
                                        <p:cTn id="79" dur="500" fill="hold"/>
                                        <p:tgtEl>
                                          <p:spTgt spid="88"/>
                                        </p:tgtEl>
                                        <p:attrNameLst>
                                          <p:attrName>fill.type</p:attrName>
                                        </p:attrNameLst>
                                      </p:cBhvr>
                                      <p:to>
                                        <p:strVal val="solid"/>
                                      </p:to>
                                    </p:set>
                                  </p:childTnLst>
                                </p:cTn>
                              </p:par>
                              <p:par>
                                <p:cTn id="80" presetID="25" presetClass="emph" presetSubtype="0" fill="hold" grpId="0" nodeType="withEffect">
                                  <p:stCondLst>
                                    <p:cond delay="1000"/>
                                  </p:stCondLst>
                                  <p:childTnLst>
                                    <p:animClr clrSpc="hsl" dir="cw">
                                      <p:cBhvr override="childStyle">
                                        <p:cTn id="81" dur="500" fill="hold"/>
                                        <p:tgtEl>
                                          <p:spTgt spid="24"/>
                                        </p:tgtEl>
                                        <p:attrNameLst>
                                          <p:attrName>style.color</p:attrName>
                                        </p:attrNameLst>
                                      </p:cBhvr>
                                      <p:by>
                                        <p:hsl h="0" s="-70588" l="0"/>
                                      </p:by>
                                    </p:animClr>
                                    <p:animClr clrSpc="hsl" dir="cw">
                                      <p:cBhvr>
                                        <p:cTn id="82" dur="500" fill="hold"/>
                                        <p:tgtEl>
                                          <p:spTgt spid="24"/>
                                        </p:tgtEl>
                                        <p:attrNameLst>
                                          <p:attrName>fillcolor</p:attrName>
                                        </p:attrNameLst>
                                      </p:cBhvr>
                                      <p:by>
                                        <p:hsl h="0" s="-70588" l="0"/>
                                      </p:by>
                                    </p:animClr>
                                    <p:animClr clrSpc="hsl" dir="cw">
                                      <p:cBhvr>
                                        <p:cTn id="83" dur="500" fill="hold"/>
                                        <p:tgtEl>
                                          <p:spTgt spid="24"/>
                                        </p:tgtEl>
                                        <p:attrNameLst>
                                          <p:attrName>stroke.color</p:attrName>
                                        </p:attrNameLst>
                                      </p:cBhvr>
                                      <p:by>
                                        <p:hsl h="0" s="-70588" l="0"/>
                                      </p:by>
                                    </p:animClr>
                                    <p:set>
                                      <p:cBhvr>
                                        <p:cTn id="84" dur="500" fill="hold"/>
                                        <p:tgtEl>
                                          <p:spTgt spid="24"/>
                                        </p:tgtEl>
                                        <p:attrNameLst>
                                          <p:attrName>fill.type</p:attrName>
                                        </p:attrNameLst>
                                      </p:cBhvr>
                                      <p:to>
                                        <p:strVal val="solid"/>
                                      </p:to>
                                    </p:set>
                                  </p:childTnLst>
                                </p:cTn>
                              </p:par>
                              <p:par>
                                <p:cTn id="85" presetID="25" presetClass="emph" presetSubtype="0" fill="hold" grpId="0" nodeType="withEffect">
                                  <p:stCondLst>
                                    <p:cond delay="1000"/>
                                  </p:stCondLst>
                                  <p:childTnLst>
                                    <p:animClr clrSpc="hsl" dir="cw">
                                      <p:cBhvr override="childStyle">
                                        <p:cTn id="86" dur="500" fill="hold"/>
                                        <p:tgtEl>
                                          <p:spTgt spid="54"/>
                                        </p:tgtEl>
                                        <p:attrNameLst>
                                          <p:attrName>style.color</p:attrName>
                                        </p:attrNameLst>
                                      </p:cBhvr>
                                      <p:by>
                                        <p:hsl h="0" s="-70588" l="0"/>
                                      </p:by>
                                    </p:animClr>
                                    <p:animClr clrSpc="hsl" dir="cw">
                                      <p:cBhvr>
                                        <p:cTn id="87" dur="500" fill="hold"/>
                                        <p:tgtEl>
                                          <p:spTgt spid="54"/>
                                        </p:tgtEl>
                                        <p:attrNameLst>
                                          <p:attrName>fillcolor</p:attrName>
                                        </p:attrNameLst>
                                      </p:cBhvr>
                                      <p:by>
                                        <p:hsl h="0" s="-70588" l="0"/>
                                      </p:by>
                                    </p:animClr>
                                    <p:animClr clrSpc="hsl" dir="cw">
                                      <p:cBhvr>
                                        <p:cTn id="88" dur="500" fill="hold"/>
                                        <p:tgtEl>
                                          <p:spTgt spid="54"/>
                                        </p:tgtEl>
                                        <p:attrNameLst>
                                          <p:attrName>stroke.color</p:attrName>
                                        </p:attrNameLst>
                                      </p:cBhvr>
                                      <p:by>
                                        <p:hsl h="0" s="-70588" l="0"/>
                                      </p:by>
                                    </p:animClr>
                                    <p:set>
                                      <p:cBhvr>
                                        <p:cTn id="89" dur="500" fill="hold"/>
                                        <p:tgtEl>
                                          <p:spTgt spid="54"/>
                                        </p:tgtEl>
                                        <p:attrNameLst>
                                          <p:attrName>fill.type</p:attrName>
                                        </p:attrNameLst>
                                      </p:cBhvr>
                                      <p:to>
                                        <p:strVal val="solid"/>
                                      </p:to>
                                    </p:set>
                                  </p:childTnLst>
                                </p:cTn>
                              </p:par>
                              <p:par>
                                <p:cTn id="90" presetID="25" presetClass="emph" presetSubtype="0" fill="hold" grpId="0" nodeType="withEffect">
                                  <p:stCondLst>
                                    <p:cond delay="1000"/>
                                  </p:stCondLst>
                                  <p:childTnLst>
                                    <p:animClr clrSpc="hsl" dir="cw">
                                      <p:cBhvr override="childStyle">
                                        <p:cTn id="91" dur="500" fill="hold"/>
                                        <p:tgtEl>
                                          <p:spTgt spid="25"/>
                                        </p:tgtEl>
                                        <p:attrNameLst>
                                          <p:attrName>style.color</p:attrName>
                                        </p:attrNameLst>
                                      </p:cBhvr>
                                      <p:by>
                                        <p:hsl h="0" s="-70588" l="0"/>
                                      </p:by>
                                    </p:animClr>
                                    <p:animClr clrSpc="hsl" dir="cw">
                                      <p:cBhvr>
                                        <p:cTn id="92" dur="500" fill="hold"/>
                                        <p:tgtEl>
                                          <p:spTgt spid="25"/>
                                        </p:tgtEl>
                                        <p:attrNameLst>
                                          <p:attrName>fillcolor</p:attrName>
                                        </p:attrNameLst>
                                      </p:cBhvr>
                                      <p:by>
                                        <p:hsl h="0" s="-70588" l="0"/>
                                      </p:by>
                                    </p:animClr>
                                    <p:animClr clrSpc="hsl" dir="cw">
                                      <p:cBhvr>
                                        <p:cTn id="93" dur="500" fill="hold"/>
                                        <p:tgtEl>
                                          <p:spTgt spid="25"/>
                                        </p:tgtEl>
                                        <p:attrNameLst>
                                          <p:attrName>stroke.color</p:attrName>
                                        </p:attrNameLst>
                                      </p:cBhvr>
                                      <p:by>
                                        <p:hsl h="0" s="-70588" l="0"/>
                                      </p:by>
                                    </p:animClr>
                                    <p:set>
                                      <p:cBhvr>
                                        <p:cTn id="94" dur="500" fill="hold"/>
                                        <p:tgtEl>
                                          <p:spTgt spid="25"/>
                                        </p:tgtEl>
                                        <p:attrNameLst>
                                          <p:attrName>fill.type</p:attrName>
                                        </p:attrNameLst>
                                      </p:cBhvr>
                                      <p:to>
                                        <p:strVal val="solid"/>
                                      </p:to>
                                    </p:set>
                                  </p:childTnLst>
                                </p:cTn>
                              </p:par>
                              <p:par>
                                <p:cTn id="95" presetID="10" presetClass="entr" presetSubtype="0" fill="hold" grpId="0" nodeType="withEffect">
                                  <p:stCondLst>
                                    <p:cond delay="1000"/>
                                  </p:stCondLst>
                                  <p:childTnLst>
                                    <p:set>
                                      <p:cBhvr>
                                        <p:cTn id="96" dur="1" fill="hold">
                                          <p:stCondLst>
                                            <p:cond delay="0"/>
                                          </p:stCondLst>
                                        </p:cTn>
                                        <p:tgtEl>
                                          <p:spTgt spid="22"/>
                                        </p:tgtEl>
                                        <p:attrNameLst>
                                          <p:attrName>style.visibility</p:attrName>
                                        </p:attrNameLst>
                                      </p:cBhvr>
                                      <p:to>
                                        <p:strVal val="visible"/>
                                      </p:to>
                                    </p:set>
                                    <p:animEffect transition="in" filter="fade">
                                      <p:cBhvr>
                                        <p:cTn id="97" dur="500"/>
                                        <p:tgtEl>
                                          <p:spTgt spid="22"/>
                                        </p:tgtEl>
                                      </p:cBhvr>
                                    </p:animEffect>
                                  </p:childTnLst>
                                </p:cTn>
                              </p:par>
                              <p:par>
                                <p:cTn id="98" presetID="10" presetClass="entr" presetSubtype="0" fill="hold" grpId="0" nodeType="withEffect">
                                  <p:stCondLst>
                                    <p:cond delay="1000"/>
                                  </p:stCondLst>
                                  <p:childTnLst>
                                    <p:set>
                                      <p:cBhvr>
                                        <p:cTn id="99" dur="1" fill="hold">
                                          <p:stCondLst>
                                            <p:cond delay="0"/>
                                          </p:stCondLst>
                                        </p:cTn>
                                        <p:tgtEl>
                                          <p:spTgt spid="23"/>
                                        </p:tgtEl>
                                        <p:attrNameLst>
                                          <p:attrName>style.visibility</p:attrName>
                                        </p:attrNameLst>
                                      </p:cBhvr>
                                      <p:to>
                                        <p:strVal val="visible"/>
                                      </p:to>
                                    </p:set>
                                    <p:animEffect transition="in" filter="fade">
                                      <p:cBhvr>
                                        <p:cTn id="100" dur="500"/>
                                        <p:tgtEl>
                                          <p:spTgt spid="23"/>
                                        </p:tgtEl>
                                      </p:cBhvr>
                                    </p:animEffect>
                                  </p:childTnLst>
                                </p:cTn>
                              </p:par>
                              <p:par>
                                <p:cTn id="101" presetID="10" presetClass="entr" presetSubtype="0" fill="hold" grpId="0" nodeType="withEffect">
                                  <p:stCondLst>
                                    <p:cond delay="1000"/>
                                  </p:stCondLst>
                                  <p:childTnLst>
                                    <p:set>
                                      <p:cBhvr>
                                        <p:cTn id="102" dur="1" fill="hold">
                                          <p:stCondLst>
                                            <p:cond delay="0"/>
                                          </p:stCondLst>
                                        </p:cTn>
                                        <p:tgtEl>
                                          <p:spTgt spid="29"/>
                                        </p:tgtEl>
                                        <p:attrNameLst>
                                          <p:attrName>style.visibility</p:attrName>
                                        </p:attrNameLst>
                                      </p:cBhvr>
                                      <p:to>
                                        <p:strVal val="visible"/>
                                      </p:to>
                                    </p:set>
                                    <p:animEffect transition="in" filter="fade">
                                      <p:cBhvr>
                                        <p:cTn id="103" dur="500"/>
                                        <p:tgtEl>
                                          <p:spTgt spid="29"/>
                                        </p:tgtEl>
                                      </p:cBhvr>
                                    </p:animEffect>
                                  </p:childTnLst>
                                </p:cTn>
                              </p:par>
                              <p:par>
                                <p:cTn id="104" presetID="10" presetClass="entr" presetSubtype="0" fill="hold" grpId="0" nodeType="withEffect">
                                  <p:stCondLst>
                                    <p:cond delay="1000"/>
                                  </p:stCondLst>
                                  <p:childTnLst>
                                    <p:set>
                                      <p:cBhvr>
                                        <p:cTn id="105" dur="1" fill="hold">
                                          <p:stCondLst>
                                            <p:cond delay="0"/>
                                          </p:stCondLst>
                                        </p:cTn>
                                        <p:tgtEl>
                                          <p:spTgt spid="32"/>
                                        </p:tgtEl>
                                        <p:attrNameLst>
                                          <p:attrName>style.visibility</p:attrName>
                                        </p:attrNameLst>
                                      </p:cBhvr>
                                      <p:to>
                                        <p:strVal val="visible"/>
                                      </p:to>
                                    </p:set>
                                    <p:animEffect transition="in" filter="fade">
                                      <p:cBhvr>
                                        <p:cTn id="106"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54" grpId="0"/>
      <p:bldP spid="78" grpId="0"/>
      <p:bldP spid="3" grpId="0"/>
      <p:bldP spid="6" grpId="0"/>
      <p:bldP spid="58" grpId="0" animBg="1"/>
      <p:bldP spid="49" grpId="0" animBg="1"/>
      <p:bldP spid="73" grpId="0" animBg="1"/>
      <p:bldP spid="74" grpId="0" animBg="1"/>
      <p:bldP spid="21" grpId="0" animBg="1"/>
      <p:bldP spid="88" grpId="0" animBg="1"/>
      <p:bldP spid="25" grpId="0"/>
      <p:bldP spid="22" grpId="0" animBg="1"/>
      <p:bldP spid="23" grpId="0"/>
      <p:bldP spid="29" grpId="0" animBg="1"/>
      <p:bldP spid="3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FD873-90F2-28F1-5430-7550780C13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8CE399F-78CA-52C2-D4E8-87AB5549F9E4}"/>
              </a:ext>
            </a:extLst>
          </p:cNvPr>
          <p:cNvPicPr>
            <a:picLocks noChangeAspect="1"/>
          </p:cNvPicPr>
          <p:nvPr/>
        </p:nvPicPr>
        <p:blipFill>
          <a:blip r:embed="rId3"/>
          <a:srcRect t="21286" r="49991" b="18695"/>
          <a:stretch>
            <a:fillRect/>
          </a:stretch>
        </p:blipFill>
        <p:spPr>
          <a:xfrm>
            <a:off x="695325" y="1628775"/>
            <a:ext cx="5400675" cy="4321175"/>
          </a:xfrm>
          <a:prstGeom prst="rect">
            <a:avLst/>
          </a:prstGeom>
        </p:spPr>
      </p:pic>
      <p:sp>
        <p:nvSpPr>
          <p:cNvPr id="71" name="Rectangle 70">
            <a:extLst>
              <a:ext uri="{FF2B5EF4-FFF2-40B4-BE49-F238E27FC236}">
                <a16:creationId xmlns:a16="http://schemas.microsoft.com/office/drawing/2014/main" id="{51875250-ACFA-3DD9-D104-507D9F2C4251}"/>
              </a:ext>
            </a:extLst>
          </p:cNvPr>
          <p:cNvSpPr/>
          <p:nvPr/>
        </p:nvSpPr>
        <p:spPr>
          <a:xfrm>
            <a:off x="5136204" y="1628775"/>
            <a:ext cx="6350219" cy="4321175"/>
          </a:xfrm>
          <a:prstGeom prst="rect">
            <a:avLst/>
          </a:prstGeom>
          <a:solidFill>
            <a:schemeClr val="accent1">
              <a:lumMod val="20000"/>
              <a:lumOff val="80000"/>
              <a:alpha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0" tIns="180000" rIns="180000" bIns="180000" rtlCol="0" anchor="ctr"/>
          <a:lstStyle/>
          <a:p>
            <a:endParaRPr lang="en-NL" sz="2000" i="1" dirty="0">
              <a:solidFill>
                <a:schemeClr val="tx1"/>
              </a:solidFill>
            </a:endParaRPr>
          </a:p>
        </p:txBody>
      </p:sp>
      <p:cxnSp>
        <p:nvCxnSpPr>
          <p:cNvPr id="6" name="Connector: Elbow 5">
            <a:extLst>
              <a:ext uri="{FF2B5EF4-FFF2-40B4-BE49-F238E27FC236}">
                <a16:creationId xmlns:a16="http://schemas.microsoft.com/office/drawing/2014/main" id="{708C64BD-9F91-D06E-A60A-DBCCFA1F37AE}"/>
              </a:ext>
            </a:extLst>
          </p:cNvPr>
          <p:cNvCxnSpPr>
            <a:cxnSpLocks/>
          </p:cNvCxnSpPr>
          <p:nvPr/>
        </p:nvCxnSpPr>
        <p:spPr>
          <a:xfrm flipV="1">
            <a:off x="7405404" y="3789363"/>
            <a:ext cx="2269615" cy="826612"/>
          </a:xfrm>
          <a:prstGeom prst="bentConnector3">
            <a:avLst>
              <a:gd name="adj1" fmla="val 86472"/>
            </a:avLst>
          </a:pr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cxnSp>
      <p:sp>
        <p:nvSpPr>
          <p:cNvPr id="7" name="Rectangle 6">
            <a:extLst>
              <a:ext uri="{FF2B5EF4-FFF2-40B4-BE49-F238E27FC236}">
                <a16:creationId xmlns:a16="http://schemas.microsoft.com/office/drawing/2014/main" id="{583AC777-DB3A-1DC2-3871-049CF43C4EC0}"/>
              </a:ext>
            </a:extLst>
          </p:cNvPr>
          <p:cNvSpPr/>
          <p:nvPr/>
        </p:nvSpPr>
        <p:spPr>
          <a:xfrm>
            <a:off x="7405404" y="4390615"/>
            <a:ext cx="1774451" cy="359279"/>
          </a:xfrm>
          <a:prstGeom prst="rect">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0" tIns="180000" rIns="180000" bIns="180000" rtlCol="0" anchor="ctr"/>
          <a:lstStyle/>
          <a:p>
            <a:endParaRPr lang="en-NL" sz="1200" i="1">
              <a:solidFill>
                <a:schemeClr val="tx1"/>
              </a:solidFill>
            </a:endParaRPr>
          </a:p>
        </p:txBody>
      </p:sp>
      <p:sp>
        <p:nvSpPr>
          <p:cNvPr id="4" name="Slide Number Placeholder 3">
            <a:extLst>
              <a:ext uri="{FF2B5EF4-FFF2-40B4-BE49-F238E27FC236}">
                <a16:creationId xmlns:a16="http://schemas.microsoft.com/office/drawing/2014/main" id="{CB9C3EF2-60AF-DDD4-6F2A-448905C87A63}"/>
              </a:ext>
            </a:extLst>
          </p:cNvPr>
          <p:cNvSpPr>
            <a:spLocks noGrp="1"/>
          </p:cNvSpPr>
          <p:nvPr>
            <p:ph type="sldNum" sz="quarter" idx="12"/>
          </p:nvPr>
        </p:nvSpPr>
        <p:spPr/>
        <p:txBody>
          <a:bodyPr/>
          <a:lstStyle/>
          <a:p>
            <a:fld id="{4FAB73BC-B049-4115-A692-8D63A059BFB8}" type="slidenum">
              <a:rPr lang="en-US" smtClean="0"/>
              <a:pPr/>
              <a:t>23</a:t>
            </a:fld>
            <a:endParaRPr lang="en-US" dirty="0"/>
          </a:p>
        </p:txBody>
      </p:sp>
      <p:sp>
        <p:nvSpPr>
          <p:cNvPr id="47" name="Title 1">
            <a:extLst>
              <a:ext uri="{FF2B5EF4-FFF2-40B4-BE49-F238E27FC236}">
                <a16:creationId xmlns:a16="http://schemas.microsoft.com/office/drawing/2014/main" id="{5DDE3956-41CE-B477-AA42-71A1165DF0A0}"/>
              </a:ext>
            </a:extLst>
          </p:cNvPr>
          <p:cNvSpPr>
            <a:spLocks noGrp="1"/>
          </p:cNvSpPr>
          <p:nvPr>
            <p:ph type="title"/>
          </p:nvPr>
        </p:nvSpPr>
        <p:spPr>
          <a:xfrm>
            <a:off x="695327" y="386001"/>
            <a:ext cx="9153523" cy="929259"/>
          </a:xfrm>
        </p:spPr>
        <p:txBody>
          <a:bodyPr/>
          <a:lstStyle/>
          <a:p>
            <a:r>
              <a:rPr lang="en-US" sz="3600" b="1" dirty="0"/>
              <a:t>Scenario 3: Use Mappings to Connect Data and Infer Reuse Knowledge</a:t>
            </a:r>
          </a:p>
        </p:txBody>
      </p:sp>
      <p:sp>
        <p:nvSpPr>
          <p:cNvPr id="74" name="Freeform: Shape 73">
            <a:extLst>
              <a:ext uri="{FF2B5EF4-FFF2-40B4-BE49-F238E27FC236}">
                <a16:creationId xmlns:a16="http://schemas.microsoft.com/office/drawing/2014/main" id="{EF424985-D59E-34F3-A8C1-83E320AC368F}"/>
              </a:ext>
            </a:extLst>
          </p:cNvPr>
          <p:cNvSpPr/>
          <p:nvPr/>
        </p:nvSpPr>
        <p:spPr>
          <a:xfrm>
            <a:off x="7034190" y="2917030"/>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2" tIns="43711" rIns="188262" bIns="43711" numCol="1" spcCol="1270" anchor="ctr" anchorCtr="0">
            <a:noAutofit/>
          </a:bodyPr>
          <a:lstStyle/>
          <a:p>
            <a:pPr marL="0" lvl="0" indent="0" algn="ctr" defTabSz="222250">
              <a:lnSpc>
                <a:spcPct val="90000"/>
              </a:lnSpc>
              <a:spcBef>
                <a:spcPct val="0"/>
              </a:spcBef>
              <a:spcAft>
                <a:spcPct val="35000"/>
              </a:spcAft>
              <a:buNone/>
            </a:pPr>
            <a:endParaRPr lang="en-NL" sz="1200" kern="1200" dirty="0"/>
          </a:p>
        </p:txBody>
      </p:sp>
      <p:sp>
        <p:nvSpPr>
          <p:cNvPr id="75" name="Freeform: Shape 74">
            <a:extLst>
              <a:ext uri="{FF2B5EF4-FFF2-40B4-BE49-F238E27FC236}">
                <a16:creationId xmlns:a16="http://schemas.microsoft.com/office/drawing/2014/main" id="{B0405DD8-8AAB-1BBC-B75D-DFD42DFBA15B}"/>
              </a:ext>
            </a:extLst>
          </p:cNvPr>
          <p:cNvSpPr/>
          <p:nvPr/>
        </p:nvSpPr>
        <p:spPr>
          <a:xfrm>
            <a:off x="6162481" y="3486855"/>
            <a:ext cx="2206819" cy="572615"/>
          </a:xfrm>
          <a:custGeom>
            <a:avLst/>
            <a:gdLst>
              <a:gd name="csX0" fmla="*/ 4297663 w 4297663"/>
              <a:gd name="csY0" fmla="*/ 0 h 371214"/>
              <a:gd name="csX1" fmla="*/ 4297663 w 4297663"/>
              <a:gd name="csY1" fmla="*/ 202707 h 371214"/>
              <a:gd name="csX2" fmla="*/ 0 w 4297663"/>
              <a:gd name="csY2" fmla="*/ 202707 h 371214"/>
              <a:gd name="csX3" fmla="*/ 0 w 4297663"/>
              <a:gd name="csY3" fmla="*/ 371214 h 371214"/>
            </a:gdLst>
            <a:ahLst/>
            <a:cxnLst>
              <a:cxn ang="0">
                <a:pos x="csX0" y="csY0"/>
              </a:cxn>
              <a:cxn ang="0">
                <a:pos x="csX1" y="csY1"/>
              </a:cxn>
              <a:cxn ang="0">
                <a:pos x="csX2" y="csY2"/>
              </a:cxn>
              <a:cxn ang="0">
                <a:pos x="csX3" y="csY3"/>
              </a:cxn>
            </a:cxnLst>
            <a:rect l="l" t="t" r="r" b="b"/>
            <a:pathLst>
              <a:path w="4297663" h="371214">
                <a:moveTo>
                  <a:pt x="4297663" y="0"/>
                </a:moveTo>
                <a:lnTo>
                  <a:pt x="4297663" y="202707"/>
                </a:lnTo>
                <a:lnTo>
                  <a:pt x="0" y="202707"/>
                </a:lnTo>
                <a:lnTo>
                  <a:pt x="0" y="371214"/>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2053622" tIns="183598" rIns="2053621" bIns="183598" numCol="1" spcCol="1270" anchor="ctr" anchorCtr="0">
            <a:noAutofit/>
          </a:bodyPr>
          <a:lstStyle/>
          <a:p>
            <a:pPr marL="0" lvl="0" indent="0" algn="ctr" defTabSz="222250">
              <a:lnSpc>
                <a:spcPct val="90000"/>
              </a:lnSpc>
              <a:spcBef>
                <a:spcPct val="0"/>
              </a:spcBef>
              <a:spcAft>
                <a:spcPct val="35000"/>
              </a:spcAft>
              <a:buNone/>
            </a:pPr>
            <a:endParaRPr lang="en-NL" sz="1200" kern="1200"/>
          </a:p>
        </p:txBody>
      </p:sp>
      <p:sp>
        <p:nvSpPr>
          <p:cNvPr id="76" name="Freeform: Shape 75">
            <a:extLst>
              <a:ext uri="{FF2B5EF4-FFF2-40B4-BE49-F238E27FC236}">
                <a16:creationId xmlns:a16="http://schemas.microsoft.com/office/drawing/2014/main" id="{6799E349-3F79-E7F1-AAE8-1BE054A80271}"/>
              </a:ext>
            </a:extLst>
          </p:cNvPr>
          <p:cNvSpPr/>
          <p:nvPr/>
        </p:nvSpPr>
        <p:spPr>
          <a:xfrm>
            <a:off x="7034190" y="4570255"/>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2" tIns="43711" rIns="188262" bIns="43711" numCol="1" spcCol="1270" anchor="ctr" anchorCtr="0">
            <a:noAutofit/>
          </a:bodyPr>
          <a:lstStyle/>
          <a:p>
            <a:pPr marL="0" lvl="0" indent="0" algn="ctr" defTabSz="222250">
              <a:lnSpc>
                <a:spcPct val="90000"/>
              </a:lnSpc>
              <a:spcBef>
                <a:spcPct val="0"/>
              </a:spcBef>
              <a:spcAft>
                <a:spcPct val="35000"/>
              </a:spcAft>
              <a:buNone/>
            </a:pPr>
            <a:endParaRPr lang="en-NL" sz="1200" kern="1200"/>
          </a:p>
        </p:txBody>
      </p:sp>
      <p:sp>
        <p:nvSpPr>
          <p:cNvPr id="78" name="Freeform: Shape 77">
            <a:extLst>
              <a:ext uri="{FF2B5EF4-FFF2-40B4-BE49-F238E27FC236}">
                <a16:creationId xmlns:a16="http://schemas.microsoft.com/office/drawing/2014/main" id="{1DF2A802-DF7C-A4F7-DDCC-5801BA76E130}"/>
              </a:ext>
            </a:extLst>
          </p:cNvPr>
          <p:cNvSpPr/>
          <p:nvPr/>
        </p:nvSpPr>
        <p:spPr>
          <a:xfrm>
            <a:off x="7437804" y="4091870"/>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algn="ctr" defTabSz="400050">
              <a:lnSpc>
                <a:spcPct val="90000"/>
              </a:lnSpc>
              <a:spcBef>
                <a:spcPct val="0"/>
              </a:spcBef>
              <a:spcAft>
                <a:spcPct val="35000"/>
              </a:spcAft>
            </a:pPr>
            <a:r>
              <a:rPr lang="en-US" sz="1200" b="1" dirty="0">
                <a:solidFill>
                  <a:schemeClr val="bg1"/>
                </a:solidFill>
              </a:rPr>
              <a:t>Scenario 4</a:t>
            </a:r>
            <a:endParaRPr lang="en-NL" sz="1200" dirty="0">
              <a:solidFill>
                <a:schemeClr val="bg1"/>
              </a:solidFill>
            </a:endParaRPr>
          </a:p>
        </p:txBody>
      </p:sp>
      <p:sp>
        <p:nvSpPr>
          <p:cNvPr id="79" name="Freeform: Shape 78">
            <a:extLst>
              <a:ext uri="{FF2B5EF4-FFF2-40B4-BE49-F238E27FC236}">
                <a16:creationId xmlns:a16="http://schemas.microsoft.com/office/drawing/2014/main" id="{BBB1BC9A-6C2E-776D-29C3-C1FD549623FA}"/>
              </a:ext>
            </a:extLst>
          </p:cNvPr>
          <p:cNvSpPr/>
          <p:nvPr/>
        </p:nvSpPr>
        <p:spPr>
          <a:xfrm>
            <a:off x="5288972" y="2438645"/>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it-IT" sz="1200" b="1" dirty="0"/>
              <a:t>Scenario 1: </a:t>
            </a:r>
            <a:r>
              <a:rPr lang="en-US" sz="1200" dirty="0"/>
              <a:t>Clarify Meanings Before Reuse</a:t>
            </a:r>
            <a:endParaRPr lang="en-NL" sz="1200" dirty="0"/>
          </a:p>
        </p:txBody>
      </p:sp>
      <p:sp>
        <p:nvSpPr>
          <p:cNvPr id="80" name="Freeform: Shape 79">
            <a:extLst>
              <a:ext uri="{FF2B5EF4-FFF2-40B4-BE49-F238E27FC236}">
                <a16:creationId xmlns:a16="http://schemas.microsoft.com/office/drawing/2014/main" id="{0743C1CA-FDE8-AF21-9BB1-B1FBA08BEF2E}"/>
              </a:ext>
            </a:extLst>
          </p:cNvPr>
          <p:cNvSpPr/>
          <p:nvPr/>
        </p:nvSpPr>
        <p:spPr>
          <a:xfrm>
            <a:off x="7437804" y="2438645"/>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en-US" sz="1200" b="1" u="none" kern="1200" dirty="0"/>
              <a:t>Scenario 2: </a:t>
            </a:r>
            <a:r>
              <a:rPr lang="en-US" sz="1200" dirty="0"/>
              <a:t>Identify the datasets that represent the right meaning</a:t>
            </a:r>
            <a:endParaRPr lang="en-NL" sz="1200" b="0" u="none" kern="1200" dirty="0"/>
          </a:p>
        </p:txBody>
      </p:sp>
      <p:sp>
        <p:nvSpPr>
          <p:cNvPr id="77" name="Freeform: Shape 76">
            <a:extLst>
              <a:ext uri="{FF2B5EF4-FFF2-40B4-BE49-F238E27FC236}">
                <a16:creationId xmlns:a16="http://schemas.microsoft.com/office/drawing/2014/main" id="{A8D5F007-0F61-5DC0-B0F3-979ACBB9BE59}"/>
              </a:ext>
            </a:extLst>
          </p:cNvPr>
          <p:cNvSpPr/>
          <p:nvPr/>
        </p:nvSpPr>
        <p:spPr>
          <a:xfrm>
            <a:off x="5288972" y="4091870"/>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en-US" sz="1200" b="1" dirty="0"/>
              <a:t>Scenario 3: </a:t>
            </a:r>
            <a:r>
              <a:rPr lang="en-US" sz="1200" dirty="0"/>
              <a:t>Use Mappings to Connect Data and Infer Reuse Knowledge</a:t>
            </a:r>
            <a:endParaRPr lang="en-NL" sz="1200" dirty="0"/>
          </a:p>
        </p:txBody>
      </p:sp>
      <p:grpSp>
        <p:nvGrpSpPr>
          <p:cNvPr id="3" name="Group 2">
            <a:extLst>
              <a:ext uri="{FF2B5EF4-FFF2-40B4-BE49-F238E27FC236}">
                <a16:creationId xmlns:a16="http://schemas.microsoft.com/office/drawing/2014/main" id="{BDC2FD09-9AFF-A8AF-75C9-74A4F8C03281}"/>
              </a:ext>
            </a:extLst>
          </p:cNvPr>
          <p:cNvGrpSpPr/>
          <p:nvPr/>
        </p:nvGrpSpPr>
        <p:grpSpPr>
          <a:xfrm>
            <a:off x="9704903" y="2357067"/>
            <a:ext cx="1554653" cy="2783013"/>
            <a:chOff x="9704903" y="2357067"/>
            <a:chExt cx="1554653" cy="2783013"/>
          </a:xfrm>
        </p:grpSpPr>
        <p:sp>
          <p:nvSpPr>
            <p:cNvPr id="72" name="Freeform: Shape 71">
              <a:extLst>
                <a:ext uri="{FF2B5EF4-FFF2-40B4-BE49-F238E27FC236}">
                  <a16:creationId xmlns:a16="http://schemas.microsoft.com/office/drawing/2014/main" id="{F166211B-62D9-0B0A-86D3-4562019D9FB3}"/>
                </a:ext>
              </a:extLst>
            </p:cNvPr>
            <p:cNvSpPr/>
            <p:nvPr/>
          </p:nvSpPr>
          <p:spPr>
            <a:xfrm>
              <a:off x="9704903" y="2438645"/>
              <a:ext cx="1554653" cy="2701435"/>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a:ln>
              <a:solidFill>
                <a:schemeClr val="accent1"/>
              </a:solidFill>
            </a:ln>
          </p:spPr>
          <p:style>
            <a:lnRef idx="1">
              <a:schemeClr val="accent2"/>
            </a:lnRef>
            <a:fillRef idx="3">
              <a:schemeClr val="accent2"/>
            </a:fillRef>
            <a:effectRef idx="2">
              <a:schemeClr val="accent2"/>
            </a:effectRef>
            <a:fontRef idx="minor">
              <a:schemeClr val="lt1"/>
            </a:fontRef>
          </p:style>
          <p:txBody>
            <a:bodyPr spcFirstLastPara="0" vert="horz" wrap="square" lIns="64008" tIns="64008" rIns="64008" bIns="64008" numCol="1" spcCol="1270" anchor="ctr" anchorCtr="0">
              <a:noAutofit/>
            </a:bodyPr>
            <a:lstStyle/>
            <a:p>
              <a:pPr lvl="0" algn="ctr" defTabSz="400050">
                <a:spcBef>
                  <a:spcPct val="0"/>
                </a:spcBef>
                <a:spcAft>
                  <a:spcPts val="600"/>
                </a:spcAft>
              </a:pPr>
              <a:r>
                <a:rPr lang="en-US" sz="1200" b="1" dirty="0">
                  <a:solidFill>
                    <a:schemeClr val="accent1"/>
                  </a:solidFill>
                </a:rPr>
                <a:t>Result</a:t>
              </a:r>
              <a:endParaRPr lang="en-NL" sz="1200" dirty="0">
                <a:solidFill>
                  <a:schemeClr val="accent1"/>
                </a:solidFill>
              </a:endParaRPr>
            </a:p>
          </p:txBody>
        </p:sp>
        <p:pic>
          <p:nvPicPr>
            <p:cNvPr id="2" name="Graphic 1" descr="Completed with solid fill">
              <a:extLst>
                <a:ext uri="{FF2B5EF4-FFF2-40B4-BE49-F238E27FC236}">
                  <a16:creationId xmlns:a16="http://schemas.microsoft.com/office/drawing/2014/main" id="{EE6F3863-35E7-2337-83E9-C5A7EBCFC89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695082" y="2357067"/>
              <a:ext cx="549093" cy="549093"/>
            </a:xfrm>
            <a:prstGeom prst="rect">
              <a:avLst/>
            </a:prstGeom>
          </p:spPr>
        </p:pic>
      </p:grpSp>
    </p:spTree>
    <p:extLst>
      <p:ext uri="{BB962C8B-B14F-4D97-AF65-F5344CB8AC3E}">
        <p14:creationId xmlns:p14="http://schemas.microsoft.com/office/powerpoint/2010/main" val="519777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grpId="0" nodeType="withEffect">
                                  <p:stCondLst>
                                    <p:cond delay="0"/>
                                  </p:stCondLst>
                                  <p:childTnLst>
                                    <p:animScale>
                                      <p:cBhvr>
                                        <p:cTn id="6" dur="1000" fill="hold"/>
                                        <p:tgtEl>
                                          <p:spTgt spid="77"/>
                                        </p:tgtEl>
                                      </p:cBhvr>
                                      <p:by x="125000" y="125000"/>
                                    </p:animScale>
                                  </p:childTnLst>
                                </p:cTn>
                              </p:par>
                              <p:par>
                                <p:cTn id="7" presetID="9" presetClass="emph" presetSubtype="0" grpId="0" nodeType="withEffect">
                                  <p:stCondLst>
                                    <p:cond delay="0"/>
                                  </p:stCondLst>
                                  <p:childTnLst>
                                    <p:set>
                                      <p:cBhvr>
                                        <p:cTn id="8" dur="indefinite"/>
                                        <p:tgtEl>
                                          <p:spTgt spid="79"/>
                                        </p:tgtEl>
                                        <p:attrNameLst>
                                          <p:attrName>style.opacity</p:attrName>
                                        </p:attrNameLst>
                                      </p:cBhvr>
                                      <p:to>
                                        <p:strVal val="0.5"/>
                                      </p:to>
                                    </p:set>
                                    <p:animEffect filter="image" prLst="opacity: 0.5">
                                      <p:cBhvr rctx="IE">
                                        <p:cTn id="9" dur="indefinite"/>
                                        <p:tgtEl>
                                          <p:spTgt spid="79"/>
                                        </p:tgtEl>
                                      </p:cBhvr>
                                    </p:animEffect>
                                  </p:childTnLst>
                                </p:cTn>
                              </p:par>
                              <p:par>
                                <p:cTn id="10" presetID="9" presetClass="emph" presetSubtype="0" grpId="0" nodeType="withEffect">
                                  <p:stCondLst>
                                    <p:cond delay="0"/>
                                  </p:stCondLst>
                                  <p:childTnLst>
                                    <p:set>
                                      <p:cBhvr>
                                        <p:cTn id="11" dur="indefinite"/>
                                        <p:tgtEl>
                                          <p:spTgt spid="80"/>
                                        </p:tgtEl>
                                        <p:attrNameLst>
                                          <p:attrName>style.opacity</p:attrName>
                                        </p:attrNameLst>
                                      </p:cBhvr>
                                      <p:to>
                                        <p:strVal val="0.5"/>
                                      </p:to>
                                    </p:set>
                                    <p:animEffect filter="image" prLst="opacity: 0.5">
                                      <p:cBhvr rctx="IE">
                                        <p:cTn id="12" dur="indefinite"/>
                                        <p:tgtEl>
                                          <p:spTgt spid="80"/>
                                        </p:tgtEl>
                                      </p:cBhvr>
                                    </p:animEffect>
                                  </p:childTnLst>
                                </p:cTn>
                              </p:par>
                              <p:par>
                                <p:cTn id="13" presetID="9" presetClass="emph" presetSubtype="0" grpId="0" nodeType="withEffect">
                                  <p:stCondLst>
                                    <p:cond delay="0"/>
                                  </p:stCondLst>
                                  <p:childTnLst>
                                    <p:set>
                                      <p:cBhvr>
                                        <p:cTn id="14" dur="indefinite"/>
                                        <p:tgtEl>
                                          <p:spTgt spid="78"/>
                                        </p:tgtEl>
                                        <p:attrNameLst>
                                          <p:attrName>style.opacity</p:attrName>
                                        </p:attrNameLst>
                                      </p:cBhvr>
                                      <p:to>
                                        <p:strVal val="0.5"/>
                                      </p:to>
                                    </p:set>
                                    <p:animEffect filter="image" prLst="opacity: 0.5">
                                      <p:cBhvr rctx="IE">
                                        <p:cTn id="15" dur="indefinite"/>
                                        <p:tgtEl>
                                          <p:spTgt spid="78"/>
                                        </p:tgtEl>
                                      </p:cBhvr>
                                    </p:animEffect>
                                  </p:childTnLst>
                                </p:cTn>
                              </p:par>
                              <p:par>
                                <p:cTn id="16" presetID="9" presetClass="emph" presetSubtype="0" nodeType="withEffect">
                                  <p:stCondLst>
                                    <p:cond delay="0"/>
                                  </p:stCondLst>
                                  <p:childTnLst>
                                    <p:set>
                                      <p:cBhvr>
                                        <p:cTn id="17" dur="indefinite"/>
                                        <p:tgtEl>
                                          <p:spTgt spid="3"/>
                                        </p:tgtEl>
                                        <p:attrNameLst>
                                          <p:attrName>style.opacity</p:attrName>
                                        </p:attrNameLst>
                                      </p:cBhvr>
                                      <p:to>
                                        <p:strVal val="0.5"/>
                                      </p:to>
                                    </p:set>
                                    <p:animEffect filter="image" prLst="opacity: 0.5">
                                      <p:cBhvr rctx="IE">
                                        <p:cTn id="18" dur="indefinite"/>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 grpId="0" animBg="1"/>
      <p:bldP spid="79" grpId="0" animBg="1"/>
      <p:bldP spid="80" grpId="0" animBg="1"/>
      <p:bldP spid="7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B49176-46D6-2887-044D-F643F89591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2BEDF1-0E41-582E-8ABA-D1B1D3AE664F}"/>
              </a:ext>
            </a:extLst>
          </p:cNvPr>
          <p:cNvSpPr>
            <a:spLocks noGrp="1"/>
          </p:cNvSpPr>
          <p:nvPr>
            <p:ph type="title"/>
          </p:nvPr>
        </p:nvSpPr>
        <p:spPr>
          <a:xfrm>
            <a:off x="695327" y="386001"/>
            <a:ext cx="9296398" cy="929259"/>
          </a:xfrm>
        </p:spPr>
        <p:txBody>
          <a:bodyPr/>
          <a:lstStyle/>
          <a:p>
            <a:r>
              <a:rPr lang="en-US" sz="3600" dirty="0"/>
              <a:t>Scenario 3: Amir’s Question and Challenge</a:t>
            </a:r>
            <a:endParaRPr lang="en-NL" sz="3600" dirty="0"/>
          </a:p>
        </p:txBody>
      </p:sp>
      <p:sp>
        <p:nvSpPr>
          <p:cNvPr id="4" name="Slide Number Placeholder 3">
            <a:extLst>
              <a:ext uri="{FF2B5EF4-FFF2-40B4-BE49-F238E27FC236}">
                <a16:creationId xmlns:a16="http://schemas.microsoft.com/office/drawing/2014/main" id="{2A6CEB91-2B56-975E-1810-48301904B67F}"/>
              </a:ext>
            </a:extLst>
          </p:cNvPr>
          <p:cNvSpPr>
            <a:spLocks noGrp="1"/>
          </p:cNvSpPr>
          <p:nvPr>
            <p:ph type="sldNum" sz="quarter" idx="12"/>
          </p:nvPr>
        </p:nvSpPr>
        <p:spPr/>
        <p:txBody>
          <a:bodyPr/>
          <a:lstStyle/>
          <a:p>
            <a:fld id="{4FAB73BC-B049-4115-A692-8D63A059BFB8}" type="slidenum">
              <a:rPr lang="en-US" smtClean="0"/>
              <a:pPr/>
              <a:t>24</a:t>
            </a:fld>
            <a:endParaRPr lang="en-US" dirty="0"/>
          </a:p>
        </p:txBody>
      </p:sp>
      <p:pic>
        <p:nvPicPr>
          <p:cNvPr id="5" name="Picture 4">
            <a:extLst>
              <a:ext uri="{FF2B5EF4-FFF2-40B4-BE49-F238E27FC236}">
                <a16:creationId xmlns:a16="http://schemas.microsoft.com/office/drawing/2014/main" id="{5511CD26-7B2E-5D27-18CA-D193E3DE8984}"/>
              </a:ext>
            </a:extLst>
          </p:cNvPr>
          <p:cNvPicPr>
            <a:picLocks noChangeAspect="1"/>
          </p:cNvPicPr>
          <p:nvPr/>
        </p:nvPicPr>
        <p:blipFill>
          <a:blip r:embed="rId3"/>
          <a:srcRect t="21286" r="49991" b="18695"/>
          <a:stretch>
            <a:fillRect/>
          </a:stretch>
        </p:blipFill>
        <p:spPr>
          <a:xfrm>
            <a:off x="695325" y="1628775"/>
            <a:ext cx="5400675" cy="4321175"/>
          </a:xfrm>
          <a:prstGeom prst="rect">
            <a:avLst/>
          </a:prstGeom>
        </p:spPr>
      </p:pic>
      <p:sp>
        <p:nvSpPr>
          <p:cNvPr id="7" name="Rectangle 6">
            <a:extLst>
              <a:ext uri="{FF2B5EF4-FFF2-40B4-BE49-F238E27FC236}">
                <a16:creationId xmlns:a16="http://schemas.microsoft.com/office/drawing/2014/main" id="{516E2AD2-D642-2BFC-F4DB-076FFF5660E8}"/>
              </a:ext>
            </a:extLst>
          </p:cNvPr>
          <p:cNvSpPr/>
          <p:nvPr/>
        </p:nvSpPr>
        <p:spPr>
          <a:xfrm>
            <a:off x="5136204" y="1628775"/>
            <a:ext cx="6350219" cy="4321175"/>
          </a:xfrm>
          <a:prstGeom prst="rect">
            <a:avLst/>
          </a:prstGeom>
          <a:solidFill>
            <a:schemeClr val="accent1">
              <a:lumMod val="20000"/>
              <a:lumOff val="80000"/>
              <a:alpha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0" tIns="180000" rIns="180000" bIns="180000" rtlCol="0" anchor="ctr"/>
          <a:lstStyle/>
          <a:p>
            <a:endParaRPr lang="en-NL" sz="2000" i="1" dirty="0">
              <a:solidFill>
                <a:schemeClr val="tx1"/>
              </a:solidFill>
            </a:endParaRPr>
          </a:p>
        </p:txBody>
      </p:sp>
      <p:graphicFrame>
        <p:nvGraphicFramePr>
          <p:cNvPr id="8" name="Content Placeholder 4">
            <a:extLst>
              <a:ext uri="{FF2B5EF4-FFF2-40B4-BE49-F238E27FC236}">
                <a16:creationId xmlns:a16="http://schemas.microsoft.com/office/drawing/2014/main" id="{61021245-0E81-C6B1-AA34-FE9C8EA7B3F9}"/>
              </a:ext>
            </a:extLst>
          </p:cNvPr>
          <p:cNvGraphicFramePr>
            <a:graphicFrameLocks noGrp="1"/>
          </p:cNvGraphicFramePr>
          <p:nvPr>
            <p:ph idx="1"/>
          </p:nvPr>
        </p:nvGraphicFramePr>
        <p:xfrm>
          <a:off x="5506200" y="1762125"/>
          <a:ext cx="5610226" cy="405447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7251132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A19CE-A64E-046B-9DAB-7CA2213E7503}"/>
              </a:ext>
            </a:extLst>
          </p:cNvPr>
          <p:cNvSpPr>
            <a:spLocks noGrp="1"/>
          </p:cNvSpPr>
          <p:nvPr>
            <p:ph type="title"/>
          </p:nvPr>
        </p:nvSpPr>
        <p:spPr/>
        <p:txBody>
          <a:bodyPr/>
          <a:lstStyle/>
          <a:p>
            <a:r>
              <a:rPr lang="en-US" dirty="0"/>
              <a:t>External Mappings</a:t>
            </a:r>
            <a:endParaRPr lang="en-NL" dirty="0"/>
          </a:p>
        </p:txBody>
      </p:sp>
      <p:graphicFrame>
        <p:nvGraphicFramePr>
          <p:cNvPr id="5" name="Content Placeholder 4">
            <a:extLst>
              <a:ext uri="{FF2B5EF4-FFF2-40B4-BE49-F238E27FC236}">
                <a16:creationId xmlns:a16="http://schemas.microsoft.com/office/drawing/2014/main" id="{E614D15D-E7F3-226F-D29F-D88E5AC36F07}"/>
              </a:ext>
            </a:extLst>
          </p:cNvPr>
          <p:cNvGraphicFramePr>
            <a:graphicFrameLocks noGrp="1"/>
          </p:cNvGraphicFramePr>
          <p:nvPr>
            <p:ph idx="1"/>
          </p:nvPr>
        </p:nvGraphicFramePr>
        <p:xfrm>
          <a:off x="1426844" y="1695020"/>
          <a:ext cx="5790820" cy="1112400"/>
        </p:xfrm>
        <a:graphic>
          <a:graphicData uri="http://schemas.openxmlformats.org/drawingml/2006/table">
            <a:tbl>
              <a:tblPr firstRow="1" bandRow="1">
                <a:tableStyleId>{69012ECD-51FC-41F1-AA8D-1B2483CD663E}</a:tableStyleId>
              </a:tblPr>
              <a:tblGrid>
                <a:gridCol w="1447705">
                  <a:extLst>
                    <a:ext uri="{9D8B030D-6E8A-4147-A177-3AD203B41FA5}">
                      <a16:colId xmlns:a16="http://schemas.microsoft.com/office/drawing/2014/main" val="3110697272"/>
                    </a:ext>
                  </a:extLst>
                </a:gridCol>
                <a:gridCol w="1447705">
                  <a:extLst>
                    <a:ext uri="{9D8B030D-6E8A-4147-A177-3AD203B41FA5}">
                      <a16:colId xmlns:a16="http://schemas.microsoft.com/office/drawing/2014/main" val="2021114436"/>
                    </a:ext>
                  </a:extLst>
                </a:gridCol>
                <a:gridCol w="1447705">
                  <a:extLst>
                    <a:ext uri="{9D8B030D-6E8A-4147-A177-3AD203B41FA5}">
                      <a16:colId xmlns:a16="http://schemas.microsoft.com/office/drawing/2014/main" val="3919841806"/>
                    </a:ext>
                  </a:extLst>
                </a:gridCol>
                <a:gridCol w="1447705">
                  <a:extLst>
                    <a:ext uri="{9D8B030D-6E8A-4147-A177-3AD203B41FA5}">
                      <a16:colId xmlns:a16="http://schemas.microsoft.com/office/drawing/2014/main" val="1207672842"/>
                    </a:ext>
                  </a:extLst>
                </a:gridCol>
              </a:tblGrid>
              <a:tr h="370800">
                <a:tc>
                  <a:txBody>
                    <a:bodyPr/>
                    <a:lstStyle/>
                    <a:p>
                      <a:pPr algn="ctr"/>
                      <a:r>
                        <a:rPr lang="en-US" sz="1200" b="1" dirty="0" err="1"/>
                        <a:t>source_CURIE</a:t>
                      </a:r>
                      <a:endParaRPr lang="en-NL" sz="1200" b="1" dirty="0"/>
                    </a:p>
                  </a:txBody>
                  <a:tcPr anchor="ctr"/>
                </a:tc>
                <a:tc>
                  <a:txBody>
                    <a:bodyPr/>
                    <a:lstStyle/>
                    <a:p>
                      <a:pPr algn="ctr"/>
                      <a:r>
                        <a:rPr lang="en-US" sz="1200" dirty="0" err="1"/>
                        <a:t>source_label</a:t>
                      </a:r>
                      <a:endParaRPr lang="en-NL" sz="1200" dirty="0"/>
                    </a:p>
                  </a:txBody>
                  <a:tcPr anchor="ctr"/>
                </a:tc>
                <a:tc>
                  <a:txBody>
                    <a:bodyPr/>
                    <a:lstStyle/>
                    <a:p>
                      <a:pPr algn="ctr"/>
                      <a:r>
                        <a:rPr lang="en-US" sz="1200" dirty="0" err="1"/>
                        <a:t>target_CURIE</a:t>
                      </a:r>
                      <a:endParaRPr lang="en-NL" sz="1200" dirty="0"/>
                    </a:p>
                  </a:txBody>
                  <a:tcPr anchor="ctr"/>
                </a:tc>
                <a:tc>
                  <a:txBody>
                    <a:bodyPr/>
                    <a:lstStyle/>
                    <a:p>
                      <a:pPr algn="ctr"/>
                      <a:r>
                        <a:rPr lang="en-US" sz="1200" dirty="0" err="1"/>
                        <a:t>target_label</a:t>
                      </a:r>
                      <a:endParaRPr lang="en-NL" sz="1200" dirty="0"/>
                    </a:p>
                  </a:txBody>
                  <a:tcPr anchor="ctr"/>
                </a:tc>
                <a:extLst>
                  <a:ext uri="{0D108BD9-81ED-4DB2-BD59-A6C34878D82A}">
                    <a16:rowId xmlns:a16="http://schemas.microsoft.com/office/drawing/2014/main" val="424328651"/>
                  </a:ext>
                </a:extLst>
              </a:tr>
              <a:tr h="370800">
                <a:tc>
                  <a:txBody>
                    <a:bodyPr/>
                    <a:lstStyle/>
                    <a:p>
                      <a:pPr>
                        <a:buNone/>
                      </a:pPr>
                      <a:r>
                        <a:rPr lang="en-US" sz="1050" b="0" dirty="0" err="1"/>
                        <a:t>cdisc-sdtm:DM.SEX</a:t>
                      </a:r>
                      <a:endParaRPr lang="en-US" sz="1050" b="0" dirty="0"/>
                    </a:p>
                  </a:txBody>
                  <a:tcPr anchor="ctr"/>
                </a:tc>
                <a:tc>
                  <a:txBody>
                    <a:bodyPr/>
                    <a:lstStyle/>
                    <a:p>
                      <a:pPr>
                        <a:buNone/>
                      </a:pPr>
                      <a:r>
                        <a:rPr lang="en-US" sz="1050" b="0" dirty="0"/>
                        <a:t>Sex</a:t>
                      </a:r>
                    </a:p>
                  </a:txBody>
                  <a:tcPr anchor="ctr"/>
                </a:tc>
                <a:tc>
                  <a:txBody>
                    <a:bodyPr/>
                    <a:lstStyle/>
                    <a:p>
                      <a:pPr>
                        <a:buNone/>
                      </a:pPr>
                      <a:r>
                        <a:rPr lang="en-US" sz="1050" b="1" dirty="0" err="1"/>
                        <a:t>care-sm:Sex</a:t>
                      </a:r>
                      <a:endParaRPr lang="en-US" sz="1050" b="1" dirty="0"/>
                    </a:p>
                  </a:txBody>
                  <a:tcPr anchor="ctr">
                    <a:solidFill>
                      <a:schemeClr val="accent1">
                        <a:lumMod val="20000"/>
                        <a:lumOff val="80000"/>
                      </a:schemeClr>
                    </a:solidFill>
                  </a:tcPr>
                </a:tc>
                <a:tc>
                  <a:txBody>
                    <a:bodyPr/>
                    <a:lstStyle/>
                    <a:p>
                      <a:pPr>
                        <a:buNone/>
                      </a:pPr>
                      <a:r>
                        <a:rPr lang="en-US" sz="1050" b="0" dirty="0"/>
                        <a:t>Biological sex</a:t>
                      </a:r>
                    </a:p>
                  </a:txBody>
                  <a:tcPr anchor="ctr"/>
                </a:tc>
                <a:extLst>
                  <a:ext uri="{0D108BD9-81ED-4DB2-BD59-A6C34878D82A}">
                    <a16:rowId xmlns:a16="http://schemas.microsoft.com/office/drawing/2014/main" val="1418268279"/>
                  </a:ext>
                </a:extLst>
              </a:tr>
              <a:tr h="370800">
                <a:tc>
                  <a:txBody>
                    <a:bodyPr/>
                    <a:lstStyle/>
                    <a:p>
                      <a:pPr>
                        <a:buNone/>
                      </a:pPr>
                      <a:r>
                        <a:rPr lang="en-US" sz="1050" b="0" dirty="0"/>
                        <a:t>ncit:C28421</a:t>
                      </a:r>
                    </a:p>
                  </a:txBody>
                  <a:tcPr anchor="ctr"/>
                </a:tc>
                <a:tc>
                  <a:txBody>
                    <a:bodyPr/>
                    <a:lstStyle/>
                    <a:p>
                      <a:pPr>
                        <a:buNone/>
                      </a:pPr>
                      <a:r>
                        <a:rPr lang="en-US" sz="1050" b="0" dirty="0"/>
                        <a:t>Sex</a:t>
                      </a:r>
                    </a:p>
                  </a:txBody>
                  <a:tcPr anchor="ctr"/>
                </a:tc>
                <a:tc>
                  <a:txBody>
                    <a:bodyPr/>
                    <a:lstStyle/>
                    <a:p>
                      <a:pPr>
                        <a:buNone/>
                      </a:pPr>
                      <a:r>
                        <a:rPr lang="en-US" sz="1050" b="1" dirty="0" err="1"/>
                        <a:t>care-sm:Sex</a:t>
                      </a:r>
                      <a:endParaRPr lang="en-US" sz="1050" b="1" dirty="0"/>
                    </a:p>
                  </a:txBody>
                  <a:tcPr anchor="ctr">
                    <a:solidFill>
                      <a:schemeClr val="accent1">
                        <a:lumMod val="20000"/>
                        <a:lumOff val="80000"/>
                      </a:schemeClr>
                    </a:solidFill>
                  </a:tcPr>
                </a:tc>
                <a:tc>
                  <a:txBody>
                    <a:bodyPr/>
                    <a:lstStyle/>
                    <a:p>
                      <a:pPr>
                        <a:buNone/>
                      </a:pPr>
                      <a:r>
                        <a:rPr lang="en-US" sz="1050" b="0" dirty="0"/>
                        <a:t>Biological sex</a:t>
                      </a:r>
                    </a:p>
                  </a:txBody>
                  <a:tcPr anchor="ctr"/>
                </a:tc>
                <a:extLst>
                  <a:ext uri="{0D108BD9-81ED-4DB2-BD59-A6C34878D82A}">
                    <a16:rowId xmlns:a16="http://schemas.microsoft.com/office/drawing/2014/main" val="1654241099"/>
                  </a:ext>
                </a:extLst>
              </a:tr>
            </a:tbl>
          </a:graphicData>
        </a:graphic>
      </p:graphicFrame>
      <p:sp>
        <p:nvSpPr>
          <p:cNvPr id="4" name="Slide Number Placeholder 3">
            <a:extLst>
              <a:ext uri="{FF2B5EF4-FFF2-40B4-BE49-F238E27FC236}">
                <a16:creationId xmlns:a16="http://schemas.microsoft.com/office/drawing/2014/main" id="{E1728587-1E22-BE77-6E80-DC3D8D3CBAEE}"/>
              </a:ext>
            </a:extLst>
          </p:cNvPr>
          <p:cNvSpPr>
            <a:spLocks noGrp="1"/>
          </p:cNvSpPr>
          <p:nvPr>
            <p:ph type="sldNum" sz="quarter" idx="12"/>
          </p:nvPr>
        </p:nvSpPr>
        <p:spPr/>
        <p:txBody>
          <a:bodyPr/>
          <a:lstStyle/>
          <a:p>
            <a:fld id="{4FAB73BC-B049-4115-A692-8D63A059BFB8}" type="slidenum">
              <a:rPr lang="en-US" smtClean="0"/>
              <a:pPr/>
              <a:t>25</a:t>
            </a:fld>
            <a:endParaRPr lang="en-US" dirty="0"/>
          </a:p>
        </p:txBody>
      </p:sp>
      <p:graphicFrame>
        <p:nvGraphicFramePr>
          <p:cNvPr id="7" name="Content Placeholder 4">
            <a:extLst>
              <a:ext uri="{FF2B5EF4-FFF2-40B4-BE49-F238E27FC236}">
                <a16:creationId xmlns:a16="http://schemas.microsoft.com/office/drawing/2014/main" id="{F2829BF7-2B68-EACE-4DBB-B58619367C88}"/>
              </a:ext>
            </a:extLst>
          </p:cNvPr>
          <p:cNvGraphicFramePr>
            <a:graphicFrameLocks/>
          </p:cNvGraphicFramePr>
          <p:nvPr/>
        </p:nvGraphicFramePr>
        <p:xfrm>
          <a:off x="1426844" y="4711442"/>
          <a:ext cx="5790820" cy="1112520"/>
        </p:xfrm>
        <a:graphic>
          <a:graphicData uri="http://schemas.openxmlformats.org/drawingml/2006/table">
            <a:tbl>
              <a:tblPr firstRow="1" bandRow="1">
                <a:tableStyleId>{17292A2E-F333-43FB-9621-5CBBE7FDCDCB}</a:tableStyleId>
              </a:tblPr>
              <a:tblGrid>
                <a:gridCol w="1447705">
                  <a:extLst>
                    <a:ext uri="{9D8B030D-6E8A-4147-A177-3AD203B41FA5}">
                      <a16:colId xmlns:a16="http://schemas.microsoft.com/office/drawing/2014/main" val="3110697272"/>
                    </a:ext>
                  </a:extLst>
                </a:gridCol>
                <a:gridCol w="1447705">
                  <a:extLst>
                    <a:ext uri="{9D8B030D-6E8A-4147-A177-3AD203B41FA5}">
                      <a16:colId xmlns:a16="http://schemas.microsoft.com/office/drawing/2014/main" val="2021114436"/>
                    </a:ext>
                  </a:extLst>
                </a:gridCol>
                <a:gridCol w="1447705">
                  <a:extLst>
                    <a:ext uri="{9D8B030D-6E8A-4147-A177-3AD203B41FA5}">
                      <a16:colId xmlns:a16="http://schemas.microsoft.com/office/drawing/2014/main" val="3919841806"/>
                    </a:ext>
                  </a:extLst>
                </a:gridCol>
                <a:gridCol w="1447705">
                  <a:extLst>
                    <a:ext uri="{9D8B030D-6E8A-4147-A177-3AD203B41FA5}">
                      <a16:colId xmlns:a16="http://schemas.microsoft.com/office/drawing/2014/main" val="1207672842"/>
                    </a:ext>
                  </a:extLst>
                </a:gridCol>
              </a:tblGrid>
              <a:tr h="370840">
                <a:tc>
                  <a:txBody>
                    <a:bodyPr/>
                    <a:lstStyle/>
                    <a:p>
                      <a:pPr algn="ctr"/>
                      <a:r>
                        <a:rPr lang="en-US" sz="1200" b="1" dirty="0" err="1"/>
                        <a:t>source_CURIE</a:t>
                      </a:r>
                      <a:endParaRPr lang="en-NL" sz="1200" b="1" dirty="0"/>
                    </a:p>
                  </a:txBody>
                  <a:tcPr anchor="ctr"/>
                </a:tc>
                <a:tc>
                  <a:txBody>
                    <a:bodyPr/>
                    <a:lstStyle/>
                    <a:p>
                      <a:pPr algn="ctr"/>
                      <a:r>
                        <a:rPr lang="en-US" sz="1200" dirty="0" err="1"/>
                        <a:t>source_label</a:t>
                      </a:r>
                      <a:endParaRPr lang="en-NL" sz="1200" dirty="0"/>
                    </a:p>
                  </a:txBody>
                  <a:tcPr anchor="ctr"/>
                </a:tc>
                <a:tc>
                  <a:txBody>
                    <a:bodyPr/>
                    <a:lstStyle/>
                    <a:p>
                      <a:pPr algn="ctr"/>
                      <a:r>
                        <a:rPr lang="en-US" sz="1200" dirty="0" err="1"/>
                        <a:t>target_CURIE</a:t>
                      </a:r>
                      <a:endParaRPr lang="en-NL" sz="1200" dirty="0"/>
                    </a:p>
                  </a:txBody>
                  <a:tcPr anchor="ctr"/>
                </a:tc>
                <a:tc>
                  <a:txBody>
                    <a:bodyPr/>
                    <a:lstStyle/>
                    <a:p>
                      <a:pPr algn="ctr"/>
                      <a:r>
                        <a:rPr lang="en-US" sz="1200" dirty="0" err="1"/>
                        <a:t>target_label</a:t>
                      </a:r>
                      <a:endParaRPr lang="en-NL" sz="1200" dirty="0"/>
                    </a:p>
                  </a:txBody>
                  <a:tcPr anchor="ctr"/>
                </a:tc>
                <a:extLst>
                  <a:ext uri="{0D108BD9-81ED-4DB2-BD59-A6C34878D82A}">
                    <a16:rowId xmlns:a16="http://schemas.microsoft.com/office/drawing/2014/main" val="424328651"/>
                  </a:ext>
                </a:extLst>
              </a:tr>
              <a:tr h="370840">
                <a:tc>
                  <a:txBody>
                    <a:bodyPr/>
                    <a:lstStyle/>
                    <a:p>
                      <a:r>
                        <a:rPr lang="en-US" sz="1050" b="1" dirty="0"/>
                        <a:t>loinc:107454-1</a:t>
                      </a:r>
                      <a:endParaRPr lang="en-NL" sz="1050" b="1" dirty="0"/>
                    </a:p>
                  </a:txBody>
                  <a:tcPr anchor="ctr">
                    <a:solidFill>
                      <a:schemeClr val="accent4">
                        <a:lumMod val="20000"/>
                        <a:lumOff val="80000"/>
                      </a:schemeClr>
                    </a:solidFill>
                  </a:tcPr>
                </a:tc>
                <a:tc>
                  <a:txBody>
                    <a:bodyPr/>
                    <a:lstStyle/>
                    <a:p>
                      <a:r>
                        <a:rPr lang="en-US" sz="1050" dirty="0"/>
                        <a:t>Administrative gender</a:t>
                      </a:r>
                      <a:endParaRPr lang="en-NL" sz="1050" dirty="0"/>
                    </a:p>
                  </a:txBody>
                  <a:tcPr anchor="ctr"/>
                </a:tc>
                <a:tc>
                  <a:txBody>
                    <a:bodyPr/>
                    <a:lstStyle/>
                    <a:p>
                      <a:r>
                        <a:rPr lang="en-US" sz="1050" dirty="0" err="1">
                          <a:solidFill>
                            <a:schemeClr val="accent4"/>
                          </a:solidFill>
                        </a:rPr>
                        <a:t>fhir:Patient.gender</a:t>
                      </a:r>
                      <a:endParaRPr lang="en-NL" sz="1050" dirty="0">
                        <a:solidFill>
                          <a:schemeClr val="accent4"/>
                        </a:solidFill>
                      </a:endParaRPr>
                    </a:p>
                  </a:txBody>
                  <a:tcPr anchor="ctr">
                    <a:noFill/>
                  </a:tcPr>
                </a:tc>
                <a:tc>
                  <a:txBody>
                    <a:bodyPr/>
                    <a:lstStyle/>
                    <a:p>
                      <a:r>
                        <a:rPr lang="en-US" sz="1050" dirty="0"/>
                        <a:t>Administrative gender</a:t>
                      </a:r>
                      <a:endParaRPr lang="en-NL" sz="1050" dirty="0"/>
                    </a:p>
                  </a:txBody>
                  <a:tcPr anchor="ctr"/>
                </a:tc>
                <a:extLst>
                  <a:ext uri="{0D108BD9-81ED-4DB2-BD59-A6C34878D82A}">
                    <a16:rowId xmlns:a16="http://schemas.microsoft.com/office/drawing/2014/main" val="1418268279"/>
                  </a:ext>
                </a:extLst>
              </a:tr>
              <a:tr h="370840">
                <a:tc>
                  <a:txBody>
                    <a:bodyPr/>
                    <a:lstStyle/>
                    <a:p>
                      <a:r>
                        <a:rPr lang="en-US" sz="1050" b="1" dirty="0"/>
                        <a:t>loinc:107454-1</a:t>
                      </a:r>
                      <a:endParaRPr lang="en-NL" sz="1050" b="1" dirty="0"/>
                    </a:p>
                  </a:txBody>
                  <a:tcPr anchor="ctr">
                    <a:solidFill>
                      <a:schemeClr val="accent4">
                        <a:lumMod val="20000"/>
                        <a:lumOff val="80000"/>
                      </a:schemeClr>
                    </a:solidFill>
                  </a:tcPr>
                </a:tc>
                <a:tc>
                  <a:txBody>
                    <a:bodyPr/>
                    <a:lstStyle/>
                    <a:p>
                      <a:r>
                        <a:rPr lang="en-US" sz="1050" dirty="0"/>
                        <a:t>Administrative gender</a:t>
                      </a:r>
                      <a:endParaRPr lang="en-NL" sz="1050" dirty="0"/>
                    </a:p>
                  </a:txBody>
                  <a:tcPr anchor="ctr"/>
                </a:tc>
                <a:tc>
                  <a:txBody>
                    <a:bodyPr/>
                    <a:lstStyle/>
                    <a:p>
                      <a:r>
                        <a:rPr lang="en-US" sz="1050" dirty="0"/>
                        <a:t>hl7v2:0001</a:t>
                      </a:r>
                      <a:endParaRPr lang="en-NL" sz="1050" dirty="0"/>
                    </a:p>
                  </a:txBody>
                  <a:tcPr anchor="ctr"/>
                </a:tc>
                <a:tc>
                  <a:txBody>
                    <a:bodyPr/>
                    <a:lstStyle/>
                    <a:p>
                      <a:r>
                        <a:rPr lang="en-US" sz="1050" dirty="0"/>
                        <a:t>Administrative sex</a:t>
                      </a:r>
                      <a:endParaRPr lang="en-NL" sz="1050" dirty="0"/>
                    </a:p>
                  </a:txBody>
                  <a:tcPr anchor="ctr"/>
                </a:tc>
                <a:extLst>
                  <a:ext uri="{0D108BD9-81ED-4DB2-BD59-A6C34878D82A}">
                    <a16:rowId xmlns:a16="http://schemas.microsoft.com/office/drawing/2014/main" val="1654241099"/>
                  </a:ext>
                </a:extLst>
              </a:tr>
            </a:tbl>
          </a:graphicData>
        </a:graphic>
      </p:graphicFrame>
      <p:graphicFrame>
        <p:nvGraphicFramePr>
          <p:cNvPr id="8" name="Content Placeholder 4">
            <a:extLst>
              <a:ext uri="{FF2B5EF4-FFF2-40B4-BE49-F238E27FC236}">
                <a16:creationId xmlns:a16="http://schemas.microsoft.com/office/drawing/2014/main" id="{83BA5654-98AF-EE95-658A-9C8CD399A8B0}"/>
              </a:ext>
            </a:extLst>
          </p:cNvPr>
          <p:cNvGraphicFramePr>
            <a:graphicFrameLocks/>
          </p:cNvGraphicFramePr>
          <p:nvPr/>
        </p:nvGraphicFramePr>
        <p:xfrm>
          <a:off x="7878355" y="3118199"/>
          <a:ext cx="2811677" cy="1278051"/>
        </p:xfrm>
        <a:graphic>
          <a:graphicData uri="http://schemas.openxmlformats.org/drawingml/2006/table">
            <a:tbl>
              <a:tblPr firstRow="1" bandRow="1">
                <a:effectLst>
                  <a:outerShdw blurRad="50800" dist="38100" dir="2700000" algn="tl" rotWithShape="0">
                    <a:prstClr val="black">
                      <a:alpha val="40000"/>
                    </a:prstClr>
                  </a:outerShdw>
                </a:effectLst>
                <a:tableStyleId>{21E4AEA4-8DFA-4A89-87EB-49C32662AFE0}</a:tableStyleId>
              </a:tblPr>
              <a:tblGrid>
                <a:gridCol w="360000">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67200">
                <a:tc>
                  <a:txBody>
                    <a:bodyPr/>
                    <a:lstStyle/>
                    <a:p>
                      <a:pPr algn="l"/>
                      <a:endParaRPr lang="en-NL" sz="1100" dirty="0"/>
                    </a:p>
                  </a:txBody>
                  <a:tcPr marL="72000" anchor="ctr"/>
                </a:tc>
                <a:tc>
                  <a:txBody>
                    <a:bodyPr/>
                    <a:lstStyle/>
                    <a:p>
                      <a:pPr algn="l"/>
                      <a:r>
                        <a:rPr lang="en-US" sz="900" dirty="0" err="1"/>
                        <a:t>hri-openehr:legal-gender</a:t>
                      </a:r>
                      <a:endParaRPr lang="en-US" sz="900" dirty="0"/>
                    </a:p>
                    <a:p>
                      <a:pPr algn="l"/>
                      <a:r>
                        <a:rPr lang="en-US" sz="900" dirty="0"/>
                        <a:t>("Legal gender"@</a:t>
                      </a:r>
                      <a:r>
                        <a:rPr lang="en-US" sz="900" dirty="0" err="1"/>
                        <a:t>en</a:t>
                      </a:r>
                      <a:r>
                        <a:rPr lang="en-US" sz="900" dirty="0"/>
                        <a:t>)</a:t>
                      </a:r>
                      <a:endParaRPr lang="en-US" sz="850" dirty="0"/>
                    </a:p>
                  </a:txBody>
                  <a:tcPr marL="72000" marR="18000" marT="0" marB="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012902903"/>
                  </a:ext>
                </a:extLst>
              </a:tr>
              <a:tr h="306000">
                <a:tc>
                  <a:txBody>
                    <a:bodyPr/>
                    <a:lstStyle/>
                    <a:p>
                      <a:pPr algn="l"/>
                      <a:endParaRPr lang="en-NL" sz="1100" dirty="0"/>
                    </a:p>
                  </a:txBody>
                  <a:tcPr marL="72000" anchor="ctr"/>
                </a:tc>
                <a:tc>
                  <a:txBody>
                    <a:bodyPr/>
                    <a:lstStyle/>
                    <a:p>
                      <a:pPr algn="l"/>
                      <a:r>
                        <a:rPr lang="en-US" sz="1100" b="1" dirty="0"/>
                        <a:t>female</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1249708150"/>
                  </a:ext>
                </a:extLst>
              </a:tr>
              <a:tr h="306000">
                <a:tc>
                  <a:txBody>
                    <a:bodyPr/>
                    <a:lstStyle/>
                    <a:p>
                      <a:pPr algn="l"/>
                      <a:endParaRPr lang="en-NL" sz="1100" dirty="0"/>
                    </a:p>
                  </a:txBody>
                  <a:tcPr marL="72000" anchor="ctr"/>
                </a:tc>
                <a:tc>
                  <a:txBody>
                    <a:bodyPr/>
                    <a:lstStyle/>
                    <a:p>
                      <a:pPr algn="l"/>
                      <a:r>
                        <a:rPr lang="en-US" sz="1100" b="1" dirty="0"/>
                        <a:t>male</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850974854"/>
                  </a:ext>
                </a:extLst>
              </a:tr>
              <a:tr h="298851">
                <a:tc>
                  <a:txBody>
                    <a:bodyPr/>
                    <a:lstStyle/>
                    <a:p>
                      <a:pPr algn="l"/>
                      <a:endParaRPr lang="en-NL" sz="1100" dirty="0"/>
                    </a:p>
                  </a:txBody>
                  <a:tcPr marL="72000" anchor="ctr"/>
                </a:tc>
                <a:tc>
                  <a:txBody>
                    <a:bodyPr/>
                    <a:lstStyle/>
                    <a:p>
                      <a:pPr algn="l"/>
                      <a:r>
                        <a:rPr lang="en-US" sz="1100" b="1" dirty="0"/>
                        <a:t>nonbinary</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9" name="Rectangle: Rounded Corners 8">
            <a:extLst>
              <a:ext uri="{FF2B5EF4-FFF2-40B4-BE49-F238E27FC236}">
                <a16:creationId xmlns:a16="http://schemas.microsoft.com/office/drawing/2014/main" id="{B3E6CCD4-99C2-65DD-D5B7-C2E562B72DC5}"/>
              </a:ext>
            </a:extLst>
          </p:cNvPr>
          <p:cNvSpPr/>
          <p:nvPr/>
        </p:nvSpPr>
        <p:spPr>
          <a:xfrm>
            <a:off x="9580165" y="3764351"/>
            <a:ext cx="1642188" cy="710132"/>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NL"/>
          </a:p>
        </p:txBody>
      </p:sp>
      <p:graphicFrame>
        <p:nvGraphicFramePr>
          <p:cNvPr id="10" name="Content Placeholder 4">
            <a:extLst>
              <a:ext uri="{FF2B5EF4-FFF2-40B4-BE49-F238E27FC236}">
                <a16:creationId xmlns:a16="http://schemas.microsoft.com/office/drawing/2014/main" id="{B390E7D8-FF81-D01B-7A0D-3A871CF1254A}"/>
              </a:ext>
            </a:extLst>
          </p:cNvPr>
          <p:cNvGraphicFramePr>
            <a:graphicFrameLocks/>
          </p:cNvGraphicFramePr>
          <p:nvPr/>
        </p:nvGraphicFramePr>
        <p:xfrm>
          <a:off x="7878355" y="4538762"/>
          <a:ext cx="2811600" cy="1285200"/>
        </p:xfrm>
        <a:graphic>
          <a:graphicData uri="http://schemas.openxmlformats.org/drawingml/2006/table">
            <a:tbl>
              <a:tblPr firstRow="1" bandRow="1">
                <a:effectLst>
                  <a:outerShdw blurRad="50800" dist="38100" dir="2700000" algn="tl" rotWithShape="0">
                    <a:prstClr val="black">
                      <a:alpha val="40000"/>
                    </a:prstClr>
                  </a:outerShdw>
                </a:effectLst>
                <a:tableStyleId>{00A15C55-8517-42AA-B614-E9B94910E393}</a:tableStyleId>
              </a:tblPr>
              <a:tblGrid>
                <a:gridCol w="360000">
                  <a:extLst>
                    <a:ext uri="{9D8B030D-6E8A-4147-A177-3AD203B41FA5}">
                      <a16:colId xmlns:a16="http://schemas.microsoft.com/office/drawing/2014/main" val="979315127"/>
                    </a:ext>
                  </a:extLst>
                </a:gridCol>
                <a:gridCol w="1731600">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67200">
                <a:tc>
                  <a:txBody>
                    <a:bodyPr/>
                    <a:lstStyle/>
                    <a:p>
                      <a:endParaRPr lang="en-NL" sz="1100" dirty="0"/>
                    </a:p>
                  </a:txBody>
                  <a:tcPr marL="72000" anchor="ctr"/>
                </a:tc>
                <a:tc>
                  <a:txBody>
                    <a:bodyPr/>
                    <a:lstStyle/>
                    <a:p>
                      <a:r>
                        <a:rPr lang="en-US" sz="900" dirty="0"/>
                        <a:t>loinc:107454-1</a:t>
                      </a:r>
                    </a:p>
                    <a:p>
                      <a:r>
                        <a:rPr lang="en-US" sz="900" dirty="0"/>
                        <a:t>("Administrative gender"@</a:t>
                      </a:r>
                      <a:r>
                        <a:rPr lang="en-US" sz="900" dirty="0" err="1"/>
                        <a:t>en</a:t>
                      </a:r>
                      <a:r>
                        <a:rPr lang="en-US" sz="900" dirty="0"/>
                        <a:t>)</a:t>
                      </a:r>
                      <a:endParaRPr lang="en-NL" sz="900" dirty="0"/>
                    </a:p>
                  </a:txBody>
                  <a:tcPr marL="72000" marR="0" marT="0" marB="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012902903"/>
                  </a:ext>
                </a:extLst>
              </a:tr>
              <a:tr h="306000">
                <a:tc>
                  <a:txBody>
                    <a:bodyPr/>
                    <a:lstStyle/>
                    <a:p>
                      <a:endParaRPr lang="en-NL" sz="1100" dirty="0"/>
                    </a:p>
                  </a:txBody>
                  <a:tcPr marL="72000" anchor="ctr"/>
                </a:tc>
                <a:tc>
                  <a:txBody>
                    <a:bodyPr/>
                    <a:lstStyle/>
                    <a:p>
                      <a:r>
                        <a:rPr lang="en-US" sz="1100" b="1" dirty="0"/>
                        <a:t>woman</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1249708150"/>
                  </a:ext>
                </a:extLst>
              </a:tr>
              <a:tr h="306000">
                <a:tc>
                  <a:txBody>
                    <a:bodyPr/>
                    <a:lstStyle/>
                    <a:p>
                      <a:endParaRPr lang="en-NL" sz="1100" dirty="0"/>
                    </a:p>
                  </a:txBody>
                  <a:tcPr marL="72000" anchor="ctr"/>
                </a:tc>
                <a:tc>
                  <a:txBody>
                    <a:bodyPr/>
                    <a:lstStyle/>
                    <a:p>
                      <a:r>
                        <a:rPr lang="en-US" sz="1100" b="1" dirty="0"/>
                        <a:t>man</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850974854"/>
                  </a:ext>
                </a:extLst>
              </a:tr>
              <a:tr h="306000">
                <a:tc>
                  <a:txBody>
                    <a:bodyPr/>
                    <a:lstStyle/>
                    <a:p>
                      <a:endParaRPr lang="en-NL" sz="1100" dirty="0"/>
                    </a:p>
                  </a:txBody>
                  <a:tcPr marL="72000" anchor="ctr"/>
                </a:tc>
                <a:tc>
                  <a:txBody>
                    <a:bodyPr/>
                    <a:lstStyle/>
                    <a:p>
                      <a:r>
                        <a:rPr lang="en-US" sz="1100" b="1" dirty="0"/>
                        <a:t>non-binary</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11" name="Rectangle: Rounded Corners 10">
            <a:extLst>
              <a:ext uri="{FF2B5EF4-FFF2-40B4-BE49-F238E27FC236}">
                <a16:creationId xmlns:a16="http://schemas.microsoft.com/office/drawing/2014/main" id="{D4C0FF67-C48C-BB05-F7C9-38CD6803EBF4}"/>
              </a:ext>
            </a:extLst>
          </p:cNvPr>
          <p:cNvSpPr/>
          <p:nvPr/>
        </p:nvSpPr>
        <p:spPr>
          <a:xfrm>
            <a:off x="9580166" y="5182068"/>
            <a:ext cx="1642188" cy="710132"/>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NL"/>
          </a:p>
        </p:txBody>
      </p:sp>
      <p:graphicFrame>
        <p:nvGraphicFramePr>
          <p:cNvPr id="12" name="Content Placeholder 4">
            <a:extLst>
              <a:ext uri="{FF2B5EF4-FFF2-40B4-BE49-F238E27FC236}">
                <a16:creationId xmlns:a16="http://schemas.microsoft.com/office/drawing/2014/main" id="{21AE9662-B0E1-A041-5929-E5A23E93D016}"/>
              </a:ext>
            </a:extLst>
          </p:cNvPr>
          <p:cNvGraphicFramePr>
            <a:graphicFrameLocks/>
          </p:cNvGraphicFramePr>
          <p:nvPr/>
        </p:nvGraphicFramePr>
        <p:xfrm>
          <a:off x="7878355" y="1695020"/>
          <a:ext cx="2811677" cy="128376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360000">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24000">
                <a:tc>
                  <a:txBody>
                    <a:bodyPr/>
                    <a:lstStyle/>
                    <a:p>
                      <a:endParaRPr lang="en-NL" sz="1100" dirty="0"/>
                    </a:p>
                  </a:txBody>
                  <a:tcPr marL="72000" anchor="ctr"/>
                </a:tc>
                <a:tc>
                  <a:txBody>
                    <a:bodyPr/>
                    <a:lstStyle/>
                    <a:p>
                      <a:r>
                        <a:rPr lang="en-US" sz="900" dirty="0" err="1"/>
                        <a:t>care-sm:Sex</a:t>
                      </a:r>
                      <a:endParaRPr lang="en-US" sz="900" dirty="0"/>
                    </a:p>
                    <a:p>
                      <a:r>
                        <a:rPr lang="en-US" sz="900" dirty="0"/>
                        <a:t>("Biological sex"@</a:t>
                      </a:r>
                      <a:r>
                        <a:rPr lang="en-US" sz="900" dirty="0" err="1"/>
                        <a:t>en</a:t>
                      </a:r>
                      <a:r>
                        <a:rPr lang="en-US" sz="900" dirty="0"/>
                        <a:t>)</a:t>
                      </a:r>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012902903"/>
                  </a:ext>
                </a:extLst>
              </a:tr>
              <a:tr h="306000">
                <a:tc>
                  <a:txBody>
                    <a:bodyPr/>
                    <a:lstStyle/>
                    <a:p>
                      <a:endParaRPr lang="en-NL" sz="1100" dirty="0"/>
                    </a:p>
                  </a:txBody>
                  <a:tcPr marL="72000" anchor="ctr"/>
                </a:tc>
                <a:tc>
                  <a:txBody>
                    <a:bodyPr/>
                    <a:lstStyle/>
                    <a:p>
                      <a:r>
                        <a:rPr lang="en-US" sz="1100" b="1" dirty="0"/>
                        <a:t>female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1249708150"/>
                  </a:ext>
                </a:extLst>
              </a:tr>
              <a:tr h="306000">
                <a:tc>
                  <a:txBody>
                    <a:bodyPr/>
                    <a:lstStyle/>
                    <a:p>
                      <a:endParaRPr lang="en-NL" sz="1100" dirty="0"/>
                    </a:p>
                  </a:txBody>
                  <a:tcPr marL="72000" anchor="ctr"/>
                </a:tc>
                <a:tc>
                  <a:txBody>
                    <a:bodyPr/>
                    <a:lstStyle/>
                    <a:p>
                      <a:r>
                        <a:rPr lang="en-US" sz="1100" b="1" dirty="0"/>
                        <a:t>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850974854"/>
                  </a:ext>
                </a:extLst>
              </a:tr>
              <a:tr h="306000">
                <a:tc>
                  <a:txBody>
                    <a:bodyPr/>
                    <a:lstStyle/>
                    <a:p>
                      <a:endParaRPr lang="en-NL" sz="1100" dirty="0"/>
                    </a:p>
                  </a:txBody>
                  <a:tcPr marL="72000" anchor="ctr"/>
                </a:tc>
                <a:tc>
                  <a:txBody>
                    <a:bodyPr/>
                    <a:lstStyle/>
                    <a:p>
                      <a:r>
                        <a:rPr lang="en-US" sz="1100" b="1" dirty="0"/>
                        <a:t>female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13" name="Rectangle: Rounded Corners 12">
            <a:extLst>
              <a:ext uri="{FF2B5EF4-FFF2-40B4-BE49-F238E27FC236}">
                <a16:creationId xmlns:a16="http://schemas.microsoft.com/office/drawing/2014/main" id="{909B233F-3FAB-9465-55C0-E270C5FFD55F}"/>
              </a:ext>
            </a:extLst>
          </p:cNvPr>
          <p:cNvSpPr/>
          <p:nvPr/>
        </p:nvSpPr>
        <p:spPr>
          <a:xfrm>
            <a:off x="9580165" y="2343789"/>
            <a:ext cx="1642188" cy="710132"/>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NL"/>
          </a:p>
        </p:txBody>
      </p:sp>
      <p:pic>
        <p:nvPicPr>
          <p:cNvPr id="14" name="Picture 13">
            <a:extLst>
              <a:ext uri="{FF2B5EF4-FFF2-40B4-BE49-F238E27FC236}">
                <a16:creationId xmlns:a16="http://schemas.microsoft.com/office/drawing/2014/main" id="{2137F7A1-632E-6C2B-1144-68873EF13E5B}"/>
              </a:ext>
            </a:extLst>
          </p:cNvPr>
          <p:cNvPicPr>
            <a:picLocks noChangeAspect="1"/>
          </p:cNvPicPr>
          <p:nvPr/>
        </p:nvPicPr>
        <p:blipFill>
          <a:blip r:embed="rId3"/>
          <a:srcRect l="17222" t="33069" r="27186" b="41346"/>
          <a:stretch>
            <a:fillRect/>
          </a:stretch>
        </p:blipFill>
        <p:spPr>
          <a:xfrm>
            <a:off x="9681170" y="2477918"/>
            <a:ext cx="1440178" cy="441874"/>
          </a:xfrm>
          <a:prstGeom prst="rect">
            <a:avLst/>
          </a:prstGeom>
        </p:spPr>
      </p:pic>
      <p:pic>
        <p:nvPicPr>
          <p:cNvPr id="15" name="Picture 14">
            <a:extLst>
              <a:ext uri="{FF2B5EF4-FFF2-40B4-BE49-F238E27FC236}">
                <a16:creationId xmlns:a16="http://schemas.microsoft.com/office/drawing/2014/main" id="{80CED00E-5F36-8002-1E93-ECEAAFFE15F5}"/>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Effect>
                      <a14:brightnessContrast contrast="-40000"/>
                    </a14:imgEffect>
                  </a14:imgLayer>
                </a14:imgProps>
              </a:ext>
            </a:extLst>
          </a:blip>
          <a:srcRect l="22593" t="33818" r="26296" b="42564"/>
          <a:stretch>
            <a:fillRect/>
          </a:stretch>
        </p:blipFill>
        <p:spPr>
          <a:xfrm>
            <a:off x="9681259" y="3897611"/>
            <a:ext cx="1440000" cy="443613"/>
          </a:xfrm>
          <a:prstGeom prst="rect">
            <a:avLst/>
          </a:prstGeom>
        </p:spPr>
      </p:pic>
      <p:pic>
        <p:nvPicPr>
          <p:cNvPr id="16" name="Picture 15">
            <a:extLst>
              <a:ext uri="{FF2B5EF4-FFF2-40B4-BE49-F238E27FC236}">
                <a16:creationId xmlns:a16="http://schemas.microsoft.com/office/drawing/2014/main" id="{3357A704-35A2-71AA-2E95-CEA0181C00E3}"/>
              </a:ext>
            </a:extLst>
          </p:cNvPr>
          <p:cNvPicPr>
            <a:picLocks noChangeAspect="1"/>
          </p:cNvPicPr>
          <p:nvPr/>
        </p:nvPicPr>
        <p:blipFill>
          <a:blip r:embed="rId6"/>
          <a:srcRect l="13027" t="27953" r="16204" b="38897"/>
          <a:stretch>
            <a:fillRect/>
          </a:stretch>
        </p:blipFill>
        <p:spPr>
          <a:xfrm>
            <a:off x="9681260" y="5312288"/>
            <a:ext cx="1440000" cy="449693"/>
          </a:xfrm>
          <a:prstGeom prst="rect">
            <a:avLst/>
          </a:prstGeom>
        </p:spPr>
      </p:pic>
      <p:sp>
        <p:nvSpPr>
          <p:cNvPr id="17" name="TextBox 16">
            <a:extLst>
              <a:ext uri="{FF2B5EF4-FFF2-40B4-BE49-F238E27FC236}">
                <a16:creationId xmlns:a16="http://schemas.microsoft.com/office/drawing/2014/main" id="{EFCD9820-DFDD-917F-1A57-E728C1D9C49C}"/>
              </a:ext>
            </a:extLst>
          </p:cNvPr>
          <p:cNvSpPr txBox="1"/>
          <p:nvPr/>
        </p:nvSpPr>
        <p:spPr>
          <a:xfrm rot="16200000">
            <a:off x="282648" y="1982881"/>
            <a:ext cx="1483199" cy="553998"/>
          </a:xfrm>
          <a:prstGeom prst="rect">
            <a:avLst/>
          </a:prstGeom>
          <a:noFill/>
        </p:spPr>
        <p:txBody>
          <a:bodyPr wrap="square" rtlCol="0">
            <a:spAutoFit/>
          </a:bodyPr>
          <a:lstStyle/>
          <a:p>
            <a:pPr algn="ctr"/>
            <a:r>
              <a:rPr lang="en-US" sz="1000" b="1" dirty="0">
                <a:solidFill>
                  <a:schemeClr val="accent1"/>
                </a:solidFill>
              </a:rPr>
              <a:t>Clinical Research Standards Mapping Community</a:t>
            </a:r>
            <a:endParaRPr lang="en-NL" sz="1000" b="1" dirty="0">
              <a:solidFill>
                <a:schemeClr val="accent1"/>
              </a:solidFill>
            </a:endParaRPr>
          </a:p>
        </p:txBody>
      </p:sp>
      <p:graphicFrame>
        <p:nvGraphicFramePr>
          <p:cNvPr id="6" name="Content Placeholder 4">
            <a:extLst>
              <a:ext uri="{FF2B5EF4-FFF2-40B4-BE49-F238E27FC236}">
                <a16:creationId xmlns:a16="http://schemas.microsoft.com/office/drawing/2014/main" id="{9B4AE73D-09C1-FB36-7431-552697C6D6C2}"/>
              </a:ext>
            </a:extLst>
          </p:cNvPr>
          <p:cNvGraphicFramePr>
            <a:graphicFrameLocks/>
          </p:cNvGraphicFramePr>
          <p:nvPr/>
        </p:nvGraphicFramePr>
        <p:xfrm>
          <a:off x="1426844" y="3017831"/>
          <a:ext cx="5790820" cy="1483200"/>
        </p:xfrm>
        <a:graphic>
          <a:graphicData uri="http://schemas.openxmlformats.org/drawingml/2006/table">
            <a:tbl>
              <a:tblPr firstRow="1" bandRow="1">
                <a:tableStyleId>{7E9639D4-E3E2-4D34-9284-5A2195B3D0D7}</a:tableStyleId>
              </a:tblPr>
              <a:tblGrid>
                <a:gridCol w="1447705">
                  <a:extLst>
                    <a:ext uri="{9D8B030D-6E8A-4147-A177-3AD203B41FA5}">
                      <a16:colId xmlns:a16="http://schemas.microsoft.com/office/drawing/2014/main" val="3110697272"/>
                    </a:ext>
                  </a:extLst>
                </a:gridCol>
                <a:gridCol w="1447705">
                  <a:extLst>
                    <a:ext uri="{9D8B030D-6E8A-4147-A177-3AD203B41FA5}">
                      <a16:colId xmlns:a16="http://schemas.microsoft.com/office/drawing/2014/main" val="2021114436"/>
                    </a:ext>
                  </a:extLst>
                </a:gridCol>
                <a:gridCol w="1447705">
                  <a:extLst>
                    <a:ext uri="{9D8B030D-6E8A-4147-A177-3AD203B41FA5}">
                      <a16:colId xmlns:a16="http://schemas.microsoft.com/office/drawing/2014/main" val="3919841806"/>
                    </a:ext>
                  </a:extLst>
                </a:gridCol>
                <a:gridCol w="1447705">
                  <a:extLst>
                    <a:ext uri="{9D8B030D-6E8A-4147-A177-3AD203B41FA5}">
                      <a16:colId xmlns:a16="http://schemas.microsoft.com/office/drawing/2014/main" val="1207672842"/>
                    </a:ext>
                  </a:extLst>
                </a:gridCol>
              </a:tblGrid>
              <a:tr h="370800">
                <a:tc>
                  <a:txBody>
                    <a:bodyPr/>
                    <a:lstStyle/>
                    <a:p>
                      <a:pPr algn="ctr"/>
                      <a:r>
                        <a:rPr lang="en-US" sz="1200" b="1" dirty="0" err="1"/>
                        <a:t>source_CURIE</a:t>
                      </a:r>
                      <a:endParaRPr lang="en-NL" sz="1200" b="1" dirty="0"/>
                    </a:p>
                  </a:txBody>
                  <a:tcPr anchor="ctr"/>
                </a:tc>
                <a:tc>
                  <a:txBody>
                    <a:bodyPr/>
                    <a:lstStyle/>
                    <a:p>
                      <a:pPr algn="ctr"/>
                      <a:r>
                        <a:rPr lang="en-US" sz="1200" dirty="0" err="1"/>
                        <a:t>source_label</a:t>
                      </a:r>
                      <a:endParaRPr lang="en-NL" sz="1200" dirty="0"/>
                    </a:p>
                  </a:txBody>
                  <a:tcPr anchor="ctr"/>
                </a:tc>
                <a:tc>
                  <a:txBody>
                    <a:bodyPr/>
                    <a:lstStyle/>
                    <a:p>
                      <a:pPr algn="ctr"/>
                      <a:r>
                        <a:rPr lang="en-US" sz="1200" dirty="0" err="1"/>
                        <a:t>target_CURIE</a:t>
                      </a:r>
                      <a:endParaRPr lang="en-NL" sz="1200" dirty="0"/>
                    </a:p>
                  </a:txBody>
                  <a:tcPr anchor="ctr"/>
                </a:tc>
                <a:tc>
                  <a:txBody>
                    <a:bodyPr/>
                    <a:lstStyle/>
                    <a:p>
                      <a:pPr algn="ctr"/>
                      <a:r>
                        <a:rPr lang="en-US" sz="1200" dirty="0" err="1"/>
                        <a:t>target_label</a:t>
                      </a:r>
                      <a:endParaRPr lang="en-NL" sz="1200" dirty="0"/>
                    </a:p>
                  </a:txBody>
                  <a:tcPr anchor="ctr"/>
                </a:tc>
                <a:extLst>
                  <a:ext uri="{0D108BD9-81ED-4DB2-BD59-A6C34878D82A}">
                    <a16:rowId xmlns:a16="http://schemas.microsoft.com/office/drawing/2014/main" val="424328651"/>
                  </a:ext>
                </a:extLst>
              </a:tr>
              <a:tr h="370800">
                <a:tc>
                  <a:txBody>
                    <a:bodyPr/>
                    <a:lstStyle/>
                    <a:p>
                      <a:pPr algn="l"/>
                      <a:r>
                        <a:rPr lang="en-US" sz="1050" dirty="0" err="1">
                          <a:solidFill>
                            <a:schemeClr val="accent1"/>
                          </a:solidFill>
                        </a:rPr>
                        <a:t>npr:person.sex_code</a:t>
                      </a:r>
                      <a:endParaRPr lang="en-NL" sz="1050" dirty="0">
                        <a:solidFill>
                          <a:schemeClr val="accent1"/>
                        </a:solidFill>
                      </a:endParaRPr>
                    </a:p>
                  </a:txBody>
                  <a:tcPr anchor="ctr">
                    <a:noFill/>
                  </a:tcPr>
                </a:tc>
                <a:tc>
                  <a:txBody>
                    <a:bodyPr/>
                    <a:lstStyle/>
                    <a:p>
                      <a:pPr algn="l"/>
                      <a:r>
                        <a:rPr lang="en-US" sz="1050" dirty="0"/>
                        <a:t>Registered biol. sex</a:t>
                      </a:r>
                      <a:endParaRPr lang="en-NL" sz="1050" dirty="0"/>
                    </a:p>
                  </a:txBody>
                  <a:tcPr anchor="ctr"/>
                </a:tc>
                <a:tc>
                  <a:txBody>
                    <a:bodyPr/>
                    <a:lstStyle/>
                    <a:p>
                      <a:pPr algn="l">
                        <a:buNone/>
                      </a:pPr>
                      <a:r>
                        <a:rPr lang="en-US" sz="1050" b="1" dirty="0" err="1"/>
                        <a:t>care-sm:Sex</a:t>
                      </a:r>
                      <a:endParaRPr lang="en-US" sz="1050" b="1" dirty="0"/>
                    </a:p>
                  </a:txBody>
                  <a:tcPr anchor="ctr">
                    <a:solidFill>
                      <a:schemeClr val="accent1">
                        <a:lumMod val="20000"/>
                        <a:lumOff val="80000"/>
                      </a:schemeClr>
                    </a:solidFill>
                  </a:tcPr>
                </a:tc>
                <a:tc>
                  <a:txBody>
                    <a:bodyPr/>
                    <a:lstStyle/>
                    <a:p>
                      <a:pPr algn="l">
                        <a:buNone/>
                      </a:pPr>
                      <a:r>
                        <a:rPr lang="en-US" sz="1050" b="0" dirty="0"/>
                        <a:t>Biological sex</a:t>
                      </a:r>
                    </a:p>
                  </a:txBody>
                  <a:tcPr anchor="ctr"/>
                </a:tc>
                <a:extLst>
                  <a:ext uri="{0D108BD9-81ED-4DB2-BD59-A6C34878D82A}">
                    <a16:rowId xmlns:a16="http://schemas.microsoft.com/office/drawing/2014/main" val="1418268279"/>
                  </a:ext>
                </a:extLst>
              </a:tr>
              <a:tr h="370800">
                <a:tc>
                  <a:txBody>
                    <a:bodyPr/>
                    <a:lstStyle/>
                    <a:p>
                      <a:pPr algn="l"/>
                      <a:r>
                        <a:rPr lang="en-US" sz="1050" dirty="0" err="1">
                          <a:solidFill>
                            <a:schemeClr val="accent1"/>
                          </a:solidFill>
                        </a:rPr>
                        <a:t>npr:person.sex_code</a:t>
                      </a:r>
                      <a:endParaRPr lang="en-NL" sz="1050" dirty="0">
                        <a:solidFill>
                          <a:schemeClr val="accent1"/>
                        </a:solidFill>
                      </a:endParaRPr>
                    </a:p>
                  </a:txBody>
                  <a:tcPr anchor="ctr">
                    <a:noFill/>
                  </a:tcPr>
                </a:tc>
                <a:tc>
                  <a:txBody>
                    <a:bodyPr/>
                    <a:lstStyle/>
                    <a:p>
                      <a:pPr algn="l"/>
                      <a:r>
                        <a:rPr lang="en-US" sz="1050" dirty="0"/>
                        <a:t>Registered biol. sex</a:t>
                      </a:r>
                    </a:p>
                  </a:txBody>
                  <a:tcPr anchor="ctr"/>
                </a:tc>
                <a:tc>
                  <a:txBody>
                    <a:bodyPr/>
                    <a:lstStyle/>
                    <a:p>
                      <a:pPr algn="l">
                        <a:buNone/>
                      </a:pPr>
                      <a:r>
                        <a:rPr lang="en-US" sz="1050" b="0" dirty="0" err="1"/>
                        <a:t>registry:resident.sex</a:t>
                      </a:r>
                      <a:endParaRPr lang="en-US" sz="1050" b="0" dirty="0"/>
                    </a:p>
                  </a:txBody>
                  <a:tcPr anchor="ctr"/>
                </a:tc>
                <a:tc>
                  <a:txBody>
                    <a:bodyPr/>
                    <a:lstStyle/>
                    <a:p>
                      <a:pPr algn="l">
                        <a:buNone/>
                      </a:pPr>
                      <a:r>
                        <a:rPr lang="en-US" sz="1050" b="0" dirty="0"/>
                        <a:t>Resident sex</a:t>
                      </a:r>
                    </a:p>
                  </a:txBody>
                  <a:tcPr anchor="ctr"/>
                </a:tc>
                <a:extLst>
                  <a:ext uri="{0D108BD9-81ED-4DB2-BD59-A6C34878D82A}">
                    <a16:rowId xmlns:a16="http://schemas.microsoft.com/office/drawing/2014/main" val="1269809659"/>
                  </a:ext>
                </a:extLst>
              </a:tr>
              <a:tr h="370800">
                <a:tc>
                  <a:txBody>
                    <a:bodyPr/>
                    <a:lstStyle/>
                    <a:p>
                      <a:r>
                        <a:rPr lang="en-US" sz="1050" dirty="0" err="1">
                          <a:solidFill>
                            <a:schemeClr val="accent4"/>
                          </a:solidFill>
                        </a:rPr>
                        <a:t>fhir:Patient.gender</a:t>
                      </a:r>
                      <a:endParaRPr lang="en-NL" sz="1050" dirty="0">
                        <a:solidFill>
                          <a:schemeClr val="accent4"/>
                        </a:solidFill>
                      </a:endParaRPr>
                    </a:p>
                  </a:txBody>
                  <a:tcPr anchor="ctr">
                    <a:noFill/>
                  </a:tcPr>
                </a:tc>
                <a:tc>
                  <a:txBody>
                    <a:bodyPr/>
                    <a:lstStyle/>
                    <a:p>
                      <a:r>
                        <a:rPr lang="en-US" sz="1050" dirty="0"/>
                        <a:t>Administrative gender</a:t>
                      </a:r>
                      <a:endParaRPr lang="en-NL" sz="1050" dirty="0"/>
                    </a:p>
                  </a:txBody>
                  <a:tcPr anchor="ctr"/>
                </a:tc>
                <a:tc>
                  <a:txBody>
                    <a:bodyPr/>
                    <a:lstStyle/>
                    <a:p>
                      <a:pPr algn="l">
                        <a:buNone/>
                      </a:pPr>
                      <a:r>
                        <a:rPr lang="en-US" sz="1050" b="0" dirty="0"/>
                        <a:t>hl7v3:AdmGender</a:t>
                      </a:r>
                    </a:p>
                  </a:txBody>
                  <a:tcPr anchor="ctr"/>
                </a:tc>
                <a:tc>
                  <a:txBody>
                    <a:bodyPr/>
                    <a:lstStyle/>
                    <a:p>
                      <a:pPr algn="l">
                        <a:buNone/>
                      </a:pPr>
                      <a:r>
                        <a:rPr lang="en-US" sz="1050" b="0" dirty="0"/>
                        <a:t>Administrative gender</a:t>
                      </a:r>
                    </a:p>
                  </a:txBody>
                  <a:tcPr anchor="ctr"/>
                </a:tc>
                <a:extLst>
                  <a:ext uri="{0D108BD9-81ED-4DB2-BD59-A6C34878D82A}">
                    <a16:rowId xmlns:a16="http://schemas.microsoft.com/office/drawing/2014/main" val="1386821321"/>
                  </a:ext>
                </a:extLst>
              </a:tr>
            </a:tbl>
          </a:graphicData>
        </a:graphic>
      </p:graphicFrame>
      <p:sp>
        <p:nvSpPr>
          <p:cNvPr id="18" name="TextBox 17">
            <a:extLst>
              <a:ext uri="{FF2B5EF4-FFF2-40B4-BE49-F238E27FC236}">
                <a16:creationId xmlns:a16="http://schemas.microsoft.com/office/drawing/2014/main" id="{0728AEBC-F983-1D5C-D475-F085483E2D32}"/>
              </a:ext>
            </a:extLst>
          </p:cNvPr>
          <p:cNvSpPr txBox="1"/>
          <p:nvPr/>
        </p:nvSpPr>
        <p:spPr>
          <a:xfrm rot="16200000">
            <a:off x="282648" y="3491463"/>
            <a:ext cx="1483199" cy="553998"/>
          </a:xfrm>
          <a:prstGeom prst="rect">
            <a:avLst/>
          </a:prstGeom>
          <a:noFill/>
        </p:spPr>
        <p:txBody>
          <a:bodyPr wrap="square" rtlCol="0">
            <a:spAutoFit/>
          </a:bodyPr>
          <a:lstStyle/>
          <a:p>
            <a:pPr algn="ctr"/>
            <a:r>
              <a:rPr lang="en-US" sz="1000" b="1" dirty="0">
                <a:solidFill>
                  <a:sysClr val="windowText" lastClr="000000"/>
                </a:solidFill>
              </a:rPr>
              <a:t>Dutch Health Data Stewardship Community</a:t>
            </a:r>
            <a:endParaRPr lang="en-NL" sz="1000" b="1" dirty="0">
              <a:solidFill>
                <a:sysClr val="windowText" lastClr="000000"/>
              </a:solidFill>
            </a:endParaRPr>
          </a:p>
        </p:txBody>
      </p:sp>
      <p:sp>
        <p:nvSpPr>
          <p:cNvPr id="20" name="TextBox 19">
            <a:extLst>
              <a:ext uri="{FF2B5EF4-FFF2-40B4-BE49-F238E27FC236}">
                <a16:creationId xmlns:a16="http://schemas.microsoft.com/office/drawing/2014/main" id="{5976559A-8C14-952B-3E3E-D11451AF8099}"/>
              </a:ext>
            </a:extLst>
          </p:cNvPr>
          <p:cNvSpPr txBox="1"/>
          <p:nvPr/>
        </p:nvSpPr>
        <p:spPr>
          <a:xfrm rot="16200000">
            <a:off x="282648" y="5078705"/>
            <a:ext cx="1483199" cy="400110"/>
          </a:xfrm>
          <a:prstGeom prst="rect">
            <a:avLst/>
          </a:prstGeom>
          <a:noFill/>
        </p:spPr>
        <p:txBody>
          <a:bodyPr wrap="square" rtlCol="0">
            <a:spAutoFit/>
          </a:bodyPr>
          <a:lstStyle/>
          <a:p>
            <a:pPr algn="ctr"/>
            <a:r>
              <a:rPr lang="en-US" sz="1000" b="1" dirty="0">
                <a:solidFill>
                  <a:schemeClr val="accent4"/>
                </a:solidFill>
              </a:rPr>
              <a:t>Administrative Gender Standards Community</a:t>
            </a:r>
            <a:endParaRPr lang="en-NL" sz="1000" b="1" dirty="0">
              <a:solidFill>
                <a:schemeClr val="accent4"/>
              </a:solidFill>
            </a:endParaRPr>
          </a:p>
        </p:txBody>
      </p:sp>
      <p:sp>
        <p:nvSpPr>
          <p:cNvPr id="3" name="TextBox 2">
            <a:extLst>
              <a:ext uri="{FF2B5EF4-FFF2-40B4-BE49-F238E27FC236}">
                <a16:creationId xmlns:a16="http://schemas.microsoft.com/office/drawing/2014/main" id="{BAC941B3-33D4-B7A1-108A-5B60BB6484A0}"/>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3</a:t>
            </a:r>
            <a:endParaRPr lang="en-NL" sz="1000" b="1" dirty="0"/>
          </a:p>
        </p:txBody>
      </p:sp>
    </p:spTree>
    <p:extLst>
      <p:ext uri="{BB962C8B-B14F-4D97-AF65-F5344CB8AC3E}">
        <p14:creationId xmlns:p14="http://schemas.microsoft.com/office/powerpoint/2010/main" val="13118617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85A276-EDF6-E1E2-7516-79FCF3CBDD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794336-B231-F4D5-F695-D326D783704A}"/>
              </a:ext>
            </a:extLst>
          </p:cNvPr>
          <p:cNvSpPr>
            <a:spLocks noGrp="1"/>
          </p:cNvSpPr>
          <p:nvPr>
            <p:ph type="title"/>
          </p:nvPr>
        </p:nvSpPr>
        <p:spPr/>
        <p:txBody>
          <a:bodyPr/>
          <a:lstStyle/>
          <a:p>
            <a:r>
              <a:rPr lang="en-US" sz="3600" dirty="0"/>
              <a:t>Pairwise Mappings Require Multiple Steps</a:t>
            </a:r>
            <a:endParaRPr lang="en-NL" sz="3600" dirty="0"/>
          </a:p>
        </p:txBody>
      </p:sp>
      <p:sp>
        <p:nvSpPr>
          <p:cNvPr id="4" name="Slide Number Placeholder 3">
            <a:extLst>
              <a:ext uri="{FF2B5EF4-FFF2-40B4-BE49-F238E27FC236}">
                <a16:creationId xmlns:a16="http://schemas.microsoft.com/office/drawing/2014/main" id="{4355C849-5238-1C1D-3E51-7F247FFB1C92}"/>
              </a:ext>
            </a:extLst>
          </p:cNvPr>
          <p:cNvSpPr>
            <a:spLocks noGrp="1"/>
          </p:cNvSpPr>
          <p:nvPr>
            <p:ph type="sldNum" sz="quarter" idx="12"/>
          </p:nvPr>
        </p:nvSpPr>
        <p:spPr/>
        <p:txBody>
          <a:bodyPr/>
          <a:lstStyle/>
          <a:p>
            <a:fld id="{4FAB73BC-B049-4115-A692-8D63A059BFB8}" type="slidenum">
              <a:rPr lang="en-US" smtClean="0"/>
              <a:pPr/>
              <a:t>26</a:t>
            </a:fld>
            <a:endParaRPr lang="en-US" dirty="0"/>
          </a:p>
        </p:txBody>
      </p:sp>
      <p:sp>
        <p:nvSpPr>
          <p:cNvPr id="6" name="Parallelogram 5">
            <a:extLst>
              <a:ext uri="{FF2B5EF4-FFF2-40B4-BE49-F238E27FC236}">
                <a16:creationId xmlns:a16="http://schemas.microsoft.com/office/drawing/2014/main" id="{F8346B9F-EE3F-3541-E3EA-F6D6C6C208C2}"/>
              </a:ext>
            </a:extLst>
          </p:cNvPr>
          <p:cNvSpPr/>
          <p:nvPr/>
        </p:nvSpPr>
        <p:spPr>
          <a:xfrm>
            <a:off x="695326" y="3874830"/>
            <a:ext cx="7570850" cy="2066431"/>
          </a:xfrm>
          <a:prstGeom prst="parallelogram">
            <a:avLst>
              <a:gd name="adj" fmla="val 59202"/>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solidFill>
                <a:srgbClr val="FFE4D9"/>
              </a:solidFill>
            </a:endParaRPr>
          </a:p>
        </p:txBody>
      </p:sp>
      <p:sp>
        <p:nvSpPr>
          <p:cNvPr id="10" name="TextBox 9">
            <a:extLst>
              <a:ext uri="{FF2B5EF4-FFF2-40B4-BE49-F238E27FC236}">
                <a16:creationId xmlns:a16="http://schemas.microsoft.com/office/drawing/2014/main" id="{41142F6E-BB84-248C-36C6-7839549DF00F}"/>
              </a:ext>
            </a:extLst>
          </p:cNvPr>
          <p:cNvSpPr txBox="1"/>
          <p:nvPr/>
        </p:nvSpPr>
        <p:spPr>
          <a:xfrm rot="18000000">
            <a:off x="297276" y="4449116"/>
            <a:ext cx="2053199" cy="307777"/>
          </a:xfrm>
          <a:prstGeom prst="rect">
            <a:avLst/>
          </a:prstGeom>
          <a:noFill/>
        </p:spPr>
        <p:txBody>
          <a:bodyPr wrap="squar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26" name="Oval 25">
            <a:extLst>
              <a:ext uri="{FF2B5EF4-FFF2-40B4-BE49-F238E27FC236}">
                <a16:creationId xmlns:a16="http://schemas.microsoft.com/office/drawing/2014/main" id="{38CF9E90-62B6-029F-A4FF-CE1E66236331}"/>
              </a:ext>
            </a:extLst>
          </p:cNvPr>
          <p:cNvSpPr/>
          <p:nvPr/>
        </p:nvSpPr>
        <p:spPr>
          <a:xfrm>
            <a:off x="6211591" y="4749743"/>
            <a:ext cx="360000" cy="360000"/>
          </a:xfrm>
          <a:prstGeom prst="ellipse">
            <a:avLst/>
          </a:prstGeom>
          <a:solidFill>
            <a:schemeClr val="accent4"/>
          </a:solidFill>
          <a:ln w="44450">
            <a:solidFill>
              <a:schemeClr val="accent4"/>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solidFill>
                  <a:schemeClr val="bg1"/>
                </a:solidFill>
              </a:rPr>
              <a:t>H</a:t>
            </a:r>
            <a:endParaRPr lang="en-NL" b="1" dirty="0">
              <a:solidFill>
                <a:schemeClr val="bg1"/>
              </a:solidFill>
            </a:endParaRPr>
          </a:p>
        </p:txBody>
      </p:sp>
      <p:sp>
        <p:nvSpPr>
          <p:cNvPr id="16" name="Oval 15">
            <a:extLst>
              <a:ext uri="{FF2B5EF4-FFF2-40B4-BE49-F238E27FC236}">
                <a16:creationId xmlns:a16="http://schemas.microsoft.com/office/drawing/2014/main" id="{6D1EE0B8-B727-F44D-6365-DEFA31EA2B57}"/>
              </a:ext>
            </a:extLst>
          </p:cNvPr>
          <p:cNvSpPr/>
          <p:nvPr/>
        </p:nvSpPr>
        <p:spPr>
          <a:xfrm>
            <a:off x="3114866" y="4728045"/>
            <a:ext cx="360000" cy="360000"/>
          </a:xfrm>
          <a:prstGeom prst="ellipse">
            <a:avLst/>
          </a:prstGeom>
          <a:solidFill>
            <a:schemeClr val="accent1"/>
          </a:solid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solidFill>
                  <a:schemeClr val="bg1"/>
                </a:solidFill>
              </a:rPr>
              <a:t>C</a:t>
            </a:r>
            <a:endParaRPr lang="en-NL" b="1" dirty="0">
              <a:solidFill>
                <a:schemeClr val="bg1"/>
              </a:solidFill>
            </a:endParaRPr>
          </a:p>
        </p:txBody>
      </p:sp>
      <p:sp>
        <p:nvSpPr>
          <p:cNvPr id="8" name="Oval 7">
            <a:extLst>
              <a:ext uri="{FF2B5EF4-FFF2-40B4-BE49-F238E27FC236}">
                <a16:creationId xmlns:a16="http://schemas.microsoft.com/office/drawing/2014/main" id="{EED58D00-659A-DDDD-3978-B6E41E1F035E}"/>
              </a:ext>
            </a:extLst>
          </p:cNvPr>
          <p:cNvSpPr/>
          <p:nvPr/>
        </p:nvSpPr>
        <p:spPr>
          <a:xfrm>
            <a:off x="2315123" y="5382859"/>
            <a:ext cx="360000" cy="360000"/>
          </a:xfrm>
          <a:prstGeom prst="ellipse">
            <a:avLst/>
          </a:prstGeom>
          <a:solidFill>
            <a:schemeClr val="accent1">
              <a:lumMod val="20000"/>
              <a:lumOff val="80000"/>
            </a:schemeClr>
          </a:solid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B</a:t>
            </a:r>
            <a:endParaRPr lang="en-NL" dirty="0"/>
          </a:p>
        </p:txBody>
      </p:sp>
      <p:sp>
        <p:nvSpPr>
          <p:cNvPr id="9" name="Oval 8">
            <a:extLst>
              <a:ext uri="{FF2B5EF4-FFF2-40B4-BE49-F238E27FC236}">
                <a16:creationId xmlns:a16="http://schemas.microsoft.com/office/drawing/2014/main" id="{07CB09F0-D98E-6403-57D9-F95B275E5898}"/>
              </a:ext>
            </a:extLst>
          </p:cNvPr>
          <p:cNvSpPr/>
          <p:nvPr/>
        </p:nvSpPr>
        <p:spPr>
          <a:xfrm>
            <a:off x="3886423" y="5382859"/>
            <a:ext cx="360000" cy="360000"/>
          </a:xfrm>
          <a:prstGeom prst="ellipse">
            <a:avLst/>
          </a:prstGeom>
          <a:solidFill>
            <a:schemeClr val="accent1">
              <a:lumMod val="20000"/>
              <a:lumOff val="80000"/>
            </a:schemeClr>
          </a:solid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D</a:t>
            </a:r>
            <a:endParaRPr lang="en-NL" dirty="0"/>
          </a:p>
        </p:txBody>
      </p:sp>
      <p:sp>
        <p:nvSpPr>
          <p:cNvPr id="34" name="Oval 33">
            <a:extLst>
              <a:ext uri="{FF2B5EF4-FFF2-40B4-BE49-F238E27FC236}">
                <a16:creationId xmlns:a16="http://schemas.microsoft.com/office/drawing/2014/main" id="{8EB0EA7D-6671-5346-C79C-00316FF14C2F}"/>
              </a:ext>
            </a:extLst>
          </p:cNvPr>
          <p:cNvSpPr/>
          <p:nvPr/>
        </p:nvSpPr>
        <p:spPr>
          <a:xfrm>
            <a:off x="5437410" y="5382859"/>
            <a:ext cx="360000" cy="360000"/>
          </a:xfrm>
          <a:prstGeom prst="ellipse">
            <a:avLst/>
          </a:prstGeom>
          <a:solidFill>
            <a:schemeClr val="accent4">
              <a:lumMod val="20000"/>
              <a:lumOff val="80000"/>
            </a:schemeClr>
          </a:solidFill>
          <a:ln w="44450">
            <a:solidFill>
              <a:schemeClr val="accent4"/>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G</a:t>
            </a:r>
            <a:endParaRPr lang="en-NL" dirty="0"/>
          </a:p>
        </p:txBody>
      </p:sp>
      <p:sp>
        <p:nvSpPr>
          <p:cNvPr id="27" name="Oval 26">
            <a:extLst>
              <a:ext uri="{FF2B5EF4-FFF2-40B4-BE49-F238E27FC236}">
                <a16:creationId xmlns:a16="http://schemas.microsoft.com/office/drawing/2014/main" id="{6F00186B-F070-7646-9C27-423008CDCE86}"/>
              </a:ext>
            </a:extLst>
          </p:cNvPr>
          <p:cNvSpPr/>
          <p:nvPr/>
        </p:nvSpPr>
        <p:spPr>
          <a:xfrm>
            <a:off x="6985772" y="4071229"/>
            <a:ext cx="360000" cy="360000"/>
          </a:xfrm>
          <a:prstGeom prst="ellipse">
            <a:avLst/>
          </a:prstGeom>
          <a:solidFill>
            <a:schemeClr val="accent4">
              <a:lumMod val="20000"/>
              <a:lumOff val="80000"/>
            </a:schemeClr>
          </a:solidFill>
          <a:ln w="44450">
            <a:solidFill>
              <a:schemeClr val="accent4"/>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I</a:t>
            </a:r>
            <a:endParaRPr lang="en-NL" dirty="0"/>
          </a:p>
        </p:txBody>
      </p:sp>
      <p:sp>
        <p:nvSpPr>
          <p:cNvPr id="15" name="Oval 14">
            <a:extLst>
              <a:ext uri="{FF2B5EF4-FFF2-40B4-BE49-F238E27FC236}">
                <a16:creationId xmlns:a16="http://schemas.microsoft.com/office/drawing/2014/main" id="{6C88F470-74FD-905C-8832-1503E5203729}"/>
              </a:ext>
            </a:extLst>
          </p:cNvPr>
          <p:cNvSpPr/>
          <p:nvPr/>
        </p:nvSpPr>
        <p:spPr>
          <a:xfrm>
            <a:off x="2315123" y="4071229"/>
            <a:ext cx="360000" cy="360000"/>
          </a:xfrm>
          <a:prstGeom prst="ellipse">
            <a:avLst/>
          </a:prstGeom>
          <a:solidFill>
            <a:schemeClr val="accent1">
              <a:lumMod val="20000"/>
              <a:lumOff val="80000"/>
            </a:schemeClr>
          </a:solid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A</a:t>
            </a:r>
            <a:endParaRPr lang="en-NL" dirty="0"/>
          </a:p>
        </p:txBody>
      </p:sp>
      <p:sp>
        <p:nvSpPr>
          <p:cNvPr id="20" name="Oval 19">
            <a:extLst>
              <a:ext uri="{FF2B5EF4-FFF2-40B4-BE49-F238E27FC236}">
                <a16:creationId xmlns:a16="http://schemas.microsoft.com/office/drawing/2014/main" id="{C4283C03-D703-7F6D-795D-C6AADFC64E27}"/>
              </a:ext>
            </a:extLst>
          </p:cNvPr>
          <p:cNvSpPr/>
          <p:nvPr/>
        </p:nvSpPr>
        <p:spPr>
          <a:xfrm>
            <a:off x="3886423" y="4071229"/>
            <a:ext cx="360000" cy="360000"/>
          </a:xfrm>
          <a:prstGeom prst="ellipse">
            <a:avLst/>
          </a:prstGeom>
          <a:solidFill>
            <a:schemeClr val="accent6"/>
          </a:solidFill>
          <a:ln w="44450">
            <a:solidFill>
              <a:schemeClr val="accent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chemeClr val="dk1"/>
                </a:solidFill>
              </a:rPr>
              <a:t>E</a:t>
            </a:r>
            <a:endParaRPr lang="en-NL" dirty="0">
              <a:solidFill>
                <a:schemeClr val="dk1"/>
              </a:solidFill>
            </a:endParaRPr>
          </a:p>
        </p:txBody>
      </p:sp>
      <p:sp>
        <p:nvSpPr>
          <p:cNvPr id="35" name="Oval 34">
            <a:extLst>
              <a:ext uri="{FF2B5EF4-FFF2-40B4-BE49-F238E27FC236}">
                <a16:creationId xmlns:a16="http://schemas.microsoft.com/office/drawing/2014/main" id="{E02D59A1-91E9-2BB0-AC6E-538F15942147}"/>
              </a:ext>
            </a:extLst>
          </p:cNvPr>
          <p:cNvSpPr/>
          <p:nvPr/>
        </p:nvSpPr>
        <p:spPr>
          <a:xfrm>
            <a:off x="5437410" y="4071229"/>
            <a:ext cx="360000" cy="360000"/>
          </a:xfrm>
          <a:prstGeom prst="ellipse">
            <a:avLst/>
          </a:prstGeom>
          <a:solidFill>
            <a:schemeClr val="accent6"/>
          </a:solidFill>
          <a:ln w="44450">
            <a:solidFill>
              <a:schemeClr val="accent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chemeClr val="dk1"/>
                </a:solidFill>
              </a:rPr>
              <a:t>F</a:t>
            </a:r>
            <a:endParaRPr lang="en-NL" dirty="0">
              <a:solidFill>
                <a:schemeClr val="dk1"/>
              </a:solidFill>
            </a:endParaRPr>
          </a:p>
        </p:txBody>
      </p:sp>
      <p:graphicFrame>
        <p:nvGraphicFramePr>
          <p:cNvPr id="150" name="Content Placeholder 4">
            <a:extLst>
              <a:ext uri="{FF2B5EF4-FFF2-40B4-BE49-F238E27FC236}">
                <a16:creationId xmlns:a16="http://schemas.microsoft.com/office/drawing/2014/main" id="{B932EF50-EAF4-A69E-CCF2-9C190BCD5CC4}"/>
              </a:ext>
            </a:extLst>
          </p:cNvPr>
          <p:cNvGraphicFramePr>
            <a:graphicFrameLocks/>
          </p:cNvGraphicFramePr>
          <p:nvPr/>
        </p:nvGraphicFramePr>
        <p:xfrm>
          <a:off x="8554098" y="1652911"/>
          <a:ext cx="2951586" cy="1112400"/>
        </p:xfrm>
        <a:graphic>
          <a:graphicData uri="http://schemas.openxmlformats.org/drawingml/2006/table">
            <a:tbl>
              <a:tblPr firstRow="1" bandRow="1">
                <a:tableStyleId>{69012ECD-51FC-41F1-AA8D-1B2483CD663E}</a:tableStyleId>
              </a:tblPr>
              <a:tblGrid>
                <a:gridCol w="1475793">
                  <a:extLst>
                    <a:ext uri="{9D8B030D-6E8A-4147-A177-3AD203B41FA5}">
                      <a16:colId xmlns:a16="http://schemas.microsoft.com/office/drawing/2014/main" val="3110697272"/>
                    </a:ext>
                  </a:extLst>
                </a:gridCol>
                <a:gridCol w="1475793">
                  <a:extLst>
                    <a:ext uri="{9D8B030D-6E8A-4147-A177-3AD203B41FA5}">
                      <a16:colId xmlns:a16="http://schemas.microsoft.com/office/drawing/2014/main" val="3919841806"/>
                    </a:ext>
                  </a:extLst>
                </a:gridCol>
              </a:tblGrid>
              <a:tr h="370800">
                <a:tc>
                  <a:txBody>
                    <a:bodyPr/>
                    <a:lstStyle/>
                    <a:p>
                      <a:pPr algn="ctr"/>
                      <a:r>
                        <a:rPr lang="en-US" sz="1200" b="1" dirty="0" err="1"/>
                        <a:t>source_CURIE</a:t>
                      </a:r>
                      <a:endParaRPr lang="en-NL" sz="1200" b="1" dirty="0"/>
                    </a:p>
                  </a:txBody>
                  <a:tcPr anchor="ctr"/>
                </a:tc>
                <a:tc>
                  <a:txBody>
                    <a:bodyPr/>
                    <a:lstStyle/>
                    <a:p>
                      <a:pPr algn="ctr"/>
                      <a:r>
                        <a:rPr lang="en-US" sz="1200" dirty="0" err="1"/>
                        <a:t>target_CURIE</a:t>
                      </a:r>
                      <a:endParaRPr lang="en-NL" sz="1200" dirty="0"/>
                    </a:p>
                  </a:txBody>
                  <a:tcPr anchor="ctr"/>
                </a:tc>
                <a:extLst>
                  <a:ext uri="{0D108BD9-81ED-4DB2-BD59-A6C34878D82A}">
                    <a16:rowId xmlns:a16="http://schemas.microsoft.com/office/drawing/2014/main" val="424328651"/>
                  </a:ext>
                </a:extLst>
              </a:tr>
              <a:tr h="370800">
                <a:tc>
                  <a:txBody>
                    <a:bodyPr/>
                    <a:lstStyle/>
                    <a:p>
                      <a:pPr>
                        <a:buNone/>
                      </a:pPr>
                      <a:r>
                        <a:rPr lang="en-US" sz="1100" b="0" dirty="0" err="1"/>
                        <a:t>cdisc-sdtm:DM.SEX</a:t>
                      </a:r>
                      <a:endParaRPr lang="en-US" sz="1100" b="0" dirty="0"/>
                    </a:p>
                  </a:txBody>
                  <a:tcPr anchor="ctr"/>
                </a:tc>
                <a:tc>
                  <a:txBody>
                    <a:bodyPr/>
                    <a:lstStyle/>
                    <a:p>
                      <a:pPr>
                        <a:buNone/>
                      </a:pPr>
                      <a:r>
                        <a:rPr lang="en-US" sz="1100" b="1" dirty="0" err="1"/>
                        <a:t>care-sm:Sex</a:t>
                      </a:r>
                      <a:endParaRPr lang="en-US" sz="1100" b="1" dirty="0"/>
                    </a:p>
                  </a:txBody>
                  <a:tcPr anchor="ctr">
                    <a:solidFill>
                      <a:schemeClr val="accent1">
                        <a:lumMod val="20000"/>
                        <a:lumOff val="80000"/>
                      </a:schemeClr>
                    </a:solidFill>
                  </a:tcPr>
                </a:tc>
                <a:extLst>
                  <a:ext uri="{0D108BD9-81ED-4DB2-BD59-A6C34878D82A}">
                    <a16:rowId xmlns:a16="http://schemas.microsoft.com/office/drawing/2014/main" val="1418268279"/>
                  </a:ext>
                </a:extLst>
              </a:tr>
              <a:tr h="370800">
                <a:tc>
                  <a:txBody>
                    <a:bodyPr/>
                    <a:lstStyle/>
                    <a:p>
                      <a:pPr>
                        <a:buNone/>
                      </a:pPr>
                      <a:r>
                        <a:rPr lang="en-US" sz="1100" b="0" dirty="0"/>
                        <a:t>ncit:C28421</a:t>
                      </a:r>
                    </a:p>
                  </a:txBody>
                  <a:tcPr anchor="ctr"/>
                </a:tc>
                <a:tc>
                  <a:txBody>
                    <a:bodyPr/>
                    <a:lstStyle/>
                    <a:p>
                      <a:pPr>
                        <a:buNone/>
                      </a:pPr>
                      <a:r>
                        <a:rPr lang="en-US" sz="1100" b="1" dirty="0" err="1"/>
                        <a:t>care-sm:Sex</a:t>
                      </a:r>
                      <a:endParaRPr lang="en-US" sz="1100" b="1" dirty="0"/>
                    </a:p>
                  </a:txBody>
                  <a:tcPr anchor="ctr">
                    <a:solidFill>
                      <a:schemeClr val="accent1">
                        <a:lumMod val="20000"/>
                        <a:lumOff val="80000"/>
                      </a:schemeClr>
                    </a:solidFill>
                  </a:tcPr>
                </a:tc>
                <a:extLst>
                  <a:ext uri="{0D108BD9-81ED-4DB2-BD59-A6C34878D82A}">
                    <a16:rowId xmlns:a16="http://schemas.microsoft.com/office/drawing/2014/main" val="1654241099"/>
                  </a:ext>
                </a:extLst>
              </a:tr>
            </a:tbl>
          </a:graphicData>
        </a:graphic>
      </p:graphicFrame>
      <p:graphicFrame>
        <p:nvGraphicFramePr>
          <p:cNvPr id="159" name="Content Placeholder 4">
            <a:extLst>
              <a:ext uri="{FF2B5EF4-FFF2-40B4-BE49-F238E27FC236}">
                <a16:creationId xmlns:a16="http://schemas.microsoft.com/office/drawing/2014/main" id="{107425BD-8CAD-64DD-4317-2F3CDBB86F8F}"/>
              </a:ext>
            </a:extLst>
          </p:cNvPr>
          <p:cNvGraphicFramePr>
            <a:graphicFrameLocks/>
          </p:cNvGraphicFramePr>
          <p:nvPr/>
        </p:nvGraphicFramePr>
        <p:xfrm>
          <a:off x="8554098" y="4843405"/>
          <a:ext cx="2951586" cy="1112520"/>
        </p:xfrm>
        <a:graphic>
          <a:graphicData uri="http://schemas.openxmlformats.org/drawingml/2006/table">
            <a:tbl>
              <a:tblPr firstRow="1" bandRow="1">
                <a:tableStyleId>{17292A2E-F333-43FB-9621-5CBBE7FDCDCB}</a:tableStyleId>
              </a:tblPr>
              <a:tblGrid>
                <a:gridCol w="1475793">
                  <a:extLst>
                    <a:ext uri="{9D8B030D-6E8A-4147-A177-3AD203B41FA5}">
                      <a16:colId xmlns:a16="http://schemas.microsoft.com/office/drawing/2014/main" val="3110697272"/>
                    </a:ext>
                  </a:extLst>
                </a:gridCol>
                <a:gridCol w="1475793">
                  <a:extLst>
                    <a:ext uri="{9D8B030D-6E8A-4147-A177-3AD203B41FA5}">
                      <a16:colId xmlns:a16="http://schemas.microsoft.com/office/drawing/2014/main" val="3919841806"/>
                    </a:ext>
                  </a:extLst>
                </a:gridCol>
              </a:tblGrid>
              <a:tr h="370840">
                <a:tc>
                  <a:txBody>
                    <a:bodyPr/>
                    <a:lstStyle/>
                    <a:p>
                      <a:pPr algn="ctr"/>
                      <a:r>
                        <a:rPr lang="en-US" sz="1200" b="1" dirty="0" err="1"/>
                        <a:t>source_CURIE</a:t>
                      </a:r>
                      <a:endParaRPr lang="en-NL" sz="1200" b="1" dirty="0"/>
                    </a:p>
                  </a:txBody>
                  <a:tcPr anchor="ctr"/>
                </a:tc>
                <a:tc>
                  <a:txBody>
                    <a:bodyPr/>
                    <a:lstStyle/>
                    <a:p>
                      <a:pPr algn="ctr"/>
                      <a:r>
                        <a:rPr lang="en-US" sz="1200" dirty="0" err="1"/>
                        <a:t>target_CURIE</a:t>
                      </a:r>
                      <a:endParaRPr lang="en-NL" sz="1200" dirty="0"/>
                    </a:p>
                  </a:txBody>
                  <a:tcPr anchor="ctr"/>
                </a:tc>
                <a:extLst>
                  <a:ext uri="{0D108BD9-81ED-4DB2-BD59-A6C34878D82A}">
                    <a16:rowId xmlns:a16="http://schemas.microsoft.com/office/drawing/2014/main" val="424328651"/>
                  </a:ext>
                </a:extLst>
              </a:tr>
              <a:tr h="370840">
                <a:tc>
                  <a:txBody>
                    <a:bodyPr/>
                    <a:lstStyle/>
                    <a:p>
                      <a:r>
                        <a:rPr lang="en-US" sz="1100" b="1" dirty="0"/>
                        <a:t>loinc:107454-1</a:t>
                      </a:r>
                      <a:endParaRPr lang="en-NL" sz="1100" b="1" dirty="0"/>
                    </a:p>
                  </a:txBody>
                  <a:tcPr anchor="ctr">
                    <a:solidFill>
                      <a:schemeClr val="accent4">
                        <a:lumMod val="20000"/>
                        <a:lumOff val="80000"/>
                      </a:schemeClr>
                    </a:solidFill>
                  </a:tcPr>
                </a:tc>
                <a:tc>
                  <a:txBody>
                    <a:bodyPr/>
                    <a:lstStyle/>
                    <a:p>
                      <a:r>
                        <a:rPr lang="en-US" sz="1100" dirty="0" err="1">
                          <a:solidFill>
                            <a:schemeClr val="accent4"/>
                          </a:solidFill>
                        </a:rPr>
                        <a:t>fhir:Patient.gender</a:t>
                      </a:r>
                      <a:endParaRPr lang="en-NL" sz="1100" dirty="0">
                        <a:solidFill>
                          <a:schemeClr val="accent4"/>
                        </a:solidFill>
                      </a:endParaRPr>
                    </a:p>
                  </a:txBody>
                  <a:tcPr anchor="ctr">
                    <a:noFill/>
                  </a:tcPr>
                </a:tc>
                <a:extLst>
                  <a:ext uri="{0D108BD9-81ED-4DB2-BD59-A6C34878D82A}">
                    <a16:rowId xmlns:a16="http://schemas.microsoft.com/office/drawing/2014/main" val="1418268279"/>
                  </a:ext>
                </a:extLst>
              </a:tr>
              <a:tr h="370840">
                <a:tc>
                  <a:txBody>
                    <a:bodyPr/>
                    <a:lstStyle/>
                    <a:p>
                      <a:r>
                        <a:rPr lang="en-US" sz="1100" b="1" dirty="0"/>
                        <a:t>loinc:107454-1</a:t>
                      </a:r>
                      <a:endParaRPr lang="en-NL" sz="1100" b="1" dirty="0"/>
                    </a:p>
                  </a:txBody>
                  <a:tcPr anchor="ctr">
                    <a:solidFill>
                      <a:schemeClr val="accent4">
                        <a:lumMod val="20000"/>
                        <a:lumOff val="80000"/>
                      </a:schemeClr>
                    </a:solidFill>
                  </a:tcPr>
                </a:tc>
                <a:tc>
                  <a:txBody>
                    <a:bodyPr/>
                    <a:lstStyle/>
                    <a:p>
                      <a:r>
                        <a:rPr lang="en-US" sz="1100" dirty="0"/>
                        <a:t>hl7v2:0001</a:t>
                      </a:r>
                      <a:endParaRPr lang="en-NL" sz="1100" dirty="0"/>
                    </a:p>
                  </a:txBody>
                  <a:tcPr anchor="ctr"/>
                </a:tc>
                <a:extLst>
                  <a:ext uri="{0D108BD9-81ED-4DB2-BD59-A6C34878D82A}">
                    <a16:rowId xmlns:a16="http://schemas.microsoft.com/office/drawing/2014/main" val="1654241099"/>
                  </a:ext>
                </a:extLst>
              </a:tr>
            </a:tbl>
          </a:graphicData>
        </a:graphic>
      </p:graphicFrame>
      <p:graphicFrame>
        <p:nvGraphicFramePr>
          <p:cNvPr id="160" name="Content Placeholder 4">
            <a:extLst>
              <a:ext uri="{FF2B5EF4-FFF2-40B4-BE49-F238E27FC236}">
                <a16:creationId xmlns:a16="http://schemas.microsoft.com/office/drawing/2014/main" id="{0875606A-AC7F-7008-ECDF-6C534CC6BB0B}"/>
              </a:ext>
            </a:extLst>
          </p:cNvPr>
          <p:cNvGraphicFramePr>
            <a:graphicFrameLocks/>
          </p:cNvGraphicFramePr>
          <p:nvPr/>
        </p:nvGraphicFramePr>
        <p:xfrm>
          <a:off x="8563109" y="3062758"/>
          <a:ext cx="2933564" cy="1483200"/>
        </p:xfrm>
        <a:graphic>
          <a:graphicData uri="http://schemas.openxmlformats.org/drawingml/2006/table">
            <a:tbl>
              <a:tblPr firstRow="1" bandRow="1">
                <a:tableStyleId>{7E9639D4-E3E2-4D34-9284-5A2195B3D0D7}</a:tableStyleId>
              </a:tblPr>
              <a:tblGrid>
                <a:gridCol w="1466782">
                  <a:extLst>
                    <a:ext uri="{9D8B030D-6E8A-4147-A177-3AD203B41FA5}">
                      <a16:colId xmlns:a16="http://schemas.microsoft.com/office/drawing/2014/main" val="3110697272"/>
                    </a:ext>
                  </a:extLst>
                </a:gridCol>
                <a:gridCol w="1466782">
                  <a:extLst>
                    <a:ext uri="{9D8B030D-6E8A-4147-A177-3AD203B41FA5}">
                      <a16:colId xmlns:a16="http://schemas.microsoft.com/office/drawing/2014/main" val="3919841806"/>
                    </a:ext>
                  </a:extLst>
                </a:gridCol>
              </a:tblGrid>
              <a:tr h="370800">
                <a:tc>
                  <a:txBody>
                    <a:bodyPr/>
                    <a:lstStyle/>
                    <a:p>
                      <a:pPr algn="ctr"/>
                      <a:r>
                        <a:rPr lang="en-US" sz="1200" b="1" dirty="0" err="1"/>
                        <a:t>source_CURIE</a:t>
                      </a:r>
                      <a:endParaRPr lang="en-NL" sz="1200" b="1" dirty="0"/>
                    </a:p>
                  </a:txBody>
                  <a:tcPr anchor="ctr"/>
                </a:tc>
                <a:tc>
                  <a:txBody>
                    <a:bodyPr/>
                    <a:lstStyle/>
                    <a:p>
                      <a:pPr algn="ctr"/>
                      <a:r>
                        <a:rPr lang="en-US" sz="1200" dirty="0" err="1"/>
                        <a:t>target_CURIE</a:t>
                      </a:r>
                      <a:endParaRPr lang="en-NL" sz="1200" dirty="0"/>
                    </a:p>
                  </a:txBody>
                  <a:tcPr anchor="ctr"/>
                </a:tc>
                <a:extLst>
                  <a:ext uri="{0D108BD9-81ED-4DB2-BD59-A6C34878D82A}">
                    <a16:rowId xmlns:a16="http://schemas.microsoft.com/office/drawing/2014/main" val="424328651"/>
                  </a:ext>
                </a:extLst>
              </a:tr>
              <a:tr h="370800">
                <a:tc>
                  <a:txBody>
                    <a:bodyPr/>
                    <a:lstStyle/>
                    <a:p>
                      <a:pPr algn="l"/>
                      <a:r>
                        <a:rPr lang="en-US" sz="1100" dirty="0" err="1">
                          <a:solidFill>
                            <a:schemeClr val="accent1"/>
                          </a:solidFill>
                        </a:rPr>
                        <a:t>npr:person.sex_code</a:t>
                      </a:r>
                      <a:endParaRPr lang="en-NL" sz="1100" dirty="0">
                        <a:solidFill>
                          <a:schemeClr val="accent1"/>
                        </a:solidFill>
                      </a:endParaRPr>
                    </a:p>
                  </a:txBody>
                  <a:tcPr anchor="ctr">
                    <a:noFill/>
                  </a:tcPr>
                </a:tc>
                <a:tc>
                  <a:txBody>
                    <a:bodyPr/>
                    <a:lstStyle/>
                    <a:p>
                      <a:pPr algn="l">
                        <a:buNone/>
                      </a:pPr>
                      <a:r>
                        <a:rPr lang="en-US" sz="1100" b="1" dirty="0" err="1"/>
                        <a:t>care-sm:Sex</a:t>
                      </a:r>
                      <a:endParaRPr lang="en-US" sz="1100" b="1" dirty="0"/>
                    </a:p>
                  </a:txBody>
                  <a:tcPr anchor="ctr">
                    <a:solidFill>
                      <a:schemeClr val="accent1">
                        <a:lumMod val="20000"/>
                        <a:lumOff val="80000"/>
                      </a:schemeClr>
                    </a:solidFill>
                  </a:tcPr>
                </a:tc>
                <a:extLst>
                  <a:ext uri="{0D108BD9-81ED-4DB2-BD59-A6C34878D82A}">
                    <a16:rowId xmlns:a16="http://schemas.microsoft.com/office/drawing/2014/main" val="1418268279"/>
                  </a:ext>
                </a:extLst>
              </a:tr>
              <a:tr h="370800">
                <a:tc>
                  <a:txBody>
                    <a:bodyPr/>
                    <a:lstStyle/>
                    <a:p>
                      <a:pPr algn="l"/>
                      <a:r>
                        <a:rPr lang="en-US" sz="1100" dirty="0" err="1">
                          <a:solidFill>
                            <a:schemeClr val="accent1"/>
                          </a:solidFill>
                        </a:rPr>
                        <a:t>npr:person.sex_code</a:t>
                      </a:r>
                      <a:endParaRPr lang="en-NL" sz="1100" dirty="0">
                        <a:solidFill>
                          <a:schemeClr val="accent1"/>
                        </a:solidFill>
                      </a:endParaRPr>
                    </a:p>
                  </a:txBody>
                  <a:tcPr anchor="ctr">
                    <a:noFill/>
                  </a:tcPr>
                </a:tc>
                <a:tc>
                  <a:txBody>
                    <a:bodyPr/>
                    <a:lstStyle/>
                    <a:p>
                      <a:pPr algn="l">
                        <a:buNone/>
                      </a:pPr>
                      <a:r>
                        <a:rPr lang="en-US" sz="1100" b="0" dirty="0" err="1"/>
                        <a:t>registry:resident.sex</a:t>
                      </a:r>
                      <a:endParaRPr lang="en-US" sz="1100" b="0" dirty="0"/>
                    </a:p>
                  </a:txBody>
                  <a:tcPr anchor="ctr">
                    <a:solidFill>
                      <a:schemeClr val="accent6">
                        <a:lumMod val="20000"/>
                        <a:lumOff val="80000"/>
                      </a:schemeClr>
                    </a:solidFill>
                  </a:tcPr>
                </a:tc>
                <a:extLst>
                  <a:ext uri="{0D108BD9-81ED-4DB2-BD59-A6C34878D82A}">
                    <a16:rowId xmlns:a16="http://schemas.microsoft.com/office/drawing/2014/main" val="1269809659"/>
                  </a:ext>
                </a:extLst>
              </a:tr>
              <a:tr h="370800">
                <a:tc>
                  <a:txBody>
                    <a:bodyPr/>
                    <a:lstStyle/>
                    <a:p>
                      <a:r>
                        <a:rPr lang="en-US" sz="1100" dirty="0" err="1">
                          <a:solidFill>
                            <a:schemeClr val="accent4"/>
                          </a:solidFill>
                        </a:rPr>
                        <a:t>fhir:Patient.gender</a:t>
                      </a:r>
                      <a:endParaRPr lang="en-NL" sz="1100" dirty="0">
                        <a:solidFill>
                          <a:schemeClr val="accent4"/>
                        </a:solidFill>
                      </a:endParaRPr>
                    </a:p>
                  </a:txBody>
                  <a:tcPr anchor="ctr">
                    <a:noFill/>
                  </a:tcPr>
                </a:tc>
                <a:tc>
                  <a:txBody>
                    <a:bodyPr/>
                    <a:lstStyle/>
                    <a:p>
                      <a:pPr algn="l">
                        <a:buNone/>
                      </a:pPr>
                      <a:r>
                        <a:rPr lang="en-US" sz="1100" b="0" dirty="0"/>
                        <a:t>hl7v3:AdmGender</a:t>
                      </a:r>
                    </a:p>
                  </a:txBody>
                  <a:tcPr anchor="ctr">
                    <a:solidFill>
                      <a:schemeClr val="accent6">
                        <a:lumMod val="20000"/>
                        <a:lumOff val="80000"/>
                      </a:schemeClr>
                    </a:solidFill>
                  </a:tcPr>
                </a:tc>
                <a:extLst>
                  <a:ext uri="{0D108BD9-81ED-4DB2-BD59-A6C34878D82A}">
                    <a16:rowId xmlns:a16="http://schemas.microsoft.com/office/drawing/2014/main" val="1386821321"/>
                  </a:ext>
                </a:extLst>
              </a:tr>
            </a:tbl>
          </a:graphicData>
        </a:graphic>
      </p:graphicFrame>
      <p:cxnSp>
        <p:nvCxnSpPr>
          <p:cNvPr id="183" name="Straight Arrow Connector 182">
            <a:extLst>
              <a:ext uri="{FF2B5EF4-FFF2-40B4-BE49-F238E27FC236}">
                <a16:creationId xmlns:a16="http://schemas.microsoft.com/office/drawing/2014/main" id="{915D8098-88B9-A9E2-6F64-0530358173F1}"/>
              </a:ext>
            </a:extLst>
          </p:cNvPr>
          <p:cNvCxnSpPr>
            <a:stCxn id="20" idx="4"/>
            <a:endCxn id="9" idx="0"/>
          </p:cNvCxnSpPr>
          <p:nvPr/>
        </p:nvCxnSpPr>
        <p:spPr>
          <a:xfrm>
            <a:off x="4066423" y="4431229"/>
            <a:ext cx="0" cy="951630"/>
          </a:xfrm>
          <a:prstGeom prst="straightConnector1">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84" name="Straight Arrow Connector 183">
            <a:extLst>
              <a:ext uri="{FF2B5EF4-FFF2-40B4-BE49-F238E27FC236}">
                <a16:creationId xmlns:a16="http://schemas.microsoft.com/office/drawing/2014/main" id="{99C85BC6-24E2-E0F2-918B-825A1DEB0F99}"/>
              </a:ext>
            </a:extLst>
          </p:cNvPr>
          <p:cNvCxnSpPr>
            <a:cxnSpLocks/>
            <a:stCxn id="35" idx="4"/>
            <a:endCxn id="34" idx="0"/>
          </p:cNvCxnSpPr>
          <p:nvPr/>
        </p:nvCxnSpPr>
        <p:spPr>
          <a:xfrm>
            <a:off x="5617410" y="4431229"/>
            <a:ext cx="0" cy="951630"/>
          </a:xfrm>
          <a:prstGeom prst="straightConnector1">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87" name="Straight Arrow Connector 186">
            <a:extLst>
              <a:ext uri="{FF2B5EF4-FFF2-40B4-BE49-F238E27FC236}">
                <a16:creationId xmlns:a16="http://schemas.microsoft.com/office/drawing/2014/main" id="{3A698E3D-B3D3-39FF-72FE-EF8A5DB6A41D}"/>
              </a:ext>
            </a:extLst>
          </p:cNvPr>
          <p:cNvCxnSpPr>
            <a:cxnSpLocks/>
            <a:stCxn id="26" idx="3"/>
            <a:endCxn id="34" idx="7"/>
          </p:cNvCxnSpPr>
          <p:nvPr/>
        </p:nvCxnSpPr>
        <p:spPr>
          <a:xfrm flipH="1">
            <a:off x="5744689" y="5057022"/>
            <a:ext cx="519623" cy="378558"/>
          </a:xfrm>
          <a:prstGeom prst="straightConnector1">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0" name="Straight Arrow Connector 189">
            <a:extLst>
              <a:ext uri="{FF2B5EF4-FFF2-40B4-BE49-F238E27FC236}">
                <a16:creationId xmlns:a16="http://schemas.microsoft.com/office/drawing/2014/main" id="{8DA51A55-848F-A35F-B7ED-9B0BC726B224}"/>
              </a:ext>
            </a:extLst>
          </p:cNvPr>
          <p:cNvCxnSpPr>
            <a:cxnSpLocks/>
            <a:stCxn id="27" idx="3"/>
            <a:endCxn id="26" idx="7"/>
          </p:cNvCxnSpPr>
          <p:nvPr/>
        </p:nvCxnSpPr>
        <p:spPr>
          <a:xfrm flipH="1">
            <a:off x="6518870" y="4378508"/>
            <a:ext cx="519623" cy="423956"/>
          </a:xfrm>
          <a:prstGeom prst="straightConnector1">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3" name="Straight Arrow Connector 192">
            <a:extLst>
              <a:ext uri="{FF2B5EF4-FFF2-40B4-BE49-F238E27FC236}">
                <a16:creationId xmlns:a16="http://schemas.microsoft.com/office/drawing/2014/main" id="{0E25A570-18B4-D39D-B5C5-174CFC178A36}"/>
              </a:ext>
            </a:extLst>
          </p:cNvPr>
          <p:cNvCxnSpPr>
            <a:cxnSpLocks/>
            <a:stCxn id="16" idx="3"/>
            <a:endCxn id="8" idx="7"/>
          </p:cNvCxnSpPr>
          <p:nvPr/>
        </p:nvCxnSpPr>
        <p:spPr>
          <a:xfrm flipH="1">
            <a:off x="2622402" y="5035324"/>
            <a:ext cx="545185" cy="400256"/>
          </a:xfrm>
          <a:prstGeom prst="straightConnector1">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6" name="Straight Arrow Connector 195">
            <a:extLst>
              <a:ext uri="{FF2B5EF4-FFF2-40B4-BE49-F238E27FC236}">
                <a16:creationId xmlns:a16="http://schemas.microsoft.com/office/drawing/2014/main" id="{64FA769E-9E3B-32E0-D109-A9D82394E994}"/>
              </a:ext>
            </a:extLst>
          </p:cNvPr>
          <p:cNvCxnSpPr>
            <a:cxnSpLocks/>
            <a:stCxn id="16" idx="5"/>
            <a:endCxn id="9" idx="1"/>
          </p:cNvCxnSpPr>
          <p:nvPr/>
        </p:nvCxnSpPr>
        <p:spPr>
          <a:xfrm>
            <a:off x="3422145" y="5035324"/>
            <a:ext cx="516999" cy="400256"/>
          </a:xfrm>
          <a:prstGeom prst="straightConnector1">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9" name="Straight Arrow Connector 198">
            <a:extLst>
              <a:ext uri="{FF2B5EF4-FFF2-40B4-BE49-F238E27FC236}">
                <a16:creationId xmlns:a16="http://schemas.microsoft.com/office/drawing/2014/main" id="{7965CC53-BF9F-451F-17A7-EAA91BB3A0EE}"/>
              </a:ext>
            </a:extLst>
          </p:cNvPr>
          <p:cNvCxnSpPr>
            <a:cxnSpLocks/>
            <a:stCxn id="15" idx="5"/>
            <a:endCxn id="16" idx="1"/>
          </p:cNvCxnSpPr>
          <p:nvPr/>
        </p:nvCxnSpPr>
        <p:spPr>
          <a:xfrm>
            <a:off x="2622402" y="4378508"/>
            <a:ext cx="545185" cy="402258"/>
          </a:xfrm>
          <a:prstGeom prst="straightConnector1">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02" name="Oval 201">
            <a:extLst>
              <a:ext uri="{FF2B5EF4-FFF2-40B4-BE49-F238E27FC236}">
                <a16:creationId xmlns:a16="http://schemas.microsoft.com/office/drawing/2014/main" id="{48907A01-62A0-9163-168E-CBB8C7E70234}"/>
              </a:ext>
            </a:extLst>
          </p:cNvPr>
          <p:cNvSpPr/>
          <p:nvPr/>
        </p:nvSpPr>
        <p:spPr>
          <a:xfrm>
            <a:off x="4665853" y="4727044"/>
            <a:ext cx="360000" cy="360000"/>
          </a:xfrm>
          <a:prstGeom prst="ellipse">
            <a:avLst/>
          </a:prstGeom>
          <a:solidFill>
            <a:schemeClr val="accent1">
              <a:lumMod val="20000"/>
              <a:lumOff val="80000"/>
            </a:schemeClr>
          </a:solidFill>
          <a:ln w="44450">
            <a:solidFill>
              <a:schemeClr val="accent1"/>
            </a:solidFill>
            <a:prstDash val="sysDot"/>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J</a:t>
            </a:r>
            <a:endParaRPr lang="en-NL" dirty="0"/>
          </a:p>
        </p:txBody>
      </p:sp>
      <p:cxnSp>
        <p:nvCxnSpPr>
          <p:cNvPr id="203" name="Straight Arrow Connector 202">
            <a:extLst>
              <a:ext uri="{FF2B5EF4-FFF2-40B4-BE49-F238E27FC236}">
                <a16:creationId xmlns:a16="http://schemas.microsoft.com/office/drawing/2014/main" id="{CF3B7C31-A605-2E49-1089-8BEE3C3030AB}"/>
              </a:ext>
            </a:extLst>
          </p:cNvPr>
          <p:cNvCxnSpPr>
            <a:cxnSpLocks/>
            <a:stCxn id="20" idx="5"/>
            <a:endCxn id="202" idx="1"/>
          </p:cNvCxnSpPr>
          <p:nvPr/>
        </p:nvCxnSpPr>
        <p:spPr>
          <a:xfrm>
            <a:off x="4193702" y="4378508"/>
            <a:ext cx="524872" cy="401257"/>
          </a:xfrm>
          <a:prstGeom prst="straightConnector1">
            <a:avLst/>
          </a:prstGeom>
          <a:ln w="47625">
            <a:solidFill>
              <a:schemeClr val="accent4"/>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sp>
        <p:nvSpPr>
          <p:cNvPr id="207" name="Speech Bubble: Rectangle 206">
            <a:extLst>
              <a:ext uri="{FF2B5EF4-FFF2-40B4-BE49-F238E27FC236}">
                <a16:creationId xmlns:a16="http://schemas.microsoft.com/office/drawing/2014/main" id="{A3148E26-4F8F-3C87-8A40-0CC017539E08}"/>
              </a:ext>
            </a:extLst>
          </p:cNvPr>
          <p:cNvSpPr/>
          <p:nvPr/>
        </p:nvSpPr>
        <p:spPr>
          <a:xfrm>
            <a:off x="704849" y="1648634"/>
            <a:ext cx="7277101" cy="1036735"/>
          </a:xfrm>
          <a:prstGeom prst="wedgeRectCallout">
            <a:avLst>
              <a:gd name="adj1" fmla="val -21179"/>
              <a:gd name="adj2" fmla="val 76797"/>
            </a:avLst>
          </a:prstGeom>
          <a:solidFill>
            <a:schemeClr val="bg1">
              <a:lumMod val="95000"/>
              <a:alpha val="90000"/>
            </a:schemeClr>
          </a:solidFill>
        </p:spPr>
        <p:style>
          <a:lnRef idx="2">
            <a:schemeClr val="dk1"/>
          </a:lnRef>
          <a:fillRef idx="1">
            <a:schemeClr val="lt1"/>
          </a:fillRef>
          <a:effectRef idx="0">
            <a:schemeClr val="dk1"/>
          </a:effectRef>
          <a:fontRef idx="minor">
            <a:schemeClr val="dk1"/>
          </a:fontRef>
        </p:style>
        <p:txBody>
          <a:bodyPr rtlCol="0" anchor="ctr"/>
          <a:lstStyle/>
          <a:p>
            <a:pPr marL="285750" indent="-285750">
              <a:spcBef>
                <a:spcPts val="300"/>
              </a:spcBef>
              <a:spcAft>
                <a:spcPts val="300"/>
              </a:spcAft>
              <a:buFont typeface="Arial" panose="020B0604020202020204" pitchFamily="34" charset="0"/>
              <a:buChar char="•"/>
            </a:pPr>
            <a:r>
              <a:rPr lang="en-US" sz="1400" dirty="0"/>
              <a:t>Without a meaning layer, reuse depends on chains of concept-to-concept mappings.</a:t>
            </a:r>
          </a:p>
          <a:p>
            <a:pPr marL="285750" indent="-285750">
              <a:spcBef>
                <a:spcPts val="300"/>
              </a:spcBef>
              <a:spcAft>
                <a:spcPts val="300"/>
              </a:spcAft>
              <a:buFont typeface="Arial" panose="020B0604020202020204" pitchFamily="34" charset="0"/>
              <a:buChar char="•"/>
            </a:pPr>
            <a:r>
              <a:rPr lang="en-US" sz="1400" dirty="0"/>
              <a:t>These mappings are often fragile and label-driven.</a:t>
            </a:r>
          </a:p>
          <a:p>
            <a:pPr marL="285750" indent="-285750">
              <a:spcBef>
                <a:spcPts val="300"/>
              </a:spcBef>
              <a:spcAft>
                <a:spcPts val="300"/>
              </a:spcAft>
              <a:buFont typeface="Arial" panose="020B0604020202020204" pitchFamily="34" charset="0"/>
              <a:buChar char="•"/>
            </a:pPr>
            <a:r>
              <a:rPr lang="en-US" sz="1400" dirty="0"/>
              <a:t>Each new concept adds complexity, making maintenance harder.</a:t>
            </a:r>
          </a:p>
        </p:txBody>
      </p:sp>
      <p:sp>
        <p:nvSpPr>
          <p:cNvPr id="208" name="TextBox 207">
            <a:extLst>
              <a:ext uri="{FF2B5EF4-FFF2-40B4-BE49-F238E27FC236}">
                <a16:creationId xmlns:a16="http://schemas.microsoft.com/office/drawing/2014/main" id="{183E9AFB-5028-7139-ECD6-F90D57E23179}"/>
              </a:ext>
            </a:extLst>
          </p:cNvPr>
          <p:cNvSpPr txBox="1"/>
          <p:nvPr/>
        </p:nvSpPr>
        <p:spPr>
          <a:xfrm>
            <a:off x="5437411" y="2644616"/>
            <a:ext cx="2838290" cy="338554"/>
          </a:xfrm>
          <a:prstGeom prst="rect">
            <a:avLst/>
          </a:prstGeom>
          <a:ln/>
        </p:spPr>
        <p:style>
          <a:lnRef idx="0">
            <a:schemeClr val="accent2"/>
          </a:lnRef>
          <a:fillRef idx="3">
            <a:schemeClr val="accent2"/>
          </a:fillRef>
          <a:effectRef idx="3">
            <a:schemeClr val="accent2"/>
          </a:effectRef>
          <a:fontRef idx="minor">
            <a:schemeClr val="lt1"/>
          </a:fontRef>
        </p:style>
        <p:txBody>
          <a:bodyPr wrap="square">
            <a:spAutoFit/>
          </a:bodyPr>
          <a:lstStyle/>
          <a:p>
            <a:r>
              <a:rPr lang="en-US" sz="1600" dirty="0">
                <a:solidFill>
                  <a:sysClr val="windowText" lastClr="000000"/>
                </a:solidFill>
              </a:rPr>
              <a:t>From </a:t>
            </a:r>
            <a:r>
              <a:rPr lang="en-US" sz="1600" b="1" dirty="0">
                <a:solidFill>
                  <a:sysClr val="windowText" lastClr="000000"/>
                </a:solidFill>
              </a:rPr>
              <a:t>E</a:t>
            </a:r>
            <a:r>
              <a:rPr lang="en-US" sz="1600" dirty="0">
                <a:solidFill>
                  <a:sysClr val="windowText" lastClr="000000"/>
                </a:solidFill>
              </a:rPr>
              <a:t> to </a:t>
            </a:r>
            <a:r>
              <a:rPr lang="en-US" sz="1600" b="1" dirty="0">
                <a:solidFill>
                  <a:sysClr val="windowText" lastClr="000000"/>
                </a:solidFill>
              </a:rPr>
              <a:t>A</a:t>
            </a:r>
            <a:r>
              <a:rPr lang="en-US" sz="1600" dirty="0">
                <a:solidFill>
                  <a:sysClr val="windowText" lastClr="000000"/>
                </a:solidFill>
              </a:rPr>
              <a:t>: 3 steps</a:t>
            </a:r>
            <a:endParaRPr lang="en-NL" sz="1600" dirty="0">
              <a:solidFill>
                <a:sysClr val="windowText" lastClr="000000"/>
              </a:solidFill>
            </a:endParaRPr>
          </a:p>
        </p:txBody>
      </p:sp>
      <p:sp>
        <p:nvSpPr>
          <p:cNvPr id="209" name="TextBox 208">
            <a:extLst>
              <a:ext uri="{FF2B5EF4-FFF2-40B4-BE49-F238E27FC236}">
                <a16:creationId xmlns:a16="http://schemas.microsoft.com/office/drawing/2014/main" id="{339725B4-D9CF-A4C2-6D04-CA8EE0FE9562}"/>
              </a:ext>
            </a:extLst>
          </p:cNvPr>
          <p:cNvSpPr txBox="1"/>
          <p:nvPr/>
        </p:nvSpPr>
        <p:spPr>
          <a:xfrm>
            <a:off x="5437410" y="3092062"/>
            <a:ext cx="2838290" cy="338554"/>
          </a:xfrm>
          <a:prstGeom prst="rect">
            <a:avLst/>
          </a:prstGeom>
          <a:ln/>
        </p:spPr>
        <p:style>
          <a:lnRef idx="0">
            <a:schemeClr val="accent2"/>
          </a:lnRef>
          <a:fillRef idx="3">
            <a:schemeClr val="accent2"/>
          </a:fillRef>
          <a:effectRef idx="3">
            <a:schemeClr val="accent2"/>
          </a:effectRef>
          <a:fontRef idx="minor">
            <a:schemeClr val="lt1"/>
          </a:fontRef>
        </p:style>
        <p:txBody>
          <a:bodyPr wrap="square">
            <a:spAutoFit/>
          </a:bodyPr>
          <a:lstStyle/>
          <a:p>
            <a:r>
              <a:rPr lang="en-US" sz="1600" dirty="0">
                <a:solidFill>
                  <a:sysClr val="windowText" lastClr="000000"/>
                </a:solidFill>
              </a:rPr>
              <a:t>From </a:t>
            </a:r>
            <a:r>
              <a:rPr lang="en-US" sz="1600" b="1" dirty="0">
                <a:solidFill>
                  <a:sysClr val="windowText" lastClr="000000"/>
                </a:solidFill>
              </a:rPr>
              <a:t>J</a:t>
            </a:r>
            <a:r>
              <a:rPr lang="en-US" sz="1600" dirty="0">
                <a:solidFill>
                  <a:sysClr val="windowText" lastClr="000000"/>
                </a:solidFill>
              </a:rPr>
              <a:t> to </a:t>
            </a:r>
            <a:r>
              <a:rPr lang="en-US" sz="1600" b="1" dirty="0">
                <a:solidFill>
                  <a:sysClr val="windowText" lastClr="000000"/>
                </a:solidFill>
              </a:rPr>
              <a:t>A</a:t>
            </a:r>
            <a:r>
              <a:rPr lang="en-US" sz="1600" dirty="0">
                <a:solidFill>
                  <a:sysClr val="windowText" lastClr="000000"/>
                </a:solidFill>
              </a:rPr>
              <a:t>: 4 steps</a:t>
            </a:r>
            <a:endParaRPr lang="en-NL" sz="1600" dirty="0">
              <a:solidFill>
                <a:sysClr val="windowText" lastClr="000000"/>
              </a:solidFill>
            </a:endParaRPr>
          </a:p>
        </p:txBody>
      </p:sp>
      <p:sp>
        <p:nvSpPr>
          <p:cNvPr id="3" name="Oval 2">
            <a:extLst>
              <a:ext uri="{FF2B5EF4-FFF2-40B4-BE49-F238E27FC236}">
                <a16:creationId xmlns:a16="http://schemas.microsoft.com/office/drawing/2014/main" id="{D10A43A9-C33C-9489-78EA-DC7C1098DE0D}"/>
              </a:ext>
            </a:extLst>
          </p:cNvPr>
          <p:cNvSpPr/>
          <p:nvPr/>
        </p:nvSpPr>
        <p:spPr>
          <a:xfrm>
            <a:off x="9918004" y="1999167"/>
            <a:ext cx="223774" cy="223774"/>
          </a:xfrm>
          <a:prstGeom prst="ellipse">
            <a:avLst/>
          </a:prstGeom>
          <a:solidFill>
            <a:schemeClr val="accent1">
              <a:lumMod val="20000"/>
              <a:lumOff val="80000"/>
            </a:schemeClr>
          </a:solid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A</a:t>
            </a:r>
            <a:endParaRPr lang="en-NL" sz="1200" dirty="0"/>
          </a:p>
        </p:txBody>
      </p:sp>
      <p:sp>
        <p:nvSpPr>
          <p:cNvPr id="5" name="Oval 4">
            <a:extLst>
              <a:ext uri="{FF2B5EF4-FFF2-40B4-BE49-F238E27FC236}">
                <a16:creationId xmlns:a16="http://schemas.microsoft.com/office/drawing/2014/main" id="{3F66A6D1-5AB6-8E37-FB32-647D1023C198}"/>
              </a:ext>
            </a:extLst>
          </p:cNvPr>
          <p:cNvSpPr/>
          <p:nvPr/>
        </p:nvSpPr>
        <p:spPr>
          <a:xfrm>
            <a:off x="9918004" y="2368620"/>
            <a:ext cx="223774" cy="223774"/>
          </a:xfrm>
          <a:prstGeom prst="ellipse">
            <a:avLst/>
          </a:prstGeom>
          <a:solidFill>
            <a:schemeClr val="accent1">
              <a:lumMod val="20000"/>
              <a:lumOff val="80000"/>
            </a:schemeClr>
          </a:solid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B</a:t>
            </a:r>
            <a:endParaRPr lang="en-NL" sz="1200" dirty="0"/>
          </a:p>
        </p:txBody>
      </p:sp>
      <p:sp>
        <p:nvSpPr>
          <p:cNvPr id="7" name="Oval 6">
            <a:extLst>
              <a:ext uri="{FF2B5EF4-FFF2-40B4-BE49-F238E27FC236}">
                <a16:creationId xmlns:a16="http://schemas.microsoft.com/office/drawing/2014/main" id="{1D20E783-14B9-50CB-29F5-F8420E776A03}"/>
              </a:ext>
            </a:extLst>
          </p:cNvPr>
          <p:cNvSpPr/>
          <p:nvPr/>
        </p:nvSpPr>
        <p:spPr>
          <a:xfrm>
            <a:off x="9918004" y="3374263"/>
            <a:ext cx="223774" cy="223774"/>
          </a:xfrm>
          <a:prstGeom prst="ellipse">
            <a:avLst/>
          </a:prstGeom>
          <a:solidFill>
            <a:schemeClr val="accent1">
              <a:lumMod val="20000"/>
              <a:lumOff val="80000"/>
            </a:schemeClr>
          </a:solid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D</a:t>
            </a:r>
            <a:endParaRPr lang="en-NL" sz="1200" dirty="0"/>
          </a:p>
        </p:txBody>
      </p:sp>
      <p:sp>
        <p:nvSpPr>
          <p:cNvPr id="11" name="Oval 10">
            <a:extLst>
              <a:ext uri="{FF2B5EF4-FFF2-40B4-BE49-F238E27FC236}">
                <a16:creationId xmlns:a16="http://schemas.microsoft.com/office/drawing/2014/main" id="{CDD9CD16-BB7F-15C6-ADE7-4AA4E0866C6E}"/>
              </a:ext>
            </a:extLst>
          </p:cNvPr>
          <p:cNvSpPr/>
          <p:nvPr/>
        </p:nvSpPr>
        <p:spPr>
          <a:xfrm>
            <a:off x="11370977" y="1999167"/>
            <a:ext cx="223774" cy="223774"/>
          </a:xfrm>
          <a:prstGeom prst="ellipse">
            <a:avLst/>
          </a:prstGeom>
          <a:solidFill>
            <a:schemeClr val="accent1"/>
          </a:solid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b="1" dirty="0">
                <a:solidFill>
                  <a:schemeClr val="bg1"/>
                </a:solidFill>
              </a:rPr>
              <a:t>C</a:t>
            </a:r>
            <a:endParaRPr lang="en-NL" sz="1200" b="1" dirty="0">
              <a:solidFill>
                <a:schemeClr val="bg1"/>
              </a:solidFill>
            </a:endParaRPr>
          </a:p>
        </p:txBody>
      </p:sp>
      <p:sp>
        <p:nvSpPr>
          <p:cNvPr id="12" name="Oval 11">
            <a:extLst>
              <a:ext uri="{FF2B5EF4-FFF2-40B4-BE49-F238E27FC236}">
                <a16:creationId xmlns:a16="http://schemas.microsoft.com/office/drawing/2014/main" id="{2E36E310-2B45-29E5-FF31-7168A51AC395}"/>
              </a:ext>
            </a:extLst>
          </p:cNvPr>
          <p:cNvSpPr/>
          <p:nvPr/>
        </p:nvSpPr>
        <p:spPr>
          <a:xfrm>
            <a:off x="11370977" y="3749621"/>
            <a:ext cx="223774" cy="223774"/>
          </a:xfrm>
          <a:prstGeom prst="ellipse">
            <a:avLst/>
          </a:prstGeom>
          <a:solidFill>
            <a:schemeClr val="accent6"/>
          </a:solidFill>
          <a:ln w="44450">
            <a:solidFill>
              <a:schemeClr val="accent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solidFill>
                  <a:schemeClr val="tx1"/>
                </a:solidFill>
              </a:rPr>
              <a:t>E</a:t>
            </a:r>
            <a:endParaRPr lang="en-NL" sz="1200" dirty="0">
              <a:solidFill>
                <a:schemeClr val="tx1"/>
              </a:solidFill>
            </a:endParaRPr>
          </a:p>
        </p:txBody>
      </p:sp>
      <p:sp>
        <p:nvSpPr>
          <p:cNvPr id="13" name="Oval 12">
            <a:extLst>
              <a:ext uri="{FF2B5EF4-FFF2-40B4-BE49-F238E27FC236}">
                <a16:creationId xmlns:a16="http://schemas.microsoft.com/office/drawing/2014/main" id="{DF1AE96D-6275-3B60-FE9D-61951E963E23}"/>
              </a:ext>
            </a:extLst>
          </p:cNvPr>
          <p:cNvSpPr/>
          <p:nvPr/>
        </p:nvSpPr>
        <p:spPr>
          <a:xfrm>
            <a:off x="11370977" y="4128044"/>
            <a:ext cx="223774" cy="223774"/>
          </a:xfrm>
          <a:prstGeom prst="ellipse">
            <a:avLst/>
          </a:prstGeom>
          <a:solidFill>
            <a:schemeClr val="accent6"/>
          </a:solidFill>
          <a:ln w="44450">
            <a:solidFill>
              <a:schemeClr val="accent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solidFill>
                  <a:schemeClr val="tx1"/>
                </a:solidFill>
              </a:rPr>
              <a:t>F</a:t>
            </a:r>
            <a:endParaRPr lang="en-NL" sz="1200" dirty="0">
              <a:solidFill>
                <a:schemeClr val="tx1"/>
              </a:solidFill>
            </a:endParaRPr>
          </a:p>
        </p:txBody>
      </p:sp>
      <p:sp>
        <p:nvSpPr>
          <p:cNvPr id="14" name="Oval 13">
            <a:extLst>
              <a:ext uri="{FF2B5EF4-FFF2-40B4-BE49-F238E27FC236}">
                <a16:creationId xmlns:a16="http://schemas.microsoft.com/office/drawing/2014/main" id="{6CCA7035-5316-1976-4BC8-FCE5A7364240}"/>
              </a:ext>
            </a:extLst>
          </p:cNvPr>
          <p:cNvSpPr/>
          <p:nvPr/>
        </p:nvSpPr>
        <p:spPr>
          <a:xfrm>
            <a:off x="9918004" y="5176418"/>
            <a:ext cx="223774" cy="223774"/>
          </a:xfrm>
          <a:prstGeom prst="ellipse">
            <a:avLst/>
          </a:prstGeom>
          <a:solidFill>
            <a:schemeClr val="accent4"/>
          </a:solidFill>
          <a:ln w="44450">
            <a:solidFill>
              <a:schemeClr val="accent4"/>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b="1" dirty="0">
                <a:solidFill>
                  <a:schemeClr val="bg1"/>
                </a:solidFill>
              </a:rPr>
              <a:t>H</a:t>
            </a:r>
            <a:endParaRPr lang="en-NL" sz="1200" b="1" dirty="0">
              <a:solidFill>
                <a:schemeClr val="bg1"/>
              </a:solidFill>
            </a:endParaRPr>
          </a:p>
        </p:txBody>
      </p:sp>
      <p:sp>
        <p:nvSpPr>
          <p:cNvPr id="17" name="Oval 16">
            <a:extLst>
              <a:ext uri="{FF2B5EF4-FFF2-40B4-BE49-F238E27FC236}">
                <a16:creationId xmlns:a16="http://schemas.microsoft.com/office/drawing/2014/main" id="{8AEA6C18-B3D0-E122-F3AD-3FEE36F0C156}"/>
              </a:ext>
            </a:extLst>
          </p:cNvPr>
          <p:cNvSpPr/>
          <p:nvPr/>
        </p:nvSpPr>
        <p:spPr>
          <a:xfrm>
            <a:off x="11370977" y="5176418"/>
            <a:ext cx="223774" cy="223774"/>
          </a:xfrm>
          <a:prstGeom prst="ellipse">
            <a:avLst/>
          </a:prstGeom>
          <a:solidFill>
            <a:schemeClr val="accent4">
              <a:lumMod val="20000"/>
              <a:lumOff val="80000"/>
            </a:schemeClr>
          </a:solidFill>
          <a:ln w="44450">
            <a:solidFill>
              <a:schemeClr val="accent4"/>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G</a:t>
            </a:r>
            <a:endParaRPr lang="en-NL" sz="1200" dirty="0"/>
          </a:p>
        </p:txBody>
      </p:sp>
      <p:sp>
        <p:nvSpPr>
          <p:cNvPr id="18" name="Oval 17">
            <a:extLst>
              <a:ext uri="{FF2B5EF4-FFF2-40B4-BE49-F238E27FC236}">
                <a16:creationId xmlns:a16="http://schemas.microsoft.com/office/drawing/2014/main" id="{8D643663-B8C3-E3DF-02E3-FEE15972D85A}"/>
              </a:ext>
            </a:extLst>
          </p:cNvPr>
          <p:cNvSpPr/>
          <p:nvPr/>
        </p:nvSpPr>
        <p:spPr>
          <a:xfrm>
            <a:off x="11370977" y="5519085"/>
            <a:ext cx="223774" cy="223774"/>
          </a:xfrm>
          <a:prstGeom prst="ellipse">
            <a:avLst/>
          </a:prstGeom>
          <a:solidFill>
            <a:schemeClr val="accent4">
              <a:lumMod val="20000"/>
              <a:lumOff val="80000"/>
            </a:schemeClr>
          </a:solidFill>
          <a:ln w="44450">
            <a:solidFill>
              <a:schemeClr val="accent4"/>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I</a:t>
            </a:r>
            <a:endParaRPr lang="en-NL" sz="1200" dirty="0"/>
          </a:p>
        </p:txBody>
      </p:sp>
      <p:sp>
        <p:nvSpPr>
          <p:cNvPr id="19" name="TextBox 18">
            <a:extLst>
              <a:ext uri="{FF2B5EF4-FFF2-40B4-BE49-F238E27FC236}">
                <a16:creationId xmlns:a16="http://schemas.microsoft.com/office/drawing/2014/main" id="{FD890DDE-7003-BCA4-1430-CE750F867107}"/>
              </a:ext>
            </a:extLst>
          </p:cNvPr>
          <p:cNvSpPr txBox="1"/>
          <p:nvPr/>
        </p:nvSpPr>
        <p:spPr>
          <a:xfrm>
            <a:off x="5437410" y="3539508"/>
            <a:ext cx="2838290" cy="338554"/>
          </a:xfrm>
          <a:prstGeom prst="rect">
            <a:avLst/>
          </a:prstGeom>
          <a:ln/>
        </p:spPr>
        <p:style>
          <a:lnRef idx="0">
            <a:schemeClr val="accent6"/>
          </a:lnRef>
          <a:fillRef idx="3">
            <a:schemeClr val="accent6"/>
          </a:fillRef>
          <a:effectRef idx="3">
            <a:schemeClr val="accent6"/>
          </a:effectRef>
          <a:fontRef idx="minor">
            <a:schemeClr val="lt1"/>
          </a:fontRef>
        </p:style>
        <p:txBody>
          <a:bodyPr wrap="square">
            <a:spAutoFit/>
          </a:bodyPr>
          <a:lstStyle/>
          <a:p>
            <a:r>
              <a:rPr lang="en-US" sz="1600" dirty="0">
                <a:solidFill>
                  <a:schemeClr val="bg2"/>
                </a:solidFill>
              </a:rPr>
              <a:t>From </a:t>
            </a:r>
            <a:r>
              <a:rPr lang="en-US" sz="1600" b="1" dirty="0">
                <a:solidFill>
                  <a:schemeClr val="bg2"/>
                </a:solidFill>
              </a:rPr>
              <a:t>Z</a:t>
            </a:r>
            <a:r>
              <a:rPr lang="en-US" sz="1600" dirty="0">
                <a:solidFill>
                  <a:schemeClr val="bg2"/>
                </a:solidFill>
              </a:rPr>
              <a:t> to </a:t>
            </a:r>
            <a:r>
              <a:rPr lang="en-US" sz="1600" b="1" dirty="0">
                <a:solidFill>
                  <a:schemeClr val="bg2"/>
                </a:solidFill>
              </a:rPr>
              <a:t>A</a:t>
            </a:r>
            <a:r>
              <a:rPr lang="en-US" sz="1600" dirty="0">
                <a:solidFill>
                  <a:schemeClr val="bg2"/>
                </a:solidFill>
              </a:rPr>
              <a:t>: N steps</a:t>
            </a:r>
            <a:endParaRPr lang="en-NL" sz="1600" dirty="0">
              <a:solidFill>
                <a:schemeClr val="bg2"/>
              </a:solidFill>
            </a:endParaRPr>
          </a:p>
        </p:txBody>
      </p:sp>
      <p:sp>
        <p:nvSpPr>
          <p:cNvPr id="21" name="TextBox 20">
            <a:extLst>
              <a:ext uri="{FF2B5EF4-FFF2-40B4-BE49-F238E27FC236}">
                <a16:creationId xmlns:a16="http://schemas.microsoft.com/office/drawing/2014/main" id="{8B3053C8-DFE5-73FC-CD70-22EB470CFAE1}"/>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3</a:t>
            </a:r>
            <a:endParaRPr lang="en-NL" sz="1000" b="1" dirty="0"/>
          </a:p>
        </p:txBody>
      </p:sp>
    </p:spTree>
    <p:extLst>
      <p:ext uri="{BB962C8B-B14F-4D97-AF65-F5344CB8AC3E}">
        <p14:creationId xmlns:p14="http://schemas.microsoft.com/office/powerpoint/2010/main" val="2268500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2"/>
                                        </p:tgtEl>
                                        <p:attrNameLst>
                                          <p:attrName>style.visibility</p:attrName>
                                        </p:attrNameLst>
                                      </p:cBhvr>
                                      <p:to>
                                        <p:strVal val="visible"/>
                                      </p:to>
                                    </p:set>
                                    <p:animEffect transition="in" filter="fade">
                                      <p:cBhvr>
                                        <p:cTn id="7" dur="500"/>
                                        <p:tgtEl>
                                          <p:spTgt spid="202"/>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03"/>
                                        </p:tgtEl>
                                        <p:attrNameLst>
                                          <p:attrName>style.visibility</p:attrName>
                                        </p:attrNameLst>
                                      </p:cBhvr>
                                      <p:to>
                                        <p:strVal val="visible"/>
                                      </p:to>
                                    </p:set>
                                    <p:animEffect transition="in" filter="fade">
                                      <p:cBhvr>
                                        <p:cTn id="11" dur="500"/>
                                        <p:tgtEl>
                                          <p:spTgt spid="20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09"/>
                                        </p:tgtEl>
                                        <p:attrNameLst>
                                          <p:attrName>style.visibility</p:attrName>
                                        </p:attrNameLst>
                                      </p:cBhvr>
                                      <p:to>
                                        <p:strVal val="visible"/>
                                      </p:to>
                                    </p:set>
                                    <p:animEffect transition="in" filter="fade">
                                      <p:cBhvr>
                                        <p:cTn id="14" dur="500"/>
                                        <p:tgtEl>
                                          <p:spTgt spid="209"/>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2" grpId="0" animBg="1"/>
      <p:bldP spid="209" grpId="0" animBg="1"/>
      <p:bldP spid="19"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98080-2366-AFF3-13C6-6F694E1F8658}"/>
            </a:ext>
          </a:extLst>
        </p:cNvPr>
        <p:cNvGrpSpPr/>
        <p:nvPr/>
      </p:nvGrpSpPr>
      <p:grpSpPr>
        <a:xfrm>
          <a:off x="0" y="0"/>
          <a:ext cx="0" cy="0"/>
          <a:chOff x="0" y="0"/>
          <a:chExt cx="0" cy="0"/>
        </a:xfrm>
      </p:grpSpPr>
      <p:sp>
        <p:nvSpPr>
          <p:cNvPr id="30" name="Rectangle 29">
            <a:extLst>
              <a:ext uri="{FF2B5EF4-FFF2-40B4-BE49-F238E27FC236}">
                <a16:creationId xmlns:a16="http://schemas.microsoft.com/office/drawing/2014/main" id="{C7F94462-0D35-8502-A84B-DA7B2762F696}"/>
              </a:ext>
            </a:extLst>
          </p:cNvPr>
          <p:cNvSpPr/>
          <p:nvPr/>
        </p:nvSpPr>
        <p:spPr>
          <a:xfrm>
            <a:off x="695325" y="2320417"/>
            <a:ext cx="10801348" cy="3633279"/>
          </a:xfrm>
          <a:prstGeom prst="rect">
            <a:avLst/>
          </a:prstGeom>
          <a:solidFill>
            <a:schemeClr val="bg1">
              <a:lumMod val="95000"/>
            </a:schemeClr>
          </a:solidFill>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NL" dirty="0"/>
          </a:p>
        </p:txBody>
      </p:sp>
      <p:sp>
        <p:nvSpPr>
          <p:cNvPr id="2" name="Title 1">
            <a:extLst>
              <a:ext uri="{FF2B5EF4-FFF2-40B4-BE49-F238E27FC236}">
                <a16:creationId xmlns:a16="http://schemas.microsoft.com/office/drawing/2014/main" id="{3C5ECB35-E5A4-BFFC-F523-83F8743BE355}"/>
              </a:ext>
            </a:extLst>
          </p:cNvPr>
          <p:cNvSpPr>
            <a:spLocks noGrp="1"/>
          </p:cNvSpPr>
          <p:nvPr>
            <p:ph type="title"/>
          </p:nvPr>
        </p:nvSpPr>
        <p:spPr/>
        <p:txBody>
          <a:bodyPr/>
          <a:lstStyle/>
          <a:p>
            <a:r>
              <a:rPr lang="en-US" sz="3600" dirty="0"/>
              <a:t>The Health-RI SSSOM Mapping Set (HRIM)</a:t>
            </a:r>
            <a:endParaRPr lang="en-NL" sz="3600" dirty="0"/>
          </a:p>
        </p:txBody>
      </p:sp>
      <p:sp>
        <p:nvSpPr>
          <p:cNvPr id="4" name="Slide Number Placeholder 3">
            <a:extLst>
              <a:ext uri="{FF2B5EF4-FFF2-40B4-BE49-F238E27FC236}">
                <a16:creationId xmlns:a16="http://schemas.microsoft.com/office/drawing/2014/main" id="{1B496E3E-F772-D947-19D3-A44F004A46A4}"/>
              </a:ext>
            </a:extLst>
          </p:cNvPr>
          <p:cNvSpPr>
            <a:spLocks noGrp="1"/>
          </p:cNvSpPr>
          <p:nvPr>
            <p:ph type="sldNum" sz="quarter" idx="12"/>
          </p:nvPr>
        </p:nvSpPr>
        <p:spPr/>
        <p:txBody>
          <a:bodyPr/>
          <a:lstStyle/>
          <a:p>
            <a:fld id="{4FAB73BC-B049-4115-A692-8D63A059BFB8}" type="slidenum">
              <a:rPr lang="en-US" smtClean="0"/>
              <a:pPr/>
              <a:t>27</a:t>
            </a:fld>
            <a:endParaRPr lang="en-US" dirty="0"/>
          </a:p>
        </p:txBody>
      </p:sp>
      <p:sp>
        <p:nvSpPr>
          <p:cNvPr id="31" name="Freeform: Shape 30">
            <a:extLst>
              <a:ext uri="{FF2B5EF4-FFF2-40B4-BE49-F238E27FC236}">
                <a16:creationId xmlns:a16="http://schemas.microsoft.com/office/drawing/2014/main" id="{E67CFE1C-05BE-29E0-54D8-416EE2A21965}"/>
              </a:ext>
            </a:extLst>
          </p:cNvPr>
          <p:cNvSpPr/>
          <p:nvPr/>
        </p:nvSpPr>
        <p:spPr>
          <a:xfrm>
            <a:off x="695325" y="1627628"/>
            <a:ext cx="10801349" cy="625636"/>
          </a:xfrm>
          <a:custGeom>
            <a:avLst/>
            <a:gdLst>
              <a:gd name="csX0" fmla="*/ 0 w 4438051"/>
              <a:gd name="csY0" fmla="*/ 0 h 647514"/>
              <a:gd name="csX1" fmla="*/ 4438051 w 4438051"/>
              <a:gd name="csY1" fmla="*/ 0 h 647514"/>
              <a:gd name="csX2" fmla="*/ 4438051 w 4438051"/>
              <a:gd name="csY2" fmla="*/ 647514 h 647514"/>
              <a:gd name="csX3" fmla="*/ 0 w 4438051"/>
              <a:gd name="csY3" fmla="*/ 647514 h 647514"/>
              <a:gd name="csX4" fmla="*/ 0 w 4438051"/>
              <a:gd name="csY4" fmla="*/ 0 h 647514"/>
            </a:gdLst>
            <a:ahLst/>
            <a:cxnLst>
              <a:cxn ang="0">
                <a:pos x="csX0" y="csY0"/>
              </a:cxn>
              <a:cxn ang="0">
                <a:pos x="csX1" y="csY1"/>
              </a:cxn>
              <a:cxn ang="0">
                <a:pos x="csX2" y="csY2"/>
              </a:cxn>
              <a:cxn ang="0">
                <a:pos x="csX3" y="csY3"/>
              </a:cxn>
              <a:cxn ang="0">
                <a:pos x="csX4" y="csY4"/>
              </a:cxn>
            </a:cxnLst>
            <a:rect l="l" t="t" r="r" b="b"/>
            <a:pathLst>
              <a:path w="4438051" h="647514">
                <a:moveTo>
                  <a:pt x="0" y="0"/>
                </a:moveTo>
                <a:lnTo>
                  <a:pt x="4438051" y="0"/>
                </a:lnTo>
                <a:lnTo>
                  <a:pt x="4438051" y="647514"/>
                </a:lnTo>
                <a:lnTo>
                  <a:pt x="0" y="647514"/>
                </a:lnTo>
                <a:lnTo>
                  <a:pt x="0" y="0"/>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2000" b="1" kern="1200" dirty="0">
                <a:solidFill>
                  <a:schemeClr val="accent1"/>
                </a:solidFill>
              </a:rPr>
              <a:t>The Health-RI Semantic Interoperability Initiative</a:t>
            </a:r>
            <a:endParaRPr lang="en-NL" sz="2000" b="1" kern="1200" dirty="0"/>
          </a:p>
        </p:txBody>
      </p:sp>
      <p:sp>
        <p:nvSpPr>
          <p:cNvPr id="5" name="Callout: Bent Line with Border and Accent Bar 4">
            <a:extLst>
              <a:ext uri="{FF2B5EF4-FFF2-40B4-BE49-F238E27FC236}">
                <a16:creationId xmlns:a16="http://schemas.microsoft.com/office/drawing/2014/main" id="{0808F82A-75CF-0C59-C412-8F56F02B504E}"/>
              </a:ext>
            </a:extLst>
          </p:cNvPr>
          <p:cNvSpPr/>
          <p:nvPr/>
        </p:nvSpPr>
        <p:spPr>
          <a:xfrm flipH="1">
            <a:off x="2390284" y="2613062"/>
            <a:ext cx="1884698" cy="1089388"/>
          </a:xfrm>
          <a:prstGeom prst="accentBorderCallout2">
            <a:avLst>
              <a:gd name="adj1" fmla="val 18750"/>
              <a:gd name="adj2" fmla="val -8333"/>
              <a:gd name="adj3" fmla="val 18750"/>
              <a:gd name="adj4" fmla="val -16667"/>
              <a:gd name="adj5" fmla="val 69622"/>
              <a:gd name="adj6" fmla="val -52586"/>
            </a:avLst>
          </a:prstGeom>
          <a:solidFill>
            <a:schemeClr val="bg1">
              <a:lumMod val="95000"/>
            </a:schemeClr>
          </a:solidFill>
          <a:ln w="19050">
            <a:solidFill>
              <a:schemeClr val="bg1">
                <a:lumMod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NL"/>
          </a:p>
        </p:txBody>
      </p:sp>
      <p:sp>
        <p:nvSpPr>
          <p:cNvPr id="6" name="Callout: Bent Line with Border and Accent Bar 5">
            <a:extLst>
              <a:ext uri="{FF2B5EF4-FFF2-40B4-BE49-F238E27FC236}">
                <a16:creationId xmlns:a16="http://schemas.microsoft.com/office/drawing/2014/main" id="{554B4DD9-3EA4-6D35-A297-FF85E11F133D}"/>
              </a:ext>
            </a:extLst>
          </p:cNvPr>
          <p:cNvSpPr/>
          <p:nvPr/>
        </p:nvSpPr>
        <p:spPr>
          <a:xfrm>
            <a:off x="7887488" y="4655497"/>
            <a:ext cx="1884699" cy="1089388"/>
          </a:xfrm>
          <a:prstGeom prst="accentBorderCallout2">
            <a:avLst>
              <a:gd name="adj1" fmla="val 84593"/>
              <a:gd name="adj2" fmla="val -7926"/>
              <a:gd name="adj3" fmla="val 84381"/>
              <a:gd name="adj4" fmla="val -21082"/>
              <a:gd name="adj5" fmla="val 32889"/>
              <a:gd name="adj6" fmla="val -54287"/>
            </a:avLst>
          </a:prstGeom>
          <a:solidFill>
            <a:schemeClr val="bg1">
              <a:lumMod val="95000"/>
            </a:schemeClr>
          </a:solidFill>
          <a:ln w="19050">
            <a:solidFill>
              <a:schemeClr val="bg1">
                <a:lumMod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NL"/>
          </a:p>
        </p:txBody>
      </p:sp>
      <p:sp>
        <p:nvSpPr>
          <p:cNvPr id="7" name="Callout: Bent Line with Border and Accent Bar 6">
            <a:extLst>
              <a:ext uri="{FF2B5EF4-FFF2-40B4-BE49-F238E27FC236}">
                <a16:creationId xmlns:a16="http://schemas.microsoft.com/office/drawing/2014/main" id="{64FBB4FE-F396-4BC8-0400-27FCA03A6C6F}"/>
              </a:ext>
            </a:extLst>
          </p:cNvPr>
          <p:cNvSpPr/>
          <p:nvPr/>
        </p:nvSpPr>
        <p:spPr>
          <a:xfrm>
            <a:off x="7887488" y="2617427"/>
            <a:ext cx="1884698" cy="1089388"/>
          </a:xfrm>
          <a:prstGeom prst="accentBorderCallout2">
            <a:avLst>
              <a:gd name="adj1" fmla="val 18750"/>
              <a:gd name="adj2" fmla="val -8333"/>
              <a:gd name="adj3" fmla="val 18750"/>
              <a:gd name="adj4" fmla="val -16667"/>
              <a:gd name="adj5" fmla="val 69622"/>
              <a:gd name="adj6" fmla="val -52586"/>
            </a:avLst>
          </a:prstGeom>
          <a:solidFill>
            <a:schemeClr val="bg1">
              <a:lumMod val="95000"/>
            </a:schemeClr>
          </a:solidFill>
          <a:ln w="19050">
            <a:solidFill>
              <a:schemeClr val="bg1">
                <a:lumMod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NL"/>
          </a:p>
        </p:txBody>
      </p:sp>
      <p:sp>
        <p:nvSpPr>
          <p:cNvPr id="9" name="Freeform: Shape 8">
            <a:extLst>
              <a:ext uri="{FF2B5EF4-FFF2-40B4-BE49-F238E27FC236}">
                <a16:creationId xmlns:a16="http://schemas.microsoft.com/office/drawing/2014/main" id="{9CAC72DF-C590-D43A-C602-5AAFDC2041CF}"/>
              </a:ext>
            </a:extLst>
          </p:cNvPr>
          <p:cNvSpPr/>
          <p:nvPr/>
        </p:nvSpPr>
        <p:spPr>
          <a:xfrm>
            <a:off x="4941618" y="2936040"/>
            <a:ext cx="2380471" cy="2380471"/>
          </a:xfrm>
          <a:custGeom>
            <a:avLst/>
            <a:gdLst>
              <a:gd name="connsiteX0" fmla="*/ 1920240 w 3840480"/>
              <a:gd name="connsiteY0" fmla="*/ 0 h 3840480"/>
              <a:gd name="connsiteX1" fmla="*/ 3583217 w 3840480"/>
              <a:gd name="connsiteY1" fmla="*/ 960120 h 3840480"/>
              <a:gd name="connsiteX2" fmla="*/ 3583217 w 3840480"/>
              <a:gd name="connsiteY2" fmla="*/ 2880360 h 3840480"/>
              <a:gd name="connsiteX3" fmla="*/ 1920240 w 3840480"/>
              <a:gd name="connsiteY3" fmla="*/ 1920240 h 3840480"/>
              <a:gd name="connsiteX4" fmla="*/ 1920240 w 3840480"/>
              <a:gd name="connsiteY4" fmla="*/ 0 h 3840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40480" h="3840480">
                <a:moveTo>
                  <a:pt x="1920240" y="0"/>
                </a:moveTo>
                <a:cubicBezTo>
                  <a:pt x="2606276" y="0"/>
                  <a:pt x="3240199" y="365996"/>
                  <a:pt x="3583217" y="960120"/>
                </a:cubicBezTo>
                <a:cubicBezTo>
                  <a:pt x="3926235" y="1554244"/>
                  <a:pt x="3926235" y="2286236"/>
                  <a:pt x="3583217" y="2880360"/>
                </a:cubicBezTo>
                <a:lnTo>
                  <a:pt x="1920240" y="1920240"/>
                </a:lnTo>
                <a:lnTo>
                  <a:pt x="1920240" y="0"/>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2054505" tIns="844296" rIns="475335" bIns="1914144" numCol="1" spcCol="1270" anchor="ctr" anchorCtr="0">
            <a:noAutofit/>
          </a:bodyPr>
          <a:lstStyle/>
          <a:p>
            <a:pPr marL="0" lvl="0" indent="0" algn="ctr" defTabSz="1066800">
              <a:lnSpc>
                <a:spcPct val="90000"/>
              </a:lnSpc>
              <a:spcBef>
                <a:spcPct val="0"/>
              </a:spcBef>
              <a:spcAft>
                <a:spcPct val="35000"/>
              </a:spcAft>
              <a:buNone/>
            </a:pPr>
            <a:endParaRPr lang="en-US" sz="2800" b="1" kern="1200" dirty="0">
              <a:latin typeface="Neue Haas Grotesk Text Pro Blac" panose="020B0504020202020204" pitchFamily="34" charset="0"/>
            </a:endParaRPr>
          </a:p>
        </p:txBody>
      </p:sp>
      <p:sp>
        <p:nvSpPr>
          <p:cNvPr id="10" name="Freeform: Shape 9">
            <a:extLst>
              <a:ext uri="{FF2B5EF4-FFF2-40B4-BE49-F238E27FC236}">
                <a16:creationId xmlns:a16="http://schemas.microsoft.com/office/drawing/2014/main" id="{16C9F30C-EF8F-48E6-CBB6-EA323A62B05F}"/>
              </a:ext>
            </a:extLst>
          </p:cNvPr>
          <p:cNvSpPr/>
          <p:nvPr/>
        </p:nvSpPr>
        <p:spPr>
          <a:xfrm>
            <a:off x="4895541" y="3015941"/>
            <a:ext cx="2380471" cy="2380471"/>
          </a:xfrm>
          <a:custGeom>
            <a:avLst/>
            <a:gdLst>
              <a:gd name="connsiteX0" fmla="*/ 3583217 w 3840480"/>
              <a:gd name="connsiteY0" fmla="*/ 2880360 h 3840480"/>
              <a:gd name="connsiteX1" fmla="*/ 1920240 w 3840480"/>
              <a:gd name="connsiteY1" fmla="*/ 3840480 h 3840480"/>
              <a:gd name="connsiteX2" fmla="*/ 257263 w 3840480"/>
              <a:gd name="connsiteY2" fmla="*/ 2880360 h 3840480"/>
              <a:gd name="connsiteX3" fmla="*/ 1920240 w 3840480"/>
              <a:gd name="connsiteY3" fmla="*/ 1920240 h 3840480"/>
              <a:gd name="connsiteX4" fmla="*/ 3583217 w 3840480"/>
              <a:gd name="connsiteY4" fmla="*/ 2880360 h 3840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40480" h="3840480">
                <a:moveTo>
                  <a:pt x="3583217" y="2880360"/>
                </a:moveTo>
                <a:cubicBezTo>
                  <a:pt x="3240199" y="3474484"/>
                  <a:pt x="2606276" y="3840480"/>
                  <a:pt x="1920240" y="3840480"/>
                </a:cubicBezTo>
                <a:cubicBezTo>
                  <a:pt x="1234204" y="3840480"/>
                  <a:pt x="600281" y="3474484"/>
                  <a:pt x="257263" y="2880360"/>
                </a:cubicBezTo>
                <a:lnTo>
                  <a:pt x="1920240" y="1920240"/>
                </a:lnTo>
                <a:lnTo>
                  <a:pt x="3583217" y="2880360"/>
                </a:lnTo>
                <a:close/>
              </a:path>
            </a:pathLst>
          </a:custGeom>
          <a:solidFill>
            <a:srgbClr val="00B0F0"/>
          </a:solidFill>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944880" tIns="2522221" rIns="899160" bIns="373379" numCol="1" spcCol="1270" anchor="t" anchorCtr="0">
            <a:noAutofit/>
          </a:bodyPr>
          <a:lstStyle/>
          <a:p>
            <a:pPr marL="0" lvl="0" indent="0" algn="ctr" defTabSz="1066800">
              <a:lnSpc>
                <a:spcPct val="90000"/>
              </a:lnSpc>
              <a:spcBef>
                <a:spcPct val="0"/>
              </a:spcBef>
              <a:spcAft>
                <a:spcPct val="35000"/>
              </a:spcAft>
              <a:buNone/>
            </a:pPr>
            <a:endParaRPr lang="en-NL" sz="2800" b="1" kern="1200" dirty="0">
              <a:latin typeface="Neue Haas Grotesk Text Pro Blac" panose="020B0504020202020204" pitchFamily="34" charset="0"/>
            </a:endParaRPr>
          </a:p>
        </p:txBody>
      </p:sp>
      <p:sp>
        <p:nvSpPr>
          <p:cNvPr id="11" name="Freeform: Shape 10">
            <a:extLst>
              <a:ext uri="{FF2B5EF4-FFF2-40B4-BE49-F238E27FC236}">
                <a16:creationId xmlns:a16="http://schemas.microsoft.com/office/drawing/2014/main" id="{521B417F-2C10-800F-A390-93C949947803}"/>
              </a:ext>
            </a:extLst>
          </p:cNvPr>
          <p:cNvSpPr/>
          <p:nvPr/>
        </p:nvSpPr>
        <p:spPr>
          <a:xfrm>
            <a:off x="4849464" y="2936040"/>
            <a:ext cx="2380471" cy="2380471"/>
          </a:xfrm>
          <a:custGeom>
            <a:avLst/>
            <a:gdLst>
              <a:gd name="connsiteX0" fmla="*/ 257263 w 3840480"/>
              <a:gd name="connsiteY0" fmla="*/ 2880360 h 3840480"/>
              <a:gd name="connsiteX1" fmla="*/ 257263 w 3840480"/>
              <a:gd name="connsiteY1" fmla="*/ 960120 h 3840480"/>
              <a:gd name="connsiteX2" fmla="*/ 1920240 w 3840480"/>
              <a:gd name="connsiteY2" fmla="*/ 0 h 3840480"/>
              <a:gd name="connsiteX3" fmla="*/ 1920240 w 3840480"/>
              <a:gd name="connsiteY3" fmla="*/ 1920240 h 3840480"/>
              <a:gd name="connsiteX4" fmla="*/ 257263 w 3840480"/>
              <a:gd name="connsiteY4" fmla="*/ 2880360 h 3840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40480" h="3840480">
                <a:moveTo>
                  <a:pt x="257263" y="2880360"/>
                </a:moveTo>
                <a:cubicBezTo>
                  <a:pt x="-85755" y="2286236"/>
                  <a:pt x="-85755" y="1554244"/>
                  <a:pt x="257263" y="960120"/>
                </a:cubicBezTo>
                <a:cubicBezTo>
                  <a:pt x="600281" y="365996"/>
                  <a:pt x="1234204" y="0"/>
                  <a:pt x="1920240" y="0"/>
                </a:cubicBezTo>
                <a:lnTo>
                  <a:pt x="1920240" y="1920240"/>
                </a:lnTo>
                <a:lnTo>
                  <a:pt x="257263" y="2880360"/>
                </a:lnTo>
                <a:close/>
              </a:path>
            </a:pathLst>
          </a:cu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475336" tIns="844296" rIns="2054504" bIns="1914144" numCol="1" spcCol="1270" anchor="ctr" anchorCtr="0">
            <a:noAutofit/>
          </a:bodyPr>
          <a:lstStyle/>
          <a:p>
            <a:pPr marL="0" lvl="0" indent="0" algn="ctr" defTabSz="1066800">
              <a:lnSpc>
                <a:spcPct val="90000"/>
              </a:lnSpc>
              <a:spcBef>
                <a:spcPct val="0"/>
              </a:spcBef>
              <a:spcAft>
                <a:spcPct val="35000"/>
              </a:spcAft>
              <a:buNone/>
            </a:pPr>
            <a:endParaRPr lang="en-NL" sz="2400" kern="1200" dirty="0"/>
          </a:p>
        </p:txBody>
      </p:sp>
      <p:sp>
        <p:nvSpPr>
          <p:cNvPr id="12" name="Arrow: Circular 11">
            <a:extLst>
              <a:ext uri="{FF2B5EF4-FFF2-40B4-BE49-F238E27FC236}">
                <a16:creationId xmlns:a16="http://schemas.microsoft.com/office/drawing/2014/main" id="{5ECD7464-8319-8A5F-A92D-21424E4F3529}"/>
              </a:ext>
            </a:extLst>
          </p:cNvPr>
          <p:cNvSpPr/>
          <p:nvPr/>
        </p:nvSpPr>
        <p:spPr>
          <a:xfrm>
            <a:off x="4789899" y="2793218"/>
            <a:ext cx="2675196" cy="2675196"/>
          </a:xfrm>
          <a:prstGeom prst="circularArrow">
            <a:avLst>
              <a:gd name="adj1" fmla="val 5085"/>
              <a:gd name="adj2" fmla="val 327528"/>
              <a:gd name="adj3" fmla="val 1472472"/>
              <a:gd name="adj4" fmla="val 16199432"/>
              <a:gd name="adj5" fmla="val 5932"/>
            </a:avLst>
          </a:prstGeom>
          <a:solidFill>
            <a:schemeClr val="accent2">
              <a:lumMod val="50000"/>
            </a:schemeClr>
          </a:solidFill>
        </p:spPr>
        <p:style>
          <a:lnRef idx="0">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hueOff val="0"/>
              <a:satOff val="0"/>
              <a:lumOff val="0"/>
              <a:alphaOff val="0"/>
            </a:schemeClr>
          </a:fontRef>
        </p:style>
        <p:txBody>
          <a:bodyPr/>
          <a:lstStyle/>
          <a:p>
            <a:endParaRPr lang="en-NL"/>
          </a:p>
        </p:txBody>
      </p:sp>
      <p:sp>
        <p:nvSpPr>
          <p:cNvPr id="13" name="Arrow: Circular 12">
            <a:extLst>
              <a:ext uri="{FF2B5EF4-FFF2-40B4-BE49-F238E27FC236}">
                <a16:creationId xmlns:a16="http://schemas.microsoft.com/office/drawing/2014/main" id="{0B9B7D48-3CF7-7303-50A1-BA37E4535972}"/>
              </a:ext>
            </a:extLst>
          </p:cNvPr>
          <p:cNvSpPr/>
          <p:nvPr/>
        </p:nvSpPr>
        <p:spPr>
          <a:xfrm>
            <a:off x="4743638" y="2872979"/>
            <a:ext cx="2675196" cy="2675196"/>
          </a:xfrm>
          <a:prstGeom prst="circularArrow">
            <a:avLst>
              <a:gd name="adj1" fmla="val 5085"/>
              <a:gd name="adj2" fmla="val 327528"/>
              <a:gd name="adj3" fmla="val 8671970"/>
              <a:gd name="adj4" fmla="val 1800502"/>
              <a:gd name="adj5" fmla="val 5932"/>
            </a:avLst>
          </a:prstGeom>
          <a:solidFill>
            <a:srgbClr val="0070C0"/>
          </a:solidFill>
        </p:spPr>
        <p:style>
          <a:lnRef idx="0">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hueOff val="0"/>
              <a:satOff val="0"/>
              <a:lumOff val="0"/>
              <a:alphaOff val="0"/>
            </a:schemeClr>
          </a:fontRef>
        </p:style>
        <p:txBody>
          <a:bodyPr/>
          <a:lstStyle/>
          <a:p>
            <a:endParaRPr lang="en-NL"/>
          </a:p>
        </p:txBody>
      </p:sp>
      <p:sp>
        <p:nvSpPr>
          <p:cNvPr id="14" name="Arrow: Circular 13">
            <a:extLst>
              <a:ext uri="{FF2B5EF4-FFF2-40B4-BE49-F238E27FC236}">
                <a16:creationId xmlns:a16="http://schemas.microsoft.com/office/drawing/2014/main" id="{69B56034-928A-292B-86A8-62467E8292FD}"/>
              </a:ext>
            </a:extLst>
          </p:cNvPr>
          <p:cNvSpPr/>
          <p:nvPr/>
        </p:nvSpPr>
        <p:spPr>
          <a:xfrm>
            <a:off x="4697376" y="2793218"/>
            <a:ext cx="2675196" cy="2675196"/>
          </a:xfrm>
          <a:prstGeom prst="circularArrow">
            <a:avLst>
              <a:gd name="adj1" fmla="val 5085"/>
              <a:gd name="adj2" fmla="val 327528"/>
              <a:gd name="adj3" fmla="val 15873039"/>
              <a:gd name="adj4" fmla="val 9000000"/>
              <a:gd name="adj5" fmla="val 5932"/>
            </a:avLst>
          </a:prstGeom>
          <a:solidFill>
            <a:schemeClr val="accent4">
              <a:lumMod val="50000"/>
            </a:schemeClr>
          </a:solidFill>
          <a:ln w="38100">
            <a:noFill/>
            <a:prstDash val="solid"/>
          </a:ln>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hueOff val="0"/>
              <a:satOff val="0"/>
              <a:lumOff val="0"/>
              <a:alphaOff val="0"/>
            </a:schemeClr>
          </a:fontRef>
        </p:style>
        <p:txBody>
          <a:bodyPr/>
          <a:lstStyle/>
          <a:p>
            <a:endParaRPr lang="en-NL"/>
          </a:p>
        </p:txBody>
      </p:sp>
      <p:pic>
        <p:nvPicPr>
          <p:cNvPr id="15" name="Picture 2" descr="Logo vertical | OntoUML Community Portal">
            <a:extLst>
              <a:ext uri="{FF2B5EF4-FFF2-40B4-BE49-F238E27FC236}">
                <a16:creationId xmlns:a16="http://schemas.microsoft.com/office/drawing/2014/main" id="{5D5B4DD8-1180-823D-61B1-BDB27C75E6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70367" y="2833440"/>
            <a:ext cx="1718941" cy="657360"/>
          </a:xfrm>
          <a:prstGeom prst="rect">
            <a:avLst/>
          </a:prstGeom>
          <a:noFill/>
          <a:extLst>
            <a:ext uri="{909E8E84-426E-40DD-AFC4-6F175D3DCCD1}">
              <a14:hiddenFill xmlns:a14="http://schemas.microsoft.com/office/drawing/2010/main">
                <a:solidFill>
                  <a:srgbClr val="FFFFFF"/>
                </a:solidFill>
              </a14:hiddenFill>
            </a:ext>
          </a:extLst>
        </p:spPr>
      </p:pic>
      <p:grpSp>
        <p:nvGrpSpPr>
          <p:cNvPr id="16" name="Group 15">
            <a:extLst>
              <a:ext uri="{FF2B5EF4-FFF2-40B4-BE49-F238E27FC236}">
                <a16:creationId xmlns:a16="http://schemas.microsoft.com/office/drawing/2014/main" id="{6CCF28C5-9E2A-C02C-1CC3-B69D8FC474CC}"/>
              </a:ext>
            </a:extLst>
          </p:cNvPr>
          <p:cNvGrpSpPr/>
          <p:nvPr/>
        </p:nvGrpSpPr>
        <p:grpSpPr>
          <a:xfrm>
            <a:off x="8107224" y="4789911"/>
            <a:ext cx="1445229" cy="820560"/>
            <a:chOff x="6119493" y="4341725"/>
            <a:chExt cx="2393775" cy="1359120"/>
          </a:xfrm>
        </p:grpSpPr>
        <p:pic>
          <p:nvPicPr>
            <p:cNvPr id="17" name="Picture 12" descr="What is the Semantic Web? - Jean Delahousse">
              <a:extLst>
                <a:ext uri="{FF2B5EF4-FFF2-40B4-BE49-F238E27FC236}">
                  <a16:creationId xmlns:a16="http://schemas.microsoft.com/office/drawing/2014/main" id="{69316ABE-D80E-0A06-3A95-902C0C09A5C7}"/>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119493" y="4434598"/>
              <a:ext cx="1168843" cy="1266247"/>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4" descr="What is the Semantic Web? - Jean Delahousse">
              <a:extLst>
                <a:ext uri="{FF2B5EF4-FFF2-40B4-BE49-F238E27FC236}">
                  <a16:creationId xmlns:a16="http://schemas.microsoft.com/office/drawing/2014/main" id="{B8EB1F78-1F31-1B73-42A3-E91D5E921C87}"/>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344425" y="4341725"/>
              <a:ext cx="1168843" cy="1359120"/>
            </a:xfrm>
            <a:prstGeom prst="rect">
              <a:avLst/>
            </a:prstGeom>
            <a:noFill/>
            <a:extLst>
              <a:ext uri="{909E8E84-426E-40DD-AFC4-6F175D3DCCD1}">
                <a14:hiddenFill xmlns:a14="http://schemas.microsoft.com/office/drawing/2010/main">
                  <a:solidFill>
                    <a:srgbClr val="FFFFFF"/>
                  </a:solidFill>
                </a14:hiddenFill>
              </a:ext>
            </a:extLst>
          </p:spPr>
        </p:pic>
      </p:grpSp>
      <p:pic>
        <p:nvPicPr>
          <p:cNvPr id="19" name="Picture 2" descr="GitHub - mapping-commons/sssom: Simple Standard for Sharing Ontology  Mappings">
            <a:extLst>
              <a:ext uri="{FF2B5EF4-FFF2-40B4-BE49-F238E27FC236}">
                <a16:creationId xmlns:a16="http://schemas.microsoft.com/office/drawing/2014/main" id="{F5286962-8930-7FA4-781F-E982D43973C4}"/>
              </a:ext>
            </a:extLst>
          </p:cNvPr>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276707" y="2718885"/>
            <a:ext cx="2111854" cy="877740"/>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CE943D18-5B75-261B-1EFD-97337C9C6A39}"/>
              </a:ext>
            </a:extLst>
          </p:cNvPr>
          <p:cNvSpPr txBox="1"/>
          <p:nvPr/>
        </p:nvSpPr>
        <p:spPr>
          <a:xfrm>
            <a:off x="5468718" y="4500304"/>
            <a:ext cx="1239827" cy="553998"/>
          </a:xfrm>
          <a:prstGeom prst="rect">
            <a:avLst/>
          </a:prstGeom>
          <a:noFill/>
        </p:spPr>
        <p:txBody>
          <a:bodyPr wrap="none" rtlCol="0">
            <a:spAutoFit/>
          </a:bodyPr>
          <a:lstStyle/>
          <a:p>
            <a:pPr algn="ctr"/>
            <a:r>
              <a:rPr lang="en-US" b="1" dirty="0">
                <a:solidFill>
                  <a:schemeClr val="bg1"/>
                </a:solidFill>
                <a:latin typeface="Neue Haas Grotesk Text Pro Blac" panose="020B0504020202020204" pitchFamily="34" charset="0"/>
              </a:rPr>
              <a:t>HRIO</a:t>
            </a:r>
          </a:p>
          <a:p>
            <a:pPr algn="ctr"/>
            <a:r>
              <a:rPr lang="en-US" sz="1200" b="1" dirty="0">
                <a:solidFill>
                  <a:schemeClr val="bg1"/>
                </a:solidFill>
              </a:rPr>
              <a:t>Computational</a:t>
            </a:r>
            <a:endParaRPr lang="en-NL" sz="1200" b="1" dirty="0">
              <a:solidFill>
                <a:schemeClr val="bg1"/>
              </a:solidFill>
            </a:endParaRPr>
          </a:p>
        </p:txBody>
      </p:sp>
      <p:sp>
        <p:nvSpPr>
          <p:cNvPr id="21" name="TextBox 20">
            <a:extLst>
              <a:ext uri="{FF2B5EF4-FFF2-40B4-BE49-F238E27FC236}">
                <a16:creationId xmlns:a16="http://schemas.microsoft.com/office/drawing/2014/main" id="{DBB1F845-7792-4B99-1D25-10B7FFD99E8F}"/>
              </a:ext>
            </a:extLst>
          </p:cNvPr>
          <p:cNvSpPr txBox="1"/>
          <p:nvPr/>
        </p:nvSpPr>
        <p:spPr>
          <a:xfrm>
            <a:off x="6146123" y="3505364"/>
            <a:ext cx="1005404" cy="553998"/>
          </a:xfrm>
          <a:prstGeom prst="rect">
            <a:avLst/>
          </a:prstGeom>
          <a:noFill/>
        </p:spPr>
        <p:txBody>
          <a:bodyPr wrap="none" rtlCol="0">
            <a:spAutoFit/>
          </a:bodyPr>
          <a:lstStyle/>
          <a:p>
            <a:pPr algn="ctr"/>
            <a:r>
              <a:rPr lang="en-US" b="1" dirty="0">
                <a:solidFill>
                  <a:schemeClr val="bg1"/>
                </a:solidFill>
                <a:latin typeface="Neue Haas Grotesk Text Pro Blac" panose="020B0504020202020204" pitchFamily="34" charset="0"/>
              </a:rPr>
              <a:t>HRIO</a:t>
            </a:r>
          </a:p>
          <a:p>
            <a:pPr algn="ctr"/>
            <a:r>
              <a:rPr lang="en-US" sz="1200" b="1" dirty="0">
                <a:solidFill>
                  <a:schemeClr val="bg1"/>
                </a:solidFill>
              </a:rPr>
              <a:t>Conceptual</a:t>
            </a:r>
            <a:endParaRPr lang="en-NL" sz="1200" b="1" dirty="0">
              <a:solidFill>
                <a:schemeClr val="bg1"/>
              </a:solidFill>
            </a:endParaRPr>
          </a:p>
        </p:txBody>
      </p:sp>
      <p:sp>
        <p:nvSpPr>
          <p:cNvPr id="22" name="TextBox 21">
            <a:extLst>
              <a:ext uri="{FF2B5EF4-FFF2-40B4-BE49-F238E27FC236}">
                <a16:creationId xmlns:a16="http://schemas.microsoft.com/office/drawing/2014/main" id="{0AA05F1B-6F4D-FADF-7B47-376F5388F600}"/>
              </a:ext>
            </a:extLst>
          </p:cNvPr>
          <p:cNvSpPr txBox="1"/>
          <p:nvPr/>
        </p:nvSpPr>
        <p:spPr>
          <a:xfrm>
            <a:off x="4968721" y="3505364"/>
            <a:ext cx="1048684" cy="553998"/>
          </a:xfrm>
          <a:prstGeom prst="rect">
            <a:avLst/>
          </a:prstGeom>
          <a:noFill/>
        </p:spPr>
        <p:txBody>
          <a:bodyPr wrap="none" rtlCol="0">
            <a:spAutoFit/>
          </a:bodyPr>
          <a:lstStyle/>
          <a:p>
            <a:pPr algn="ctr"/>
            <a:r>
              <a:rPr lang="en-US" b="1" dirty="0">
                <a:solidFill>
                  <a:schemeClr val="bg1"/>
                </a:solidFill>
                <a:latin typeface="Neue Haas Grotesk Text Pro Blac" panose="020B0504020202020204" pitchFamily="34" charset="0"/>
              </a:rPr>
              <a:t>HRIM</a:t>
            </a:r>
          </a:p>
          <a:p>
            <a:pPr algn="ctr"/>
            <a:r>
              <a:rPr lang="en-US" sz="1200" b="1" dirty="0">
                <a:solidFill>
                  <a:schemeClr val="bg1"/>
                </a:solidFill>
              </a:rPr>
              <a:t>Mapping Set</a:t>
            </a:r>
            <a:endParaRPr lang="en-NL" sz="1200" b="1" dirty="0">
              <a:solidFill>
                <a:schemeClr val="bg1"/>
              </a:solidFill>
            </a:endParaRPr>
          </a:p>
        </p:txBody>
      </p:sp>
      <p:grpSp>
        <p:nvGrpSpPr>
          <p:cNvPr id="8" name="Group 7">
            <a:extLst>
              <a:ext uri="{FF2B5EF4-FFF2-40B4-BE49-F238E27FC236}">
                <a16:creationId xmlns:a16="http://schemas.microsoft.com/office/drawing/2014/main" id="{80DB5062-FB77-AC46-B4E1-A1FBE9622B36}"/>
              </a:ext>
            </a:extLst>
          </p:cNvPr>
          <p:cNvGrpSpPr/>
          <p:nvPr/>
        </p:nvGrpSpPr>
        <p:grpSpPr>
          <a:xfrm>
            <a:off x="802062" y="4661339"/>
            <a:ext cx="4186747" cy="1224496"/>
            <a:chOff x="1170435" y="3751324"/>
            <a:chExt cx="4186747" cy="1224496"/>
          </a:xfrm>
        </p:grpSpPr>
        <p:sp>
          <p:nvSpPr>
            <p:cNvPr id="26" name="TextBox 25">
              <a:extLst>
                <a:ext uri="{FF2B5EF4-FFF2-40B4-BE49-F238E27FC236}">
                  <a16:creationId xmlns:a16="http://schemas.microsoft.com/office/drawing/2014/main" id="{5596AB1D-FB54-DE06-80C5-079A5DD8DFD4}"/>
                </a:ext>
              </a:extLst>
            </p:cNvPr>
            <p:cNvSpPr txBox="1"/>
            <p:nvPr/>
          </p:nvSpPr>
          <p:spPr>
            <a:xfrm>
              <a:off x="2346806" y="3973037"/>
              <a:ext cx="3010376" cy="830997"/>
            </a:xfrm>
            <a:prstGeom prst="rect">
              <a:avLst/>
            </a:prstGeom>
            <a:noFill/>
          </p:spPr>
          <p:txBody>
            <a:bodyPr wrap="none" rtlCol="0">
              <a:spAutoFit/>
            </a:bodyPr>
            <a:lstStyle/>
            <a:p>
              <a:r>
                <a:rPr lang="en-US" sz="1600" dirty="0">
                  <a:solidFill>
                    <a:srgbClr val="00B050"/>
                  </a:solidFill>
                </a:rPr>
                <a:t>Semantic mappings move reuse</a:t>
              </a:r>
            </a:p>
            <a:p>
              <a:r>
                <a:rPr lang="en-US" sz="1600" dirty="0">
                  <a:solidFill>
                    <a:srgbClr val="00B050"/>
                  </a:solidFill>
                </a:rPr>
                <a:t>from fragile pairwise mappings</a:t>
              </a:r>
            </a:p>
            <a:p>
              <a:r>
                <a:rPr lang="en-US" sz="1600" dirty="0">
                  <a:solidFill>
                    <a:srgbClr val="00B050"/>
                  </a:solidFill>
                </a:rPr>
                <a:t>to a hub-and-spoke model.</a:t>
              </a:r>
            </a:p>
          </p:txBody>
        </p:sp>
        <p:grpSp>
          <p:nvGrpSpPr>
            <p:cNvPr id="27" name="Group 26">
              <a:extLst>
                <a:ext uri="{FF2B5EF4-FFF2-40B4-BE49-F238E27FC236}">
                  <a16:creationId xmlns:a16="http://schemas.microsoft.com/office/drawing/2014/main" id="{48657752-0788-58DD-8AA5-8ED41C45D829}"/>
                </a:ext>
              </a:extLst>
            </p:cNvPr>
            <p:cNvGrpSpPr/>
            <p:nvPr/>
          </p:nvGrpSpPr>
          <p:grpSpPr>
            <a:xfrm>
              <a:off x="1170435" y="3751324"/>
              <a:ext cx="1224496" cy="1224496"/>
              <a:chOff x="1170435" y="3751324"/>
              <a:chExt cx="1224496" cy="1224496"/>
            </a:xfrm>
          </p:grpSpPr>
          <p:pic>
            <p:nvPicPr>
              <p:cNvPr id="35" name="Graphic 34" descr="Excellent with solid fill">
                <a:extLst>
                  <a:ext uri="{FF2B5EF4-FFF2-40B4-BE49-F238E27FC236}">
                    <a16:creationId xmlns:a16="http://schemas.microsoft.com/office/drawing/2014/main" id="{24250152-AF3D-88C7-698D-091721CB08B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70435" y="3751324"/>
                <a:ext cx="1224496" cy="1224496"/>
              </a:xfrm>
              <a:prstGeom prst="rect">
                <a:avLst/>
              </a:prstGeom>
            </p:spPr>
          </p:pic>
          <p:sp>
            <p:nvSpPr>
              <p:cNvPr id="39" name="TextBox 38">
                <a:extLst>
                  <a:ext uri="{FF2B5EF4-FFF2-40B4-BE49-F238E27FC236}">
                    <a16:creationId xmlns:a16="http://schemas.microsoft.com/office/drawing/2014/main" id="{AFFF3A90-7574-E7B3-5B6B-12CCB0475098}"/>
                  </a:ext>
                </a:extLst>
              </p:cNvPr>
              <p:cNvSpPr txBox="1"/>
              <p:nvPr/>
            </p:nvSpPr>
            <p:spPr>
              <a:xfrm>
                <a:off x="1607795" y="4132740"/>
                <a:ext cx="349776" cy="461665"/>
              </a:xfrm>
              <a:prstGeom prst="rect">
                <a:avLst/>
              </a:prstGeom>
              <a:noFill/>
            </p:spPr>
            <p:txBody>
              <a:bodyPr wrap="none" rtlCol="0">
                <a:spAutoFit/>
              </a:bodyPr>
              <a:lstStyle/>
              <a:p>
                <a:r>
                  <a:rPr lang="en-US" sz="2400" b="1" dirty="0">
                    <a:solidFill>
                      <a:schemeClr val="bg1"/>
                    </a:solidFill>
                  </a:rPr>
                  <a:t>3</a:t>
                </a:r>
                <a:endParaRPr lang="en-NL" sz="2400" b="1" dirty="0">
                  <a:solidFill>
                    <a:schemeClr val="bg1"/>
                  </a:solidFill>
                </a:endParaRPr>
              </a:p>
            </p:txBody>
          </p:sp>
        </p:grpSp>
      </p:grpSp>
      <p:sp>
        <p:nvSpPr>
          <p:cNvPr id="24" name="Rectangle 23">
            <a:extLst>
              <a:ext uri="{FF2B5EF4-FFF2-40B4-BE49-F238E27FC236}">
                <a16:creationId xmlns:a16="http://schemas.microsoft.com/office/drawing/2014/main" id="{3D3C6131-9F96-C5AD-3DDF-155486C550B7}"/>
              </a:ext>
            </a:extLst>
          </p:cNvPr>
          <p:cNvSpPr/>
          <p:nvPr/>
        </p:nvSpPr>
        <p:spPr>
          <a:xfrm>
            <a:off x="2109437" y="2404703"/>
            <a:ext cx="4298350" cy="2422428"/>
          </a:xfrm>
          <a:custGeom>
            <a:avLst/>
            <a:gdLst>
              <a:gd name="csX0" fmla="*/ 0 w 3981455"/>
              <a:gd name="csY0" fmla="*/ 0 h 2339153"/>
              <a:gd name="csX1" fmla="*/ 3981455 w 3981455"/>
              <a:gd name="csY1" fmla="*/ 0 h 2339153"/>
              <a:gd name="csX2" fmla="*/ 3981455 w 3981455"/>
              <a:gd name="csY2" fmla="*/ 2339153 h 2339153"/>
              <a:gd name="csX3" fmla="*/ 0 w 3981455"/>
              <a:gd name="csY3" fmla="*/ 2339153 h 2339153"/>
              <a:gd name="csX4" fmla="*/ 0 w 3981455"/>
              <a:gd name="csY4" fmla="*/ 0 h 2339153"/>
              <a:gd name="csX0" fmla="*/ 0 w 3981455"/>
              <a:gd name="csY0" fmla="*/ 0 h 2339153"/>
              <a:gd name="csX1" fmla="*/ 3981455 w 3981455"/>
              <a:gd name="csY1" fmla="*/ 0 h 2339153"/>
              <a:gd name="csX2" fmla="*/ 3479011 w 3981455"/>
              <a:gd name="csY2" fmla="*/ 2001015 h 2339153"/>
              <a:gd name="csX3" fmla="*/ 0 w 3981455"/>
              <a:gd name="csY3" fmla="*/ 2339153 h 2339153"/>
              <a:gd name="csX4" fmla="*/ 0 w 3981455"/>
              <a:gd name="csY4" fmla="*/ 0 h 2339153"/>
              <a:gd name="csX0" fmla="*/ 0 w 3981455"/>
              <a:gd name="csY0" fmla="*/ 0 h 2339153"/>
              <a:gd name="csX1" fmla="*/ 3981455 w 3981455"/>
              <a:gd name="csY1" fmla="*/ 0 h 2339153"/>
              <a:gd name="csX2" fmla="*/ 3479011 w 3981455"/>
              <a:gd name="csY2" fmla="*/ 2001015 h 2339153"/>
              <a:gd name="csX3" fmla="*/ 0 w 3981455"/>
              <a:gd name="csY3" fmla="*/ 2339153 h 2339153"/>
              <a:gd name="csX4" fmla="*/ 0 w 3981455"/>
              <a:gd name="csY4" fmla="*/ 0 h 2339153"/>
              <a:gd name="csX0" fmla="*/ 0 w 3981455"/>
              <a:gd name="csY0" fmla="*/ 0 h 2339153"/>
              <a:gd name="csX1" fmla="*/ 3981455 w 3981455"/>
              <a:gd name="csY1" fmla="*/ 0 h 2339153"/>
              <a:gd name="csX2" fmla="*/ 3479011 w 3981455"/>
              <a:gd name="csY2" fmla="*/ 2001015 h 2339153"/>
              <a:gd name="csX3" fmla="*/ 0 w 3981455"/>
              <a:gd name="csY3" fmla="*/ 2339153 h 2339153"/>
              <a:gd name="csX4" fmla="*/ 0 w 3981455"/>
              <a:gd name="csY4" fmla="*/ 0 h 2339153"/>
              <a:gd name="csX0" fmla="*/ 0 w 3981455"/>
              <a:gd name="csY0" fmla="*/ 0 h 2359367"/>
              <a:gd name="csX1" fmla="*/ 3981455 w 3981455"/>
              <a:gd name="csY1" fmla="*/ 0 h 2359367"/>
              <a:gd name="csX2" fmla="*/ 3479011 w 3981455"/>
              <a:gd name="csY2" fmla="*/ 2001015 h 2359367"/>
              <a:gd name="csX3" fmla="*/ 2783686 w 3981455"/>
              <a:gd name="csY3" fmla="*/ 2359367 h 2359367"/>
              <a:gd name="csX4" fmla="*/ 0 w 3981455"/>
              <a:gd name="csY4" fmla="*/ 2339153 h 2359367"/>
              <a:gd name="csX5" fmla="*/ 0 w 3981455"/>
              <a:gd name="csY5" fmla="*/ 0 h 2359367"/>
              <a:gd name="csX0" fmla="*/ 0 w 4274275"/>
              <a:gd name="csY0" fmla="*/ 0 h 2359367"/>
              <a:gd name="csX1" fmla="*/ 3981455 w 4274275"/>
              <a:gd name="csY1" fmla="*/ 0 h 2359367"/>
              <a:gd name="csX2" fmla="*/ 3926686 w 4274275"/>
              <a:gd name="csY2" fmla="*/ 1683092 h 2359367"/>
              <a:gd name="csX3" fmla="*/ 3479011 w 4274275"/>
              <a:gd name="csY3" fmla="*/ 2001015 h 2359367"/>
              <a:gd name="csX4" fmla="*/ 2783686 w 4274275"/>
              <a:gd name="csY4" fmla="*/ 2359367 h 2359367"/>
              <a:gd name="csX5" fmla="*/ 0 w 4274275"/>
              <a:gd name="csY5" fmla="*/ 2339153 h 2359367"/>
              <a:gd name="csX6" fmla="*/ 0 w 4274275"/>
              <a:gd name="csY6" fmla="*/ 0 h 2359367"/>
              <a:gd name="csX0" fmla="*/ 0 w 4298867"/>
              <a:gd name="csY0" fmla="*/ 0 h 2359367"/>
              <a:gd name="csX1" fmla="*/ 3981455 w 4298867"/>
              <a:gd name="csY1" fmla="*/ 0 h 2359367"/>
              <a:gd name="csX2" fmla="*/ 3976693 w 4298867"/>
              <a:gd name="csY2" fmla="*/ 504373 h 2359367"/>
              <a:gd name="csX3" fmla="*/ 3926686 w 4298867"/>
              <a:gd name="csY3" fmla="*/ 1683092 h 2359367"/>
              <a:gd name="csX4" fmla="*/ 3479011 w 4298867"/>
              <a:gd name="csY4" fmla="*/ 2001015 h 2359367"/>
              <a:gd name="csX5" fmla="*/ 2783686 w 4298867"/>
              <a:gd name="csY5" fmla="*/ 2359367 h 2359367"/>
              <a:gd name="csX6" fmla="*/ 0 w 4298867"/>
              <a:gd name="csY6" fmla="*/ 2339153 h 2359367"/>
              <a:gd name="csX7" fmla="*/ 0 w 4298867"/>
              <a:gd name="csY7" fmla="*/ 0 h 2359367"/>
              <a:gd name="csX0" fmla="*/ 0 w 4301430"/>
              <a:gd name="csY0" fmla="*/ 0 h 2359367"/>
              <a:gd name="csX1" fmla="*/ 3981455 w 4301430"/>
              <a:gd name="csY1" fmla="*/ 0 h 2359367"/>
              <a:gd name="csX2" fmla="*/ 3986218 w 4301430"/>
              <a:gd name="csY2" fmla="*/ 97180 h 2359367"/>
              <a:gd name="csX3" fmla="*/ 3976693 w 4301430"/>
              <a:gd name="csY3" fmla="*/ 504373 h 2359367"/>
              <a:gd name="csX4" fmla="*/ 3926686 w 4301430"/>
              <a:gd name="csY4" fmla="*/ 1683092 h 2359367"/>
              <a:gd name="csX5" fmla="*/ 3479011 w 4301430"/>
              <a:gd name="csY5" fmla="*/ 2001015 h 2359367"/>
              <a:gd name="csX6" fmla="*/ 2783686 w 4301430"/>
              <a:gd name="csY6" fmla="*/ 2359367 h 2359367"/>
              <a:gd name="csX7" fmla="*/ 0 w 4301430"/>
              <a:gd name="csY7" fmla="*/ 2339153 h 2359367"/>
              <a:gd name="csX8" fmla="*/ 0 w 4301430"/>
              <a:gd name="csY8" fmla="*/ 0 h 2359367"/>
              <a:gd name="csX0" fmla="*/ 0 w 4298350"/>
              <a:gd name="csY0" fmla="*/ 821 h 2360188"/>
              <a:gd name="csX1" fmla="*/ 3981455 w 4298350"/>
              <a:gd name="csY1" fmla="*/ 821 h 2360188"/>
              <a:gd name="csX2" fmla="*/ 3974310 w 4298350"/>
              <a:gd name="csY2" fmla="*/ 9894 h 2360188"/>
              <a:gd name="csX3" fmla="*/ 3986218 w 4298350"/>
              <a:gd name="csY3" fmla="*/ 98001 h 2360188"/>
              <a:gd name="csX4" fmla="*/ 3976693 w 4298350"/>
              <a:gd name="csY4" fmla="*/ 505194 h 2360188"/>
              <a:gd name="csX5" fmla="*/ 3926686 w 4298350"/>
              <a:gd name="csY5" fmla="*/ 1683913 h 2360188"/>
              <a:gd name="csX6" fmla="*/ 3479011 w 4298350"/>
              <a:gd name="csY6" fmla="*/ 2001836 h 2360188"/>
              <a:gd name="csX7" fmla="*/ 2783686 w 4298350"/>
              <a:gd name="csY7" fmla="*/ 2360188 h 2360188"/>
              <a:gd name="csX8" fmla="*/ 0 w 4298350"/>
              <a:gd name="csY8" fmla="*/ 2339974 h 2360188"/>
              <a:gd name="csX9" fmla="*/ 0 w 4298350"/>
              <a:gd name="csY9" fmla="*/ 821 h 23601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4298350" h="2360188">
                <a:moveTo>
                  <a:pt x="0" y="821"/>
                </a:moveTo>
                <a:lnTo>
                  <a:pt x="3981455" y="821"/>
                </a:lnTo>
                <a:cubicBezTo>
                  <a:pt x="4699006" y="2730"/>
                  <a:pt x="3973516" y="-6303"/>
                  <a:pt x="3974310" y="9894"/>
                </a:cubicBezTo>
                <a:cubicBezTo>
                  <a:pt x="3975104" y="26091"/>
                  <a:pt x="4040986" y="15848"/>
                  <a:pt x="3986218" y="98001"/>
                </a:cubicBezTo>
                <a:cubicBezTo>
                  <a:pt x="3931450" y="180154"/>
                  <a:pt x="4039002" y="242463"/>
                  <a:pt x="3976693" y="505194"/>
                </a:cubicBezTo>
                <a:cubicBezTo>
                  <a:pt x="3914384" y="767925"/>
                  <a:pt x="4059242" y="1438441"/>
                  <a:pt x="3926686" y="1683913"/>
                </a:cubicBezTo>
                <a:cubicBezTo>
                  <a:pt x="3794130" y="1929385"/>
                  <a:pt x="3663955" y="1883170"/>
                  <a:pt x="3479011" y="2001836"/>
                </a:cubicBezTo>
                <a:cubicBezTo>
                  <a:pt x="3241680" y="2023655"/>
                  <a:pt x="3021017" y="2338369"/>
                  <a:pt x="2783686" y="2360188"/>
                </a:cubicBezTo>
                <a:lnTo>
                  <a:pt x="0" y="2339974"/>
                </a:lnTo>
                <a:lnTo>
                  <a:pt x="0" y="821"/>
                </a:lnTo>
                <a:close/>
              </a:path>
            </a:pathLst>
          </a:custGeom>
          <a:solidFill>
            <a:srgbClr val="F2F2F2">
              <a:alpha val="9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p>
        </p:txBody>
      </p:sp>
      <p:sp>
        <p:nvSpPr>
          <p:cNvPr id="3" name="TextBox 2">
            <a:extLst>
              <a:ext uri="{FF2B5EF4-FFF2-40B4-BE49-F238E27FC236}">
                <a16:creationId xmlns:a16="http://schemas.microsoft.com/office/drawing/2014/main" id="{7A50F099-2F2A-2833-0F7F-9EC6115705B7}"/>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3</a:t>
            </a:r>
            <a:endParaRPr lang="en-NL" sz="1000" b="1" dirty="0"/>
          </a:p>
        </p:txBody>
      </p:sp>
    </p:spTree>
    <p:extLst>
      <p:ext uri="{BB962C8B-B14F-4D97-AF65-F5344CB8AC3E}">
        <p14:creationId xmlns:p14="http://schemas.microsoft.com/office/powerpoint/2010/main" val="2311654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xit" presetSubtype="0" fill="hold" grpId="0" nodeType="withEffect">
                                  <p:stCondLst>
                                    <p:cond delay="0"/>
                                  </p:stCondLst>
                                  <p:childTnLst>
                                    <p:animEffect transition="out" filter="fade">
                                      <p:cBhvr>
                                        <p:cTn id="6" dur="1000"/>
                                        <p:tgtEl>
                                          <p:spTgt spid="24"/>
                                        </p:tgtEl>
                                      </p:cBhvr>
                                    </p:animEffect>
                                    <p:set>
                                      <p:cBhvr>
                                        <p:cTn id="7" dur="1" fill="hold">
                                          <p:stCondLst>
                                            <p:cond delay="999"/>
                                          </p:stCondLst>
                                        </p:cTn>
                                        <p:tgtEl>
                                          <p:spTgt spid="24"/>
                                        </p:tgtEl>
                                        <p:attrNameLst>
                                          <p:attrName>style.visibility</p:attrName>
                                        </p:attrNameLst>
                                      </p:cBhvr>
                                      <p:to>
                                        <p:strVal val="hidden"/>
                                      </p:to>
                                    </p:se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544896-AA4F-54F7-07D5-E6B3A98CCD29}"/>
            </a:ext>
          </a:extLst>
        </p:cNvPr>
        <p:cNvGrpSpPr/>
        <p:nvPr/>
      </p:nvGrpSpPr>
      <p:grpSpPr>
        <a:xfrm>
          <a:off x="0" y="0"/>
          <a:ext cx="0" cy="0"/>
          <a:chOff x="0" y="0"/>
          <a:chExt cx="0" cy="0"/>
        </a:xfrm>
      </p:grpSpPr>
      <p:cxnSp>
        <p:nvCxnSpPr>
          <p:cNvPr id="29" name="Straight Connector 28">
            <a:extLst>
              <a:ext uri="{FF2B5EF4-FFF2-40B4-BE49-F238E27FC236}">
                <a16:creationId xmlns:a16="http://schemas.microsoft.com/office/drawing/2014/main" id="{2DD58F5C-3709-D555-213C-7F1D5064350D}"/>
              </a:ext>
            </a:extLst>
          </p:cNvPr>
          <p:cNvCxnSpPr>
            <a:cxnSpLocks/>
          </p:cNvCxnSpPr>
          <p:nvPr/>
        </p:nvCxnSpPr>
        <p:spPr>
          <a:xfrm>
            <a:off x="1917106" y="3291840"/>
            <a:ext cx="0" cy="582990"/>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129F2487-155A-2009-0956-C5B943E8BEDF}"/>
              </a:ext>
            </a:extLst>
          </p:cNvPr>
          <p:cNvSpPr>
            <a:spLocks noGrp="1"/>
          </p:cNvSpPr>
          <p:nvPr>
            <p:ph type="title"/>
          </p:nvPr>
        </p:nvSpPr>
        <p:spPr>
          <a:xfrm>
            <a:off x="695327" y="386001"/>
            <a:ext cx="9686408" cy="929259"/>
          </a:xfrm>
        </p:spPr>
        <p:txBody>
          <a:bodyPr/>
          <a:lstStyle/>
          <a:p>
            <a:r>
              <a:rPr lang="en-US" sz="3600" dirty="0"/>
              <a:t>Meaning-Based Mappings Shorten Reuse Paths</a:t>
            </a:r>
            <a:endParaRPr lang="en-NL" sz="3600" dirty="0"/>
          </a:p>
        </p:txBody>
      </p:sp>
      <p:sp>
        <p:nvSpPr>
          <p:cNvPr id="4" name="Slide Number Placeholder 3">
            <a:extLst>
              <a:ext uri="{FF2B5EF4-FFF2-40B4-BE49-F238E27FC236}">
                <a16:creationId xmlns:a16="http://schemas.microsoft.com/office/drawing/2014/main" id="{76BB98FA-8958-BDA9-5360-70052AB650DB}"/>
              </a:ext>
            </a:extLst>
          </p:cNvPr>
          <p:cNvSpPr>
            <a:spLocks noGrp="1"/>
          </p:cNvSpPr>
          <p:nvPr>
            <p:ph type="sldNum" sz="quarter" idx="12"/>
          </p:nvPr>
        </p:nvSpPr>
        <p:spPr/>
        <p:txBody>
          <a:bodyPr/>
          <a:lstStyle/>
          <a:p>
            <a:fld id="{4FAB73BC-B049-4115-A692-8D63A059BFB8}" type="slidenum">
              <a:rPr lang="en-US" smtClean="0"/>
              <a:pPr/>
              <a:t>28</a:t>
            </a:fld>
            <a:endParaRPr lang="en-US" dirty="0"/>
          </a:p>
        </p:txBody>
      </p:sp>
      <p:sp>
        <p:nvSpPr>
          <p:cNvPr id="6" name="Parallelogram 5">
            <a:extLst>
              <a:ext uri="{FF2B5EF4-FFF2-40B4-BE49-F238E27FC236}">
                <a16:creationId xmlns:a16="http://schemas.microsoft.com/office/drawing/2014/main" id="{58AC9542-817F-1896-839E-338F963D2C0D}"/>
              </a:ext>
            </a:extLst>
          </p:cNvPr>
          <p:cNvSpPr/>
          <p:nvPr/>
        </p:nvSpPr>
        <p:spPr>
          <a:xfrm>
            <a:off x="704336" y="3874830"/>
            <a:ext cx="7570850" cy="2066431"/>
          </a:xfrm>
          <a:prstGeom prst="parallelogram">
            <a:avLst>
              <a:gd name="adj" fmla="val 59202"/>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10" name="TextBox 9">
            <a:extLst>
              <a:ext uri="{FF2B5EF4-FFF2-40B4-BE49-F238E27FC236}">
                <a16:creationId xmlns:a16="http://schemas.microsoft.com/office/drawing/2014/main" id="{824644DE-0D36-0D6A-3B96-812F2DD072BF}"/>
              </a:ext>
            </a:extLst>
          </p:cNvPr>
          <p:cNvSpPr txBox="1"/>
          <p:nvPr/>
        </p:nvSpPr>
        <p:spPr>
          <a:xfrm rot="18000000">
            <a:off x="297276" y="4449116"/>
            <a:ext cx="2053199" cy="307777"/>
          </a:xfrm>
          <a:prstGeom prst="rect">
            <a:avLst/>
          </a:prstGeom>
          <a:noFill/>
        </p:spPr>
        <p:txBody>
          <a:bodyPr wrap="squar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5" name="Parallelogram 4">
            <a:extLst>
              <a:ext uri="{FF2B5EF4-FFF2-40B4-BE49-F238E27FC236}">
                <a16:creationId xmlns:a16="http://schemas.microsoft.com/office/drawing/2014/main" id="{1266E690-E297-56FF-5AAC-5C3D44A82736}"/>
              </a:ext>
            </a:extLst>
          </p:cNvPr>
          <p:cNvSpPr/>
          <p:nvPr/>
        </p:nvSpPr>
        <p:spPr>
          <a:xfrm>
            <a:off x="704336" y="1646413"/>
            <a:ext cx="7570850" cy="2066431"/>
          </a:xfrm>
          <a:prstGeom prst="parallelogram">
            <a:avLst>
              <a:gd name="adj" fmla="val 59202"/>
            </a:avLst>
          </a:prstGeom>
          <a:solidFill>
            <a:schemeClr val="accent1">
              <a:lumMod val="20000"/>
              <a:lumOff val="80000"/>
              <a:alpha val="9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p>
        </p:txBody>
      </p:sp>
      <p:cxnSp>
        <p:nvCxnSpPr>
          <p:cNvPr id="7" name="Straight Connector 6">
            <a:extLst>
              <a:ext uri="{FF2B5EF4-FFF2-40B4-BE49-F238E27FC236}">
                <a16:creationId xmlns:a16="http://schemas.microsoft.com/office/drawing/2014/main" id="{7F9EEC1E-EC80-0A1B-EAD5-C835D9D17302}"/>
              </a:ext>
            </a:extLst>
          </p:cNvPr>
          <p:cNvCxnSpPr>
            <a:cxnSpLocks/>
          </p:cNvCxnSpPr>
          <p:nvPr/>
        </p:nvCxnSpPr>
        <p:spPr>
          <a:xfrm>
            <a:off x="8275186" y="1646413"/>
            <a:ext cx="515" cy="2218892"/>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2062DE54-12CD-1540-5BD1-5B6D03E16D83}"/>
              </a:ext>
            </a:extLst>
          </p:cNvPr>
          <p:cNvSpPr txBox="1"/>
          <p:nvPr/>
        </p:nvSpPr>
        <p:spPr>
          <a:xfrm rot="18000000">
            <a:off x="205835" y="2525740"/>
            <a:ext cx="2053199" cy="307777"/>
          </a:xfrm>
          <a:prstGeom prst="rect">
            <a:avLst/>
          </a:prstGeom>
          <a:noFill/>
        </p:spPr>
        <p:txBody>
          <a:bodyPr wrap="square" rtlCol="0">
            <a:spAutoFit/>
          </a:bodyPr>
          <a:lstStyle>
            <a:defPPr>
              <a:defRPr lang="en-NL"/>
            </a:defPPr>
            <a:lvl1pPr>
              <a:defRPr>
                <a:latin typeface="Atkinson Hyperlegible" pitchFamily="2" charset="0"/>
              </a:defRPr>
            </a:lvl1pPr>
          </a:lstStyle>
          <a:p>
            <a:pPr algn="ctr"/>
            <a:r>
              <a:rPr lang="en-US" sz="1400" dirty="0">
                <a:solidFill>
                  <a:schemeClr val="accent1"/>
                </a:solidFill>
              </a:rPr>
              <a:t>Meanings</a:t>
            </a:r>
            <a:endParaRPr lang="en-NL" sz="1400" dirty="0">
              <a:solidFill>
                <a:schemeClr val="accent1"/>
              </a:solidFill>
            </a:endParaRPr>
          </a:p>
        </p:txBody>
      </p:sp>
      <p:cxnSp>
        <p:nvCxnSpPr>
          <p:cNvPr id="18" name="Straight Connector 17">
            <a:extLst>
              <a:ext uri="{FF2B5EF4-FFF2-40B4-BE49-F238E27FC236}">
                <a16:creationId xmlns:a16="http://schemas.microsoft.com/office/drawing/2014/main" id="{2294FB75-4D39-2FF0-BB54-7253DC4360D1}"/>
              </a:ext>
            </a:extLst>
          </p:cNvPr>
          <p:cNvCxnSpPr>
            <a:cxnSpLocks/>
          </p:cNvCxnSpPr>
          <p:nvPr/>
        </p:nvCxnSpPr>
        <p:spPr>
          <a:xfrm>
            <a:off x="7048500" y="3712844"/>
            <a:ext cx="0" cy="2228417"/>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FF323FC5-5E75-FC46-B3FD-95ADEDB4C67C}"/>
              </a:ext>
            </a:extLst>
          </p:cNvPr>
          <p:cNvCxnSpPr>
            <a:cxnSpLocks/>
          </p:cNvCxnSpPr>
          <p:nvPr/>
        </p:nvCxnSpPr>
        <p:spPr>
          <a:xfrm>
            <a:off x="704336" y="3721576"/>
            <a:ext cx="0" cy="2228417"/>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32" name="Oval 31">
            <a:extLst>
              <a:ext uri="{FF2B5EF4-FFF2-40B4-BE49-F238E27FC236}">
                <a16:creationId xmlns:a16="http://schemas.microsoft.com/office/drawing/2014/main" id="{51F1299C-8229-FD24-28A4-4C77A2D31D4F}"/>
              </a:ext>
            </a:extLst>
          </p:cNvPr>
          <p:cNvSpPr/>
          <p:nvPr/>
        </p:nvSpPr>
        <p:spPr>
          <a:xfrm>
            <a:off x="6211590" y="2499628"/>
            <a:ext cx="360000" cy="360000"/>
          </a:xfrm>
          <a:prstGeom prst="ellipse">
            <a:avLst/>
          </a:prstGeom>
          <a:solidFill>
            <a:schemeClr val="accent4"/>
          </a:solidFill>
          <a:ln w="44450">
            <a:solidFill>
              <a:schemeClr val="accent4"/>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solidFill>
                  <a:schemeClr val="bg1"/>
                </a:solidFill>
              </a:rPr>
              <a:t>Y</a:t>
            </a:r>
            <a:endParaRPr lang="en-NL" b="1" dirty="0">
              <a:solidFill>
                <a:schemeClr val="bg1"/>
              </a:solidFill>
            </a:endParaRPr>
          </a:p>
        </p:txBody>
      </p:sp>
      <p:sp>
        <p:nvSpPr>
          <p:cNvPr id="33" name="Oval 32">
            <a:extLst>
              <a:ext uri="{FF2B5EF4-FFF2-40B4-BE49-F238E27FC236}">
                <a16:creationId xmlns:a16="http://schemas.microsoft.com/office/drawing/2014/main" id="{199F655E-7947-AAC1-E114-F4D7D3B2ADC4}"/>
              </a:ext>
            </a:extLst>
          </p:cNvPr>
          <p:cNvSpPr/>
          <p:nvPr/>
        </p:nvSpPr>
        <p:spPr>
          <a:xfrm>
            <a:off x="3114865" y="2499628"/>
            <a:ext cx="360000" cy="360000"/>
          </a:xfrm>
          <a:prstGeom prst="ellipse">
            <a:avLst/>
          </a:prstGeom>
          <a:solidFill>
            <a:schemeClr val="accent1"/>
          </a:solid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solidFill>
                  <a:schemeClr val="bg1"/>
                </a:solidFill>
              </a:rPr>
              <a:t>X</a:t>
            </a:r>
            <a:endParaRPr lang="en-NL" b="1" dirty="0">
              <a:solidFill>
                <a:schemeClr val="bg1"/>
              </a:solidFill>
            </a:endParaRPr>
          </a:p>
        </p:txBody>
      </p:sp>
      <p:cxnSp>
        <p:nvCxnSpPr>
          <p:cNvPr id="152" name="Connector: Curved 151">
            <a:extLst>
              <a:ext uri="{FF2B5EF4-FFF2-40B4-BE49-F238E27FC236}">
                <a16:creationId xmlns:a16="http://schemas.microsoft.com/office/drawing/2014/main" id="{8B706728-E684-24F9-3B8F-61514BCCE93F}"/>
              </a:ext>
            </a:extLst>
          </p:cNvPr>
          <p:cNvCxnSpPr>
            <a:cxnSpLocks/>
            <a:stCxn id="33" idx="4"/>
          </p:cNvCxnSpPr>
          <p:nvPr/>
        </p:nvCxnSpPr>
        <p:spPr>
          <a:xfrm rot="5400000">
            <a:off x="2289194" y="3245557"/>
            <a:ext cx="1391601" cy="619742"/>
          </a:xfrm>
          <a:prstGeom prst="curvedConnector2">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3" name="Connector: Curved 152">
            <a:extLst>
              <a:ext uri="{FF2B5EF4-FFF2-40B4-BE49-F238E27FC236}">
                <a16:creationId xmlns:a16="http://schemas.microsoft.com/office/drawing/2014/main" id="{05874F88-E664-20DC-839C-BF817F80FCED}"/>
              </a:ext>
            </a:extLst>
          </p:cNvPr>
          <p:cNvCxnSpPr>
            <a:cxnSpLocks/>
            <a:stCxn id="33" idx="4"/>
          </p:cNvCxnSpPr>
          <p:nvPr/>
        </p:nvCxnSpPr>
        <p:spPr>
          <a:xfrm rot="16200000" flipH="1">
            <a:off x="2239029" y="3915464"/>
            <a:ext cx="2703231" cy="591558"/>
          </a:xfrm>
          <a:prstGeom prst="curvedConnector2">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65" name="Connector: Curved 164">
            <a:extLst>
              <a:ext uri="{FF2B5EF4-FFF2-40B4-BE49-F238E27FC236}">
                <a16:creationId xmlns:a16="http://schemas.microsoft.com/office/drawing/2014/main" id="{334A2901-2A82-F4F5-D5E4-5C96B40BB9DF}"/>
              </a:ext>
            </a:extLst>
          </p:cNvPr>
          <p:cNvCxnSpPr>
            <a:cxnSpLocks/>
            <a:stCxn id="33" idx="4"/>
          </p:cNvCxnSpPr>
          <p:nvPr/>
        </p:nvCxnSpPr>
        <p:spPr>
          <a:xfrm rot="16200000" flipH="1">
            <a:off x="2894844" y="3259649"/>
            <a:ext cx="1391601" cy="591558"/>
          </a:xfrm>
          <a:prstGeom prst="curvedConnector2">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3" name="Connector: Curved 172">
            <a:extLst>
              <a:ext uri="{FF2B5EF4-FFF2-40B4-BE49-F238E27FC236}">
                <a16:creationId xmlns:a16="http://schemas.microsoft.com/office/drawing/2014/main" id="{6A3B9840-999E-B2BC-355C-7AB1827B4256}"/>
              </a:ext>
            </a:extLst>
          </p:cNvPr>
          <p:cNvCxnSpPr>
            <a:cxnSpLocks/>
            <a:stCxn id="33" idx="4"/>
          </p:cNvCxnSpPr>
          <p:nvPr/>
        </p:nvCxnSpPr>
        <p:spPr>
          <a:xfrm rot="5400000">
            <a:off x="1633379" y="3901372"/>
            <a:ext cx="2703231" cy="619742"/>
          </a:xfrm>
          <a:prstGeom prst="curvedConnector2">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80" name="Straight Arrow Connector 179">
            <a:extLst>
              <a:ext uri="{FF2B5EF4-FFF2-40B4-BE49-F238E27FC236}">
                <a16:creationId xmlns:a16="http://schemas.microsoft.com/office/drawing/2014/main" id="{14808991-B08C-04C2-1BB5-B419524E9A69}"/>
              </a:ext>
            </a:extLst>
          </p:cNvPr>
          <p:cNvCxnSpPr>
            <a:cxnSpLocks/>
            <a:stCxn id="33" idx="4"/>
          </p:cNvCxnSpPr>
          <p:nvPr/>
        </p:nvCxnSpPr>
        <p:spPr>
          <a:xfrm>
            <a:off x="3294865" y="2859628"/>
            <a:ext cx="0" cy="1868417"/>
          </a:xfrm>
          <a:prstGeom prst="straightConnector1">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81" name="Oval 180">
            <a:extLst>
              <a:ext uri="{FF2B5EF4-FFF2-40B4-BE49-F238E27FC236}">
                <a16:creationId xmlns:a16="http://schemas.microsoft.com/office/drawing/2014/main" id="{2DE969CD-B274-E5EA-2D14-4193C9ACD1FD}"/>
              </a:ext>
            </a:extLst>
          </p:cNvPr>
          <p:cNvSpPr/>
          <p:nvPr/>
        </p:nvSpPr>
        <p:spPr>
          <a:xfrm>
            <a:off x="6211591" y="4749743"/>
            <a:ext cx="360000" cy="360000"/>
          </a:xfrm>
          <a:prstGeom prst="ellipse">
            <a:avLst/>
          </a:prstGeom>
          <a:solidFill>
            <a:schemeClr val="accent4"/>
          </a:solidFill>
          <a:ln w="44450">
            <a:solidFill>
              <a:schemeClr val="accent4"/>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solidFill>
                  <a:schemeClr val="bg1"/>
                </a:solidFill>
              </a:rPr>
              <a:t>H</a:t>
            </a:r>
            <a:endParaRPr lang="en-NL" b="1" dirty="0">
              <a:solidFill>
                <a:schemeClr val="bg1"/>
              </a:solidFill>
            </a:endParaRPr>
          </a:p>
        </p:txBody>
      </p:sp>
      <p:sp>
        <p:nvSpPr>
          <p:cNvPr id="182" name="Oval 181">
            <a:extLst>
              <a:ext uri="{FF2B5EF4-FFF2-40B4-BE49-F238E27FC236}">
                <a16:creationId xmlns:a16="http://schemas.microsoft.com/office/drawing/2014/main" id="{6B290E01-2340-2D4B-782F-510EFDF2C62A}"/>
              </a:ext>
            </a:extLst>
          </p:cNvPr>
          <p:cNvSpPr/>
          <p:nvPr/>
        </p:nvSpPr>
        <p:spPr>
          <a:xfrm>
            <a:off x="3114866" y="4728045"/>
            <a:ext cx="360000" cy="360000"/>
          </a:xfrm>
          <a:prstGeom prst="ellipse">
            <a:avLst/>
          </a:prstGeom>
          <a:solidFill>
            <a:schemeClr val="accent1"/>
          </a:solid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solidFill>
                  <a:schemeClr val="bg1"/>
                </a:solidFill>
              </a:rPr>
              <a:t>C</a:t>
            </a:r>
            <a:endParaRPr lang="en-NL" b="1" dirty="0">
              <a:solidFill>
                <a:schemeClr val="bg1"/>
              </a:solidFill>
            </a:endParaRPr>
          </a:p>
        </p:txBody>
      </p:sp>
      <p:sp>
        <p:nvSpPr>
          <p:cNvPr id="183" name="Oval 182">
            <a:extLst>
              <a:ext uri="{FF2B5EF4-FFF2-40B4-BE49-F238E27FC236}">
                <a16:creationId xmlns:a16="http://schemas.microsoft.com/office/drawing/2014/main" id="{FFDC9460-83B8-88FB-0BD3-05ACC9952E02}"/>
              </a:ext>
            </a:extLst>
          </p:cNvPr>
          <p:cNvSpPr/>
          <p:nvPr/>
        </p:nvSpPr>
        <p:spPr>
          <a:xfrm>
            <a:off x="2315123" y="5382859"/>
            <a:ext cx="360000" cy="360000"/>
          </a:xfrm>
          <a:prstGeom prst="ellipse">
            <a:avLst/>
          </a:prstGeom>
          <a:solidFill>
            <a:schemeClr val="accent1">
              <a:lumMod val="20000"/>
              <a:lumOff val="80000"/>
            </a:schemeClr>
          </a:solid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B</a:t>
            </a:r>
            <a:endParaRPr lang="en-NL" dirty="0"/>
          </a:p>
        </p:txBody>
      </p:sp>
      <p:sp>
        <p:nvSpPr>
          <p:cNvPr id="184" name="Oval 183">
            <a:extLst>
              <a:ext uri="{FF2B5EF4-FFF2-40B4-BE49-F238E27FC236}">
                <a16:creationId xmlns:a16="http://schemas.microsoft.com/office/drawing/2014/main" id="{73C2851E-120D-CDB6-2F6A-5F12E01EC274}"/>
              </a:ext>
            </a:extLst>
          </p:cNvPr>
          <p:cNvSpPr/>
          <p:nvPr/>
        </p:nvSpPr>
        <p:spPr>
          <a:xfrm>
            <a:off x="3886423" y="5382859"/>
            <a:ext cx="360000" cy="360000"/>
          </a:xfrm>
          <a:prstGeom prst="ellipse">
            <a:avLst/>
          </a:prstGeom>
          <a:solidFill>
            <a:schemeClr val="accent1">
              <a:lumMod val="20000"/>
              <a:lumOff val="80000"/>
            </a:schemeClr>
          </a:solid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D</a:t>
            </a:r>
            <a:endParaRPr lang="en-NL" dirty="0"/>
          </a:p>
        </p:txBody>
      </p:sp>
      <p:sp>
        <p:nvSpPr>
          <p:cNvPr id="185" name="Oval 184">
            <a:extLst>
              <a:ext uri="{FF2B5EF4-FFF2-40B4-BE49-F238E27FC236}">
                <a16:creationId xmlns:a16="http://schemas.microsoft.com/office/drawing/2014/main" id="{7AEC86F1-1137-19AC-84AD-E15A2E4B1BB3}"/>
              </a:ext>
            </a:extLst>
          </p:cNvPr>
          <p:cNvSpPr/>
          <p:nvPr/>
        </p:nvSpPr>
        <p:spPr>
          <a:xfrm>
            <a:off x="5437410" y="5382859"/>
            <a:ext cx="360000" cy="360000"/>
          </a:xfrm>
          <a:prstGeom prst="ellipse">
            <a:avLst/>
          </a:prstGeom>
          <a:solidFill>
            <a:schemeClr val="accent4">
              <a:lumMod val="20000"/>
              <a:lumOff val="80000"/>
            </a:schemeClr>
          </a:solidFill>
          <a:ln w="44450">
            <a:solidFill>
              <a:schemeClr val="accent4"/>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G</a:t>
            </a:r>
            <a:endParaRPr lang="en-NL" dirty="0"/>
          </a:p>
        </p:txBody>
      </p:sp>
      <p:sp>
        <p:nvSpPr>
          <p:cNvPr id="186" name="Oval 185">
            <a:extLst>
              <a:ext uri="{FF2B5EF4-FFF2-40B4-BE49-F238E27FC236}">
                <a16:creationId xmlns:a16="http://schemas.microsoft.com/office/drawing/2014/main" id="{1E887EAB-AE50-BD0A-C6F9-A402F3322040}"/>
              </a:ext>
            </a:extLst>
          </p:cNvPr>
          <p:cNvSpPr/>
          <p:nvPr/>
        </p:nvSpPr>
        <p:spPr>
          <a:xfrm>
            <a:off x="6985772" y="4071229"/>
            <a:ext cx="360000" cy="360000"/>
          </a:xfrm>
          <a:prstGeom prst="ellipse">
            <a:avLst/>
          </a:prstGeom>
          <a:solidFill>
            <a:schemeClr val="accent4">
              <a:lumMod val="20000"/>
              <a:lumOff val="80000"/>
            </a:schemeClr>
          </a:solidFill>
          <a:ln w="44450">
            <a:solidFill>
              <a:schemeClr val="accent4"/>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I</a:t>
            </a:r>
            <a:endParaRPr lang="en-NL" dirty="0"/>
          </a:p>
        </p:txBody>
      </p:sp>
      <p:sp>
        <p:nvSpPr>
          <p:cNvPr id="187" name="Oval 186">
            <a:extLst>
              <a:ext uri="{FF2B5EF4-FFF2-40B4-BE49-F238E27FC236}">
                <a16:creationId xmlns:a16="http://schemas.microsoft.com/office/drawing/2014/main" id="{7581E74E-6AA9-F259-50AE-E63A2C2F7E36}"/>
              </a:ext>
            </a:extLst>
          </p:cNvPr>
          <p:cNvSpPr/>
          <p:nvPr/>
        </p:nvSpPr>
        <p:spPr>
          <a:xfrm>
            <a:off x="2315123" y="4071229"/>
            <a:ext cx="360000" cy="360000"/>
          </a:xfrm>
          <a:prstGeom prst="ellipse">
            <a:avLst/>
          </a:prstGeom>
          <a:solidFill>
            <a:schemeClr val="accent1">
              <a:lumMod val="20000"/>
              <a:lumOff val="80000"/>
            </a:schemeClr>
          </a:solid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A</a:t>
            </a:r>
            <a:endParaRPr lang="en-NL" dirty="0"/>
          </a:p>
        </p:txBody>
      </p:sp>
      <p:sp>
        <p:nvSpPr>
          <p:cNvPr id="188" name="Oval 187">
            <a:extLst>
              <a:ext uri="{FF2B5EF4-FFF2-40B4-BE49-F238E27FC236}">
                <a16:creationId xmlns:a16="http://schemas.microsoft.com/office/drawing/2014/main" id="{649C762C-FB3A-7F7F-918D-0D49CD81B1BF}"/>
              </a:ext>
            </a:extLst>
          </p:cNvPr>
          <p:cNvSpPr/>
          <p:nvPr/>
        </p:nvSpPr>
        <p:spPr>
          <a:xfrm>
            <a:off x="3886423" y="4071229"/>
            <a:ext cx="360000" cy="360000"/>
          </a:xfrm>
          <a:prstGeom prst="ellipse">
            <a:avLst/>
          </a:prstGeom>
          <a:solidFill>
            <a:schemeClr val="accent6"/>
          </a:solidFill>
          <a:ln w="44450">
            <a:solidFill>
              <a:schemeClr val="accent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chemeClr val="dk1"/>
                </a:solidFill>
              </a:rPr>
              <a:t>E</a:t>
            </a:r>
            <a:endParaRPr lang="en-NL" dirty="0">
              <a:solidFill>
                <a:schemeClr val="dk1"/>
              </a:solidFill>
            </a:endParaRPr>
          </a:p>
        </p:txBody>
      </p:sp>
      <p:sp>
        <p:nvSpPr>
          <p:cNvPr id="189" name="Oval 188">
            <a:extLst>
              <a:ext uri="{FF2B5EF4-FFF2-40B4-BE49-F238E27FC236}">
                <a16:creationId xmlns:a16="http://schemas.microsoft.com/office/drawing/2014/main" id="{ABE6F95D-304C-4181-A9E4-4A5A0E20B7BC}"/>
              </a:ext>
            </a:extLst>
          </p:cNvPr>
          <p:cNvSpPr/>
          <p:nvPr/>
        </p:nvSpPr>
        <p:spPr>
          <a:xfrm>
            <a:off x="5437410" y="4071229"/>
            <a:ext cx="360000" cy="360000"/>
          </a:xfrm>
          <a:prstGeom prst="ellipse">
            <a:avLst/>
          </a:prstGeom>
          <a:solidFill>
            <a:schemeClr val="accent6"/>
          </a:solidFill>
          <a:ln w="44450">
            <a:solidFill>
              <a:schemeClr val="accent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chemeClr val="dk1"/>
                </a:solidFill>
              </a:rPr>
              <a:t>F</a:t>
            </a:r>
            <a:endParaRPr lang="en-NL" dirty="0">
              <a:solidFill>
                <a:schemeClr val="dk1"/>
              </a:solidFill>
            </a:endParaRPr>
          </a:p>
        </p:txBody>
      </p:sp>
      <p:cxnSp>
        <p:nvCxnSpPr>
          <p:cNvPr id="190" name="Connector: Curved 189">
            <a:extLst>
              <a:ext uri="{FF2B5EF4-FFF2-40B4-BE49-F238E27FC236}">
                <a16:creationId xmlns:a16="http://schemas.microsoft.com/office/drawing/2014/main" id="{F882DCFF-1400-D6B8-9CFE-9CD0ADA93F6A}"/>
              </a:ext>
            </a:extLst>
          </p:cNvPr>
          <p:cNvCxnSpPr>
            <a:cxnSpLocks/>
            <a:stCxn id="32" idx="4"/>
            <a:endCxn id="189" idx="6"/>
          </p:cNvCxnSpPr>
          <p:nvPr/>
        </p:nvCxnSpPr>
        <p:spPr>
          <a:xfrm rot="5400000">
            <a:off x="5398700" y="3258338"/>
            <a:ext cx="1391601" cy="594180"/>
          </a:xfrm>
          <a:prstGeom prst="curvedConnector2">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3" name="Connector: Curved 192">
            <a:extLst>
              <a:ext uri="{FF2B5EF4-FFF2-40B4-BE49-F238E27FC236}">
                <a16:creationId xmlns:a16="http://schemas.microsoft.com/office/drawing/2014/main" id="{14A373DF-AFDF-87AE-DC3F-AEF7405C117D}"/>
              </a:ext>
            </a:extLst>
          </p:cNvPr>
          <p:cNvCxnSpPr>
            <a:cxnSpLocks/>
            <a:stCxn id="32" idx="4"/>
            <a:endCxn id="186" idx="2"/>
          </p:cNvCxnSpPr>
          <p:nvPr/>
        </p:nvCxnSpPr>
        <p:spPr>
          <a:xfrm rot="16200000" flipH="1">
            <a:off x="5992881" y="3258337"/>
            <a:ext cx="1391601" cy="594182"/>
          </a:xfrm>
          <a:prstGeom prst="curvedConnector2">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6" name="Connector: Curved 195">
            <a:extLst>
              <a:ext uri="{FF2B5EF4-FFF2-40B4-BE49-F238E27FC236}">
                <a16:creationId xmlns:a16="http://schemas.microsoft.com/office/drawing/2014/main" id="{5FE2280E-5443-007B-1A04-BEDCC7DC7B11}"/>
              </a:ext>
            </a:extLst>
          </p:cNvPr>
          <p:cNvCxnSpPr>
            <a:cxnSpLocks/>
            <a:stCxn id="32" idx="4"/>
            <a:endCxn id="185" idx="6"/>
          </p:cNvCxnSpPr>
          <p:nvPr/>
        </p:nvCxnSpPr>
        <p:spPr>
          <a:xfrm rot="5400000">
            <a:off x="4742885" y="3914153"/>
            <a:ext cx="2703231" cy="594180"/>
          </a:xfrm>
          <a:prstGeom prst="curvedConnector2">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1" name="Straight Arrow Connector 200">
            <a:extLst>
              <a:ext uri="{FF2B5EF4-FFF2-40B4-BE49-F238E27FC236}">
                <a16:creationId xmlns:a16="http://schemas.microsoft.com/office/drawing/2014/main" id="{9823CCC4-C61F-6D53-544B-B0D3916CF9A0}"/>
              </a:ext>
            </a:extLst>
          </p:cNvPr>
          <p:cNvCxnSpPr>
            <a:cxnSpLocks/>
            <a:stCxn id="32" idx="4"/>
            <a:endCxn id="181" idx="0"/>
          </p:cNvCxnSpPr>
          <p:nvPr/>
        </p:nvCxnSpPr>
        <p:spPr>
          <a:xfrm>
            <a:off x="6391590" y="2859628"/>
            <a:ext cx="1" cy="1890115"/>
          </a:xfrm>
          <a:prstGeom prst="straightConnector1">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08" name="Oval 207">
            <a:extLst>
              <a:ext uri="{FF2B5EF4-FFF2-40B4-BE49-F238E27FC236}">
                <a16:creationId xmlns:a16="http://schemas.microsoft.com/office/drawing/2014/main" id="{2C7321EF-F76D-C48C-8390-C443E3411ACA}"/>
              </a:ext>
            </a:extLst>
          </p:cNvPr>
          <p:cNvSpPr/>
          <p:nvPr/>
        </p:nvSpPr>
        <p:spPr>
          <a:xfrm>
            <a:off x="4665853" y="4727044"/>
            <a:ext cx="360000" cy="360000"/>
          </a:xfrm>
          <a:prstGeom prst="ellipse">
            <a:avLst/>
          </a:prstGeom>
          <a:solidFill>
            <a:schemeClr val="accent1">
              <a:lumMod val="20000"/>
              <a:lumOff val="80000"/>
            </a:schemeClr>
          </a:solidFill>
          <a:ln w="44450">
            <a:solidFill>
              <a:schemeClr val="accent1"/>
            </a:solidFill>
            <a:prstDash val="sysDot"/>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J</a:t>
            </a:r>
            <a:endParaRPr lang="en-NL" dirty="0"/>
          </a:p>
        </p:txBody>
      </p:sp>
      <p:cxnSp>
        <p:nvCxnSpPr>
          <p:cNvPr id="210" name="Connector: Curved 209">
            <a:extLst>
              <a:ext uri="{FF2B5EF4-FFF2-40B4-BE49-F238E27FC236}">
                <a16:creationId xmlns:a16="http://schemas.microsoft.com/office/drawing/2014/main" id="{716332DA-6028-3A20-A633-82AD05CED0AD}"/>
              </a:ext>
            </a:extLst>
          </p:cNvPr>
          <p:cNvCxnSpPr>
            <a:cxnSpLocks/>
            <a:stCxn id="33" idx="6"/>
            <a:endCxn id="208" idx="0"/>
          </p:cNvCxnSpPr>
          <p:nvPr/>
        </p:nvCxnSpPr>
        <p:spPr>
          <a:xfrm>
            <a:off x="3474865" y="2679628"/>
            <a:ext cx="1370988" cy="2047416"/>
          </a:xfrm>
          <a:prstGeom prst="curvedConnector2">
            <a:avLst/>
          </a:prstGeom>
          <a:ln w="47625">
            <a:solidFill>
              <a:schemeClr val="accent4"/>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sp>
        <p:nvSpPr>
          <p:cNvPr id="214" name="TextBox 213">
            <a:extLst>
              <a:ext uri="{FF2B5EF4-FFF2-40B4-BE49-F238E27FC236}">
                <a16:creationId xmlns:a16="http://schemas.microsoft.com/office/drawing/2014/main" id="{D2627D7C-8AE4-A693-AFB9-11072E1044F3}"/>
              </a:ext>
            </a:extLst>
          </p:cNvPr>
          <p:cNvSpPr txBox="1"/>
          <p:nvPr/>
        </p:nvSpPr>
        <p:spPr>
          <a:xfrm>
            <a:off x="8536079" y="1654926"/>
            <a:ext cx="2951586" cy="3816261"/>
          </a:xfrm>
          <a:prstGeom prst="rect">
            <a:avLst/>
          </a:prstGeom>
          <a:ln/>
        </p:spPr>
        <p:style>
          <a:lnRef idx="0">
            <a:schemeClr val="accent4"/>
          </a:lnRef>
          <a:fillRef idx="3">
            <a:schemeClr val="accent4"/>
          </a:fillRef>
          <a:effectRef idx="3">
            <a:schemeClr val="accent4"/>
          </a:effectRef>
          <a:fontRef idx="minor">
            <a:schemeClr val="lt1"/>
          </a:fontRef>
        </p:style>
        <p:txBody>
          <a:bodyPr wrap="square" lIns="36000" tIns="180000" bIns="180000">
            <a:spAutoFit/>
          </a:bodyPr>
          <a:lstStyle/>
          <a:p>
            <a:pPr marL="285750" indent="-180000">
              <a:lnSpc>
                <a:spcPct val="108000"/>
              </a:lnSpc>
              <a:spcBef>
                <a:spcPts val="600"/>
              </a:spcBef>
              <a:spcAft>
                <a:spcPts val="600"/>
              </a:spcAft>
              <a:buFont typeface="Arial" panose="020B0604020202020204" pitchFamily="34" charset="0"/>
              <a:buChar char="•"/>
            </a:pPr>
            <a:r>
              <a:rPr lang="en-US" sz="1600" dirty="0">
                <a:solidFill>
                  <a:schemeClr val="bg1"/>
                </a:solidFill>
              </a:rPr>
              <a:t>Shared meanings create a common semantic hub. </a:t>
            </a:r>
            <a:r>
              <a:rPr lang="en-US" sz="1600" dirty="0"/>
              <a:t>Paths are shorter and clearer.</a:t>
            </a:r>
            <a:endParaRPr lang="en-US" sz="1600" dirty="0">
              <a:solidFill>
                <a:schemeClr val="bg1"/>
              </a:solidFill>
            </a:endParaRPr>
          </a:p>
          <a:p>
            <a:pPr marL="285750" indent="-180000">
              <a:lnSpc>
                <a:spcPct val="108000"/>
              </a:lnSpc>
              <a:spcBef>
                <a:spcPts val="600"/>
              </a:spcBef>
              <a:spcAft>
                <a:spcPts val="600"/>
              </a:spcAft>
              <a:buFont typeface="Arial" panose="020B0604020202020204" pitchFamily="34" charset="0"/>
              <a:buChar char="•"/>
            </a:pPr>
            <a:r>
              <a:rPr lang="en-US" sz="1600" dirty="0">
                <a:solidFill>
                  <a:schemeClr val="bg1"/>
                </a:solidFill>
              </a:rPr>
              <a:t>Semantic alignment is based on explicit meanings, not labels.</a:t>
            </a:r>
          </a:p>
          <a:p>
            <a:pPr marL="285750" indent="-180000">
              <a:lnSpc>
                <a:spcPct val="108000"/>
              </a:lnSpc>
              <a:spcBef>
                <a:spcPts val="600"/>
              </a:spcBef>
              <a:spcAft>
                <a:spcPts val="600"/>
              </a:spcAft>
              <a:buFont typeface="Arial" panose="020B0604020202020204" pitchFamily="34" charset="0"/>
              <a:buChar char="•"/>
            </a:pPr>
            <a:r>
              <a:rPr lang="en-US" sz="1600" dirty="0">
                <a:solidFill>
                  <a:schemeClr val="bg1"/>
                </a:solidFill>
              </a:rPr>
              <a:t>Adding concepts creates more reusable knowledge for future queries, enriching the network without increasing path complexity.</a:t>
            </a:r>
            <a:endParaRPr lang="en-NL" sz="1600" dirty="0">
              <a:solidFill>
                <a:schemeClr val="bg1"/>
              </a:solidFill>
            </a:endParaRPr>
          </a:p>
        </p:txBody>
      </p:sp>
      <p:sp>
        <p:nvSpPr>
          <p:cNvPr id="215" name="TextBox 214">
            <a:extLst>
              <a:ext uri="{FF2B5EF4-FFF2-40B4-BE49-F238E27FC236}">
                <a16:creationId xmlns:a16="http://schemas.microsoft.com/office/drawing/2014/main" id="{C86FE6E8-D139-2E9D-8A71-624D4C697409}"/>
              </a:ext>
            </a:extLst>
          </p:cNvPr>
          <p:cNvSpPr txBox="1"/>
          <p:nvPr/>
        </p:nvSpPr>
        <p:spPr>
          <a:xfrm>
            <a:off x="4455882" y="1654926"/>
            <a:ext cx="2838290" cy="338554"/>
          </a:xfrm>
          <a:prstGeom prst="rect">
            <a:avLst/>
          </a:prstGeom>
          <a:ln/>
        </p:spPr>
        <p:style>
          <a:lnRef idx="0">
            <a:schemeClr val="accent2"/>
          </a:lnRef>
          <a:fillRef idx="3">
            <a:schemeClr val="accent2"/>
          </a:fillRef>
          <a:effectRef idx="3">
            <a:schemeClr val="accent2"/>
          </a:effectRef>
          <a:fontRef idx="minor">
            <a:schemeClr val="lt1"/>
          </a:fontRef>
        </p:style>
        <p:txBody>
          <a:bodyPr wrap="square">
            <a:spAutoFit/>
          </a:bodyPr>
          <a:lstStyle/>
          <a:p>
            <a:r>
              <a:rPr lang="en-US" sz="1600" dirty="0">
                <a:solidFill>
                  <a:sysClr val="windowText" lastClr="000000"/>
                </a:solidFill>
              </a:rPr>
              <a:t>From </a:t>
            </a:r>
            <a:r>
              <a:rPr lang="en-US" sz="1600" b="1" dirty="0">
                <a:solidFill>
                  <a:sysClr val="windowText" lastClr="000000"/>
                </a:solidFill>
              </a:rPr>
              <a:t>E</a:t>
            </a:r>
            <a:r>
              <a:rPr lang="en-US" sz="1600" dirty="0">
                <a:solidFill>
                  <a:sysClr val="windowText" lastClr="000000"/>
                </a:solidFill>
              </a:rPr>
              <a:t> to </a:t>
            </a:r>
            <a:r>
              <a:rPr lang="en-US" sz="1600" b="1" dirty="0">
                <a:solidFill>
                  <a:sysClr val="windowText" lastClr="000000"/>
                </a:solidFill>
              </a:rPr>
              <a:t>A</a:t>
            </a:r>
            <a:r>
              <a:rPr lang="en-US" sz="1600" dirty="0">
                <a:solidFill>
                  <a:sysClr val="windowText" lastClr="000000"/>
                </a:solidFill>
              </a:rPr>
              <a:t>: 2 steps</a:t>
            </a:r>
            <a:endParaRPr lang="en-NL" sz="1600" dirty="0">
              <a:solidFill>
                <a:sysClr val="windowText" lastClr="000000"/>
              </a:solidFill>
            </a:endParaRPr>
          </a:p>
        </p:txBody>
      </p:sp>
      <p:sp>
        <p:nvSpPr>
          <p:cNvPr id="216" name="TextBox 215">
            <a:extLst>
              <a:ext uri="{FF2B5EF4-FFF2-40B4-BE49-F238E27FC236}">
                <a16:creationId xmlns:a16="http://schemas.microsoft.com/office/drawing/2014/main" id="{8F961ED4-FA80-4B8A-8473-4D6A820DBD60}"/>
              </a:ext>
            </a:extLst>
          </p:cNvPr>
          <p:cNvSpPr txBox="1"/>
          <p:nvPr/>
        </p:nvSpPr>
        <p:spPr>
          <a:xfrm>
            <a:off x="4455880" y="2073460"/>
            <a:ext cx="2838290" cy="338554"/>
          </a:xfrm>
          <a:prstGeom prst="rect">
            <a:avLst/>
          </a:prstGeom>
          <a:ln/>
        </p:spPr>
        <p:style>
          <a:lnRef idx="0">
            <a:schemeClr val="accent2"/>
          </a:lnRef>
          <a:fillRef idx="3">
            <a:schemeClr val="accent2"/>
          </a:fillRef>
          <a:effectRef idx="3">
            <a:schemeClr val="accent2"/>
          </a:effectRef>
          <a:fontRef idx="minor">
            <a:schemeClr val="lt1"/>
          </a:fontRef>
        </p:style>
        <p:txBody>
          <a:bodyPr wrap="square">
            <a:spAutoFit/>
          </a:bodyPr>
          <a:lstStyle/>
          <a:p>
            <a:r>
              <a:rPr lang="en-US" sz="1600" dirty="0">
                <a:solidFill>
                  <a:sysClr val="windowText" lastClr="000000"/>
                </a:solidFill>
              </a:rPr>
              <a:t>From </a:t>
            </a:r>
            <a:r>
              <a:rPr lang="en-US" sz="1600" b="1" dirty="0">
                <a:solidFill>
                  <a:sysClr val="windowText" lastClr="000000"/>
                </a:solidFill>
              </a:rPr>
              <a:t>J</a:t>
            </a:r>
            <a:r>
              <a:rPr lang="en-US" sz="1600" dirty="0">
                <a:solidFill>
                  <a:sysClr val="windowText" lastClr="000000"/>
                </a:solidFill>
              </a:rPr>
              <a:t> to </a:t>
            </a:r>
            <a:r>
              <a:rPr lang="en-US" sz="1600" b="1" dirty="0">
                <a:solidFill>
                  <a:sysClr val="windowText" lastClr="000000"/>
                </a:solidFill>
              </a:rPr>
              <a:t>A</a:t>
            </a:r>
            <a:r>
              <a:rPr lang="en-US" sz="1600" dirty="0">
                <a:solidFill>
                  <a:sysClr val="windowText" lastClr="000000"/>
                </a:solidFill>
              </a:rPr>
              <a:t>: 2 steps</a:t>
            </a:r>
            <a:endParaRPr lang="en-NL" sz="1600" dirty="0">
              <a:solidFill>
                <a:sysClr val="windowText" lastClr="000000"/>
              </a:solidFill>
            </a:endParaRPr>
          </a:p>
        </p:txBody>
      </p:sp>
      <p:sp>
        <p:nvSpPr>
          <p:cNvPr id="3" name="TextBox 2">
            <a:extLst>
              <a:ext uri="{FF2B5EF4-FFF2-40B4-BE49-F238E27FC236}">
                <a16:creationId xmlns:a16="http://schemas.microsoft.com/office/drawing/2014/main" id="{90A41E36-16A4-954E-605D-519D50D7AA1E}"/>
              </a:ext>
            </a:extLst>
          </p:cNvPr>
          <p:cNvSpPr txBox="1"/>
          <p:nvPr/>
        </p:nvSpPr>
        <p:spPr>
          <a:xfrm>
            <a:off x="4455880" y="2493961"/>
            <a:ext cx="2838290" cy="338554"/>
          </a:xfrm>
          <a:prstGeom prst="rect">
            <a:avLst/>
          </a:prstGeom>
          <a:ln/>
        </p:spPr>
        <p:style>
          <a:lnRef idx="0">
            <a:schemeClr val="accent4"/>
          </a:lnRef>
          <a:fillRef idx="3">
            <a:schemeClr val="accent4"/>
          </a:fillRef>
          <a:effectRef idx="3">
            <a:schemeClr val="accent4"/>
          </a:effectRef>
          <a:fontRef idx="minor">
            <a:schemeClr val="lt1"/>
          </a:fontRef>
        </p:style>
        <p:txBody>
          <a:bodyPr wrap="square">
            <a:spAutoFit/>
          </a:bodyPr>
          <a:lstStyle/>
          <a:p>
            <a:r>
              <a:rPr lang="en-US" sz="1600" dirty="0">
                <a:solidFill>
                  <a:schemeClr val="bg2"/>
                </a:solidFill>
              </a:rPr>
              <a:t>From </a:t>
            </a:r>
            <a:r>
              <a:rPr lang="en-US" sz="1600" b="1" dirty="0">
                <a:solidFill>
                  <a:schemeClr val="bg2"/>
                </a:solidFill>
              </a:rPr>
              <a:t>Z</a:t>
            </a:r>
            <a:r>
              <a:rPr lang="en-US" sz="1600" dirty="0">
                <a:solidFill>
                  <a:schemeClr val="bg2"/>
                </a:solidFill>
              </a:rPr>
              <a:t> to </a:t>
            </a:r>
            <a:r>
              <a:rPr lang="en-US" sz="1600" b="1" dirty="0">
                <a:solidFill>
                  <a:schemeClr val="bg2"/>
                </a:solidFill>
              </a:rPr>
              <a:t>A</a:t>
            </a:r>
            <a:r>
              <a:rPr lang="en-US" sz="1600" dirty="0">
                <a:solidFill>
                  <a:schemeClr val="bg2"/>
                </a:solidFill>
              </a:rPr>
              <a:t>: 2 steps</a:t>
            </a:r>
            <a:endParaRPr lang="en-NL" sz="1600" dirty="0">
              <a:solidFill>
                <a:schemeClr val="bg2"/>
              </a:solidFill>
            </a:endParaRPr>
          </a:p>
        </p:txBody>
      </p:sp>
      <p:sp>
        <p:nvSpPr>
          <p:cNvPr id="8" name="TextBox 7">
            <a:extLst>
              <a:ext uri="{FF2B5EF4-FFF2-40B4-BE49-F238E27FC236}">
                <a16:creationId xmlns:a16="http://schemas.microsoft.com/office/drawing/2014/main" id="{A0A8E09E-2F79-956D-1A5B-93F4029EB15D}"/>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3</a:t>
            </a:r>
            <a:endParaRPr lang="en-NL" sz="1000" b="1" dirty="0"/>
          </a:p>
        </p:txBody>
      </p:sp>
    </p:spTree>
    <p:extLst>
      <p:ext uri="{BB962C8B-B14F-4D97-AF65-F5344CB8AC3E}">
        <p14:creationId xmlns:p14="http://schemas.microsoft.com/office/powerpoint/2010/main" val="38930471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8"/>
                                        </p:tgtEl>
                                        <p:attrNameLst>
                                          <p:attrName>style.visibility</p:attrName>
                                        </p:attrNameLst>
                                      </p:cBhvr>
                                      <p:to>
                                        <p:strVal val="visible"/>
                                      </p:to>
                                    </p:set>
                                    <p:animEffect transition="in" filter="fade">
                                      <p:cBhvr>
                                        <p:cTn id="7" dur="500"/>
                                        <p:tgtEl>
                                          <p:spTgt spid="208"/>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10"/>
                                        </p:tgtEl>
                                        <p:attrNameLst>
                                          <p:attrName>style.visibility</p:attrName>
                                        </p:attrNameLst>
                                      </p:cBhvr>
                                      <p:to>
                                        <p:strVal val="visible"/>
                                      </p:to>
                                    </p:set>
                                    <p:animEffect transition="in" filter="fade">
                                      <p:cBhvr>
                                        <p:cTn id="11" dur="500"/>
                                        <p:tgtEl>
                                          <p:spTgt spid="21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16"/>
                                        </p:tgtEl>
                                        <p:attrNameLst>
                                          <p:attrName>style.visibility</p:attrName>
                                        </p:attrNameLst>
                                      </p:cBhvr>
                                      <p:to>
                                        <p:strVal val="visible"/>
                                      </p:to>
                                    </p:set>
                                    <p:animEffect transition="in" filter="fade">
                                      <p:cBhvr>
                                        <p:cTn id="14" dur="500"/>
                                        <p:tgtEl>
                                          <p:spTgt spid="216"/>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8" grpId="0" animBg="1"/>
      <p:bldP spid="216" grpId="0" animBg="1"/>
      <p:bldP spid="3"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69C57-B199-A756-96C2-20E65C1FD5D7}"/>
            </a:ext>
          </a:extLst>
        </p:cNvPr>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E592F051-7B6C-E4A1-F96A-C600E39A0BA6}"/>
              </a:ext>
            </a:extLst>
          </p:cNvPr>
          <p:cNvCxnSpPr/>
          <p:nvPr/>
        </p:nvCxnSpPr>
        <p:spPr>
          <a:xfrm>
            <a:off x="5903371" y="1673750"/>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A70E9527-26D3-46FD-FC6A-77E8F52EBF2B}"/>
              </a:ext>
            </a:extLst>
          </p:cNvPr>
          <p:cNvSpPr>
            <a:spLocks noGrp="1"/>
          </p:cNvSpPr>
          <p:nvPr>
            <p:ph type="title"/>
          </p:nvPr>
        </p:nvSpPr>
        <p:spPr>
          <a:xfrm>
            <a:off x="695327" y="386001"/>
            <a:ext cx="9351540" cy="929259"/>
          </a:xfrm>
        </p:spPr>
        <p:txBody>
          <a:bodyPr/>
          <a:lstStyle/>
          <a:p>
            <a:r>
              <a:rPr lang="en-US" sz="3200" dirty="0"/>
              <a:t>Amir Assesses Reuse Through Semantic Relations</a:t>
            </a:r>
            <a:endParaRPr lang="en-NL" sz="3200" dirty="0"/>
          </a:p>
        </p:txBody>
      </p:sp>
      <p:sp>
        <p:nvSpPr>
          <p:cNvPr id="4" name="Slide Number Placeholder 3">
            <a:extLst>
              <a:ext uri="{FF2B5EF4-FFF2-40B4-BE49-F238E27FC236}">
                <a16:creationId xmlns:a16="http://schemas.microsoft.com/office/drawing/2014/main" id="{CDCB8226-6F0D-37A5-9E4F-B37994E28898}"/>
              </a:ext>
            </a:extLst>
          </p:cNvPr>
          <p:cNvSpPr>
            <a:spLocks noGrp="1"/>
          </p:cNvSpPr>
          <p:nvPr>
            <p:ph type="sldNum" sz="quarter" idx="12"/>
          </p:nvPr>
        </p:nvSpPr>
        <p:spPr/>
        <p:txBody>
          <a:bodyPr/>
          <a:lstStyle/>
          <a:p>
            <a:fld id="{4FAB73BC-B049-4115-A692-8D63A059BFB8}" type="slidenum">
              <a:rPr lang="en-US" smtClean="0"/>
              <a:pPr/>
              <a:t>29</a:t>
            </a:fld>
            <a:endParaRPr lang="en-US" dirty="0"/>
          </a:p>
        </p:txBody>
      </p:sp>
      <p:sp>
        <p:nvSpPr>
          <p:cNvPr id="30" name="Parallelogram 29">
            <a:extLst>
              <a:ext uri="{FF2B5EF4-FFF2-40B4-BE49-F238E27FC236}">
                <a16:creationId xmlns:a16="http://schemas.microsoft.com/office/drawing/2014/main" id="{20ABDBF9-D352-E6C9-CFE6-63385CA6510D}"/>
              </a:ext>
            </a:extLst>
          </p:cNvPr>
          <p:cNvSpPr/>
          <p:nvPr/>
        </p:nvSpPr>
        <p:spPr>
          <a:xfrm>
            <a:off x="4434896" y="3164830"/>
            <a:ext cx="6886250" cy="1276350"/>
          </a:xfrm>
          <a:prstGeom prst="parallelogram">
            <a:avLst>
              <a:gd name="adj" fmla="val 113806"/>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31" name="TextBox 30">
            <a:extLst>
              <a:ext uri="{FF2B5EF4-FFF2-40B4-BE49-F238E27FC236}">
                <a16:creationId xmlns:a16="http://schemas.microsoft.com/office/drawing/2014/main" id="{592EA785-71A5-CE65-9D66-F7A504AA0A6C}"/>
              </a:ext>
            </a:extLst>
          </p:cNvPr>
          <p:cNvSpPr txBox="1"/>
          <p:nvPr/>
        </p:nvSpPr>
        <p:spPr>
          <a:xfrm>
            <a:off x="4671064" y="4133403"/>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33" name="Parallelogram 32">
            <a:extLst>
              <a:ext uri="{FF2B5EF4-FFF2-40B4-BE49-F238E27FC236}">
                <a16:creationId xmlns:a16="http://schemas.microsoft.com/office/drawing/2014/main" id="{9B43630C-0F17-D383-D46B-0FA3E117A882}"/>
              </a:ext>
            </a:extLst>
          </p:cNvPr>
          <p:cNvSpPr/>
          <p:nvPr/>
        </p:nvSpPr>
        <p:spPr>
          <a:xfrm>
            <a:off x="4434896" y="4684486"/>
            <a:ext cx="6886250" cy="1276350"/>
          </a:xfrm>
          <a:prstGeom prst="parallelogram">
            <a:avLst>
              <a:gd name="adj" fmla="val 113806"/>
            </a:avLst>
          </a:prstGeom>
          <a:solidFill>
            <a:schemeClr val="accent4">
              <a:lumMod val="20000"/>
              <a:lumOff val="8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4" name="TextBox 33">
            <a:extLst>
              <a:ext uri="{FF2B5EF4-FFF2-40B4-BE49-F238E27FC236}">
                <a16:creationId xmlns:a16="http://schemas.microsoft.com/office/drawing/2014/main" id="{0CDB7A82-7FFF-4221-4DC7-00EAEE407BF2}"/>
              </a:ext>
            </a:extLst>
          </p:cNvPr>
          <p:cNvSpPr txBox="1"/>
          <p:nvPr/>
        </p:nvSpPr>
        <p:spPr>
          <a:xfrm>
            <a:off x="4710338" y="5653059"/>
            <a:ext cx="152958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4"/>
                </a:solidFill>
              </a:rPr>
              <a:t>Dataset Columns</a:t>
            </a:r>
            <a:endParaRPr lang="en-NL" sz="1400" dirty="0">
              <a:solidFill>
                <a:schemeClr val="accent4"/>
              </a:solidFill>
            </a:endParaRPr>
          </a:p>
        </p:txBody>
      </p:sp>
      <p:sp>
        <p:nvSpPr>
          <p:cNvPr id="16" name="Parallelogram 15">
            <a:extLst>
              <a:ext uri="{FF2B5EF4-FFF2-40B4-BE49-F238E27FC236}">
                <a16:creationId xmlns:a16="http://schemas.microsoft.com/office/drawing/2014/main" id="{4202E53F-1385-0C6A-8D17-3A00B90BAED2}"/>
              </a:ext>
            </a:extLst>
          </p:cNvPr>
          <p:cNvSpPr/>
          <p:nvPr/>
        </p:nvSpPr>
        <p:spPr>
          <a:xfrm>
            <a:off x="4434896" y="1645175"/>
            <a:ext cx="6886250" cy="1276350"/>
          </a:xfrm>
          <a:prstGeom prst="parallelogram">
            <a:avLst>
              <a:gd name="adj" fmla="val 113806"/>
            </a:avLst>
          </a:prstGeom>
          <a:solidFill>
            <a:schemeClr val="accent1">
              <a:lumMod val="20000"/>
              <a:lumOff val="80000"/>
              <a:alpha val="9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7" name="TextBox 16">
            <a:extLst>
              <a:ext uri="{FF2B5EF4-FFF2-40B4-BE49-F238E27FC236}">
                <a16:creationId xmlns:a16="http://schemas.microsoft.com/office/drawing/2014/main" id="{0631C933-E8EF-7088-ED7F-99874654FA10}"/>
              </a:ext>
            </a:extLst>
          </p:cNvPr>
          <p:cNvSpPr txBox="1"/>
          <p:nvPr/>
        </p:nvSpPr>
        <p:spPr>
          <a:xfrm>
            <a:off x="4804589" y="2613747"/>
            <a:ext cx="954107"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Meanings</a:t>
            </a:r>
            <a:endParaRPr lang="en-NL" sz="1400" dirty="0">
              <a:solidFill>
                <a:schemeClr val="tx2">
                  <a:lumMod val="90000"/>
                  <a:lumOff val="10000"/>
                </a:schemeClr>
              </a:solidFill>
            </a:endParaRPr>
          </a:p>
        </p:txBody>
      </p:sp>
      <p:cxnSp>
        <p:nvCxnSpPr>
          <p:cNvPr id="18" name="Straight Connector 17">
            <a:extLst>
              <a:ext uri="{FF2B5EF4-FFF2-40B4-BE49-F238E27FC236}">
                <a16:creationId xmlns:a16="http://schemas.microsoft.com/office/drawing/2014/main" id="{8D6F2841-FA4A-C37E-44CC-1D5C5373E35F}"/>
              </a:ext>
            </a:extLst>
          </p:cNvPr>
          <p:cNvCxnSpPr/>
          <p:nvPr/>
        </p:nvCxnSpPr>
        <p:spPr>
          <a:xfrm>
            <a:off x="4434894" y="295010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01E0F03B-F305-35C3-A2FD-C26AC62DE836}"/>
              </a:ext>
            </a:extLst>
          </p:cNvPr>
          <p:cNvCxnSpPr>
            <a:cxnSpLocks/>
          </p:cNvCxnSpPr>
          <p:nvPr/>
        </p:nvCxnSpPr>
        <p:spPr>
          <a:xfrm>
            <a:off x="9865943" y="2921524"/>
            <a:ext cx="0" cy="3023590"/>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63" name="TextBox 62">
            <a:extLst>
              <a:ext uri="{FF2B5EF4-FFF2-40B4-BE49-F238E27FC236}">
                <a16:creationId xmlns:a16="http://schemas.microsoft.com/office/drawing/2014/main" id="{E1AEB5BF-4DEC-CA87-5552-C3917FBD672D}"/>
              </a:ext>
            </a:extLst>
          </p:cNvPr>
          <p:cNvSpPr txBox="1"/>
          <p:nvPr/>
        </p:nvSpPr>
        <p:spPr>
          <a:xfrm rot="18900000">
            <a:off x="5917118" y="2071359"/>
            <a:ext cx="719364" cy="276999"/>
          </a:xfrm>
          <a:prstGeom prst="rect">
            <a:avLst/>
          </a:prstGeom>
          <a:noFill/>
        </p:spPr>
        <p:txBody>
          <a:bodyPr wrap="none" rtlCol="0" anchor="ctr">
            <a:spAutoFit/>
          </a:bodyPr>
          <a:lstStyle/>
          <a:p>
            <a:pPr algn="ctr"/>
            <a:r>
              <a:rPr lang="en-US" sz="1200" dirty="0" err="1">
                <a:solidFill>
                  <a:schemeClr val="bg1">
                    <a:lumMod val="65000"/>
                  </a:schemeClr>
                </a:solidFill>
              </a:rPr>
              <a:t>hrio:Sex</a:t>
            </a:r>
            <a:endParaRPr lang="en-NL" sz="1200" dirty="0">
              <a:solidFill>
                <a:schemeClr val="bg1">
                  <a:lumMod val="65000"/>
                </a:schemeClr>
              </a:solidFill>
            </a:endParaRPr>
          </a:p>
        </p:txBody>
      </p:sp>
      <p:sp>
        <p:nvSpPr>
          <p:cNvPr id="5" name="TextBox 4">
            <a:extLst>
              <a:ext uri="{FF2B5EF4-FFF2-40B4-BE49-F238E27FC236}">
                <a16:creationId xmlns:a16="http://schemas.microsoft.com/office/drawing/2014/main" id="{0ECD8A2E-EAF8-3B78-8C19-B3FA136075FB}"/>
              </a:ext>
            </a:extLst>
          </p:cNvPr>
          <p:cNvSpPr txBox="1"/>
          <p:nvPr/>
        </p:nvSpPr>
        <p:spPr>
          <a:xfrm rot="18900000">
            <a:off x="5538713" y="3564366"/>
            <a:ext cx="1476174" cy="276999"/>
          </a:xfrm>
          <a:prstGeom prst="rect">
            <a:avLst/>
          </a:prstGeom>
          <a:noFill/>
        </p:spPr>
        <p:txBody>
          <a:bodyPr wrap="square" anchor="ctr">
            <a:spAutoFit/>
          </a:bodyPr>
          <a:lstStyle/>
          <a:p>
            <a:pPr algn="ctr"/>
            <a:r>
              <a:rPr lang="en-NL" sz="1200" dirty="0" err="1">
                <a:solidFill>
                  <a:schemeClr val="bg1">
                    <a:lumMod val="65000"/>
                  </a:schemeClr>
                </a:solidFill>
              </a:rPr>
              <a:t>care-sm:Sex</a:t>
            </a:r>
            <a:endParaRPr lang="en-NL" sz="1200" dirty="0">
              <a:solidFill>
                <a:schemeClr val="bg1">
                  <a:lumMod val="65000"/>
                </a:schemeClr>
              </a:solidFill>
            </a:endParaRPr>
          </a:p>
        </p:txBody>
      </p:sp>
      <p:sp>
        <p:nvSpPr>
          <p:cNvPr id="24" name="TextBox 23">
            <a:extLst>
              <a:ext uri="{FF2B5EF4-FFF2-40B4-BE49-F238E27FC236}">
                <a16:creationId xmlns:a16="http://schemas.microsoft.com/office/drawing/2014/main" id="{D07A166E-F6AA-3201-A2CC-4CE06025F670}"/>
              </a:ext>
            </a:extLst>
          </p:cNvPr>
          <p:cNvSpPr txBox="1"/>
          <p:nvPr/>
        </p:nvSpPr>
        <p:spPr>
          <a:xfrm rot="18900000">
            <a:off x="7046322" y="2071359"/>
            <a:ext cx="1336456" cy="276999"/>
          </a:xfrm>
          <a:prstGeom prst="rect">
            <a:avLst/>
          </a:prstGeom>
          <a:noFill/>
        </p:spPr>
        <p:txBody>
          <a:bodyPr wrap="none" rtlCol="0" anchor="ctr">
            <a:spAutoFit/>
          </a:bodyPr>
          <a:lstStyle/>
          <a:p>
            <a:pPr algn="ctr"/>
            <a:r>
              <a:rPr lang="en-US" sz="1200" dirty="0" err="1">
                <a:solidFill>
                  <a:schemeClr val="bg1">
                    <a:lumMod val="65000"/>
                  </a:schemeClr>
                </a:solidFill>
              </a:rPr>
              <a:t>hrio:LegalGender</a:t>
            </a:r>
            <a:endParaRPr lang="en-NL" sz="1200" dirty="0">
              <a:solidFill>
                <a:schemeClr val="bg1">
                  <a:lumMod val="65000"/>
                </a:schemeClr>
              </a:solidFill>
            </a:endParaRPr>
          </a:p>
        </p:txBody>
      </p:sp>
      <p:sp>
        <p:nvSpPr>
          <p:cNvPr id="54" name="TextBox 53">
            <a:extLst>
              <a:ext uri="{FF2B5EF4-FFF2-40B4-BE49-F238E27FC236}">
                <a16:creationId xmlns:a16="http://schemas.microsoft.com/office/drawing/2014/main" id="{AFCA0E64-46A7-1A57-5F87-48524E89ED98}"/>
              </a:ext>
            </a:extLst>
          </p:cNvPr>
          <p:cNvSpPr txBox="1"/>
          <p:nvPr/>
        </p:nvSpPr>
        <p:spPr>
          <a:xfrm rot="18900000">
            <a:off x="6793817" y="3564366"/>
            <a:ext cx="1841466" cy="276999"/>
          </a:xfrm>
          <a:prstGeom prst="rect">
            <a:avLst/>
          </a:prstGeom>
          <a:noFill/>
        </p:spPr>
        <p:txBody>
          <a:bodyPr wrap="none" rtlCol="0" anchor="ctr">
            <a:spAutoFit/>
          </a:bodyPr>
          <a:lstStyle>
            <a:defPPr>
              <a:defRPr lang="en-US"/>
            </a:defPPr>
            <a:lvl1pPr algn="ctr">
              <a:defRPr sz="1400"/>
            </a:lvl1pPr>
          </a:lstStyle>
          <a:p>
            <a:r>
              <a:rPr lang="en-US" sz="1200" dirty="0" err="1">
                <a:solidFill>
                  <a:schemeClr val="bg1">
                    <a:lumMod val="65000"/>
                  </a:schemeClr>
                </a:solidFill>
              </a:rPr>
              <a:t>hri-openehr:legal-gender</a:t>
            </a:r>
            <a:endParaRPr lang="en-NL" sz="1200" dirty="0">
              <a:solidFill>
                <a:schemeClr val="bg1">
                  <a:lumMod val="65000"/>
                </a:schemeClr>
              </a:solidFill>
            </a:endParaRPr>
          </a:p>
        </p:txBody>
      </p:sp>
      <p:sp>
        <p:nvSpPr>
          <p:cNvPr id="78" name="TextBox 77">
            <a:extLst>
              <a:ext uri="{FF2B5EF4-FFF2-40B4-BE49-F238E27FC236}">
                <a16:creationId xmlns:a16="http://schemas.microsoft.com/office/drawing/2014/main" id="{D28BDC3A-E387-D044-CB7D-1AEC90B9E830}"/>
              </a:ext>
            </a:extLst>
          </p:cNvPr>
          <p:cNvSpPr txBox="1"/>
          <p:nvPr/>
        </p:nvSpPr>
        <p:spPr>
          <a:xfrm rot="18900000">
            <a:off x="8548050" y="3564366"/>
            <a:ext cx="1168590" cy="276999"/>
          </a:xfrm>
          <a:prstGeom prst="rect">
            <a:avLst/>
          </a:prstGeom>
          <a:noFill/>
        </p:spPr>
        <p:txBody>
          <a:bodyPr wrap="none" rtlCol="0" anchor="ctr">
            <a:spAutoFit/>
          </a:bodyPr>
          <a:lstStyle>
            <a:defPPr>
              <a:defRPr lang="en-US"/>
            </a:defPPr>
            <a:lvl1pPr algn="ctr">
              <a:defRPr sz="1400"/>
            </a:lvl1pPr>
          </a:lstStyle>
          <a:p>
            <a:r>
              <a:rPr lang="en-US" sz="1200" dirty="0">
                <a:solidFill>
                  <a:schemeClr val="bg1">
                    <a:lumMod val="65000"/>
                  </a:schemeClr>
                </a:solidFill>
              </a:rPr>
              <a:t>loinc:107454-1</a:t>
            </a:r>
            <a:endParaRPr lang="en-NL" sz="1200" dirty="0">
              <a:solidFill>
                <a:schemeClr val="bg1">
                  <a:lumMod val="65000"/>
                </a:schemeClr>
              </a:solidFill>
            </a:endParaRPr>
          </a:p>
        </p:txBody>
      </p:sp>
      <p:sp>
        <p:nvSpPr>
          <p:cNvPr id="80" name="TextBox 79">
            <a:extLst>
              <a:ext uri="{FF2B5EF4-FFF2-40B4-BE49-F238E27FC236}">
                <a16:creationId xmlns:a16="http://schemas.microsoft.com/office/drawing/2014/main" id="{0B75FDFF-1BAC-71DB-6451-795A91AB03FE}"/>
              </a:ext>
            </a:extLst>
          </p:cNvPr>
          <p:cNvSpPr txBox="1"/>
          <p:nvPr/>
        </p:nvSpPr>
        <p:spPr>
          <a:xfrm rot="18900000">
            <a:off x="5559168" y="5043615"/>
            <a:ext cx="1435265" cy="461665"/>
          </a:xfrm>
          <a:prstGeom prst="rect">
            <a:avLst/>
          </a:prstGeom>
          <a:noFill/>
        </p:spPr>
        <p:txBody>
          <a:bodyPr wrap="none" rtlCol="0" anchor="ctr">
            <a:spAutoFit/>
          </a:bodyPr>
          <a:lstStyle>
            <a:defPPr>
              <a:defRPr lang="en-US"/>
            </a:defPPr>
            <a:lvl1pPr algn="ctr">
              <a:defRPr sz="1400"/>
            </a:lvl1pPr>
          </a:lstStyle>
          <a:p>
            <a:r>
              <a:rPr lang="en-US" sz="1200" dirty="0">
                <a:solidFill>
                  <a:schemeClr val="bg1">
                    <a:lumMod val="65000"/>
                  </a:schemeClr>
                </a:solidFill>
              </a:rPr>
              <a:t>NPR Demographic </a:t>
            </a:r>
          </a:p>
          <a:p>
            <a:r>
              <a:rPr lang="en-US" sz="1200" dirty="0">
                <a:solidFill>
                  <a:schemeClr val="bg1">
                    <a:lumMod val="65000"/>
                  </a:schemeClr>
                </a:solidFill>
              </a:rPr>
              <a:t>Extract</a:t>
            </a:r>
            <a:endParaRPr lang="en-NL" sz="1200" dirty="0">
              <a:solidFill>
                <a:schemeClr val="bg1">
                  <a:lumMod val="65000"/>
                </a:schemeClr>
              </a:solidFill>
            </a:endParaRPr>
          </a:p>
        </p:txBody>
      </p:sp>
      <p:sp>
        <p:nvSpPr>
          <p:cNvPr id="3" name="TextBox 2">
            <a:extLst>
              <a:ext uri="{FF2B5EF4-FFF2-40B4-BE49-F238E27FC236}">
                <a16:creationId xmlns:a16="http://schemas.microsoft.com/office/drawing/2014/main" id="{C6158A0E-0B03-E85D-E81A-8C488DF44831}"/>
              </a:ext>
            </a:extLst>
          </p:cNvPr>
          <p:cNvSpPr txBox="1"/>
          <p:nvPr/>
        </p:nvSpPr>
        <p:spPr>
          <a:xfrm rot="18900000">
            <a:off x="8325714" y="5043615"/>
            <a:ext cx="1613262" cy="461665"/>
          </a:xfrm>
          <a:prstGeom prst="rect">
            <a:avLst/>
          </a:prstGeom>
          <a:noFill/>
        </p:spPr>
        <p:txBody>
          <a:bodyPr wrap="none" rtlCol="0" anchor="ctr">
            <a:spAutoFit/>
          </a:bodyPr>
          <a:lstStyle>
            <a:defPPr>
              <a:defRPr lang="en-US"/>
            </a:defPPr>
            <a:lvl1pPr algn="ctr">
              <a:defRPr sz="1400"/>
            </a:lvl1pPr>
          </a:lstStyle>
          <a:p>
            <a:r>
              <a:rPr lang="en-US" sz="1200" dirty="0">
                <a:solidFill>
                  <a:schemeClr val="bg1">
                    <a:lumMod val="65000"/>
                  </a:schemeClr>
                </a:solidFill>
              </a:rPr>
              <a:t>Administrative Intake </a:t>
            </a:r>
          </a:p>
          <a:p>
            <a:r>
              <a:rPr lang="en-US" sz="1200" dirty="0">
                <a:solidFill>
                  <a:schemeClr val="bg1">
                    <a:lumMod val="65000"/>
                  </a:schemeClr>
                </a:solidFill>
              </a:rPr>
              <a:t>Extract</a:t>
            </a:r>
            <a:endParaRPr lang="en-NL" sz="1100" dirty="0">
              <a:solidFill>
                <a:schemeClr val="bg1">
                  <a:lumMod val="65000"/>
                </a:schemeClr>
              </a:solidFill>
              <a:effectLst/>
            </a:endParaRPr>
          </a:p>
        </p:txBody>
      </p:sp>
      <p:sp>
        <p:nvSpPr>
          <p:cNvPr id="6" name="TextBox 5">
            <a:extLst>
              <a:ext uri="{FF2B5EF4-FFF2-40B4-BE49-F238E27FC236}">
                <a16:creationId xmlns:a16="http://schemas.microsoft.com/office/drawing/2014/main" id="{2667D2C1-443E-FB12-44EF-51C5AE3DDE5A}"/>
              </a:ext>
            </a:extLst>
          </p:cNvPr>
          <p:cNvSpPr txBox="1"/>
          <p:nvPr/>
        </p:nvSpPr>
        <p:spPr>
          <a:xfrm rot="18900000">
            <a:off x="6910965" y="5043615"/>
            <a:ext cx="1607170" cy="461665"/>
          </a:xfrm>
          <a:prstGeom prst="rect">
            <a:avLst/>
          </a:prstGeom>
          <a:noFill/>
        </p:spPr>
        <p:txBody>
          <a:bodyPr wrap="none" rtlCol="0" anchor="ctr">
            <a:spAutoFit/>
          </a:bodyPr>
          <a:lstStyle>
            <a:defPPr>
              <a:defRPr lang="en-US"/>
            </a:defPPr>
            <a:lvl1pPr algn="ctr">
              <a:defRPr sz="1400"/>
            </a:lvl1pPr>
          </a:lstStyle>
          <a:p>
            <a:r>
              <a:rPr lang="en-US" sz="1200" dirty="0">
                <a:solidFill>
                  <a:schemeClr val="bg1">
                    <a:lumMod val="65000"/>
                  </a:schemeClr>
                </a:solidFill>
              </a:rPr>
              <a:t>Hospital Registration </a:t>
            </a:r>
          </a:p>
          <a:p>
            <a:r>
              <a:rPr lang="en-US" sz="1200" dirty="0">
                <a:solidFill>
                  <a:schemeClr val="bg1">
                    <a:lumMod val="65000"/>
                  </a:schemeClr>
                </a:solidFill>
              </a:rPr>
              <a:t>Extract</a:t>
            </a:r>
            <a:endParaRPr lang="en-NL" sz="1200" dirty="0">
              <a:solidFill>
                <a:schemeClr val="bg1">
                  <a:lumMod val="65000"/>
                </a:schemeClr>
              </a:solidFill>
            </a:endParaRPr>
          </a:p>
        </p:txBody>
      </p:sp>
      <p:sp>
        <p:nvSpPr>
          <p:cNvPr id="12" name="TextBox 11">
            <a:extLst>
              <a:ext uri="{FF2B5EF4-FFF2-40B4-BE49-F238E27FC236}">
                <a16:creationId xmlns:a16="http://schemas.microsoft.com/office/drawing/2014/main" id="{A2530F16-1E0A-06AA-6F83-AA0F16B22CBC}"/>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3</a:t>
            </a:r>
            <a:endParaRPr lang="en-NL" sz="1000" b="1" dirty="0"/>
          </a:p>
        </p:txBody>
      </p:sp>
      <p:sp>
        <p:nvSpPr>
          <p:cNvPr id="56" name="Oval 55">
            <a:extLst>
              <a:ext uri="{FF2B5EF4-FFF2-40B4-BE49-F238E27FC236}">
                <a16:creationId xmlns:a16="http://schemas.microsoft.com/office/drawing/2014/main" id="{452BDB55-FAB0-4F5B-88B1-46B7DE7C9E65}"/>
              </a:ext>
            </a:extLst>
          </p:cNvPr>
          <p:cNvSpPr/>
          <p:nvPr/>
        </p:nvSpPr>
        <p:spPr>
          <a:xfrm>
            <a:off x="6523967" y="3598218"/>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endParaRPr lang="en-NL" dirty="0"/>
          </a:p>
        </p:txBody>
      </p:sp>
      <p:sp>
        <p:nvSpPr>
          <p:cNvPr id="8" name="Oval 7">
            <a:extLst>
              <a:ext uri="{FF2B5EF4-FFF2-40B4-BE49-F238E27FC236}">
                <a16:creationId xmlns:a16="http://schemas.microsoft.com/office/drawing/2014/main" id="{D3E7B706-5853-FA14-2A25-40C2FC6925F9}"/>
              </a:ext>
            </a:extLst>
          </p:cNvPr>
          <p:cNvSpPr/>
          <p:nvPr/>
        </p:nvSpPr>
        <p:spPr>
          <a:xfrm>
            <a:off x="6517372" y="2078563"/>
            <a:ext cx="409575" cy="409575"/>
          </a:xfrm>
          <a:prstGeom prst="ellipse">
            <a:avLst/>
          </a:prstGeom>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NL" sz="1700" dirty="0"/>
          </a:p>
        </p:txBody>
      </p:sp>
      <p:sp>
        <p:nvSpPr>
          <p:cNvPr id="58" name="Oval 57">
            <a:extLst>
              <a:ext uri="{FF2B5EF4-FFF2-40B4-BE49-F238E27FC236}">
                <a16:creationId xmlns:a16="http://schemas.microsoft.com/office/drawing/2014/main" id="{BA9418DA-FC41-97ED-76C9-25D7572DF496}"/>
              </a:ext>
            </a:extLst>
          </p:cNvPr>
          <p:cNvSpPr/>
          <p:nvPr/>
        </p:nvSpPr>
        <p:spPr>
          <a:xfrm>
            <a:off x="7959097" y="3598218"/>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endParaRPr lang="en-NL" dirty="0"/>
          </a:p>
        </p:txBody>
      </p:sp>
      <p:sp>
        <p:nvSpPr>
          <p:cNvPr id="49" name="Oval 48">
            <a:extLst>
              <a:ext uri="{FF2B5EF4-FFF2-40B4-BE49-F238E27FC236}">
                <a16:creationId xmlns:a16="http://schemas.microsoft.com/office/drawing/2014/main" id="{036789A3-F5AC-3ABA-7AB0-670B82FC8D77}"/>
              </a:ext>
            </a:extLst>
          </p:cNvPr>
          <p:cNvSpPr/>
          <p:nvPr/>
        </p:nvSpPr>
        <p:spPr>
          <a:xfrm>
            <a:off x="9394226" y="3598218"/>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endParaRPr lang="en-NL" dirty="0"/>
          </a:p>
        </p:txBody>
      </p:sp>
      <p:sp>
        <p:nvSpPr>
          <p:cNvPr id="72" name="Oval 71">
            <a:extLst>
              <a:ext uri="{FF2B5EF4-FFF2-40B4-BE49-F238E27FC236}">
                <a16:creationId xmlns:a16="http://schemas.microsoft.com/office/drawing/2014/main" id="{A4CDC3F1-26BD-B3E9-AEA0-EA8509A98B97}"/>
              </a:ext>
            </a:extLst>
          </p:cNvPr>
          <p:cNvSpPr/>
          <p:nvPr/>
        </p:nvSpPr>
        <p:spPr>
          <a:xfrm>
            <a:off x="6523967" y="5117874"/>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endParaRPr lang="en-NL" dirty="0"/>
          </a:p>
        </p:txBody>
      </p:sp>
      <p:sp>
        <p:nvSpPr>
          <p:cNvPr id="73" name="Oval 72">
            <a:extLst>
              <a:ext uri="{FF2B5EF4-FFF2-40B4-BE49-F238E27FC236}">
                <a16:creationId xmlns:a16="http://schemas.microsoft.com/office/drawing/2014/main" id="{78BE8E10-E6DD-CAD9-259E-55E4BF22B89D}"/>
              </a:ext>
            </a:extLst>
          </p:cNvPr>
          <p:cNvSpPr/>
          <p:nvPr/>
        </p:nvSpPr>
        <p:spPr>
          <a:xfrm>
            <a:off x="7959097" y="5117874"/>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endParaRPr lang="en-NL" dirty="0"/>
          </a:p>
        </p:txBody>
      </p:sp>
      <p:sp>
        <p:nvSpPr>
          <p:cNvPr id="74" name="Oval 73">
            <a:extLst>
              <a:ext uri="{FF2B5EF4-FFF2-40B4-BE49-F238E27FC236}">
                <a16:creationId xmlns:a16="http://schemas.microsoft.com/office/drawing/2014/main" id="{938A373D-58B1-E4B7-69C6-C61953C32C3D}"/>
              </a:ext>
            </a:extLst>
          </p:cNvPr>
          <p:cNvSpPr/>
          <p:nvPr/>
        </p:nvSpPr>
        <p:spPr>
          <a:xfrm>
            <a:off x="9394226" y="5117874"/>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endParaRPr lang="en-NL" dirty="0"/>
          </a:p>
        </p:txBody>
      </p:sp>
      <p:sp>
        <p:nvSpPr>
          <p:cNvPr id="21" name="Oval 20">
            <a:extLst>
              <a:ext uri="{FF2B5EF4-FFF2-40B4-BE49-F238E27FC236}">
                <a16:creationId xmlns:a16="http://schemas.microsoft.com/office/drawing/2014/main" id="{62DD0E02-7FA6-82D0-2A1A-7D6B0F4FA4F4}"/>
              </a:ext>
            </a:extLst>
          </p:cNvPr>
          <p:cNvSpPr/>
          <p:nvPr/>
        </p:nvSpPr>
        <p:spPr>
          <a:xfrm>
            <a:off x="9394226" y="2078563"/>
            <a:ext cx="409575" cy="409575"/>
          </a:xfrm>
          <a:prstGeom prst="ellipse">
            <a:avLst/>
          </a:prstGeom>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NL" sz="1700" dirty="0"/>
          </a:p>
        </p:txBody>
      </p:sp>
      <p:sp>
        <p:nvSpPr>
          <p:cNvPr id="88" name="Oval 87">
            <a:extLst>
              <a:ext uri="{FF2B5EF4-FFF2-40B4-BE49-F238E27FC236}">
                <a16:creationId xmlns:a16="http://schemas.microsoft.com/office/drawing/2014/main" id="{20644FBB-6431-9581-E11B-461744EC5426}"/>
              </a:ext>
            </a:extLst>
          </p:cNvPr>
          <p:cNvSpPr/>
          <p:nvPr/>
        </p:nvSpPr>
        <p:spPr>
          <a:xfrm>
            <a:off x="7959096" y="2078631"/>
            <a:ext cx="409575" cy="409575"/>
          </a:xfrm>
          <a:prstGeom prst="ellipse">
            <a:avLst/>
          </a:prstGeom>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NL" sz="1700" dirty="0"/>
          </a:p>
        </p:txBody>
      </p:sp>
      <p:sp>
        <p:nvSpPr>
          <p:cNvPr id="14" name="Content Placeholder 2">
            <a:extLst>
              <a:ext uri="{FF2B5EF4-FFF2-40B4-BE49-F238E27FC236}">
                <a16:creationId xmlns:a16="http://schemas.microsoft.com/office/drawing/2014/main" id="{8D998FD9-EF58-12CB-3891-C021F82BB5B6}"/>
              </a:ext>
            </a:extLst>
          </p:cNvPr>
          <p:cNvSpPr>
            <a:spLocks noGrp="1"/>
          </p:cNvSpPr>
          <p:nvPr>
            <p:ph idx="1"/>
          </p:nvPr>
        </p:nvSpPr>
        <p:spPr>
          <a:xfrm>
            <a:off x="695325" y="1628776"/>
            <a:ext cx="3224529" cy="4321174"/>
          </a:xfrm>
        </p:spPr>
        <p:txBody>
          <a:bodyPr>
            <a:normAutofit/>
          </a:bodyPr>
          <a:lstStyle/>
          <a:p>
            <a:pPr>
              <a:lnSpc>
                <a:spcPct val="85000"/>
              </a:lnSpc>
              <a:spcAft>
                <a:spcPts val="1800"/>
              </a:spcAft>
            </a:pPr>
            <a:r>
              <a:rPr lang="en-US" sz="2000" dirty="0"/>
              <a:t>Biological sex does not align with the gender-based variables.</a:t>
            </a:r>
          </a:p>
          <a:p>
            <a:pPr>
              <a:lnSpc>
                <a:spcPct val="85000"/>
              </a:lnSpc>
              <a:spcAft>
                <a:spcPts val="1800"/>
              </a:spcAft>
            </a:pPr>
            <a:r>
              <a:rPr lang="en-US" sz="2000" dirty="0"/>
              <a:t>Legal gender and administrative gender are related, but only partially align.</a:t>
            </a:r>
          </a:p>
          <a:p>
            <a:pPr>
              <a:lnSpc>
                <a:spcPct val="85000"/>
              </a:lnSpc>
              <a:spcAft>
                <a:spcPts val="1800"/>
              </a:spcAft>
            </a:pPr>
            <a:r>
              <a:rPr lang="en-US" sz="2000" dirty="0"/>
              <a:t>Amir can now rule out unsafe reuse.</a:t>
            </a:r>
            <a:endParaRPr lang="en-NL" sz="2000" dirty="0"/>
          </a:p>
        </p:txBody>
      </p:sp>
      <p:cxnSp>
        <p:nvCxnSpPr>
          <p:cNvPr id="29" name="Straight Connector 28">
            <a:extLst>
              <a:ext uri="{FF2B5EF4-FFF2-40B4-BE49-F238E27FC236}">
                <a16:creationId xmlns:a16="http://schemas.microsoft.com/office/drawing/2014/main" id="{22654AB0-6AC5-F145-B8B4-8E95CA81E684}"/>
              </a:ext>
            </a:extLst>
          </p:cNvPr>
          <p:cNvCxnSpPr>
            <a:cxnSpLocks/>
          </p:cNvCxnSpPr>
          <p:nvPr/>
        </p:nvCxnSpPr>
        <p:spPr>
          <a:xfrm>
            <a:off x="11321146" y="1639416"/>
            <a:ext cx="0" cy="3045070"/>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0B1104ED-340A-A5B2-26AC-DEA52FBDF4FC}"/>
              </a:ext>
            </a:extLst>
          </p:cNvPr>
          <p:cNvSpPr txBox="1"/>
          <p:nvPr/>
        </p:nvSpPr>
        <p:spPr>
          <a:xfrm rot="18900000">
            <a:off x="8164099" y="2071359"/>
            <a:ext cx="1936492" cy="276999"/>
          </a:xfrm>
          <a:prstGeom prst="rect">
            <a:avLst/>
          </a:prstGeom>
          <a:noFill/>
        </p:spPr>
        <p:txBody>
          <a:bodyPr wrap="none" rtlCol="0" anchor="ctr">
            <a:spAutoFit/>
          </a:bodyPr>
          <a:lstStyle/>
          <a:p>
            <a:pPr algn="ctr"/>
            <a:r>
              <a:rPr lang="en-US" sz="1200" dirty="0" err="1">
                <a:solidFill>
                  <a:schemeClr val="bg1">
                    <a:lumMod val="65000"/>
                  </a:schemeClr>
                </a:solidFill>
              </a:rPr>
              <a:t>hrio:AdministrativeGender</a:t>
            </a:r>
            <a:endParaRPr lang="en-NL" sz="1200" dirty="0">
              <a:solidFill>
                <a:schemeClr val="bg1">
                  <a:lumMod val="65000"/>
                </a:schemeClr>
              </a:solidFill>
            </a:endParaRPr>
          </a:p>
        </p:txBody>
      </p:sp>
      <p:cxnSp>
        <p:nvCxnSpPr>
          <p:cNvPr id="40" name="Straight Arrow Connector 39">
            <a:extLst>
              <a:ext uri="{FF2B5EF4-FFF2-40B4-BE49-F238E27FC236}">
                <a16:creationId xmlns:a16="http://schemas.microsoft.com/office/drawing/2014/main" id="{BD6DCCDD-1657-B117-33F6-BE6933CF2323}"/>
              </a:ext>
            </a:extLst>
          </p:cNvPr>
          <p:cNvCxnSpPr>
            <a:cxnSpLocks/>
            <a:stCxn id="74" idx="2"/>
            <a:endCxn id="73" idx="6"/>
          </p:cNvCxnSpPr>
          <p:nvPr/>
        </p:nvCxnSpPr>
        <p:spPr>
          <a:xfrm flipH="1">
            <a:off x="8368672" y="5322662"/>
            <a:ext cx="1025554" cy="0"/>
          </a:xfrm>
          <a:prstGeom prst="straightConnector1">
            <a:avLst/>
          </a:prstGeom>
          <a:ln w="50800" cap="flat" cmpd="sng" algn="ctr">
            <a:solidFill>
              <a:schemeClr val="accent2"/>
            </a:solidFill>
            <a:prstDash val="sysDot"/>
            <a:round/>
            <a:headEnd type="triangle" w="lg" len="lg"/>
            <a:tailEnd type="triangle" w="lg" len="lg"/>
          </a:ln>
        </p:spPr>
        <p:style>
          <a:lnRef idx="0">
            <a:scrgbClr r="0" g="0" b="0"/>
          </a:lnRef>
          <a:fillRef idx="0">
            <a:scrgbClr r="0" g="0" b="0"/>
          </a:fillRef>
          <a:effectRef idx="0">
            <a:scrgbClr r="0" g="0" b="0"/>
          </a:effectRef>
          <a:fontRef idx="minor">
            <a:schemeClr val="tx1"/>
          </a:fontRef>
        </p:style>
      </p:cxnSp>
      <p:cxnSp>
        <p:nvCxnSpPr>
          <p:cNvPr id="47" name="Straight Arrow Connector 46">
            <a:extLst>
              <a:ext uri="{FF2B5EF4-FFF2-40B4-BE49-F238E27FC236}">
                <a16:creationId xmlns:a16="http://schemas.microsoft.com/office/drawing/2014/main" id="{E604BA72-AA9B-DAC4-7ABD-7C223FEA757A}"/>
              </a:ext>
            </a:extLst>
          </p:cNvPr>
          <p:cNvCxnSpPr>
            <a:cxnSpLocks/>
            <a:stCxn id="49" idx="2"/>
            <a:endCxn id="58" idx="6"/>
          </p:cNvCxnSpPr>
          <p:nvPr/>
        </p:nvCxnSpPr>
        <p:spPr>
          <a:xfrm flipH="1">
            <a:off x="8368672" y="3803006"/>
            <a:ext cx="1025554" cy="0"/>
          </a:xfrm>
          <a:prstGeom prst="straightConnector1">
            <a:avLst/>
          </a:prstGeom>
          <a:ln w="50800" cap="flat" cmpd="sng" algn="ctr">
            <a:solidFill>
              <a:schemeClr val="accent2"/>
            </a:solidFill>
            <a:prstDash val="sysDot"/>
            <a:round/>
            <a:headEnd type="triangle" w="lg" len="lg"/>
            <a:tailEnd type="triangle" w="lg" len="lg"/>
          </a:ln>
        </p:spPr>
        <p:style>
          <a:lnRef idx="0">
            <a:scrgbClr r="0" g="0" b="0"/>
          </a:lnRef>
          <a:fillRef idx="0">
            <a:scrgbClr r="0" g="0" b="0"/>
          </a:fillRef>
          <a:effectRef idx="0">
            <a:scrgbClr r="0" g="0" b="0"/>
          </a:effectRef>
          <a:fontRef idx="minor">
            <a:schemeClr val="tx1"/>
          </a:fontRef>
        </p:style>
      </p:cxnSp>
      <p:cxnSp>
        <p:nvCxnSpPr>
          <p:cNvPr id="26" name="Straight Arrow Connector 25">
            <a:extLst>
              <a:ext uri="{FF2B5EF4-FFF2-40B4-BE49-F238E27FC236}">
                <a16:creationId xmlns:a16="http://schemas.microsoft.com/office/drawing/2014/main" id="{733814FB-6B62-2B34-DB44-EF3728727745}"/>
              </a:ext>
            </a:extLst>
          </p:cNvPr>
          <p:cNvCxnSpPr>
            <a:cxnSpLocks/>
            <a:stCxn id="56" idx="0"/>
            <a:endCxn id="8" idx="4"/>
          </p:cNvCxnSpPr>
          <p:nvPr/>
        </p:nvCxnSpPr>
        <p:spPr>
          <a:xfrm flipH="1" flipV="1">
            <a:off x="6722160" y="2488138"/>
            <a:ext cx="6595" cy="1110080"/>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FEE5BB9C-F047-9DCE-9DA3-015F3D33A800}"/>
              </a:ext>
            </a:extLst>
          </p:cNvPr>
          <p:cNvCxnSpPr>
            <a:cxnSpLocks/>
            <a:stCxn id="58" idx="0"/>
            <a:endCxn id="88" idx="4"/>
          </p:cNvCxnSpPr>
          <p:nvPr/>
        </p:nvCxnSpPr>
        <p:spPr>
          <a:xfrm flipH="1" flipV="1">
            <a:off x="8163884" y="2488206"/>
            <a:ext cx="1" cy="111001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F4BBC9AB-69D4-CAD4-9949-F5D7662C1C62}"/>
              </a:ext>
            </a:extLst>
          </p:cNvPr>
          <p:cNvCxnSpPr>
            <a:cxnSpLocks/>
            <a:stCxn id="73" idx="0"/>
            <a:endCxn id="58" idx="4"/>
          </p:cNvCxnSpPr>
          <p:nvPr/>
        </p:nvCxnSpPr>
        <p:spPr>
          <a:xfrm flipV="1">
            <a:off x="8163885" y="4007793"/>
            <a:ext cx="0" cy="1110081"/>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C6D3012C-7827-1F1D-3195-227F4BE39681}"/>
              </a:ext>
            </a:extLst>
          </p:cNvPr>
          <p:cNvCxnSpPr>
            <a:cxnSpLocks/>
            <a:stCxn id="72" idx="0"/>
            <a:endCxn id="56" idx="4"/>
          </p:cNvCxnSpPr>
          <p:nvPr/>
        </p:nvCxnSpPr>
        <p:spPr>
          <a:xfrm flipV="1">
            <a:off x="6728755" y="4007793"/>
            <a:ext cx="0" cy="1110081"/>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D7862837-D7AB-499B-C407-3A189EE19BB4}"/>
              </a:ext>
            </a:extLst>
          </p:cNvPr>
          <p:cNvCxnSpPr>
            <a:cxnSpLocks/>
            <a:stCxn id="49" idx="0"/>
            <a:endCxn id="21" idx="4"/>
          </p:cNvCxnSpPr>
          <p:nvPr/>
        </p:nvCxnSpPr>
        <p:spPr>
          <a:xfrm flipV="1">
            <a:off x="9599014" y="2488138"/>
            <a:ext cx="0" cy="1110080"/>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6C1EA228-FFCB-69F1-FF0A-7ED4F47DEEBE}"/>
              </a:ext>
            </a:extLst>
          </p:cNvPr>
          <p:cNvCxnSpPr>
            <a:cxnSpLocks/>
            <a:stCxn id="74" idx="0"/>
            <a:endCxn id="49" idx="4"/>
          </p:cNvCxnSpPr>
          <p:nvPr/>
        </p:nvCxnSpPr>
        <p:spPr>
          <a:xfrm flipV="1">
            <a:off x="9599014" y="4007793"/>
            <a:ext cx="0" cy="1110081"/>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9E2AEDF3-6A51-DF84-7E85-4AFFA75872B1}"/>
              </a:ext>
            </a:extLst>
          </p:cNvPr>
          <p:cNvCxnSpPr>
            <a:cxnSpLocks/>
            <a:stCxn id="88" idx="6"/>
            <a:endCxn id="21" idx="2"/>
          </p:cNvCxnSpPr>
          <p:nvPr/>
        </p:nvCxnSpPr>
        <p:spPr>
          <a:xfrm flipV="1">
            <a:off x="8368671" y="2283351"/>
            <a:ext cx="1025555" cy="68"/>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9DF0DB50-02A2-AB02-8550-93F9D22F82D7}"/>
              </a:ext>
            </a:extLst>
          </p:cNvPr>
          <p:cNvCxnSpPr>
            <a:cxnSpLocks/>
            <a:stCxn id="73" idx="2"/>
            <a:endCxn id="72" idx="6"/>
          </p:cNvCxnSpPr>
          <p:nvPr/>
        </p:nvCxnSpPr>
        <p:spPr>
          <a:xfrm flipH="1">
            <a:off x="6933542" y="5322662"/>
            <a:ext cx="1025555" cy="0"/>
          </a:xfrm>
          <a:prstGeom prst="straightConnector1">
            <a:avLst/>
          </a:prstGeom>
          <a:ln w="50800" cap="flat" cmpd="sng" algn="ctr">
            <a:solidFill>
              <a:schemeClr val="accent6"/>
            </a:solidFill>
            <a:prstDash val="sysDot"/>
            <a:round/>
            <a:headEnd type="triangle" w="lg" len="lg"/>
            <a:tailEnd type="triangle" w="lg" len="lg"/>
          </a:ln>
        </p:spPr>
        <p:style>
          <a:lnRef idx="0">
            <a:scrgbClr r="0" g="0" b="0"/>
          </a:lnRef>
          <a:fillRef idx="0">
            <a:scrgbClr r="0" g="0" b="0"/>
          </a:fillRef>
          <a:effectRef idx="0">
            <a:scrgbClr r="0" g="0" b="0"/>
          </a:effectRef>
          <a:fontRef idx="minor">
            <a:schemeClr val="tx1"/>
          </a:fontRef>
        </p:style>
      </p:cxnSp>
      <p:cxnSp>
        <p:nvCxnSpPr>
          <p:cNvPr id="43" name="Straight Arrow Connector 42">
            <a:extLst>
              <a:ext uri="{FF2B5EF4-FFF2-40B4-BE49-F238E27FC236}">
                <a16:creationId xmlns:a16="http://schemas.microsoft.com/office/drawing/2014/main" id="{9CD9C69F-32B3-F43D-611B-C808B9C4F225}"/>
              </a:ext>
            </a:extLst>
          </p:cNvPr>
          <p:cNvCxnSpPr>
            <a:cxnSpLocks/>
            <a:stCxn id="58" idx="2"/>
            <a:endCxn id="56" idx="6"/>
          </p:cNvCxnSpPr>
          <p:nvPr/>
        </p:nvCxnSpPr>
        <p:spPr>
          <a:xfrm flipH="1">
            <a:off x="6933542" y="3803006"/>
            <a:ext cx="1025555" cy="0"/>
          </a:xfrm>
          <a:prstGeom prst="straightConnector1">
            <a:avLst/>
          </a:prstGeom>
          <a:ln w="50800" cap="flat" cmpd="sng" algn="ctr">
            <a:solidFill>
              <a:schemeClr val="accent6"/>
            </a:solidFill>
            <a:prstDash val="sysDot"/>
            <a:round/>
            <a:headEnd type="triangle" w="lg" len="lg"/>
            <a:tailEnd type="triangle" w="lg" len="lg"/>
          </a:ln>
        </p:spPr>
        <p:style>
          <a:lnRef idx="0">
            <a:scrgbClr r="0" g="0" b="0"/>
          </a:lnRef>
          <a:fillRef idx="0">
            <a:scrgbClr r="0" g="0" b="0"/>
          </a:fillRef>
          <a:effectRef idx="0">
            <a:scrgbClr r="0" g="0" b="0"/>
          </a:effectRef>
          <a:fontRef idx="minor">
            <a:schemeClr val="tx1"/>
          </a:fontRef>
        </p:style>
      </p:cxnSp>
      <p:cxnSp>
        <p:nvCxnSpPr>
          <p:cNvPr id="55" name="Connector: Curved 54">
            <a:extLst>
              <a:ext uri="{FF2B5EF4-FFF2-40B4-BE49-F238E27FC236}">
                <a16:creationId xmlns:a16="http://schemas.microsoft.com/office/drawing/2014/main" id="{D1167D46-E8E8-31D5-355E-097AA2FF8699}"/>
              </a:ext>
            </a:extLst>
          </p:cNvPr>
          <p:cNvCxnSpPr>
            <a:stCxn id="72" idx="5"/>
            <a:endCxn id="74" idx="3"/>
          </p:cNvCxnSpPr>
          <p:nvPr/>
        </p:nvCxnSpPr>
        <p:spPr>
          <a:xfrm rot="16200000" flipH="1">
            <a:off x="8163884" y="4177145"/>
            <a:ext cx="12700" cy="2580646"/>
          </a:xfrm>
          <a:prstGeom prst="curvedConnector3">
            <a:avLst>
              <a:gd name="adj1" fmla="val 2572291"/>
            </a:avLst>
          </a:prstGeom>
          <a:ln w="50800" cap="flat" cmpd="sng" algn="ctr">
            <a:solidFill>
              <a:schemeClr val="accent6"/>
            </a:solidFill>
            <a:prstDash val="sysDot"/>
            <a:round/>
            <a:headEnd type="triangle" w="lg" len="lg"/>
            <a:tailEnd type="triangle" w="lg" len="lg"/>
          </a:ln>
        </p:spPr>
        <p:style>
          <a:lnRef idx="0">
            <a:scrgbClr r="0" g="0" b="0"/>
          </a:lnRef>
          <a:fillRef idx="0">
            <a:scrgbClr r="0" g="0" b="0"/>
          </a:fillRef>
          <a:effectRef idx="0">
            <a:scrgbClr r="0" g="0" b="0"/>
          </a:effectRef>
          <a:fontRef idx="minor">
            <a:schemeClr val="tx1"/>
          </a:fontRef>
        </p:style>
      </p:cxnSp>
      <p:cxnSp>
        <p:nvCxnSpPr>
          <p:cNvPr id="59" name="Connector: Curved 58">
            <a:extLst>
              <a:ext uri="{FF2B5EF4-FFF2-40B4-BE49-F238E27FC236}">
                <a16:creationId xmlns:a16="http://schemas.microsoft.com/office/drawing/2014/main" id="{BAC636D5-FC72-3F44-AFA4-E69FACF9CB62}"/>
              </a:ext>
            </a:extLst>
          </p:cNvPr>
          <p:cNvCxnSpPr>
            <a:cxnSpLocks/>
            <a:stCxn id="56" idx="5"/>
            <a:endCxn id="49" idx="3"/>
          </p:cNvCxnSpPr>
          <p:nvPr/>
        </p:nvCxnSpPr>
        <p:spPr>
          <a:xfrm rot="16200000" flipH="1">
            <a:off x="8163884" y="2657489"/>
            <a:ext cx="12700" cy="2580646"/>
          </a:xfrm>
          <a:prstGeom prst="curvedConnector3">
            <a:avLst>
              <a:gd name="adj1" fmla="val 2672291"/>
            </a:avLst>
          </a:prstGeom>
          <a:ln w="50800" cap="flat" cmpd="sng" algn="ctr">
            <a:solidFill>
              <a:schemeClr val="accent6"/>
            </a:solidFill>
            <a:prstDash val="sysDot"/>
            <a:round/>
            <a:headEnd type="triangle" w="lg" len="lg"/>
            <a:tailEnd type="triangle" w="lg" len="lg"/>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210343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952919-E793-4622-0B22-68FB9FE3561C}"/>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3792FABE-9252-A737-3D85-129E99DD4E97}"/>
              </a:ext>
            </a:extLst>
          </p:cNvPr>
          <p:cNvPicPr>
            <a:picLocks noChangeAspect="1"/>
          </p:cNvPicPr>
          <p:nvPr/>
        </p:nvPicPr>
        <p:blipFill>
          <a:blip r:embed="rId3"/>
          <a:srcRect t="21286" r="49991" b="18695"/>
          <a:stretch>
            <a:fillRect/>
          </a:stretch>
        </p:blipFill>
        <p:spPr>
          <a:xfrm>
            <a:off x="695325" y="1628775"/>
            <a:ext cx="5400675" cy="4321175"/>
          </a:xfrm>
          <a:prstGeom prst="rect">
            <a:avLst/>
          </a:prstGeom>
        </p:spPr>
      </p:pic>
      <p:sp>
        <p:nvSpPr>
          <p:cNvPr id="71" name="Rectangle 70">
            <a:extLst>
              <a:ext uri="{FF2B5EF4-FFF2-40B4-BE49-F238E27FC236}">
                <a16:creationId xmlns:a16="http://schemas.microsoft.com/office/drawing/2014/main" id="{F14A8E9A-0A39-DC7C-18E0-0AC90E0E85CA}"/>
              </a:ext>
            </a:extLst>
          </p:cNvPr>
          <p:cNvSpPr/>
          <p:nvPr/>
        </p:nvSpPr>
        <p:spPr>
          <a:xfrm>
            <a:off x="5136204" y="1628775"/>
            <a:ext cx="6350219" cy="4321175"/>
          </a:xfrm>
          <a:prstGeom prst="rect">
            <a:avLst/>
          </a:prstGeom>
          <a:solidFill>
            <a:schemeClr val="accent1">
              <a:lumMod val="20000"/>
              <a:lumOff val="80000"/>
              <a:alpha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0" tIns="180000" rIns="180000" bIns="180000" rtlCol="0" anchor="ctr"/>
          <a:lstStyle/>
          <a:p>
            <a:endParaRPr lang="en-NL" sz="2000" i="1" dirty="0">
              <a:solidFill>
                <a:schemeClr val="tx1"/>
              </a:solidFill>
            </a:endParaRPr>
          </a:p>
        </p:txBody>
      </p:sp>
      <p:cxnSp>
        <p:nvCxnSpPr>
          <p:cNvPr id="3" name="Connector: Elbow 2">
            <a:extLst>
              <a:ext uri="{FF2B5EF4-FFF2-40B4-BE49-F238E27FC236}">
                <a16:creationId xmlns:a16="http://schemas.microsoft.com/office/drawing/2014/main" id="{115B74EF-7A54-4501-F1C3-DEA48EB4F7D6}"/>
              </a:ext>
            </a:extLst>
          </p:cNvPr>
          <p:cNvCxnSpPr>
            <a:cxnSpLocks/>
          </p:cNvCxnSpPr>
          <p:nvPr/>
        </p:nvCxnSpPr>
        <p:spPr>
          <a:xfrm flipV="1">
            <a:off x="7405404" y="3789363"/>
            <a:ext cx="2269615" cy="826612"/>
          </a:xfrm>
          <a:prstGeom prst="bentConnector3">
            <a:avLst>
              <a:gd name="adj1" fmla="val 86472"/>
            </a:avLst>
          </a:pr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cxnSp>
      <p:sp>
        <p:nvSpPr>
          <p:cNvPr id="5" name="Rectangle 4">
            <a:extLst>
              <a:ext uri="{FF2B5EF4-FFF2-40B4-BE49-F238E27FC236}">
                <a16:creationId xmlns:a16="http://schemas.microsoft.com/office/drawing/2014/main" id="{0A5E642B-14C9-18BB-2108-F108819B49F1}"/>
              </a:ext>
            </a:extLst>
          </p:cNvPr>
          <p:cNvSpPr/>
          <p:nvPr/>
        </p:nvSpPr>
        <p:spPr>
          <a:xfrm>
            <a:off x="7405404" y="4390615"/>
            <a:ext cx="1774451" cy="359279"/>
          </a:xfrm>
          <a:prstGeom prst="rect">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0" tIns="180000" rIns="180000" bIns="180000" rtlCol="0" anchor="ctr"/>
          <a:lstStyle/>
          <a:p>
            <a:endParaRPr lang="en-NL" sz="1200" i="1">
              <a:solidFill>
                <a:schemeClr val="tx1"/>
              </a:solidFill>
            </a:endParaRPr>
          </a:p>
        </p:txBody>
      </p:sp>
      <p:sp>
        <p:nvSpPr>
          <p:cNvPr id="4" name="Slide Number Placeholder 3">
            <a:extLst>
              <a:ext uri="{FF2B5EF4-FFF2-40B4-BE49-F238E27FC236}">
                <a16:creationId xmlns:a16="http://schemas.microsoft.com/office/drawing/2014/main" id="{284E5E81-AF18-DCB7-3FF7-93652390DBD1}"/>
              </a:ext>
            </a:extLst>
          </p:cNvPr>
          <p:cNvSpPr>
            <a:spLocks noGrp="1"/>
          </p:cNvSpPr>
          <p:nvPr>
            <p:ph type="sldNum" sz="quarter" idx="12"/>
          </p:nvPr>
        </p:nvSpPr>
        <p:spPr/>
        <p:txBody>
          <a:bodyPr/>
          <a:lstStyle/>
          <a:p>
            <a:fld id="{4FAB73BC-B049-4115-A692-8D63A059BFB8}" type="slidenum">
              <a:rPr lang="en-US" smtClean="0"/>
              <a:pPr/>
              <a:t>30</a:t>
            </a:fld>
            <a:endParaRPr lang="en-US" dirty="0"/>
          </a:p>
        </p:txBody>
      </p:sp>
      <p:sp>
        <p:nvSpPr>
          <p:cNvPr id="47" name="Title 1">
            <a:extLst>
              <a:ext uri="{FF2B5EF4-FFF2-40B4-BE49-F238E27FC236}">
                <a16:creationId xmlns:a16="http://schemas.microsoft.com/office/drawing/2014/main" id="{9DBFE7AF-389F-3103-AD35-F730CE96FE25}"/>
              </a:ext>
            </a:extLst>
          </p:cNvPr>
          <p:cNvSpPr>
            <a:spLocks noGrp="1"/>
          </p:cNvSpPr>
          <p:nvPr>
            <p:ph type="title"/>
          </p:nvPr>
        </p:nvSpPr>
        <p:spPr>
          <a:xfrm>
            <a:off x="695327" y="386001"/>
            <a:ext cx="9153523" cy="929259"/>
          </a:xfrm>
        </p:spPr>
        <p:txBody>
          <a:bodyPr/>
          <a:lstStyle/>
          <a:p>
            <a:r>
              <a:rPr lang="en-US" sz="3600" b="1" dirty="0"/>
              <a:t>Scenario 4: Query Semantic Knowledge Across Variables and Meanings</a:t>
            </a:r>
          </a:p>
        </p:txBody>
      </p:sp>
      <p:sp>
        <p:nvSpPr>
          <p:cNvPr id="74" name="Freeform: Shape 73">
            <a:extLst>
              <a:ext uri="{FF2B5EF4-FFF2-40B4-BE49-F238E27FC236}">
                <a16:creationId xmlns:a16="http://schemas.microsoft.com/office/drawing/2014/main" id="{EFADF616-2275-0117-7E58-C61EE672FA3B}"/>
              </a:ext>
            </a:extLst>
          </p:cNvPr>
          <p:cNvSpPr/>
          <p:nvPr/>
        </p:nvSpPr>
        <p:spPr>
          <a:xfrm>
            <a:off x="7034190" y="2917030"/>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2" tIns="43711" rIns="188262" bIns="43711" numCol="1" spcCol="1270" anchor="ctr" anchorCtr="0">
            <a:noAutofit/>
          </a:bodyPr>
          <a:lstStyle/>
          <a:p>
            <a:pPr marL="0" lvl="0" indent="0" algn="ctr" defTabSz="222250">
              <a:lnSpc>
                <a:spcPct val="90000"/>
              </a:lnSpc>
              <a:spcBef>
                <a:spcPct val="0"/>
              </a:spcBef>
              <a:spcAft>
                <a:spcPct val="35000"/>
              </a:spcAft>
              <a:buNone/>
            </a:pPr>
            <a:endParaRPr lang="en-NL" sz="1200" kern="1200" dirty="0"/>
          </a:p>
        </p:txBody>
      </p:sp>
      <p:sp>
        <p:nvSpPr>
          <p:cNvPr id="75" name="Freeform: Shape 74">
            <a:extLst>
              <a:ext uri="{FF2B5EF4-FFF2-40B4-BE49-F238E27FC236}">
                <a16:creationId xmlns:a16="http://schemas.microsoft.com/office/drawing/2014/main" id="{81C3F893-73D1-28B1-E2DC-98EEBCECC356}"/>
              </a:ext>
            </a:extLst>
          </p:cNvPr>
          <p:cNvSpPr/>
          <p:nvPr/>
        </p:nvSpPr>
        <p:spPr>
          <a:xfrm>
            <a:off x="6162481" y="3486855"/>
            <a:ext cx="2206819" cy="572615"/>
          </a:xfrm>
          <a:custGeom>
            <a:avLst/>
            <a:gdLst>
              <a:gd name="csX0" fmla="*/ 4297663 w 4297663"/>
              <a:gd name="csY0" fmla="*/ 0 h 371214"/>
              <a:gd name="csX1" fmla="*/ 4297663 w 4297663"/>
              <a:gd name="csY1" fmla="*/ 202707 h 371214"/>
              <a:gd name="csX2" fmla="*/ 0 w 4297663"/>
              <a:gd name="csY2" fmla="*/ 202707 h 371214"/>
              <a:gd name="csX3" fmla="*/ 0 w 4297663"/>
              <a:gd name="csY3" fmla="*/ 371214 h 371214"/>
            </a:gdLst>
            <a:ahLst/>
            <a:cxnLst>
              <a:cxn ang="0">
                <a:pos x="csX0" y="csY0"/>
              </a:cxn>
              <a:cxn ang="0">
                <a:pos x="csX1" y="csY1"/>
              </a:cxn>
              <a:cxn ang="0">
                <a:pos x="csX2" y="csY2"/>
              </a:cxn>
              <a:cxn ang="0">
                <a:pos x="csX3" y="csY3"/>
              </a:cxn>
            </a:cxnLst>
            <a:rect l="l" t="t" r="r" b="b"/>
            <a:pathLst>
              <a:path w="4297663" h="371214">
                <a:moveTo>
                  <a:pt x="4297663" y="0"/>
                </a:moveTo>
                <a:lnTo>
                  <a:pt x="4297663" y="202707"/>
                </a:lnTo>
                <a:lnTo>
                  <a:pt x="0" y="202707"/>
                </a:lnTo>
                <a:lnTo>
                  <a:pt x="0" y="371214"/>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2053622" tIns="183598" rIns="2053621" bIns="183598" numCol="1" spcCol="1270" anchor="ctr" anchorCtr="0">
            <a:noAutofit/>
          </a:bodyPr>
          <a:lstStyle/>
          <a:p>
            <a:pPr marL="0" lvl="0" indent="0" algn="ctr" defTabSz="222250">
              <a:lnSpc>
                <a:spcPct val="90000"/>
              </a:lnSpc>
              <a:spcBef>
                <a:spcPct val="0"/>
              </a:spcBef>
              <a:spcAft>
                <a:spcPct val="35000"/>
              </a:spcAft>
              <a:buNone/>
            </a:pPr>
            <a:endParaRPr lang="en-NL" sz="1200" kern="1200"/>
          </a:p>
        </p:txBody>
      </p:sp>
      <p:sp>
        <p:nvSpPr>
          <p:cNvPr id="76" name="Freeform: Shape 75">
            <a:extLst>
              <a:ext uri="{FF2B5EF4-FFF2-40B4-BE49-F238E27FC236}">
                <a16:creationId xmlns:a16="http://schemas.microsoft.com/office/drawing/2014/main" id="{096AAC1E-62B3-4596-749C-8E24AEB63E94}"/>
              </a:ext>
            </a:extLst>
          </p:cNvPr>
          <p:cNvSpPr/>
          <p:nvPr/>
        </p:nvSpPr>
        <p:spPr>
          <a:xfrm>
            <a:off x="7034190" y="4570255"/>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2" tIns="43711" rIns="188262" bIns="43711" numCol="1" spcCol="1270" anchor="ctr" anchorCtr="0">
            <a:noAutofit/>
          </a:bodyPr>
          <a:lstStyle/>
          <a:p>
            <a:pPr marL="0" lvl="0" indent="0" algn="ctr" defTabSz="222250">
              <a:lnSpc>
                <a:spcPct val="90000"/>
              </a:lnSpc>
              <a:spcBef>
                <a:spcPct val="0"/>
              </a:spcBef>
              <a:spcAft>
                <a:spcPct val="35000"/>
              </a:spcAft>
              <a:buNone/>
            </a:pPr>
            <a:endParaRPr lang="en-NL" sz="1200" kern="1200"/>
          </a:p>
        </p:txBody>
      </p:sp>
      <p:sp>
        <p:nvSpPr>
          <p:cNvPr id="79" name="Freeform: Shape 78">
            <a:extLst>
              <a:ext uri="{FF2B5EF4-FFF2-40B4-BE49-F238E27FC236}">
                <a16:creationId xmlns:a16="http://schemas.microsoft.com/office/drawing/2014/main" id="{3536AA09-FE9D-0B56-B6FD-45336037A89A}"/>
              </a:ext>
            </a:extLst>
          </p:cNvPr>
          <p:cNvSpPr/>
          <p:nvPr/>
        </p:nvSpPr>
        <p:spPr>
          <a:xfrm>
            <a:off x="5288972" y="2438645"/>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it-IT" sz="1200" b="1" dirty="0"/>
              <a:t>Scenario 1: </a:t>
            </a:r>
            <a:r>
              <a:rPr lang="en-US" sz="1200" dirty="0"/>
              <a:t>Clarify Meanings Before Reuse</a:t>
            </a:r>
            <a:endParaRPr lang="en-NL" sz="1200" dirty="0"/>
          </a:p>
        </p:txBody>
      </p:sp>
      <p:sp>
        <p:nvSpPr>
          <p:cNvPr id="80" name="Freeform: Shape 79">
            <a:extLst>
              <a:ext uri="{FF2B5EF4-FFF2-40B4-BE49-F238E27FC236}">
                <a16:creationId xmlns:a16="http://schemas.microsoft.com/office/drawing/2014/main" id="{EEBFA083-7735-0A2C-95B3-1B5F4FBD13AB}"/>
              </a:ext>
            </a:extLst>
          </p:cNvPr>
          <p:cNvSpPr/>
          <p:nvPr/>
        </p:nvSpPr>
        <p:spPr>
          <a:xfrm>
            <a:off x="7437804" y="2438645"/>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en-US" sz="1200" b="1" u="none" kern="1200" dirty="0"/>
              <a:t>Scenario 2: </a:t>
            </a:r>
            <a:r>
              <a:rPr lang="en-US" sz="1200" dirty="0"/>
              <a:t>Identify the datasets that represent the right meaning</a:t>
            </a:r>
            <a:endParaRPr lang="en-NL" sz="1200" b="0" u="none" kern="1200" dirty="0"/>
          </a:p>
        </p:txBody>
      </p:sp>
      <p:sp>
        <p:nvSpPr>
          <p:cNvPr id="77" name="Freeform: Shape 76">
            <a:extLst>
              <a:ext uri="{FF2B5EF4-FFF2-40B4-BE49-F238E27FC236}">
                <a16:creationId xmlns:a16="http://schemas.microsoft.com/office/drawing/2014/main" id="{0944DFD3-38D1-D5F9-DA0F-64E18260ABEB}"/>
              </a:ext>
            </a:extLst>
          </p:cNvPr>
          <p:cNvSpPr/>
          <p:nvPr/>
        </p:nvSpPr>
        <p:spPr>
          <a:xfrm>
            <a:off x="5288972" y="4091870"/>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en-US" sz="1200" b="1" dirty="0"/>
              <a:t>Scenario 3: </a:t>
            </a:r>
            <a:r>
              <a:rPr lang="en-US" sz="1200" dirty="0"/>
              <a:t>Use Mappings to Connect Data and Infer Reuse Knowledge</a:t>
            </a:r>
            <a:endParaRPr lang="en-NL" sz="1200" dirty="0"/>
          </a:p>
        </p:txBody>
      </p:sp>
      <p:sp>
        <p:nvSpPr>
          <p:cNvPr id="78" name="Freeform: Shape 77">
            <a:extLst>
              <a:ext uri="{FF2B5EF4-FFF2-40B4-BE49-F238E27FC236}">
                <a16:creationId xmlns:a16="http://schemas.microsoft.com/office/drawing/2014/main" id="{765079D2-5B08-0D37-BAAD-19E02905C747}"/>
              </a:ext>
            </a:extLst>
          </p:cNvPr>
          <p:cNvSpPr/>
          <p:nvPr/>
        </p:nvSpPr>
        <p:spPr>
          <a:xfrm>
            <a:off x="7437804" y="4091870"/>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en-US" sz="1200" b="1" u="none" kern="1200" dirty="0">
                <a:solidFill>
                  <a:schemeClr val="bg1"/>
                </a:solidFill>
              </a:rPr>
              <a:t>Scenario 4:</a:t>
            </a:r>
            <a:r>
              <a:rPr lang="en-US" sz="1200" b="0" u="none" kern="1200" dirty="0">
                <a:solidFill>
                  <a:schemeClr val="bg1"/>
                </a:solidFill>
              </a:rPr>
              <a:t> </a:t>
            </a:r>
            <a:r>
              <a:rPr lang="en-US" sz="1200" dirty="0">
                <a:solidFill>
                  <a:schemeClr val="bg1"/>
                </a:solidFill>
              </a:rPr>
              <a:t>Query Semantic Knowledge Across Variables and Meanings</a:t>
            </a:r>
            <a:endParaRPr lang="en-NL" sz="1200" kern="1200" dirty="0">
              <a:solidFill>
                <a:schemeClr val="bg1"/>
              </a:solidFill>
            </a:endParaRPr>
          </a:p>
        </p:txBody>
      </p:sp>
      <p:grpSp>
        <p:nvGrpSpPr>
          <p:cNvPr id="6" name="Group 5">
            <a:extLst>
              <a:ext uri="{FF2B5EF4-FFF2-40B4-BE49-F238E27FC236}">
                <a16:creationId xmlns:a16="http://schemas.microsoft.com/office/drawing/2014/main" id="{C0B61ED2-7945-6256-3450-0123CD6C1C71}"/>
              </a:ext>
            </a:extLst>
          </p:cNvPr>
          <p:cNvGrpSpPr/>
          <p:nvPr/>
        </p:nvGrpSpPr>
        <p:grpSpPr>
          <a:xfrm>
            <a:off x="9704903" y="2357067"/>
            <a:ext cx="1554653" cy="2783013"/>
            <a:chOff x="9704903" y="2357067"/>
            <a:chExt cx="1554653" cy="2783013"/>
          </a:xfrm>
        </p:grpSpPr>
        <p:sp>
          <p:nvSpPr>
            <p:cNvPr id="7" name="Freeform: Shape 6">
              <a:extLst>
                <a:ext uri="{FF2B5EF4-FFF2-40B4-BE49-F238E27FC236}">
                  <a16:creationId xmlns:a16="http://schemas.microsoft.com/office/drawing/2014/main" id="{EF620FA0-4505-E092-8EAD-C3A022D37717}"/>
                </a:ext>
              </a:extLst>
            </p:cNvPr>
            <p:cNvSpPr/>
            <p:nvPr/>
          </p:nvSpPr>
          <p:spPr>
            <a:xfrm>
              <a:off x="9704903" y="2438645"/>
              <a:ext cx="1554653" cy="2701435"/>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a:ln>
              <a:solidFill>
                <a:schemeClr val="accent1"/>
              </a:solidFill>
            </a:ln>
          </p:spPr>
          <p:style>
            <a:lnRef idx="1">
              <a:schemeClr val="accent2"/>
            </a:lnRef>
            <a:fillRef idx="3">
              <a:schemeClr val="accent2"/>
            </a:fillRef>
            <a:effectRef idx="2">
              <a:schemeClr val="accent2"/>
            </a:effectRef>
            <a:fontRef idx="minor">
              <a:schemeClr val="lt1"/>
            </a:fontRef>
          </p:style>
          <p:txBody>
            <a:bodyPr spcFirstLastPara="0" vert="horz" wrap="square" lIns="64008" tIns="64008" rIns="64008" bIns="64008" numCol="1" spcCol="1270" anchor="ctr" anchorCtr="0">
              <a:noAutofit/>
            </a:bodyPr>
            <a:lstStyle/>
            <a:p>
              <a:pPr marL="0" lvl="0" indent="0" algn="ctr" defTabSz="400050">
                <a:spcBef>
                  <a:spcPct val="0"/>
                </a:spcBef>
                <a:spcAft>
                  <a:spcPts val="600"/>
                </a:spcAft>
                <a:buNone/>
              </a:pPr>
              <a:r>
                <a:rPr lang="en-US" sz="1200" b="1" kern="1200" dirty="0">
                  <a:solidFill>
                    <a:schemeClr val="accent1"/>
                  </a:solidFill>
                </a:rPr>
                <a:t>Result</a:t>
              </a:r>
              <a:endParaRPr lang="en-NL" sz="1200" kern="1200" dirty="0">
                <a:solidFill>
                  <a:schemeClr val="accent1"/>
                </a:solidFill>
              </a:endParaRPr>
            </a:p>
          </p:txBody>
        </p:sp>
        <p:pic>
          <p:nvPicPr>
            <p:cNvPr id="8" name="Graphic 7" descr="Completed with solid fill">
              <a:extLst>
                <a:ext uri="{FF2B5EF4-FFF2-40B4-BE49-F238E27FC236}">
                  <a16:creationId xmlns:a16="http://schemas.microsoft.com/office/drawing/2014/main" id="{806029C7-A01B-C982-B6C5-070844E3763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695082" y="2357067"/>
              <a:ext cx="549093" cy="549093"/>
            </a:xfrm>
            <a:prstGeom prst="rect">
              <a:avLst/>
            </a:prstGeom>
          </p:spPr>
        </p:pic>
      </p:grpSp>
    </p:spTree>
    <p:extLst>
      <p:ext uri="{BB962C8B-B14F-4D97-AF65-F5344CB8AC3E}">
        <p14:creationId xmlns:p14="http://schemas.microsoft.com/office/powerpoint/2010/main" val="2723578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grpId="0" nodeType="withEffect">
                                  <p:stCondLst>
                                    <p:cond delay="0"/>
                                  </p:stCondLst>
                                  <p:childTnLst>
                                    <p:animScale>
                                      <p:cBhvr>
                                        <p:cTn id="6" dur="1000" fill="hold"/>
                                        <p:tgtEl>
                                          <p:spTgt spid="78"/>
                                        </p:tgtEl>
                                      </p:cBhvr>
                                      <p:by x="125000" y="125000"/>
                                    </p:animScale>
                                  </p:childTnLst>
                                </p:cTn>
                              </p:par>
                              <p:par>
                                <p:cTn id="7" presetID="9" presetClass="emph" presetSubtype="0" grpId="0" nodeType="withEffect">
                                  <p:stCondLst>
                                    <p:cond delay="0"/>
                                  </p:stCondLst>
                                  <p:childTnLst>
                                    <p:set>
                                      <p:cBhvr>
                                        <p:cTn id="8" dur="indefinite"/>
                                        <p:tgtEl>
                                          <p:spTgt spid="79"/>
                                        </p:tgtEl>
                                        <p:attrNameLst>
                                          <p:attrName>style.opacity</p:attrName>
                                        </p:attrNameLst>
                                      </p:cBhvr>
                                      <p:to>
                                        <p:strVal val="0.5"/>
                                      </p:to>
                                    </p:set>
                                    <p:animEffect filter="image" prLst="opacity: 0.5">
                                      <p:cBhvr rctx="IE">
                                        <p:cTn id="9" dur="indefinite"/>
                                        <p:tgtEl>
                                          <p:spTgt spid="79"/>
                                        </p:tgtEl>
                                      </p:cBhvr>
                                    </p:animEffect>
                                  </p:childTnLst>
                                </p:cTn>
                              </p:par>
                              <p:par>
                                <p:cTn id="10" presetID="9" presetClass="emph" presetSubtype="0" grpId="0" nodeType="withEffect">
                                  <p:stCondLst>
                                    <p:cond delay="0"/>
                                  </p:stCondLst>
                                  <p:childTnLst>
                                    <p:set>
                                      <p:cBhvr>
                                        <p:cTn id="11" dur="indefinite"/>
                                        <p:tgtEl>
                                          <p:spTgt spid="80"/>
                                        </p:tgtEl>
                                        <p:attrNameLst>
                                          <p:attrName>style.opacity</p:attrName>
                                        </p:attrNameLst>
                                      </p:cBhvr>
                                      <p:to>
                                        <p:strVal val="0.5"/>
                                      </p:to>
                                    </p:set>
                                    <p:animEffect filter="image" prLst="opacity: 0.5">
                                      <p:cBhvr rctx="IE">
                                        <p:cTn id="12" dur="indefinite"/>
                                        <p:tgtEl>
                                          <p:spTgt spid="80"/>
                                        </p:tgtEl>
                                      </p:cBhvr>
                                    </p:animEffect>
                                  </p:childTnLst>
                                </p:cTn>
                              </p:par>
                              <p:par>
                                <p:cTn id="13" presetID="9" presetClass="emph" presetSubtype="0" grpId="0" nodeType="withEffect">
                                  <p:stCondLst>
                                    <p:cond delay="0"/>
                                  </p:stCondLst>
                                  <p:childTnLst>
                                    <p:set>
                                      <p:cBhvr>
                                        <p:cTn id="14" dur="indefinite"/>
                                        <p:tgtEl>
                                          <p:spTgt spid="77"/>
                                        </p:tgtEl>
                                        <p:attrNameLst>
                                          <p:attrName>style.opacity</p:attrName>
                                        </p:attrNameLst>
                                      </p:cBhvr>
                                      <p:to>
                                        <p:strVal val="0.5"/>
                                      </p:to>
                                    </p:set>
                                    <p:animEffect filter="image" prLst="opacity: 0.5">
                                      <p:cBhvr rctx="IE">
                                        <p:cTn id="15" dur="indefinite"/>
                                        <p:tgtEl>
                                          <p:spTgt spid="77"/>
                                        </p:tgtEl>
                                      </p:cBhvr>
                                    </p:animEffect>
                                  </p:childTnLst>
                                </p:cTn>
                              </p:par>
                              <p:par>
                                <p:cTn id="16" presetID="9" presetClass="emph" presetSubtype="0" nodeType="withEffect">
                                  <p:stCondLst>
                                    <p:cond delay="0"/>
                                  </p:stCondLst>
                                  <p:childTnLst>
                                    <p:set>
                                      <p:cBhvr>
                                        <p:cTn id="17" dur="indefinite"/>
                                        <p:tgtEl>
                                          <p:spTgt spid="6"/>
                                        </p:tgtEl>
                                        <p:attrNameLst>
                                          <p:attrName>style.opacity</p:attrName>
                                        </p:attrNameLst>
                                      </p:cBhvr>
                                      <p:to>
                                        <p:strVal val="0.5"/>
                                      </p:to>
                                    </p:set>
                                    <p:animEffect filter="image" prLst="opacity: 0.5">
                                      <p:cBhvr rctx="IE">
                                        <p:cTn id="18" dur="indefinite"/>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 grpId="0" animBg="1"/>
      <p:bldP spid="80" grpId="0" animBg="1"/>
      <p:bldP spid="77" grpId="0" animBg="1"/>
      <p:bldP spid="78"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B0EE2D-2985-3510-C5F6-D87E590927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7B50D0-84FE-4877-62F5-D30CFAC551B5}"/>
              </a:ext>
            </a:extLst>
          </p:cNvPr>
          <p:cNvSpPr>
            <a:spLocks noGrp="1"/>
          </p:cNvSpPr>
          <p:nvPr>
            <p:ph type="title"/>
          </p:nvPr>
        </p:nvSpPr>
        <p:spPr>
          <a:xfrm>
            <a:off x="695327" y="386001"/>
            <a:ext cx="9296398" cy="929259"/>
          </a:xfrm>
        </p:spPr>
        <p:txBody>
          <a:bodyPr/>
          <a:lstStyle/>
          <a:p>
            <a:r>
              <a:rPr lang="en-US" sz="3600" dirty="0"/>
              <a:t>Scenario 4: Amir’s Question and Challenge</a:t>
            </a:r>
            <a:endParaRPr lang="en-NL" sz="3600" dirty="0"/>
          </a:p>
        </p:txBody>
      </p:sp>
      <p:sp>
        <p:nvSpPr>
          <p:cNvPr id="4" name="Slide Number Placeholder 3">
            <a:extLst>
              <a:ext uri="{FF2B5EF4-FFF2-40B4-BE49-F238E27FC236}">
                <a16:creationId xmlns:a16="http://schemas.microsoft.com/office/drawing/2014/main" id="{13CCBF46-A37B-0A7A-350F-17A78A859781}"/>
              </a:ext>
            </a:extLst>
          </p:cNvPr>
          <p:cNvSpPr>
            <a:spLocks noGrp="1"/>
          </p:cNvSpPr>
          <p:nvPr>
            <p:ph type="sldNum" sz="quarter" idx="12"/>
          </p:nvPr>
        </p:nvSpPr>
        <p:spPr/>
        <p:txBody>
          <a:bodyPr/>
          <a:lstStyle/>
          <a:p>
            <a:fld id="{4FAB73BC-B049-4115-A692-8D63A059BFB8}" type="slidenum">
              <a:rPr lang="en-US" smtClean="0"/>
              <a:pPr/>
              <a:t>31</a:t>
            </a:fld>
            <a:endParaRPr lang="en-US" dirty="0"/>
          </a:p>
        </p:txBody>
      </p:sp>
      <p:pic>
        <p:nvPicPr>
          <p:cNvPr id="5" name="Picture 4">
            <a:extLst>
              <a:ext uri="{FF2B5EF4-FFF2-40B4-BE49-F238E27FC236}">
                <a16:creationId xmlns:a16="http://schemas.microsoft.com/office/drawing/2014/main" id="{32C54517-4A84-BC00-2CFA-322CDA5D381A}"/>
              </a:ext>
            </a:extLst>
          </p:cNvPr>
          <p:cNvPicPr>
            <a:picLocks noChangeAspect="1"/>
          </p:cNvPicPr>
          <p:nvPr/>
        </p:nvPicPr>
        <p:blipFill>
          <a:blip r:embed="rId3"/>
          <a:srcRect t="21286" r="49991" b="18695"/>
          <a:stretch>
            <a:fillRect/>
          </a:stretch>
        </p:blipFill>
        <p:spPr>
          <a:xfrm>
            <a:off x="695325" y="1628775"/>
            <a:ext cx="5400675" cy="4321175"/>
          </a:xfrm>
          <a:prstGeom prst="rect">
            <a:avLst/>
          </a:prstGeom>
        </p:spPr>
      </p:pic>
      <p:sp>
        <p:nvSpPr>
          <p:cNvPr id="7" name="Rectangle 6">
            <a:extLst>
              <a:ext uri="{FF2B5EF4-FFF2-40B4-BE49-F238E27FC236}">
                <a16:creationId xmlns:a16="http://schemas.microsoft.com/office/drawing/2014/main" id="{E148D748-8B46-F28D-69AC-B7C4DFC38C6A}"/>
              </a:ext>
            </a:extLst>
          </p:cNvPr>
          <p:cNvSpPr/>
          <p:nvPr/>
        </p:nvSpPr>
        <p:spPr>
          <a:xfrm>
            <a:off x="5136204" y="1628775"/>
            <a:ext cx="6350219" cy="4321175"/>
          </a:xfrm>
          <a:prstGeom prst="rect">
            <a:avLst/>
          </a:prstGeom>
          <a:solidFill>
            <a:schemeClr val="accent1">
              <a:lumMod val="20000"/>
              <a:lumOff val="80000"/>
              <a:alpha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0" tIns="180000" rIns="180000" bIns="180000" rtlCol="0" anchor="ctr"/>
          <a:lstStyle/>
          <a:p>
            <a:endParaRPr lang="en-NL" sz="2000" i="1" dirty="0">
              <a:solidFill>
                <a:schemeClr val="tx1"/>
              </a:solidFill>
            </a:endParaRPr>
          </a:p>
        </p:txBody>
      </p:sp>
      <p:graphicFrame>
        <p:nvGraphicFramePr>
          <p:cNvPr id="8" name="Content Placeholder 4">
            <a:extLst>
              <a:ext uri="{FF2B5EF4-FFF2-40B4-BE49-F238E27FC236}">
                <a16:creationId xmlns:a16="http://schemas.microsoft.com/office/drawing/2014/main" id="{D8F7ADB0-132B-1CA7-F446-E153F353A93B}"/>
              </a:ext>
            </a:extLst>
          </p:cNvPr>
          <p:cNvGraphicFramePr>
            <a:graphicFrameLocks noGrp="1"/>
          </p:cNvGraphicFramePr>
          <p:nvPr>
            <p:ph idx="1"/>
          </p:nvPr>
        </p:nvGraphicFramePr>
        <p:xfrm>
          <a:off x="5506200" y="1762125"/>
          <a:ext cx="5610226" cy="405447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5268479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5D3F1B-700F-8C82-8A85-AE8EA70276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4E2E32-3B04-D752-27CB-36E72F5382D4}"/>
              </a:ext>
            </a:extLst>
          </p:cNvPr>
          <p:cNvSpPr>
            <a:spLocks noGrp="1"/>
          </p:cNvSpPr>
          <p:nvPr>
            <p:ph type="title"/>
          </p:nvPr>
        </p:nvSpPr>
        <p:spPr/>
        <p:txBody>
          <a:bodyPr/>
          <a:lstStyle/>
          <a:p>
            <a:r>
              <a:rPr lang="en-US" dirty="0"/>
              <a:t>Amir’s Possible Queries</a:t>
            </a:r>
            <a:endParaRPr lang="en-NL" dirty="0"/>
          </a:p>
        </p:txBody>
      </p:sp>
      <p:sp>
        <p:nvSpPr>
          <p:cNvPr id="4" name="Slide Number Placeholder 3">
            <a:extLst>
              <a:ext uri="{FF2B5EF4-FFF2-40B4-BE49-F238E27FC236}">
                <a16:creationId xmlns:a16="http://schemas.microsoft.com/office/drawing/2014/main" id="{88412E1A-A150-29DA-CF96-B669E137223D}"/>
              </a:ext>
            </a:extLst>
          </p:cNvPr>
          <p:cNvSpPr>
            <a:spLocks noGrp="1"/>
          </p:cNvSpPr>
          <p:nvPr>
            <p:ph type="sldNum" sz="quarter" idx="12"/>
          </p:nvPr>
        </p:nvSpPr>
        <p:spPr/>
        <p:txBody>
          <a:bodyPr/>
          <a:lstStyle/>
          <a:p>
            <a:fld id="{4FAB73BC-B049-4115-A692-8D63A059BFB8}" type="slidenum">
              <a:rPr lang="en-US" smtClean="0"/>
              <a:pPr/>
              <a:t>32</a:t>
            </a:fld>
            <a:endParaRPr lang="en-US" dirty="0"/>
          </a:p>
        </p:txBody>
      </p:sp>
      <p:pic>
        <p:nvPicPr>
          <p:cNvPr id="10" name="Picture 9">
            <a:extLst>
              <a:ext uri="{FF2B5EF4-FFF2-40B4-BE49-F238E27FC236}">
                <a16:creationId xmlns:a16="http://schemas.microsoft.com/office/drawing/2014/main" id="{2AAEC9D1-FE01-531D-0A76-94B50561E66C}"/>
              </a:ext>
            </a:extLst>
          </p:cNvPr>
          <p:cNvPicPr>
            <a:picLocks noChangeAspect="1"/>
          </p:cNvPicPr>
          <p:nvPr/>
        </p:nvPicPr>
        <p:blipFill>
          <a:blip r:embed="rId3"/>
          <a:stretch>
            <a:fillRect/>
          </a:stretch>
        </p:blipFill>
        <p:spPr>
          <a:xfrm>
            <a:off x="610253" y="1618615"/>
            <a:ext cx="10991813" cy="4396105"/>
          </a:xfrm>
          <a:prstGeom prst="rect">
            <a:avLst/>
          </a:prstGeom>
        </p:spPr>
      </p:pic>
    </p:spTree>
    <p:extLst>
      <p:ext uri="{BB962C8B-B14F-4D97-AF65-F5344CB8AC3E}">
        <p14:creationId xmlns:p14="http://schemas.microsoft.com/office/powerpoint/2010/main" val="25168149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95AA60-928A-67E9-12AD-817A239B69B5}"/>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904A66E1-C91A-0643-0DC7-73F3FE46310C}"/>
              </a:ext>
            </a:extLst>
          </p:cNvPr>
          <p:cNvPicPr>
            <a:picLocks noChangeAspect="1"/>
          </p:cNvPicPr>
          <p:nvPr/>
        </p:nvPicPr>
        <p:blipFill>
          <a:blip r:embed="rId3"/>
          <a:srcRect t="21286" r="49991" b="18695"/>
          <a:stretch>
            <a:fillRect/>
          </a:stretch>
        </p:blipFill>
        <p:spPr>
          <a:xfrm>
            <a:off x="695325" y="1628775"/>
            <a:ext cx="5400675" cy="4321175"/>
          </a:xfrm>
          <a:prstGeom prst="rect">
            <a:avLst/>
          </a:prstGeom>
        </p:spPr>
      </p:pic>
      <p:sp>
        <p:nvSpPr>
          <p:cNvPr id="71" name="Rectangle 70">
            <a:extLst>
              <a:ext uri="{FF2B5EF4-FFF2-40B4-BE49-F238E27FC236}">
                <a16:creationId xmlns:a16="http://schemas.microsoft.com/office/drawing/2014/main" id="{CCAFB986-611B-E99B-722F-02725136E0C6}"/>
              </a:ext>
            </a:extLst>
          </p:cNvPr>
          <p:cNvSpPr/>
          <p:nvPr/>
        </p:nvSpPr>
        <p:spPr>
          <a:xfrm>
            <a:off x="5136204" y="1628775"/>
            <a:ext cx="6350219" cy="4321175"/>
          </a:xfrm>
          <a:prstGeom prst="rect">
            <a:avLst/>
          </a:prstGeom>
          <a:solidFill>
            <a:schemeClr val="accent1">
              <a:lumMod val="20000"/>
              <a:lumOff val="80000"/>
              <a:alpha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0" tIns="180000" rIns="180000" bIns="180000" rtlCol="0" anchor="ctr"/>
          <a:lstStyle/>
          <a:p>
            <a:endParaRPr lang="en-NL" sz="2000" i="1" dirty="0">
              <a:solidFill>
                <a:schemeClr val="tx1"/>
              </a:solidFill>
            </a:endParaRPr>
          </a:p>
        </p:txBody>
      </p:sp>
      <p:cxnSp>
        <p:nvCxnSpPr>
          <p:cNvPr id="7" name="Connector: Elbow 6">
            <a:extLst>
              <a:ext uri="{FF2B5EF4-FFF2-40B4-BE49-F238E27FC236}">
                <a16:creationId xmlns:a16="http://schemas.microsoft.com/office/drawing/2014/main" id="{01A00D2B-BE73-5D22-3FB2-183F9263E6B3}"/>
              </a:ext>
            </a:extLst>
          </p:cNvPr>
          <p:cNvCxnSpPr>
            <a:cxnSpLocks/>
          </p:cNvCxnSpPr>
          <p:nvPr/>
        </p:nvCxnSpPr>
        <p:spPr>
          <a:xfrm flipV="1">
            <a:off x="7405404" y="3789363"/>
            <a:ext cx="2269615" cy="826612"/>
          </a:xfrm>
          <a:prstGeom prst="bentConnector3">
            <a:avLst>
              <a:gd name="adj1" fmla="val 86472"/>
            </a:avLst>
          </a:pr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cxnSp>
      <p:sp>
        <p:nvSpPr>
          <p:cNvPr id="8" name="Rectangle 7">
            <a:extLst>
              <a:ext uri="{FF2B5EF4-FFF2-40B4-BE49-F238E27FC236}">
                <a16:creationId xmlns:a16="http://schemas.microsoft.com/office/drawing/2014/main" id="{F6D77E66-4FF7-8437-17C4-2D86652942AC}"/>
              </a:ext>
            </a:extLst>
          </p:cNvPr>
          <p:cNvSpPr/>
          <p:nvPr/>
        </p:nvSpPr>
        <p:spPr>
          <a:xfrm>
            <a:off x="7405404" y="4390615"/>
            <a:ext cx="1774451" cy="359279"/>
          </a:xfrm>
          <a:prstGeom prst="rect">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0" tIns="180000" rIns="180000" bIns="180000" rtlCol="0" anchor="ctr"/>
          <a:lstStyle/>
          <a:p>
            <a:endParaRPr lang="en-NL" sz="1200" i="1">
              <a:solidFill>
                <a:schemeClr val="tx1"/>
              </a:solidFill>
            </a:endParaRPr>
          </a:p>
        </p:txBody>
      </p:sp>
      <p:sp>
        <p:nvSpPr>
          <p:cNvPr id="4" name="Slide Number Placeholder 3">
            <a:extLst>
              <a:ext uri="{FF2B5EF4-FFF2-40B4-BE49-F238E27FC236}">
                <a16:creationId xmlns:a16="http://schemas.microsoft.com/office/drawing/2014/main" id="{39D15CFC-24E6-33C4-DFF3-D4F789019E6E}"/>
              </a:ext>
            </a:extLst>
          </p:cNvPr>
          <p:cNvSpPr>
            <a:spLocks noGrp="1"/>
          </p:cNvSpPr>
          <p:nvPr>
            <p:ph type="sldNum" sz="quarter" idx="12"/>
          </p:nvPr>
        </p:nvSpPr>
        <p:spPr/>
        <p:txBody>
          <a:bodyPr/>
          <a:lstStyle/>
          <a:p>
            <a:fld id="{4FAB73BC-B049-4115-A692-8D63A059BFB8}" type="slidenum">
              <a:rPr lang="en-US" smtClean="0"/>
              <a:pPr/>
              <a:t>33</a:t>
            </a:fld>
            <a:endParaRPr lang="en-US" dirty="0"/>
          </a:p>
        </p:txBody>
      </p:sp>
      <p:sp>
        <p:nvSpPr>
          <p:cNvPr id="47" name="Title 1">
            <a:extLst>
              <a:ext uri="{FF2B5EF4-FFF2-40B4-BE49-F238E27FC236}">
                <a16:creationId xmlns:a16="http://schemas.microsoft.com/office/drawing/2014/main" id="{221F0484-811C-8861-73B4-A86ADACF82FF}"/>
              </a:ext>
            </a:extLst>
          </p:cNvPr>
          <p:cNvSpPr>
            <a:spLocks noGrp="1"/>
          </p:cNvSpPr>
          <p:nvPr>
            <p:ph type="title"/>
          </p:nvPr>
        </p:nvSpPr>
        <p:spPr>
          <a:xfrm>
            <a:off x="695327" y="386001"/>
            <a:ext cx="9153523" cy="929259"/>
          </a:xfrm>
        </p:spPr>
        <p:txBody>
          <a:bodyPr/>
          <a:lstStyle/>
          <a:p>
            <a:r>
              <a:rPr lang="en-US" sz="3600" dirty="0"/>
              <a:t>Result of Amir’s Workflow</a:t>
            </a:r>
            <a:endParaRPr lang="en-US" sz="3600" b="1" dirty="0"/>
          </a:p>
        </p:txBody>
      </p:sp>
      <p:sp>
        <p:nvSpPr>
          <p:cNvPr id="74" name="Freeform: Shape 73">
            <a:extLst>
              <a:ext uri="{FF2B5EF4-FFF2-40B4-BE49-F238E27FC236}">
                <a16:creationId xmlns:a16="http://schemas.microsoft.com/office/drawing/2014/main" id="{A1678DF3-24E2-FE0C-54F6-53EAD43D4358}"/>
              </a:ext>
            </a:extLst>
          </p:cNvPr>
          <p:cNvSpPr/>
          <p:nvPr/>
        </p:nvSpPr>
        <p:spPr>
          <a:xfrm>
            <a:off x="7034190" y="2917030"/>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2" tIns="43711" rIns="188262" bIns="43711" numCol="1" spcCol="1270" anchor="ctr" anchorCtr="0">
            <a:noAutofit/>
          </a:bodyPr>
          <a:lstStyle/>
          <a:p>
            <a:pPr marL="0" lvl="0" indent="0" algn="ctr" defTabSz="222250">
              <a:lnSpc>
                <a:spcPct val="90000"/>
              </a:lnSpc>
              <a:spcBef>
                <a:spcPct val="0"/>
              </a:spcBef>
              <a:spcAft>
                <a:spcPct val="35000"/>
              </a:spcAft>
              <a:buNone/>
            </a:pPr>
            <a:endParaRPr lang="en-NL" sz="1200" kern="1200" dirty="0"/>
          </a:p>
        </p:txBody>
      </p:sp>
      <p:sp>
        <p:nvSpPr>
          <p:cNvPr id="75" name="Freeform: Shape 74">
            <a:extLst>
              <a:ext uri="{FF2B5EF4-FFF2-40B4-BE49-F238E27FC236}">
                <a16:creationId xmlns:a16="http://schemas.microsoft.com/office/drawing/2014/main" id="{4E3864AD-2693-B3EB-2DEA-5AA967F467A9}"/>
              </a:ext>
            </a:extLst>
          </p:cNvPr>
          <p:cNvSpPr/>
          <p:nvPr/>
        </p:nvSpPr>
        <p:spPr>
          <a:xfrm>
            <a:off x="6162481" y="3486855"/>
            <a:ext cx="2206819" cy="572615"/>
          </a:xfrm>
          <a:custGeom>
            <a:avLst/>
            <a:gdLst>
              <a:gd name="csX0" fmla="*/ 4297663 w 4297663"/>
              <a:gd name="csY0" fmla="*/ 0 h 371214"/>
              <a:gd name="csX1" fmla="*/ 4297663 w 4297663"/>
              <a:gd name="csY1" fmla="*/ 202707 h 371214"/>
              <a:gd name="csX2" fmla="*/ 0 w 4297663"/>
              <a:gd name="csY2" fmla="*/ 202707 h 371214"/>
              <a:gd name="csX3" fmla="*/ 0 w 4297663"/>
              <a:gd name="csY3" fmla="*/ 371214 h 371214"/>
            </a:gdLst>
            <a:ahLst/>
            <a:cxnLst>
              <a:cxn ang="0">
                <a:pos x="csX0" y="csY0"/>
              </a:cxn>
              <a:cxn ang="0">
                <a:pos x="csX1" y="csY1"/>
              </a:cxn>
              <a:cxn ang="0">
                <a:pos x="csX2" y="csY2"/>
              </a:cxn>
              <a:cxn ang="0">
                <a:pos x="csX3" y="csY3"/>
              </a:cxn>
            </a:cxnLst>
            <a:rect l="l" t="t" r="r" b="b"/>
            <a:pathLst>
              <a:path w="4297663" h="371214">
                <a:moveTo>
                  <a:pt x="4297663" y="0"/>
                </a:moveTo>
                <a:lnTo>
                  <a:pt x="4297663" y="202707"/>
                </a:lnTo>
                <a:lnTo>
                  <a:pt x="0" y="202707"/>
                </a:lnTo>
                <a:lnTo>
                  <a:pt x="0" y="371214"/>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2053622" tIns="183598" rIns="2053621" bIns="183598" numCol="1" spcCol="1270" anchor="ctr" anchorCtr="0">
            <a:noAutofit/>
          </a:bodyPr>
          <a:lstStyle/>
          <a:p>
            <a:pPr marL="0" lvl="0" indent="0" algn="ctr" defTabSz="222250">
              <a:lnSpc>
                <a:spcPct val="90000"/>
              </a:lnSpc>
              <a:spcBef>
                <a:spcPct val="0"/>
              </a:spcBef>
              <a:spcAft>
                <a:spcPct val="35000"/>
              </a:spcAft>
              <a:buNone/>
            </a:pPr>
            <a:endParaRPr lang="en-NL" sz="1200" kern="1200"/>
          </a:p>
        </p:txBody>
      </p:sp>
      <p:sp>
        <p:nvSpPr>
          <p:cNvPr id="76" name="Freeform: Shape 75">
            <a:extLst>
              <a:ext uri="{FF2B5EF4-FFF2-40B4-BE49-F238E27FC236}">
                <a16:creationId xmlns:a16="http://schemas.microsoft.com/office/drawing/2014/main" id="{C30B27C3-2E53-B895-2218-EEFCFADD8C92}"/>
              </a:ext>
            </a:extLst>
          </p:cNvPr>
          <p:cNvSpPr/>
          <p:nvPr/>
        </p:nvSpPr>
        <p:spPr>
          <a:xfrm>
            <a:off x="7034190" y="4570255"/>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2" tIns="43711" rIns="188262" bIns="43711" numCol="1" spcCol="1270" anchor="ctr" anchorCtr="0">
            <a:noAutofit/>
          </a:bodyPr>
          <a:lstStyle/>
          <a:p>
            <a:pPr marL="0" lvl="0" indent="0" algn="ctr" defTabSz="222250">
              <a:lnSpc>
                <a:spcPct val="90000"/>
              </a:lnSpc>
              <a:spcBef>
                <a:spcPct val="0"/>
              </a:spcBef>
              <a:spcAft>
                <a:spcPct val="35000"/>
              </a:spcAft>
              <a:buNone/>
            </a:pPr>
            <a:endParaRPr lang="en-NL" sz="1200" kern="1200"/>
          </a:p>
        </p:txBody>
      </p:sp>
      <p:sp>
        <p:nvSpPr>
          <p:cNvPr id="78" name="Freeform: Shape 77">
            <a:extLst>
              <a:ext uri="{FF2B5EF4-FFF2-40B4-BE49-F238E27FC236}">
                <a16:creationId xmlns:a16="http://schemas.microsoft.com/office/drawing/2014/main" id="{75C53550-1800-6231-AFFC-AC79C4BDF2CF}"/>
              </a:ext>
            </a:extLst>
          </p:cNvPr>
          <p:cNvSpPr/>
          <p:nvPr/>
        </p:nvSpPr>
        <p:spPr>
          <a:xfrm>
            <a:off x="7437804" y="4091870"/>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en-US" sz="1200" b="1" u="none" kern="1200" dirty="0">
                <a:solidFill>
                  <a:schemeClr val="bg1"/>
                </a:solidFill>
              </a:rPr>
              <a:t>Scenario 4:</a:t>
            </a:r>
            <a:r>
              <a:rPr lang="en-US" sz="1200" b="0" u="none" kern="1200" dirty="0">
                <a:solidFill>
                  <a:schemeClr val="bg1"/>
                </a:solidFill>
              </a:rPr>
              <a:t> </a:t>
            </a:r>
            <a:r>
              <a:rPr lang="en-US" sz="1200" dirty="0">
                <a:solidFill>
                  <a:schemeClr val="bg1"/>
                </a:solidFill>
              </a:rPr>
              <a:t>Query Semantic Knowledge Across Variables and Meanings</a:t>
            </a:r>
            <a:endParaRPr lang="en-NL" sz="1200" kern="1200" dirty="0">
              <a:solidFill>
                <a:schemeClr val="bg1"/>
              </a:solidFill>
            </a:endParaRPr>
          </a:p>
        </p:txBody>
      </p:sp>
      <p:sp>
        <p:nvSpPr>
          <p:cNvPr id="79" name="Freeform: Shape 78">
            <a:extLst>
              <a:ext uri="{FF2B5EF4-FFF2-40B4-BE49-F238E27FC236}">
                <a16:creationId xmlns:a16="http://schemas.microsoft.com/office/drawing/2014/main" id="{E4EEB2B9-325B-817C-57B7-929A1ABFEFB3}"/>
              </a:ext>
            </a:extLst>
          </p:cNvPr>
          <p:cNvSpPr/>
          <p:nvPr/>
        </p:nvSpPr>
        <p:spPr>
          <a:xfrm>
            <a:off x="5288972" y="2438645"/>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it-IT" sz="1200" b="1" dirty="0"/>
              <a:t>Scenario 1: </a:t>
            </a:r>
            <a:r>
              <a:rPr lang="en-US" sz="1200" dirty="0"/>
              <a:t>Clarify Meanings Before Reuse</a:t>
            </a:r>
            <a:endParaRPr lang="en-NL" sz="1200" dirty="0"/>
          </a:p>
        </p:txBody>
      </p:sp>
      <p:sp>
        <p:nvSpPr>
          <p:cNvPr id="80" name="Freeform: Shape 79">
            <a:extLst>
              <a:ext uri="{FF2B5EF4-FFF2-40B4-BE49-F238E27FC236}">
                <a16:creationId xmlns:a16="http://schemas.microsoft.com/office/drawing/2014/main" id="{D7E8E613-495E-9516-4E47-3380B3184C6C}"/>
              </a:ext>
            </a:extLst>
          </p:cNvPr>
          <p:cNvSpPr/>
          <p:nvPr/>
        </p:nvSpPr>
        <p:spPr>
          <a:xfrm>
            <a:off x="7437804" y="2438645"/>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en-US" sz="1200" b="1" u="none" kern="1200" dirty="0"/>
              <a:t>Scenario 2: </a:t>
            </a:r>
            <a:r>
              <a:rPr lang="en-US" sz="1200" dirty="0"/>
              <a:t>Identify the datasets that represent the right meaning</a:t>
            </a:r>
            <a:endParaRPr lang="en-NL" sz="1200" b="0" u="none" kern="1200" dirty="0"/>
          </a:p>
        </p:txBody>
      </p:sp>
      <p:sp>
        <p:nvSpPr>
          <p:cNvPr id="77" name="Freeform: Shape 76">
            <a:extLst>
              <a:ext uri="{FF2B5EF4-FFF2-40B4-BE49-F238E27FC236}">
                <a16:creationId xmlns:a16="http://schemas.microsoft.com/office/drawing/2014/main" id="{1552F14C-1D61-4883-E0DE-28E666BCAB8F}"/>
              </a:ext>
            </a:extLst>
          </p:cNvPr>
          <p:cNvSpPr/>
          <p:nvPr/>
        </p:nvSpPr>
        <p:spPr>
          <a:xfrm>
            <a:off x="5288972" y="4091870"/>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en-US" sz="1200" b="1" dirty="0"/>
              <a:t>Scenario 3: </a:t>
            </a:r>
            <a:r>
              <a:rPr lang="en-US" sz="1200" dirty="0"/>
              <a:t>Use Mappings to Connect Data and Infer Reuse Knowledge</a:t>
            </a:r>
            <a:endParaRPr lang="en-NL" sz="1200" dirty="0"/>
          </a:p>
        </p:txBody>
      </p:sp>
      <p:grpSp>
        <p:nvGrpSpPr>
          <p:cNvPr id="5" name="Group 4">
            <a:extLst>
              <a:ext uri="{FF2B5EF4-FFF2-40B4-BE49-F238E27FC236}">
                <a16:creationId xmlns:a16="http://schemas.microsoft.com/office/drawing/2014/main" id="{BDA21660-83C9-A5A3-5838-3124698E472C}"/>
              </a:ext>
            </a:extLst>
          </p:cNvPr>
          <p:cNvGrpSpPr/>
          <p:nvPr/>
        </p:nvGrpSpPr>
        <p:grpSpPr>
          <a:xfrm>
            <a:off x="9704903" y="2357067"/>
            <a:ext cx="1554653" cy="2783013"/>
            <a:chOff x="9704903" y="2357067"/>
            <a:chExt cx="1554653" cy="2783013"/>
          </a:xfrm>
        </p:grpSpPr>
        <p:sp>
          <p:nvSpPr>
            <p:cNvPr id="72" name="Freeform: Shape 71">
              <a:extLst>
                <a:ext uri="{FF2B5EF4-FFF2-40B4-BE49-F238E27FC236}">
                  <a16:creationId xmlns:a16="http://schemas.microsoft.com/office/drawing/2014/main" id="{E3EAEBDD-6641-6119-58C7-6BCB88809598}"/>
                </a:ext>
              </a:extLst>
            </p:cNvPr>
            <p:cNvSpPr/>
            <p:nvPr/>
          </p:nvSpPr>
          <p:spPr>
            <a:xfrm>
              <a:off x="9704903" y="2438645"/>
              <a:ext cx="1554653" cy="2701435"/>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a:ln>
              <a:solidFill>
                <a:schemeClr val="accent1"/>
              </a:solidFill>
            </a:ln>
          </p:spPr>
          <p:style>
            <a:lnRef idx="1">
              <a:schemeClr val="accent2"/>
            </a:lnRef>
            <a:fillRef idx="3">
              <a:schemeClr val="accent2"/>
            </a:fillRef>
            <a:effectRef idx="2">
              <a:schemeClr val="accent2"/>
            </a:effectRef>
            <a:fontRef idx="minor">
              <a:schemeClr val="lt1"/>
            </a:fontRef>
          </p:style>
          <p:txBody>
            <a:bodyPr spcFirstLastPara="0" vert="horz" wrap="square" lIns="64008" tIns="64008" rIns="64008" bIns="64008" numCol="1" spcCol="1270" anchor="ctr" anchorCtr="0">
              <a:noAutofit/>
            </a:bodyPr>
            <a:lstStyle/>
            <a:p>
              <a:pPr marL="0" lvl="0" indent="0" defTabSz="400050">
                <a:spcBef>
                  <a:spcPct val="0"/>
                </a:spcBef>
                <a:spcAft>
                  <a:spcPts val="600"/>
                </a:spcAft>
                <a:buNone/>
              </a:pPr>
              <a:r>
                <a:rPr lang="en-US" sz="1100" b="1" kern="1200" dirty="0">
                  <a:solidFill>
                    <a:schemeClr val="accent1"/>
                  </a:solidFill>
                </a:rPr>
                <a:t>Result:</a:t>
              </a:r>
              <a:r>
                <a:rPr lang="en-US" sz="1100" kern="1200" dirty="0">
                  <a:solidFill>
                    <a:schemeClr val="accent1"/>
                  </a:solidFill>
                </a:rPr>
                <a:t> </a:t>
              </a:r>
            </a:p>
            <a:p>
              <a:pPr lvl="0" defTabSz="400050">
                <a:spcBef>
                  <a:spcPct val="0"/>
                </a:spcBef>
                <a:spcAft>
                  <a:spcPts val="600"/>
                </a:spcAft>
              </a:pPr>
              <a:r>
                <a:rPr lang="en-US" sz="1100" dirty="0">
                  <a:solidFill>
                    <a:schemeClr val="accent1"/>
                  </a:solidFill>
                </a:rPr>
                <a:t>Amir could move from label-based guessing to query-supported reuse decisions, using meanings, mappings, and inferred knowledge to query relevant variables, compare concepts, and assess which ones align, partially overlap, or should not be reused together.</a:t>
              </a:r>
              <a:endParaRPr lang="en-NL" sz="1100" kern="1200" dirty="0">
                <a:solidFill>
                  <a:schemeClr val="accent1"/>
                </a:solidFill>
              </a:endParaRPr>
            </a:p>
          </p:txBody>
        </p:sp>
        <p:pic>
          <p:nvPicPr>
            <p:cNvPr id="3" name="Graphic 2" descr="Completed with solid fill">
              <a:extLst>
                <a:ext uri="{FF2B5EF4-FFF2-40B4-BE49-F238E27FC236}">
                  <a16:creationId xmlns:a16="http://schemas.microsoft.com/office/drawing/2014/main" id="{21DAC5F3-C417-7189-DF17-74CDA06437F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695082" y="2357067"/>
              <a:ext cx="549093" cy="549093"/>
            </a:xfrm>
            <a:prstGeom prst="rect">
              <a:avLst/>
            </a:prstGeom>
          </p:spPr>
        </p:pic>
      </p:grpSp>
    </p:spTree>
    <p:extLst>
      <p:ext uri="{BB962C8B-B14F-4D97-AF65-F5344CB8AC3E}">
        <p14:creationId xmlns:p14="http://schemas.microsoft.com/office/powerpoint/2010/main" val="2898080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nodeType="withEffect">
                                  <p:stCondLst>
                                    <p:cond delay="0"/>
                                  </p:stCondLst>
                                  <p:childTnLst>
                                    <p:animScale>
                                      <p:cBhvr>
                                        <p:cTn id="6" dur="1000" fill="hold"/>
                                        <p:tgtEl>
                                          <p:spTgt spid="5"/>
                                        </p:tgtEl>
                                      </p:cBhvr>
                                      <p:by x="125000" y="12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6C89066-2061-BD62-185E-50E0F4BB5237}"/>
            </a:ext>
          </a:extLst>
        </p:cNvPr>
        <p:cNvGrpSpPr/>
        <p:nvPr/>
      </p:nvGrpSpPr>
      <p:grpSpPr>
        <a:xfrm>
          <a:off x="0" y="0"/>
          <a:ext cx="0" cy="0"/>
          <a:chOff x="0" y="0"/>
          <a:chExt cx="0" cy="0"/>
        </a:xfrm>
      </p:grpSpPr>
      <p:sp>
        <p:nvSpPr>
          <p:cNvPr id="19" name="Rectangle 18">
            <a:extLst>
              <a:ext uri="{FF2B5EF4-FFF2-40B4-BE49-F238E27FC236}">
                <a16:creationId xmlns:a16="http://schemas.microsoft.com/office/drawing/2014/main" id="{101CBE68-88DE-5B0E-1089-D7D3A4F761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4" y="0"/>
            <a:ext cx="12188726"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ptos"/>
              <a:ea typeface="+mn-ea"/>
              <a:cs typeface="+mn-cs"/>
            </a:endParaRPr>
          </a:p>
        </p:txBody>
      </p:sp>
      <p:pic>
        <p:nvPicPr>
          <p:cNvPr id="5" name="Picture 4">
            <a:extLst>
              <a:ext uri="{FF2B5EF4-FFF2-40B4-BE49-F238E27FC236}">
                <a16:creationId xmlns:a16="http://schemas.microsoft.com/office/drawing/2014/main" id="{6154113E-A9FE-689A-B434-B4A1D0A40A1B}"/>
              </a:ext>
              <a:ext uri="{C183D7F6-B498-43B3-948B-1728B52AA6E4}">
                <adec:decorative xmlns:adec="http://schemas.microsoft.com/office/drawing/2017/decorative" val="1"/>
              </a:ext>
            </a:extLst>
          </p:cNvPr>
          <p:cNvPicPr>
            <a:picLocks noChangeAspect="1"/>
          </p:cNvPicPr>
          <p:nvPr/>
        </p:nvPicPr>
        <p:blipFill rotWithShape="1">
          <a:blip r:embed="rId3"/>
          <a:srcRect r="52444" b="-1"/>
          <a:stretch/>
        </p:blipFill>
        <p:spPr>
          <a:xfrm>
            <a:off x="20" y="975"/>
            <a:ext cx="12191980" cy="6858000"/>
          </a:xfrm>
          <a:prstGeom prst="rect">
            <a:avLst/>
          </a:prstGeom>
        </p:spPr>
      </p:pic>
      <p:sp>
        <p:nvSpPr>
          <p:cNvPr id="21" name="Rectangle 20">
            <a:extLst>
              <a:ext uri="{FF2B5EF4-FFF2-40B4-BE49-F238E27FC236}">
                <a16:creationId xmlns:a16="http://schemas.microsoft.com/office/drawing/2014/main" id="{D7872C82-A0BE-5DE0-342B-870CD4CC5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96786" y="3064931"/>
            <a:ext cx="8295215" cy="2488568"/>
          </a:xfrm>
          <a:prstGeom prst="rect">
            <a:avLst/>
          </a:prstGeom>
          <a:solidFill>
            <a:srgbClr val="000001">
              <a:alpha val="7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ptos"/>
              <a:ea typeface="+mn-ea"/>
              <a:cs typeface="+mn-cs"/>
            </a:endParaRPr>
          </a:p>
        </p:txBody>
      </p:sp>
      <p:sp>
        <p:nvSpPr>
          <p:cNvPr id="2" name="Title 1">
            <a:extLst>
              <a:ext uri="{FF2B5EF4-FFF2-40B4-BE49-F238E27FC236}">
                <a16:creationId xmlns:a16="http://schemas.microsoft.com/office/drawing/2014/main" id="{840A8A8B-C918-081E-3402-3C75CC132C1F}"/>
              </a:ext>
            </a:extLst>
          </p:cNvPr>
          <p:cNvSpPr>
            <a:spLocks noGrp="1"/>
          </p:cNvSpPr>
          <p:nvPr>
            <p:ph type="ctrTitle"/>
          </p:nvPr>
        </p:nvSpPr>
        <p:spPr>
          <a:xfrm>
            <a:off x="4309349" y="3429000"/>
            <a:ext cx="7501651" cy="1090938"/>
          </a:xfrm>
        </p:spPr>
        <p:txBody>
          <a:bodyPr anchor="ctr">
            <a:noAutofit/>
          </a:bodyPr>
          <a:lstStyle/>
          <a:p>
            <a:pPr algn="l"/>
            <a:r>
              <a:rPr lang="en-US" sz="4800" dirty="0">
                <a:solidFill>
                  <a:srgbClr val="FFFFFF"/>
                </a:solidFill>
              </a:rPr>
              <a:t>Thank you!</a:t>
            </a:r>
          </a:p>
        </p:txBody>
      </p:sp>
      <p:cxnSp>
        <p:nvCxnSpPr>
          <p:cNvPr id="23" name="Straight Connector 22">
            <a:extLst>
              <a:ext uri="{FF2B5EF4-FFF2-40B4-BE49-F238E27FC236}">
                <a16:creationId xmlns:a16="http://schemas.microsoft.com/office/drawing/2014/main" id="{C856EE4B-6209-E23E-219E-9F64590232D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09349" y="4666480"/>
            <a:ext cx="6832499" cy="0"/>
          </a:xfrm>
          <a:prstGeom prst="line">
            <a:avLst/>
          </a:prstGeom>
          <a:ln w="22225">
            <a:solidFill>
              <a:srgbClr val="4AC4E3"/>
            </a:solidFill>
          </a:ln>
        </p:spPr>
        <p:style>
          <a:lnRef idx="3">
            <a:schemeClr val="accent1"/>
          </a:lnRef>
          <a:fillRef idx="0">
            <a:schemeClr val="accent1"/>
          </a:fillRef>
          <a:effectRef idx="2">
            <a:schemeClr val="accent1"/>
          </a:effectRef>
          <a:fontRef idx="minor">
            <a:schemeClr val="tx1"/>
          </a:fontRef>
        </p:style>
      </p:cxnSp>
      <p:pic>
        <p:nvPicPr>
          <p:cNvPr id="7" name="Graphic 6">
            <a:extLst>
              <a:ext uri="{FF2B5EF4-FFF2-40B4-BE49-F238E27FC236}">
                <a16:creationId xmlns:a16="http://schemas.microsoft.com/office/drawing/2014/main" id="{FBDE0E28-1570-8017-F2F6-09CEED0B0A0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444753" y="5554033"/>
            <a:ext cx="3736135" cy="1311271"/>
          </a:xfrm>
          <a:prstGeom prst="rect">
            <a:avLst/>
          </a:prstGeom>
        </p:spPr>
      </p:pic>
      <p:sp>
        <p:nvSpPr>
          <p:cNvPr id="10" name="Subtitle 2">
            <a:extLst>
              <a:ext uri="{FF2B5EF4-FFF2-40B4-BE49-F238E27FC236}">
                <a16:creationId xmlns:a16="http://schemas.microsoft.com/office/drawing/2014/main" id="{685348A0-D698-D962-9213-01A327BED678}"/>
              </a:ext>
            </a:extLst>
          </p:cNvPr>
          <p:cNvSpPr txBox="1">
            <a:spLocks/>
          </p:cNvSpPr>
          <p:nvPr/>
        </p:nvSpPr>
        <p:spPr>
          <a:xfrm>
            <a:off x="4309349" y="4779313"/>
            <a:ext cx="7501650" cy="514816"/>
          </a:xfrm>
          <a:prstGeom prst="rect">
            <a:avLst/>
          </a:prstGeom>
        </p:spPr>
        <p:txBody>
          <a:bodyPr vert="horz" lIns="91440" tIns="45720" rIns="91440" bIns="45720" rtlCol="0" anchor="t">
            <a:normAutofit lnSpcReduction="10000"/>
          </a:bodyPr>
          <a:lstStyle>
            <a:lvl1pPr marL="0" indent="0" algn="l" defTabSz="914400" rtl="0" eaLnBrk="1" latinLnBrk="0" hangingPunct="1">
              <a:lnSpc>
                <a:spcPct val="100000"/>
              </a:lnSpc>
              <a:spcBef>
                <a:spcPts val="0"/>
              </a:spcBef>
              <a:spcAft>
                <a:spcPts val="200"/>
              </a:spcAft>
              <a:buClr>
                <a:schemeClr val="accent1"/>
              </a:buClr>
              <a:buSzPct val="100000"/>
              <a:buFont typeface="Tw Cen MT" panose="020B0602020104020603" pitchFamily="34" charset="0"/>
              <a:buNone/>
              <a:defRPr sz="1800" kern="1200">
                <a:solidFill>
                  <a:schemeClr val="tx1">
                    <a:lumMod val="95000"/>
                    <a:lumOff val="5000"/>
                  </a:schemeClr>
                </a:solidFill>
                <a:latin typeface="Aptos" panose="020B0004020202020204" pitchFamily="34" charset="0"/>
                <a:ea typeface="+mn-ea"/>
                <a:cs typeface="+mn-cs"/>
              </a:defRPr>
            </a:lvl1pPr>
            <a:lvl2pPr marL="4572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Aptos" panose="020B0004020202020204" pitchFamily="34" charset="0"/>
                <a:ea typeface="+mn-ea"/>
                <a:cs typeface="+mn-cs"/>
              </a:defRPr>
            </a:lvl2pPr>
            <a:lvl3pPr marL="9144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Aptos" panose="020B0004020202020204" pitchFamily="34" charset="0"/>
                <a:ea typeface="+mn-ea"/>
                <a:cs typeface="+mn-cs"/>
              </a:defRPr>
            </a:lvl3pPr>
            <a:lvl4pPr marL="13716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Aptos" panose="020B0004020202020204" pitchFamily="34" charset="0"/>
                <a:ea typeface="+mn-ea"/>
                <a:cs typeface="+mn-cs"/>
              </a:defRPr>
            </a:lvl4pPr>
            <a:lvl5pPr marL="18288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Aptos" panose="020B0004020202020204" pitchFamily="34" charset="0"/>
                <a:ea typeface="+mn-ea"/>
                <a:cs typeface="+mn-cs"/>
              </a:defRPr>
            </a:lvl5pPr>
            <a:lvl6pPr marL="22860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6pPr>
            <a:lvl7pPr marL="27432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7pPr>
            <a:lvl8pPr marL="32004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8pPr>
            <a:lvl9pPr marL="36576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9pPr>
          </a:lstStyle>
          <a:p>
            <a:pPr lvl="0" algn="r">
              <a:buClr>
                <a:srgbClr val="15467B"/>
              </a:buClr>
              <a:defRPr/>
            </a:pPr>
            <a:r>
              <a:rPr lang="pt-BR" sz="1400" b="1" i="1" dirty="0">
                <a:solidFill>
                  <a:srgbClr val="FFFFFF"/>
                </a:solidFill>
              </a:rPr>
              <a:t>Pedro Paulo F. Barcelos</a:t>
            </a:r>
            <a:r>
              <a:rPr lang="pt-BR" sz="1400" i="1" dirty="0">
                <a:solidFill>
                  <a:srgbClr val="FFFFFF"/>
                </a:solidFill>
              </a:rPr>
              <a:t> {Pedro.Barcelos@health-ri.nl},</a:t>
            </a:r>
            <a:r>
              <a:rPr kumimoji="0" lang="en-US" sz="1400" b="0" i="1" u="none" strike="noStrike" kern="1200" cap="none" spc="0" normalizeH="0" baseline="0" noProof="0" dirty="0">
                <a:ln>
                  <a:noFill/>
                </a:ln>
                <a:solidFill>
                  <a:srgbClr val="FFFFFF"/>
                </a:solidFill>
                <a:effectLst/>
                <a:uLnTx/>
                <a:uFillTx/>
                <a:latin typeface="Aptos" panose="020B0004020202020204" pitchFamily="34" charset="0"/>
                <a:ea typeface="+mn-ea"/>
                <a:cs typeface="+mn-cs"/>
              </a:rPr>
              <a:t> Niek van </a:t>
            </a:r>
            <a:r>
              <a:rPr kumimoji="0" lang="en-US" sz="1400" b="0" i="1" u="none" strike="noStrike" kern="1200" cap="none" spc="0" normalizeH="0" baseline="0" noProof="0" dirty="0" err="1">
                <a:ln>
                  <a:noFill/>
                </a:ln>
                <a:solidFill>
                  <a:srgbClr val="FFFFFF"/>
                </a:solidFill>
                <a:effectLst/>
                <a:uLnTx/>
                <a:uFillTx/>
                <a:latin typeface="Aptos" panose="020B0004020202020204" pitchFamily="34" charset="0"/>
                <a:ea typeface="+mn-ea"/>
                <a:cs typeface="+mn-cs"/>
              </a:rPr>
              <a:t>Ulzen</a:t>
            </a:r>
            <a:r>
              <a:rPr kumimoji="0" lang="en-US" sz="1400" b="0" i="1" u="none" strike="noStrike" kern="1200" cap="none" spc="0" normalizeH="0" baseline="0" noProof="0" dirty="0">
                <a:ln>
                  <a:noFill/>
                </a:ln>
                <a:solidFill>
                  <a:srgbClr val="FFFFFF"/>
                </a:solidFill>
                <a:effectLst/>
                <a:uLnTx/>
                <a:uFillTx/>
                <a:latin typeface="Aptos" panose="020B0004020202020204" pitchFamily="34" charset="0"/>
                <a:ea typeface="+mn-ea"/>
                <a:cs typeface="+mn-cs"/>
              </a:rPr>
              <a:t>, </a:t>
            </a:r>
          </a:p>
          <a:p>
            <a:pPr lvl="0" algn="r">
              <a:buClr>
                <a:srgbClr val="15467B"/>
              </a:buClr>
              <a:defRPr/>
            </a:pPr>
            <a:r>
              <a:rPr kumimoji="0" lang="en-US" sz="1400" b="0" i="1" u="none" strike="noStrike" kern="1200" cap="none" spc="0" normalizeH="0" baseline="0" noProof="0" dirty="0">
                <a:ln>
                  <a:noFill/>
                </a:ln>
                <a:solidFill>
                  <a:srgbClr val="FFFFFF"/>
                </a:solidFill>
                <a:effectLst/>
                <a:uLnTx/>
                <a:uFillTx/>
                <a:latin typeface="Aptos" panose="020B0004020202020204" pitchFamily="34" charset="0"/>
                <a:ea typeface="+mn-ea"/>
                <a:cs typeface="+mn-cs"/>
              </a:rPr>
              <a:t>Reinier Groeneveld, Ana Konrad, Douwe </a:t>
            </a:r>
            <a:r>
              <a:rPr kumimoji="0" lang="en-US" sz="1400" b="0" i="1" u="none" strike="noStrike" kern="1200" cap="none" spc="0" normalizeH="0" baseline="0" noProof="0" dirty="0" err="1">
                <a:ln>
                  <a:noFill/>
                </a:ln>
                <a:solidFill>
                  <a:srgbClr val="FFFFFF"/>
                </a:solidFill>
                <a:effectLst/>
                <a:uLnTx/>
                <a:uFillTx/>
                <a:latin typeface="Aptos" panose="020B0004020202020204" pitchFamily="34" charset="0"/>
                <a:ea typeface="+mn-ea"/>
                <a:cs typeface="+mn-cs"/>
              </a:rPr>
              <a:t>Spaanderman</a:t>
            </a:r>
            <a:r>
              <a:rPr kumimoji="0" lang="en-US" sz="1400" b="0" i="1" u="none" strike="noStrike" kern="1200" cap="none" spc="0" normalizeH="0" baseline="0" noProof="0" dirty="0">
                <a:ln>
                  <a:noFill/>
                </a:ln>
                <a:solidFill>
                  <a:srgbClr val="FFFFFF"/>
                </a:solidFill>
                <a:effectLst/>
                <a:uLnTx/>
                <a:uFillTx/>
                <a:latin typeface="Aptos" panose="020B0004020202020204" pitchFamily="34" charset="0"/>
                <a:ea typeface="+mn-ea"/>
                <a:cs typeface="+mn-cs"/>
              </a:rPr>
              <a:t>, and Shuxin Zhang</a:t>
            </a:r>
          </a:p>
        </p:txBody>
      </p:sp>
      <p:pic>
        <p:nvPicPr>
          <p:cNvPr id="3" name="Graphic 11">
            <a:extLst>
              <a:ext uri="{FF2B5EF4-FFF2-40B4-BE49-F238E27FC236}">
                <a16:creationId xmlns:a16="http://schemas.microsoft.com/office/drawing/2014/main" id="{8CE0F9B7-C84D-9F19-08C4-489E43ECCC43}"/>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10418142" y="3103851"/>
            <a:ext cx="1320116" cy="1320116"/>
          </a:xfrm>
          <a:custGeom>
            <a:avLst/>
            <a:gdLst>
              <a:gd name="connsiteX0" fmla="*/ 0 w 1461336"/>
              <a:gd name="connsiteY0" fmla="*/ 0 h 1461336"/>
              <a:gd name="connsiteX1" fmla="*/ 1461336 w 1461336"/>
              <a:gd name="connsiteY1" fmla="*/ 0 h 1461336"/>
              <a:gd name="connsiteX2" fmla="*/ 1461336 w 1461336"/>
              <a:gd name="connsiteY2" fmla="*/ 1461336 h 1461336"/>
              <a:gd name="connsiteX3" fmla="*/ 0 w 1461336"/>
              <a:gd name="connsiteY3" fmla="*/ 1461336 h 1461336"/>
            </a:gdLst>
            <a:ahLst/>
            <a:cxnLst>
              <a:cxn ang="0">
                <a:pos x="connsiteX0" y="connsiteY0"/>
              </a:cxn>
              <a:cxn ang="0">
                <a:pos x="connsiteX1" y="connsiteY1"/>
              </a:cxn>
              <a:cxn ang="0">
                <a:pos x="connsiteX2" y="connsiteY2"/>
              </a:cxn>
              <a:cxn ang="0">
                <a:pos x="connsiteX3" y="connsiteY3"/>
              </a:cxn>
            </a:cxnLst>
            <a:rect l="l" t="t" r="r" b="b"/>
            <a:pathLst>
              <a:path w="1461336" h="1461336">
                <a:moveTo>
                  <a:pt x="0" y="0"/>
                </a:moveTo>
                <a:lnTo>
                  <a:pt x="1461336" y="0"/>
                </a:lnTo>
                <a:lnTo>
                  <a:pt x="1461336" y="1461336"/>
                </a:lnTo>
                <a:lnTo>
                  <a:pt x="0" y="1461336"/>
                </a:lnTo>
                <a:close/>
              </a:path>
            </a:pathLst>
          </a:custGeom>
        </p:spPr>
      </p:pic>
      <p:sp>
        <p:nvSpPr>
          <p:cNvPr id="4" name="TextBox 3">
            <a:extLst>
              <a:ext uri="{FF2B5EF4-FFF2-40B4-BE49-F238E27FC236}">
                <a16:creationId xmlns:a16="http://schemas.microsoft.com/office/drawing/2014/main" id="{A9399E04-ACFE-E0FD-1813-3B90315BEFE8}"/>
              </a:ext>
            </a:extLst>
          </p:cNvPr>
          <p:cNvSpPr txBox="1"/>
          <p:nvPr/>
        </p:nvSpPr>
        <p:spPr>
          <a:xfrm>
            <a:off x="8915655" y="4143260"/>
            <a:ext cx="2895344" cy="52322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8AF00"/>
                </a:solidFill>
                <a:effectLst/>
                <a:uLnTx/>
                <a:uFillTx/>
                <a:latin typeface="Atkinson Hyperlegible" pitchFamily="2" charset="0"/>
                <a:ea typeface="+mn-ea"/>
                <a:cs typeface="+mn-cs"/>
              </a:rPr>
              <a:t>https://w3id.org/</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8AF00"/>
                </a:solidFill>
                <a:effectLst/>
                <a:uLnTx/>
                <a:uFillTx/>
                <a:latin typeface="Atkinson Hyperlegible" pitchFamily="2" charset="0"/>
                <a:ea typeface="+mn-ea"/>
                <a:cs typeface="+mn-cs"/>
              </a:rPr>
              <a:t>health-</a:t>
            </a:r>
            <a:r>
              <a:rPr kumimoji="0" lang="en-US" sz="1400" b="0" i="0" u="none" strike="noStrike" kern="1200" cap="none" spc="0" normalizeH="0" baseline="0" noProof="0" dirty="0" err="1">
                <a:ln>
                  <a:noFill/>
                </a:ln>
                <a:solidFill>
                  <a:srgbClr val="F8AF00"/>
                </a:solidFill>
                <a:effectLst/>
                <a:uLnTx/>
                <a:uFillTx/>
                <a:latin typeface="Atkinson Hyperlegible" pitchFamily="2" charset="0"/>
                <a:ea typeface="+mn-ea"/>
                <a:cs typeface="+mn-cs"/>
              </a:rPr>
              <a:t>ri</a:t>
            </a:r>
            <a:r>
              <a:rPr kumimoji="0" lang="en-US" sz="1400" b="0" i="0" u="none" strike="noStrike" kern="1200" cap="none" spc="0" normalizeH="0" baseline="0" noProof="0" dirty="0">
                <a:ln>
                  <a:noFill/>
                </a:ln>
                <a:solidFill>
                  <a:srgbClr val="F8AF00"/>
                </a:solidFill>
                <a:effectLst/>
                <a:uLnTx/>
                <a:uFillTx/>
                <a:latin typeface="Atkinson Hyperlegible" pitchFamily="2" charset="0"/>
                <a:ea typeface="+mn-ea"/>
                <a:cs typeface="+mn-cs"/>
              </a:rPr>
              <a:t>/semantic-interoperability</a:t>
            </a:r>
            <a:endParaRPr kumimoji="0" lang="en-NL" sz="1400" b="0" i="0" u="none" strike="noStrike" kern="1200" cap="none" spc="0" normalizeH="0" baseline="0" noProof="0" dirty="0">
              <a:ln>
                <a:noFill/>
              </a:ln>
              <a:solidFill>
                <a:srgbClr val="F8AF00"/>
              </a:solidFill>
              <a:effectLst/>
              <a:uLnTx/>
              <a:uFillTx/>
              <a:latin typeface="Atkinson Hyperlegible" pitchFamily="2" charset="0"/>
              <a:ea typeface="+mn-ea"/>
              <a:cs typeface="+mn-cs"/>
            </a:endParaRPr>
          </a:p>
        </p:txBody>
      </p:sp>
    </p:spTree>
    <p:extLst>
      <p:ext uri="{BB962C8B-B14F-4D97-AF65-F5344CB8AC3E}">
        <p14:creationId xmlns:p14="http://schemas.microsoft.com/office/powerpoint/2010/main" val="301111809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Health-RI Pallete">
      <a:dk1>
        <a:srgbClr val="000000"/>
      </a:dk1>
      <a:lt1>
        <a:srgbClr val="FFFFFF"/>
      </a:lt1>
      <a:dk2>
        <a:srgbClr val="2E2E2E"/>
      </a:dk2>
      <a:lt2>
        <a:srgbClr val="F2F2F2"/>
      </a:lt2>
      <a:accent1>
        <a:srgbClr val="15467B"/>
      </a:accent1>
      <a:accent2>
        <a:srgbClr val="F8AF00"/>
      </a:accent2>
      <a:accent3>
        <a:srgbClr val="91D18B"/>
      </a:accent3>
      <a:accent4>
        <a:srgbClr val="2E7D32"/>
      </a:accent4>
      <a:accent5>
        <a:srgbClr val="E57373"/>
      </a:accent5>
      <a:accent6>
        <a:srgbClr val="C62828"/>
      </a:accent6>
      <a:hlink>
        <a:srgbClr val="005A9C"/>
      </a:hlink>
      <a:folHlink>
        <a:srgbClr val="4E84C4"/>
      </a:folHlink>
    </a:clrScheme>
    <a:fontScheme name="Custom 2">
      <a:majorFont>
        <a:latin typeface="Aptos"/>
        <a:ea typeface=""/>
        <a:cs typeface=""/>
      </a:majorFont>
      <a:minorFont>
        <a:latin typeface="Aptos"/>
        <a:ea typeface=""/>
        <a:cs typeface=""/>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Presentation1" id="{30C8497A-5654-403E-ADB2-4E3768297007}" vid="{9F21127E-C008-40D4-B83A-5ACE9267ED7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F44C90D-2A62-4985-9618-3460247437B1}">
  <ds:schemaRefs>
    <ds:schemaRef ds:uri="http://schemas.microsoft.com/sharepoint/v3/contenttype/forms"/>
  </ds:schemaRefs>
</ds:datastoreItem>
</file>

<file path=customXml/itemProps2.xml><?xml version="1.0" encoding="utf-8"?>
<ds:datastoreItem xmlns:ds="http://schemas.openxmlformats.org/officeDocument/2006/customXml" ds:itemID="{788A2F88-55C5-4ED1-9541-807C65424763}">
  <ds:schemaRefs>
    <ds:schemaRef ds:uri="http://purl.org/dc/elements/1.1/"/>
    <ds:schemaRef ds:uri="http://schemas.microsoft.com/office/2006/documentManagement/types"/>
    <ds:schemaRef ds:uri="71af3243-3dd4-4a8d-8c0d-dd76da1f02a5"/>
    <ds:schemaRef ds:uri="http://schemas.microsoft.com/office/infopath/2007/PartnerControls"/>
    <ds:schemaRef ds:uri="http://schemas.openxmlformats.org/package/2006/metadata/core-properties"/>
    <ds:schemaRef ds:uri="http://purl.org/dc/terms/"/>
    <ds:schemaRef ds:uri="http://www.w3.org/XML/1998/namespace"/>
    <ds:schemaRef ds:uri="16c05727-aa75-4e4a-9b5f-8a80a1165891"/>
    <ds:schemaRef ds:uri="http://schemas.microsoft.com/office/2006/metadata/properties"/>
    <ds:schemaRef ds:uri="http://purl.org/dc/dcmitype/"/>
  </ds:schemaRefs>
</ds:datastoreItem>
</file>

<file path=customXml/itemProps3.xml><?xml version="1.0" encoding="utf-8"?>
<ds:datastoreItem xmlns:ds="http://schemas.openxmlformats.org/officeDocument/2006/customXml" ds:itemID="{B61EAB5F-88FC-4FAE-AE3C-037A3C365EB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Health-RI PowerPoint Template - 20251021</Template>
  <TotalTime>6950</TotalTime>
  <Words>5804</Words>
  <Application>Microsoft Office PowerPoint</Application>
  <PresentationFormat>Widescreen</PresentationFormat>
  <Paragraphs>866</Paragraphs>
  <Slides>34</Slides>
  <Notes>34</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34</vt:i4>
      </vt:variant>
    </vt:vector>
  </HeadingPairs>
  <TitlesOfParts>
    <vt:vector size="45" baseType="lpstr">
      <vt:lpstr>Amasis MT Pro Black</vt:lpstr>
      <vt:lpstr>Aptos</vt:lpstr>
      <vt:lpstr>Arial</vt:lpstr>
      <vt:lpstr>Atkinson Hyperlegible</vt:lpstr>
      <vt:lpstr>Atkinson Hyperlegible Mono</vt:lpstr>
      <vt:lpstr>Calibri</vt:lpstr>
      <vt:lpstr>Courier New</vt:lpstr>
      <vt:lpstr>Neue Haas Grotesk Text Pro Blac</vt:lpstr>
      <vt:lpstr>Tw Cen MT</vt:lpstr>
      <vt:lpstr>Wingdings 3</vt:lpstr>
      <vt:lpstr>Integral</vt:lpstr>
      <vt:lpstr>Applied Use Cases of  the Health-RI Semantic Interoperability Initiative</vt:lpstr>
      <vt:lpstr>Amir Hassan: Research Goal and Challenge</vt:lpstr>
      <vt:lpstr>Scenario 1: Clarify Meanings Before Reuse</vt:lpstr>
      <vt:lpstr>Scenario 1: Amir’s Question and Challenge</vt:lpstr>
      <vt:lpstr>Available Sex and Gender Variables by Dataset</vt:lpstr>
      <vt:lpstr>Labels and their Meanings</vt:lpstr>
      <vt:lpstr>Similar Labels Can Mislead Reuse</vt:lpstr>
      <vt:lpstr>Similar Labels Can Mislead Reuse</vt:lpstr>
      <vt:lpstr>Distinct Concepts Within Sex and Gender</vt:lpstr>
      <vt:lpstr>The Health-RI Conceptual Ontology</vt:lpstr>
      <vt:lpstr>HRIO Taxonomies for Sex and Gender</vt:lpstr>
      <vt:lpstr>Variables Map to Distinct Meanings</vt:lpstr>
      <vt:lpstr>Similar Variables, Different Meanings</vt:lpstr>
      <vt:lpstr>Scenario 2: Identify the datasets that represent the right meaning</vt:lpstr>
      <vt:lpstr>Scenario 2: Amir’s Question and Challenge</vt:lpstr>
      <vt:lpstr>When are two datasets interoperable?</vt:lpstr>
      <vt:lpstr>When are two datasets interoperable?</vt:lpstr>
      <vt:lpstr>Semantic Interoperability Conditions</vt:lpstr>
      <vt:lpstr>Semantic Interoperability Conditions</vt:lpstr>
      <vt:lpstr>From Conceptual Clarity to Actionable Semantics</vt:lpstr>
      <vt:lpstr>The Health-RI Computational Ontology</vt:lpstr>
      <vt:lpstr>From Conceptual Clarity to Actionable Semantics</vt:lpstr>
      <vt:lpstr>Scenario 3: Use Mappings to Connect Data and Infer Reuse Knowledge</vt:lpstr>
      <vt:lpstr>Scenario 3: Amir’s Question and Challenge</vt:lpstr>
      <vt:lpstr>External Mappings</vt:lpstr>
      <vt:lpstr>Pairwise Mappings Require Multiple Steps</vt:lpstr>
      <vt:lpstr>The Health-RI SSSOM Mapping Set (HRIM)</vt:lpstr>
      <vt:lpstr>Meaning-Based Mappings Shorten Reuse Paths</vt:lpstr>
      <vt:lpstr>Amir Assesses Reuse Through Semantic Relations</vt:lpstr>
      <vt:lpstr>Scenario 4: Query Semantic Knowledge Across Variables and Meanings</vt:lpstr>
      <vt:lpstr>Scenario 4: Amir’s Question and Challenge</vt:lpstr>
      <vt:lpstr>Amir’s Possible Queries</vt:lpstr>
      <vt:lpstr>Result of Amir’s Workflow</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Pedro Paulo Favato Barcelos</dc:creator>
  <cp:lastModifiedBy>Pedro Paulo Favato Barcelos</cp:lastModifiedBy>
  <cp:revision>729</cp:revision>
  <dcterms:created xsi:type="dcterms:W3CDTF">2026-04-15T11:32:55Z</dcterms:created>
  <dcterms:modified xsi:type="dcterms:W3CDTF">2026-05-22T07:29:43Z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