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9"/>
  </p:notesMasterIdLst>
  <p:sldIdLst>
    <p:sldId id="256" r:id="rId5"/>
    <p:sldId id="355" r:id="rId6"/>
    <p:sldId id="409" r:id="rId7"/>
    <p:sldId id="421" r:id="rId8"/>
    <p:sldId id="425" r:id="rId9"/>
    <p:sldId id="356" r:id="rId10"/>
    <p:sldId id="373" r:id="rId11"/>
    <p:sldId id="378" r:id="rId12"/>
    <p:sldId id="379" r:id="rId13"/>
    <p:sldId id="438" r:id="rId14"/>
    <p:sldId id="418" r:id="rId15"/>
    <p:sldId id="375" r:id="rId16"/>
    <p:sldId id="376" r:id="rId17"/>
    <p:sldId id="366" r:id="rId18"/>
    <p:sldId id="377" r:id="rId19"/>
    <p:sldId id="426" r:id="rId20"/>
    <p:sldId id="354" r:id="rId21"/>
    <p:sldId id="384" r:id="rId22"/>
    <p:sldId id="385" r:id="rId23"/>
    <p:sldId id="386" r:id="rId24"/>
    <p:sldId id="388" r:id="rId25"/>
    <p:sldId id="440" r:id="rId26"/>
    <p:sldId id="391" r:id="rId27"/>
    <p:sldId id="44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4F6DA60-9F5B-4D69-A466-C35CB4C4BB43}">
          <p14:sldIdLst>
            <p14:sldId id="256"/>
            <p14:sldId id="355"/>
            <p14:sldId id="409"/>
            <p14:sldId id="421"/>
            <p14:sldId id="425"/>
            <p14:sldId id="356"/>
            <p14:sldId id="373"/>
            <p14:sldId id="378"/>
            <p14:sldId id="379"/>
            <p14:sldId id="438"/>
            <p14:sldId id="418"/>
            <p14:sldId id="375"/>
            <p14:sldId id="376"/>
            <p14:sldId id="366"/>
            <p14:sldId id="377"/>
            <p14:sldId id="426"/>
            <p14:sldId id="354"/>
            <p14:sldId id="384"/>
            <p14:sldId id="385"/>
            <p14:sldId id="386"/>
            <p14:sldId id="388"/>
            <p14:sldId id="440"/>
            <p14:sldId id="391"/>
            <p14:sldId id="441"/>
          </p14:sldIdLst>
        </p14:section>
        <p14:section name="Extra" id="{1CFDE7F0-1201-4C51-B70A-D3E9EF8779BC}">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4D9"/>
    <a:srgbClr val="E30614"/>
    <a:srgbClr val="F2F2F2"/>
    <a:srgbClr val="BCC1CB"/>
    <a:srgbClr val="FFFFFF"/>
    <a:srgbClr val="DEF1DC"/>
    <a:srgbClr val="15467B"/>
    <a:srgbClr val="000000"/>
    <a:srgbClr val="F8AF00"/>
    <a:srgbClr val="E019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6828" autoAdjust="0"/>
  </p:normalViewPr>
  <p:slideViewPr>
    <p:cSldViewPr snapToGrid="0">
      <p:cViewPr varScale="1">
        <p:scale>
          <a:sx n="70" d="100"/>
          <a:sy n="70" d="100"/>
        </p:scale>
        <p:origin x="2016" y="66"/>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1" d="100"/>
          <a:sy n="81" d="100"/>
        </p:scale>
        <p:origin x="389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_rels/data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8897B1-8786-4F45-8F3E-6F9FA28A4495}" type="doc">
      <dgm:prSet loTypeId="urn:microsoft.com/office/officeart/2005/8/layout/bProcess3" loCatId="process" qsTypeId="urn:microsoft.com/office/officeart/2005/8/quickstyle/simple5" qsCatId="simple" csTypeId="urn:microsoft.com/office/officeart/2005/8/colors/accent1_2" csCatId="accent1" phldr="1"/>
      <dgm:spPr/>
      <dgm:t>
        <a:bodyPr/>
        <a:lstStyle/>
        <a:p>
          <a:endParaRPr lang="en-NL"/>
        </a:p>
      </dgm:t>
    </dgm:pt>
    <dgm:pt modelId="{0E885238-2E13-4AA2-80EA-5AE1057C5004}">
      <dgm:prSet/>
      <dgm:spPr/>
      <dgm:t>
        <a:bodyPr anchor="ctr"/>
        <a:lstStyle/>
        <a:p>
          <a:pPr algn="l"/>
          <a:r>
            <a:rPr lang="it-IT" b="1" u="none" dirty="0"/>
            <a:t>Scenario 1: </a:t>
          </a:r>
          <a:r>
            <a:rPr lang="en-US" dirty="0"/>
            <a:t>Clarify Meanings Before Reuse</a:t>
          </a:r>
          <a:endParaRPr lang="en-NL" b="0" u="none" dirty="0"/>
        </a:p>
      </dgm:t>
    </dgm:pt>
    <dgm:pt modelId="{0F1F07AB-F376-4A68-8731-667CA0C14530}" type="parTrans" cxnId="{2BA27D8A-14C6-4B88-8B88-8B51A471621A}">
      <dgm:prSet/>
      <dgm:spPr/>
      <dgm:t>
        <a:bodyPr/>
        <a:lstStyle/>
        <a:p>
          <a:endParaRPr lang="en-NL"/>
        </a:p>
      </dgm:t>
    </dgm:pt>
    <dgm:pt modelId="{86FEFBC6-1B20-4987-B9DF-E83ED6435580}" type="sibTrans" cxnId="{2BA27D8A-14C6-4B88-8B88-8B51A471621A}">
      <dgm:prSet/>
      <dgm:spPr>
        <a:ln w="34925">
          <a:solidFill>
            <a:schemeClr val="accent2"/>
          </a:solidFill>
          <a:tailEnd type="arrow" w="lg" len="med"/>
        </a:ln>
      </dgm:spPr>
      <dgm:t>
        <a:bodyPr/>
        <a:lstStyle/>
        <a:p>
          <a:endParaRPr lang="en-NL"/>
        </a:p>
      </dgm:t>
    </dgm:pt>
    <dgm:pt modelId="{96FB2433-1B30-4F4B-9905-BCD4E1757523}">
      <dgm:prSet/>
      <dgm:spPr/>
      <dgm:t>
        <a:bodyPr anchor="ctr"/>
        <a:lstStyle/>
        <a:p>
          <a:pPr algn="l"/>
          <a:r>
            <a:rPr lang="en-US" b="1" u="none" dirty="0">
              <a:solidFill>
                <a:schemeClr val="bg1"/>
              </a:solidFill>
            </a:rPr>
            <a:t>Scenario 5:</a:t>
          </a:r>
          <a:r>
            <a:rPr lang="en-US" b="0" u="none" dirty="0">
              <a:solidFill>
                <a:schemeClr val="bg1"/>
              </a:solidFill>
            </a:rPr>
            <a:t> </a:t>
          </a:r>
          <a:r>
            <a:rPr lang="en-US" dirty="0">
              <a:solidFill>
                <a:schemeClr val="bg1"/>
              </a:solidFill>
            </a:rPr>
            <a:t>Assess (re)use options around one selected concept</a:t>
          </a:r>
          <a:endParaRPr lang="en-NL" dirty="0">
            <a:solidFill>
              <a:schemeClr val="bg1"/>
            </a:solidFill>
          </a:endParaRPr>
        </a:p>
      </dgm:t>
    </dgm:pt>
    <dgm:pt modelId="{E1541FE1-F29C-4FEE-BAEE-28CC6FA333CA}" type="parTrans" cxnId="{6F760F83-3FFF-49AF-9DDE-A369A4B4C28C}">
      <dgm:prSet/>
      <dgm:spPr/>
      <dgm:t>
        <a:bodyPr/>
        <a:lstStyle/>
        <a:p>
          <a:endParaRPr lang="en-NL"/>
        </a:p>
      </dgm:t>
    </dgm:pt>
    <dgm:pt modelId="{ACC4E472-98B3-4A96-B982-D4F105C94079}" type="sibTrans" cxnId="{6F760F83-3FFF-49AF-9DDE-A369A4B4C28C}">
      <dgm:prSet/>
      <dgm:spPr>
        <a:ln w="34925">
          <a:solidFill>
            <a:schemeClr val="accent2"/>
          </a:solidFill>
          <a:tailEnd type="arrow" w="lg" len="med"/>
        </a:ln>
      </dgm:spPr>
      <dgm:t>
        <a:bodyPr/>
        <a:lstStyle/>
        <a:p>
          <a:endParaRPr lang="en-NL"/>
        </a:p>
      </dgm:t>
    </dgm:pt>
    <dgm:pt modelId="{E85426CD-3C98-4ECB-92E3-6688B23C5426}">
      <dgm:prSet/>
      <dgm:spPr>
        <a:solidFill>
          <a:schemeClr val="accent3">
            <a:lumMod val="20000"/>
            <a:lumOff val="80000"/>
          </a:schemeClr>
        </a:solidFill>
        <a:ln>
          <a:solidFill>
            <a:schemeClr val="accent1"/>
          </a:solidFill>
        </a:ln>
      </dgm:spPr>
      <dgm:t>
        <a:bodyPr anchor="ctr"/>
        <a:lstStyle/>
        <a:p>
          <a:pPr algn="l"/>
          <a:r>
            <a:rPr lang="en-US" b="1" dirty="0">
              <a:solidFill>
                <a:schemeClr val="accent1"/>
              </a:solidFill>
            </a:rPr>
            <a:t>Result:</a:t>
          </a:r>
          <a:r>
            <a:rPr lang="en-US" dirty="0">
              <a:solidFill>
                <a:schemeClr val="accent1"/>
              </a:solidFill>
            </a:rPr>
            <a:t> Amir could move from label-based guessing to a defensible decision, identifying which variable fits his study and which related concepts align, should be ruled out, or only partially overlap.</a:t>
          </a:r>
          <a:endParaRPr lang="en-NL" dirty="0">
            <a:solidFill>
              <a:schemeClr val="accent1"/>
            </a:solidFill>
          </a:endParaRPr>
        </a:p>
      </dgm:t>
    </dgm:pt>
    <dgm:pt modelId="{3365F242-5B4F-4CCD-970F-BDDE72811A13}" type="parTrans" cxnId="{5B810A0C-6F30-48D0-A6FE-E8CDEF9EF708}">
      <dgm:prSet/>
      <dgm:spPr/>
      <dgm:t>
        <a:bodyPr/>
        <a:lstStyle/>
        <a:p>
          <a:endParaRPr lang="en-NL"/>
        </a:p>
      </dgm:t>
    </dgm:pt>
    <dgm:pt modelId="{DD82BA89-33EE-4DFE-8737-2F62D7FD6AA6}" type="sibTrans" cxnId="{5B810A0C-6F30-48D0-A6FE-E8CDEF9EF708}">
      <dgm:prSet/>
      <dgm:spPr/>
      <dgm:t>
        <a:bodyPr/>
        <a:lstStyle/>
        <a:p>
          <a:endParaRPr lang="en-NL"/>
        </a:p>
      </dgm:t>
    </dgm:pt>
    <dgm:pt modelId="{3C8F336F-8535-471E-9E2E-EDBE1D90440F}">
      <dgm:prSet/>
      <dgm:spPr/>
      <dgm:t>
        <a:bodyPr anchor="ctr"/>
        <a:lstStyle/>
        <a:p>
          <a:pPr algn="l"/>
          <a:r>
            <a:rPr lang="en-US" b="1" u="none" dirty="0"/>
            <a:t>Scenario 2: </a:t>
          </a:r>
          <a:r>
            <a:rPr lang="en-US" dirty="0"/>
            <a:t>Identify the dataset that represents the right meaning</a:t>
          </a:r>
          <a:endParaRPr lang="en-NL" b="0" u="none" dirty="0"/>
        </a:p>
      </dgm:t>
    </dgm:pt>
    <dgm:pt modelId="{7FFDCBD2-F58A-4CBC-AAAA-674DC77DB221}" type="parTrans" cxnId="{8FEF0BA5-DE05-43D4-B0DA-2F430DB29B00}">
      <dgm:prSet/>
      <dgm:spPr/>
      <dgm:t>
        <a:bodyPr/>
        <a:lstStyle/>
        <a:p>
          <a:endParaRPr lang="en-NL"/>
        </a:p>
      </dgm:t>
    </dgm:pt>
    <dgm:pt modelId="{BE52810D-9388-433F-8634-C654FBAD953C}" type="sibTrans" cxnId="{8FEF0BA5-DE05-43D4-B0DA-2F430DB29B00}">
      <dgm:prSet/>
      <dgm:spPr>
        <a:ln w="34925">
          <a:solidFill>
            <a:schemeClr val="accent2"/>
          </a:solidFill>
          <a:tailEnd type="arrow" w="lg" len="med"/>
        </a:ln>
      </dgm:spPr>
      <dgm:t>
        <a:bodyPr/>
        <a:lstStyle/>
        <a:p>
          <a:endParaRPr lang="en-NL"/>
        </a:p>
      </dgm:t>
    </dgm:pt>
    <dgm:pt modelId="{B838CBCF-5171-4C26-A79F-F2628D2489E9}">
      <dgm:prSet/>
      <dgm:spPr/>
      <dgm:t>
        <a:bodyPr anchor="ctr"/>
        <a:lstStyle/>
        <a:p>
          <a:pPr algn="l"/>
          <a:r>
            <a:rPr lang="en-US" b="1" u="none" dirty="0"/>
            <a:t>Scenario 3: </a:t>
          </a:r>
          <a:r>
            <a:rPr lang="en-US" b="0" u="none" dirty="0"/>
            <a:t>Inspect what a selected column means</a:t>
          </a:r>
          <a:endParaRPr lang="en-NL" b="0" u="none" dirty="0"/>
        </a:p>
      </dgm:t>
    </dgm:pt>
    <dgm:pt modelId="{37ABE1D1-0D82-4C33-8C5E-E6FC17D92F16}" type="parTrans" cxnId="{3D00B630-316B-4C03-940C-A3F2A935219B}">
      <dgm:prSet/>
      <dgm:spPr/>
      <dgm:t>
        <a:bodyPr/>
        <a:lstStyle/>
        <a:p>
          <a:endParaRPr lang="en-NL"/>
        </a:p>
      </dgm:t>
    </dgm:pt>
    <dgm:pt modelId="{6A8F28F4-4B87-48C1-BD5E-BBC975331ABB}" type="sibTrans" cxnId="{3D00B630-316B-4C03-940C-A3F2A935219B}">
      <dgm:prSet/>
      <dgm:spPr>
        <a:ln w="34925">
          <a:solidFill>
            <a:schemeClr val="accent2"/>
          </a:solidFill>
          <a:tailEnd type="arrow" w="lg" len="med"/>
        </a:ln>
      </dgm:spPr>
      <dgm:t>
        <a:bodyPr/>
        <a:lstStyle/>
        <a:p>
          <a:endParaRPr lang="en-NL"/>
        </a:p>
      </dgm:t>
    </dgm:pt>
    <dgm:pt modelId="{55A474CF-010C-4359-947B-B2BA53B9046A}">
      <dgm:prSet/>
      <dgm:spPr/>
      <dgm:t>
        <a:bodyPr anchor="ctr"/>
        <a:lstStyle/>
        <a:p>
          <a:pPr algn="l"/>
          <a:r>
            <a:rPr lang="en-US" b="1" u="none" dirty="0"/>
            <a:t>Scenario 4:</a:t>
          </a:r>
          <a:r>
            <a:rPr lang="en-US" b="0" u="none" dirty="0"/>
            <a:t> Formalize the semantic relation between two selected columns</a:t>
          </a:r>
          <a:endParaRPr lang="en-NL" b="0" u="none" dirty="0"/>
        </a:p>
      </dgm:t>
    </dgm:pt>
    <dgm:pt modelId="{5FC4AA4E-464A-4DE7-BC19-4BDCC3F1EF95}" type="parTrans" cxnId="{544B5546-AEBE-4640-87D1-FA28567E1BEF}">
      <dgm:prSet/>
      <dgm:spPr/>
      <dgm:t>
        <a:bodyPr/>
        <a:lstStyle/>
        <a:p>
          <a:endParaRPr lang="en-NL"/>
        </a:p>
      </dgm:t>
    </dgm:pt>
    <dgm:pt modelId="{EC8E753D-90AC-48A4-9CB4-12897BD0A970}" type="sibTrans" cxnId="{544B5546-AEBE-4640-87D1-FA28567E1BEF}">
      <dgm:prSet/>
      <dgm:spPr>
        <a:ln w="34925">
          <a:solidFill>
            <a:schemeClr val="accent2"/>
          </a:solidFill>
          <a:tailEnd type="arrow" w="lg" len="med"/>
        </a:ln>
      </dgm:spPr>
      <dgm:t>
        <a:bodyPr/>
        <a:lstStyle/>
        <a:p>
          <a:endParaRPr lang="en-NL"/>
        </a:p>
      </dgm:t>
    </dgm:pt>
    <dgm:pt modelId="{EF7E357A-05A4-420C-91CB-57667FFFC1C1}" type="pres">
      <dgm:prSet presAssocID="{9A8897B1-8786-4F45-8F3E-6F9FA28A4495}" presName="Name0" presStyleCnt="0">
        <dgm:presLayoutVars>
          <dgm:dir/>
          <dgm:resizeHandles val="exact"/>
        </dgm:presLayoutVars>
      </dgm:prSet>
      <dgm:spPr/>
    </dgm:pt>
    <dgm:pt modelId="{BCF0A5AE-28F4-460B-A483-4E9270C15EA5}" type="pres">
      <dgm:prSet presAssocID="{0E885238-2E13-4AA2-80EA-5AE1057C5004}" presName="node" presStyleLbl="node1" presStyleIdx="0" presStyleCnt="6">
        <dgm:presLayoutVars>
          <dgm:bulletEnabled val="1"/>
        </dgm:presLayoutVars>
      </dgm:prSet>
      <dgm:spPr/>
    </dgm:pt>
    <dgm:pt modelId="{BEC936B6-E74A-4ADC-9FF8-41B735ABA13C}" type="pres">
      <dgm:prSet presAssocID="{86FEFBC6-1B20-4987-B9DF-E83ED6435580}" presName="sibTrans" presStyleLbl="sibTrans1D1" presStyleIdx="0" presStyleCnt="5"/>
      <dgm:spPr/>
    </dgm:pt>
    <dgm:pt modelId="{ABAE6600-31A1-4F9E-9842-1F1EA55B3009}" type="pres">
      <dgm:prSet presAssocID="{86FEFBC6-1B20-4987-B9DF-E83ED6435580}" presName="connectorText" presStyleLbl="sibTrans1D1" presStyleIdx="0" presStyleCnt="5"/>
      <dgm:spPr/>
    </dgm:pt>
    <dgm:pt modelId="{3466A636-609B-4F26-B741-EC0A1C2852FA}" type="pres">
      <dgm:prSet presAssocID="{3C8F336F-8535-471E-9E2E-EDBE1D90440F}" presName="node" presStyleLbl="node1" presStyleIdx="1" presStyleCnt="6">
        <dgm:presLayoutVars>
          <dgm:bulletEnabled val="1"/>
        </dgm:presLayoutVars>
      </dgm:prSet>
      <dgm:spPr/>
    </dgm:pt>
    <dgm:pt modelId="{EE67AEC7-A539-4D09-80D5-397693C7C04F}" type="pres">
      <dgm:prSet presAssocID="{BE52810D-9388-433F-8634-C654FBAD953C}" presName="sibTrans" presStyleLbl="sibTrans1D1" presStyleIdx="1" presStyleCnt="5"/>
      <dgm:spPr/>
    </dgm:pt>
    <dgm:pt modelId="{E37894B1-EA6F-4974-AA0B-CCF4FEF8C9A7}" type="pres">
      <dgm:prSet presAssocID="{BE52810D-9388-433F-8634-C654FBAD953C}" presName="connectorText" presStyleLbl="sibTrans1D1" presStyleIdx="1" presStyleCnt="5"/>
      <dgm:spPr/>
    </dgm:pt>
    <dgm:pt modelId="{781997A3-EE88-46C6-BA3F-CB53E3E30BE6}" type="pres">
      <dgm:prSet presAssocID="{B838CBCF-5171-4C26-A79F-F2628D2489E9}" presName="node" presStyleLbl="node1" presStyleIdx="2" presStyleCnt="6">
        <dgm:presLayoutVars>
          <dgm:bulletEnabled val="1"/>
        </dgm:presLayoutVars>
      </dgm:prSet>
      <dgm:spPr/>
    </dgm:pt>
    <dgm:pt modelId="{0C26B74F-5C5E-488F-BE18-6EEF27F0F2A6}" type="pres">
      <dgm:prSet presAssocID="{6A8F28F4-4B87-48C1-BD5E-BBC975331ABB}" presName="sibTrans" presStyleLbl="sibTrans1D1" presStyleIdx="2" presStyleCnt="5"/>
      <dgm:spPr/>
    </dgm:pt>
    <dgm:pt modelId="{76D31899-9C2E-41D5-85B0-AF533E161E3D}" type="pres">
      <dgm:prSet presAssocID="{6A8F28F4-4B87-48C1-BD5E-BBC975331ABB}" presName="connectorText" presStyleLbl="sibTrans1D1" presStyleIdx="2" presStyleCnt="5"/>
      <dgm:spPr/>
    </dgm:pt>
    <dgm:pt modelId="{385934CF-4E3A-484C-B2B3-66DCDD4477E7}" type="pres">
      <dgm:prSet presAssocID="{55A474CF-010C-4359-947B-B2BA53B9046A}" presName="node" presStyleLbl="node1" presStyleIdx="3" presStyleCnt="6">
        <dgm:presLayoutVars>
          <dgm:bulletEnabled val="1"/>
        </dgm:presLayoutVars>
      </dgm:prSet>
      <dgm:spPr/>
    </dgm:pt>
    <dgm:pt modelId="{B654FB9A-C7F5-4D27-A357-D10950EFC7A1}" type="pres">
      <dgm:prSet presAssocID="{EC8E753D-90AC-48A4-9CB4-12897BD0A970}" presName="sibTrans" presStyleLbl="sibTrans1D1" presStyleIdx="3" presStyleCnt="5"/>
      <dgm:spPr/>
    </dgm:pt>
    <dgm:pt modelId="{B360CC18-5E5A-4211-A96A-57475586979B}" type="pres">
      <dgm:prSet presAssocID="{EC8E753D-90AC-48A4-9CB4-12897BD0A970}" presName="connectorText" presStyleLbl="sibTrans1D1" presStyleIdx="3" presStyleCnt="5"/>
      <dgm:spPr/>
    </dgm:pt>
    <dgm:pt modelId="{7F969913-C98E-4911-B734-E71B7FCCDDE1}" type="pres">
      <dgm:prSet presAssocID="{96FB2433-1B30-4F4B-9905-BCD4E1757523}" presName="node" presStyleLbl="node1" presStyleIdx="4" presStyleCnt="6">
        <dgm:presLayoutVars>
          <dgm:bulletEnabled val="1"/>
        </dgm:presLayoutVars>
      </dgm:prSet>
      <dgm:spPr/>
    </dgm:pt>
    <dgm:pt modelId="{E04C062C-12EC-4CAC-A9F7-FA386B959D12}" type="pres">
      <dgm:prSet presAssocID="{ACC4E472-98B3-4A96-B982-D4F105C94079}" presName="sibTrans" presStyleLbl="sibTrans1D1" presStyleIdx="4" presStyleCnt="5"/>
      <dgm:spPr/>
    </dgm:pt>
    <dgm:pt modelId="{07469705-030F-4808-BDF9-2CD70F975978}" type="pres">
      <dgm:prSet presAssocID="{ACC4E472-98B3-4A96-B982-D4F105C94079}" presName="connectorText" presStyleLbl="sibTrans1D1" presStyleIdx="4" presStyleCnt="5"/>
      <dgm:spPr/>
    </dgm:pt>
    <dgm:pt modelId="{F33A4F67-5619-4B2C-B090-C5D18F9B354D}" type="pres">
      <dgm:prSet presAssocID="{E85426CD-3C98-4ECB-92E3-6688B23C5426}" presName="node" presStyleLbl="node1" presStyleIdx="5" presStyleCnt="6">
        <dgm:presLayoutVars>
          <dgm:bulletEnabled val="1"/>
        </dgm:presLayoutVars>
      </dgm:prSet>
      <dgm:spPr/>
    </dgm:pt>
  </dgm:ptLst>
  <dgm:cxnLst>
    <dgm:cxn modelId="{69553A00-49DD-4DFA-AC34-1C949A251304}" type="presOf" srcId="{0E885238-2E13-4AA2-80EA-5AE1057C5004}" destId="{BCF0A5AE-28F4-460B-A483-4E9270C15EA5}" srcOrd="0" destOrd="0" presId="urn:microsoft.com/office/officeart/2005/8/layout/bProcess3"/>
    <dgm:cxn modelId="{5B810A0C-6F30-48D0-A6FE-E8CDEF9EF708}" srcId="{9A8897B1-8786-4F45-8F3E-6F9FA28A4495}" destId="{E85426CD-3C98-4ECB-92E3-6688B23C5426}" srcOrd="5" destOrd="0" parTransId="{3365F242-5B4F-4CCD-970F-BDDE72811A13}" sibTransId="{DD82BA89-33EE-4DFE-8737-2F62D7FD6AA6}"/>
    <dgm:cxn modelId="{5274691B-CFA5-4113-B5B6-90DCD5A994A3}" type="presOf" srcId="{E85426CD-3C98-4ECB-92E3-6688B23C5426}" destId="{F33A4F67-5619-4B2C-B090-C5D18F9B354D}" srcOrd="0" destOrd="0" presId="urn:microsoft.com/office/officeart/2005/8/layout/bProcess3"/>
    <dgm:cxn modelId="{A4B3B71B-F4EB-42DD-8B36-1314E3349C1A}" type="presOf" srcId="{6A8F28F4-4B87-48C1-BD5E-BBC975331ABB}" destId="{0C26B74F-5C5E-488F-BE18-6EEF27F0F2A6}" srcOrd="0" destOrd="0" presId="urn:microsoft.com/office/officeart/2005/8/layout/bProcess3"/>
    <dgm:cxn modelId="{BBB6BC21-5C3C-486C-A0D9-E12EFAFBAB9E}" type="presOf" srcId="{BE52810D-9388-433F-8634-C654FBAD953C}" destId="{EE67AEC7-A539-4D09-80D5-397693C7C04F}" srcOrd="0" destOrd="0" presId="urn:microsoft.com/office/officeart/2005/8/layout/bProcess3"/>
    <dgm:cxn modelId="{D3FEB728-27E0-4CDD-9514-CF79B1AD67C5}" type="presOf" srcId="{ACC4E472-98B3-4A96-B982-D4F105C94079}" destId="{E04C062C-12EC-4CAC-A9F7-FA386B959D12}" srcOrd="0" destOrd="0" presId="urn:microsoft.com/office/officeart/2005/8/layout/bProcess3"/>
    <dgm:cxn modelId="{3D00B630-316B-4C03-940C-A3F2A935219B}" srcId="{9A8897B1-8786-4F45-8F3E-6F9FA28A4495}" destId="{B838CBCF-5171-4C26-A79F-F2628D2489E9}" srcOrd="2" destOrd="0" parTransId="{37ABE1D1-0D82-4C33-8C5E-E6FC17D92F16}" sibTransId="{6A8F28F4-4B87-48C1-BD5E-BBC975331ABB}"/>
    <dgm:cxn modelId="{A5CB413E-6A8D-4E05-9518-E95B5922452D}" type="presOf" srcId="{6A8F28F4-4B87-48C1-BD5E-BBC975331ABB}" destId="{76D31899-9C2E-41D5-85B0-AF533E161E3D}" srcOrd="1" destOrd="0" presId="urn:microsoft.com/office/officeart/2005/8/layout/bProcess3"/>
    <dgm:cxn modelId="{C99A665C-BBE2-45C8-88D4-86FFA35FE582}" type="presOf" srcId="{86FEFBC6-1B20-4987-B9DF-E83ED6435580}" destId="{BEC936B6-E74A-4ADC-9FF8-41B735ABA13C}" srcOrd="0" destOrd="0" presId="urn:microsoft.com/office/officeart/2005/8/layout/bProcess3"/>
    <dgm:cxn modelId="{544B5546-AEBE-4640-87D1-FA28567E1BEF}" srcId="{9A8897B1-8786-4F45-8F3E-6F9FA28A4495}" destId="{55A474CF-010C-4359-947B-B2BA53B9046A}" srcOrd="3" destOrd="0" parTransId="{5FC4AA4E-464A-4DE7-BC19-4BDCC3F1EF95}" sibTransId="{EC8E753D-90AC-48A4-9CB4-12897BD0A970}"/>
    <dgm:cxn modelId="{0BE4A14E-2C20-43F0-BB6F-4EF2800B40E7}" type="presOf" srcId="{ACC4E472-98B3-4A96-B982-D4F105C94079}" destId="{07469705-030F-4808-BDF9-2CD70F975978}" srcOrd="1" destOrd="0" presId="urn:microsoft.com/office/officeart/2005/8/layout/bProcess3"/>
    <dgm:cxn modelId="{2FB3BF6F-BBDB-4EA7-AA62-18B7EC16C150}" type="presOf" srcId="{EC8E753D-90AC-48A4-9CB4-12897BD0A970}" destId="{B654FB9A-C7F5-4D27-A357-D10950EFC7A1}" srcOrd="0" destOrd="0" presId="urn:microsoft.com/office/officeart/2005/8/layout/bProcess3"/>
    <dgm:cxn modelId="{E6026250-9624-4147-9AC7-5D984A41E0A9}" type="presOf" srcId="{86FEFBC6-1B20-4987-B9DF-E83ED6435580}" destId="{ABAE6600-31A1-4F9E-9842-1F1EA55B3009}" srcOrd="1" destOrd="0" presId="urn:microsoft.com/office/officeart/2005/8/layout/bProcess3"/>
    <dgm:cxn modelId="{6F760F83-3FFF-49AF-9DDE-A369A4B4C28C}" srcId="{9A8897B1-8786-4F45-8F3E-6F9FA28A4495}" destId="{96FB2433-1B30-4F4B-9905-BCD4E1757523}" srcOrd="4" destOrd="0" parTransId="{E1541FE1-F29C-4FEE-BAEE-28CC6FA333CA}" sibTransId="{ACC4E472-98B3-4A96-B982-D4F105C94079}"/>
    <dgm:cxn modelId="{2BA27D8A-14C6-4B88-8B88-8B51A471621A}" srcId="{9A8897B1-8786-4F45-8F3E-6F9FA28A4495}" destId="{0E885238-2E13-4AA2-80EA-5AE1057C5004}" srcOrd="0" destOrd="0" parTransId="{0F1F07AB-F376-4A68-8731-667CA0C14530}" sibTransId="{86FEFBC6-1B20-4987-B9DF-E83ED6435580}"/>
    <dgm:cxn modelId="{F89E568E-1DB9-4C9B-A36F-414BB50921D6}" type="presOf" srcId="{EC8E753D-90AC-48A4-9CB4-12897BD0A970}" destId="{B360CC18-5E5A-4211-A96A-57475586979B}" srcOrd="1" destOrd="0" presId="urn:microsoft.com/office/officeart/2005/8/layout/bProcess3"/>
    <dgm:cxn modelId="{AC102B90-C86C-4AED-9E66-AB2B69F44C10}" type="presOf" srcId="{9A8897B1-8786-4F45-8F3E-6F9FA28A4495}" destId="{EF7E357A-05A4-420C-91CB-57667FFFC1C1}" srcOrd="0" destOrd="0" presId="urn:microsoft.com/office/officeart/2005/8/layout/bProcess3"/>
    <dgm:cxn modelId="{8FEF0BA5-DE05-43D4-B0DA-2F430DB29B00}" srcId="{9A8897B1-8786-4F45-8F3E-6F9FA28A4495}" destId="{3C8F336F-8535-471E-9E2E-EDBE1D90440F}" srcOrd="1" destOrd="0" parTransId="{7FFDCBD2-F58A-4CBC-AAAA-674DC77DB221}" sibTransId="{BE52810D-9388-433F-8634-C654FBAD953C}"/>
    <dgm:cxn modelId="{D7BA06AC-70CE-4B91-BCEB-C962B6FB0D51}" type="presOf" srcId="{55A474CF-010C-4359-947B-B2BA53B9046A}" destId="{385934CF-4E3A-484C-B2B3-66DCDD4477E7}" srcOrd="0" destOrd="0" presId="urn:microsoft.com/office/officeart/2005/8/layout/bProcess3"/>
    <dgm:cxn modelId="{617DBAB3-1DA8-440B-BFC7-AAFC172051E2}" type="presOf" srcId="{B838CBCF-5171-4C26-A79F-F2628D2489E9}" destId="{781997A3-EE88-46C6-BA3F-CB53E3E30BE6}" srcOrd="0" destOrd="0" presId="urn:microsoft.com/office/officeart/2005/8/layout/bProcess3"/>
    <dgm:cxn modelId="{EE24FBD7-CD34-46EC-9AC2-FEB30CE81D9E}" type="presOf" srcId="{96FB2433-1B30-4F4B-9905-BCD4E1757523}" destId="{7F969913-C98E-4911-B734-E71B7FCCDDE1}" srcOrd="0" destOrd="0" presId="urn:microsoft.com/office/officeart/2005/8/layout/bProcess3"/>
    <dgm:cxn modelId="{8C444DED-40D8-46AD-8A19-F5E35C24FB58}" type="presOf" srcId="{3C8F336F-8535-471E-9E2E-EDBE1D90440F}" destId="{3466A636-609B-4F26-B741-EC0A1C2852FA}" srcOrd="0" destOrd="0" presId="urn:microsoft.com/office/officeart/2005/8/layout/bProcess3"/>
    <dgm:cxn modelId="{EFEEFBF0-DCD4-44BE-BC5C-A4C1346724C2}" type="presOf" srcId="{BE52810D-9388-433F-8634-C654FBAD953C}" destId="{E37894B1-EA6F-4974-AA0B-CCF4FEF8C9A7}" srcOrd="1" destOrd="0" presId="urn:microsoft.com/office/officeart/2005/8/layout/bProcess3"/>
    <dgm:cxn modelId="{0CD2F95F-B815-413B-801B-26A679D5466B}" type="presParOf" srcId="{EF7E357A-05A4-420C-91CB-57667FFFC1C1}" destId="{BCF0A5AE-28F4-460B-A483-4E9270C15EA5}" srcOrd="0" destOrd="0" presId="urn:microsoft.com/office/officeart/2005/8/layout/bProcess3"/>
    <dgm:cxn modelId="{AFB8879D-1DAA-4CD4-B90A-6948EF070108}" type="presParOf" srcId="{EF7E357A-05A4-420C-91CB-57667FFFC1C1}" destId="{BEC936B6-E74A-4ADC-9FF8-41B735ABA13C}" srcOrd="1" destOrd="0" presId="urn:microsoft.com/office/officeart/2005/8/layout/bProcess3"/>
    <dgm:cxn modelId="{CF0978AE-7B41-4145-A60D-8AE0E270886B}" type="presParOf" srcId="{BEC936B6-E74A-4ADC-9FF8-41B735ABA13C}" destId="{ABAE6600-31A1-4F9E-9842-1F1EA55B3009}" srcOrd="0" destOrd="0" presId="urn:microsoft.com/office/officeart/2005/8/layout/bProcess3"/>
    <dgm:cxn modelId="{A8A35B8A-507D-4527-B0E1-E6C8D6EB626F}" type="presParOf" srcId="{EF7E357A-05A4-420C-91CB-57667FFFC1C1}" destId="{3466A636-609B-4F26-B741-EC0A1C2852FA}" srcOrd="2" destOrd="0" presId="urn:microsoft.com/office/officeart/2005/8/layout/bProcess3"/>
    <dgm:cxn modelId="{D5848CC5-45D8-4A16-AD90-5B558C1F9987}" type="presParOf" srcId="{EF7E357A-05A4-420C-91CB-57667FFFC1C1}" destId="{EE67AEC7-A539-4D09-80D5-397693C7C04F}" srcOrd="3" destOrd="0" presId="urn:microsoft.com/office/officeart/2005/8/layout/bProcess3"/>
    <dgm:cxn modelId="{61EA3739-24EE-40AD-A494-1C9958507863}" type="presParOf" srcId="{EE67AEC7-A539-4D09-80D5-397693C7C04F}" destId="{E37894B1-EA6F-4974-AA0B-CCF4FEF8C9A7}" srcOrd="0" destOrd="0" presId="urn:microsoft.com/office/officeart/2005/8/layout/bProcess3"/>
    <dgm:cxn modelId="{FDA2234D-A8D5-4B74-88F1-9AF418299913}" type="presParOf" srcId="{EF7E357A-05A4-420C-91CB-57667FFFC1C1}" destId="{781997A3-EE88-46C6-BA3F-CB53E3E30BE6}" srcOrd="4" destOrd="0" presId="urn:microsoft.com/office/officeart/2005/8/layout/bProcess3"/>
    <dgm:cxn modelId="{10DD85A1-5A0A-4881-A208-A0576BF6401D}" type="presParOf" srcId="{EF7E357A-05A4-420C-91CB-57667FFFC1C1}" destId="{0C26B74F-5C5E-488F-BE18-6EEF27F0F2A6}" srcOrd="5" destOrd="0" presId="urn:microsoft.com/office/officeart/2005/8/layout/bProcess3"/>
    <dgm:cxn modelId="{400C5360-71EF-46B1-92C7-B981BA29782C}" type="presParOf" srcId="{0C26B74F-5C5E-488F-BE18-6EEF27F0F2A6}" destId="{76D31899-9C2E-41D5-85B0-AF533E161E3D}" srcOrd="0" destOrd="0" presId="urn:microsoft.com/office/officeart/2005/8/layout/bProcess3"/>
    <dgm:cxn modelId="{D5A32493-64E7-4AD7-9E18-ED7E17C4614E}" type="presParOf" srcId="{EF7E357A-05A4-420C-91CB-57667FFFC1C1}" destId="{385934CF-4E3A-484C-B2B3-66DCDD4477E7}" srcOrd="6" destOrd="0" presId="urn:microsoft.com/office/officeart/2005/8/layout/bProcess3"/>
    <dgm:cxn modelId="{11D8B7BE-7C6A-4BFA-A15C-EFEE93DB9B90}" type="presParOf" srcId="{EF7E357A-05A4-420C-91CB-57667FFFC1C1}" destId="{B654FB9A-C7F5-4D27-A357-D10950EFC7A1}" srcOrd="7" destOrd="0" presId="urn:microsoft.com/office/officeart/2005/8/layout/bProcess3"/>
    <dgm:cxn modelId="{598E51E8-124E-4767-AE54-37A8D40A3CE5}" type="presParOf" srcId="{B654FB9A-C7F5-4D27-A357-D10950EFC7A1}" destId="{B360CC18-5E5A-4211-A96A-57475586979B}" srcOrd="0" destOrd="0" presId="urn:microsoft.com/office/officeart/2005/8/layout/bProcess3"/>
    <dgm:cxn modelId="{AE5A2044-28D9-40FB-9AF2-0A3464C7E0E9}" type="presParOf" srcId="{EF7E357A-05A4-420C-91CB-57667FFFC1C1}" destId="{7F969913-C98E-4911-B734-E71B7FCCDDE1}" srcOrd="8" destOrd="0" presId="urn:microsoft.com/office/officeart/2005/8/layout/bProcess3"/>
    <dgm:cxn modelId="{3527FF3F-F300-4F5A-AEA0-68ADCBAB02AE}" type="presParOf" srcId="{EF7E357A-05A4-420C-91CB-57667FFFC1C1}" destId="{E04C062C-12EC-4CAC-A9F7-FA386B959D12}" srcOrd="9" destOrd="0" presId="urn:microsoft.com/office/officeart/2005/8/layout/bProcess3"/>
    <dgm:cxn modelId="{68E98944-8A49-4DF2-9FE0-99C0607ACAAC}" type="presParOf" srcId="{E04C062C-12EC-4CAC-A9F7-FA386B959D12}" destId="{07469705-030F-4808-BDF9-2CD70F975978}" srcOrd="0" destOrd="0" presId="urn:microsoft.com/office/officeart/2005/8/layout/bProcess3"/>
    <dgm:cxn modelId="{853DEABF-B10F-4CB7-84D5-04D4E87EC10B}" type="presParOf" srcId="{EF7E357A-05A4-420C-91CB-57667FFFC1C1}" destId="{F33A4F67-5619-4B2C-B090-C5D18F9B354D}" srcOrd="10" destOrd="0" presId="urn:microsoft.com/office/officeart/2005/8/layout/b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607D5BF2-DFEC-4B74-8D38-C28442FAFFF5}">
      <dgm:prSet phldrT="[Text]" phldr="0"/>
      <dgm:spPr/>
      <dgm:t>
        <a:bodyPr/>
        <a:lstStyle/>
        <a:p>
          <a:r>
            <a:rPr lang="en-US" dirty="0"/>
            <a:t>(Biological) Sex: Male</a:t>
          </a:r>
          <a:endParaRPr lang="en-NL" dirty="0"/>
        </a:p>
      </dgm:t>
    </dgm:pt>
    <dgm:pt modelId="{6BD3EEC5-6560-466C-83D8-B26481A66F53}" type="parTrans" cxnId="{9A33EFF8-4BB2-4E66-92B7-8C0D8B454901}">
      <dgm:prSet/>
      <dgm:spPr/>
      <dgm:t>
        <a:bodyPr/>
        <a:lstStyle/>
        <a:p>
          <a:endParaRPr lang="en-NL"/>
        </a:p>
      </dgm:t>
    </dgm:pt>
    <dgm:pt modelId="{F833CBFA-4F00-4356-96C5-4FDBAB56AF74}" type="sibTrans" cxnId="{9A33EFF8-4BB2-4E66-92B7-8C0D8B454901}">
      <dgm:prSet/>
      <dgm:spPr/>
      <dgm:t>
        <a:bodyPr/>
        <a:lstStyle/>
        <a:p>
          <a:endParaRPr lang="en-NL"/>
        </a:p>
      </dgm:t>
    </dgm:pt>
    <dgm:pt modelId="{6B222F87-7DBD-4E68-9102-89C6C90DDAEF}">
      <dgm:prSet phldrT="[Text]"/>
      <dgm:spPr/>
      <dgm:t>
        <a:bodyPr/>
        <a:lstStyle/>
        <a:p>
          <a:r>
            <a:rPr lang="en-US" b="1"/>
            <a:t>Patient-002</a:t>
          </a:r>
          <a:endParaRPr lang="en-NL" b="1" dirty="0"/>
        </a:p>
      </dgm:t>
    </dgm:pt>
    <dgm:pt modelId="{AB266ED0-F401-4CFD-BB85-40D2CEC47E3F}" type="parTrans" cxnId="{D0842D9E-317E-4AE8-B51E-BBA34196C449}">
      <dgm:prSet/>
      <dgm:spPr/>
      <dgm:t>
        <a:bodyPr/>
        <a:lstStyle/>
        <a:p>
          <a:endParaRPr lang="en-NL"/>
        </a:p>
      </dgm:t>
    </dgm:pt>
    <dgm:pt modelId="{4BC6B5FD-9D81-4147-B352-B53DAC4964E7}" type="sibTrans" cxnId="{D0842D9E-317E-4AE8-B51E-BBA34196C449}">
      <dgm:prSet/>
      <dgm:spPr/>
      <dgm:t>
        <a:bodyPr/>
        <a:lstStyle/>
        <a:p>
          <a:endParaRPr lang="en-NL"/>
        </a:p>
      </dgm:t>
    </dgm:pt>
    <dgm:pt modelId="{16EA0510-5088-44C5-B017-1C99132E19EF}">
      <dgm:prSet phldrT="[Text]" phldr="0"/>
      <dgm:spPr/>
      <dgm:t>
        <a:bodyPr/>
        <a:lstStyle/>
        <a:p>
          <a:r>
            <a:rPr lang="en-US" dirty="0"/>
            <a:t>(Biological) Sex: Male</a:t>
          </a:r>
          <a:endParaRPr lang="en-NL" dirty="0"/>
        </a:p>
      </dgm:t>
    </dgm:pt>
    <dgm:pt modelId="{4DDD4E8B-7904-413C-A151-6B055270DBD8}" type="parTrans" cxnId="{1B14BF2C-A52E-4100-B57A-E7283A8A9BD5}">
      <dgm:prSet/>
      <dgm:spPr/>
      <dgm:t>
        <a:bodyPr/>
        <a:lstStyle/>
        <a:p>
          <a:endParaRPr lang="en-NL"/>
        </a:p>
      </dgm:t>
    </dgm:pt>
    <dgm:pt modelId="{E6F30FBE-D1FB-4842-B735-612BBDECFBE8}" type="sibTrans" cxnId="{1B14BF2C-A52E-4100-B57A-E7283A8A9BD5}">
      <dgm:prSet/>
      <dgm:spPr/>
      <dgm:t>
        <a:bodyPr/>
        <a:lstStyle/>
        <a:p>
          <a:endParaRPr lang="en-NL"/>
        </a:p>
      </dgm:t>
    </dgm:pt>
    <dgm:pt modelId="{BC7CCC39-99B3-4077-92E4-B4C54FFE7DBF}">
      <dgm:prSet phldrT="[Text]"/>
      <dgm:spPr/>
      <dgm:t>
        <a:bodyPr/>
        <a:lstStyle/>
        <a:p>
          <a:r>
            <a:rPr lang="en-US" b="1" dirty="0"/>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8050DAC1-72D7-4A2E-9179-1D67416B9325}">
      <dgm:prSet phldrT="[Text]" phldr="0"/>
      <dgm:spPr/>
      <dgm:t>
        <a:bodyPr/>
        <a:lstStyle/>
        <a:p>
          <a:r>
            <a:rPr lang="en-US" dirty="0"/>
            <a:t>(Social) Gender: Male</a:t>
          </a:r>
          <a:endParaRPr lang="en-NL" dirty="0"/>
        </a:p>
      </dgm:t>
    </dgm:pt>
    <dgm:pt modelId="{48F32C56-269D-488E-B259-5FE5F9F51A4F}" type="parTrans" cxnId="{F960A859-0BB1-4604-8739-E05173933F85}">
      <dgm:prSet/>
      <dgm:spPr/>
      <dgm:t>
        <a:bodyPr/>
        <a:lstStyle/>
        <a:p>
          <a:endParaRPr lang="en-NL"/>
        </a:p>
      </dgm:t>
    </dgm:pt>
    <dgm:pt modelId="{74BF0334-AFB5-46E8-8970-62468C854C0C}" type="sibTrans" cxnId="{F960A859-0BB1-4604-8739-E05173933F85}">
      <dgm:prSet/>
      <dgm:spPr/>
      <dgm:t>
        <a:bodyPr/>
        <a:lstStyle/>
        <a:p>
          <a:endParaRPr lang="en-NL"/>
        </a:p>
      </dgm:t>
    </dgm:pt>
    <dgm:pt modelId="{5F75A165-9718-46D3-8880-1938ED8FD2DB}">
      <dgm:prSet phldrT="[Text]" phldr="0"/>
      <dgm:spPr/>
      <dgm:t>
        <a:bodyPr/>
        <a:lstStyle/>
        <a:p>
          <a:r>
            <a:rPr lang="en-US" dirty="0"/>
            <a:t>(Social) Gender: Female (Trans)</a:t>
          </a:r>
          <a:endParaRPr lang="en-NL" dirty="0"/>
        </a:p>
      </dgm:t>
    </dgm:pt>
    <dgm:pt modelId="{A414B49E-9DB0-4DC4-A5D8-0805FD76FFCC}" type="parTrans" cxnId="{11F01769-8291-4F80-9205-8B6B5D0C4F8B}">
      <dgm:prSet/>
      <dgm:spPr/>
      <dgm:t>
        <a:bodyPr/>
        <a:lstStyle/>
        <a:p>
          <a:endParaRPr lang="en-NL"/>
        </a:p>
      </dgm:t>
    </dgm:pt>
    <dgm:pt modelId="{13094134-587E-4CCA-B415-1F1DD4571C7F}" type="sibTrans" cxnId="{11F01769-8291-4F80-9205-8B6B5D0C4F8B}">
      <dgm:prSet/>
      <dgm:spPr/>
      <dgm:t>
        <a:bodyPr/>
        <a:lstStyle/>
        <a:p>
          <a:endParaRPr lang="en-NL"/>
        </a:p>
      </dgm:t>
    </dgm:pt>
    <dgm:pt modelId="{E2B0BA4C-3342-42F5-ADB3-C2A2329BE835}">
      <dgm:prSet phldrT="[Text]"/>
      <dgm:spPr/>
      <dgm:t>
        <a:bodyPr/>
        <a:lstStyle/>
        <a:p>
          <a:r>
            <a:rPr lang="en-US" b="1"/>
            <a:t>Patient-003</a:t>
          </a:r>
          <a:endParaRPr lang="en-NL" b="1" dirty="0"/>
        </a:p>
      </dgm:t>
    </dgm:pt>
    <dgm:pt modelId="{2B516BBF-D87F-4CBF-BBBF-B5D1F411CD34}" type="sibTrans" cxnId="{6C7AC91F-8E8B-487D-B7BB-835C02EA45CA}">
      <dgm:prSet/>
      <dgm:spPr/>
      <dgm:t>
        <a:bodyPr/>
        <a:lstStyle/>
        <a:p>
          <a:endParaRPr lang="en-NL"/>
        </a:p>
      </dgm:t>
    </dgm:pt>
    <dgm:pt modelId="{67C4BCDC-C388-4B7C-A287-371CC1E00B38}" type="parTrans" cxnId="{6C7AC91F-8E8B-487D-B7BB-835C02EA45CA}">
      <dgm:prSet/>
      <dgm:spPr/>
      <dgm:t>
        <a:bodyPr/>
        <a:lstStyle/>
        <a:p>
          <a:endParaRPr lang="en-NL"/>
        </a:p>
      </dgm:t>
    </dgm:pt>
    <dgm:pt modelId="{0190DE36-2851-409D-83F0-8E42955A2707}">
      <dgm:prSet phldrT="[Text]" phldr="0"/>
      <dgm:spPr/>
      <dgm:t>
        <a:bodyPr/>
        <a:lstStyle/>
        <a:p>
          <a:r>
            <a:rPr lang="en-US" dirty="0"/>
            <a:t>(Biological) Sex: Female</a:t>
          </a:r>
          <a:endParaRPr lang="en-NL" dirty="0"/>
        </a:p>
      </dgm:t>
    </dgm:pt>
    <dgm:pt modelId="{799C1BBF-58CE-406D-9A03-24C1885776E6}" type="sibTrans" cxnId="{2910DD94-5143-4C03-9D6A-97980AB65928}">
      <dgm:prSet/>
      <dgm:spPr/>
      <dgm:t>
        <a:bodyPr/>
        <a:lstStyle/>
        <a:p>
          <a:endParaRPr lang="en-NL"/>
        </a:p>
      </dgm:t>
    </dgm:pt>
    <dgm:pt modelId="{325BCC62-BE2D-463D-BC40-3122B7EE094F}" type="parTrans" cxnId="{2910DD94-5143-4C03-9D6A-97980AB65928}">
      <dgm:prSet/>
      <dgm:spPr/>
      <dgm:t>
        <a:bodyPr/>
        <a:lstStyle/>
        <a:p>
          <a:endParaRPr lang="en-NL"/>
        </a:p>
      </dgm:t>
    </dgm:pt>
    <dgm:pt modelId="{8FCE1C56-5EA3-4C18-9549-A9D08E09023E}">
      <dgm:prSet phldrT="[Text]" phldr="0"/>
      <dgm:spPr/>
      <dgm:t>
        <a:bodyPr/>
        <a:lstStyle/>
        <a:p>
          <a:r>
            <a:rPr lang="en-US" dirty="0"/>
            <a:t>(Social) Gender: Non-binary</a:t>
          </a:r>
          <a:endParaRPr lang="en-NL" dirty="0"/>
        </a:p>
      </dgm:t>
    </dgm:pt>
    <dgm:pt modelId="{1B0E8543-B5F4-4FA1-84ED-3B99E041EA54}" type="sibTrans" cxnId="{827FA79E-E21C-4897-98BB-E69BD3E460EA}">
      <dgm:prSet/>
      <dgm:spPr/>
      <dgm:t>
        <a:bodyPr/>
        <a:lstStyle/>
        <a:p>
          <a:endParaRPr lang="en-NL"/>
        </a:p>
      </dgm:t>
    </dgm:pt>
    <dgm:pt modelId="{6F621260-10B0-40C6-BCF1-A15CCCF78D35}" type="parTrans" cxnId="{827FA79E-E21C-4897-98BB-E69BD3E460EA}">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E6BE8F6E-EA3A-4EE8-959B-6DBA66C138FA}" type="pres">
      <dgm:prSet presAssocID="{6B222F87-7DBD-4E68-9102-89C6C90DDAEF}" presName="composite" presStyleCnt="0">
        <dgm:presLayoutVars>
          <dgm:chMax val="1"/>
          <dgm:chPref val="1"/>
        </dgm:presLayoutVars>
      </dgm:prSet>
      <dgm:spPr/>
    </dgm:pt>
    <dgm:pt modelId="{BE5F1572-A447-4997-B7C1-2B8E87C28E09}" type="pres">
      <dgm:prSet presAssocID="{6B222F87-7DBD-4E68-9102-89C6C90DDAEF}" presName="Accent" presStyleLbl="trAlignAcc1" presStyleIdx="1" presStyleCnt="3">
        <dgm:presLayoutVars>
          <dgm:chMax val="0"/>
          <dgm:chPref val="0"/>
        </dgm:presLayoutVars>
      </dgm:prSet>
      <dgm:spPr/>
    </dgm:pt>
    <dgm:pt modelId="{0B8A85D8-4111-4B5E-94D3-3398FD061187}" type="pres">
      <dgm:prSet presAssocID="{6B222F87-7DBD-4E68-9102-89C6C90DDAEF}"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a:ln>
          <a:solidFill>
            <a:schemeClr val="bg2">
              <a:lumMod val="90000"/>
            </a:schemeClr>
          </a:solidFill>
        </a:ln>
      </dgm:spPr>
    </dgm:pt>
    <dgm:pt modelId="{CAA051D4-2E60-48F4-86C2-BD43857BEC5E}" type="pres">
      <dgm:prSet presAssocID="{6B222F87-7DBD-4E68-9102-89C6C90DDAEF}" presName="ChildComposite" presStyleCnt="0"/>
      <dgm:spPr/>
    </dgm:pt>
    <dgm:pt modelId="{4D0764FE-A32F-4969-8A80-EC1C58EFDB9C}" type="pres">
      <dgm:prSet presAssocID="{6B222F87-7DBD-4E68-9102-89C6C90DDAEF}" presName="Child" presStyleLbl="node1" presStyleIdx="1" presStyleCnt="3">
        <dgm:presLayoutVars>
          <dgm:chMax val="0"/>
          <dgm:chPref val="0"/>
          <dgm:bulletEnabled val="1"/>
        </dgm:presLayoutVars>
      </dgm:prSet>
      <dgm:spPr/>
    </dgm:pt>
    <dgm:pt modelId="{01877ED6-BA92-43FC-A70B-E91E700CFB37}" type="pres">
      <dgm:prSet presAssocID="{6B222F87-7DBD-4E68-9102-89C6C90DDAEF}" presName="Parent" presStyleLbl="revTx" presStyleIdx="1" presStyleCnt="3">
        <dgm:presLayoutVars>
          <dgm:chMax val="1"/>
          <dgm:chPref val="0"/>
          <dgm:bulletEnabled val="1"/>
        </dgm:presLayoutVars>
      </dgm:prSet>
      <dgm:spPr/>
    </dgm:pt>
    <dgm:pt modelId="{01C955DA-55D9-47F3-A11A-72386F7FF6E7}" type="pres">
      <dgm:prSet presAssocID="{4BC6B5FD-9D81-4147-B352-B53DAC4964E7}" presName="sibTrans" presStyleCnt="0"/>
      <dgm:spPr/>
    </dgm:pt>
    <dgm:pt modelId="{E67F7DF9-CAEF-499A-BFB1-F5C67C667EB2}" type="pres">
      <dgm:prSet presAssocID="{E2B0BA4C-3342-42F5-ADB3-C2A2329BE835}" presName="composite" presStyleCnt="0">
        <dgm:presLayoutVars>
          <dgm:chMax val="1"/>
          <dgm:chPref val="1"/>
        </dgm:presLayoutVars>
      </dgm:prSet>
      <dgm:spPr/>
    </dgm:pt>
    <dgm:pt modelId="{8CCC9092-02C7-4EFA-BE32-E14222A62392}" type="pres">
      <dgm:prSet presAssocID="{E2B0BA4C-3342-42F5-ADB3-C2A2329BE835}" presName="Accent" presStyleLbl="trAlignAcc1" presStyleIdx="2" presStyleCnt="3">
        <dgm:presLayoutVars>
          <dgm:chMax val="0"/>
          <dgm:chPref val="0"/>
        </dgm:presLayoutVars>
      </dgm:prSet>
      <dgm:spPr/>
    </dgm:pt>
    <dgm:pt modelId="{92ED66F0-881F-41E1-96A9-763D5D5A48B5}" type="pres">
      <dgm:prSet presAssocID="{E2B0BA4C-3342-42F5-ADB3-C2A2329BE835}"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a:ln>
          <a:solidFill>
            <a:schemeClr val="bg2">
              <a:lumMod val="90000"/>
            </a:schemeClr>
          </a:solidFill>
        </a:ln>
      </dgm:spPr>
    </dgm:pt>
    <dgm:pt modelId="{994F22B7-E841-489F-B4A6-5FFD1CE00462}" type="pres">
      <dgm:prSet presAssocID="{E2B0BA4C-3342-42F5-ADB3-C2A2329BE835}" presName="ChildComposite" presStyleCnt="0"/>
      <dgm:spPr/>
    </dgm:pt>
    <dgm:pt modelId="{7482A5E8-BC8F-4AEE-9D6D-EC66E1A46D4C}" type="pres">
      <dgm:prSet presAssocID="{E2B0BA4C-3342-42F5-ADB3-C2A2329BE835}" presName="Child" presStyleLbl="node1" presStyleIdx="2" presStyleCnt="3">
        <dgm:presLayoutVars>
          <dgm:chMax val="0"/>
          <dgm:chPref val="0"/>
          <dgm:bulletEnabled val="1"/>
        </dgm:presLayoutVars>
      </dgm:prSet>
      <dgm:spPr/>
    </dgm:pt>
    <dgm:pt modelId="{0CA4B0F1-8C27-4F9D-A3DD-07465492F2D6}" type="pres">
      <dgm:prSet presAssocID="{E2B0BA4C-3342-42F5-ADB3-C2A2329BE835}" presName="Parent" presStyleLbl="revTx" presStyleIdx="2" presStyleCnt="3">
        <dgm:presLayoutVars>
          <dgm:chMax val="1"/>
          <dgm:chPref val="0"/>
          <dgm:bulletEnabled val="1"/>
        </dgm:presLayoutVars>
      </dgm:prSet>
      <dgm:spPr/>
    </dgm:pt>
  </dgm:ptLst>
  <dgm:cxnLst>
    <dgm:cxn modelId="{1571A01C-08F6-42C8-9D1B-DB4F85ED193F}" type="presOf" srcId="{5F75A165-9718-46D3-8880-1938ED8FD2DB}" destId="{4D0764FE-A32F-4969-8A80-EC1C58EFDB9C}" srcOrd="0" destOrd="1" presId="urn:microsoft.com/office/officeart/2008/layout/CaptionedPictures"/>
    <dgm:cxn modelId="{6C7AC91F-8E8B-487D-B7BB-835C02EA45CA}" srcId="{65C19C58-31BA-49AC-8B8F-ECE045733DBA}" destId="{E2B0BA4C-3342-42F5-ADB3-C2A2329BE835}" srcOrd="2" destOrd="0" parTransId="{67C4BCDC-C388-4B7C-A287-371CC1E00B38}" sibTransId="{2B516BBF-D87F-4CBF-BBBF-B5D1F411CD34}"/>
    <dgm:cxn modelId="{1B14BF2C-A52E-4100-B57A-E7283A8A9BD5}" srcId="{6B222F87-7DBD-4E68-9102-89C6C90DDAEF}" destId="{16EA0510-5088-44C5-B017-1C99132E19EF}" srcOrd="0" destOrd="0" parTransId="{4DDD4E8B-7904-413C-A151-6B055270DBD8}" sibTransId="{E6F30FBE-D1FB-4842-B735-612BBDECFBE8}"/>
    <dgm:cxn modelId="{CBAA9A33-D257-45EF-8FB5-7DA97A1FAF72}" type="presOf" srcId="{607D5BF2-DFEC-4B74-8D38-C28442FAFFF5}" destId="{30369D29-5851-4F5A-89A8-A1FEF75330DD}" srcOrd="0" destOrd="0" presId="urn:microsoft.com/office/officeart/2008/layout/CaptionedPictures"/>
    <dgm:cxn modelId="{B55CD03E-B1FF-4121-9A20-DCAF244EBCBA}" type="presOf" srcId="{0190DE36-2851-409D-83F0-8E42955A2707}" destId="{7482A5E8-BC8F-4AEE-9D6D-EC66E1A46D4C}" srcOrd="0" destOrd="0" presId="urn:microsoft.com/office/officeart/2008/layout/CaptionedPictures"/>
    <dgm:cxn modelId="{1017D063-AD15-4E25-B520-0DF942F2B106}" type="presOf" srcId="{BC7CCC39-99B3-4077-92E4-B4C54FFE7DBF}" destId="{E136DF8C-D1DB-4C48-9240-BD42223BD201}" srcOrd="0" destOrd="0" presId="urn:microsoft.com/office/officeart/2008/layout/CaptionedPictures"/>
    <dgm:cxn modelId="{11F01769-8291-4F80-9205-8B6B5D0C4F8B}" srcId="{6B222F87-7DBD-4E68-9102-89C6C90DDAEF}" destId="{5F75A165-9718-46D3-8880-1938ED8FD2DB}" srcOrd="1" destOrd="0" parTransId="{A414B49E-9DB0-4DC4-A5D8-0805FD76FFCC}" sibTransId="{13094134-587E-4CCA-B415-1F1DD4571C7F}"/>
    <dgm:cxn modelId="{8CE8EF6B-0890-4216-96B1-13192A97AC16}" type="presOf" srcId="{6B222F87-7DBD-4E68-9102-89C6C90DDAEF}" destId="{01877ED6-BA92-43FC-A70B-E91E700CFB37}"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F960A859-0BB1-4604-8739-E05173933F85}" srcId="{BC7CCC39-99B3-4077-92E4-B4C54FFE7DBF}" destId="{8050DAC1-72D7-4A2E-9179-1D67416B9325}" srcOrd="1" destOrd="0" parTransId="{48F32C56-269D-488E-B259-5FE5F9F51A4F}" sibTransId="{74BF0334-AFB5-46E8-8970-62468C854C0C}"/>
    <dgm:cxn modelId="{2910DD94-5143-4C03-9D6A-97980AB65928}" srcId="{E2B0BA4C-3342-42F5-ADB3-C2A2329BE835}" destId="{0190DE36-2851-409D-83F0-8E42955A2707}" srcOrd="0" destOrd="0" parTransId="{325BCC62-BE2D-463D-BC40-3122B7EE094F}" sibTransId="{799C1BBF-58CE-406D-9A03-24C1885776E6}"/>
    <dgm:cxn modelId="{D0842D9E-317E-4AE8-B51E-BBA34196C449}" srcId="{65C19C58-31BA-49AC-8B8F-ECE045733DBA}" destId="{6B222F87-7DBD-4E68-9102-89C6C90DDAEF}" srcOrd="1" destOrd="0" parTransId="{AB266ED0-F401-4CFD-BB85-40D2CEC47E3F}" sibTransId="{4BC6B5FD-9D81-4147-B352-B53DAC4964E7}"/>
    <dgm:cxn modelId="{827FA79E-E21C-4897-98BB-E69BD3E460EA}" srcId="{E2B0BA4C-3342-42F5-ADB3-C2A2329BE835}" destId="{8FCE1C56-5EA3-4C18-9549-A9D08E09023E}" srcOrd="1" destOrd="0" parTransId="{6F621260-10B0-40C6-BCF1-A15CCCF78D35}" sibTransId="{1B0E8543-B5F4-4FA1-84ED-3B99E041EA54}"/>
    <dgm:cxn modelId="{D44F90AE-BAC4-4C9B-8C14-F60C12CF9614}" srcId="{65C19C58-31BA-49AC-8B8F-ECE045733DBA}" destId="{BC7CCC39-99B3-4077-92E4-B4C54FFE7DBF}" srcOrd="0" destOrd="0" parTransId="{507E72B2-D876-417F-B8FE-ADFAD0B758D0}" sibTransId="{4592CE00-5DF3-4ED2-9FD3-D2000E67DBA7}"/>
    <dgm:cxn modelId="{126ECFB2-1787-4246-90BE-1A8DA227A79F}" type="presOf" srcId="{16EA0510-5088-44C5-B017-1C99132E19EF}" destId="{4D0764FE-A32F-4969-8A80-EC1C58EFDB9C}" srcOrd="0" destOrd="0" presId="urn:microsoft.com/office/officeart/2008/layout/CaptionedPictures"/>
    <dgm:cxn modelId="{6A4EA0D8-0506-44AA-AD6D-29812F9ECAE9}" type="presOf" srcId="{8050DAC1-72D7-4A2E-9179-1D67416B9325}" destId="{30369D29-5851-4F5A-89A8-A1FEF75330DD}" srcOrd="0" destOrd="1" presId="urn:microsoft.com/office/officeart/2008/layout/CaptionedPictures"/>
    <dgm:cxn modelId="{999951DC-1887-4D60-81FC-5DC22AA4D67D}" type="presOf" srcId="{E2B0BA4C-3342-42F5-ADB3-C2A2329BE835}" destId="{0CA4B0F1-8C27-4F9D-A3DD-07465492F2D6}" srcOrd="0" destOrd="0" presId="urn:microsoft.com/office/officeart/2008/layout/CaptionedPictures"/>
    <dgm:cxn modelId="{356105F6-F658-41C2-8750-111C4245F215}" type="presOf" srcId="{8FCE1C56-5EA3-4C18-9549-A9D08E09023E}" destId="{7482A5E8-BC8F-4AEE-9D6D-EC66E1A46D4C}" srcOrd="0" destOrd="1" presId="urn:microsoft.com/office/officeart/2008/layout/CaptionedPictures"/>
    <dgm:cxn modelId="{9A33EFF8-4BB2-4E66-92B7-8C0D8B454901}" srcId="{BC7CCC39-99B3-4077-92E4-B4C54FFE7DBF}" destId="{607D5BF2-DFEC-4B74-8D38-C28442FAFFF5}" srcOrd="0" destOrd="0" parTransId="{6BD3EEC5-6560-466C-83D8-B26481A66F53}" sibTransId="{F833CBFA-4F00-4356-96C5-4FDBAB56AF74}"/>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1A1F3734-7D78-4EB4-B1BD-920A746497AF}" type="presParOf" srcId="{7A04C77A-5726-4FED-9967-83B038E7E84B}" destId="{E6BE8F6E-EA3A-4EE8-959B-6DBA66C138FA}" srcOrd="2" destOrd="0" presId="urn:microsoft.com/office/officeart/2008/layout/CaptionedPictures"/>
    <dgm:cxn modelId="{D36382DD-EF98-4A97-BF80-710F6A5C3982}" type="presParOf" srcId="{E6BE8F6E-EA3A-4EE8-959B-6DBA66C138FA}" destId="{BE5F1572-A447-4997-B7C1-2B8E87C28E09}" srcOrd="0" destOrd="0" presId="urn:microsoft.com/office/officeart/2008/layout/CaptionedPictures"/>
    <dgm:cxn modelId="{5F24D523-6486-42CF-B4B9-E0D0FC08FF59}" type="presParOf" srcId="{E6BE8F6E-EA3A-4EE8-959B-6DBA66C138FA}" destId="{0B8A85D8-4111-4B5E-94D3-3398FD061187}" srcOrd="1" destOrd="0" presId="urn:microsoft.com/office/officeart/2008/layout/CaptionedPictures"/>
    <dgm:cxn modelId="{DFC75D37-6574-4F12-BB4C-E70F10750CC1}" type="presParOf" srcId="{E6BE8F6E-EA3A-4EE8-959B-6DBA66C138FA}" destId="{CAA051D4-2E60-48F4-86C2-BD43857BEC5E}" srcOrd="2" destOrd="0" presId="urn:microsoft.com/office/officeart/2008/layout/CaptionedPictures"/>
    <dgm:cxn modelId="{82D54F56-032A-4000-9E19-FDCE82738E1B}" type="presParOf" srcId="{CAA051D4-2E60-48F4-86C2-BD43857BEC5E}" destId="{4D0764FE-A32F-4969-8A80-EC1C58EFDB9C}" srcOrd="0" destOrd="0" presId="urn:microsoft.com/office/officeart/2008/layout/CaptionedPictures"/>
    <dgm:cxn modelId="{6CD8EE34-4B6F-4D9E-846F-571AA92751AA}" type="presParOf" srcId="{CAA051D4-2E60-48F4-86C2-BD43857BEC5E}" destId="{01877ED6-BA92-43FC-A70B-E91E700CFB37}" srcOrd="1" destOrd="0" presId="urn:microsoft.com/office/officeart/2008/layout/CaptionedPictures"/>
    <dgm:cxn modelId="{CDF4EC68-77BE-4921-9DF3-9D5BE2A2B5B8}" type="presParOf" srcId="{7A04C77A-5726-4FED-9967-83B038E7E84B}" destId="{01C955DA-55D9-47F3-A11A-72386F7FF6E7}" srcOrd="3" destOrd="0" presId="urn:microsoft.com/office/officeart/2008/layout/CaptionedPictures"/>
    <dgm:cxn modelId="{3EF52AA0-2313-4A96-86B8-C000F61875A5}" type="presParOf" srcId="{7A04C77A-5726-4FED-9967-83B038E7E84B}" destId="{E67F7DF9-CAEF-499A-BFB1-F5C67C667EB2}" srcOrd="4" destOrd="0" presId="urn:microsoft.com/office/officeart/2008/layout/CaptionedPictures"/>
    <dgm:cxn modelId="{384FF91D-29B4-4CF7-B82C-797B32FD700B}" type="presParOf" srcId="{E67F7DF9-CAEF-499A-BFB1-F5C67C667EB2}" destId="{8CCC9092-02C7-4EFA-BE32-E14222A62392}" srcOrd="0" destOrd="0" presId="urn:microsoft.com/office/officeart/2008/layout/CaptionedPictures"/>
    <dgm:cxn modelId="{D9C5084A-B4AF-4331-99AA-60A6CD2E499A}" type="presParOf" srcId="{E67F7DF9-CAEF-499A-BFB1-F5C67C667EB2}" destId="{92ED66F0-881F-41E1-96A9-763D5D5A48B5}" srcOrd="1" destOrd="0" presId="urn:microsoft.com/office/officeart/2008/layout/CaptionedPictures"/>
    <dgm:cxn modelId="{1F78CBD9-F985-47F1-BA93-D6CB8F069705}" type="presParOf" srcId="{E67F7DF9-CAEF-499A-BFB1-F5C67C667EB2}" destId="{994F22B7-E841-489F-B4A6-5FFD1CE00462}" srcOrd="2" destOrd="0" presId="urn:microsoft.com/office/officeart/2008/layout/CaptionedPictures"/>
    <dgm:cxn modelId="{F2ACC5BB-318D-4F7F-B7D7-DE8FF6984695}" type="presParOf" srcId="{994F22B7-E841-489F-B4A6-5FFD1CE00462}" destId="{7482A5E8-BC8F-4AEE-9D6D-EC66E1A46D4C}" srcOrd="0" destOrd="0" presId="urn:microsoft.com/office/officeart/2008/layout/CaptionedPictures"/>
    <dgm:cxn modelId="{404580F7-0512-4B44-9832-51EAC5DB662E}" type="presParOf" srcId="{994F22B7-E841-489F-B4A6-5FFD1CE00462}" destId="{0CA4B0F1-8C27-4F9D-A3DD-07465492F2D6}"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BC7CCC39-99B3-4077-92E4-B4C54FFE7DBF}">
      <dgm:prSet phldrT="[Text]"/>
      <dgm:spPr/>
      <dgm:t>
        <a:bodyPr/>
        <a:lstStyle/>
        <a:p>
          <a:r>
            <a:rPr lang="en-US" b="1"/>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FA7EC4AF-46C8-4BE1-8537-1ACA04C5263D}">
      <dgm:prSet phldrT="[Text]" phldr="0"/>
      <dgm:spPr/>
      <dgm:t>
        <a:bodyPr/>
        <a:lstStyle/>
        <a:p>
          <a:r>
            <a:rPr lang="en-US" dirty="0"/>
            <a:t>(Biological) Sex: Male</a:t>
          </a:r>
          <a:endParaRPr lang="en-NL" dirty="0"/>
        </a:p>
      </dgm:t>
    </dgm:pt>
    <dgm:pt modelId="{FA45D412-47C4-49CF-ADAC-82FE5E508F49}" type="parTrans" cxnId="{7337AB65-5C64-404F-87C5-7ABD7F850C1B}">
      <dgm:prSet/>
      <dgm:spPr/>
      <dgm:t>
        <a:bodyPr/>
        <a:lstStyle/>
        <a:p>
          <a:endParaRPr lang="en-NL"/>
        </a:p>
      </dgm:t>
    </dgm:pt>
    <dgm:pt modelId="{C7029CE2-A685-4B34-9786-823106BD866D}" type="sibTrans" cxnId="{7337AB65-5C64-404F-87C5-7ABD7F850C1B}">
      <dgm:prSet/>
      <dgm:spPr/>
      <dgm:t>
        <a:bodyPr/>
        <a:lstStyle/>
        <a:p>
          <a:endParaRPr lang="en-NL"/>
        </a:p>
      </dgm:t>
    </dgm:pt>
    <dgm:pt modelId="{55781AC0-6676-4F7C-BD64-3272B2393068}">
      <dgm:prSet phldrT="[Text]" phldr="0"/>
      <dgm:spPr/>
      <dgm:t>
        <a:bodyPr/>
        <a:lstStyle/>
        <a:p>
          <a:r>
            <a:rPr lang="en-US" dirty="0"/>
            <a:t>(Social) Gender: Male</a:t>
          </a:r>
          <a:endParaRPr lang="en-NL" dirty="0"/>
        </a:p>
      </dgm:t>
    </dgm:pt>
    <dgm:pt modelId="{DCFC7ED7-FDDE-475F-822B-F36E029F4654}" type="parTrans" cxnId="{F1D06D41-97EB-4C19-823E-31C06AC60AB0}">
      <dgm:prSet/>
      <dgm:spPr/>
      <dgm:t>
        <a:bodyPr/>
        <a:lstStyle/>
        <a:p>
          <a:endParaRPr lang="en-NL"/>
        </a:p>
      </dgm:t>
    </dgm:pt>
    <dgm:pt modelId="{1DB78806-2B6B-4C5D-BED9-C626A2BA1DFA}" type="sibTrans" cxnId="{F1D06D41-97EB-4C19-823E-31C06AC60AB0}">
      <dgm:prSet/>
      <dgm:spPr/>
      <dgm:t>
        <a:bodyPr/>
        <a:lstStyle/>
        <a:p>
          <a:endParaRPr lang="en-NL"/>
        </a:p>
      </dgm:t>
    </dgm:pt>
    <dgm:pt modelId="{9563DFE9-F088-4432-850E-07466291F6DA}">
      <dgm:prSet phldrT="[Text]"/>
      <dgm:spPr/>
      <dgm:t>
        <a:bodyPr/>
        <a:lstStyle/>
        <a:p>
          <a:r>
            <a:rPr lang="en-US" b="1"/>
            <a:t>Patient-002</a:t>
          </a:r>
          <a:endParaRPr lang="en-NL" b="1" dirty="0"/>
        </a:p>
      </dgm:t>
    </dgm:pt>
    <dgm:pt modelId="{A4F582B3-123E-46F5-895E-F9FCAD0F40F1}" type="parTrans" cxnId="{E0D44A7E-646F-4E14-A243-E1145AFEF11A}">
      <dgm:prSet/>
      <dgm:spPr/>
      <dgm:t>
        <a:bodyPr/>
        <a:lstStyle/>
        <a:p>
          <a:endParaRPr lang="en-NL"/>
        </a:p>
      </dgm:t>
    </dgm:pt>
    <dgm:pt modelId="{871D2E08-8986-4D57-B01F-126B48465A2C}" type="sibTrans" cxnId="{E0D44A7E-646F-4E14-A243-E1145AFEF11A}">
      <dgm:prSet/>
      <dgm:spPr/>
      <dgm:t>
        <a:bodyPr/>
        <a:lstStyle/>
        <a:p>
          <a:endParaRPr lang="en-NL"/>
        </a:p>
      </dgm:t>
    </dgm:pt>
    <dgm:pt modelId="{AD2A4B16-0175-4147-A788-F0A18EADEA9A}">
      <dgm:prSet phldrT="[Text]" phldr="0"/>
      <dgm:spPr/>
      <dgm:t>
        <a:bodyPr/>
        <a:lstStyle/>
        <a:p>
          <a:r>
            <a:rPr lang="en-US" dirty="0"/>
            <a:t>(Biological) Sex: Male</a:t>
          </a:r>
          <a:endParaRPr lang="en-NL" dirty="0"/>
        </a:p>
      </dgm:t>
    </dgm:pt>
    <dgm:pt modelId="{1F01AB3D-1F6F-4912-87FB-8161D5B2B410}" type="parTrans" cxnId="{1247259E-8ED4-4EE1-86A3-E70DEAEE409E}">
      <dgm:prSet/>
      <dgm:spPr/>
      <dgm:t>
        <a:bodyPr/>
        <a:lstStyle/>
        <a:p>
          <a:endParaRPr lang="en-NL"/>
        </a:p>
      </dgm:t>
    </dgm:pt>
    <dgm:pt modelId="{91AE664E-193F-437A-92C7-656280A54C35}" type="sibTrans" cxnId="{1247259E-8ED4-4EE1-86A3-E70DEAEE409E}">
      <dgm:prSet/>
      <dgm:spPr/>
      <dgm:t>
        <a:bodyPr/>
        <a:lstStyle/>
        <a:p>
          <a:endParaRPr lang="en-NL"/>
        </a:p>
      </dgm:t>
    </dgm:pt>
    <dgm:pt modelId="{70019997-2DF2-4378-AEAC-7DF956BA6967}">
      <dgm:prSet phldrT="[Text]" phldr="0"/>
      <dgm:spPr/>
      <dgm:t>
        <a:bodyPr/>
        <a:lstStyle/>
        <a:p>
          <a:r>
            <a:rPr lang="en-US" dirty="0"/>
            <a:t>(Social) Gender: Female (Trans)</a:t>
          </a:r>
          <a:endParaRPr lang="en-NL" dirty="0"/>
        </a:p>
      </dgm:t>
    </dgm:pt>
    <dgm:pt modelId="{D981B3A1-1AA2-42D1-9060-3504AE3A3AFD}" type="parTrans" cxnId="{ED7F59F6-6AD2-49D9-B39A-0D4A0EC8354B}">
      <dgm:prSet/>
      <dgm:spPr/>
      <dgm:t>
        <a:bodyPr/>
        <a:lstStyle/>
        <a:p>
          <a:endParaRPr lang="en-NL"/>
        </a:p>
      </dgm:t>
    </dgm:pt>
    <dgm:pt modelId="{DF84FE96-80FE-402E-AC96-26B206CA1680}" type="sibTrans" cxnId="{ED7F59F6-6AD2-49D9-B39A-0D4A0EC8354B}">
      <dgm:prSet/>
      <dgm:spPr/>
      <dgm:t>
        <a:bodyPr/>
        <a:lstStyle/>
        <a:p>
          <a:endParaRPr lang="en-NL"/>
        </a:p>
      </dgm:t>
    </dgm:pt>
    <dgm:pt modelId="{4CCCA2C8-4B00-405C-AE3A-9A7B13487CE2}">
      <dgm:prSet phldrT="[Text]"/>
      <dgm:spPr/>
      <dgm:t>
        <a:bodyPr/>
        <a:lstStyle/>
        <a:p>
          <a:r>
            <a:rPr lang="en-US" b="1"/>
            <a:t>Patient-003</a:t>
          </a:r>
          <a:endParaRPr lang="en-NL" b="1" dirty="0"/>
        </a:p>
      </dgm:t>
    </dgm:pt>
    <dgm:pt modelId="{90CA1F91-3CD4-45AE-9F5A-64FFC910A55A}" type="parTrans" cxnId="{3B18214B-0959-44D1-9513-918E5DB930C7}">
      <dgm:prSet/>
      <dgm:spPr/>
      <dgm:t>
        <a:bodyPr/>
        <a:lstStyle/>
        <a:p>
          <a:endParaRPr lang="en-NL"/>
        </a:p>
      </dgm:t>
    </dgm:pt>
    <dgm:pt modelId="{B8A835DF-CD9B-4060-8938-C437663AA840}" type="sibTrans" cxnId="{3B18214B-0959-44D1-9513-918E5DB930C7}">
      <dgm:prSet/>
      <dgm:spPr/>
      <dgm:t>
        <a:bodyPr/>
        <a:lstStyle/>
        <a:p>
          <a:endParaRPr lang="en-NL"/>
        </a:p>
      </dgm:t>
    </dgm:pt>
    <dgm:pt modelId="{810BC362-90F6-4B23-9D68-CBE1434F2906}">
      <dgm:prSet phldrT="[Text]" phldr="0"/>
      <dgm:spPr/>
      <dgm:t>
        <a:bodyPr/>
        <a:lstStyle/>
        <a:p>
          <a:r>
            <a:rPr lang="en-US" dirty="0"/>
            <a:t>(Biological) Sex: Female</a:t>
          </a:r>
          <a:endParaRPr lang="en-NL" dirty="0"/>
        </a:p>
      </dgm:t>
    </dgm:pt>
    <dgm:pt modelId="{211542DF-C281-4448-B338-74F34AA76124}" type="parTrans" cxnId="{BBE654BF-6D39-4768-B80B-1FA6FBCE85D2}">
      <dgm:prSet/>
      <dgm:spPr/>
      <dgm:t>
        <a:bodyPr/>
        <a:lstStyle/>
        <a:p>
          <a:endParaRPr lang="en-NL"/>
        </a:p>
      </dgm:t>
    </dgm:pt>
    <dgm:pt modelId="{B3545EE0-C887-4A1D-BC63-DA83C15D640A}" type="sibTrans" cxnId="{BBE654BF-6D39-4768-B80B-1FA6FBCE85D2}">
      <dgm:prSet/>
      <dgm:spPr/>
      <dgm:t>
        <a:bodyPr/>
        <a:lstStyle/>
        <a:p>
          <a:endParaRPr lang="en-NL"/>
        </a:p>
      </dgm:t>
    </dgm:pt>
    <dgm:pt modelId="{0F6B5DE3-AB7F-47FB-96BD-B205D6288E8C}">
      <dgm:prSet phldrT="[Text]" phldr="0"/>
      <dgm:spPr/>
      <dgm:t>
        <a:bodyPr/>
        <a:lstStyle/>
        <a:p>
          <a:r>
            <a:rPr lang="en-US" dirty="0"/>
            <a:t>(Social) Gender: Non-binary</a:t>
          </a:r>
          <a:endParaRPr lang="en-NL" dirty="0"/>
        </a:p>
      </dgm:t>
    </dgm:pt>
    <dgm:pt modelId="{4F46B828-8C54-4BDC-88FD-895785129323}" type="parTrans" cxnId="{CC34117D-9E63-47F0-9635-AB5AAD1EE1CC}">
      <dgm:prSet/>
      <dgm:spPr/>
      <dgm:t>
        <a:bodyPr/>
        <a:lstStyle/>
        <a:p>
          <a:endParaRPr lang="en-NL"/>
        </a:p>
      </dgm:t>
    </dgm:pt>
    <dgm:pt modelId="{9E7C8ED5-8C37-42DB-9AF8-2609FADDCCA7}" type="sibTrans" cxnId="{CC34117D-9E63-47F0-9635-AB5AAD1EE1CC}">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802F8DB2-4F21-4CAA-B8DC-9A157C93305E}" type="pres">
      <dgm:prSet presAssocID="{9563DFE9-F088-4432-850E-07466291F6DA}" presName="composite" presStyleCnt="0">
        <dgm:presLayoutVars>
          <dgm:chMax val="1"/>
          <dgm:chPref val="1"/>
        </dgm:presLayoutVars>
      </dgm:prSet>
      <dgm:spPr/>
    </dgm:pt>
    <dgm:pt modelId="{61729CCB-9515-4519-A792-EAB84117191A}" type="pres">
      <dgm:prSet presAssocID="{9563DFE9-F088-4432-850E-07466291F6DA}" presName="Accent" presStyleLbl="trAlignAcc1" presStyleIdx="1" presStyleCnt="3">
        <dgm:presLayoutVars>
          <dgm:chMax val="0"/>
          <dgm:chPref val="0"/>
        </dgm:presLayoutVars>
      </dgm:prSet>
      <dgm:spPr/>
    </dgm:pt>
    <dgm:pt modelId="{02D1F558-C992-4F85-8E17-FBA9661CA627}" type="pres">
      <dgm:prSet presAssocID="{9563DFE9-F088-4432-850E-07466291F6DA}"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dgm:spPr>
    </dgm:pt>
    <dgm:pt modelId="{12ADBEE4-D217-4D9A-BA9F-DE39C0D44F6C}" type="pres">
      <dgm:prSet presAssocID="{9563DFE9-F088-4432-850E-07466291F6DA}" presName="ChildComposite" presStyleCnt="0"/>
      <dgm:spPr/>
    </dgm:pt>
    <dgm:pt modelId="{AD77C35C-7E47-4D30-BBF2-0106E6B5AD1D}" type="pres">
      <dgm:prSet presAssocID="{9563DFE9-F088-4432-850E-07466291F6DA}" presName="Child" presStyleLbl="node1" presStyleIdx="1" presStyleCnt="3">
        <dgm:presLayoutVars>
          <dgm:chMax val="0"/>
          <dgm:chPref val="0"/>
          <dgm:bulletEnabled val="1"/>
        </dgm:presLayoutVars>
      </dgm:prSet>
      <dgm:spPr/>
    </dgm:pt>
    <dgm:pt modelId="{F24A334F-23E1-4C7A-8933-4FBF6E1B0CB8}" type="pres">
      <dgm:prSet presAssocID="{9563DFE9-F088-4432-850E-07466291F6DA}" presName="Parent" presStyleLbl="revTx" presStyleIdx="1" presStyleCnt="3">
        <dgm:presLayoutVars>
          <dgm:chMax val="1"/>
          <dgm:chPref val="0"/>
          <dgm:bulletEnabled val="1"/>
        </dgm:presLayoutVars>
      </dgm:prSet>
      <dgm:spPr/>
    </dgm:pt>
    <dgm:pt modelId="{F28AD8FC-5D72-488A-8E8A-61F51D472B3D}" type="pres">
      <dgm:prSet presAssocID="{871D2E08-8986-4D57-B01F-126B48465A2C}" presName="sibTrans" presStyleCnt="0"/>
      <dgm:spPr/>
    </dgm:pt>
    <dgm:pt modelId="{E01F287E-0DC9-4D20-8275-A4A699A6176F}" type="pres">
      <dgm:prSet presAssocID="{4CCCA2C8-4B00-405C-AE3A-9A7B13487CE2}" presName="composite" presStyleCnt="0">
        <dgm:presLayoutVars>
          <dgm:chMax val="1"/>
          <dgm:chPref val="1"/>
        </dgm:presLayoutVars>
      </dgm:prSet>
      <dgm:spPr/>
    </dgm:pt>
    <dgm:pt modelId="{FF040796-1AD1-4ADB-A3EC-614B71D12AC6}" type="pres">
      <dgm:prSet presAssocID="{4CCCA2C8-4B00-405C-AE3A-9A7B13487CE2}" presName="Accent" presStyleLbl="trAlignAcc1" presStyleIdx="2" presStyleCnt="3">
        <dgm:presLayoutVars>
          <dgm:chMax val="0"/>
          <dgm:chPref val="0"/>
        </dgm:presLayoutVars>
      </dgm:prSet>
      <dgm:spPr/>
    </dgm:pt>
    <dgm:pt modelId="{597087CC-C98D-4D61-B068-DE41E196529F}" type="pres">
      <dgm:prSet presAssocID="{4CCCA2C8-4B00-405C-AE3A-9A7B13487CE2}"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dgm:spPr>
    </dgm:pt>
    <dgm:pt modelId="{037029AE-80F5-43E6-AB51-B3CC696D1547}" type="pres">
      <dgm:prSet presAssocID="{4CCCA2C8-4B00-405C-AE3A-9A7B13487CE2}" presName="ChildComposite" presStyleCnt="0"/>
      <dgm:spPr/>
    </dgm:pt>
    <dgm:pt modelId="{3BCE3F62-C0A5-44ED-BEC3-89835E81E17A}" type="pres">
      <dgm:prSet presAssocID="{4CCCA2C8-4B00-405C-AE3A-9A7B13487CE2}" presName="Child" presStyleLbl="node1" presStyleIdx="2" presStyleCnt="3">
        <dgm:presLayoutVars>
          <dgm:chMax val="0"/>
          <dgm:chPref val="0"/>
          <dgm:bulletEnabled val="1"/>
        </dgm:presLayoutVars>
      </dgm:prSet>
      <dgm:spPr/>
    </dgm:pt>
    <dgm:pt modelId="{EDB797C2-3FDD-41D1-A3F1-116D37397FAB}" type="pres">
      <dgm:prSet presAssocID="{4CCCA2C8-4B00-405C-AE3A-9A7B13487CE2}" presName="Parent" presStyleLbl="revTx" presStyleIdx="2" presStyleCnt="3">
        <dgm:presLayoutVars>
          <dgm:chMax val="1"/>
          <dgm:chPref val="0"/>
          <dgm:bulletEnabled val="1"/>
        </dgm:presLayoutVars>
      </dgm:prSet>
      <dgm:spPr/>
    </dgm:pt>
  </dgm:ptLst>
  <dgm:cxnLst>
    <dgm:cxn modelId="{544A1C35-124D-4F1E-8C66-A5B90BA5CEBD}" type="presOf" srcId="{AD2A4B16-0175-4147-A788-F0A18EADEA9A}" destId="{AD77C35C-7E47-4D30-BBF2-0106E6B5AD1D}" srcOrd="0" destOrd="0" presId="urn:microsoft.com/office/officeart/2008/layout/CaptionedPictures"/>
    <dgm:cxn modelId="{F9E0E25F-84FE-4360-ACF8-49035AB6CFBE}" type="presOf" srcId="{70019997-2DF2-4378-AEAC-7DF956BA6967}" destId="{AD77C35C-7E47-4D30-BBF2-0106E6B5AD1D}" srcOrd="0" destOrd="1" presId="urn:microsoft.com/office/officeart/2008/layout/CaptionedPictures"/>
    <dgm:cxn modelId="{F1D06D41-97EB-4C19-823E-31C06AC60AB0}" srcId="{BC7CCC39-99B3-4077-92E4-B4C54FFE7DBF}" destId="{55781AC0-6676-4F7C-BD64-3272B2393068}" srcOrd="1" destOrd="0" parTransId="{DCFC7ED7-FDDE-475F-822B-F36E029F4654}" sibTransId="{1DB78806-2B6B-4C5D-BED9-C626A2BA1DFA}"/>
    <dgm:cxn modelId="{1017D063-AD15-4E25-B520-0DF942F2B106}" type="presOf" srcId="{BC7CCC39-99B3-4077-92E4-B4C54FFE7DBF}" destId="{E136DF8C-D1DB-4C48-9240-BD42223BD201}" srcOrd="0" destOrd="0" presId="urn:microsoft.com/office/officeart/2008/layout/CaptionedPictures"/>
    <dgm:cxn modelId="{7337AB65-5C64-404F-87C5-7ABD7F850C1B}" srcId="{BC7CCC39-99B3-4077-92E4-B4C54FFE7DBF}" destId="{FA7EC4AF-46C8-4BE1-8537-1ACA04C5263D}" srcOrd="0" destOrd="0" parTransId="{FA45D412-47C4-49CF-ADAC-82FE5E508F49}" sibTransId="{C7029CE2-A685-4B34-9786-823106BD866D}"/>
    <dgm:cxn modelId="{3B18214B-0959-44D1-9513-918E5DB930C7}" srcId="{65C19C58-31BA-49AC-8B8F-ECE045733DBA}" destId="{4CCCA2C8-4B00-405C-AE3A-9A7B13487CE2}" srcOrd="2" destOrd="0" parTransId="{90CA1F91-3CD4-45AE-9F5A-64FFC910A55A}" sibTransId="{B8A835DF-CD9B-4060-8938-C437663AA840}"/>
    <dgm:cxn modelId="{DB186A52-F201-4512-8734-BBBE87FEE4F1}" type="presOf" srcId="{4CCCA2C8-4B00-405C-AE3A-9A7B13487CE2}" destId="{EDB797C2-3FDD-41D1-A3F1-116D37397FAB}"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CC34117D-9E63-47F0-9635-AB5AAD1EE1CC}" srcId="{4CCCA2C8-4B00-405C-AE3A-9A7B13487CE2}" destId="{0F6B5DE3-AB7F-47FB-96BD-B205D6288E8C}" srcOrd="1" destOrd="0" parTransId="{4F46B828-8C54-4BDC-88FD-895785129323}" sibTransId="{9E7C8ED5-8C37-42DB-9AF8-2609FADDCCA7}"/>
    <dgm:cxn modelId="{E0D44A7E-646F-4E14-A243-E1145AFEF11A}" srcId="{65C19C58-31BA-49AC-8B8F-ECE045733DBA}" destId="{9563DFE9-F088-4432-850E-07466291F6DA}" srcOrd="1" destOrd="0" parTransId="{A4F582B3-123E-46F5-895E-F9FCAD0F40F1}" sibTransId="{871D2E08-8986-4D57-B01F-126B48465A2C}"/>
    <dgm:cxn modelId="{1247259E-8ED4-4EE1-86A3-E70DEAEE409E}" srcId="{9563DFE9-F088-4432-850E-07466291F6DA}" destId="{AD2A4B16-0175-4147-A788-F0A18EADEA9A}" srcOrd="0" destOrd="0" parTransId="{1F01AB3D-1F6F-4912-87FB-8161D5B2B410}" sibTransId="{91AE664E-193F-437A-92C7-656280A54C35}"/>
    <dgm:cxn modelId="{E3A143A3-3FC2-400A-8F7A-E9670963322D}" type="presOf" srcId="{FA7EC4AF-46C8-4BE1-8537-1ACA04C5263D}" destId="{30369D29-5851-4F5A-89A8-A1FEF75330DD}" srcOrd="0" destOrd="0" presId="urn:microsoft.com/office/officeart/2008/layout/CaptionedPictures"/>
    <dgm:cxn modelId="{D44F90AE-BAC4-4C9B-8C14-F60C12CF9614}" srcId="{65C19C58-31BA-49AC-8B8F-ECE045733DBA}" destId="{BC7CCC39-99B3-4077-92E4-B4C54FFE7DBF}" srcOrd="0" destOrd="0" parTransId="{507E72B2-D876-417F-B8FE-ADFAD0B758D0}" sibTransId="{4592CE00-5DF3-4ED2-9FD3-D2000E67DBA7}"/>
    <dgm:cxn modelId="{BBE654BF-6D39-4768-B80B-1FA6FBCE85D2}" srcId="{4CCCA2C8-4B00-405C-AE3A-9A7B13487CE2}" destId="{810BC362-90F6-4B23-9D68-CBE1434F2906}" srcOrd="0" destOrd="0" parTransId="{211542DF-C281-4448-B338-74F34AA76124}" sibTransId="{B3545EE0-C887-4A1D-BC63-DA83C15D640A}"/>
    <dgm:cxn modelId="{F9469EC9-AA9F-428B-8157-D061EAE97B8C}" type="presOf" srcId="{810BC362-90F6-4B23-9D68-CBE1434F2906}" destId="{3BCE3F62-C0A5-44ED-BEC3-89835E81E17A}" srcOrd="0" destOrd="0" presId="urn:microsoft.com/office/officeart/2008/layout/CaptionedPictures"/>
    <dgm:cxn modelId="{C70199CB-DF3B-46D7-87FE-7BAE2EED5ED3}" type="presOf" srcId="{9563DFE9-F088-4432-850E-07466291F6DA}" destId="{F24A334F-23E1-4C7A-8933-4FBF6E1B0CB8}" srcOrd="0" destOrd="0" presId="urn:microsoft.com/office/officeart/2008/layout/CaptionedPictures"/>
    <dgm:cxn modelId="{040746E9-0B44-47D2-AB72-AE99F8B6DA28}" type="presOf" srcId="{0F6B5DE3-AB7F-47FB-96BD-B205D6288E8C}" destId="{3BCE3F62-C0A5-44ED-BEC3-89835E81E17A}" srcOrd="0" destOrd="1" presId="urn:microsoft.com/office/officeart/2008/layout/CaptionedPictures"/>
    <dgm:cxn modelId="{0818B8F1-E6B1-4595-A490-3612814E3A41}" type="presOf" srcId="{55781AC0-6676-4F7C-BD64-3272B2393068}" destId="{30369D29-5851-4F5A-89A8-A1FEF75330DD}" srcOrd="0" destOrd="1" presId="urn:microsoft.com/office/officeart/2008/layout/CaptionedPictures"/>
    <dgm:cxn modelId="{ED7F59F6-6AD2-49D9-B39A-0D4A0EC8354B}" srcId="{9563DFE9-F088-4432-850E-07466291F6DA}" destId="{70019997-2DF2-4378-AEAC-7DF956BA6967}" srcOrd="1" destOrd="0" parTransId="{D981B3A1-1AA2-42D1-9060-3504AE3A3AFD}" sibTransId="{DF84FE96-80FE-402E-AC96-26B206CA1680}"/>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5F8B9637-4BB0-4C91-AB56-D1F438925C91}" type="presParOf" srcId="{7A04C77A-5726-4FED-9967-83B038E7E84B}" destId="{802F8DB2-4F21-4CAA-B8DC-9A157C93305E}" srcOrd="2" destOrd="0" presId="urn:microsoft.com/office/officeart/2008/layout/CaptionedPictures"/>
    <dgm:cxn modelId="{FAC332E9-882D-4DB5-A7BC-5F6DDF7E2748}" type="presParOf" srcId="{802F8DB2-4F21-4CAA-B8DC-9A157C93305E}" destId="{61729CCB-9515-4519-A792-EAB84117191A}" srcOrd="0" destOrd="0" presId="urn:microsoft.com/office/officeart/2008/layout/CaptionedPictures"/>
    <dgm:cxn modelId="{EA76A7A1-6296-4873-8660-705ADE69EC60}" type="presParOf" srcId="{802F8DB2-4F21-4CAA-B8DC-9A157C93305E}" destId="{02D1F558-C992-4F85-8E17-FBA9661CA627}" srcOrd="1" destOrd="0" presId="urn:microsoft.com/office/officeart/2008/layout/CaptionedPictures"/>
    <dgm:cxn modelId="{51F3B69D-4EAF-402A-A12A-D53330A45324}" type="presParOf" srcId="{802F8DB2-4F21-4CAA-B8DC-9A157C93305E}" destId="{12ADBEE4-D217-4D9A-BA9F-DE39C0D44F6C}" srcOrd="2" destOrd="0" presId="urn:microsoft.com/office/officeart/2008/layout/CaptionedPictures"/>
    <dgm:cxn modelId="{E32F6F07-9915-443A-A1FB-EED5DFFDD83B}" type="presParOf" srcId="{12ADBEE4-D217-4D9A-BA9F-DE39C0D44F6C}" destId="{AD77C35C-7E47-4D30-BBF2-0106E6B5AD1D}" srcOrd="0" destOrd="0" presId="urn:microsoft.com/office/officeart/2008/layout/CaptionedPictures"/>
    <dgm:cxn modelId="{C5FE0058-2B2D-4F3F-8D42-A6956505AC61}" type="presParOf" srcId="{12ADBEE4-D217-4D9A-BA9F-DE39C0D44F6C}" destId="{F24A334F-23E1-4C7A-8933-4FBF6E1B0CB8}" srcOrd="1" destOrd="0" presId="urn:microsoft.com/office/officeart/2008/layout/CaptionedPictures"/>
    <dgm:cxn modelId="{C1FEA2ED-331D-4926-BD8A-E0F94E2372B0}" type="presParOf" srcId="{7A04C77A-5726-4FED-9967-83B038E7E84B}" destId="{F28AD8FC-5D72-488A-8E8A-61F51D472B3D}" srcOrd="3" destOrd="0" presId="urn:microsoft.com/office/officeart/2008/layout/CaptionedPictures"/>
    <dgm:cxn modelId="{36249DF8-DED9-4272-9270-404C40CDD9CB}" type="presParOf" srcId="{7A04C77A-5726-4FED-9967-83B038E7E84B}" destId="{E01F287E-0DC9-4D20-8275-A4A699A6176F}" srcOrd="4" destOrd="0" presId="urn:microsoft.com/office/officeart/2008/layout/CaptionedPictures"/>
    <dgm:cxn modelId="{ADAFFA8E-337E-46E1-8364-CAA7FB7562C7}" type="presParOf" srcId="{E01F287E-0DC9-4D20-8275-A4A699A6176F}" destId="{FF040796-1AD1-4ADB-A3EC-614B71D12AC6}" srcOrd="0" destOrd="0" presId="urn:microsoft.com/office/officeart/2008/layout/CaptionedPictures"/>
    <dgm:cxn modelId="{BFBB8F7D-8124-4539-A1A6-D7232E70A027}" type="presParOf" srcId="{E01F287E-0DC9-4D20-8275-A4A699A6176F}" destId="{597087CC-C98D-4D61-B068-DE41E196529F}" srcOrd="1" destOrd="0" presId="urn:microsoft.com/office/officeart/2008/layout/CaptionedPictures"/>
    <dgm:cxn modelId="{7D50A3C2-5ACE-49CF-BD70-60BD5E1ED12A}" type="presParOf" srcId="{E01F287E-0DC9-4D20-8275-A4A699A6176F}" destId="{037029AE-80F5-43E6-AB51-B3CC696D1547}" srcOrd="2" destOrd="0" presId="urn:microsoft.com/office/officeart/2008/layout/CaptionedPictures"/>
    <dgm:cxn modelId="{68229262-FDE5-4D66-B629-CFACC89B8A98}" type="presParOf" srcId="{037029AE-80F5-43E6-AB51-B3CC696D1547}" destId="{3BCE3F62-C0A5-44ED-BEC3-89835E81E17A}" srcOrd="0" destOrd="0" presId="urn:microsoft.com/office/officeart/2008/layout/CaptionedPictures"/>
    <dgm:cxn modelId="{1007D869-8DBF-4051-B45C-562DFD86447F}" type="presParOf" srcId="{037029AE-80F5-43E6-AB51-B3CC696D1547}" destId="{EDB797C2-3FDD-41D1-A3F1-116D37397FAB}"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C936B6-E74A-4ADC-9FF8-41B735ABA13C}">
      <dsp:nvSpPr>
        <dsp:cNvPr id="0" name=""/>
        <dsp:cNvSpPr/>
      </dsp:nvSpPr>
      <dsp:spPr>
        <a:xfrm>
          <a:off x="1749858" y="1194035"/>
          <a:ext cx="371214" cy="91440"/>
        </a:xfrm>
        <a:custGeom>
          <a:avLst/>
          <a:gdLst/>
          <a:ahLst/>
          <a:cxnLst/>
          <a:rect l="0" t="0" r="0" b="0"/>
          <a:pathLst>
            <a:path>
              <a:moveTo>
                <a:pt x="0" y="45720"/>
              </a:moveTo>
              <a:lnTo>
                <a:pt x="371214"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1925420" y="1237746"/>
        <a:ext cx="20090" cy="4018"/>
      </dsp:txXfrm>
    </dsp:sp>
    <dsp:sp modelId="{BCF0A5AE-28F4-460B-A483-4E9270C15EA5}">
      <dsp:nvSpPr>
        <dsp:cNvPr id="0" name=""/>
        <dsp:cNvSpPr/>
      </dsp:nvSpPr>
      <dsp:spPr>
        <a:xfrm>
          <a:off x="4640" y="715649"/>
          <a:ext cx="1747017" cy="104821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it-IT" sz="900" b="1" u="none" kern="1200" dirty="0"/>
            <a:t>Scenario 1: </a:t>
          </a:r>
          <a:r>
            <a:rPr lang="en-US" sz="900" kern="1200" dirty="0"/>
            <a:t>Clarify Meanings Before Reuse</a:t>
          </a:r>
          <a:endParaRPr lang="en-NL" sz="900" b="0" u="none" kern="1200" dirty="0"/>
        </a:p>
      </dsp:txBody>
      <dsp:txXfrm>
        <a:off x="4640" y="715649"/>
        <a:ext cx="1747017" cy="1048210"/>
      </dsp:txXfrm>
    </dsp:sp>
    <dsp:sp modelId="{EE67AEC7-A539-4D09-80D5-397693C7C04F}">
      <dsp:nvSpPr>
        <dsp:cNvPr id="0" name=""/>
        <dsp:cNvSpPr/>
      </dsp:nvSpPr>
      <dsp:spPr>
        <a:xfrm>
          <a:off x="3898690" y="1194035"/>
          <a:ext cx="371214" cy="91440"/>
        </a:xfrm>
        <a:custGeom>
          <a:avLst/>
          <a:gdLst/>
          <a:ahLst/>
          <a:cxnLst/>
          <a:rect l="0" t="0" r="0" b="0"/>
          <a:pathLst>
            <a:path>
              <a:moveTo>
                <a:pt x="0" y="45720"/>
              </a:moveTo>
              <a:lnTo>
                <a:pt x="371214"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4074251" y="1237746"/>
        <a:ext cx="20090" cy="4018"/>
      </dsp:txXfrm>
    </dsp:sp>
    <dsp:sp modelId="{3466A636-609B-4F26-B741-EC0A1C2852FA}">
      <dsp:nvSpPr>
        <dsp:cNvPr id="0" name=""/>
        <dsp:cNvSpPr/>
      </dsp:nvSpPr>
      <dsp:spPr>
        <a:xfrm>
          <a:off x="2153472" y="715649"/>
          <a:ext cx="1747017" cy="104821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2: </a:t>
          </a:r>
          <a:r>
            <a:rPr lang="en-US" sz="900" kern="1200" dirty="0"/>
            <a:t>Identify the dataset that represents the right meaning</a:t>
          </a:r>
          <a:endParaRPr lang="en-NL" sz="900" b="0" u="none" kern="1200" dirty="0"/>
        </a:p>
      </dsp:txBody>
      <dsp:txXfrm>
        <a:off x="2153472" y="715649"/>
        <a:ext cx="1747017" cy="1048210"/>
      </dsp:txXfrm>
    </dsp:sp>
    <dsp:sp modelId="{0C26B74F-5C5E-488F-BE18-6EEF27F0F2A6}">
      <dsp:nvSpPr>
        <dsp:cNvPr id="0" name=""/>
        <dsp:cNvSpPr/>
      </dsp:nvSpPr>
      <dsp:spPr>
        <a:xfrm>
          <a:off x="878149" y="1762060"/>
          <a:ext cx="4297663" cy="371214"/>
        </a:xfrm>
        <a:custGeom>
          <a:avLst/>
          <a:gdLst/>
          <a:ahLst/>
          <a:cxnLst/>
          <a:rect l="0" t="0" r="0" b="0"/>
          <a:pathLst>
            <a:path>
              <a:moveTo>
                <a:pt x="4297663" y="0"/>
              </a:moveTo>
              <a:lnTo>
                <a:pt x="4297663" y="202707"/>
              </a:lnTo>
              <a:lnTo>
                <a:pt x="0" y="202707"/>
              </a:lnTo>
              <a:lnTo>
                <a:pt x="0" y="371214"/>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2919071" y="1945658"/>
        <a:ext cx="215820" cy="4018"/>
      </dsp:txXfrm>
    </dsp:sp>
    <dsp:sp modelId="{781997A3-EE88-46C6-BA3F-CB53E3E30BE6}">
      <dsp:nvSpPr>
        <dsp:cNvPr id="0" name=""/>
        <dsp:cNvSpPr/>
      </dsp:nvSpPr>
      <dsp:spPr>
        <a:xfrm>
          <a:off x="4302304" y="715649"/>
          <a:ext cx="1747017" cy="104821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dsp:txBody>
      <dsp:txXfrm>
        <a:off x="4302304" y="715649"/>
        <a:ext cx="1747017" cy="1048210"/>
      </dsp:txXfrm>
    </dsp:sp>
    <dsp:sp modelId="{B654FB9A-C7F5-4D27-A357-D10950EFC7A1}">
      <dsp:nvSpPr>
        <dsp:cNvPr id="0" name=""/>
        <dsp:cNvSpPr/>
      </dsp:nvSpPr>
      <dsp:spPr>
        <a:xfrm>
          <a:off x="1749858" y="2644059"/>
          <a:ext cx="371214" cy="91440"/>
        </a:xfrm>
        <a:custGeom>
          <a:avLst/>
          <a:gdLst/>
          <a:ahLst/>
          <a:cxnLst/>
          <a:rect l="0" t="0" r="0" b="0"/>
          <a:pathLst>
            <a:path>
              <a:moveTo>
                <a:pt x="0" y="45720"/>
              </a:moveTo>
              <a:lnTo>
                <a:pt x="371214"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1925420" y="2687770"/>
        <a:ext cx="20090" cy="4018"/>
      </dsp:txXfrm>
    </dsp:sp>
    <dsp:sp modelId="{385934CF-4E3A-484C-B2B3-66DCDD4477E7}">
      <dsp:nvSpPr>
        <dsp:cNvPr id="0" name=""/>
        <dsp:cNvSpPr/>
      </dsp:nvSpPr>
      <dsp:spPr>
        <a:xfrm>
          <a:off x="4640" y="2165674"/>
          <a:ext cx="1747017" cy="104821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dsp:txBody>
      <dsp:txXfrm>
        <a:off x="4640" y="2165674"/>
        <a:ext cx="1747017" cy="1048210"/>
      </dsp:txXfrm>
    </dsp:sp>
    <dsp:sp modelId="{E04C062C-12EC-4CAC-A9F7-FA386B959D12}">
      <dsp:nvSpPr>
        <dsp:cNvPr id="0" name=""/>
        <dsp:cNvSpPr/>
      </dsp:nvSpPr>
      <dsp:spPr>
        <a:xfrm>
          <a:off x="3898690" y="2644059"/>
          <a:ext cx="371214" cy="91440"/>
        </a:xfrm>
        <a:custGeom>
          <a:avLst/>
          <a:gdLst/>
          <a:ahLst/>
          <a:cxnLst/>
          <a:rect l="0" t="0" r="0" b="0"/>
          <a:pathLst>
            <a:path>
              <a:moveTo>
                <a:pt x="0" y="45720"/>
              </a:moveTo>
              <a:lnTo>
                <a:pt x="371214"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4074251" y="2687770"/>
        <a:ext cx="20090" cy="4018"/>
      </dsp:txXfrm>
    </dsp:sp>
    <dsp:sp modelId="{7F969913-C98E-4911-B734-E71B7FCCDDE1}">
      <dsp:nvSpPr>
        <dsp:cNvPr id="0" name=""/>
        <dsp:cNvSpPr/>
      </dsp:nvSpPr>
      <dsp:spPr>
        <a:xfrm>
          <a:off x="2153472" y="2165674"/>
          <a:ext cx="1747017" cy="104821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dsp:txBody>
      <dsp:txXfrm>
        <a:off x="2153472" y="2165674"/>
        <a:ext cx="1747017" cy="1048210"/>
      </dsp:txXfrm>
    </dsp:sp>
    <dsp:sp modelId="{F33A4F67-5619-4B2C-B090-C5D18F9B354D}">
      <dsp:nvSpPr>
        <dsp:cNvPr id="0" name=""/>
        <dsp:cNvSpPr/>
      </dsp:nvSpPr>
      <dsp:spPr>
        <a:xfrm>
          <a:off x="4302304" y="2165674"/>
          <a:ext cx="1747017" cy="1048210"/>
        </a:xfrm>
        <a:prstGeom prst="rect">
          <a:avLst/>
        </a:prstGeom>
        <a:solidFill>
          <a:schemeClr val="accent3">
            <a:lumMod val="20000"/>
            <a:lumOff val="80000"/>
          </a:schemeClr>
        </a:solidFill>
        <a:ln>
          <a:solidFill>
            <a:schemeClr val="accent1"/>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dsp:txBody>
      <dsp:txXfrm>
        <a:off x="4302304" y="2165674"/>
        <a:ext cx="1747017" cy="10482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1551"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152022" y="531960"/>
          <a:ext cx="2708477" cy="230132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152022"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Male</a:t>
          </a:r>
          <a:endParaRPr lang="en-NL" sz="1400" kern="1200" dirty="0"/>
        </a:p>
      </dsp:txBody>
      <dsp:txXfrm>
        <a:off x="152022" y="3187359"/>
        <a:ext cx="2708477" cy="601855"/>
      </dsp:txXfrm>
    </dsp:sp>
    <dsp:sp modelId="{E136DF8C-D1DB-4C48-9240-BD42223BD201}">
      <dsp:nvSpPr>
        <dsp:cNvPr id="0" name=""/>
        <dsp:cNvSpPr/>
      </dsp:nvSpPr>
      <dsp:spPr>
        <a:xfrm>
          <a:off x="152022"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Patient-001</a:t>
          </a:r>
          <a:endParaRPr lang="en-NL" sz="1600" b="1" kern="1200" dirty="0"/>
        </a:p>
      </dsp:txBody>
      <dsp:txXfrm>
        <a:off x="152022" y="2833281"/>
        <a:ext cx="2708477" cy="354077"/>
      </dsp:txXfrm>
    </dsp:sp>
    <dsp:sp modelId="{BE5F1572-A447-4997-B7C1-2B8E87C28E09}">
      <dsp:nvSpPr>
        <dsp:cNvPr id="0" name=""/>
        <dsp:cNvSpPr/>
      </dsp:nvSpPr>
      <dsp:spPr>
        <a:xfrm>
          <a:off x="3895965"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B8A85D8-4111-4B5E-94D3-3398FD061187}">
      <dsp:nvSpPr>
        <dsp:cNvPr id="0" name=""/>
        <dsp:cNvSpPr/>
      </dsp:nvSpPr>
      <dsp:spPr>
        <a:xfrm>
          <a:off x="4046436" y="531960"/>
          <a:ext cx="2708477" cy="2301321"/>
        </a:xfrm>
        <a:prstGeom prst="rect">
          <a:avLst/>
        </a:prstGeom>
        <a:blipFill>
          <a:blip xmlns:r="http://schemas.openxmlformats.org/officeDocument/2006/relationships" r:embed="rId2"/>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4D0764FE-A32F-4969-8A80-EC1C58EFDB9C}">
      <dsp:nvSpPr>
        <dsp:cNvPr id="0" name=""/>
        <dsp:cNvSpPr/>
      </dsp:nvSpPr>
      <dsp:spPr>
        <a:xfrm>
          <a:off x="4046436"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Female (Trans)</a:t>
          </a:r>
          <a:endParaRPr lang="en-NL" sz="1400" kern="1200" dirty="0"/>
        </a:p>
      </dsp:txBody>
      <dsp:txXfrm>
        <a:off x="4046436" y="3187359"/>
        <a:ext cx="2708477" cy="601855"/>
      </dsp:txXfrm>
    </dsp:sp>
    <dsp:sp modelId="{01877ED6-BA92-43FC-A70B-E91E700CFB37}">
      <dsp:nvSpPr>
        <dsp:cNvPr id="0" name=""/>
        <dsp:cNvSpPr/>
      </dsp:nvSpPr>
      <dsp:spPr>
        <a:xfrm>
          <a:off x="4046436"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Patient-002</a:t>
          </a:r>
          <a:endParaRPr lang="en-NL" sz="1600" b="1" kern="1200" dirty="0"/>
        </a:p>
      </dsp:txBody>
      <dsp:txXfrm>
        <a:off x="4046436" y="2833281"/>
        <a:ext cx="2708477" cy="354077"/>
      </dsp:txXfrm>
    </dsp:sp>
    <dsp:sp modelId="{8CCC9092-02C7-4EFA-BE32-E14222A62392}">
      <dsp:nvSpPr>
        <dsp:cNvPr id="0" name=""/>
        <dsp:cNvSpPr/>
      </dsp:nvSpPr>
      <dsp:spPr>
        <a:xfrm>
          <a:off x="7790378"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2ED66F0-881F-41E1-96A9-763D5D5A48B5}">
      <dsp:nvSpPr>
        <dsp:cNvPr id="0" name=""/>
        <dsp:cNvSpPr/>
      </dsp:nvSpPr>
      <dsp:spPr>
        <a:xfrm>
          <a:off x="7940849" y="531960"/>
          <a:ext cx="2708477" cy="2301321"/>
        </a:xfrm>
        <a:prstGeom prst="rect">
          <a:avLst/>
        </a:prstGeom>
        <a:blipFill>
          <a:blip xmlns:r="http://schemas.openxmlformats.org/officeDocument/2006/relationships" r:embed="rId3"/>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7482A5E8-BC8F-4AEE-9D6D-EC66E1A46D4C}">
      <dsp:nvSpPr>
        <dsp:cNvPr id="0" name=""/>
        <dsp:cNvSpPr/>
      </dsp:nvSpPr>
      <dsp:spPr>
        <a:xfrm>
          <a:off x="7940849"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Female</a:t>
          </a:r>
          <a:endParaRPr lang="en-NL" sz="1400" kern="1200" dirty="0"/>
        </a:p>
        <a:p>
          <a:pPr marL="0" lvl="0" indent="0" algn="l" defTabSz="622300">
            <a:lnSpc>
              <a:spcPct val="90000"/>
            </a:lnSpc>
            <a:spcBef>
              <a:spcPct val="0"/>
            </a:spcBef>
            <a:spcAft>
              <a:spcPct val="35000"/>
            </a:spcAft>
            <a:buNone/>
          </a:pPr>
          <a:r>
            <a:rPr lang="en-US" sz="1400" kern="1200" dirty="0"/>
            <a:t>(Social) Gender: Non-binary</a:t>
          </a:r>
          <a:endParaRPr lang="en-NL" sz="1400" kern="1200" dirty="0"/>
        </a:p>
      </dsp:txBody>
      <dsp:txXfrm>
        <a:off x="7940849" y="3187359"/>
        <a:ext cx="2708477" cy="601855"/>
      </dsp:txXfrm>
    </dsp:sp>
    <dsp:sp modelId="{0CA4B0F1-8C27-4F9D-A3DD-07465492F2D6}">
      <dsp:nvSpPr>
        <dsp:cNvPr id="0" name=""/>
        <dsp:cNvSpPr/>
      </dsp:nvSpPr>
      <dsp:spPr>
        <a:xfrm>
          <a:off x="7940849"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Patient-003</a:t>
          </a:r>
          <a:endParaRPr lang="en-NL" sz="1600" b="1" kern="1200" dirty="0"/>
        </a:p>
      </dsp:txBody>
      <dsp:txXfrm>
        <a:off x="7940849" y="2833281"/>
        <a:ext cx="2708477" cy="3540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445"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87410" y="109253"/>
          <a:ext cx="1565356" cy="133004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87410"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Male</a:t>
          </a:r>
          <a:endParaRPr lang="en-NL" sz="800" kern="1200" dirty="0"/>
        </a:p>
      </dsp:txBody>
      <dsp:txXfrm>
        <a:off x="87410" y="1643933"/>
        <a:ext cx="1565356" cy="347840"/>
      </dsp:txXfrm>
    </dsp:sp>
    <dsp:sp modelId="{E136DF8C-D1DB-4C48-9240-BD42223BD201}">
      <dsp:nvSpPr>
        <dsp:cNvPr id="0" name=""/>
        <dsp:cNvSpPr/>
      </dsp:nvSpPr>
      <dsp:spPr>
        <a:xfrm>
          <a:off x="87410"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Patient-001</a:t>
          </a:r>
          <a:endParaRPr lang="en-NL" sz="900" b="1" kern="1200" dirty="0"/>
        </a:p>
      </dsp:txBody>
      <dsp:txXfrm>
        <a:off x="87410" y="1439295"/>
        <a:ext cx="1565356" cy="204638"/>
      </dsp:txXfrm>
    </dsp:sp>
    <dsp:sp modelId="{61729CCB-9515-4519-A792-EAB84117191A}">
      <dsp:nvSpPr>
        <dsp:cNvPr id="0" name=""/>
        <dsp:cNvSpPr/>
      </dsp:nvSpPr>
      <dsp:spPr>
        <a:xfrm>
          <a:off x="1913659"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2D1F558-C992-4F85-8E17-FBA9661CA627}">
      <dsp:nvSpPr>
        <dsp:cNvPr id="0" name=""/>
        <dsp:cNvSpPr/>
      </dsp:nvSpPr>
      <dsp:spPr>
        <a:xfrm>
          <a:off x="2000624" y="109253"/>
          <a:ext cx="1565356" cy="1330041"/>
        </a:xfrm>
        <a:prstGeom prst="rect">
          <a:avLst/>
        </a:prstGeom>
        <a:blipFill>
          <a:blip xmlns:r="http://schemas.openxmlformats.org/officeDocument/2006/relationships" r:embed="rId2"/>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AD77C35C-7E47-4D30-BBF2-0106E6B5AD1D}">
      <dsp:nvSpPr>
        <dsp:cNvPr id="0" name=""/>
        <dsp:cNvSpPr/>
      </dsp:nvSpPr>
      <dsp:spPr>
        <a:xfrm>
          <a:off x="2000624"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Female (Trans)</a:t>
          </a:r>
          <a:endParaRPr lang="en-NL" sz="800" kern="1200" dirty="0"/>
        </a:p>
      </dsp:txBody>
      <dsp:txXfrm>
        <a:off x="2000624" y="1643933"/>
        <a:ext cx="1565356" cy="347840"/>
      </dsp:txXfrm>
    </dsp:sp>
    <dsp:sp modelId="{F24A334F-23E1-4C7A-8933-4FBF6E1B0CB8}">
      <dsp:nvSpPr>
        <dsp:cNvPr id="0" name=""/>
        <dsp:cNvSpPr/>
      </dsp:nvSpPr>
      <dsp:spPr>
        <a:xfrm>
          <a:off x="2000624"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Patient-002</a:t>
          </a:r>
          <a:endParaRPr lang="en-NL" sz="900" b="1" kern="1200" dirty="0"/>
        </a:p>
      </dsp:txBody>
      <dsp:txXfrm>
        <a:off x="2000624" y="1439295"/>
        <a:ext cx="1565356" cy="204638"/>
      </dsp:txXfrm>
    </dsp:sp>
    <dsp:sp modelId="{FF040796-1AD1-4ADB-A3EC-614B71D12AC6}">
      <dsp:nvSpPr>
        <dsp:cNvPr id="0" name=""/>
        <dsp:cNvSpPr/>
      </dsp:nvSpPr>
      <dsp:spPr>
        <a:xfrm>
          <a:off x="957052" y="2247551"/>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97087CC-C98D-4D61-B068-DE41E196529F}">
      <dsp:nvSpPr>
        <dsp:cNvPr id="0" name=""/>
        <dsp:cNvSpPr/>
      </dsp:nvSpPr>
      <dsp:spPr>
        <a:xfrm>
          <a:off x="1044017" y="2329400"/>
          <a:ext cx="1565356" cy="1330041"/>
        </a:xfrm>
        <a:prstGeom prst="rect">
          <a:avLst/>
        </a:prstGeom>
        <a:blipFill>
          <a:blip xmlns:r="http://schemas.openxmlformats.org/officeDocument/2006/relationships" r:embed="rId3"/>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BCE3F62-C0A5-44ED-BEC3-89835E81E17A}">
      <dsp:nvSpPr>
        <dsp:cNvPr id="0" name=""/>
        <dsp:cNvSpPr/>
      </dsp:nvSpPr>
      <dsp:spPr>
        <a:xfrm>
          <a:off x="1044017" y="3864080"/>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Female</a:t>
          </a:r>
          <a:endParaRPr lang="en-NL" sz="800" kern="1200" dirty="0"/>
        </a:p>
        <a:p>
          <a:pPr marL="0" lvl="0" indent="0" algn="l" defTabSz="355600">
            <a:lnSpc>
              <a:spcPct val="90000"/>
            </a:lnSpc>
            <a:spcBef>
              <a:spcPct val="0"/>
            </a:spcBef>
            <a:spcAft>
              <a:spcPct val="35000"/>
            </a:spcAft>
            <a:buNone/>
          </a:pPr>
          <a:r>
            <a:rPr lang="en-US" sz="800" kern="1200" dirty="0"/>
            <a:t>(Social) Gender: Non-binary</a:t>
          </a:r>
          <a:endParaRPr lang="en-NL" sz="800" kern="1200" dirty="0"/>
        </a:p>
      </dsp:txBody>
      <dsp:txXfrm>
        <a:off x="1044017" y="3864080"/>
        <a:ext cx="1565356" cy="347840"/>
      </dsp:txXfrm>
    </dsp:sp>
    <dsp:sp modelId="{EDB797C2-3FDD-41D1-A3F1-116D37397FAB}">
      <dsp:nvSpPr>
        <dsp:cNvPr id="0" name=""/>
        <dsp:cNvSpPr/>
      </dsp:nvSpPr>
      <dsp:spPr>
        <a:xfrm>
          <a:off x="1044017" y="3659442"/>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Patient-003</a:t>
          </a:r>
          <a:endParaRPr lang="en-NL" sz="900" b="1" kern="1200" dirty="0"/>
        </a:p>
      </dsp:txBody>
      <dsp:txXfrm>
        <a:off x="1044017" y="3659442"/>
        <a:ext cx="1565356" cy="204638"/>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4/28/2026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presentation, I will walk you through applied use cases from the Health-RI Semantic Interoperability Initiative.</a:t>
            </a:r>
          </a:p>
          <a:p>
            <a:endParaRPr lang="en-US" dirty="0"/>
          </a:p>
          <a:p>
            <a:r>
              <a:rPr lang="en-US" dirty="0"/>
              <a:t>The focus is on how semantic technologies can support practical decisions in health data reuse. Rather than discussing interoperability in the abstract, we will follow concrete user stories and show how meaning can be made explicit, compared, validated, and reused across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a:t>
            </a:fld>
            <a:endParaRPr lang="en-US" dirty="0"/>
          </a:p>
        </p:txBody>
      </p:sp>
    </p:spTree>
    <p:extLst>
      <p:ext uri="{BB962C8B-B14F-4D97-AF65-F5344CB8AC3E}">
        <p14:creationId xmlns:p14="http://schemas.microsoft.com/office/powerpoint/2010/main" val="4123532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examples easier to follow, we introduce two primary user roles.</a:t>
            </a:r>
          </a:p>
          <a:p>
            <a:endParaRPr lang="en-US" dirty="0"/>
          </a:p>
          <a:p>
            <a:r>
              <a:rPr lang="en-US" dirty="0"/>
              <a:t>The first is Dr. Amir Hassan, a researcher who wants to reuse health data responsibly for analysis.</a:t>
            </a:r>
          </a:p>
          <a:p>
            <a:endParaRPr lang="en-US" dirty="0"/>
          </a:p>
          <a:p>
            <a:r>
              <a:rPr lang="en-US" dirty="0"/>
              <a:t>The second is Inge de Boer, a data steward who is responsible for making sure that data elements are described, mapped, and published in a consistent and reliable way.</a:t>
            </a:r>
          </a:p>
          <a:p>
            <a:endParaRPr lang="en-US" dirty="0"/>
          </a:p>
          <a:p>
            <a:r>
              <a:rPr lang="en-US" dirty="0"/>
              <a:t>Together, these two roles represent both sides of semantic interoperability: the person who needs to find and interpret data, and the person who helps make that data understandable and reusable.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a:t>
            </a:fld>
            <a:endParaRPr lang="en-US" dirty="0"/>
          </a:p>
        </p:txBody>
      </p:sp>
    </p:spTree>
    <p:extLst>
      <p:ext uri="{BB962C8B-B14F-4D97-AF65-F5344CB8AC3E}">
        <p14:creationId xmlns:p14="http://schemas.microsoft.com/office/powerpoint/2010/main" val="3423071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Amir’s perspective.</a:t>
            </a:r>
          </a:p>
          <a:p>
            <a:endParaRPr lang="en-US" dirty="0"/>
          </a:p>
          <a:p>
            <a:r>
              <a:rPr lang="en-US" dirty="0"/>
              <a:t>Amir is studying whether treatment outcomes differ across patient groups. To do that, he needs to stratify his cohort using the correct sex- or gender-related variable.</a:t>
            </a:r>
          </a:p>
          <a:p>
            <a:endParaRPr lang="en-US" dirty="0"/>
          </a:p>
          <a:p>
            <a:r>
              <a:rPr lang="en-US" dirty="0"/>
              <a:t>At first, this may sound straightforward. Many datasets contain variables that appear to describe sex or gender.</a:t>
            </a:r>
          </a:p>
          <a:p>
            <a:endParaRPr lang="en-US" dirty="0"/>
          </a:p>
          <a:p>
            <a:r>
              <a:rPr lang="en-US" dirty="0"/>
              <a:t>But before Amir can request and combine data, he needs to know which datasets contain the concept he actually needs, and whether similar variables are defined in the same way across institutions.</a:t>
            </a:r>
          </a:p>
          <a:p>
            <a:endParaRPr lang="en-US" dirty="0"/>
          </a:p>
          <a:p>
            <a:r>
              <a:rPr lang="en-US" dirty="0"/>
              <a:t>This is the central challenge: the labels may look familiar, but the underlying meanings may not be the same.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a:t>
            </a:fld>
            <a:endParaRPr lang="en-US" dirty="0"/>
          </a:p>
        </p:txBody>
      </p:sp>
    </p:spTree>
    <p:extLst>
      <p:ext uri="{BB962C8B-B14F-4D97-AF65-F5344CB8AC3E}">
        <p14:creationId xmlns:p14="http://schemas.microsoft.com/office/powerpoint/2010/main" val="2068229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3614-9283-CB39-4D29-6D385C9A3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9A2B9-7498-0C6F-2E26-F37FF3A98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12BAA-164D-8F97-B03F-273DC479F445}"/>
              </a:ext>
            </a:extLst>
          </p:cNvPr>
          <p:cNvSpPr>
            <a:spLocks noGrp="1"/>
          </p:cNvSpPr>
          <p:nvPr>
            <p:ph type="body" idx="1"/>
          </p:nvPr>
        </p:nvSpPr>
        <p:spPr/>
        <p:txBody>
          <a:bodyPr/>
          <a:lstStyle/>
          <a:p>
            <a:r>
              <a:rPr lang="en-US" dirty="0"/>
              <a:t>This is Amir’s end-to-end workflow.</a:t>
            </a:r>
          </a:p>
          <a:p>
            <a:endParaRPr lang="en-US" dirty="0"/>
          </a:p>
          <a:p>
            <a:r>
              <a:rPr lang="en-US" dirty="0"/>
              <a:t>The workflow follows the steps Amir needs to take before he can make a defensible decision about data reuse. His goal is to move from label-based guessing to evidence-based interpretation.</a:t>
            </a:r>
            <a:endParaRPr lang="en-NL" dirty="0"/>
          </a:p>
        </p:txBody>
      </p:sp>
      <p:sp>
        <p:nvSpPr>
          <p:cNvPr id="4" name="Slide Number Placeholder 3">
            <a:extLst>
              <a:ext uri="{FF2B5EF4-FFF2-40B4-BE49-F238E27FC236}">
                <a16:creationId xmlns:a16="http://schemas.microsoft.com/office/drawing/2014/main" id="{E6C9C0B4-B39C-575D-0A7B-72DBB0B6254F}"/>
              </a:ext>
            </a:extLst>
          </p:cNvPr>
          <p:cNvSpPr>
            <a:spLocks noGrp="1"/>
          </p:cNvSpPr>
          <p:nvPr>
            <p:ph type="sldNum" sz="quarter" idx="5"/>
          </p:nvPr>
        </p:nvSpPr>
        <p:spPr/>
        <p:txBody>
          <a:bodyPr/>
          <a:lstStyle/>
          <a:p>
            <a:fld id="{4B725628-3A68-42F4-BA86-981817953149}" type="slidenum">
              <a:rPr lang="en-US" smtClean="0"/>
              <a:t>4</a:t>
            </a:fld>
            <a:endParaRPr lang="en-US" dirty="0"/>
          </a:p>
        </p:txBody>
      </p:sp>
    </p:spTree>
    <p:extLst>
      <p:ext uri="{BB962C8B-B14F-4D97-AF65-F5344CB8AC3E}">
        <p14:creationId xmlns:p14="http://schemas.microsoft.com/office/powerpoint/2010/main" val="3138544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4CD39-9F9E-B63A-B061-4BCE3C643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CAAB0-78B5-A8C3-C0BD-361732544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E26E9-385B-E2F9-6C13-F25E99D909B1}"/>
              </a:ext>
            </a:extLst>
          </p:cNvPr>
          <p:cNvSpPr>
            <a:spLocks noGrp="1"/>
          </p:cNvSpPr>
          <p:nvPr>
            <p:ph type="body" idx="1"/>
          </p:nvPr>
        </p:nvSpPr>
        <p:spPr/>
        <p:txBody>
          <a:bodyPr/>
          <a:lstStyle/>
          <a:p>
            <a:r>
              <a:rPr lang="en-US" dirty="0"/>
              <a:t>We now move into the first applied scenario: clarifying meanings before reuse.</a:t>
            </a:r>
          </a:p>
          <a:p>
            <a:endParaRPr lang="en-US" dirty="0"/>
          </a:p>
          <a:p>
            <a:r>
              <a:rPr lang="en-US" dirty="0"/>
              <a:t>This is the starting point for Amir’s work. Before selecting or combining any datasets, he needs to understand the landscape of related concepts.</a:t>
            </a:r>
          </a:p>
          <a:p>
            <a:endParaRPr lang="en-US" dirty="0"/>
          </a:p>
          <a:p>
            <a:r>
              <a:rPr lang="en-US" dirty="0"/>
              <a:t>Although sex- and gender-related variables may appear similar at first glance, they can be based on very different aspects of a person’s identity or record, including biological characteristics, social identity, legal status, or the perspective of the person or institution defining the information.</a:t>
            </a:r>
          </a:p>
          <a:p>
            <a:endParaRPr lang="en-US" dirty="0"/>
          </a:p>
          <a:p>
            <a:r>
              <a:rPr lang="en-US" dirty="0"/>
              <a:t>At this step, Amir is trying to understand what is out there: which sex- and gender-related meanings are represented in the available datasets, how they differ from one another, and which one best matches what he needs for his study.</a:t>
            </a:r>
          </a:p>
        </p:txBody>
      </p:sp>
      <p:sp>
        <p:nvSpPr>
          <p:cNvPr id="4" name="Slide Number Placeholder 3">
            <a:extLst>
              <a:ext uri="{FF2B5EF4-FFF2-40B4-BE49-F238E27FC236}">
                <a16:creationId xmlns:a16="http://schemas.microsoft.com/office/drawing/2014/main" id="{CCE507B6-5731-B0F4-A013-031273C70B59}"/>
              </a:ext>
            </a:extLst>
          </p:cNvPr>
          <p:cNvSpPr>
            <a:spLocks noGrp="1"/>
          </p:cNvSpPr>
          <p:nvPr>
            <p:ph type="sldNum" sz="quarter" idx="5"/>
          </p:nvPr>
        </p:nvSpPr>
        <p:spPr/>
        <p:txBody>
          <a:bodyPr/>
          <a:lstStyle/>
          <a:p>
            <a:fld id="{4B725628-3A68-42F4-BA86-981817953149}" type="slidenum">
              <a:rPr lang="en-US" smtClean="0"/>
              <a:t>5</a:t>
            </a:fld>
            <a:endParaRPr lang="en-US" dirty="0"/>
          </a:p>
        </p:txBody>
      </p:sp>
    </p:spTree>
    <p:extLst>
      <p:ext uri="{BB962C8B-B14F-4D97-AF65-F5344CB8AC3E}">
        <p14:creationId xmlns:p14="http://schemas.microsoft.com/office/powerpoint/2010/main" val="2996327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Amir sees three illustrative dataset options. They are fictional examples, created to make the scenario realistic while keeping the focus on the semantic problem.</a:t>
            </a:r>
          </a:p>
          <a:p>
            <a:endParaRPr lang="en-US" dirty="0"/>
          </a:p>
          <a:p>
            <a:r>
              <a:rPr lang="en-US" dirty="0"/>
              <a:t>The first is the NPR Demographic Extract. We can think of this as a dataset owned by a national population registry, created to support demographic identification and population-level linkage. This dataset uses the Care-SM standard. The specific term used from that standard is </a:t>
            </a:r>
            <a:r>
              <a:rPr lang="en-US" dirty="0" err="1"/>
              <a:t>care-sm:Sex</a:t>
            </a:r>
            <a:r>
              <a:rPr lang="en-US" dirty="0"/>
              <a:t>, with the label “Biological sex.”</a:t>
            </a:r>
          </a:p>
          <a:p>
            <a:endParaRPr lang="en-US" dirty="0"/>
          </a:p>
          <a:p>
            <a:r>
              <a:rPr lang="en-US" dirty="0"/>
              <a:t>The second is the Hospital Registration Extract. This can be understood as a dataset owned by a hospital registration system, created to support patient registration and administrative handling during clinical encounters. This dataset uses an openEHR-based representation. The specific term used is </a:t>
            </a:r>
            <a:r>
              <a:rPr lang="en-US" dirty="0" err="1"/>
              <a:t>hri-openehr:legal-gender</a:t>
            </a:r>
            <a:r>
              <a:rPr lang="en-US" dirty="0"/>
              <a:t>, with the label “Legal gender.”</a:t>
            </a:r>
          </a:p>
          <a:p>
            <a:endParaRPr lang="en-US" dirty="0"/>
          </a:p>
          <a:p>
            <a:r>
              <a:rPr lang="en-US" dirty="0"/>
              <a:t>The third is the Administrative Intake Extract. This can be understood as a dataset owned by an intake or questionnaire service, created to collect information provided during administrative intake. This dataset uses LOINC. The specific term has label “Administrative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6</a:t>
            </a:fld>
            <a:endParaRPr lang="en-US" dirty="0"/>
          </a:p>
        </p:txBody>
      </p:sp>
    </p:spTree>
    <p:extLst>
      <p:ext uri="{BB962C8B-B14F-4D97-AF65-F5344CB8AC3E}">
        <p14:creationId xmlns:p14="http://schemas.microsoft.com/office/powerpoint/2010/main" val="2682914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Amir’s question explicit.</a:t>
            </a:r>
          </a:p>
          <a:p>
            <a:endParaRPr lang="en-US" dirty="0"/>
          </a:p>
          <a:p>
            <a:r>
              <a:rPr lang="en-US" dirty="0"/>
              <a:t>What Amir wants is clear: he wants to build a valid cohort, use the variable that fits his research question, and interpret the available data in a way that supports reliable analysis.</a:t>
            </a:r>
          </a:p>
          <a:p>
            <a:endParaRPr lang="en-US" dirty="0"/>
          </a:p>
          <a:p>
            <a:r>
              <a:rPr lang="en-US" dirty="0"/>
              <a:t>The challenge is that the datasets appear to contain similar sex- or gender-related information.</a:t>
            </a:r>
          </a:p>
          <a:p>
            <a:endParaRPr lang="en-US" dirty="0"/>
          </a:p>
          <a:p>
            <a:r>
              <a:rPr lang="en-US" dirty="0"/>
              <a:t>However, if these variables do not mean the same thing, treating them as equivalent could distort the results of the study.</a:t>
            </a:r>
          </a:p>
          <a:p>
            <a:endParaRPr lang="en-US" dirty="0"/>
          </a:p>
          <a:p>
            <a:r>
              <a:rPr lang="en-US" dirty="0"/>
              <a:t>So Amir’s key question becomes: what semantic differences do I need to understand before I can correctly compare and reuse these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7</a:t>
            </a:fld>
            <a:endParaRPr lang="en-US" dirty="0"/>
          </a:p>
        </p:txBody>
      </p:sp>
    </p:spTree>
    <p:extLst>
      <p:ext uri="{BB962C8B-B14F-4D97-AF65-F5344CB8AC3E}">
        <p14:creationId xmlns:p14="http://schemas.microsoft.com/office/powerpoint/2010/main" val="91999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problem with relying on labels alone.</a:t>
            </a:r>
          </a:p>
          <a:p>
            <a:endParaRPr lang="en-US" dirty="0"/>
          </a:p>
          <a:p>
            <a:r>
              <a:rPr lang="en-US" dirty="0"/>
              <a:t>We see terms such as female appearing in more than one dataset. But the same term does not necessarily carry the same meaning in every context.</a:t>
            </a:r>
          </a:p>
          <a:p>
            <a:endParaRPr lang="en-US" dirty="0"/>
          </a:p>
          <a:p>
            <a:r>
              <a:rPr lang="en-US" dirty="0"/>
              <a:t>For example, the term female in a biological sex column may not be equivalent to female in a legal gender column.</a:t>
            </a:r>
          </a:p>
          <a:p>
            <a:endParaRPr lang="en-US" dirty="0"/>
          </a:p>
          <a:p>
            <a:r>
              <a:rPr lang="en-US" dirty="0"/>
              <a:t>We also see related terms such as man and male. These may look close, but they do not necessarily refer to the same concept.</a:t>
            </a:r>
          </a:p>
          <a:p>
            <a:endParaRPr lang="en-US" dirty="0"/>
          </a:p>
          <a:p>
            <a:r>
              <a:rPr lang="en-US" dirty="0"/>
              <a:t>This highlights an important distinction: there is the value itself, and there is the meaning of the column in which that value appears.</a:t>
            </a:r>
          </a:p>
          <a:p>
            <a:endParaRPr lang="en-US" dirty="0"/>
          </a:p>
          <a:p>
            <a:r>
              <a:rPr lang="en-US" dirty="0"/>
              <a:t>So the key question is not just whether labels match, but whether the underlying concepts align.</a:t>
            </a:r>
          </a:p>
          <a:p>
            <a:endParaRPr lang="en-US" dirty="0"/>
          </a:p>
          <a:p>
            <a:r>
              <a:rPr lang="en-US" dirty="0"/>
              <a:t>This is where precise and explicit definitions become essential for responsible and reproducible data reuse.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8</a:t>
            </a:fld>
            <a:endParaRPr lang="en-US" dirty="0"/>
          </a:p>
        </p:txBody>
      </p:sp>
    </p:spTree>
    <p:extLst>
      <p:ext uri="{BB962C8B-B14F-4D97-AF65-F5344CB8AC3E}">
        <p14:creationId xmlns:p14="http://schemas.microsoft.com/office/powerpoint/2010/main" val="319990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 simple example that shows why similar labels can mislead reuse.</a:t>
            </a:r>
          </a:p>
          <a:p>
            <a:endParaRPr lang="en-US" dirty="0"/>
          </a:p>
          <a:p>
            <a:r>
              <a:rPr lang="en-US" dirty="0"/>
              <a:t>Here we see three patients. Each patient has information about biological sex and social gender.</a:t>
            </a:r>
          </a:p>
          <a:p>
            <a:endParaRPr lang="en-US" dirty="0"/>
          </a:p>
          <a:p>
            <a:r>
              <a:rPr lang="en-US" dirty="0"/>
              <a:t>The important point is that these are not the same variable.</a:t>
            </a:r>
          </a:p>
          <a:p>
            <a:endParaRPr lang="en-US" dirty="0"/>
          </a:p>
          <a:p>
            <a:r>
              <a:rPr lang="en-US" dirty="0"/>
              <a:t>Patient 1 has male biological sex and male social gender. Patient 2 has male biological sex, but their social gender is recorded as female. Patient 3 has female biological sex and non-binary social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9</a:t>
            </a:fld>
            <a:endParaRPr lang="en-US" dirty="0"/>
          </a:p>
        </p:txBody>
      </p:sp>
    </p:spTree>
    <p:extLst>
      <p:ext uri="{BB962C8B-B14F-4D97-AF65-F5344CB8AC3E}">
        <p14:creationId xmlns:p14="http://schemas.microsoft.com/office/powerpoint/2010/main" val="1875025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can go wrong if Amir uses the wrong variable for his research question.</a:t>
            </a:r>
          </a:p>
          <a:p>
            <a:endParaRPr lang="en-US" dirty="0"/>
          </a:p>
          <a:p>
            <a:r>
              <a:rPr lang="en-US" dirty="0"/>
              <a:t>If the intended criterion is biological sex, but Amir filters on gender equals male, he retrieves only Patient 1. He misses Patient 2, whose biological sex is male.</a:t>
            </a:r>
          </a:p>
          <a:p>
            <a:endParaRPr lang="en-US" dirty="0"/>
          </a:p>
          <a:p>
            <a:r>
              <a:rPr lang="en-US" dirty="0"/>
              <a:t>If the intended criterion is social gender, and Amir wants patients who socially identify as male, filtering on sex equals male retrieves Patient 1 and Patient 2. But Patient 2 should not be included for that question, because their social gender is recorded as female, with trans indicated.</a:t>
            </a:r>
          </a:p>
          <a:p>
            <a:endParaRPr lang="en-US" dirty="0"/>
          </a:p>
          <a:p>
            <a:r>
              <a:rPr lang="en-US" dirty="0"/>
              <a:t>And if Amir wants patients with female gender, but filters on sex equals female, he retrieves only Patient 3. He misses Patient 2.</a:t>
            </a:r>
          </a:p>
          <a:p>
            <a:endParaRPr lang="en-US" dirty="0"/>
          </a:p>
          <a:p>
            <a:r>
              <a:rPr lang="en-US" dirty="0"/>
              <a:t>So the issue is not simply a technical filtering mistake. It is a semantic mistake: the query uses a variable whose meaning does not match the study criterion.</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10</a:t>
            </a:fld>
            <a:endParaRPr lang="en-US" dirty="0"/>
          </a:p>
        </p:txBody>
      </p:sp>
    </p:spTree>
    <p:extLst>
      <p:ext uri="{BB962C8B-B14F-4D97-AF65-F5344CB8AC3E}">
        <p14:creationId xmlns:p14="http://schemas.microsoft.com/office/powerpoint/2010/main" val="1837094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sex and gender are not single, uniform meanings. They branch into several related but different concepts.</a:t>
            </a:r>
          </a:p>
          <a:p>
            <a:endParaRPr lang="en-US" dirty="0"/>
          </a:p>
          <a:p>
            <a:r>
              <a:rPr lang="en-US" dirty="0"/>
              <a:t>For example, biological sex, sex at birth, and karyotypical sex are not automatically the same thing. In the same way, social gender, self-identified gender, administrative gender, and legal gender refer to different kinds of information.</a:t>
            </a:r>
          </a:p>
          <a:p>
            <a:endParaRPr lang="en-US" dirty="0"/>
          </a:p>
          <a:p>
            <a:r>
              <a:rPr lang="en-US" dirty="0"/>
              <a:t>So, before Amir compares variables across datasets, he needs to understand which specific meaning each variable refers to, and how those meanings relate to one another.</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11</a:t>
            </a:fld>
            <a:endParaRPr lang="en-US" dirty="0"/>
          </a:p>
        </p:txBody>
      </p:sp>
    </p:spTree>
    <p:extLst>
      <p:ext uri="{BB962C8B-B14F-4D97-AF65-F5344CB8AC3E}">
        <p14:creationId xmlns:p14="http://schemas.microsoft.com/office/powerpoint/2010/main" val="4024609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support this kind of clarification, we use HRIO: the Health-RI Ontology.</a:t>
            </a:r>
          </a:p>
          <a:p>
            <a:endParaRPr lang="en-US" dirty="0"/>
          </a:p>
          <a:p>
            <a:r>
              <a:rPr lang="en-US" dirty="0"/>
              <a:t>HRIO makes the variables’ intended meanings precise and explicit, using OntoUML: a modeling language designed to describe concepts and their relationships in a clear and unambiguous way.</a:t>
            </a:r>
          </a:p>
        </p:txBody>
      </p:sp>
      <p:sp>
        <p:nvSpPr>
          <p:cNvPr id="4" name="Slide Number Placeholder 3"/>
          <p:cNvSpPr>
            <a:spLocks noGrp="1"/>
          </p:cNvSpPr>
          <p:nvPr>
            <p:ph type="sldNum" sz="quarter" idx="5"/>
          </p:nvPr>
        </p:nvSpPr>
        <p:spPr/>
        <p:txBody>
          <a:bodyPr/>
          <a:lstStyle/>
          <a:p>
            <a:fld id="{4B725628-3A68-42F4-BA86-981817953149}" type="slidenum">
              <a:rPr lang="en-US" smtClean="0"/>
              <a:t>12</a:t>
            </a:fld>
            <a:endParaRPr lang="en-US" dirty="0"/>
          </a:p>
        </p:txBody>
      </p:sp>
    </p:spTree>
    <p:extLst>
      <p:ext uri="{BB962C8B-B14F-4D97-AF65-F5344CB8AC3E}">
        <p14:creationId xmlns:p14="http://schemas.microsoft.com/office/powerpoint/2010/main" val="2255823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the HRIO taxonomies for sex and gender.</a:t>
            </a:r>
          </a:p>
          <a:p>
            <a:endParaRPr lang="en-US" dirty="0"/>
          </a:p>
          <a:p>
            <a:r>
              <a:rPr lang="en-US" dirty="0"/>
              <a:t>The details of the diagrams are not the main focus for the audience at this point. What this slide shows is that HRIO organizes these meanings into clear taxonomies.</a:t>
            </a:r>
          </a:p>
          <a:p>
            <a:endParaRPr lang="en-US" dirty="0"/>
          </a:p>
          <a:p>
            <a:r>
              <a:rPr lang="en-US" dirty="0"/>
              <a:t>Instead of treating all sex- and gender-related variables as one flat group, HRIO separates them into precise categories and makes their distinctions explicit.</a:t>
            </a:r>
          </a:p>
          <a:p>
            <a:endParaRPr lang="en-US" dirty="0"/>
          </a:p>
          <a:p>
            <a:r>
              <a:rPr lang="en-US" dirty="0"/>
              <a:t>This gives Amir a reference structure for asking better questions. For example, instead of simply asking for “gender,” he can now see that there are different kinds of gender-related concepts, connected in different ways, and identify which one best fits his study.</a:t>
            </a:r>
          </a:p>
        </p:txBody>
      </p:sp>
      <p:sp>
        <p:nvSpPr>
          <p:cNvPr id="4" name="Slide Number Placeholder 3"/>
          <p:cNvSpPr>
            <a:spLocks noGrp="1"/>
          </p:cNvSpPr>
          <p:nvPr>
            <p:ph type="sldNum" sz="quarter" idx="5"/>
          </p:nvPr>
        </p:nvSpPr>
        <p:spPr/>
        <p:txBody>
          <a:bodyPr/>
          <a:lstStyle/>
          <a:p>
            <a:fld id="{4B725628-3A68-42F4-BA86-981817953149}" type="slidenum">
              <a:rPr lang="en-US" smtClean="0"/>
              <a:t>13</a:t>
            </a:fld>
            <a:endParaRPr lang="en-US" dirty="0"/>
          </a:p>
        </p:txBody>
      </p:sp>
    </p:spTree>
    <p:extLst>
      <p:ext uri="{BB962C8B-B14F-4D97-AF65-F5344CB8AC3E}">
        <p14:creationId xmlns:p14="http://schemas.microsoft.com/office/powerpoint/2010/main" val="1682931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these distinctions in place, Amir can use HRIO to identify the intended meaning of each dataset variable.</a:t>
            </a:r>
          </a:p>
          <a:p>
            <a:endParaRPr lang="en-US" dirty="0"/>
          </a:p>
          <a:p>
            <a:r>
              <a:rPr lang="en-US" dirty="0"/>
              <a:t>Here, the Care-SM variable, labeled Biological sex, is linked to the HRIO’s Sex concept. The openEHR-based variable, labeled Legal gender, is linked to the HRIO’s Legal Gender concept. And the LOINC variable, labeled Administrative gender, is linked to the HRIO’s Administrative Gender concept.</a:t>
            </a:r>
          </a:p>
          <a:p>
            <a:endParaRPr lang="en-US" dirty="0"/>
          </a:p>
          <a:p>
            <a:r>
              <a:rPr lang="en-US" dirty="0"/>
              <a:t>The key point is that each variable keeps its original representation, but its meaning becomes explicit.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14</a:t>
            </a:fld>
            <a:endParaRPr lang="en-US" dirty="0"/>
          </a:p>
        </p:txBody>
      </p:sp>
    </p:spTree>
    <p:extLst>
      <p:ext uri="{BB962C8B-B14F-4D97-AF65-F5344CB8AC3E}">
        <p14:creationId xmlns:p14="http://schemas.microsoft.com/office/powerpoint/2010/main" val="2368457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return to the dataset variables from Amir’s scenario.</a:t>
            </a:r>
          </a:p>
          <a:p>
            <a:endParaRPr lang="en-US" dirty="0"/>
          </a:p>
          <a:p>
            <a:r>
              <a:rPr lang="en-US" dirty="0"/>
              <a:t>The variables may still look comparable because they contain familiar values such as female, male, woman, man, and non-binary.</a:t>
            </a:r>
          </a:p>
          <a:p>
            <a:endParaRPr lang="en-US" dirty="0"/>
          </a:p>
          <a:p>
            <a:r>
              <a:rPr lang="en-US" dirty="0"/>
              <a:t>But after Amir uses HRIO to identify the intended meaning of each variable, their differences become clear.</a:t>
            </a:r>
          </a:p>
          <a:p>
            <a:endParaRPr lang="en-US" dirty="0"/>
          </a:p>
          <a:p>
            <a:r>
              <a:rPr lang="en-US" dirty="0"/>
              <a:t>One variable is about biological sex. One is about legal gender. One is about administrative gender.</a:t>
            </a:r>
          </a:p>
          <a:p>
            <a:endParaRPr lang="en-US" dirty="0"/>
          </a:p>
          <a:p>
            <a:r>
              <a:rPr lang="en-US" dirty="0"/>
              <a:t>So the conclusion for this first scenario is clear: Amir should not treat these variables as interchangeable just because their labels or values look similar.</a:t>
            </a:r>
          </a:p>
          <a:p>
            <a:endParaRPr lang="en-US" dirty="0"/>
          </a:p>
          <a:p>
            <a:r>
              <a:rPr lang="en-US" dirty="0"/>
              <a:t>By making the meanings explicit, he can avoid label-based guessing and move toward a more defensible decision about which data can be reused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15</a:t>
            </a:fld>
            <a:endParaRPr lang="en-US" dirty="0"/>
          </a:p>
        </p:txBody>
      </p:sp>
    </p:spTree>
    <p:extLst>
      <p:ext uri="{BB962C8B-B14F-4D97-AF65-F5344CB8AC3E}">
        <p14:creationId xmlns:p14="http://schemas.microsoft.com/office/powerpoint/2010/main" val="3014361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976FF-880B-14F5-D84A-160892864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7A925-87DB-5A9D-ABB3-FA4EAEEB9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E3DAF-4320-F7C8-2E1A-76F811688348}"/>
              </a:ext>
            </a:extLst>
          </p:cNvPr>
          <p:cNvSpPr>
            <a:spLocks noGrp="1"/>
          </p:cNvSpPr>
          <p:nvPr>
            <p:ph type="body" idx="1"/>
          </p:nvPr>
        </p:nvSpPr>
        <p:spPr/>
        <p:txBody>
          <a:bodyPr/>
          <a:lstStyle/>
          <a:p>
            <a:r>
              <a:rPr lang="en-US" dirty="0"/>
              <a:t>We now move from Scenario 1 into Scenario 2.</a:t>
            </a:r>
          </a:p>
          <a:p>
            <a:endParaRPr lang="en-US" dirty="0"/>
          </a:p>
          <a:p>
            <a:r>
              <a:rPr lang="en-US" dirty="0"/>
              <a:t>In the first scenario, Amir clarified that sex- and gender-related variables can represent different meanings. In this scenario, he applies that understanding to a practical task: finding the dataset that contains the right variable for his study.</a:t>
            </a:r>
          </a:p>
          <a:p>
            <a:endParaRPr lang="en-US" dirty="0"/>
          </a:p>
          <a:p>
            <a:r>
              <a:rPr lang="en-US" dirty="0"/>
              <a:t>For Amir, the target meaning is biological sex. The question is no longer simply, “Which datasets contain a column whose label is related to sex?” The question is, “Which dataset contains the variable that represents biological sex?”</a:t>
            </a:r>
            <a:endParaRPr lang="en-NL" dirty="0"/>
          </a:p>
        </p:txBody>
      </p:sp>
      <p:sp>
        <p:nvSpPr>
          <p:cNvPr id="4" name="Slide Number Placeholder 3">
            <a:extLst>
              <a:ext uri="{FF2B5EF4-FFF2-40B4-BE49-F238E27FC236}">
                <a16:creationId xmlns:a16="http://schemas.microsoft.com/office/drawing/2014/main" id="{1E15F549-EFB6-FD56-DB79-55A2F69FF8C1}"/>
              </a:ext>
            </a:extLst>
          </p:cNvPr>
          <p:cNvSpPr>
            <a:spLocks noGrp="1"/>
          </p:cNvSpPr>
          <p:nvPr>
            <p:ph type="sldNum" sz="quarter" idx="5"/>
          </p:nvPr>
        </p:nvSpPr>
        <p:spPr/>
        <p:txBody>
          <a:bodyPr/>
          <a:lstStyle/>
          <a:p>
            <a:fld id="{4B725628-3A68-42F4-BA86-981817953149}" type="slidenum">
              <a:rPr lang="en-US" smtClean="0"/>
              <a:t>16</a:t>
            </a:fld>
            <a:endParaRPr lang="en-US" dirty="0"/>
          </a:p>
        </p:txBody>
      </p:sp>
    </p:spTree>
    <p:extLst>
      <p:ext uri="{BB962C8B-B14F-4D97-AF65-F5344CB8AC3E}">
        <p14:creationId xmlns:p14="http://schemas.microsoft.com/office/powerpoint/2010/main" val="2946132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Amir wants to identify the datasets that contain the right variable for his study: a column representing biological sex.</a:t>
            </a:r>
          </a:p>
          <a:p>
            <a:endParaRPr lang="en-US" dirty="0"/>
          </a:p>
          <a:p>
            <a:r>
              <a:rPr lang="en-US" dirty="0"/>
              <a:t>Several datasets may look relevant at first glance. They all contain sex- or gender-related columns, and some of their values may look familiar. But Amir knows that visible labels alone are not enough.</a:t>
            </a:r>
          </a:p>
          <a:p>
            <a:endParaRPr lang="en-US" dirty="0"/>
          </a:p>
          <a:p>
            <a:r>
              <a:rPr lang="en-US" dirty="0"/>
              <a:t>So the question becomes: which of these datasets contains the variable that actually represents biological sex?</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17</a:t>
            </a:fld>
            <a:endParaRPr lang="en-US" dirty="0"/>
          </a:p>
        </p:txBody>
      </p:sp>
    </p:spTree>
    <p:extLst>
      <p:ext uri="{BB962C8B-B14F-4D97-AF65-F5344CB8AC3E}">
        <p14:creationId xmlns:p14="http://schemas.microsoft.com/office/powerpoint/2010/main" val="2131930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problem more generally, we start with a simple question: when can two datasets be safely reused together?</a:t>
            </a:r>
          </a:p>
          <a:p>
            <a:endParaRPr lang="en-US" dirty="0"/>
          </a:p>
          <a:p>
            <a:r>
              <a:rPr lang="en-US" dirty="0"/>
              <a:t>At the bottom, we have dataset columns. At the level above, we have standard concepts. A dataset column may implement a concept from a standard.</a:t>
            </a:r>
          </a:p>
          <a:p>
            <a:endParaRPr lang="en-US" dirty="0"/>
          </a:p>
          <a:p>
            <a:r>
              <a:rPr lang="en-US" dirty="0"/>
              <a:t>When the relevant columns from different datasets implement the same standard concept, that shared concept can provide a useful point of alignment.</a:t>
            </a:r>
          </a:p>
          <a:p>
            <a:endParaRPr lang="en-US" dirty="0"/>
          </a:p>
          <a:p>
            <a:r>
              <a:rPr lang="en-US" dirty="0"/>
              <a:t>However, this only works under two important conditions: the standard concept must be well defined, and the datasets must implement it correctly. </a:t>
            </a:r>
          </a:p>
          <a:p>
            <a:endParaRPr lang="en-US" dirty="0"/>
          </a:p>
          <a:p>
            <a:r>
              <a:rPr lang="en-US" dirty="0"/>
              <a:t>So, this model can support interoperability, but only when the shared standard concept is sufficiently precise and reliably used.</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18</a:t>
            </a:fld>
            <a:endParaRPr lang="en-US" dirty="0"/>
          </a:p>
        </p:txBody>
      </p:sp>
    </p:spTree>
    <p:extLst>
      <p:ext uri="{BB962C8B-B14F-4D97-AF65-F5344CB8AC3E}">
        <p14:creationId xmlns:p14="http://schemas.microsoft.com/office/powerpoint/2010/main" val="3914237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question is: what happens when two dataset columns do not implement the same standard concept? For example, can D1 and D2 be compared or combined safely?</a:t>
            </a:r>
          </a:p>
          <a:p>
            <a:endParaRPr lang="en-US" dirty="0"/>
          </a:p>
          <a:p>
            <a:r>
              <a:rPr lang="en-US" dirty="0"/>
              <a:t>If both columns point to the same well-defined standard concept, we have visible evidence of alignment. But if that shared concept is missing, indirect, or unclear, then interoperability is harder to assess.</a:t>
            </a:r>
          </a:p>
          <a:p>
            <a:endParaRPr lang="en-US" dirty="0"/>
          </a:p>
          <a:p>
            <a:r>
              <a:rPr lang="en-US" dirty="0"/>
              <a:t>Without explicit meanings, we can only see interoperability when datasets share the same standard concept.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19</a:t>
            </a:fld>
            <a:endParaRPr lang="en-US" dirty="0"/>
          </a:p>
        </p:txBody>
      </p:sp>
    </p:spTree>
    <p:extLst>
      <p:ext uri="{BB962C8B-B14F-4D97-AF65-F5344CB8AC3E}">
        <p14:creationId xmlns:p14="http://schemas.microsoft.com/office/powerpoint/2010/main" val="14183279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make the condition for semantic interoperability more explicit.</a:t>
            </a:r>
          </a:p>
          <a:p>
            <a:endParaRPr lang="en-US" dirty="0"/>
          </a:p>
          <a:p>
            <a:r>
              <a:rPr lang="en-US" dirty="0"/>
              <a:t>D1 and D2 may both appear relevant, and their concepts may belong to the same broad area. But once we look at the meanings layer, we see that they point to different meanings.</a:t>
            </a:r>
          </a:p>
          <a:p>
            <a:endParaRPr lang="en-US" dirty="0"/>
          </a:p>
          <a:p>
            <a:r>
              <a:rPr lang="en-US" dirty="0"/>
              <a:t>That difference matters. If the concepts do not share the same meaning, then the variables cannot be safely reused together.</a:t>
            </a:r>
          </a:p>
          <a:p>
            <a:endParaRPr lang="en-US" dirty="0"/>
          </a:p>
          <a:p>
            <a:r>
              <a:rPr lang="en-US" dirty="0"/>
              <a:t>So for Amir, this is a negative result: without shared meaning, these variables should not be treated as interoperable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20</a:t>
            </a:fld>
            <a:endParaRPr lang="en-US" dirty="0"/>
          </a:p>
        </p:txBody>
      </p:sp>
    </p:spTree>
    <p:extLst>
      <p:ext uri="{BB962C8B-B14F-4D97-AF65-F5344CB8AC3E}">
        <p14:creationId xmlns:p14="http://schemas.microsoft.com/office/powerpoint/2010/main" val="30447075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see the positive case.</a:t>
            </a:r>
          </a:p>
          <a:p>
            <a:endParaRPr lang="en-US" dirty="0"/>
          </a:p>
          <a:p>
            <a:r>
              <a:rPr lang="en-US" dirty="0"/>
              <a:t>D1 and D2 are connected to concepts that share the same meaning. This gives us a semantic basis for comparing or reusing them together.</a:t>
            </a:r>
          </a:p>
          <a:p>
            <a:endParaRPr lang="en-US" dirty="0"/>
          </a:p>
          <a:p>
            <a:r>
              <a:rPr lang="en-US" dirty="0"/>
              <a:t>However, semantic compatibility is only one part of interoperability. It is necessary, but not sufficient. Other aspects still matter, such as structure, values, formats, and implementation details.</a:t>
            </a:r>
          </a:p>
          <a:p>
            <a:endParaRPr lang="en-US" dirty="0"/>
          </a:p>
          <a:p>
            <a:r>
              <a:rPr lang="en-US" dirty="0"/>
              <a:t>So the conclusion here is cautious but positive: D1 and D2 meet the necessary condition for interoperability.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21</a:t>
            </a:fld>
            <a:endParaRPr lang="en-US" dirty="0"/>
          </a:p>
        </p:txBody>
      </p:sp>
    </p:spTree>
    <p:extLst>
      <p:ext uri="{BB962C8B-B14F-4D97-AF65-F5344CB8AC3E}">
        <p14:creationId xmlns:p14="http://schemas.microsoft.com/office/powerpoint/2010/main" val="2429760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4C521-4C4A-14A6-93D5-6FB26168E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9448B-58D7-1C9D-389D-BAF1E8C65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D8EC1-7287-93EA-B315-7E510E995DE4}"/>
              </a:ext>
            </a:extLst>
          </p:cNvPr>
          <p:cNvSpPr>
            <a:spLocks noGrp="1"/>
          </p:cNvSpPr>
          <p:nvPr>
            <p:ph type="body" idx="1"/>
          </p:nvPr>
        </p:nvSpPr>
        <p:spPr/>
        <p:txBody>
          <a:bodyPr/>
          <a:lstStyle/>
          <a:p>
            <a:r>
              <a:rPr lang="en-US" dirty="0"/>
              <a:t>Back in Amir’s situation.</a:t>
            </a:r>
          </a:p>
          <a:p>
            <a:endParaRPr lang="en-US" dirty="0"/>
          </a:p>
          <a:p>
            <a:r>
              <a:rPr lang="en-US" dirty="0"/>
              <a:t>At this point, the relevant meanings are clear in the conceptual model. Amir can see which concepts represent biological sex, legal gender, or administrative gender.</a:t>
            </a:r>
          </a:p>
          <a:p>
            <a:endParaRPr lang="en-US" dirty="0"/>
          </a:p>
          <a:p>
            <a:r>
              <a:rPr lang="en-US" dirty="0"/>
              <a:t>However, this still leaves Amir with a practical limitation. The meanings are known, but they are not yet computationally actionable.</a:t>
            </a:r>
          </a:p>
          <a:p>
            <a:endParaRPr lang="en-US" dirty="0"/>
          </a:p>
          <a:p>
            <a:r>
              <a:rPr lang="en-US" dirty="0"/>
              <a:t>The next step is to turn these conceptual meanings into machine-readable, </a:t>
            </a:r>
            <a:r>
              <a:rPr lang="en-US" dirty="0" err="1"/>
              <a:t>queryable</a:t>
            </a:r>
            <a:r>
              <a:rPr lang="en-US" dirty="0"/>
              <a:t>, and actionable relations.</a:t>
            </a:r>
            <a:endParaRPr lang="en-NL" dirty="0"/>
          </a:p>
        </p:txBody>
      </p:sp>
      <p:sp>
        <p:nvSpPr>
          <p:cNvPr id="4" name="Slide Number Placeholder 3">
            <a:extLst>
              <a:ext uri="{FF2B5EF4-FFF2-40B4-BE49-F238E27FC236}">
                <a16:creationId xmlns:a16="http://schemas.microsoft.com/office/drawing/2014/main" id="{C61448BC-A349-F4E1-3B8A-09D5726D36EF}"/>
              </a:ext>
            </a:extLst>
          </p:cNvPr>
          <p:cNvSpPr>
            <a:spLocks noGrp="1"/>
          </p:cNvSpPr>
          <p:nvPr>
            <p:ph type="sldNum" sz="quarter" idx="5"/>
          </p:nvPr>
        </p:nvSpPr>
        <p:spPr/>
        <p:txBody>
          <a:bodyPr/>
          <a:lstStyle/>
          <a:p>
            <a:fld id="{4B725628-3A68-42F4-BA86-981817953149}" type="slidenum">
              <a:rPr lang="en-US" smtClean="0"/>
              <a:t>22</a:t>
            </a:fld>
            <a:endParaRPr lang="en-US" dirty="0"/>
          </a:p>
        </p:txBody>
      </p:sp>
    </p:spTree>
    <p:extLst>
      <p:ext uri="{BB962C8B-B14F-4D97-AF65-F5344CB8AC3E}">
        <p14:creationId xmlns:p14="http://schemas.microsoft.com/office/powerpoint/2010/main" val="4041757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scenario, we introduced HRIO as a way to support conceptual clarification. It helped make meanings precise and explicit. But we now move from conceptual clarification to computational tractability.</a:t>
            </a:r>
          </a:p>
          <a:p>
            <a:endParaRPr lang="en-US" dirty="0"/>
          </a:p>
          <a:p>
            <a:r>
              <a:rPr lang="en-US" dirty="0"/>
              <a:t>This is where the computational version of HRIO comes in. It represents the relevant meanings and their relations in machine-readable form, so they can be queried, processed, and reused.</a:t>
            </a:r>
          </a:p>
          <a:p>
            <a:endParaRPr lang="en-US" dirty="0"/>
          </a:p>
          <a:p>
            <a:r>
              <a:rPr lang="en-US" dirty="0"/>
              <a:t>In other words, the computational ontology turns conceptual distinctions into something that can support Amir’s dataset discovery task.</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23</a:t>
            </a:fld>
            <a:endParaRPr lang="en-US" dirty="0"/>
          </a:p>
        </p:txBody>
      </p:sp>
    </p:spTree>
    <p:extLst>
      <p:ext uri="{BB962C8B-B14F-4D97-AF65-F5344CB8AC3E}">
        <p14:creationId xmlns:p14="http://schemas.microsoft.com/office/powerpoint/2010/main" val="2216385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214C-8238-E1A5-18D2-7912C18DD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C17F2-6411-5045-BEE3-9B35848C4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45450-BC4C-5235-F247-41D11087B9A7}"/>
              </a:ext>
            </a:extLst>
          </p:cNvPr>
          <p:cNvSpPr>
            <a:spLocks noGrp="1"/>
          </p:cNvSpPr>
          <p:nvPr>
            <p:ph type="body" idx="1"/>
          </p:nvPr>
        </p:nvSpPr>
        <p:spPr/>
        <p:txBody>
          <a:bodyPr/>
          <a:lstStyle/>
          <a:p>
            <a:r>
              <a:rPr lang="en-US" dirty="0"/>
              <a:t>We now reach the result of Scenario 2.</a:t>
            </a:r>
          </a:p>
          <a:p>
            <a:endParaRPr lang="en-US" dirty="0"/>
          </a:p>
          <a:p>
            <a:r>
              <a:rPr lang="en-US" dirty="0"/>
              <a:t>The meanings are now not only clear, but also computationally actionable. Amir can query for dataset columns that are mapped to the meaning he needs: biological sex, represented here as HRIO’s Sex.</a:t>
            </a:r>
          </a:p>
          <a:p>
            <a:endParaRPr lang="en-US" dirty="0"/>
          </a:p>
          <a:p>
            <a:r>
              <a:rPr lang="en-US" dirty="0"/>
              <a:t>In this example, the query returns the NPR Demographic Extract, because its column is mapped to the biological sex meaning.</a:t>
            </a:r>
          </a:p>
          <a:p>
            <a:endParaRPr lang="en-US" dirty="0"/>
          </a:p>
          <a:p>
            <a:r>
              <a:rPr lang="en-US" dirty="0"/>
              <a:t>So, Amir no longer has to rely only on labels or manual inspection. He can use explicit, machine-readable semantic relations to identify the dataset that contains the right variable for his study.</a:t>
            </a:r>
            <a:endParaRPr lang="en-NL" dirty="0"/>
          </a:p>
        </p:txBody>
      </p:sp>
      <p:sp>
        <p:nvSpPr>
          <p:cNvPr id="4" name="Slide Number Placeholder 3">
            <a:extLst>
              <a:ext uri="{FF2B5EF4-FFF2-40B4-BE49-F238E27FC236}">
                <a16:creationId xmlns:a16="http://schemas.microsoft.com/office/drawing/2014/main" id="{8ECC4602-0AE5-E8AF-2688-A4E3913B463C}"/>
              </a:ext>
            </a:extLst>
          </p:cNvPr>
          <p:cNvSpPr>
            <a:spLocks noGrp="1"/>
          </p:cNvSpPr>
          <p:nvPr>
            <p:ph type="sldNum" sz="quarter" idx="5"/>
          </p:nvPr>
        </p:nvSpPr>
        <p:spPr/>
        <p:txBody>
          <a:bodyPr/>
          <a:lstStyle/>
          <a:p>
            <a:fld id="{4B725628-3A68-42F4-BA86-981817953149}" type="slidenum">
              <a:rPr lang="en-US" smtClean="0"/>
              <a:t>24</a:t>
            </a:fld>
            <a:endParaRPr lang="en-US" dirty="0"/>
          </a:p>
        </p:txBody>
      </p:sp>
    </p:spTree>
    <p:extLst>
      <p:ext uri="{BB962C8B-B14F-4D97-AF65-F5344CB8AC3E}">
        <p14:creationId xmlns:p14="http://schemas.microsoft.com/office/powerpoint/2010/main" val="1906373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atin typeface="Aptos" panose="020B00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latin typeface="Aptos" panose="020B00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a:xfrm>
            <a:off x="1024129" y="6470704"/>
            <a:ext cx="2154143" cy="274320"/>
          </a:xfrm>
          <a:prstGeom prst="rect">
            <a:avLst/>
          </a:prstGeom>
        </p:spPr>
        <p:txBody>
          <a:bodyPr/>
          <a:lstStyle>
            <a:lvl1pPr algn="l">
              <a:defRPr>
                <a:latin typeface="Aptos" panose="020B0004020202020204" pitchFamily="34" charset="0"/>
              </a:defRPr>
            </a:lvl1pPr>
          </a:lstStyle>
          <a:p>
            <a:fld id="{99FE1E47-52F5-462E-80D5-1AFAA75EACED}" type="datetime1">
              <a:rPr lang="en-US" smtClean="0"/>
              <a:pPr/>
              <a:t>4/28/2026</a:t>
            </a:fld>
            <a:endParaRPr lang="en-US" dirty="0"/>
          </a:p>
        </p:txBody>
      </p:sp>
      <p:sp>
        <p:nvSpPr>
          <p:cNvPr id="5" name="Footer Placeholder 4"/>
          <p:cNvSpPr>
            <a:spLocks noGrp="1"/>
          </p:cNvSpPr>
          <p:nvPr>
            <p:ph type="ftr" sz="quarter" idx="11"/>
          </p:nvPr>
        </p:nvSpPr>
        <p:spPr/>
        <p:txBody>
          <a:bodyPr/>
          <a:lstStyle>
            <a:lvl1pPr>
              <a:defRPr>
                <a:latin typeface="Aptos" panose="020B0004020202020204" pitchFamily="34" charset="0"/>
              </a:defRPr>
            </a:lvl1pPr>
          </a:lstStyle>
          <a:p>
            <a:endParaRPr lang="en-US" dirty="0"/>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lvl1pP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95327" y="386001"/>
            <a:ext cx="9153523" cy="929259"/>
          </a:xfrm>
        </p:spPr>
        <p:txBody>
          <a:bodyPr>
            <a:noAutofit/>
          </a:bodyPr>
          <a:lstStyle>
            <a:lvl1pPr>
              <a:lnSpc>
                <a:spcPct val="100000"/>
              </a:lnSpc>
              <a:defRPr sz="4000" cap="small" baseline="0">
                <a:latin typeface="Aptos" panose="020B00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95325" y="1628776"/>
            <a:ext cx="10801349" cy="4321174"/>
          </a:xfrm>
        </p:spPr>
        <p:txBody>
          <a:bodyPr>
            <a:normAutofit/>
          </a:bodyPr>
          <a:lstStyle>
            <a:lvl1pPr marL="91440" indent="360000">
              <a:lnSpc>
                <a:spcPct val="105000"/>
              </a:lnSpc>
              <a:spcBef>
                <a:spcPts val="600"/>
              </a:spcBef>
              <a:spcAft>
                <a:spcPts val="600"/>
              </a:spcAft>
              <a:buClr>
                <a:schemeClr val="tx1"/>
              </a:buClr>
              <a:buSzPct val="115000"/>
              <a:buFont typeface="Arial" panose="020B0604020202020204" pitchFamily="34" charset="0"/>
              <a:buChar char="•"/>
              <a:defRPr sz="2400">
                <a:latin typeface="Aptos" panose="020B0004020202020204" pitchFamily="34" charset="0"/>
              </a:defRPr>
            </a:lvl1pPr>
            <a:lvl2pPr marL="265176" indent="360000">
              <a:lnSpc>
                <a:spcPct val="105000"/>
              </a:lnSpc>
              <a:spcBef>
                <a:spcPts val="600"/>
              </a:spcBef>
              <a:spcAft>
                <a:spcPts val="600"/>
              </a:spcAft>
              <a:buClr>
                <a:schemeClr val="tx1"/>
              </a:buClr>
              <a:buSzPct val="115000"/>
              <a:buFont typeface="Arial" panose="020B0604020202020204" pitchFamily="34" charset="0"/>
              <a:buChar char="•"/>
              <a:defRPr sz="2000">
                <a:latin typeface="Aptos" panose="020B0004020202020204" pitchFamily="34" charset="0"/>
              </a:defRPr>
            </a:lvl2pPr>
            <a:lvl3pPr marL="448056"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3pPr>
            <a:lvl4pPr marL="594360"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4pPr>
            <a:lvl5pPr marL="777240" indent="360000">
              <a:lnSpc>
                <a:spcPct val="105000"/>
              </a:lnSpc>
              <a:spcBef>
                <a:spcPts val="600"/>
              </a:spcBef>
              <a:spcAft>
                <a:spcPts val="0"/>
              </a:spcAft>
              <a:buClr>
                <a:schemeClr val="tx1"/>
              </a:buClr>
              <a:buSzPct val="115000"/>
              <a:buFont typeface="Arial" panose="020B0604020202020204" pitchFamily="34" charset="0"/>
              <a:buChar char="•"/>
              <a:defRPr sz="16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1580875" y="6443841"/>
            <a:ext cx="505587" cy="274320"/>
          </a:xfrm>
          <a:prstGeom prst="rect">
            <a:avLst/>
          </a:prstGeom>
        </p:spPr>
        <p:txBody>
          <a:bodyPr anchor="ctr"/>
          <a:lstStyle>
            <a:lvl1pPr algn="ct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a:extLst>
              <a:ext uri="{FF2B5EF4-FFF2-40B4-BE49-F238E27FC236}">
                <a16:creationId xmlns:a16="http://schemas.microsoft.com/office/drawing/2014/main" id="{34F72B13-EBFD-FC3A-4BCC-37D345ED1AC1}"/>
              </a:ext>
            </a:extLst>
          </p:cNvPr>
          <p:cNvCxnSpPr>
            <a:cxnSpLocks/>
          </p:cNvCxnSpPr>
          <p:nvPr userDrawn="1"/>
        </p:nvCxnSpPr>
        <p:spPr>
          <a:xfrm>
            <a:off x="557403" y="383095"/>
            <a:ext cx="0" cy="94088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E6F258B6-76A2-C454-164F-C3F41A9FF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14766" y="78400"/>
            <a:ext cx="2200271" cy="772230"/>
          </a:xfrm>
          <a:prstGeom prst="rect">
            <a:avLst/>
          </a:prstGeom>
        </p:spPr>
      </p:pic>
      <p:sp>
        <p:nvSpPr>
          <p:cNvPr id="1552" name="TextBox 1551">
            <a:extLst>
              <a:ext uri="{FF2B5EF4-FFF2-40B4-BE49-F238E27FC236}">
                <a16:creationId xmlns:a16="http://schemas.microsoft.com/office/drawing/2014/main" id="{FE1E9B33-2745-F48B-3BF2-2014C9BD3E07}"/>
              </a:ext>
            </a:extLst>
          </p:cNvPr>
          <p:cNvSpPr txBox="1"/>
          <p:nvPr userDrawn="1"/>
        </p:nvSpPr>
        <p:spPr>
          <a:xfrm>
            <a:off x="695325" y="6304002"/>
            <a:ext cx="4435830" cy="553998"/>
          </a:xfrm>
          <a:prstGeom prst="rect">
            <a:avLst/>
          </a:prstGeom>
          <a:noFill/>
        </p:spPr>
        <p:txBody>
          <a:bodyPr wrap="none" rtlCol="0">
            <a:spAutoFit/>
          </a:bodyPr>
          <a:lstStyle/>
          <a:p>
            <a:pPr algn="l"/>
            <a:r>
              <a:rPr lang="en-US" sz="1000" b="1" i="0" dirty="0">
                <a:solidFill>
                  <a:srgbClr val="15467B"/>
                </a:solidFill>
                <a:latin typeface="Atkinson Hyperlegible Mono" panose="02000009000000000000" pitchFamily="49" charset="0"/>
                <a:cs typeface="Aharoni" panose="020F0502020204030204" pitchFamily="2" charset="-79"/>
              </a:rPr>
              <a:t>Health-RI</a:t>
            </a:r>
          </a:p>
          <a:p>
            <a:pPr algn="l"/>
            <a:r>
              <a:rPr lang="en-US" sz="1000" b="1" i="0" dirty="0">
                <a:solidFill>
                  <a:srgbClr val="15467B"/>
                </a:solidFill>
                <a:latin typeface="Atkinson Hyperlegible Mono" panose="02000009000000000000" pitchFamily="49" charset="0"/>
                <a:cs typeface="Aharoni" panose="020F0502020204030204" pitchFamily="2" charset="-79"/>
              </a:rPr>
              <a:t>Semantic Interoperability Initiative</a:t>
            </a:r>
          </a:p>
          <a:p>
            <a:pPr algn="l"/>
            <a:r>
              <a:rPr lang="en-US" sz="1000" b="0" i="0" dirty="0">
                <a:solidFill>
                  <a:srgbClr val="15467B"/>
                </a:solidFill>
                <a:latin typeface="Atkinson Hyperlegible Mono" panose="02000009000000000000" pitchFamily="49" charset="0"/>
                <a:cs typeface="Aharoni" panose="020F0502020204030204" pitchFamily="2" charset="-79"/>
              </a:rPr>
              <a:t>https://w3id.org/health-ri/semantic-interoperability</a:t>
            </a:r>
            <a:endParaRPr lang="en-NL" sz="1000" b="0" i="0" dirty="0">
              <a:solidFill>
                <a:srgbClr val="15467B"/>
              </a:solidFill>
              <a:latin typeface="Atkinson Hyperlegible Mono" panose="02000009000000000000" pitchFamily="49" charset="0"/>
              <a:cs typeface="Aharoni" panose="020F0502020204030204" pitchFamily="2" charset="-79"/>
            </a:endParaRPr>
          </a:p>
        </p:txBody>
      </p:sp>
      <p:pic>
        <p:nvPicPr>
          <p:cNvPr id="1553" name="Picture 1552">
            <a:extLst>
              <a:ext uri="{FF2B5EF4-FFF2-40B4-BE49-F238E27FC236}">
                <a16:creationId xmlns:a16="http://schemas.microsoft.com/office/drawing/2014/main" id="{F374156B-0C5B-3EB0-196C-219F6B055071}"/>
              </a:ext>
            </a:extLst>
          </p:cNvPr>
          <p:cNvPicPr>
            <a:picLocks noChangeAspect="1"/>
          </p:cNvPicPr>
          <p:nvPr userDrawn="1"/>
        </p:nvPicPr>
        <p:blipFill>
          <a:blip r:embed="rId3">
            <a:clrChange>
              <a:clrFrom>
                <a:srgbClr val="FFFFFF"/>
              </a:clrFrom>
              <a:clrTo>
                <a:srgbClr val="FFFFFF">
                  <a:alpha val="0"/>
                </a:srgbClr>
              </a:clrTo>
            </a:clrChange>
            <a:duotone>
              <a:schemeClr val="accent1">
                <a:shade val="45000"/>
                <a:satMod val="135000"/>
              </a:schemeClr>
              <a:prstClr val="white"/>
            </a:duotone>
          </a:blip>
          <a:stretch>
            <a:fillRect/>
          </a:stretch>
        </p:blipFill>
        <p:spPr>
          <a:xfrm>
            <a:off x="12573" y="6176772"/>
            <a:ext cx="682752" cy="681228"/>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orient="horz" pos="1026" userDrawn="1">
          <p15:clr>
            <a:srgbClr val="FBAE40"/>
          </p15:clr>
        </p15:guide>
        <p15:guide id="6" orient="horz" pos="3748" userDrawn="1">
          <p15:clr>
            <a:srgbClr val="FBAE40"/>
          </p15:clr>
        </p15:guide>
        <p15:guide id="7" orient="horz" pos="2387"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Aptos" panose="020B0004020202020204" pitchFamily="34" charset="0"/>
              </a:defRPr>
            </a:lvl1pPr>
          </a:lstStyle>
          <a:p>
            <a:fld id="{59AB8727-0C24-4D04-B5CC-46C87A542BBE}" type="datetime1">
              <a:rPr lang="en-US" smtClean="0"/>
              <a:pPr/>
              <a:t>4/28/2026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Aptos" panose="020B0004020202020204" pitchFamily="34" charset="0"/>
              </a:defRPr>
            </a:lvl1pPr>
          </a:lstStyle>
          <a:p>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A close-up of a logo&#10;&#10;AI-generated content may be incorrect.">
            <a:extLst>
              <a:ext uri="{FF2B5EF4-FFF2-40B4-BE49-F238E27FC236}">
                <a16:creationId xmlns:a16="http://schemas.microsoft.com/office/drawing/2014/main" id="{AA2AD037-21F9-ABBE-4E61-3C198569BE7D}"/>
              </a:ext>
            </a:extLst>
          </p:cNvPr>
          <p:cNvPicPr>
            <a:picLocks noChangeAspect="1"/>
          </p:cNvPicPr>
          <p:nvPr userDrawn="1"/>
        </p:nvPicPr>
        <p:blipFill>
          <a:blip r:embed="rId4"/>
          <a:stretch>
            <a:fillRect/>
          </a:stretch>
        </p:blipFill>
        <p:spPr>
          <a:xfrm>
            <a:off x="216117" y="6204748"/>
            <a:ext cx="2717584" cy="5402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80000"/>
        </a:lnSpc>
        <a:spcBef>
          <a:spcPct val="0"/>
        </a:spcBef>
        <a:buNone/>
        <a:defRPr sz="4000" kern="1200" cap="all" spc="100" baseline="0">
          <a:solidFill>
            <a:schemeClr val="tx1">
              <a:lumMod val="95000"/>
              <a:lumOff val="5000"/>
            </a:schemeClr>
          </a:solidFill>
          <a:latin typeface="Aptos" panose="020B0004020202020204" pitchFamily="34"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Aptos" panose="020B0004020202020204" pitchFamily="34" charset="0"/>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wav"/><Relationship Id="rId1" Type="http://schemas.microsoft.com/office/2007/relationships/media" Target="../media/media1.wav"/><Relationship Id="rId5" Type="http://schemas.openxmlformats.org/officeDocument/2006/relationships/image" Target="../media/image2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2.xml"/><Relationship Id="rId7" Type="http://schemas.openxmlformats.org/officeDocument/2006/relationships/image" Target="../media/image18.png"/><Relationship Id="rId2" Type="http://schemas.openxmlformats.org/officeDocument/2006/relationships/audio" Target="../media/media2.wav"/><Relationship Id="rId1" Type="http://schemas.microsoft.com/office/2007/relationships/media" Target="../media/media2.wav"/><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8.png"/><Relationship Id="rId4" Type="http://schemas.openxmlformats.org/officeDocument/2006/relationships/notesSlide" Target="../notesSlides/notesSlide23.xml"/><Relationship Id="rId9" Type="http://schemas.openxmlformats.org/officeDocument/2006/relationships/image" Target="../media/image20.sv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wav"/><Relationship Id="rId1" Type="http://schemas.microsoft.com/office/2007/relationships/media" Target="../media/media3.wav"/><Relationship Id="rId5" Type="http://schemas.openxmlformats.org/officeDocument/2006/relationships/image" Target="../media/image28.png"/><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ctr">
            <a:noAutofit/>
          </a:bodyPr>
          <a:lstStyle/>
          <a:p>
            <a:r>
              <a:rPr lang="en-US" sz="3200" dirty="0">
                <a:solidFill>
                  <a:srgbClr val="FFFFFF"/>
                </a:solidFill>
              </a:rPr>
              <a:t>Applied Use Cases of </a:t>
            </a:r>
            <a:br>
              <a:rPr lang="en-US" sz="3200" dirty="0">
                <a:solidFill>
                  <a:srgbClr val="FFFFFF"/>
                </a:solidFill>
              </a:rPr>
            </a:br>
            <a:r>
              <a:rPr lang="en-US" sz="3200" b="1" dirty="0">
                <a:solidFill>
                  <a:srgbClr val="FFFFFF"/>
                </a:solidFill>
              </a:rPr>
              <a:t>the Health-RI Semantic Interoperability Initiative</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70000" lnSpcReduction="20000"/>
          </a:bodyPr>
          <a:lstStyle/>
          <a:p>
            <a:pPr algn="r"/>
            <a:r>
              <a:rPr lang="en-US" sz="2000" i="1" dirty="0">
                <a:solidFill>
                  <a:srgbClr val="FFFFFF"/>
                </a:solidFill>
              </a:rPr>
              <a:t>Pedro Paulo F. Barcelos,</a:t>
            </a:r>
            <a:r>
              <a:rPr lang="en-US" sz="2000" dirty="0">
                <a:solidFill>
                  <a:srgbClr val="FFFFFF"/>
                </a:solidFill>
              </a:rPr>
              <a:t> </a:t>
            </a:r>
            <a:r>
              <a:rPr lang="en-US" sz="2000" i="1" dirty="0">
                <a:solidFill>
                  <a:srgbClr val="FFFFFF"/>
                </a:solidFill>
              </a:rPr>
              <a:t>Niek van </a:t>
            </a:r>
            <a:r>
              <a:rPr lang="en-US" sz="2000" i="1" dirty="0" err="1">
                <a:solidFill>
                  <a:srgbClr val="FFFFFF"/>
                </a:solidFill>
              </a:rPr>
              <a:t>Ulzen</a:t>
            </a:r>
            <a:r>
              <a:rPr lang="en-US" sz="2000" i="1" dirty="0">
                <a:solidFill>
                  <a:srgbClr val="FFFFFF"/>
                </a:solidFill>
              </a:rPr>
              <a:t>, Reinier Groeneveld, </a:t>
            </a:r>
          </a:p>
          <a:p>
            <a:pPr algn="r"/>
            <a:r>
              <a:rPr lang="en-US" sz="2000" i="1" dirty="0">
                <a:solidFill>
                  <a:srgbClr val="FFFFFF"/>
                </a:solidFill>
              </a:rPr>
              <a:t>Ana Konrad, Douwe </a:t>
            </a:r>
            <a:r>
              <a:rPr lang="en-US" sz="2000" i="1" dirty="0" err="1">
                <a:solidFill>
                  <a:srgbClr val="FFFFFF"/>
                </a:solidFill>
              </a:rPr>
              <a:t>Spaanderman</a:t>
            </a:r>
            <a:r>
              <a:rPr lang="en-US" sz="2000" i="1" dirty="0">
                <a:solidFill>
                  <a:srgbClr val="FFFFFF"/>
                </a:solidFill>
              </a:rPr>
              <a:t>, and </a:t>
            </a:r>
            <a:r>
              <a:rPr lang="en-US" sz="2000" i="1" dirty="0" err="1">
                <a:solidFill>
                  <a:srgbClr val="FFFFFF"/>
                </a:solidFill>
              </a:rPr>
              <a:t>Shuxin</a:t>
            </a:r>
            <a:r>
              <a:rPr lang="en-US" sz="2000" i="1" dirty="0">
                <a:solidFill>
                  <a:srgbClr val="FFFFFF"/>
                </a:solidFill>
              </a:rPr>
              <a:t> Zhang</a:t>
            </a:r>
          </a:p>
          <a:p>
            <a:pPr algn="r"/>
            <a:endParaRPr lang="en-US" sz="2000" i="1" dirty="0">
              <a:solidFill>
                <a:srgbClr val="FFFFFF"/>
              </a:solidFill>
            </a:endParaRP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Graphic 3">
            <a:extLst>
              <a:ext uri="{FF2B5EF4-FFF2-40B4-BE49-F238E27FC236}">
                <a16:creationId xmlns:a16="http://schemas.microsoft.com/office/drawing/2014/main" id="{11F8F97E-9DBB-832B-96BE-09367EDA5E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4753" y="5554033"/>
            <a:ext cx="3736135" cy="1311271"/>
          </a:xfrm>
          <a:prstGeom prst="rect">
            <a:avLst/>
          </a:prstGeom>
        </p:spPr>
      </p:pic>
    </p:spTree>
    <p:extLst>
      <p:ext uri="{BB962C8B-B14F-4D97-AF65-F5344CB8AC3E}">
        <p14:creationId xmlns:p14="http://schemas.microsoft.com/office/powerpoint/2010/main" val="2806257027"/>
      </p:ext>
    </p:extLst>
  </p:cSld>
  <p:clrMapOvr>
    <a:masterClrMapping/>
  </p:clrMapOvr>
  <mc:AlternateContent xmlns:mc="http://schemas.openxmlformats.org/markup-compatibility/2006" xmlns:p14="http://schemas.microsoft.com/office/powerpoint/2010/main">
    <mc:Choice Requires="p14">
      <p:transition spd="slow" p14:dur="2000" advClick="0" advTm="28240"/>
    </mc:Choice>
    <mc:Fallback xmlns="">
      <p:transition spd="slow" advClick="0" advTm="2824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9DD79-BC21-045D-47F6-B359C2B8349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DA63EF1-83B1-1046-D02F-FEB7EC477EF7}"/>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10" name="TextBox 9">
            <a:extLst>
              <a:ext uri="{FF2B5EF4-FFF2-40B4-BE49-F238E27FC236}">
                <a16:creationId xmlns:a16="http://schemas.microsoft.com/office/drawing/2014/main" id="{30EC6402-A8E4-A66D-43CF-CEC13D3F8A67}"/>
              </a:ext>
            </a:extLst>
          </p:cNvPr>
          <p:cNvSpPr txBox="1"/>
          <p:nvPr/>
        </p:nvSpPr>
        <p:spPr>
          <a:xfrm>
            <a:off x="6094197" y="5488284"/>
            <a:ext cx="5398870" cy="461665"/>
          </a:xfrm>
          <a:prstGeom prst="rect">
            <a:avLst/>
          </a:prstGeom>
          <a:solidFill>
            <a:schemeClr val="accent2">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defPPr>
              <a:defRPr lang="en-US"/>
            </a:defPPr>
            <a:lvl1pPr>
              <a:defRPr sz="2400" b="1"/>
            </a:lvl1pPr>
          </a:lstStyle>
          <a:p>
            <a:pPr algn="ctr"/>
            <a:r>
              <a:rPr lang="en-US" dirty="0">
                <a:solidFill>
                  <a:schemeClr val="accent2">
                    <a:lumMod val="50000"/>
                  </a:schemeClr>
                </a:solidFill>
              </a:rPr>
              <a:t>Inge de Boer — Data Steward</a:t>
            </a:r>
          </a:p>
        </p:txBody>
      </p:sp>
      <p:sp>
        <p:nvSpPr>
          <p:cNvPr id="2" name="Title 1">
            <a:extLst>
              <a:ext uri="{FF2B5EF4-FFF2-40B4-BE49-F238E27FC236}">
                <a16:creationId xmlns:a16="http://schemas.microsoft.com/office/drawing/2014/main" id="{8ACB5CD6-5DA5-2CEA-062E-B1349FE85A1E}"/>
              </a:ext>
            </a:extLst>
          </p:cNvPr>
          <p:cNvSpPr>
            <a:spLocks noGrp="1"/>
          </p:cNvSpPr>
          <p:nvPr>
            <p:ph type="title"/>
          </p:nvPr>
        </p:nvSpPr>
        <p:spPr/>
        <p:txBody>
          <a:bodyPr/>
          <a:lstStyle/>
          <a:p>
            <a:r>
              <a:rPr lang="en-US" sz="3600" dirty="0"/>
              <a:t>Primary User Roles</a:t>
            </a:r>
            <a:endParaRPr lang="en-NL" sz="3600" dirty="0"/>
          </a:p>
        </p:txBody>
      </p:sp>
      <p:sp>
        <p:nvSpPr>
          <p:cNvPr id="4" name="Slide Number Placeholder 3">
            <a:extLst>
              <a:ext uri="{FF2B5EF4-FFF2-40B4-BE49-F238E27FC236}">
                <a16:creationId xmlns:a16="http://schemas.microsoft.com/office/drawing/2014/main" id="{17CF79CE-C286-6E61-83C6-A399CE565E5B}"/>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
        <p:nvSpPr>
          <p:cNvPr id="5" name="TextBox 4">
            <a:extLst>
              <a:ext uri="{FF2B5EF4-FFF2-40B4-BE49-F238E27FC236}">
                <a16:creationId xmlns:a16="http://schemas.microsoft.com/office/drawing/2014/main" id="{068EA33D-2427-9EC9-FB5C-5E139CB99096}"/>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nchor="ctr">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Tree>
    <p:extLst>
      <p:ext uri="{BB962C8B-B14F-4D97-AF65-F5344CB8AC3E}">
        <p14:creationId xmlns:p14="http://schemas.microsoft.com/office/powerpoint/2010/main" val="686720732"/>
      </p:ext>
    </p:extLst>
  </p:cSld>
  <p:clrMapOvr>
    <a:masterClrMapping/>
  </p:clrMapOvr>
  <mc:AlternateContent xmlns:mc="http://schemas.openxmlformats.org/markup-compatibility/2006" xmlns:p14="http://schemas.microsoft.com/office/powerpoint/2010/main">
    <mc:Choice Requires="p14">
      <p:transition spd="slow" p14:dur="2000" advClick="0" advTm="35310"/>
    </mc:Choice>
    <mc:Fallback xmlns="">
      <p:transition spd="slow" advClick="0" advTm="3531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A4B5-9CE0-0E7A-1C76-4A292BE135F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6330AC1-A43F-C0C9-DFF2-49BCF3B25AA1}"/>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10" name="TextBox 9">
            <a:extLst>
              <a:ext uri="{FF2B5EF4-FFF2-40B4-BE49-F238E27FC236}">
                <a16:creationId xmlns:a16="http://schemas.microsoft.com/office/drawing/2014/main" id="{CCCD1DD0-DFCB-02AF-697E-AEE17850252E}"/>
              </a:ext>
            </a:extLst>
          </p:cNvPr>
          <p:cNvSpPr txBox="1"/>
          <p:nvPr/>
        </p:nvSpPr>
        <p:spPr>
          <a:xfrm>
            <a:off x="6094197" y="5488284"/>
            <a:ext cx="5398870" cy="461665"/>
          </a:xfrm>
          <a:prstGeom prst="rect">
            <a:avLst/>
          </a:prstGeom>
          <a:solidFill>
            <a:schemeClr val="accent2">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defPPr>
              <a:defRPr lang="en-US"/>
            </a:defPPr>
            <a:lvl1pPr>
              <a:defRPr sz="2400" b="1"/>
            </a:lvl1pPr>
          </a:lstStyle>
          <a:p>
            <a:pPr algn="ctr"/>
            <a:r>
              <a:rPr lang="en-US" dirty="0">
                <a:solidFill>
                  <a:schemeClr val="accent2">
                    <a:lumMod val="50000"/>
                  </a:schemeClr>
                </a:solidFill>
              </a:rPr>
              <a:t>Inge de Boer — Data Steward</a:t>
            </a:r>
          </a:p>
        </p:txBody>
      </p:sp>
      <p:sp>
        <p:nvSpPr>
          <p:cNvPr id="2" name="Title 1">
            <a:extLst>
              <a:ext uri="{FF2B5EF4-FFF2-40B4-BE49-F238E27FC236}">
                <a16:creationId xmlns:a16="http://schemas.microsoft.com/office/drawing/2014/main" id="{F563D5D0-928F-765F-2F97-4E1BE0AD6641}"/>
              </a:ext>
            </a:extLst>
          </p:cNvPr>
          <p:cNvSpPr>
            <a:spLocks noGrp="1"/>
          </p:cNvSpPr>
          <p:nvPr>
            <p:ph type="title"/>
          </p:nvPr>
        </p:nvSpPr>
        <p:spPr/>
        <p:txBody>
          <a:bodyPr/>
          <a:lstStyle/>
          <a:p>
            <a:r>
              <a:rPr lang="en-US" sz="3600" dirty="0"/>
              <a:t>Amir Hassan: Research Goal and Challenge</a:t>
            </a:r>
            <a:endParaRPr lang="en-NL" sz="3600" dirty="0"/>
          </a:p>
        </p:txBody>
      </p:sp>
      <p:sp>
        <p:nvSpPr>
          <p:cNvPr id="4" name="Slide Number Placeholder 3">
            <a:extLst>
              <a:ext uri="{FF2B5EF4-FFF2-40B4-BE49-F238E27FC236}">
                <a16:creationId xmlns:a16="http://schemas.microsoft.com/office/drawing/2014/main" id="{E0A20D24-8B52-DDAE-27AE-C4BFC8377BAF}"/>
              </a:ext>
            </a:extLst>
          </p:cNvPr>
          <p:cNvSpPr>
            <a:spLocks noGrp="1"/>
          </p:cNvSpPr>
          <p:nvPr>
            <p:ph type="sldNum" sz="quarter" idx="12"/>
          </p:nvPr>
        </p:nvSpPr>
        <p:spPr/>
        <p:txBody>
          <a:bodyPr/>
          <a:lstStyle/>
          <a:p>
            <a:fld id="{4FAB73BC-B049-4115-A692-8D63A059BFB8}" type="slidenum">
              <a:rPr lang="en-US" smtClean="0"/>
              <a:pPr/>
              <a:t>3</a:t>
            </a:fld>
            <a:endParaRPr lang="en-US" dirty="0"/>
          </a:p>
        </p:txBody>
      </p:sp>
      <p:sp>
        <p:nvSpPr>
          <p:cNvPr id="11" name="Rectangle 10">
            <a:extLst>
              <a:ext uri="{FF2B5EF4-FFF2-40B4-BE49-F238E27FC236}">
                <a16:creationId xmlns:a16="http://schemas.microsoft.com/office/drawing/2014/main" id="{1832A84C-B6B9-82F9-0572-8097BC9A0165}"/>
              </a:ext>
            </a:extLst>
          </p:cNvPr>
          <p:cNvSpPr/>
          <p:nvPr/>
        </p:nvSpPr>
        <p:spPr>
          <a:xfrm>
            <a:off x="6091381" y="1628775"/>
            <a:ext cx="5397858"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r>
              <a:rPr lang="en-US" sz="2000" b="1" i="1" dirty="0">
                <a:solidFill>
                  <a:schemeClr val="tx1"/>
                </a:solidFill>
              </a:rPr>
              <a:t>Amir</a:t>
            </a:r>
            <a:r>
              <a:rPr lang="en-US" sz="2000" i="1" dirty="0">
                <a:solidFill>
                  <a:schemeClr val="tx1"/>
                </a:solidFill>
              </a:rPr>
              <a:t> is studying whether treatment outcomes differ across patient groups and needs to stratify his cohort using the correct sex/gender-related variable.</a:t>
            </a:r>
          </a:p>
          <a:p>
            <a:endParaRPr lang="en-US" sz="1200" i="1" dirty="0">
              <a:solidFill>
                <a:schemeClr val="tx1"/>
              </a:solidFill>
            </a:endParaRPr>
          </a:p>
          <a:p>
            <a:r>
              <a:rPr lang="en-US" sz="2000" i="1" dirty="0">
                <a:solidFill>
                  <a:schemeClr val="tx1"/>
                </a:solidFill>
              </a:rPr>
              <a:t>Before requesting data, he must identify which datasets contain the right concept and whether those variables are semantically compatible across institutions.</a:t>
            </a:r>
            <a:endParaRPr lang="en-NL" sz="2000" i="1" dirty="0">
              <a:solidFill>
                <a:schemeClr val="tx1"/>
              </a:solidFill>
            </a:endParaRPr>
          </a:p>
        </p:txBody>
      </p:sp>
      <p:sp>
        <p:nvSpPr>
          <p:cNvPr id="3" name="TextBox 2">
            <a:extLst>
              <a:ext uri="{FF2B5EF4-FFF2-40B4-BE49-F238E27FC236}">
                <a16:creationId xmlns:a16="http://schemas.microsoft.com/office/drawing/2014/main" id="{BA945E14-5509-99A3-E817-A3161D6BA80C}"/>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nchor="ctr">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Tree>
    <p:extLst>
      <p:ext uri="{BB962C8B-B14F-4D97-AF65-F5344CB8AC3E}">
        <p14:creationId xmlns:p14="http://schemas.microsoft.com/office/powerpoint/2010/main" val="3172989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4967-4023-1260-2A2D-CD078C8EE97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95CDC21-1125-CC7B-1EF8-53E9EE7846DB}"/>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30ED2438-14C2-2994-B5BA-886487827E0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14F49214-4CE0-AE98-270C-7CEDC205D0DD}"/>
              </a:ext>
            </a:extLst>
          </p:cNvPr>
          <p:cNvSpPr>
            <a:spLocks noGrp="1"/>
          </p:cNvSpPr>
          <p:nvPr>
            <p:ph type="title"/>
          </p:nvPr>
        </p:nvSpPr>
        <p:spPr/>
        <p:txBody>
          <a:bodyPr/>
          <a:lstStyle/>
          <a:p>
            <a:r>
              <a:rPr lang="en-US" sz="3600" dirty="0"/>
              <a:t>Amir’s End-to-End Workflow</a:t>
            </a:r>
            <a:endParaRPr lang="en-NL" sz="3600" dirty="0"/>
          </a:p>
        </p:txBody>
      </p:sp>
      <p:graphicFrame>
        <p:nvGraphicFramePr>
          <p:cNvPr id="5" name="Content Placeholder 4">
            <a:extLst>
              <a:ext uri="{FF2B5EF4-FFF2-40B4-BE49-F238E27FC236}">
                <a16:creationId xmlns:a16="http://schemas.microsoft.com/office/drawing/2014/main" id="{51CEB8B4-CD90-A6FC-E173-CB30E30A5340}"/>
              </a:ext>
            </a:extLst>
          </p:cNvPr>
          <p:cNvGraphicFramePr>
            <a:graphicFrameLocks noGrp="1"/>
          </p:cNvGraphicFramePr>
          <p:nvPr>
            <p:ph idx="1"/>
            <p:extLst>
              <p:ext uri="{D42A27DB-BD31-4B8C-83A1-F6EECF244321}">
                <p14:modId xmlns:p14="http://schemas.microsoft.com/office/powerpoint/2010/main" val="745334848"/>
              </p:ext>
            </p:extLst>
          </p:nvPr>
        </p:nvGraphicFramePr>
        <p:xfrm>
          <a:off x="5284332" y="1824595"/>
          <a:ext cx="6053963" cy="39295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a:extLst>
              <a:ext uri="{FF2B5EF4-FFF2-40B4-BE49-F238E27FC236}">
                <a16:creationId xmlns:a16="http://schemas.microsoft.com/office/drawing/2014/main" id="{76514581-538E-99F3-2C71-25569D493BA0}"/>
              </a:ext>
            </a:extLst>
          </p:cNvPr>
          <p:cNvSpPr>
            <a:spLocks noGrp="1"/>
          </p:cNvSpPr>
          <p:nvPr>
            <p:ph type="sldNum" sz="quarter" idx="12"/>
          </p:nvPr>
        </p:nvSpPr>
        <p:spPr/>
        <p:txBody>
          <a:bodyPr/>
          <a:lstStyle/>
          <a:p>
            <a:fld id="{4FAB73BC-B049-4115-A692-8D63A059BFB8}" type="slidenum">
              <a:rPr lang="en-US" smtClean="0"/>
              <a:pPr/>
              <a:t>4</a:t>
            </a:fld>
            <a:endParaRPr lang="en-US" dirty="0"/>
          </a:p>
        </p:txBody>
      </p:sp>
      <p:sp>
        <p:nvSpPr>
          <p:cNvPr id="3" name="TextBox 2">
            <a:extLst>
              <a:ext uri="{FF2B5EF4-FFF2-40B4-BE49-F238E27FC236}">
                <a16:creationId xmlns:a16="http://schemas.microsoft.com/office/drawing/2014/main" id="{6251A294-1E6F-FB11-E7BB-2DB635A91604}"/>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nchor="ctr">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Tree>
    <p:extLst>
      <p:ext uri="{BB962C8B-B14F-4D97-AF65-F5344CB8AC3E}">
        <p14:creationId xmlns:p14="http://schemas.microsoft.com/office/powerpoint/2010/main" val="4042098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0DAF-7D7B-7006-AAD4-327B26717FD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0194285-2BAF-18BE-66A1-823EA171E0DC}"/>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4EC27650-E3C0-B209-09BC-B0EA88AD7652}"/>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21D72472-6695-E9FB-12F7-656F6C416189}"/>
              </a:ext>
            </a:extLst>
          </p:cNvPr>
          <p:cNvSpPr>
            <a:spLocks noGrp="1"/>
          </p:cNvSpPr>
          <p:nvPr>
            <p:ph type="title"/>
          </p:nvPr>
        </p:nvSpPr>
        <p:spPr>
          <a:xfrm>
            <a:off x="695327" y="386001"/>
            <a:ext cx="9486898" cy="929259"/>
          </a:xfrm>
        </p:spPr>
        <p:txBody>
          <a:bodyPr/>
          <a:lstStyle/>
          <a:p>
            <a:r>
              <a:rPr lang="en-US" sz="3600" b="1" dirty="0"/>
              <a:t>Scenario 1: Clarify Meanings Before Reuse</a:t>
            </a:r>
            <a:endParaRPr lang="en-NL" sz="3600" b="1" dirty="0"/>
          </a:p>
        </p:txBody>
      </p:sp>
      <p:sp>
        <p:nvSpPr>
          <p:cNvPr id="7" name="Freeform: Shape 6">
            <a:extLst>
              <a:ext uri="{FF2B5EF4-FFF2-40B4-BE49-F238E27FC236}">
                <a16:creationId xmlns:a16="http://schemas.microsoft.com/office/drawing/2014/main" id="{679F8B64-881B-0720-8728-C5C7BC03C535}"/>
              </a:ext>
            </a:extLst>
          </p:cNvPr>
          <p:cNvSpPr/>
          <p:nvPr/>
        </p:nvSpPr>
        <p:spPr>
          <a:xfrm>
            <a:off x="7034190"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0" name="Freeform: Shape 9">
            <a:extLst>
              <a:ext uri="{FF2B5EF4-FFF2-40B4-BE49-F238E27FC236}">
                <a16:creationId xmlns:a16="http://schemas.microsoft.com/office/drawing/2014/main" id="{272C7602-482A-15AE-29DF-EAE30B65B6E7}"/>
              </a:ext>
            </a:extLst>
          </p:cNvPr>
          <p:cNvSpPr/>
          <p:nvPr/>
        </p:nvSpPr>
        <p:spPr>
          <a:xfrm>
            <a:off x="9183022"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1" name="Freeform: Shape 10">
            <a:extLst>
              <a:ext uri="{FF2B5EF4-FFF2-40B4-BE49-F238E27FC236}">
                <a16:creationId xmlns:a16="http://schemas.microsoft.com/office/drawing/2014/main" id="{A0DD16DC-CEDC-FA65-196F-F43488E7C23C}"/>
              </a:ext>
            </a:extLst>
          </p:cNvPr>
          <p:cNvSpPr/>
          <p:nvPr/>
        </p:nvSpPr>
        <p:spPr>
          <a:xfrm>
            <a:off x="7437804"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900" b="1" dirty="0"/>
              <a:t>Scenario 2: </a:t>
            </a:r>
            <a:r>
              <a:rPr lang="en-US" sz="900" dirty="0"/>
              <a:t>Identify the dataset that represents the right meaning</a:t>
            </a:r>
            <a:endParaRPr lang="en-NL" sz="900" dirty="0"/>
          </a:p>
        </p:txBody>
      </p:sp>
      <p:sp>
        <p:nvSpPr>
          <p:cNvPr id="12" name="Freeform: Shape 11">
            <a:extLst>
              <a:ext uri="{FF2B5EF4-FFF2-40B4-BE49-F238E27FC236}">
                <a16:creationId xmlns:a16="http://schemas.microsoft.com/office/drawing/2014/main" id="{A97D502A-73BA-CD79-614E-B7899D3D2D7A}"/>
              </a:ext>
            </a:extLst>
          </p:cNvPr>
          <p:cNvSpPr/>
          <p:nvPr/>
        </p:nvSpPr>
        <p:spPr>
          <a:xfrm>
            <a:off x="6162481" y="3586655"/>
            <a:ext cx="4297663" cy="371214"/>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3" name="Freeform: Shape 12">
            <a:extLst>
              <a:ext uri="{FF2B5EF4-FFF2-40B4-BE49-F238E27FC236}">
                <a16:creationId xmlns:a16="http://schemas.microsoft.com/office/drawing/2014/main" id="{EA766ECE-1992-7A45-A465-8D81D2FAE973}"/>
              </a:ext>
            </a:extLst>
          </p:cNvPr>
          <p:cNvSpPr/>
          <p:nvPr/>
        </p:nvSpPr>
        <p:spPr>
          <a:xfrm>
            <a:off x="9586636"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p:txBody>
      </p:sp>
      <p:sp>
        <p:nvSpPr>
          <p:cNvPr id="14" name="Freeform: Shape 13">
            <a:extLst>
              <a:ext uri="{FF2B5EF4-FFF2-40B4-BE49-F238E27FC236}">
                <a16:creationId xmlns:a16="http://schemas.microsoft.com/office/drawing/2014/main" id="{CA073DA4-1083-7573-C923-E25A4863B83C}"/>
              </a:ext>
            </a:extLst>
          </p:cNvPr>
          <p:cNvSpPr/>
          <p:nvPr/>
        </p:nvSpPr>
        <p:spPr>
          <a:xfrm>
            <a:off x="7034190"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5" name="Freeform: Shape 14">
            <a:extLst>
              <a:ext uri="{FF2B5EF4-FFF2-40B4-BE49-F238E27FC236}">
                <a16:creationId xmlns:a16="http://schemas.microsoft.com/office/drawing/2014/main" id="{435671B7-E612-B0C7-073D-49916691908E}"/>
              </a:ext>
            </a:extLst>
          </p:cNvPr>
          <p:cNvSpPr/>
          <p:nvPr/>
        </p:nvSpPr>
        <p:spPr>
          <a:xfrm>
            <a:off x="5288972"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p:txBody>
      </p:sp>
      <p:sp>
        <p:nvSpPr>
          <p:cNvPr id="16" name="Freeform: Shape 15">
            <a:extLst>
              <a:ext uri="{FF2B5EF4-FFF2-40B4-BE49-F238E27FC236}">
                <a16:creationId xmlns:a16="http://schemas.microsoft.com/office/drawing/2014/main" id="{66798B0D-BE18-8B5A-8874-1E7E72395C08}"/>
              </a:ext>
            </a:extLst>
          </p:cNvPr>
          <p:cNvSpPr/>
          <p:nvPr/>
        </p:nvSpPr>
        <p:spPr>
          <a:xfrm>
            <a:off x="9183022"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7" name="Freeform: Shape 16">
            <a:extLst>
              <a:ext uri="{FF2B5EF4-FFF2-40B4-BE49-F238E27FC236}">
                <a16:creationId xmlns:a16="http://schemas.microsoft.com/office/drawing/2014/main" id="{565D8551-9432-CFA7-C55D-8B22E74C64A3}"/>
              </a:ext>
            </a:extLst>
          </p:cNvPr>
          <p:cNvSpPr/>
          <p:nvPr/>
        </p:nvSpPr>
        <p:spPr>
          <a:xfrm>
            <a:off x="7437804"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p:txBody>
      </p:sp>
      <p:sp>
        <p:nvSpPr>
          <p:cNvPr id="18" name="Freeform: Shape 17">
            <a:extLst>
              <a:ext uri="{FF2B5EF4-FFF2-40B4-BE49-F238E27FC236}">
                <a16:creationId xmlns:a16="http://schemas.microsoft.com/office/drawing/2014/main" id="{12BA6383-BBE3-545E-7A37-92CD22D1EAD9}"/>
              </a:ext>
            </a:extLst>
          </p:cNvPr>
          <p:cNvSpPr/>
          <p:nvPr/>
        </p:nvSpPr>
        <p:spPr>
          <a:xfrm>
            <a:off x="9586636"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solidFill>
            <a:schemeClr val="accent3">
              <a:lumMod val="20000"/>
              <a:lumOff val="80000"/>
            </a:schemeClr>
          </a:solidFill>
          <a:ln>
            <a:solidFill>
              <a:schemeClr val="accent1"/>
            </a:solidFill>
          </a:ln>
        </p:spPr>
        <p:style>
          <a:lnRef idx="0">
            <a:scrgbClr r="0" g="0" b="0"/>
          </a:lnRef>
          <a:fillRef idx="3">
            <a:scrgbClr r="0" g="0" b="0"/>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p:txBody>
      </p:sp>
      <p:sp>
        <p:nvSpPr>
          <p:cNvPr id="4" name="Slide Number Placeholder 3">
            <a:extLst>
              <a:ext uri="{FF2B5EF4-FFF2-40B4-BE49-F238E27FC236}">
                <a16:creationId xmlns:a16="http://schemas.microsoft.com/office/drawing/2014/main" id="{7CE6BC92-88F3-98DF-1AD8-470B7A6A401E}"/>
              </a:ext>
            </a:extLst>
          </p:cNvPr>
          <p:cNvSpPr>
            <a:spLocks noGrp="1"/>
          </p:cNvSpPr>
          <p:nvPr>
            <p:ph type="sldNum" sz="quarter" idx="12"/>
          </p:nvPr>
        </p:nvSpPr>
        <p:spPr/>
        <p:txBody>
          <a:bodyPr/>
          <a:lstStyle/>
          <a:p>
            <a:fld id="{4FAB73BC-B049-4115-A692-8D63A059BFB8}" type="slidenum">
              <a:rPr lang="en-US" smtClean="0"/>
              <a:pPr/>
              <a:t>5</a:t>
            </a:fld>
            <a:endParaRPr lang="en-US" dirty="0"/>
          </a:p>
        </p:txBody>
      </p:sp>
      <p:sp>
        <p:nvSpPr>
          <p:cNvPr id="9" name="Freeform: Shape 8">
            <a:extLst>
              <a:ext uri="{FF2B5EF4-FFF2-40B4-BE49-F238E27FC236}">
                <a16:creationId xmlns:a16="http://schemas.microsoft.com/office/drawing/2014/main" id="{AF1D1398-C7E6-D601-17FE-8B1E895BFCEE}"/>
              </a:ext>
            </a:extLst>
          </p:cNvPr>
          <p:cNvSpPr/>
          <p:nvPr/>
        </p:nvSpPr>
        <p:spPr>
          <a:xfrm>
            <a:off x="5288972"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900" b="1" u="none" kern="1200" dirty="0"/>
              <a:t>Scenario 1: </a:t>
            </a:r>
            <a:r>
              <a:rPr lang="en-US" sz="900" dirty="0"/>
              <a:t>Clarify Meanings Before Reuse</a:t>
            </a:r>
            <a:endParaRPr lang="en-NL" sz="900" b="0" u="none" kern="1200" dirty="0"/>
          </a:p>
        </p:txBody>
      </p:sp>
      <p:sp>
        <p:nvSpPr>
          <p:cNvPr id="3" name="TextBox 2">
            <a:extLst>
              <a:ext uri="{FF2B5EF4-FFF2-40B4-BE49-F238E27FC236}">
                <a16:creationId xmlns:a16="http://schemas.microsoft.com/office/drawing/2014/main" id="{3462EA0E-37EF-5F9F-0E96-4D3CCB7CF1B5}"/>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nchor="ctr">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Tree>
    <p:extLst>
      <p:ext uri="{BB962C8B-B14F-4D97-AF65-F5344CB8AC3E}">
        <p14:creationId xmlns:p14="http://schemas.microsoft.com/office/powerpoint/2010/main" val="80095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9"/>
                                        </p:tgtEl>
                                      </p:cBhvr>
                                      <p:by x="150000" y="150000"/>
                                    </p:animScale>
                                  </p:childTnLst>
                                </p:cTn>
                              </p:par>
                              <p:par>
                                <p:cTn id="7" presetID="9" presetClass="emph" presetSubtype="0" grpId="0" nodeType="withEffect">
                                  <p:stCondLst>
                                    <p:cond delay="0"/>
                                  </p:stCondLst>
                                  <p:childTnLst>
                                    <p:set>
                                      <p:cBhvr>
                                        <p:cTn id="8" dur="indefinite"/>
                                        <p:tgtEl>
                                          <p:spTgt spid="11"/>
                                        </p:tgtEl>
                                        <p:attrNameLst>
                                          <p:attrName>style.opacity</p:attrName>
                                        </p:attrNameLst>
                                      </p:cBhvr>
                                      <p:to>
                                        <p:strVal val="0.5"/>
                                      </p:to>
                                    </p:set>
                                    <p:animEffect filter="image" prLst="opacity: 0.5">
                                      <p:cBhvr rctx="IE">
                                        <p:cTn id="9" dur="indefinite"/>
                                        <p:tgtEl>
                                          <p:spTgt spid="11"/>
                                        </p:tgtEl>
                                      </p:cBhvr>
                                    </p:animEffect>
                                  </p:childTnLst>
                                </p:cTn>
                              </p:par>
                              <p:par>
                                <p:cTn id="10" presetID="9" presetClass="emph" presetSubtype="0" grpId="0" nodeType="withEffect">
                                  <p:stCondLst>
                                    <p:cond delay="0"/>
                                  </p:stCondLst>
                                  <p:childTnLst>
                                    <p:set>
                                      <p:cBhvr>
                                        <p:cTn id="11" dur="indefinite"/>
                                        <p:tgtEl>
                                          <p:spTgt spid="13"/>
                                        </p:tgtEl>
                                        <p:attrNameLst>
                                          <p:attrName>style.opacity</p:attrName>
                                        </p:attrNameLst>
                                      </p:cBhvr>
                                      <p:to>
                                        <p:strVal val="0.5"/>
                                      </p:to>
                                    </p:set>
                                    <p:animEffect filter="image" prLst="opacity: 0.5">
                                      <p:cBhvr rctx="IE">
                                        <p:cTn id="12" dur="indefinite"/>
                                        <p:tgtEl>
                                          <p:spTgt spid="13"/>
                                        </p:tgtEl>
                                      </p:cBhvr>
                                    </p:animEffect>
                                  </p:childTnLst>
                                </p:cTn>
                              </p:par>
                              <p:par>
                                <p:cTn id="13" presetID="9" presetClass="emph" presetSubtype="0" grpId="0" nodeType="withEffect">
                                  <p:stCondLst>
                                    <p:cond delay="0"/>
                                  </p:stCondLst>
                                  <p:childTnLst>
                                    <p:set>
                                      <p:cBhvr>
                                        <p:cTn id="14" dur="indefinite"/>
                                        <p:tgtEl>
                                          <p:spTgt spid="18"/>
                                        </p:tgtEl>
                                        <p:attrNameLst>
                                          <p:attrName>style.opacity</p:attrName>
                                        </p:attrNameLst>
                                      </p:cBhvr>
                                      <p:to>
                                        <p:strVal val="0.5"/>
                                      </p:to>
                                    </p:set>
                                    <p:animEffect filter="image" prLst="opacity: 0.5">
                                      <p:cBhvr rctx="IE">
                                        <p:cTn id="15" dur="indefinite"/>
                                        <p:tgtEl>
                                          <p:spTgt spid="18"/>
                                        </p:tgtEl>
                                      </p:cBhvr>
                                    </p:animEffect>
                                  </p:childTnLst>
                                </p:cTn>
                              </p:par>
                              <p:par>
                                <p:cTn id="16" presetID="9" presetClass="emph" presetSubtype="0" grpId="0" nodeType="withEffect">
                                  <p:stCondLst>
                                    <p:cond delay="0"/>
                                  </p:stCondLst>
                                  <p:childTnLst>
                                    <p:set>
                                      <p:cBhvr>
                                        <p:cTn id="17" dur="indefinite"/>
                                        <p:tgtEl>
                                          <p:spTgt spid="17"/>
                                        </p:tgtEl>
                                        <p:attrNameLst>
                                          <p:attrName>style.opacity</p:attrName>
                                        </p:attrNameLst>
                                      </p:cBhvr>
                                      <p:to>
                                        <p:strVal val="0.5"/>
                                      </p:to>
                                    </p:set>
                                    <p:animEffect filter="image" prLst="opacity: 0.5">
                                      <p:cBhvr rctx="IE">
                                        <p:cTn id="18" dur="indefinite"/>
                                        <p:tgtEl>
                                          <p:spTgt spid="17"/>
                                        </p:tgtEl>
                                      </p:cBhvr>
                                    </p:animEffect>
                                  </p:childTnLst>
                                </p:cTn>
                              </p:par>
                              <p:par>
                                <p:cTn id="19" presetID="9" presetClass="emph" presetSubtype="0" grpId="0" nodeType="withEffect">
                                  <p:stCondLst>
                                    <p:cond delay="0"/>
                                  </p:stCondLst>
                                  <p:childTnLst>
                                    <p:set>
                                      <p:cBhvr>
                                        <p:cTn id="20" dur="indefinite"/>
                                        <p:tgtEl>
                                          <p:spTgt spid="15"/>
                                        </p:tgtEl>
                                        <p:attrNameLst>
                                          <p:attrName>style.opacity</p:attrName>
                                        </p:attrNameLst>
                                      </p:cBhvr>
                                      <p:to>
                                        <p:strVal val="0.5"/>
                                      </p:to>
                                    </p:set>
                                    <p:animEffect filter="image" prLst="opacity: 0.5">
                                      <p:cBhvr rctx="IE">
                                        <p:cTn id="21" dur="indefinite"/>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P spid="17" grpId="0" animBg="1"/>
      <p:bldP spid="1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9AFA945-1893-2559-9413-D30945BF8C03}"/>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76BF8C83-389F-B21A-AFCF-2FEA93CEF33B}"/>
              </a:ext>
            </a:extLst>
          </p:cNvPr>
          <p:cNvSpPr>
            <a:spLocks noGrp="1"/>
          </p:cNvSpPr>
          <p:nvPr>
            <p:ph type="title"/>
          </p:nvPr>
        </p:nvSpPr>
        <p:spPr>
          <a:xfrm>
            <a:off x="695327" y="386001"/>
            <a:ext cx="9631560" cy="929259"/>
          </a:xfrm>
        </p:spPr>
        <p:txBody>
          <a:bodyPr/>
          <a:lstStyle/>
          <a:p>
            <a:r>
              <a:rPr lang="en-US" sz="3600" dirty="0"/>
              <a:t>Available Sex and Gender Variables by Dataset</a:t>
            </a:r>
            <a:endParaRPr lang="en-NL" sz="3600" dirty="0"/>
          </a:p>
        </p:txBody>
      </p:sp>
      <p:graphicFrame>
        <p:nvGraphicFramePr>
          <p:cNvPr id="5" name="Content Placeholder 4">
            <a:extLst>
              <a:ext uri="{FF2B5EF4-FFF2-40B4-BE49-F238E27FC236}">
                <a16:creationId xmlns:a16="http://schemas.microsoft.com/office/drawing/2014/main" id="{7565DBB2-704F-B573-7584-BDDA8045AD7D}"/>
              </a:ext>
            </a:extLst>
          </p:cNvPr>
          <p:cNvGraphicFramePr>
            <a:graphicFrameLocks noGrp="1"/>
          </p:cNvGraphicFramePr>
          <p:nvPr>
            <p:ph idx="1"/>
            <p:extLst>
              <p:ext uri="{D42A27DB-BD31-4B8C-83A1-F6EECF244321}">
                <p14:modId xmlns:p14="http://schemas.microsoft.com/office/powerpoint/2010/main" val="3283705154"/>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4" name="Slide Number Placeholder 3">
            <a:extLst>
              <a:ext uri="{FF2B5EF4-FFF2-40B4-BE49-F238E27FC236}">
                <a16:creationId xmlns:a16="http://schemas.microsoft.com/office/drawing/2014/main" id="{A18E327C-53A7-8E65-1A94-E23FF1988363}"/>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
        <p:nvSpPr>
          <p:cNvPr id="7" name="TextBox 6">
            <a:extLst>
              <a:ext uri="{FF2B5EF4-FFF2-40B4-BE49-F238E27FC236}">
                <a16:creationId xmlns:a16="http://schemas.microsoft.com/office/drawing/2014/main" id="{386B7381-B2DD-59B3-A5C4-48AF7A602B8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12" name="Rectangle 11">
            <a:extLst>
              <a:ext uri="{FF2B5EF4-FFF2-40B4-BE49-F238E27FC236}">
                <a16:creationId xmlns:a16="http://schemas.microsoft.com/office/drawing/2014/main" id="{B99037ED-A18E-FD21-F042-A64ED8B03A54}"/>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3142EA65-C6D9-C7AD-DECD-9B8E0EEFF4C4}"/>
              </a:ext>
            </a:extLst>
          </p:cNvPr>
          <p:cNvGraphicFramePr>
            <a:graphicFrameLocks/>
          </p:cNvGraphicFramePr>
          <p:nvPr>
            <p:extLst>
              <p:ext uri="{D42A27DB-BD31-4B8C-83A1-F6EECF244321}">
                <p14:modId xmlns:p14="http://schemas.microsoft.com/office/powerpoint/2010/main" val="3365733472"/>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12">
            <a:extLst>
              <a:ext uri="{FF2B5EF4-FFF2-40B4-BE49-F238E27FC236}">
                <a16:creationId xmlns:a16="http://schemas.microsoft.com/office/drawing/2014/main" id="{8B67CCA4-B58B-C69A-7A44-C9B5EBB864B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CB82BD93-1108-9360-D2C1-7293030D839F}"/>
              </a:ext>
            </a:extLst>
          </p:cNvPr>
          <p:cNvGraphicFramePr>
            <a:graphicFrameLocks/>
          </p:cNvGraphicFramePr>
          <p:nvPr>
            <p:extLst>
              <p:ext uri="{D42A27DB-BD31-4B8C-83A1-F6EECF244321}">
                <p14:modId xmlns:p14="http://schemas.microsoft.com/office/powerpoint/2010/main" val="1827329989"/>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3" name="Rectangle: Rounded Corners 2">
            <a:extLst>
              <a:ext uri="{FF2B5EF4-FFF2-40B4-BE49-F238E27FC236}">
                <a16:creationId xmlns:a16="http://schemas.microsoft.com/office/drawing/2014/main" id="{0A7F7086-957D-AE4F-6F56-8A130821E8C5}"/>
              </a:ext>
            </a:extLst>
          </p:cNvPr>
          <p:cNvSpPr/>
          <p:nvPr/>
        </p:nvSpPr>
        <p:spPr>
          <a:xfrm>
            <a:off x="2266950" y="1634899"/>
            <a:ext cx="1809749" cy="4330650"/>
          </a:xfrm>
          <a:prstGeom prst="roundRect">
            <a:avLst>
              <a:gd name="adj" fmla="val 6766"/>
            </a:avLst>
          </a:prstGeom>
          <a:noFill/>
          <a:ln w="47625">
            <a:solidFill>
              <a:schemeClr val="accent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DDF83B9D-42B5-07BF-2B11-A9DE34EC0FFC}"/>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050" name="Picture 2" descr="CARE-SM · GitHub">
            <a:extLst>
              <a:ext uri="{FF2B5EF4-FFF2-40B4-BE49-F238E27FC236}">
                <a16:creationId xmlns:a16="http://schemas.microsoft.com/office/drawing/2014/main" id="{61B65A12-06DA-BC1B-E0A3-0CACA9612D21}"/>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BA2D08F2-C334-7916-B84D-834A85A619B4}"/>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0731C9C-B50C-C9E5-719E-E1F4481BC868}"/>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2052" name="Picture 4" descr="Logos and trademarks – openehr.org">
            <a:extLst>
              <a:ext uri="{FF2B5EF4-FFF2-40B4-BE49-F238E27FC236}">
                <a16:creationId xmlns:a16="http://schemas.microsoft.com/office/drawing/2014/main" id="{2219C5E0-86CD-1ABB-0627-B0BDD72DA2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Connector 30">
            <a:extLst>
              <a:ext uri="{FF2B5EF4-FFF2-40B4-BE49-F238E27FC236}">
                <a16:creationId xmlns:a16="http://schemas.microsoft.com/office/drawing/2014/main" id="{10ED9FE5-A3D5-6E48-16DD-7E68CF4085A2}"/>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E7E49627-A452-495B-00CD-6591C5BCF672}"/>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22" name="Picture 21">
            <a:extLst>
              <a:ext uri="{FF2B5EF4-FFF2-40B4-BE49-F238E27FC236}">
                <a16:creationId xmlns:a16="http://schemas.microsoft.com/office/drawing/2014/main" id="{0F2BAEEC-E6EF-2170-D6D8-2294A6093503}"/>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32" name="Straight Connector 31">
            <a:extLst>
              <a:ext uri="{FF2B5EF4-FFF2-40B4-BE49-F238E27FC236}">
                <a16:creationId xmlns:a16="http://schemas.microsoft.com/office/drawing/2014/main" id="{F36A8237-1853-FFD0-A85A-9DFF5925ED2D}"/>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9437980A-B4F4-4DC8-94C4-C993BCB76742}"/>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26" name="TextBox 25">
            <a:extLst>
              <a:ext uri="{FF2B5EF4-FFF2-40B4-BE49-F238E27FC236}">
                <a16:creationId xmlns:a16="http://schemas.microsoft.com/office/drawing/2014/main" id="{0695AAD6-E9B1-A264-83C7-17E901042841}"/>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1026" name="Picture 2" descr="Branding guidelines – LOINC">
            <a:extLst>
              <a:ext uri="{FF2B5EF4-FFF2-40B4-BE49-F238E27FC236}">
                <a16:creationId xmlns:a16="http://schemas.microsoft.com/office/drawing/2014/main" id="{4D80DC8A-1991-D127-56B1-4C3523F3D5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4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2B8BC-20F3-4AF3-7B9A-858B9B16ED8F}"/>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1347CCD1-483E-8B70-8857-5CB35F368459}"/>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3676C3EF-BD48-12AA-7081-D86EFBB89E7B}"/>
              </a:ext>
            </a:extLst>
          </p:cNvPr>
          <p:cNvSpPr>
            <a:spLocks noGrp="1"/>
          </p:cNvSpPr>
          <p:nvPr>
            <p:ph type="title"/>
          </p:nvPr>
        </p:nvSpPr>
        <p:spPr/>
        <p:txBody>
          <a:bodyPr/>
          <a:lstStyle/>
          <a:p>
            <a:r>
              <a:rPr lang="en-US" sz="3600" dirty="0"/>
              <a:t>Amir’s Question and Challenge</a:t>
            </a:r>
            <a:endParaRPr lang="en-NL" dirty="0"/>
          </a:p>
        </p:txBody>
      </p:sp>
      <p:sp>
        <p:nvSpPr>
          <p:cNvPr id="4" name="Slide Number Placeholder 3">
            <a:extLst>
              <a:ext uri="{FF2B5EF4-FFF2-40B4-BE49-F238E27FC236}">
                <a16:creationId xmlns:a16="http://schemas.microsoft.com/office/drawing/2014/main" id="{7D2FF7E2-9050-6985-E792-4C50392A2331}"/>
              </a:ext>
            </a:extLst>
          </p:cNvPr>
          <p:cNvSpPr>
            <a:spLocks noGrp="1"/>
          </p:cNvSpPr>
          <p:nvPr>
            <p:ph type="sldNum" sz="quarter" idx="12"/>
          </p:nvPr>
        </p:nvSpPr>
        <p:spPr/>
        <p:txBody>
          <a:bodyPr/>
          <a:lstStyle/>
          <a:p>
            <a:fld id="{4FAB73BC-B049-4115-A692-8D63A059BFB8}" type="slidenum">
              <a:rPr lang="en-US" smtClean="0"/>
              <a:pPr/>
              <a:t>7</a:t>
            </a:fld>
            <a:endParaRPr lang="en-US" dirty="0"/>
          </a:p>
        </p:txBody>
      </p:sp>
      <p:graphicFrame>
        <p:nvGraphicFramePr>
          <p:cNvPr id="10" name="Content Placeholder 4">
            <a:extLst>
              <a:ext uri="{FF2B5EF4-FFF2-40B4-BE49-F238E27FC236}">
                <a16:creationId xmlns:a16="http://schemas.microsoft.com/office/drawing/2014/main" id="{5506523C-6422-AA0F-2BE1-B307AC047D0C}"/>
              </a:ext>
            </a:extLst>
          </p:cNvPr>
          <p:cNvGraphicFramePr>
            <a:graphicFrameLocks/>
          </p:cNvGraphicFramePr>
          <p:nvPr>
            <p:extLst>
              <p:ext uri="{D42A27DB-BD31-4B8C-83A1-F6EECF244321}">
                <p14:modId xmlns:p14="http://schemas.microsoft.com/office/powerpoint/2010/main" val="3754789781"/>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6" name="Rectangle: Rounded Corners 15">
            <a:extLst>
              <a:ext uri="{FF2B5EF4-FFF2-40B4-BE49-F238E27FC236}">
                <a16:creationId xmlns:a16="http://schemas.microsoft.com/office/drawing/2014/main" id="{A665AAB5-A0ED-8E22-DBDB-363A7DB415E6}"/>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1" name="Content Placeholder 4">
            <a:extLst>
              <a:ext uri="{FF2B5EF4-FFF2-40B4-BE49-F238E27FC236}">
                <a16:creationId xmlns:a16="http://schemas.microsoft.com/office/drawing/2014/main" id="{A90CA7EF-EB56-680E-991B-5D3E61EDCD6E}"/>
              </a:ext>
            </a:extLst>
          </p:cNvPr>
          <p:cNvGraphicFramePr>
            <a:graphicFrameLocks/>
          </p:cNvGraphicFramePr>
          <p:nvPr>
            <p:extLst>
              <p:ext uri="{D42A27DB-BD31-4B8C-83A1-F6EECF244321}">
                <p14:modId xmlns:p14="http://schemas.microsoft.com/office/powerpoint/2010/main" val="3705311687"/>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1" name="Rectangle: Rounded Corners 20">
            <a:extLst>
              <a:ext uri="{FF2B5EF4-FFF2-40B4-BE49-F238E27FC236}">
                <a16:creationId xmlns:a16="http://schemas.microsoft.com/office/drawing/2014/main" id="{52EC159F-A1E4-AE1F-2EAE-EBCCA931B7D0}"/>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27" name="Content Placeholder 4">
            <a:extLst>
              <a:ext uri="{FF2B5EF4-FFF2-40B4-BE49-F238E27FC236}">
                <a16:creationId xmlns:a16="http://schemas.microsoft.com/office/drawing/2014/main" id="{8990248D-BF27-E254-6F07-5803B779C52A}"/>
              </a:ext>
            </a:extLst>
          </p:cNvPr>
          <p:cNvGraphicFramePr>
            <a:graphicFrameLocks/>
          </p:cNvGraphicFramePr>
          <p:nvPr>
            <p:extLst>
              <p:ext uri="{D42A27DB-BD31-4B8C-83A1-F6EECF244321}">
                <p14:modId xmlns:p14="http://schemas.microsoft.com/office/powerpoint/2010/main" val="2324766379"/>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9" name="Rectangle: Rounded Corners 28">
            <a:extLst>
              <a:ext uri="{FF2B5EF4-FFF2-40B4-BE49-F238E27FC236}">
                <a16:creationId xmlns:a16="http://schemas.microsoft.com/office/drawing/2014/main" id="{F98A27E1-D1C7-E873-62B3-F16894C5A4BA}"/>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5" name="Freeform: Shape 4">
            <a:extLst>
              <a:ext uri="{FF2B5EF4-FFF2-40B4-BE49-F238E27FC236}">
                <a16:creationId xmlns:a16="http://schemas.microsoft.com/office/drawing/2014/main" id="{AB6477A4-15D5-162F-79D2-7EA2E346B7F0}"/>
              </a:ext>
            </a:extLst>
          </p:cNvPr>
          <p:cNvSpPr/>
          <p:nvPr/>
        </p:nvSpPr>
        <p:spPr>
          <a:xfrm>
            <a:off x="960855" y="1882235"/>
            <a:ext cx="6293737" cy="1261697"/>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Build a valid cohort for his study</a:t>
            </a:r>
          </a:p>
          <a:p>
            <a:pPr marL="171450" lvl="1" indent="-171450" defTabSz="711200">
              <a:lnSpc>
                <a:spcPct val="90000"/>
              </a:lnSpc>
              <a:spcBef>
                <a:spcPct val="0"/>
              </a:spcBef>
              <a:spcAft>
                <a:spcPts val="600"/>
              </a:spcAft>
              <a:buChar char="•"/>
            </a:pPr>
            <a:r>
              <a:rPr lang="en-US" sz="1400" dirty="0"/>
              <a:t>Use the sex/gender-related variable that fits his research question</a:t>
            </a:r>
          </a:p>
          <a:p>
            <a:pPr marL="171450" lvl="1" indent="-171450" defTabSz="711200">
              <a:lnSpc>
                <a:spcPct val="90000"/>
              </a:lnSpc>
              <a:spcBef>
                <a:spcPct val="0"/>
              </a:spcBef>
              <a:spcAft>
                <a:spcPts val="600"/>
              </a:spcAft>
              <a:buChar char="•"/>
            </a:pPr>
            <a:r>
              <a:rPr lang="en-US" sz="1400" dirty="0"/>
              <a:t>Interpret the available data in a way that supports reliable analysis</a:t>
            </a:r>
            <a:endParaRPr lang="en-NL" sz="1400" kern="1200" dirty="0"/>
          </a:p>
        </p:txBody>
      </p:sp>
      <p:sp>
        <p:nvSpPr>
          <p:cNvPr id="6" name="Freeform: Shape 5">
            <a:extLst>
              <a:ext uri="{FF2B5EF4-FFF2-40B4-BE49-F238E27FC236}">
                <a16:creationId xmlns:a16="http://schemas.microsoft.com/office/drawing/2014/main" id="{1D753A33-360B-A8FD-E3C2-919E710CD4B7}"/>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7" name="Freeform: Shape 6">
            <a:extLst>
              <a:ext uri="{FF2B5EF4-FFF2-40B4-BE49-F238E27FC236}">
                <a16:creationId xmlns:a16="http://schemas.microsoft.com/office/drawing/2014/main" id="{EFD77D3F-C558-72FA-D2D7-43DAE1314148}"/>
              </a:ext>
            </a:extLst>
          </p:cNvPr>
          <p:cNvSpPr/>
          <p:nvPr/>
        </p:nvSpPr>
        <p:spPr>
          <a:xfrm>
            <a:off x="960855" y="3449062"/>
            <a:ext cx="6293737" cy="1261697"/>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Different datasets appear to contain comparable sex/gender-related information</a:t>
            </a:r>
          </a:p>
          <a:p>
            <a:pPr marL="171450" lvl="1" indent="-171450" defTabSz="711200">
              <a:lnSpc>
                <a:spcPct val="90000"/>
              </a:lnSpc>
              <a:spcBef>
                <a:spcPct val="0"/>
              </a:spcBef>
              <a:spcAft>
                <a:spcPts val="600"/>
              </a:spcAft>
              <a:buChar char="•"/>
            </a:pPr>
            <a:r>
              <a:rPr lang="en-US" sz="1400" dirty="0"/>
              <a:t>But if those variables do not mean the same thing, using them in the same way could distort his results</a:t>
            </a:r>
            <a:endParaRPr lang="en-NL" sz="1400" kern="1200" dirty="0"/>
          </a:p>
        </p:txBody>
      </p:sp>
      <p:sp>
        <p:nvSpPr>
          <p:cNvPr id="8" name="Freeform: Shape 7">
            <a:extLst>
              <a:ext uri="{FF2B5EF4-FFF2-40B4-BE49-F238E27FC236}">
                <a16:creationId xmlns:a16="http://schemas.microsoft.com/office/drawing/2014/main" id="{E5C60EFC-C3F4-9082-B52D-06191AA2ED2D}"/>
              </a:ext>
            </a:extLst>
          </p:cNvPr>
          <p:cNvSpPr/>
          <p:nvPr/>
        </p:nvSpPr>
        <p:spPr>
          <a:xfrm>
            <a:off x="1085983" y="32815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9" name="TextBox 8">
            <a:extLst>
              <a:ext uri="{FF2B5EF4-FFF2-40B4-BE49-F238E27FC236}">
                <a16:creationId xmlns:a16="http://schemas.microsoft.com/office/drawing/2014/main" id="{57EDED5B-811F-2AF6-A70C-7B2BF66AE947}"/>
              </a:ext>
            </a:extLst>
          </p:cNvPr>
          <p:cNvSpPr txBox="1"/>
          <p:nvPr/>
        </p:nvSpPr>
        <p:spPr>
          <a:xfrm>
            <a:off x="695325" y="4819088"/>
            <a:ext cx="6908709" cy="917513"/>
          </a:xfrm>
          <a:prstGeom prst="rect">
            <a:avLst/>
          </a:prstGeom>
          <a:noFill/>
        </p:spPr>
        <p:txBody>
          <a:bodyPr wrap="square" lIns="180000" tIns="180000" rIns="180000" bIns="180000" rtlCol="0">
            <a:spAutoFit/>
          </a:bodyPr>
          <a:lstStyle/>
          <a:p>
            <a:pPr algn="ctr"/>
            <a:r>
              <a:rPr lang="en-US" b="1" i="1" dirty="0"/>
              <a:t>“What semantic differences do I need to understand before I can correctly compare and reuse these datasets?”</a:t>
            </a:r>
            <a:endParaRPr lang="en-US" i="1" dirty="0"/>
          </a:p>
        </p:txBody>
      </p:sp>
      <p:sp>
        <p:nvSpPr>
          <p:cNvPr id="14" name="TextBox 13">
            <a:extLst>
              <a:ext uri="{FF2B5EF4-FFF2-40B4-BE49-F238E27FC236}">
                <a16:creationId xmlns:a16="http://schemas.microsoft.com/office/drawing/2014/main" id="{DDE4AC4C-3779-21F0-42AA-61F4D15259D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pic>
        <p:nvPicPr>
          <p:cNvPr id="48" name="Picture 47">
            <a:extLst>
              <a:ext uri="{FF2B5EF4-FFF2-40B4-BE49-F238E27FC236}">
                <a16:creationId xmlns:a16="http://schemas.microsoft.com/office/drawing/2014/main" id="{4FA5315B-BB13-3923-51CD-AD746DE83898}"/>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49" name="Picture 48">
            <a:extLst>
              <a:ext uri="{FF2B5EF4-FFF2-40B4-BE49-F238E27FC236}">
                <a16:creationId xmlns:a16="http://schemas.microsoft.com/office/drawing/2014/main" id="{9D4C3A2D-3A3A-F77C-FCB5-3A04D2212B7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50" name="Picture 49">
            <a:extLst>
              <a:ext uri="{FF2B5EF4-FFF2-40B4-BE49-F238E27FC236}">
                <a16:creationId xmlns:a16="http://schemas.microsoft.com/office/drawing/2014/main" id="{CD76642E-4FF7-5A91-8E0C-51D11D9BF7F8}"/>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2598512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3D8ED-EC0F-DB4C-58E9-632104F8D6F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6B21B24-9863-A3C8-4C97-5C060CCF85E6}"/>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805AD92D-305F-4B34-9694-B07435AFB82A}"/>
              </a:ext>
            </a:extLst>
          </p:cNvPr>
          <p:cNvGraphicFramePr>
            <a:graphicFrameLocks noGrp="1"/>
          </p:cNvGraphicFramePr>
          <p:nvPr>
            <p:ph idx="1"/>
            <p:extLst>
              <p:ext uri="{D42A27DB-BD31-4B8C-83A1-F6EECF244321}">
                <p14:modId xmlns:p14="http://schemas.microsoft.com/office/powerpoint/2010/main" val="176431395"/>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4" name="Rectangle 13">
            <a:extLst>
              <a:ext uri="{FF2B5EF4-FFF2-40B4-BE49-F238E27FC236}">
                <a16:creationId xmlns:a16="http://schemas.microsoft.com/office/drawing/2014/main" id="{14C41F9C-89F0-80A3-3594-3E1AF167F24F}"/>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6" name="Content Placeholder 4">
            <a:extLst>
              <a:ext uri="{FF2B5EF4-FFF2-40B4-BE49-F238E27FC236}">
                <a16:creationId xmlns:a16="http://schemas.microsoft.com/office/drawing/2014/main" id="{68883844-6C61-4B65-115E-C8C271E2B8C6}"/>
              </a:ext>
            </a:extLst>
          </p:cNvPr>
          <p:cNvGraphicFramePr>
            <a:graphicFrameLocks/>
          </p:cNvGraphicFramePr>
          <p:nvPr>
            <p:extLst>
              <p:ext uri="{D42A27DB-BD31-4B8C-83A1-F6EECF244321}">
                <p14:modId xmlns:p14="http://schemas.microsoft.com/office/powerpoint/2010/main" val="108973740"/>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2" name="Rectangle 21">
            <a:extLst>
              <a:ext uri="{FF2B5EF4-FFF2-40B4-BE49-F238E27FC236}">
                <a16:creationId xmlns:a16="http://schemas.microsoft.com/office/drawing/2014/main" id="{32DB5AC4-EF42-40DA-D66F-A377945FE71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23" name="Content Placeholder 4">
            <a:extLst>
              <a:ext uri="{FF2B5EF4-FFF2-40B4-BE49-F238E27FC236}">
                <a16:creationId xmlns:a16="http://schemas.microsoft.com/office/drawing/2014/main" id="{DA8E9ADD-D996-E2C0-ADA3-6DBFBBDFB1DF}"/>
              </a:ext>
            </a:extLst>
          </p:cNvPr>
          <p:cNvGraphicFramePr>
            <a:graphicFrameLocks/>
          </p:cNvGraphicFramePr>
          <p:nvPr>
            <p:extLst>
              <p:ext uri="{D42A27DB-BD31-4B8C-83A1-F6EECF244321}">
                <p14:modId xmlns:p14="http://schemas.microsoft.com/office/powerpoint/2010/main" val="2960320022"/>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4" name="TextBox 23">
            <a:extLst>
              <a:ext uri="{FF2B5EF4-FFF2-40B4-BE49-F238E27FC236}">
                <a16:creationId xmlns:a16="http://schemas.microsoft.com/office/drawing/2014/main" id="{5A8101C4-B882-14D1-336D-21A94DA4FAEE}"/>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7" name="Picture 2" descr="CARE-SM · GitHub">
            <a:extLst>
              <a:ext uri="{FF2B5EF4-FFF2-40B4-BE49-F238E27FC236}">
                <a16:creationId xmlns:a16="http://schemas.microsoft.com/office/drawing/2014/main" id="{8DB192BF-3145-3402-BFD2-52BE8B8323AA}"/>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7063C35A-854E-F0B9-C21F-6841309F9916}"/>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524C0B3-FF29-7F7A-CFFE-AE77FCC5CF05}"/>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33" name="Picture 4" descr="Logos and trademarks – openehr.org">
            <a:extLst>
              <a:ext uri="{FF2B5EF4-FFF2-40B4-BE49-F238E27FC236}">
                <a16:creationId xmlns:a16="http://schemas.microsoft.com/office/drawing/2014/main" id="{FF4EFB68-3702-4040-DC3A-F90C06942F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5A36767B-A58E-53B5-3916-507829D5E123}"/>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FAAF1839-3119-B9E9-C6AA-2D6DE24BA3EE}"/>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38" name="Picture 37">
            <a:extLst>
              <a:ext uri="{FF2B5EF4-FFF2-40B4-BE49-F238E27FC236}">
                <a16:creationId xmlns:a16="http://schemas.microsoft.com/office/drawing/2014/main" id="{A1F78CD9-3FE4-E223-BE6D-63188EFADE26}"/>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40" name="Straight Connector 39">
            <a:extLst>
              <a:ext uri="{FF2B5EF4-FFF2-40B4-BE49-F238E27FC236}">
                <a16:creationId xmlns:a16="http://schemas.microsoft.com/office/drawing/2014/main" id="{A7774229-6931-4447-E3AE-398DC61001F6}"/>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60405B8D-BA5D-C687-D765-6A932F07AD83}"/>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42" name="TextBox 41">
            <a:extLst>
              <a:ext uri="{FF2B5EF4-FFF2-40B4-BE49-F238E27FC236}">
                <a16:creationId xmlns:a16="http://schemas.microsoft.com/office/drawing/2014/main" id="{61629B20-4A93-5011-81FF-09AB10108B3F}"/>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43" name="Picture 2" descr="Branding guidelines – LOINC">
            <a:extLst>
              <a:ext uri="{FF2B5EF4-FFF2-40B4-BE49-F238E27FC236}">
                <a16:creationId xmlns:a16="http://schemas.microsoft.com/office/drawing/2014/main" id="{BF086649-7170-8EDD-FEB3-F65F788A95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92F7EB-CB5A-2FBE-DEB2-B0511681B183}"/>
              </a:ext>
            </a:extLst>
          </p:cNvPr>
          <p:cNvSpPr>
            <a:spLocks noGrp="1"/>
          </p:cNvSpPr>
          <p:nvPr>
            <p:ph type="title"/>
          </p:nvPr>
        </p:nvSpPr>
        <p:spPr/>
        <p:txBody>
          <a:bodyPr/>
          <a:lstStyle/>
          <a:p>
            <a:r>
              <a:rPr lang="en-US" sz="3600" dirty="0"/>
              <a:t>Labels and their Meanings</a:t>
            </a:r>
            <a:endParaRPr lang="en-NL" sz="4400" dirty="0"/>
          </a:p>
        </p:txBody>
      </p:sp>
      <p:sp>
        <p:nvSpPr>
          <p:cNvPr id="4" name="Slide Number Placeholder 3">
            <a:extLst>
              <a:ext uri="{FF2B5EF4-FFF2-40B4-BE49-F238E27FC236}">
                <a16:creationId xmlns:a16="http://schemas.microsoft.com/office/drawing/2014/main" id="{CE87C7A2-350F-EE6A-0259-FA9FFD8ABC78}"/>
              </a:ext>
            </a:extLst>
          </p:cNvPr>
          <p:cNvSpPr>
            <a:spLocks noGrp="1"/>
          </p:cNvSpPr>
          <p:nvPr>
            <p:ph type="sldNum" sz="quarter" idx="12"/>
          </p:nvPr>
        </p:nvSpPr>
        <p:spPr/>
        <p:txBody>
          <a:bodyPr/>
          <a:lstStyle/>
          <a:p>
            <a:fld id="{4FAB73BC-B049-4115-A692-8D63A059BFB8}" type="slidenum">
              <a:rPr lang="en-US" smtClean="0"/>
              <a:pPr/>
              <a:t>8</a:t>
            </a:fld>
            <a:endParaRPr lang="en-US" dirty="0"/>
          </a:p>
        </p:txBody>
      </p:sp>
      <p:sp>
        <p:nvSpPr>
          <p:cNvPr id="36" name="Rectangle 35">
            <a:extLst>
              <a:ext uri="{FF2B5EF4-FFF2-40B4-BE49-F238E27FC236}">
                <a16:creationId xmlns:a16="http://schemas.microsoft.com/office/drawing/2014/main" id="{38FB5A56-A1E0-4BFD-BAB9-BD8D66BA1C60}"/>
              </a:ext>
            </a:extLst>
          </p:cNvPr>
          <p:cNvSpPr/>
          <p:nvPr/>
        </p:nvSpPr>
        <p:spPr>
          <a:xfrm>
            <a:off x="2328215" y="2042331"/>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Rectangle 36">
            <a:extLst>
              <a:ext uri="{FF2B5EF4-FFF2-40B4-BE49-F238E27FC236}">
                <a16:creationId xmlns:a16="http://schemas.microsoft.com/office/drawing/2014/main" id="{72E1B89E-77CD-8DDD-51F6-081715F148D4}"/>
              </a:ext>
            </a:extLst>
          </p:cNvPr>
          <p:cNvSpPr/>
          <p:nvPr/>
        </p:nvSpPr>
        <p:spPr>
          <a:xfrm>
            <a:off x="2328215" y="3489897"/>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9" name="Connector: Elbow 38">
            <a:extLst>
              <a:ext uri="{FF2B5EF4-FFF2-40B4-BE49-F238E27FC236}">
                <a16:creationId xmlns:a16="http://schemas.microsoft.com/office/drawing/2014/main" id="{0FF369D7-DBD9-6108-C906-985C7F42613D}"/>
              </a:ext>
            </a:extLst>
          </p:cNvPr>
          <p:cNvCxnSpPr>
            <a:cxnSpLocks/>
            <a:stCxn id="36" idx="3"/>
            <a:endCxn id="37" idx="3"/>
          </p:cNvCxnSpPr>
          <p:nvPr/>
        </p:nvCxnSpPr>
        <p:spPr>
          <a:xfrm>
            <a:off x="4037996" y="2187978"/>
            <a:ext cx="12700" cy="1447566"/>
          </a:xfrm>
          <a:prstGeom prst="bentConnector3">
            <a:avLst>
              <a:gd name="adj1" fmla="val 3900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14625DED-925B-EB3E-6D52-A6CF28D1A34C}"/>
              </a:ext>
            </a:extLst>
          </p:cNvPr>
          <p:cNvSpPr/>
          <p:nvPr/>
        </p:nvSpPr>
        <p:spPr>
          <a:xfrm>
            <a:off x="2321865" y="5264509"/>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1" name="Rectangle 50">
            <a:extLst>
              <a:ext uri="{FF2B5EF4-FFF2-40B4-BE49-F238E27FC236}">
                <a16:creationId xmlns:a16="http://schemas.microsoft.com/office/drawing/2014/main" id="{5CF400F0-38B4-1629-313F-DF171482EB7D}"/>
              </a:ext>
            </a:extLst>
          </p:cNvPr>
          <p:cNvSpPr/>
          <p:nvPr/>
        </p:nvSpPr>
        <p:spPr>
          <a:xfrm>
            <a:off x="2328215" y="3803804"/>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6" name="Callout: Line 55">
            <a:extLst>
              <a:ext uri="{FF2B5EF4-FFF2-40B4-BE49-F238E27FC236}">
                <a16:creationId xmlns:a16="http://schemas.microsoft.com/office/drawing/2014/main" id="{671D03B1-26D0-E0D2-9229-EBFD656B1B45}"/>
              </a:ext>
            </a:extLst>
          </p:cNvPr>
          <p:cNvSpPr/>
          <p:nvPr/>
        </p:nvSpPr>
        <p:spPr>
          <a:xfrm>
            <a:off x="5711051" y="1729014"/>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Same term. Do they share the same meaning?</a:t>
            </a:r>
          </a:p>
        </p:txBody>
      </p:sp>
      <p:cxnSp>
        <p:nvCxnSpPr>
          <p:cNvPr id="57" name="Connector: Elbow 56">
            <a:extLst>
              <a:ext uri="{FF2B5EF4-FFF2-40B4-BE49-F238E27FC236}">
                <a16:creationId xmlns:a16="http://schemas.microsoft.com/office/drawing/2014/main" id="{17EFFAE5-285A-075D-8B17-3FE36B75669B}"/>
              </a:ext>
            </a:extLst>
          </p:cNvPr>
          <p:cNvCxnSpPr>
            <a:cxnSpLocks/>
          </p:cNvCxnSpPr>
          <p:nvPr/>
        </p:nvCxnSpPr>
        <p:spPr>
          <a:xfrm>
            <a:off x="4037996" y="3968501"/>
            <a:ext cx="12700" cy="1476141"/>
          </a:xfrm>
          <a:prstGeom prst="bentConnector3">
            <a:avLst>
              <a:gd name="adj1" fmla="val 3975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Callout: Line 58">
            <a:extLst>
              <a:ext uri="{FF2B5EF4-FFF2-40B4-BE49-F238E27FC236}">
                <a16:creationId xmlns:a16="http://schemas.microsoft.com/office/drawing/2014/main" id="{ED188BBD-20AA-AA7E-5D46-E9B544DF8BF7}"/>
              </a:ext>
            </a:extLst>
          </p:cNvPr>
          <p:cNvSpPr/>
          <p:nvPr/>
        </p:nvSpPr>
        <p:spPr>
          <a:xfrm>
            <a:off x="5711051" y="3227676"/>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the difference between ‘man’ and ‘male’?</a:t>
            </a:r>
          </a:p>
        </p:txBody>
      </p:sp>
      <p:sp>
        <p:nvSpPr>
          <p:cNvPr id="6" name="TextBox 5">
            <a:extLst>
              <a:ext uri="{FF2B5EF4-FFF2-40B4-BE49-F238E27FC236}">
                <a16:creationId xmlns:a16="http://schemas.microsoft.com/office/drawing/2014/main" id="{C076A5A7-8C23-D433-56E1-DE9384E2C9B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098234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2CC3-F334-CF23-21AC-0552553382E7}"/>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AF1132C1-D34D-BF57-A9CB-16DC4B879DD6}"/>
              </a:ext>
            </a:extLst>
          </p:cNvPr>
          <p:cNvGraphicFramePr>
            <a:graphicFrameLocks noGrp="1"/>
          </p:cNvGraphicFramePr>
          <p:nvPr>
            <p:ph idx="1"/>
          </p:nvPr>
        </p:nvGraphicFramePr>
        <p:xfrm>
          <a:off x="695325" y="1628775"/>
          <a:ext cx="10801350"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2EFE1183-5E9B-2178-7122-3D20FB3A9CB0}"/>
              </a:ext>
            </a:extLst>
          </p:cNvPr>
          <p:cNvSpPr>
            <a:spLocks noGrp="1"/>
          </p:cNvSpPr>
          <p:nvPr>
            <p:ph type="sldNum" sz="quarter" idx="12"/>
          </p:nvPr>
        </p:nvSpPr>
        <p:spPr/>
        <p:txBody>
          <a:bodyPr/>
          <a:lstStyle/>
          <a:p>
            <a:fld id="{4FAB73BC-B049-4115-A692-8D63A059BFB8}" type="slidenum">
              <a:rPr lang="en-US" smtClean="0"/>
              <a:pPr/>
              <a:t>9</a:t>
            </a:fld>
            <a:endParaRPr lang="en-US" dirty="0"/>
          </a:p>
        </p:txBody>
      </p:sp>
      <p:sp>
        <p:nvSpPr>
          <p:cNvPr id="7" name="TextBox 6">
            <a:extLst>
              <a:ext uri="{FF2B5EF4-FFF2-40B4-BE49-F238E27FC236}">
                <a16:creationId xmlns:a16="http://schemas.microsoft.com/office/drawing/2014/main" id="{5AFE7EA2-5769-2A60-0820-A32E89DFB13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859905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D414-EDDE-777B-F65F-A66015B14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2E82F-E180-3906-7D51-DE5AB9E3B465}"/>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544EA196-A6B9-FA08-3EDD-FA7DF441D674}"/>
              </a:ext>
            </a:extLst>
          </p:cNvPr>
          <p:cNvGraphicFramePr>
            <a:graphicFrameLocks noGrp="1"/>
          </p:cNvGraphicFramePr>
          <p:nvPr>
            <p:ph idx="1"/>
          </p:nvPr>
        </p:nvGraphicFramePr>
        <p:xfrm>
          <a:off x="695324" y="1628775"/>
          <a:ext cx="3653391"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7569198-F3EA-D298-1F61-4D5DEC0873F4}"/>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7" name="TextBox 6">
            <a:extLst>
              <a:ext uri="{FF2B5EF4-FFF2-40B4-BE49-F238E27FC236}">
                <a16:creationId xmlns:a16="http://schemas.microsoft.com/office/drawing/2014/main" id="{06464A64-3E8F-331E-907C-12C3FDF7C17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grpSp>
        <p:nvGrpSpPr>
          <p:cNvPr id="23" name="Group 22">
            <a:extLst>
              <a:ext uri="{FF2B5EF4-FFF2-40B4-BE49-F238E27FC236}">
                <a16:creationId xmlns:a16="http://schemas.microsoft.com/office/drawing/2014/main" id="{C1CE0899-AFFF-D095-D9EB-8C2CF8249943}"/>
              </a:ext>
            </a:extLst>
          </p:cNvPr>
          <p:cNvGrpSpPr/>
          <p:nvPr/>
        </p:nvGrpSpPr>
        <p:grpSpPr>
          <a:xfrm>
            <a:off x="4518836" y="4578950"/>
            <a:ext cx="6977838" cy="1370979"/>
            <a:chOff x="4518836" y="4568317"/>
            <a:chExt cx="6977838" cy="1370979"/>
          </a:xfrm>
        </p:grpSpPr>
        <p:sp>
          <p:nvSpPr>
            <p:cNvPr id="10" name="Rectangle 9">
              <a:extLst>
                <a:ext uri="{FF2B5EF4-FFF2-40B4-BE49-F238E27FC236}">
                  <a16:creationId xmlns:a16="http://schemas.microsoft.com/office/drawing/2014/main" id="{172507A9-3608-2FEC-9809-59919B1C420E}"/>
                </a:ext>
              </a:extLst>
            </p:cNvPr>
            <p:cNvSpPr/>
            <p:nvPr/>
          </p:nvSpPr>
          <p:spPr>
            <a:xfrm>
              <a:off x="4518837" y="4568317"/>
              <a:ext cx="6977837" cy="720000"/>
            </a:xfrm>
            <a:prstGeom prst="rect">
              <a:avLst/>
            </a:prstGeom>
            <a:ln>
              <a:noFill/>
            </a:ln>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female gender for a study about social gender identity.</a:t>
              </a:r>
              <a:endParaRPr lang="en-NL" sz="1600" kern="1200" dirty="0"/>
            </a:p>
          </p:txBody>
        </p:sp>
        <p:sp>
          <p:nvSpPr>
            <p:cNvPr id="11" name="Freeform: Shape 10">
              <a:extLst>
                <a:ext uri="{FF2B5EF4-FFF2-40B4-BE49-F238E27FC236}">
                  <a16:creationId xmlns:a16="http://schemas.microsoft.com/office/drawing/2014/main" id="{7703EF05-6A97-14D2-CD0A-17370F5EE805}"/>
                </a:ext>
              </a:extLst>
            </p:cNvPr>
            <p:cNvSpPr/>
            <p:nvPr/>
          </p:nvSpPr>
          <p:spPr>
            <a:xfrm>
              <a:off x="4518836" y="5298496"/>
              <a:ext cx="3211032"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ln>
              <a:noFill/>
            </a:ln>
            <a:effectLst/>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Female.</a:t>
              </a:r>
              <a:endParaRPr lang="en-NL" sz="1400" kern="1200" dirty="0"/>
            </a:p>
          </p:txBody>
        </p:sp>
        <p:sp>
          <p:nvSpPr>
            <p:cNvPr id="12" name="Freeform: Shape 11">
              <a:extLst>
                <a:ext uri="{FF2B5EF4-FFF2-40B4-BE49-F238E27FC236}">
                  <a16:creationId xmlns:a16="http://schemas.microsoft.com/office/drawing/2014/main" id="{36CDA080-C0A8-E3F8-D5D3-D43A79020D06}"/>
                </a:ext>
              </a:extLst>
            </p:cNvPr>
            <p:cNvSpPr/>
            <p:nvPr/>
          </p:nvSpPr>
          <p:spPr>
            <a:xfrm>
              <a:off x="7729868" y="5298496"/>
              <a:ext cx="3766804"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solidFill>
              <a:schemeClr val="accent4">
                <a:tint val="40000"/>
                <a:hueOff val="-1459126"/>
                <a:satOff val="9968"/>
                <a:lumOff val="1493"/>
                <a:alpha val="95000"/>
              </a:schemeClr>
            </a:solidFill>
            <a:ln>
              <a:noFill/>
            </a:ln>
            <a:effectLst/>
          </p:spPr>
          <p:style>
            <a:lnRef idx="2">
              <a:schemeClr val="accent4">
                <a:tint val="40000"/>
                <a:alpha val="90000"/>
                <a:hueOff val="-1459126"/>
                <a:satOff val="9968"/>
                <a:lumOff val="1493"/>
                <a:alphaOff val="0"/>
              </a:schemeClr>
            </a:lnRef>
            <a:fillRef idx="1">
              <a:schemeClr val="accent4">
                <a:tint val="40000"/>
                <a:alpha val="90000"/>
                <a:hueOff val="-1459126"/>
                <a:satOff val="9968"/>
                <a:lumOff val="1493"/>
                <a:alphaOff val="0"/>
              </a:schemeClr>
            </a:fillRef>
            <a:effectRef idx="0">
              <a:schemeClr val="accent4">
                <a:tint val="40000"/>
                <a:alpha val="90000"/>
                <a:hueOff val="-1459126"/>
                <a:satOff val="9968"/>
                <a:lumOff val="149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Patient-003 only, incorrectly missing Patient-002, whose gender is female.</a:t>
              </a:r>
              <a:endParaRPr lang="en-NL" sz="1200" kern="1200" dirty="0"/>
            </a:p>
          </p:txBody>
        </p:sp>
      </p:grpSp>
      <p:grpSp>
        <p:nvGrpSpPr>
          <p:cNvPr id="24" name="Group 23">
            <a:extLst>
              <a:ext uri="{FF2B5EF4-FFF2-40B4-BE49-F238E27FC236}">
                <a16:creationId xmlns:a16="http://schemas.microsoft.com/office/drawing/2014/main" id="{F81B5771-8565-F87D-304F-7AC8FD89139B}"/>
              </a:ext>
            </a:extLst>
          </p:cNvPr>
          <p:cNvGrpSpPr/>
          <p:nvPr/>
        </p:nvGrpSpPr>
        <p:grpSpPr>
          <a:xfrm>
            <a:off x="4518837" y="3106117"/>
            <a:ext cx="6977837" cy="1374973"/>
            <a:chOff x="4518837" y="3100801"/>
            <a:chExt cx="6977837" cy="1374973"/>
          </a:xfrm>
        </p:grpSpPr>
        <p:sp>
          <p:nvSpPr>
            <p:cNvPr id="13" name="Rectangle 12">
              <a:extLst>
                <a:ext uri="{FF2B5EF4-FFF2-40B4-BE49-F238E27FC236}">
                  <a16:creationId xmlns:a16="http://schemas.microsoft.com/office/drawing/2014/main" id="{3C38AF87-2942-398A-B322-8A48769D4D51}"/>
                </a:ext>
              </a:extLst>
            </p:cNvPr>
            <p:cNvSpPr/>
            <p:nvPr/>
          </p:nvSpPr>
          <p:spPr>
            <a:xfrm>
              <a:off x="4518837" y="3100801"/>
              <a:ext cx="6977837" cy="720000"/>
            </a:xfrm>
            <a:prstGeom prst="rect">
              <a:avLst/>
            </a:prstGeom>
            <a:ln>
              <a:noFill/>
            </a:ln>
            <a:effectLst/>
          </p:spPr>
          <p:style>
            <a:lnRef idx="2">
              <a:schemeClr val="lt1">
                <a:hueOff val="0"/>
                <a:satOff val="0"/>
                <a:lumOff val="0"/>
                <a:alphaOff val="0"/>
              </a:schemeClr>
            </a:lnRef>
            <a:fillRef idx="1">
              <a:schemeClr val="accent4">
                <a:hueOff val="-3691232"/>
                <a:satOff val="11237"/>
                <a:lumOff val="16961"/>
                <a:alphaOff val="0"/>
              </a:schemeClr>
            </a:fillRef>
            <a:effectRef idx="0">
              <a:schemeClr val="accent4">
                <a:hueOff val="-3691232"/>
                <a:satOff val="11237"/>
                <a:lumOff val="16961"/>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who socially identify as male for gender-based analysis.	</a:t>
              </a:r>
              <a:endParaRPr lang="en-NL" sz="1600" kern="1200" dirty="0"/>
            </a:p>
          </p:txBody>
        </p:sp>
        <p:sp>
          <p:nvSpPr>
            <p:cNvPr id="14" name="Freeform: Shape 13">
              <a:extLst>
                <a:ext uri="{FF2B5EF4-FFF2-40B4-BE49-F238E27FC236}">
                  <a16:creationId xmlns:a16="http://schemas.microsoft.com/office/drawing/2014/main" id="{AB9A359A-339D-B627-6C78-D4FFB62FAFF5}"/>
                </a:ext>
              </a:extLst>
            </p:cNvPr>
            <p:cNvSpPr/>
            <p:nvPr/>
          </p:nvSpPr>
          <p:spPr>
            <a:xfrm>
              <a:off x="4518838" y="3834974"/>
              <a:ext cx="3211032"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2918253"/>
                <a:satOff val="19936"/>
                <a:lumOff val="2986"/>
                <a:alphaOff val="0"/>
              </a:schemeClr>
            </a:lnRef>
            <a:fillRef idx="1">
              <a:schemeClr val="accent4">
                <a:tint val="40000"/>
                <a:alpha val="90000"/>
                <a:hueOff val="-2918253"/>
                <a:satOff val="19936"/>
                <a:lumOff val="2986"/>
                <a:alphaOff val="0"/>
              </a:schemeClr>
            </a:fillRef>
            <a:effectRef idx="0">
              <a:schemeClr val="accent4">
                <a:tint val="40000"/>
                <a:alpha val="90000"/>
                <a:hueOff val="-2918253"/>
                <a:satOff val="19936"/>
                <a:lumOff val="298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Male.</a:t>
              </a:r>
              <a:endParaRPr lang="en-NL" sz="1400" kern="1200" dirty="0"/>
            </a:p>
          </p:txBody>
        </p:sp>
        <p:sp>
          <p:nvSpPr>
            <p:cNvPr id="15" name="Freeform: Shape 14">
              <a:extLst>
                <a:ext uri="{FF2B5EF4-FFF2-40B4-BE49-F238E27FC236}">
                  <a16:creationId xmlns:a16="http://schemas.microsoft.com/office/drawing/2014/main" id="{572E9857-68CF-0F71-E779-3FC6DE27D9FA}"/>
                </a:ext>
              </a:extLst>
            </p:cNvPr>
            <p:cNvSpPr/>
            <p:nvPr/>
          </p:nvSpPr>
          <p:spPr>
            <a:xfrm>
              <a:off x="7729868" y="3834974"/>
              <a:ext cx="3766806"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4377379"/>
                <a:satOff val="29904"/>
                <a:lumOff val="4480"/>
                <a:alpha val="95000"/>
              </a:schemeClr>
            </a:solidFill>
            <a:ln>
              <a:noFill/>
            </a:ln>
            <a:effectLst/>
          </p:spPr>
          <p:style>
            <a:lnRef idx="2">
              <a:schemeClr val="accent4">
                <a:tint val="40000"/>
                <a:alpha val="90000"/>
                <a:hueOff val="-4377379"/>
                <a:satOff val="29904"/>
                <a:lumOff val="4480"/>
                <a:alphaOff val="0"/>
              </a:schemeClr>
            </a:lnRef>
            <a:fillRef idx="1">
              <a:schemeClr val="accent4">
                <a:tint val="40000"/>
                <a:alpha val="90000"/>
                <a:hueOff val="-4377379"/>
                <a:satOff val="29904"/>
                <a:lumOff val="4480"/>
                <a:alphaOff val="0"/>
              </a:schemeClr>
            </a:fillRef>
            <a:effectRef idx="0">
              <a:schemeClr val="accent4">
                <a:tint val="40000"/>
                <a:alpha val="90000"/>
                <a:hueOff val="-4377379"/>
                <a:satOff val="29904"/>
                <a:lumOff val="448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and Patient-002, incorrectly including Patient-002, whose gender is female/trans.</a:t>
              </a:r>
              <a:endParaRPr lang="en-NL" sz="1200" kern="1200" dirty="0"/>
            </a:p>
          </p:txBody>
        </p:sp>
      </p:grpSp>
      <p:grpSp>
        <p:nvGrpSpPr>
          <p:cNvPr id="25" name="Group 24">
            <a:extLst>
              <a:ext uri="{FF2B5EF4-FFF2-40B4-BE49-F238E27FC236}">
                <a16:creationId xmlns:a16="http://schemas.microsoft.com/office/drawing/2014/main" id="{F76D9A99-476F-1841-9AFF-2F3396D70FCD}"/>
              </a:ext>
            </a:extLst>
          </p:cNvPr>
          <p:cNvGrpSpPr/>
          <p:nvPr/>
        </p:nvGrpSpPr>
        <p:grpSpPr>
          <a:xfrm>
            <a:off x="4518837" y="1639415"/>
            <a:ext cx="6977837" cy="1368843"/>
            <a:chOff x="4518837" y="1650048"/>
            <a:chExt cx="6977837" cy="1368843"/>
          </a:xfrm>
        </p:grpSpPr>
        <p:sp>
          <p:nvSpPr>
            <p:cNvPr id="16" name="Rectangle 15">
              <a:extLst>
                <a:ext uri="{FF2B5EF4-FFF2-40B4-BE49-F238E27FC236}">
                  <a16:creationId xmlns:a16="http://schemas.microsoft.com/office/drawing/2014/main" id="{C13B47D1-E2E8-0120-2B9C-CA90003D7421}"/>
                </a:ext>
              </a:extLst>
            </p:cNvPr>
            <p:cNvSpPr/>
            <p:nvPr/>
          </p:nvSpPr>
          <p:spPr>
            <a:xfrm>
              <a:off x="4518837" y="1650048"/>
              <a:ext cx="6977837" cy="720000"/>
            </a:xfrm>
            <a:prstGeom prst="rect">
              <a:avLst/>
            </a:prstGeom>
            <a:ln>
              <a:noFill/>
            </a:ln>
            <a:effectLst/>
          </p:spPr>
          <p:style>
            <a:lnRef idx="2">
              <a:schemeClr val="lt1">
                <a:hueOff val="0"/>
                <a:satOff val="0"/>
                <a:lumOff val="0"/>
                <a:alphaOff val="0"/>
              </a:schemeClr>
            </a:lnRef>
            <a:fillRef idx="1">
              <a:schemeClr val="accent4">
                <a:hueOff val="-7382464"/>
                <a:satOff val="22475"/>
                <a:lumOff val="33922"/>
                <a:alphaOff val="0"/>
              </a:schemeClr>
            </a:fillRef>
            <a:effectRef idx="0">
              <a:schemeClr val="accent4">
                <a:hueOff val="-7382464"/>
                <a:satOff val="22475"/>
                <a:lumOff val="33922"/>
                <a:alphaOff val="0"/>
              </a:schemeClr>
            </a:effectRef>
            <a:fontRef idx="minor">
              <a:schemeClr val="lt1"/>
            </a:fontRef>
          </p:style>
          <p:txBody>
            <a:bodyPr spcFirstLastPara="0" vert="horz" wrap="square" lIns="92456" tIns="92457"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male biological sex for a study where biological sex is the intended criterion.</a:t>
              </a:r>
              <a:endParaRPr lang="en-NL" sz="1600" kern="1200" dirty="0"/>
            </a:p>
          </p:txBody>
        </p:sp>
        <p:sp>
          <p:nvSpPr>
            <p:cNvPr id="17" name="Freeform: Shape 16">
              <a:extLst>
                <a:ext uri="{FF2B5EF4-FFF2-40B4-BE49-F238E27FC236}">
                  <a16:creationId xmlns:a16="http://schemas.microsoft.com/office/drawing/2014/main" id="{9479FE16-49A0-18E5-DD1B-42FA176CBD72}"/>
                </a:ext>
              </a:extLst>
            </p:cNvPr>
            <p:cNvSpPr/>
            <p:nvPr/>
          </p:nvSpPr>
          <p:spPr>
            <a:xfrm>
              <a:off x="4518837" y="2380030"/>
              <a:ext cx="3211033"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5836506"/>
                <a:satOff val="39872"/>
                <a:lumOff val="5973"/>
                <a:alphaOff val="0"/>
              </a:schemeClr>
            </a:lnRef>
            <a:fillRef idx="1">
              <a:schemeClr val="accent4">
                <a:tint val="40000"/>
                <a:alpha val="90000"/>
                <a:hueOff val="-5836506"/>
                <a:satOff val="39872"/>
                <a:lumOff val="5973"/>
                <a:alphaOff val="0"/>
              </a:schemeClr>
            </a:fillRef>
            <a:effectRef idx="0">
              <a:schemeClr val="accent4">
                <a:tint val="40000"/>
                <a:alpha val="90000"/>
                <a:hueOff val="-5836506"/>
                <a:satOff val="39872"/>
                <a:lumOff val="597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Gender = Male.</a:t>
              </a:r>
              <a:endParaRPr lang="en-NL" sz="1400" kern="1200" dirty="0"/>
            </a:p>
          </p:txBody>
        </p:sp>
        <p:sp>
          <p:nvSpPr>
            <p:cNvPr id="18" name="Freeform: Shape 17">
              <a:extLst>
                <a:ext uri="{FF2B5EF4-FFF2-40B4-BE49-F238E27FC236}">
                  <a16:creationId xmlns:a16="http://schemas.microsoft.com/office/drawing/2014/main" id="{6FF671D5-A559-F53B-0F68-109E89F8B8A7}"/>
                </a:ext>
              </a:extLst>
            </p:cNvPr>
            <p:cNvSpPr/>
            <p:nvPr/>
          </p:nvSpPr>
          <p:spPr>
            <a:xfrm>
              <a:off x="7729868" y="2380030"/>
              <a:ext cx="3766805"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7295632"/>
                <a:satOff val="49840"/>
                <a:lumOff val="7466"/>
                <a:alpha val="95000"/>
              </a:schemeClr>
            </a:solidFill>
            <a:ln>
              <a:noFill/>
            </a:ln>
            <a:effectLst/>
          </p:spPr>
          <p:style>
            <a:lnRef idx="2">
              <a:schemeClr val="accent4">
                <a:tint val="40000"/>
                <a:alpha val="90000"/>
                <a:hueOff val="-7295632"/>
                <a:satOff val="49840"/>
                <a:lumOff val="7466"/>
                <a:alphaOff val="0"/>
              </a:schemeClr>
            </a:lnRef>
            <a:fillRef idx="1">
              <a:schemeClr val="accent4">
                <a:tint val="40000"/>
                <a:alpha val="90000"/>
                <a:hueOff val="-7295632"/>
                <a:satOff val="49840"/>
                <a:lumOff val="7466"/>
                <a:alphaOff val="0"/>
              </a:schemeClr>
            </a:fillRef>
            <a:effectRef idx="0">
              <a:schemeClr val="accent4">
                <a:tint val="40000"/>
                <a:alpha val="90000"/>
                <a:hueOff val="-7295632"/>
                <a:satOff val="49840"/>
                <a:lumOff val="746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only, incorrectly missing Patient-002, whose biological sex is male but gender is female/trans.</a:t>
              </a:r>
              <a:endParaRPr lang="en-NL" sz="1200" kern="1200" dirty="0"/>
            </a:p>
          </p:txBody>
        </p:sp>
      </p:grpSp>
    </p:spTree>
    <p:extLst>
      <p:ext uri="{BB962C8B-B14F-4D97-AF65-F5344CB8AC3E}">
        <p14:creationId xmlns:p14="http://schemas.microsoft.com/office/powerpoint/2010/main" val="667844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4ABBB-EAAE-511C-4C8C-ADF254A0CC06}"/>
              </a:ext>
            </a:extLst>
          </p:cNvPr>
          <p:cNvSpPr>
            <a:spLocks noGrp="1"/>
          </p:cNvSpPr>
          <p:nvPr>
            <p:ph type="title"/>
          </p:nvPr>
        </p:nvSpPr>
        <p:spPr/>
        <p:txBody>
          <a:bodyPr/>
          <a:lstStyle/>
          <a:p>
            <a:r>
              <a:rPr lang="en-US" sz="3600" dirty="0"/>
              <a:t>Distinct Concepts Within Sex and Gender</a:t>
            </a:r>
            <a:endParaRPr lang="en-NL" sz="3600" dirty="0"/>
          </a:p>
        </p:txBody>
      </p:sp>
      <p:sp>
        <p:nvSpPr>
          <p:cNvPr id="8" name="Freeform: Shape 7">
            <a:extLst>
              <a:ext uri="{FF2B5EF4-FFF2-40B4-BE49-F238E27FC236}">
                <a16:creationId xmlns:a16="http://schemas.microsoft.com/office/drawing/2014/main" id="{3C8B9758-DB70-14E9-CF89-BDDE49A853E3}"/>
              </a:ext>
            </a:extLst>
          </p:cNvPr>
          <p:cNvSpPr/>
          <p:nvPr/>
        </p:nvSpPr>
        <p:spPr>
          <a:xfrm>
            <a:off x="9299834" y="3198997"/>
            <a:ext cx="1552918" cy="269514"/>
          </a:xfrm>
          <a:custGeom>
            <a:avLst/>
            <a:gdLst/>
            <a:ahLst/>
            <a:cxnLst/>
            <a:rect l="0" t="0" r="0" b="0"/>
            <a:pathLst>
              <a:path>
                <a:moveTo>
                  <a:pt x="0" y="0"/>
                </a:moveTo>
                <a:lnTo>
                  <a:pt x="0" y="134757"/>
                </a:lnTo>
                <a:lnTo>
                  <a:pt x="1552918" y="134757"/>
                </a:lnTo>
                <a:lnTo>
                  <a:pt x="1552918"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9" name="Freeform: Shape 8">
            <a:extLst>
              <a:ext uri="{FF2B5EF4-FFF2-40B4-BE49-F238E27FC236}">
                <a16:creationId xmlns:a16="http://schemas.microsoft.com/office/drawing/2014/main" id="{8DEC1282-C38C-0962-6162-6D80EE529DEE}"/>
              </a:ext>
            </a:extLst>
          </p:cNvPr>
          <p:cNvSpPr/>
          <p:nvPr/>
        </p:nvSpPr>
        <p:spPr>
          <a:xfrm>
            <a:off x="8786472" y="4110214"/>
            <a:ext cx="192510" cy="590365"/>
          </a:xfrm>
          <a:custGeom>
            <a:avLst/>
            <a:gdLst/>
            <a:ahLst/>
            <a:cxnLst/>
            <a:rect l="0" t="0" r="0" b="0"/>
            <a:pathLst>
              <a:path>
                <a:moveTo>
                  <a:pt x="0" y="0"/>
                </a:moveTo>
                <a:lnTo>
                  <a:pt x="0" y="590365"/>
                </a:lnTo>
                <a:lnTo>
                  <a:pt x="192510" y="590365"/>
                </a:lnTo>
              </a:path>
            </a:pathLst>
          </a:custGeom>
          <a:noFill/>
        </p:spPr>
        <p:style>
          <a:lnRef idx="1">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0" name="Freeform: Shape 9">
            <a:extLst>
              <a:ext uri="{FF2B5EF4-FFF2-40B4-BE49-F238E27FC236}">
                <a16:creationId xmlns:a16="http://schemas.microsoft.com/office/drawing/2014/main" id="{9E7C2385-D85B-E043-FD42-44A34C8BB421}"/>
              </a:ext>
            </a:extLst>
          </p:cNvPr>
          <p:cNvSpPr/>
          <p:nvPr/>
        </p:nvSpPr>
        <p:spPr>
          <a:xfrm>
            <a:off x="9254114" y="3198997"/>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1" name="Freeform: Shape 10">
            <a:extLst>
              <a:ext uri="{FF2B5EF4-FFF2-40B4-BE49-F238E27FC236}">
                <a16:creationId xmlns:a16="http://schemas.microsoft.com/office/drawing/2014/main" id="{2F19D8EB-38F5-AC7E-D018-1E805C848F20}"/>
              </a:ext>
            </a:extLst>
          </p:cNvPr>
          <p:cNvSpPr/>
          <p:nvPr/>
        </p:nvSpPr>
        <p:spPr>
          <a:xfrm>
            <a:off x="7746915" y="3198997"/>
            <a:ext cx="1552918" cy="269514"/>
          </a:xfrm>
          <a:custGeom>
            <a:avLst/>
            <a:gdLst/>
            <a:ahLst/>
            <a:cxnLst/>
            <a:rect l="0" t="0" r="0" b="0"/>
            <a:pathLst>
              <a:path>
                <a:moveTo>
                  <a:pt x="1552918" y="0"/>
                </a:moveTo>
                <a:lnTo>
                  <a:pt x="1552918" y="134757"/>
                </a:lnTo>
                <a:lnTo>
                  <a:pt x="0" y="134757"/>
                </a:lnTo>
                <a:lnTo>
                  <a:pt x="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2" name="Freeform: Shape 11">
            <a:extLst>
              <a:ext uri="{FF2B5EF4-FFF2-40B4-BE49-F238E27FC236}">
                <a16:creationId xmlns:a16="http://schemas.microsoft.com/office/drawing/2014/main" id="{F55AE05E-CCE1-91FB-8A09-08862A8942F9}"/>
              </a:ext>
            </a:extLst>
          </p:cNvPr>
          <p:cNvSpPr/>
          <p:nvPr/>
        </p:nvSpPr>
        <p:spPr>
          <a:xfrm>
            <a:off x="7586490" y="2287780"/>
            <a:ext cx="1713344" cy="269514"/>
          </a:xfrm>
          <a:custGeom>
            <a:avLst/>
            <a:gdLst/>
            <a:ahLst/>
            <a:cxnLst/>
            <a:rect l="0" t="0" r="0" b="0"/>
            <a:pathLst>
              <a:path>
                <a:moveTo>
                  <a:pt x="0" y="0"/>
                </a:moveTo>
                <a:lnTo>
                  <a:pt x="0" y="134757"/>
                </a:lnTo>
                <a:lnTo>
                  <a:pt x="1713344" y="134757"/>
                </a:lnTo>
                <a:lnTo>
                  <a:pt x="1713344"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3" name="Freeform: Shape 12">
            <a:extLst>
              <a:ext uri="{FF2B5EF4-FFF2-40B4-BE49-F238E27FC236}">
                <a16:creationId xmlns:a16="http://schemas.microsoft.com/office/drawing/2014/main" id="{487C212E-FB0B-51A7-D36E-AA0D0DEE1359}"/>
              </a:ext>
            </a:extLst>
          </p:cNvPr>
          <p:cNvSpPr/>
          <p:nvPr/>
        </p:nvSpPr>
        <p:spPr>
          <a:xfrm>
            <a:off x="5359784" y="3198997"/>
            <a:ext cx="192510" cy="2412799"/>
          </a:xfrm>
          <a:custGeom>
            <a:avLst/>
            <a:gdLst/>
            <a:ahLst/>
            <a:cxnLst/>
            <a:rect l="0" t="0" r="0" b="0"/>
            <a:pathLst>
              <a:path>
                <a:moveTo>
                  <a:pt x="0" y="0"/>
                </a:moveTo>
                <a:lnTo>
                  <a:pt x="0" y="2412799"/>
                </a:lnTo>
                <a:lnTo>
                  <a:pt x="192510" y="2412799"/>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4" name="Freeform: Shape 13">
            <a:extLst>
              <a:ext uri="{FF2B5EF4-FFF2-40B4-BE49-F238E27FC236}">
                <a16:creationId xmlns:a16="http://schemas.microsoft.com/office/drawing/2014/main" id="{36CBA531-2965-7F09-D53C-DE1F42C2373B}"/>
              </a:ext>
            </a:extLst>
          </p:cNvPr>
          <p:cNvSpPr/>
          <p:nvPr/>
        </p:nvSpPr>
        <p:spPr>
          <a:xfrm>
            <a:off x="5359784" y="3198997"/>
            <a:ext cx="192510" cy="1501582"/>
          </a:xfrm>
          <a:custGeom>
            <a:avLst/>
            <a:gdLst/>
            <a:ahLst/>
            <a:cxnLst/>
            <a:rect l="0" t="0" r="0" b="0"/>
            <a:pathLst>
              <a:path>
                <a:moveTo>
                  <a:pt x="0" y="0"/>
                </a:moveTo>
                <a:lnTo>
                  <a:pt x="0" y="1501582"/>
                </a:lnTo>
                <a:lnTo>
                  <a:pt x="192510" y="1501582"/>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5" name="Freeform: Shape 14">
            <a:extLst>
              <a:ext uri="{FF2B5EF4-FFF2-40B4-BE49-F238E27FC236}">
                <a16:creationId xmlns:a16="http://schemas.microsoft.com/office/drawing/2014/main" id="{D33D5ED4-09E0-FA8E-8D21-20994F02EEFA}"/>
              </a:ext>
            </a:extLst>
          </p:cNvPr>
          <p:cNvSpPr/>
          <p:nvPr/>
        </p:nvSpPr>
        <p:spPr>
          <a:xfrm>
            <a:off x="5359784" y="3198997"/>
            <a:ext cx="192510" cy="590365"/>
          </a:xfrm>
          <a:custGeom>
            <a:avLst/>
            <a:gdLst/>
            <a:ahLst/>
            <a:cxnLst/>
            <a:rect l="0" t="0" r="0" b="0"/>
            <a:pathLst>
              <a:path>
                <a:moveTo>
                  <a:pt x="0" y="0"/>
                </a:moveTo>
                <a:lnTo>
                  <a:pt x="0" y="590365"/>
                </a:lnTo>
                <a:lnTo>
                  <a:pt x="192510" y="590365"/>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6" name="Freeform: Shape 15">
            <a:extLst>
              <a:ext uri="{FF2B5EF4-FFF2-40B4-BE49-F238E27FC236}">
                <a16:creationId xmlns:a16="http://schemas.microsoft.com/office/drawing/2014/main" id="{9A00B541-FCD4-08F8-B97A-6D9E6C0CD9B3}"/>
              </a:ext>
            </a:extLst>
          </p:cNvPr>
          <p:cNvSpPr/>
          <p:nvPr/>
        </p:nvSpPr>
        <p:spPr>
          <a:xfrm>
            <a:off x="5873145" y="2287780"/>
            <a:ext cx="1713344" cy="269514"/>
          </a:xfrm>
          <a:custGeom>
            <a:avLst/>
            <a:gdLst/>
            <a:ahLst/>
            <a:cxnLst/>
            <a:rect l="0" t="0" r="0" b="0"/>
            <a:pathLst>
              <a:path>
                <a:moveTo>
                  <a:pt x="1713344" y="0"/>
                </a:moveTo>
                <a:lnTo>
                  <a:pt x="1713344" y="134757"/>
                </a:lnTo>
                <a:lnTo>
                  <a:pt x="0" y="134757"/>
                </a:lnTo>
                <a:lnTo>
                  <a:pt x="0"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7" name="Freeform: Shape 16">
            <a:extLst>
              <a:ext uri="{FF2B5EF4-FFF2-40B4-BE49-F238E27FC236}">
                <a16:creationId xmlns:a16="http://schemas.microsoft.com/office/drawing/2014/main" id="{A71D2C96-0414-2199-C88D-477F0F92E74A}"/>
              </a:ext>
            </a:extLst>
          </p:cNvPr>
          <p:cNvSpPr/>
          <p:nvPr/>
        </p:nvSpPr>
        <p:spPr>
          <a:xfrm>
            <a:off x="6944788" y="164607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Sex/Gender</a:t>
            </a:r>
            <a:endParaRPr lang="en-NL" sz="1600" kern="1200"/>
          </a:p>
        </p:txBody>
      </p:sp>
      <p:sp>
        <p:nvSpPr>
          <p:cNvPr id="18" name="Freeform: Shape 17">
            <a:extLst>
              <a:ext uri="{FF2B5EF4-FFF2-40B4-BE49-F238E27FC236}">
                <a16:creationId xmlns:a16="http://schemas.microsoft.com/office/drawing/2014/main" id="{F0A1C329-1B43-0EFF-05BE-170794BFD015}"/>
              </a:ext>
            </a:extLst>
          </p:cNvPr>
          <p:cNvSpPr/>
          <p:nvPr/>
        </p:nvSpPr>
        <p:spPr>
          <a:xfrm>
            <a:off x="5231443"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(Biological) Sex</a:t>
            </a:r>
            <a:endParaRPr lang="en-NL" sz="1600" kern="1200" dirty="0"/>
          </a:p>
        </p:txBody>
      </p:sp>
      <p:sp>
        <p:nvSpPr>
          <p:cNvPr id="19" name="Freeform: Shape 18">
            <a:extLst>
              <a:ext uri="{FF2B5EF4-FFF2-40B4-BE49-F238E27FC236}">
                <a16:creationId xmlns:a16="http://schemas.microsoft.com/office/drawing/2014/main" id="{94E88F13-EDEE-9E34-3BB0-8CA87A83EC3D}"/>
              </a:ext>
            </a:extLst>
          </p:cNvPr>
          <p:cNvSpPr/>
          <p:nvPr/>
        </p:nvSpPr>
        <p:spPr>
          <a:xfrm>
            <a:off x="5552294"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Sex at Birth</a:t>
            </a:r>
            <a:endParaRPr lang="en-NL" sz="1600" kern="1200" dirty="0"/>
          </a:p>
        </p:txBody>
      </p:sp>
      <p:sp>
        <p:nvSpPr>
          <p:cNvPr id="20" name="Freeform: Shape 19">
            <a:extLst>
              <a:ext uri="{FF2B5EF4-FFF2-40B4-BE49-F238E27FC236}">
                <a16:creationId xmlns:a16="http://schemas.microsoft.com/office/drawing/2014/main" id="{A15B4B08-6ACA-7E41-990C-988B6ACBAE16}"/>
              </a:ext>
            </a:extLst>
          </p:cNvPr>
          <p:cNvSpPr/>
          <p:nvPr/>
        </p:nvSpPr>
        <p:spPr>
          <a:xfrm>
            <a:off x="5552294"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Karyotypical Sex</a:t>
            </a:r>
            <a:endParaRPr lang="en-NL" sz="1600" kern="1200" dirty="0"/>
          </a:p>
        </p:txBody>
      </p:sp>
      <p:sp>
        <p:nvSpPr>
          <p:cNvPr id="21" name="Freeform: Shape 20">
            <a:extLst>
              <a:ext uri="{FF2B5EF4-FFF2-40B4-BE49-F238E27FC236}">
                <a16:creationId xmlns:a16="http://schemas.microsoft.com/office/drawing/2014/main" id="{C1F194EE-84EA-CAE9-867B-C024B69D84EA}"/>
              </a:ext>
            </a:extLst>
          </p:cNvPr>
          <p:cNvSpPr/>
          <p:nvPr/>
        </p:nvSpPr>
        <p:spPr>
          <a:xfrm>
            <a:off x="5552294" y="529094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22" name="Freeform: Shape 21">
            <a:extLst>
              <a:ext uri="{FF2B5EF4-FFF2-40B4-BE49-F238E27FC236}">
                <a16:creationId xmlns:a16="http://schemas.microsoft.com/office/drawing/2014/main" id="{F486B0EE-9FE3-C55E-8566-967522160058}"/>
              </a:ext>
            </a:extLst>
          </p:cNvPr>
          <p:cNvSpPr/>
          <p:nvPr/>
        </p:nvSpPr>
        <p:spPr>
          <a:xfrm>
            <a:off x="8658132"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(Social) Gender</a:t>
            </a:r>
            <a:endParaRPr lang="en-NL" sz="1600" kern="1200" dirty="0"/>
          </a:p>
        </p:txBody>
      </p:sp>
      <p:sp>
        <p:nvSpPr>
          <p:cNvPr id="23" name="Freeform: Shape 22">
            <a:extLst>
              <a:ext uri="{FF2B5EF4-FFF2-40B4-BE49-F238E27FC236}">
                <a16:creationId xmlns:a16="http://schemas.microsoft.com/office/drawing/2014/main" id="{26096047-5AB2-A47C-3EE1-E61DE894E2B1}"/>
              </a:ext>
            </a:extLst>
          </p:cNvPr>
          <p:cNvSpPr/>
          <p:nvPr/>
        </p:nvSpPr>
        <p:spPr>
          <a:xfrm>
            <a:off x="7105213"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Self-Identified Gender</a:t>
            </a:r>
            <a:endParaRPr lang="en-NL" sz="1600" kern="1200" dirty="0"/>
          </a:p>
        </p:txBody>
      </p:sp>
      <p:sp>
        <p:nvSpPr>
          <p:cNvPr id="24" name="Freeform: Shape 23">
            <a:extLst>
              <a:ext uri="{FF2B5EF4-FFF2-40B4-BE49-F238E27FC236}">
                <a16:creationId xmlns:a16="http://schemas.microsoft.com/office/drawing/2014/main" id="{F5500823-906A-479D-0D9D-4DF3B6C9ED1E}"/>
              </a:ext>
            </a:extLst>
          </p:cNvPr>
          <p:cNvSpPr/>
          <p:nvPr/>
        </p:nvSpPr>
        <p:spPr>
          <a:xfrm>
            <a:off x="8658132"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Administrative Gender</a:t>
            </a:r>
            <a:endParaRPr lang="en-NL" sz="1600" kern="1200" dirty="0"/>
          </a:p>
        </p:txBody>
      </p:sp>
      <p:sp>
        <p:nvSpPr>
          <p:cNvPr id="25" name="Freeform: Shape 24">
            <a:extLst>
              <a:ext uri="{FF2B5EF4-FFF2-40B4-BE49-F238E27FC236}">
                <a16:creationId xmlns:a16="http://schemas.microsoft.com/office/drawing/2014/main" id="{3B6D2050-4FFC-4978-A4A1-D65A84E9FD87}"/>
              </a:ext>
            </a:extLst>
          </p:cNvPr>
          <p:cNvSpPr/>
          <p:nvPr/>
        </p:nvSpPr>
        <p:spPr>
          <a:xfrm>
            <a:off x="8978983"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Legal Gender</a:t>
            </a:r>
            <a:endParaRPr lang="en-NL" sz="1600" kern="1200" dirty="0"/>
          </a:p>
        </p:txBody>
      </p:sp>
      <p:sp>
        <p:nvSpPr>
          <p:cNvPr id="26" name="Freeform: Shape 25">
            <a:extLst>
              <a:ext uri="{FF2B5EF4-FFF2-40B4-BE49-F238E27FC236}">
                <a16:creationId xmlns:a16="http://schemas.microsoft.com/office/drawing/2014/main" id="{C74EA158-CD50-331D-CF7B-12272D1D8344}"/>
              </a:ext>
            </a:extLst>
          </p:cNvPr>
          <p:cNvSpPr/>
          <p:nvPr/>
        </p:nvSpPr>
        <p:spPr>
          <a:xfrm>
            <a:off x="10211051"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4" name="Slide Number Placeholder 3">
            <a:extLst>
              <a:ext uri="{FF2B5EF4-FFF2-40B4-BE49-F238E27FC236}">
                <a16:creationId xmlns:a16="http://schemas.microsoft.com/office/drawing/2014/main" id="{986881E5-227B-5340-4484-0AD6195CAE39}"/>
              </a:ext>
            </a:extLst>
          </p:cNvPr>
          <p:cNvSpPr>
            <a:spLocks noGrp="1"/>
          </p:cNvSpPr>
          <p:nvPr>
            <p:ph type="sldNum" sz="quarter" idx="12"/>
          </p:nvPr>
        </p:nvSpPr>
        <p:spPr/>
        <p:txBody>
          <a:bodyPr/>
          <a:lstStyle/>
          <a:p>
            <a:fld id="{4FAB73BC-B049-4115-A692-8D63A059BFB8}" type="slidenum">
              <a:rPr lang="en-US" smtClean="0"/>
              <a:pPr/>
              <a:t>11</a:t>
            </a:fld>
            <a:endParaRPr lang="en-US" dirty="0"/>
          </a:p>
        </p:txBody>
      </p:sp>
      <p:sp>
        <p:nvSpPr>
          <p:cNvPr id="6" name="Content Placeholder 2">
            <a:extLst>
              <a:ext uri="{FF2B5EF4-FFF2-40B4-BE49-F238E27FC236}">
                <a16:creationId xmlns:a16="http://schemas.microsoft.com/office/drawing/2014/main" id="{3F168FFB-0632-A9C5-38BB-25E0106FBE21}"/>
              </a:ext>
            </a:extLst>
          </p:cNvPr>
          <p:cNvSpPr txBox="1">
            <a:spLocks/>
          </p:cNvSpPr>
          <p:nvPr/>
        </p:nvSpPr>
        <p:spPr>
          <a:xfrm>
            <a:off x="695326" y="1628776"/>
            <a:ext cx="3733800" cy="4321174"/>
          </a:xfrm>
          <a:prstGeom prst="rect">
            <a:avLst/>
          </a:prstGeom>
        </p:spPr>
        <p:txBody>
          <a:bodyPr vert="horz" lIns="45720" tIns="45720" rIns="45720" bIns="45720" rtlCol="0">
            <a:normAutofit/>
          </a:bodyPr>
          <a:lstStyle>
            <a:lvl1pPr marL="9144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26517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44805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3pPr>
            <a:lvl4pPr marL="59436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777240" indent="360000" algn="l" defTabSz="914400" rtl="0" eaLnBrk="1" latinLnBrk="0" hangingPunct="1">
              <a:lnSpc>
                <a:spcPct val="105000"/>
              </a:lnSpc>
              <a:spcBef>
                <a:spcPts val="600"/>
              </a:spcBef>
              <a:spcAft>
                <a:spcPts val="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000" dirty="0"/>
              <a:t>Sex and Gender are not single, uniform meanings; each branches into multiple interpretations/specializations.</a:t>
            </a:r>
          </a:p>
          <a:p>
            <a:r>
              <a:rPr lang="en-US" sz="2000" dirty="0"/>
              <a:t>Before comparing dataset variables, we must distinguish which specialization a concept actually refers to.</a:t>
            </a:r>
            <a:endParaRPr lang="en-NL" sz="2000" dirty="0"/>
          </a:p>
        </p:txBody>
      </p:sp>
      <p:grpSp>
        <p:nvGrpSpPr>
          <p:cNvPr id="37" name="Group 36">
            <a:extLst>
              <a:ext uri="{FF2B5EF4-FFF2-40B4-BE49-F238E27FC236}">
                <a16:creationId xmlns:a16="http://schemas.microsoft.com/office/drawing/2014/main" id="{F8DB9E58-D495-C009-3F1E-1CB6B001DA6F}"/>
              </a:ext>
            </a:extLst>
          </p:cNvPr>
          <p:cNvGrpSpPr/>
          <p:nvPr/>
        </p:nvGrpSpPr>
        <p:grpSpPr>
          <a:xfrm>
            <a:off x="5111999" y="2100997"/>
            <a:ext cx="1551600" cy="1152000"/>
            <a:chOff x="5143498" y="2009366"/>
            <a:chExt cx="1551600" cy="1152000"/>
          </a:xfrm>
        </p:grpSpPr>
        <p:sp>
          <p:nvSpPr>
            <p:cNvPr id="28" name="Rectangle 27">
              <a:extLst>
                <a:ext uri="{FF2B5EF4-FFF2-40B4-BE49-F238E27FC236}">
                  <a16:creationId xmlns:a16="http://schemas.microsoft.com/office/drawing/2014/main" id="{CBB7A0DB-4B74-08CF-6FF9-BD5302671E95}"/>
                </a:ext>
              </a:extLst>
            </p:cNvPr>
            <p:cNvSpPr/>
            <p:nvPr/>
          </p:nvSpPr>
          <p:spPr>
            <a:xfrm>
              <a:off x="5143498" y="2009366"/>
              <a:ext cx="1551600" cy="1152000"/>
            </a:xfrm>
            <a:prstGeom prst="rect">
              <a:avLst/>
            </a:prstGeom>
            <a:no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Rectangle 28">
              <a:extLst>
                <a:ext uri="{FF2B5EF4-FFF2-40B4-BE49-F238E27FC236}">
                  <a16:creationId xmlns:a16="http://schemas.microsoft.com/office/drawing/2014/main" id="{2CB8052D-75EE-F7D2-1761-D8D12E13CFB4}"/>
                </a:ext>
              </a:extLst>
            </p:cNvPr>
            <p:cNvSpPr/>
            <p:nvPr/>
          </p:nvSpPr>
          <p:spPr>
            <a:xfrm>
              <a:off x="5143498" y="2014112"/>
              <a:ext cx="1551600" cy="398897"/>
            </a:xfrm>
            <a:prstGeom prst="rect">
              <a:avLst/>
            </a:prstGeom>
            <a:solidFill>
              <a:schemeClr val="accent1">
                <a:lumMod val="20000"/>
                <a:lumOff val="80000"/>
              </a:schemeClr>
            </a:solid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care-sm:Sex</a:t>
              </a:r>
              <a:endParaRPr lang="en-NL" sz="1000" dirty="0">
                <a:solidFill>
                  <a:schemeClr val="tx1"/>
                </a:solidFill>
              </a:endParaRPr>
            </a:p>
            <a:p>
              <a:r>
                <a:rPr lang="en-US" sz="1000" b="1" dirty="0">
                  <a:solidFill>
                    <a:schemeClr val="tx1"/>
                  </a:solidFill>
                </a:rPr>
                <a:t>("Biological sex"@</a:t>
              </a:r>
              <a:r>
                <a:rPr lang="en-US" sz="1000" b="1" dirty="0" err="1">
                  <a:solidFill>
                    <a:schemeClr val="tx1"/>
                  </a:solidFill>
                </a:rPr>
                <a:t>en</a:t>
              </a:r>
              <a:r>
                <a:rPr lang="en-US" sz="1000" b="1" dirty="0">
                  <a:solidFill>
                    <a:schemeClr val="tx1"/>
                  </a:solidFill>
                </a:rPr>
                <a:t>)</a:t>
              </a:r>
              <a:endParaRPr lang="en-NL" sz="1000" dirty="0">
                <a:solidFill>
                  <a:schemeClr val="tx1"/>
                </a:solidFill>
                <a:effectLst/>
              </a:endParaRPr>
            </a:p>
          </p:txBody>
        </p:sp>
      </p:grpSp>
      <p:grpSp>
        <p:nvGrpSpPr>
          <p:cNvPr id="39" name="Group 38">
            <a:extLst>
              <a:ext uri="{FF2B5EF4-FFF2-40B4-BE49-F238E27FC236}">
                <a16:creationId xmlns:a16="http://schemas.microsoft.com/office/drawing/2014/main" id="{0A955DB8-1DD7-13D5-31F0-A91FB41F8C00}"/>
              </a:ext>
            </a:extLst>
          </p:cNvPr>
          <p:cNvGrpSpPr/>
          <p:nvPr/>
        </p:nvGrpSpPr>
        <p:grpSpPr>
          <a:xfrm>
            <a:off x="8556802" y="3024915"/>
            <a:ext cx="1552918" cy="1152000"/>
            <a:chOff x="8585377" y="2996340"/>
            <a:chExt cx="1552918" cy="1152000"/>
          </a:xfrm>
        </p:grpSpPr>
        <p:sp>
          <p:nvSpPr>
            <p:cNvPr id="31" name="Rectangle 30">
              <a:extLst>
                <a:ext uri="{FF2B5EF4-FFF2-40B4-BE49-F238E27FC236}">
                  <a16:creationId xmlns:a16="http://schemas.microsoft.com/office/drawing/2014/main" id="{73F8E7AA-60D4-87CE-6031-F6C6271EF98A}"/>
                </a:ext>
              </a:extLst>
            </p:cNvPr>
            <p:cNvSpPr/>
            <p:nvPr/>
          </p:nvSpPr>
          <p:spPr>
            <a:xfrm>
              <a:off x="8585377" y="2996340"/>
              <a:ext cx="1552918" cy="1152000"/>
            </a:xfrm>
            <a:prstGeom prst="rect">
              <a:avLst/>
            </a:prstGeom>
            <a:no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Rectangle 31">
              <a:extLst>
                <a:ext uri="{FF2B5EF4-FFF2-40B4-BE49-F238E27FC236}">
                  <a16:creationId xmlns:a16="http://schemas.microsoft.com/office/drawing/2014/main" id="{F356F813-89E9-718B-782F-3F9EFFF53110}"/>
                </a:ext>
              </a:extLst>
            </p:cNvPr>
            <p:cNvSpPr/>
            <p:nvPr/>
          </p:nvSpPr>
          <p:spPr>
            <a:xfrm>
              <a:off x="8585377" y="2996340"/>
              <a:ext cx="1552918" cy="398897"/>
            </a:xfrm>
            <a:prstGeom prst="rect">
              <a:avLst/>
            </a:prstGeom>
            <a:solidFill>
              <a:schemeClr val="accent2">
                <a:lumMod val="20000"/>
                <a:lumOff val="80000"/>
              </a:schemeClr>
            </a:solid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r>
                <a:rPr lang="en-US" sz="900" b="1" dirty="0">
                  <a:solidFill>
                    <a:schemeClr val="tx1"/>
                  </a:solidFill>
                </a:rPr>
                <a:t>  loinc:107454-1</a:t>
              </a:r>
              <a:endParaRPr lang="en-NL" sz="900" dirty="0">
                <a:solidFill>
                  <a:schemeClr val="tx1"/>
                </a:solidFill>
              </a:endParaRPr>
            </a:p>
            <a:p>
              <a:r>
                <a:rPr lang="en-US" sz="900" b="1" dirty="0">
                  <a:solidFill>
                    <a:schemeClr val="tx1"/>
                  </a:solidFill>
                </a:rPr>
                <a:t>("Administrative gender"@</a:t>
              </a:r>
              <a:r>
                <a:rPr lang="en-US" sz="900" b="1" dirty="0" err="1">
                  <a:solidFill>
                    <a:schemeClr val="tx1"/>
                  </a:solidFill>
                </a:rPr>
                <a:t>en</a:t>
              </a:r>
              <a:r>
                <a:rPr lang="en-US" sz="900" b="1" dirty="0">
                  <a:solidFill>
                    <a:schemeClr val="tx1"/>
                  </a:solidFill>
                </a:rPr>
                <a:t>)</a:t>
              </a:r>
              <a:endParaRPr lang="en-NL" sz="900" dirty="0">
                <a:solidFill>
                  <a:schemeClr val="tx1"/>
                </a:solidFill>
                <a:effectLst/>
              </a:endParaRPr>
            </a:p>
          </p:txBody>
        </p:sp>
      </p:grpSp>
      <p:sp>
        <p:nvSpPr>
          <p:cNvPr id="33" name="Freeform: Shape 32">
            <a:extLst>
              <a:ext uri="{FF2B5EF4-FFF2-40B4-BE49-F238E27FC236}">
                <a16:creationId xmlns:a16="http://schemas.microsoft.com/office/drawing/2014/main" id="{2AFBF8BF-F5BC-18EF-7CB7-AFBEC6E7CCA1}"/>
              </a:ext>
            </a:extLst>
          </p:cNvPr>
          <p:cNvSpPr/>
          <p:nvPr/>
        </p:nvSpPr>
        <p:spPr>
          <a:xfrm>
            <a:off x="9460875" y="4128026"/>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grpSp>
        <p:nvGrpSpPr>
          <p:cNvPr id="38" name="Group 37">
            <a:extLst>
              <a:ext uri="{FF2B5EF4-FFF2-40B4-BE49-F238E27FC236}">
                <a16:creationId xmlns:a16="http://schemas.microsoft.com/office/drawing/2014/main" id="{37E8FCA7-0DEE-707A-183B-CB048EE35972}"/>
              </a:ext>
            </a:extLst>
          </p:cNvPr>
          <p:cNvGrpSpPr/>
          <p:nvPr/>
        </p:nvGrpSpPr>
        <p:grpSpPr>
          <a:xfrm>
            <a:off x="8849287" y="3934893"/>
            <a:ext cx="1551600" cy="1152000"/>
            <a:chOff x="7038287" y="2996339"/>
            <a:chExt cx="1551600" cy="1152000"/>
          </a:xfrm>
        </p:grpSpPr>
        <p:sp>
          <p:nvSpPr>
            <p:cNvPr id="35" name="Rectangle 34">
              <a:extLst>
                <a:ext uri="{FF2B5EF4-FFF2-40B4-BE49-F238E27FC236}">
                  <a16:creationId xmlns:a16="http://schemas.microsoft.com/office/drawing/2014/main" id="{AE87E5D4-DABC-00F0-C0C5-7692DA92CCEA}"/>
                </a:ext>
              </a:extLst>
            </p:cNvPr>
            <p:cNvSpPr/>
            <p:nvPr/>
          </p:nvSpPr>
          <p:spPr>
            <a:xfrm>
              <a:off x="7038287" y="2996339"/>
              <a:ext cx="1551600" cy="1152000"/>
            </a:xfrm>
            <a:prstGeom prst="rect">
              <a:avLst/>
            </a:prstGeom>
            <a:no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7ACF39D-93CA-E983-96EF-5ACB96BB750D}"/>
                </a:ext>
              </a:extLst>
            </p:cNvPr>
            <p:cNvSpPr/>
            <p:nvPr/>
          </p:nvSpPr>
          <p:spPr>
            <a:xfrm>
              <a:off x="7038287" y="2996340"/>
              <a:ext cx="1551600" cy="398897"/>
            </a:xfrm>
            <a:prstGeom prst="rect">
              <a:avLst/>
            </a:prstGeom>
            <a:solidFill>
              <a:schemeClr val="accent4">
                <a:lumMod val="20000"/>
                <a:lumOff val="80000"/>
              </a:schemeClr>
            </a:solid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openehr:legal-gender</a:t>
              </a:r>
              <a:endParaRPr lang="en-NL" sz="1000" dirty="0">
                <a:solidFill>
                  <a:schemeClr val="tx1"/>
                </a:solidFill>
              </a:endParaRPr>
            </a:p>
            <a:p>
              <a:r>
                <a:rPr lang="en-US" sz="1000" b="1" dirty="0">
                  <a:solidFill>
                    <a:schemeClr val="tx1"/>
                  </a:solidFill>
                </a:rPr>
                <a:t>("Legal gender"@</a:t>
              </a:r>
              <a:r>
                <a:rPr lang="en-US" sz="1000" b="1" dirty="0" err="1">
                  <a:solidFill>
                    <a:schemeClr val="tx1"/>
                  </a:solidFill>
                </a:rPr>
                <a:t>en</a:t>
              </a:r>
              <a:r>
                <a:rPr lang="en-US" sz="1000" b="1" dirty="0">
                  <a:solidFill>
                    <a:schemeClr val="tx1"/>
                  </a:solidFill>
                </a:rPr>
                <a:t>)</a:t>
              </a:r>
              <a:endParaRPr lang="en-NL" sz="1000" dirty="0">
                <a:solidFill>
                  <a:schemeClr val="tx1"/>
                </a:solidFill>
              </a:endParaRPr>
            </a:p>
          </p:txBody>
        </p:sp>
      </p:grpSp>
      <p:sp>
        <p:nvSpPr>
          <p:cNvPr id="5" name="TextBox 4">
            <a:extLst>
              <a:ext uri="{FF2B5EF4-FFF2-40B4-BE49-F238E27FC236}">
                <a16:creationId xmlns:a16="http://schemas.microsoft.com/office/drawing/2014/main" id="{1F3F3376-F747-5E5F-A0E2-E3242D0E9BC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78902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25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10D6357-FEDA-07C4-2E79-87293B89911C}"/>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4" name="Slide Number Placeholder 3">
            <a:extLst>
              <a:ext uri="{FF2B5EF4-FFF2-40B4-BE49-F238E27FC236}">
                <a16:creationId xmlns:a16="http://schemas.microsoft.com/office/drawing/2014/main" id="{3266A207-478C-85D4-AE06-3A4DA77082F9}"/>
              </a:ext>
            </a:extLst>
          </p:cNvPr>
          <p:cNvSpPr>
            <a:spLocks noGrp="1"/>
          </p:cNvSpPr>
          <p:nvPr>
            <p:ph type="sldNum" sz="quarter" idx="12"/>
          </p:nvPr>
        </p:nvSpPr>
        <p:spPr/>
        <p:txBody>
          <a:bodyPr/>
          <a:lstStyle/>
          <a:p>
            <a:fld id="{4FAB73BC-B049-4115-A692-8D63A059BFB8}" type="slidenum">
              <a:rPr lang="en-US" smtClean="0"/>
              <a:pPr/>
              <a:t>12</a:t>
            </a:fld>
            <a:endParaRPr lang="en-US" dirty="0"/>
          </a:p>
        </p:txBody>
      </p:sp>
      <p:sp>
        <p:nvSpPr>
          <p:cNvPr id="31" name="Freeform: Shape 30">
            <a:extLst>
              <a:ext uri="{FF2B5EF4-FFF2-40B4-BE49-F238E27FC236}">
                <a16:creationId xmlns:a16="http://schemas.microsoft.com/office/drawing/2014/main" id="{43B1D888-2C0A-2891-438B-A84D3B4E488D}"/>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26BE1A22-1967-E8D6-6B43-503E4587FA22}"/>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05B9FEC4-4F20-6DC7-8A86-99BA8947A418}"/>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DD177AD9-4A5F-D1CB-EB39-FA383430951D}"/>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6A1B8A6-4BBD-C71A-D1B8-289D428CD592}"/>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F1D024A3-7C4F-C7A7-8F0D-810BAE72C75C}"/>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4EB73CF1-81AD-5F91-32A2-C13D0444C6E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CFF18533-F490-BA5B-2FC2-6442476DFD8D}"/>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5E17471C-3480-BC6A-A9CA-2BA22227753A}"/>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759CD8B9-B8DC-9494-4989-36C8DAB6D504}"/>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77B10B39-596F-1C5D-BBDF-1C8502B4A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DC9C0B3E-B5E0-EB32-90D9-7578FE532C98}"/>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0DF450C7-C628-56F8-3267-DBB3A911FD5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2CB2E743-9E5A-8933-9A83-5E52ABABA0A9}"/>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433E4544-21C9-034A-AA55-A1C09263D70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71B71A2-37B9-F925-E873-8394DA8C33DC}"/>
              </a:ext>
            </a:extLst>
          </p:cNvPr>
          <p:cNvSpPr txBox="1"/>
          <p:nvPr/>
        </p:nvSpPr>
        <p:spPr>
          <a:xfrm>
            <a:off x="5468718" y="4500304"/>
            <a:ext cx="1239827"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HRIO</a:t>
            </a:r>
          </a:p>
          <a:p>
            <a:pPr algn="ctr"/>
            <a:r>
              <a:rPr lang="en-US" sz="1200" b="1" dirty="0">
                <a:ln>
                  <a:solidFill>
                    <a:schemeClr val="tx1">
                      <a:lumMod val="50000"/>
                      <a:lumOff val="50000"/>
                    </a:schemeClr>
                  </a:solidFill>
                </a:ln>
                <a:solidFill>
                  <a:schemeClr val="bg1"/>
                </a:solidFill>
              </a:rPr>
              <a:t>Computational</a:t>
            </a:r>
            <a:endParaRPr lang="en-NL" sz="1200" b="1" dirty="0">
              <a:ln>
                <a:solidFill>
                  <a:schemeClr val="tx1">
                    <a:lumMod val="50000"/>
                    <a:lumOff val="50000"/>
                  </a:schemeClr>
                </a:solidFill>
              </a:ln>
              <a:solidFill>
                <a:schemeClr val="bg1"/>
              </a:solidFill>
            </a:endParaRPr>
          </a:p>
        </p:txBody>
      </p:sp>
      <p:sp>
        <p:nvSpPr>
          <p:cNvPr id="21" name="TextBox 20">
            <a:extLst>
              <a:ext uri="{FF2B5EF4-FFF2-40B4-BE49-F238E27FC236}">
                <a16:creationId xmlns:a16="http://schemas.microsoft.com/office/drawing/2014/main" id="{1CEB764B-3E99-82C0-487E-6B4B7620A006}"/>
              </a:ext>
            </a:extLst>
          </p:cNvPr>
          <p:cNvSpPr txBox="1"/>
          <p:nvPr/>
        </p:nvSpPr>
        <p:spPr>
          <a:xfrm>
            <a:off x="6146123" y="3505364"/>
            <a:ext cx="1005404" cy="553998"/>
          </a:xfrm>
          <a:prstGeom prst="rect">
            <a:avLst/>
          </a:prstGeom>
          <a:noFill/>
          <a:ln>
            <a:noFill/>
          </a:ln>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4733BBD1-C909-EC80-ABD3-15DDC055B582}"/>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Freeform: Shape 23">
            <a:extLst>
              <a:ext uri="{FF2B5EF4-FFF2-40B4-BE49-F238E27FC236}">
                <a16:creationId xmlns:a16="http://schemas.microsoft.com/office/drawing/2014/main" id="{034FD3B9-871B-7454-A9D3-764ADF54E0ED}"/>
              </a:ext>
            </a:extLst>
          </p:cNvPr>
          <p:cNvSpPr/>
          <p:nvPr/>
        </p:nvSpPr>
        <p:spPr>
          <a:xfrm>
            <a:off x="2347254" y="2393736"/>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40" name="Group 39">
            <a:extLst>
              <a:ext uri="{FF2B5EF4-FFF2-40B4-BE49-F238E27FC236}">
                <a16:creationId xmlns:a16="http://schemas.microsoft.com/office/drawing/2014/main" id="{5D0CEAB0-61C5-E5FF-36F3-375C1B3076D5}"/>
              </a:ext>
            </a:extLst>
          </p:cNvPr>
          <p:cNvGrpSpPr/>
          <p:nvPr/>
        </p:nvGrpSpPr>
        <p:grpSpPr>
          <a:xfrm>
            <a:off x="785972" y="2418387"/>
            <a:ext cx="5026151" cy="1224496"/>
            <a:chOff x="1089807" y="2723025"/>
            <a:chExt cx="5026151" cy="1224496"/>
          </a:xfrm>
        </p:grpSpPr>
        <p:sp>
          <p:nvSpPr>
            <p:cNvPr id="41" name="TextBox 40">
              <a:extLst>
                <a:ext uri="{FF2B5EF4-FFF2-40B4-BE49-F238E27FC236}">
                  <a16:creationId xmlns:a16="http://schemas.microsoft.com/office/drawing/2014/main" id="{F8305D8A-4F30-B066-A4BD-BEBD767B307F}"/>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42" name="Group 41">
              <a:extLst>
                <a:ext uri="{FF2B5EF4-FFF2-40B4-BE49-F238E27FC236}">
                  <a16:creationId xmlns:a16="http://schemas.microsoft.com/office/drawing/2014/main" id="{EA522D65-EFD1-7D9E-BB93-52C79470EDC7}"/>
                </a:ext>
              </a:extLst>
            </p:cNvPr>
            <p:cNvGrpSpPr/>
            <p:nvPr/>
          </p:nvGrpSpPr>
          <p:grpSpPr>
            <a:xfrm>
              <a:off x="1089807" y="2723025"/>
              <a:ext cx="1224496" cy="1224496"/>
              <a:chOff x="1089807" y="2723025"/>
              <a:chExt cx="1224496" cy="1224496"/>
            </a:xfrm>
          </p:grpSpPr>
          <p:pic>
            <p:nvPicPr>
              <p:cNvPr id="43" name="Graphic 42" descr="Excellent with solid fill">
                <a:extLst>
                  <a:ext uri="{FF2B5EF4-FFF2-40B4-BE49-F238E27FC236}">
                    <a16:creationId xmlns:a16="http://schemas.microsoft.com/office/drawing/2014/main" id="{9C889803-521A-9AA1-7719-572C2016FF1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44" name="TextBox 43">
                <a:extLst>
                  <a:ext uri="{FF2B5EF4-FFF2-40B4-BE49-F238E27FC236}">
                    <a16:creationId xmlns:a16="http://schemas.microsoft.com/office/drawing/2014/main" id="{977B760C-FCDC-B7D1-12BD-9F2533E0E08C}"/>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886C3E9D-871D-0B66-722F-C62F0FBD5D7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6" name="Title 1">
            <a:extLst>
              <a:ext uri="{FF2B5EF4-FFF2-40B4-BE49-F238E27FC236}">
                <a16:creationId xmlns:a16="http://schemas.microsoft.com/office/drawing/2014/main" id="{9603FB29-44CE-0D74-5657-6927B710F6B1}"/>
              </a:ext>
            </a:extLst>
          </p:cNvPr>
          <p:cNvSpPr>
            <a:spLocks noGrp="1"/>
          </p:cNvSpPr>
          <p:nvPr>
            <p:ph type="title"/>
          </p:nvPr>
        </p:nvSpPr>
        <p:spPr>
          <a:xfrm>
            <a:off x="695325" y="385763"/>
            <a:ext cx="9153525" cy="930275"/>
          </a:xfrm>
        </p:spPr>
        <p:txBody>
          <a:bodyPr/>
          <a:lstStyle/>
          <a:p>
            <a:r>
              <a:rPr lang="en-US" sz="3600" dirty="0"/>
              <a:t>The Health-RI Conceptual Ontology</a:t>
            </a:r>
            <a:endParaRPr lang="en-NL" sz="3600" dirty="0"/>
          </a:p>
        </p:txBody>
      </p:sp>
    </p:spTree>
    <p:extLst>
      <p:ext uri="{BB962C8B-B14F-4D97-AF65-F5344CB8AC3E}">
        <p14:creationId xmlns:p14="http://schemas.microsoft.com/office/powerpoint/2010/main" val="40479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7992-E229-6AC7-07E2-2E26C5B65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4062B-17CE-297C-493C-D77EEB321988}"/>
              </a:ext>
            </a:extLst>
          </p:cNvPr>
          <p:cNvSpPr>
            <a:spLocks noGrp="1"/>
          </p:cNvSpPr>
          <p:nvPr>
            <p:ph type="title"/>
          </p:nvPr>
        </p:nvSpPr>
        <p:spPr/>
        <p:txBody>
          <a:bodyPr/>
          <a:lstStyle/>
          <a:p>
            <a:r>
              <a:rPr lang="en-US" sz="3600" dirty="0"/>
              <a:t>HRIO Taxonomies for Sex and Gender</a:t>
            </a:r>
            <a:endParaRPr lang="en-NL" sz="3600" dirty="0"/>
          </a:p>
        </p:txBody>
      </p:sp>
      <p:sp>
        <p:nvSpPr>
          <p:cNvPr id="4" name="Slide Number Placeholder 3">
            <a:extLst>
              <a:ext uri="{FF2B5EF4-FFF2-40B4-BE49-F238E27FC236}">
                <a16:creationId xmlns:a16="http://schemas.microsoft.com/office/drawing/2014/main" id="{D40CEB31-3681-926B-116B-7D857604F7C6}"/>
              </a:ext>
            </a:extLst>
          </p:cNvPr>
          <p:cNvSpPr>
            <a:spLocks noGrp="1"/>
          </p:cNvSpPr>
          <p:nvPr>
            <p:ph type="sldNum" sz="quarter" idx="12"/>
          </p:nvPr>
        </p:nvSpPr>
        <p:spPr/>
        <p:txBody>
          <a:bodyPr/>
          <a:lstStyle/>
          <a:p>
            <a:fld id="{4FAB73BC-B049-4115-A692-8D63A059BFB8}" type="slidenum">
              <a:rPr lang="en-US" smtClean="0"/>
              <a:pPr/>
              <a:t>13</a:t>
            </a:fld>
            <a:endParaRPr lang="en-US" dirty="0"/>
          </a:p>
        </p:txBody>
      </p:sp>
      <p:grpSp>
        <p:nvGrpSpPr>
          <p:cNvPr id="66" name="Group 65">
            <a:extLst>
              <a:ext uri="{FF2B5EF4-FFF2-40B4-BE49-F238E27FC236}">
                <a16:creationId xmlns:a16="http://schemas.microsoft.com/office/drawing/2014/main" id="{D6A4639C-C10A-1890-4BF5-11488496F8EE}"/>
              </a:ext>
            </a:extLst>
          </p:cNvPr>
          <p:cNvGrpSpPr/>
          <p:nvPr/>
        </p:nvGrpSpPr>
        <p:grpSpPr>
          <a:xfrm>
            <a:off x="805760" y="1704976"/>
            <a:ext cx="10587698" cy="4200524"/>
            <a:chOff x="1560542" y="1629620"/>
            <a:chExt cx="9070915" cy="3598761"/>
          </a:xfrm>
        </p:grpSpPr>
        <p:grpSp>
          <p:nvGrpSpPr>
            <p:cNvPr id="64" name="Group 63">
              <a:extLst>
                <a:ext uri="{FF2B5EF4-FFF2-40B4-BE49-F238E27FC236}">
                  <a16:creationId xmlns:a16="http://schemas.microsoft.com/office/drawing/2014/main" id="{86BE0B36-A016-5628-5BD2-9B16BC9DF600}"/>
                </a:ext>
              </a:extLst>
            </p:cNvPr>
            <p:cNvGrpSpPr/>
            <p:nvPr/>
          </p:nvGrpSpPr>
          <p:grpSpPr>
            <a:xfrm>
              <a:off x="1560542" y="1629620"/>
              <a:ext cx="4319483" cy="3598761"/>
              <a:chOff x="1560542" y="1629620"/>
              <a:chExt cx="4319483" cy="3598761"/>
            </a:xfrm>
          </p:grpSpPr>
          <p:sp>
            <p:nvSpPr>
              <p:cNvPr id="60" name="Rectangle 59">
                <a:extLst>
                  <a:ext uri="{FF2B5EF4-FFF2-40B4-BE49-F238E27FC236}">
                    <a16:creationId xmlns:a16="http://schemas.microsoft.com/office/drawing/2014/main" id="{F3D3ACD7-6147-E07D-D763-9911B8E5892B}"/>
                  </a:ext>
                </a:extLst>
              </p:cNvPr>
              <p:cNvSpPr/>
              <p:nvPr/>
            </p:nvSpPr>
            <p:spPr>
              <a:xfrm>
                <a:off x="1560542" y="1629620"/>
                <a:ext cx="4319483" cy="3455587"/>
              </a:xfrm>
              <a:prstGeom prst="rect">
                <a:avLst/>
              </a:prstGeom>
              <a:blipFill dpi="0" rotWithShape="1">
                <a:blip r:embed="rId3"/>
                <a:srcRect/>
                <a:stretch>
                  <a:fillRect l="3945" t="12959" r="3945" b="12959"/>
                </a:stretch>
              </a:blipFill>
              <a:ln>
                <a:solidFill>
                  <a:schemeClr val="accent2"/>
                </a:solid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61" name="Freeform: Shape 60">
                <a:extLst>
                  <a:ext uri="{FF2B5EF4-FFF2-40B4-BE49-F238E27FC236}">
                    <a16:creationId xmlns:a16="http://schemas.microsoft.com/office/drawing/2014/main" id="{3313BAAD-1300-DA7A-45CE-EBE2EAB073E6}"/>
                  </a:ext>
                </a:extLst>
              </p:cNvPr>
              <p:cNvSpPr/>
              <p:nvPr/>
            </p:nvSpPr>
            <p:spPr>
              <a:xfrm>
                <a:off x="1949295"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2"/>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Sex</a:t>
                </a:r>
                <a:endParaRPr lang="en-NL" sz="3200" kern="1200" dirty="0"/>
              </a:p>
            </p:txBody>
          </p:sp>
        </p:grpSp>
        <p:grpSp>
          <p:nvGrpSpPr>
            <p:cNvPr id="65" name="Group 64">
              <a:extLst>
                <a:ext uri="{FF2B5EF4-FFF2-40B4-BE49-F238E27FC236}">
                  <a16:creationId xmlns:a16="http://schemas.microsoft.com/office/drawing/2014/main" id="{164917BD-8983-9693-E178-384CE58508EC}"/>
                </a:ext>
              </a:extLst>
            </p:cNvPr>
            <p:cNvGrpSpPr/>
            <p:nvPr/>
          </p:nvGrpSpPr>
          <p:grpSpPr>
            <a:xfrm>
              <a:off x="6311974" y="1629620"/>
              <a:ext cx="4319483" cy="3598761"/>
              <a:chOff x="6311974" y="1629620"/>
              <a:chExt cx="4319483" cy="3598761"/>
            </a:xfrm>
          </p:grpSpPr>
          <p:sp>
            <p:nvSpPr>
              <p:cNvPr id="62" name="Rectangle 61">
                <a:extLst>
                  <a:ext uri="{FF2B5EF4-FFF2-40B4-BE49-F238E27FC236}">
                    <a16:creationId xmlns:a16="http://schemas.microsoft.com/office/drawing/2014/main" id="{1896E40E-71D7-1675-47C8-EA61C49FC090}"/>
                  </a:ext>
                </a:extLst>
              </p:cNvPr>
              <p:cNvSpPr/>
              <p:nvPr/>
            </p:nvSpPr>
            <p:spPr>
              <a:xfrm>
                <a:off x="6311974" y="1629620"/>
                <a:ext cx="4319483" cy="3455587"/>
              </a:xfrm>
              <a:prstGeom prst="rect">
                <a:avLst/>
              </a:prstGeom>
              <a:blipFill dpi="0" rotWithShape="1">
                <a:blip r:embed="rId4"/>
                <a:srcRect/>
                <a:stretch>
                  <a:fillRect l="2517" t="11175" r="2517" b="11175"/>
                </a:stretch>
              </a:blipFill>
              <a:ln>
                <a:solidFill>
                  <a:schemeClr val="accent1"/>
                </a:solidFill>
              </a:ln>
            </p:spPr>
            <p:style>
              <a:lnRef idx="2">
                <a:schemeClr val="lt1">
                  <a:hueOff val="0"/>
                  <a:satOff val="0"/>
                  <a:lumOff val="0"/>
                  <a:alphaOff val="0"/>
                </a:schemeClr>
              </a:lnRef>
              <a:fillRef idx="1">
                <a:scrgbClr r="0" g="0" b="0"/>
              </a:fillRef>
              <a:effectRef idx="0">
                <a:schemeClr val="accent1">
                  <a:tint val="50000"/>
                  <a:hueOff val="-11648130"/>
                  <a:satOff val="76319"/>
                  <a:lumOff val="18296"/>
                  <a:alphaOff val="0"/>
                </a:schemeClr>
              </a:effectRef>
              <a:fontRef idx="minor">
                <a:schemeClr val="lt1">
                  <a:hueOff val="0"/>
                  <a:satOff val="0"/>
                  <a:lumOff val="0"/>
                  <a:alphaOff val="0"/>
                </a:schemeClr>
              </a:fontRef>
            </p:style>
            <p:txBody>
              <a:bodyPr/>
              <a:lstStyle/>
              <a:p>
                <a:endParaRPr lang="en-NL"/>
              </a:p>
            </p:txBody>
          </p:sp>
          <p:sp>
            <p:nvSpPr>
              <p:cNvPr id="63" name="Freeform: Shape 62">
                <a:extLst>
                  <a:ext uri="{FF2B5EF4-FFF2-40B4-BE49-F238E27FC236}">
                    <a16:creationId xmlns:a16="http://schemas.microsoft.com/office/drawing/2014/main" id="{70D1F94D-2946-D618-8A25-E61DFFF00E78}"/>
                  </a:ext>
                </a:extLst>
              </p:cNvPr>
              <p:cNvSpPr/>
              <p:nvPr/>
            </p:nvSpPr>
            <p:spPr>
              <a:xfrm>
                <a:off x="6700728"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1"/>
              </a:solidFill>
              <a:ln>
                <a:solidFill>
                  <a:schemeClr val="accent1"/>
                </a:solid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Gender</a:t>
                </a:r>
                <a:endParaRPr lang="en-NL" sz="3200" kern="1200" dirty="0"/>
              </a:p>
            </p:txBody>
          </p:sp>
        </p:grpSp>
      </p:grpSp>
      <p:sp>
        <p:nvSpPr>
          <p:cNvPr id="67" name="Rectangle 66">
            <a:extLst>
              <a:ext uri="{FF2B5EF4-FFF2-40B4-BE49-F238E27FC236}">
                <a16:creationId xmlns:a16="http://schemas.microsoft.com/office/drawing/2014/main" id="{8F02E293-835B-02C1-A970-19655D9AB547}"/>
              </a:ext>
            </a:extLst>
          </p:cNvPr>
          <p:cNvSpPr/>
          <p:nvPr/>
        </p:nvSpPr>
        <p:spPr>
          <a:xfrm>
            <a:off x="894660" y="2097087"/>
            <a:ext cx="1746940" cy="390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8" name="Rectangle 67">
            <a:extLst>
              <a:ext uri="{FF2B5EF4-FFF2-40B4-BE49-F238E27FC236}">
                <a16:creationId xmlns:a16="http://schemas.microsoft.com/office/drawing/2014/main" id="{4E63156A-A2BD-1BBA-02F0-3C000D3C54EE}"/>
              </a:ext>
            </a:extLst>
          </p:cNvPr>
          <p:cNvSpPr/>
          <p:nvPr/>
        </p:nvSpPr>
        <p:spPr>
          <a:xfrm>
            <a:off x="6451600" y="2006600"/>
            <a:ext cx="1501775" cy="2857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58801D53-3884-8EEF-34D8-8DFA4520E2F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046864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8DA7-F56B-90E6-8C37-FCE93DDEF90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5AB9760-91F1-673F-7F8F-A09A57A99B44}"/>
              </a:ext>
            </a:extLst>
          </p:cNvPr>
          <p:cNvPicPr>
            <a:picLocks noChangeAspect="1"/>
          </p:cNvPicPr>
          <p:nvPr/>
        </p:nvPicPr>
        <p:blipFill>
          <a:blip r:embed="rId3"/>
          <a:stretch>
            <a:fillRect/>
          </a:stretch>
        </p:blipFill>
        <p:spPr>
          <a:xfrm>
            <a:off x="695324" y="1567515"/>
            <a:ext cx="10801351" cy="3602108"/>
          </a:xfrm>
          <a:prstGeom prst="rect">
            <a:avLst/>
          </a:prstGeom>
        </p:spPr>
      </p:pic>
      <p:sp>
        <p:nvSpPr>
          <p:cNvPr id="2" name="Title 1">
            <a:extLst>
              <a:ext uri="{FF2B5EF4-FFF2-40B4-BE49-F238E27FC236}">
                <a16:creationId xmlns:a16="http://schemas.microsoft.com/office/drawing/2014/main" id="{415820E4-A608-E26C-EC56-E5127EF84DE0}"/>
              </a:ext>
            </a:extLst>
          </p:cNvPr>
          <p:cNvSpPr>
            <a:spLocks noGrp="1"/>
          </p:cNvSpPr>
          <p:nvPr>
            <p:ph type="title"/>
          </p:nvPr>
        </p:nvSpPr>
        <p:spPr>
          <a:xfrm>
            <a:off x="695327" y="386001"/>
            <a:ext cx="9288461" cy="929259"/>
          </a:xfrm>
        </p:spPr>
        <p:txBody>
          <a:bodyPr/>
          <a:lstStyle/>
          <a:p>
            <a:r>
              <a:rPr lang="en-US" sz="3600" dirty="0"/>
              <a:t>Variables Map to Distinct Meanings</a:t>
            </a:r>
            <a:endParaRPr lang="en-NL" sz="4400" dirty="0"/>
          </a:p>
        </p:txBody>
      </p:sp>
      <p:sp>
        <p:nvSpPr>
          <p:cNvPr id="4" name="Slide Number Placeholder 3">
            <a:extLst>
              <a:ext uri="{FF2B5EF4-FFF2-40B4-BE49-F238E27FC236}">
                <a16:creationId xmlns:a16="http://schemas.microsoft.com/office/drawing/2014/main" id="{5E76FF41-5EB3-17BA-3C8B-9A59746D4571}"/>
              </a:ext>
            </a:extLst>
          </p:cNvPr>
          <p:cNvSpPr>
            <a:spLocks noGrp="1"/>
          </p:cNvSpPr>
          <p:nvPr>
            <p:ph type="sldNum" sz="quarter" idx="12"/>
          </p:nvPr>
        </p:nvSpPr>
        <p:spPr/>
        <p:txBody>
          <a:bodyPr/>
          <a:lstStyle/>
          <a:p>
            <a:fld id="{4FAB73BC-B049-4115-A692-8D63A059BFB8}" type="slidenum">
              <a:rPr lang="en-US" smtClean="0"/>
              <a:pPr/>
              <a:t>14</a:t>
            </a:fld>
            <a:endParaRPr lang="en-US" dirty="0"/>
          </a:p>
        </p:txBody>
      </p:sp>
      <p:grpSp>
        <p:nvGrpSpPr>
          <p:cNvPr id="8" name="Group 7">
            <a:extLst>
              <a:ext uri="{FF2B5EF4-FFF2-40B4-BE49-F238E27FC236}">
                <a16:creationId xmlns:a16="http://schemas.microsoft.com/office/drawing/2014/main" id="{3AA39D5E-3313-2E69-EC55-2832ED504DE5}"/>
              </a:ext>
            </a:extLst>
          </p:cNvPr>
          <p:cNvGrpSpPr/>
          <p:nvPr/>
        </p:nvGrpSpPr>
        <p:grpSpPr>
          <a:xfrm>
            <a:off x="888191" y="4016010"/>
            <a:ext cx="3291520" cy="1838518"/>
            <a:chOff x="888191" y="4016010"/>
            <a:chExt cx="3291520" cy="1838518"/>
          </a:xfrm>
        </p:grpSpPr>
        <p:sp>
          <p:nvSpPr>
            <p:cNvPr id="18" name="Freeform: Shape 17">
              <a:extLst>
                <a:ext uri="{FF2B5EF4-FFF2-40B4-BE49-F238E27FC236}">
                  <a16:creationId xmlns:a16="http://schemas.microsoft.com/office/drawing/2014/main" id="{B5DA3D58-6A72-A25F-4D46-25F7351FF8D4}"/>
                </a:ext>
              </a:extLst>
            </p:cNvPr>
            <p:cNvSpPr/>
            <p:nvPr/>
          </p:nvSpPr>
          <p:spPr>
            <a:xfrm>
              <a:off x="888191"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care-sm:Sex</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“Biological sex”@</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0" name="Freeform: Shape 19">
              <a:extLst>
                <a:ext uri="{FF2B5EF4-FFF2-40B4-BE49-F238E27FC236}">
                  <a16:creationId xmlns:a16="http://schemas.microsoft.com/office/drawing/2014/main" id="{7216D57E-3BE3-44C3-4F24-54FC4540B99F}"/>
                </a:ext>
              </a:extLst>
            </p:cNvPr>
            <p:cNvSpPr/>
            <p:nvPr/>
          </p:nvSpPr>
          <p:spPr>
            <a:xfrm>
              <a:off x="888191"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50800" dist="38100" dir="8100000" algn="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600"/>
                </a:spcBef>
                <a:buNone/>
              </a:pPr>
              <a:r>
                <a:rPr lang="en-US" sz="1600" b="1" kern="1200" dirty="0">
                  <a:latin typeface="Courier New" panose="02070309020205020404" pitchFamily="49" charset="0"/>
                  <a:cs typeface="Courier New" panose="02070309020205020404" pitchFamily="49" charset="0"/>
                </a:rPr>
                <a:t>HRIO’s Sex</a:t>
              </a:r>
              <a:endParaRPr lang="en-NL" sz="1600" b="1" kern="1200" dirty="0">
                <a:latin typeface="Courier New" panose="02070309020205020404" pitchFamily="49" charset="0"/>
                <a:cs typeface="Courier New" panose="02070309020205020404" pitchFamily="49" charset="0"/>
              </a:endParaRPr>
            </a:p>
          </p:txBody>
        </p:sp>
        <p:sp>
          <p:nvSpPr>
            <p:cNvPr id="19" name="Arrow: Right 18">
              <a:extLst>
                <a:ext uri="{FF2B5EF4-FFF2-40B4-BE49-F238E27FC236}">
                  <a16:creationId xmlns:a16="http://schemas.microsoft.com/office/drawing/2014/main" id="{399CBB2C-29D0-28D1-3F2C-8C84D2D66FC4}"/>
                </a:ext>
              </a:extLst>
            </p:cNvPr>
            <p:cNvSpPr/>
            <p:nvPr/>
          </p:nvSpPr>
          <p:spPr>
            <a:xfrm rot="5400000">
              <a:off x="2353951"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9" name="Group 8">
            <a:extLst>
              <a:ext uri="{FF2B5EF4-FFF2-40B4-BE49-F238E27FC236}">
                <a16:creationId xmlns:a16="http://schemas.microsoft.com/office/drawing/2014/main" id="{20E439BB-B96F-4D9D-1358-A257A5E0F2D5}"/>
              </a:ext>
            </a:extLst>
          </p:cNvPr>
          <p:cNvGrpSpPr/>
          <p:nvPr/>
        </p:nvGrpSpPr>
        <p:grpSpPr>
          <a:xfrm>
            <a:off x="4456374" y="4016010"/>
            <a:ext cx="3291520" cy="1838518"/>
            <a:chOff x="4450023" y="4016010"/>
            <a:chExt cx="3291520" cy="1838518"/>
          </a:xfrm>
        </p:grpSpPr>
        <p:sp>
          <p:nvSpPr>
            <p:cNvPr id="21" name="Freeform: Shape 20">
              <a:extLst>
                <a:ext uri="{FF2B5EF4-FFF2-40B4-BE49-F238E27FC236}">
                  <a16:creationId xmlns:a16="http://schemas.microsoft.com/office/drawing/2014/main" id="{C446BDDC-F3C0-F811-5E90-B2B98F839891}"/>
                </a:ext>
              </a:extLst>
            </p:cNvPr>
            <p:cNvSpPr/>
            <p:nvPr/>
          </p:nvSpPr>
          <p:spPr>
            <a:xfrm>
              <a:off x="4450023"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hri-openehr:legal-gender</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“Legal gender”@</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3" name="Freeform: Shape 22">
              <a:extLst>
                <a:ext uri="{FF2B5EF4-FFF2-40B4-BE49-F238E27FC236}">
                  <a16:creationId xmlns:a16="http://schemas.microsoft.com/office/drawing/2014/main" id="{1B5243F9-3C79-26EB-5ACC-8DD536A33D87}"/>
                </a:ext>
              </a:extLst>
            </p:cNvPr>
            <p:cNvSpPr/>
            <p:nvPr/>
          </p:nvSpPr>
          <p:spPr>
            <a:xfrm>
              <a:off x="4450023"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Legal Gender</a:t>
              </a:r>
              <a:endParaRPr lang="en-NL" sz="1600" b="1" kern="1200" dirty="0">
                <a:latin typeface="Courier New" panose="02070309020205020404" pitchFamily="49" charset="0"/>
                <a:cs typeface="Courier New" panose="02070309020205020404" pitchFamily="49" charset="0"/>
              </a:endParaRPr>
            </a:p>
          </p:txBody>
        </p:sp>
        <p:sp>
          <p:nvSpPr>
            <p:cNvPr id="22" name="Arrow: Right 21">
              <a:extLst>
                <a:ext uri="{FF2B5EF4-FFF2-40B4-BE49-F238E27FC236}">
                  <a16:creationId xmlns:a16="http://schemas.microsoft.com/office/drawing/2014/main" id="{C4A881DA-D55F-432A-C087-2841428580AB}"/>
                </a:ext>
              </a:extLst>
            </p:cNvPr>
            <p:cNvSpPr/>
            <p:nvPr/>
          </p:nvSpPr>
          <p:spPr>
            <a:xfrm rot="5400000">
              <a:off x="5930086"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10" name="Group 9">
            <a:extLst>
              <a:ext uri="{FF2B5EF4-FFF2-40B4-BE49-F238E27FC236}">
                <a16:creationId xmlns:a16="http://schemas.microsoft.com/office/drawing/2014/main" id="{BAD5496C-B1EE-A72F-BDF3-74B04BE79E33}"/>
              </a:ext>
            </a:extLst>
          </p:cNvPr>
          <p:cNvGrpSpPr/>
          <p:nvPr/>
        </p:nvGrpSpPr>
        <p:grpSpPr>
          <a:xfrm>
            <a:off x="8024556" y="4016010"/>
            <a:ext cx="3291520" cy="1838518"/>
            <a:chOff x="8024556" y="4016010"/>
            <a:chExt cx="3291520" cy="1838518"/>
          </a:xfrm>
        </p:grpSpPr>
        <p:sp>
          <p:nvSpPr>
            <p:cNvPr id="24" name="Freeform: Shape 23">
              <a:extLst>
                <a:ext uri="{FF2B5EF4-FFF2-40B4-BE49-F238E27FC236}">
                  <a16:creationId xmlns:a16="http://schemas.microsoft.com/office/drawing/2014/main" id="{4C5DCE7D-9E3A-26D3-8859-426BF5A97925}"/>
                </a:ext>
              </a:extLst>
            </p:cNvPr>
            <p:cNvSpPr/>
            <p:nvPr/>
          </p:nvSpPr>
          <p:spPr>
            <a:xfrm>
              <a:off x="8024556"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lvl="0" algn="ctr" defTabSz="622300">
                <a:spcBef>
                  <a:spcPts val="600"/>
                </a:spcBef>
              </a:pPr>
              <a:r>
                <a:rPr lang="en-US" sz="1600" b="1" dirty="0">
                  <a:latin typeface="Courier New" panose="02070309020205020404" pitchFamily="49" charset="0"/>
                  <a:cs typeface="Courier New" panose="02070309020205020404" pitchFamily="49" charset="0"/>
                </a:rPr>
                <a:t>loinc:107454-1</a:t>
              </a:r>
            </a:p>
            <a:p>
              <a:pPr lvl="0" algn="ctr" defTabSz="622300">
                <a:spcBef>
                  <a:spcPts val="600"/>
                </a:spcBef>
              </a:pPr>
              <a:r>
                <a:rPr lang="en-US" sz="1600" dirty="0">
                  <a:latin typeface="Courier New" panose="02070309020205020404" pitchFamily="49" charset="0"/>
                  <a:cs typeface="Courier New" panose="02070309020205020404" pitchFamily="49" charset="0"/>
                </a:rPr>
                <a:t>“Administrative gender”@</a:t>
              </a:r>
              <a:r>
                <a:rPr lang="en-US" sz="1600" dirty="0" err="1">
                  <a:latin typeface="Courier New" panose="02070309020205020404" pitchFamily="49" charset="0"/>
                  <a:cs typeface="Courier New" panose="02070309020205020404" pitchFamily="49" charset="0"/>
                </a:rPr>
                <a:t>en</a:t>
              </a:r>
              <a:endParaRPr lang="en-US" sz="1600" dirty="0">
                <a:latin typeface="Courier New" panose="02070309020205020404" pitchFamily="49" charset="0"/>
                <a:cs typeface="Courier New" panose="02070309020205020404" pitchFamily="49" charset="0"/>
              </a:endParaRPr>
            </a:p>
          </p:txBody>
        </p:sp>
        <p:sp>
          <p:nvSpPr>
            <p:cNvPr id="26" name="Freeform: Shape 25">
              <a:extLst>
                <a:ext uri="{FF2B5EF4-FFF2-40B4-BE49-F238E27FC236}">
                  <a16:creationId xmlns:a16="http://schemas.microsoft.com/office/drawing/2014/main" id="{0320FB1C-10D6-354F-AD29-D596FBA8E345}"/>
                </a:ext>
              </a:extLst>
            </p:cNvPr>
            <p:cNvSpPr/>
            <p:nvPr/>
          </p:nvSpPr>
          <p:spPr>
            <a:xfrm>
              <a:off x="8024556"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Administrative Gender</a:t>
              </a:r>
              <a:endParaRPr lang="en-NL" sz="1600" b="1" kern="1200" dirty="0">
                <a:latin typeface="Courier New" panose="02070309020205020404" pitchFamily="49" charset="0"/>
                <a:cs typeface="Courier New" panose="02070309020205020404" pitchFamily="49" charset="0"/>
              </a:endParaRPr>
            </a:p>
          </p:txBody>
        </p:sp>
        <p:sp>
          <p:nvSpPr>
            <p:cNvPr id="25" name="Arrow: Right 24">
              <a:extLst>
                <a:ext uri="{FF2B5EF4-FFF2-40B4-BE49-F238E27FC236}">
                  <a16:creationId xmlns:a16="http://schemas.microsoft.com/office/drawing/2014/main" id="{226D901C-0DDD-18D2-B0A8-2326CD33E155}"/>
                </a:ext>
              </a:extLst>
            </p:cNvPr>
            <p:cNvSpPr/>
            <p:nvPr/>
          </p:nvSpPr>
          <p:spPr>
            <a:xfrm rot="5400000">
              <a:off x="9518924"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sp>
        <p:nvSpPr>
          <p:cNvPr id="5" name="TextBox 4">
            <a:extLst>
              <a:ext uri="{FF2B5EF4-FFF2-40B4-BE49-F238E27FC236}">
                <a16:creationId xmlns:a16="http://schemas.microsoft.com/office/drawing/2014/main" id="{512B64B0-3D4D-BCC7-92C8-173B320D775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473273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1EFCC-225A-A07D-5F9E-307C838D810D}"/>
            </a:ext>
          </a:extLst>
        </p:cNvPr>
        <p:cNvGrpSpPr/>
        <p:nvPr/>
      </p:nvGrpSpPr>
      <p:grpSpPr>
        <a:xfrm>
          <a:off x="0" y="0"/>
          <a:ext cx="0" cy="0"/>
          <a:chOff x="0" y="0"/>
          <a:chExt cx="0" cy="0"/>
        </a:xfrm>
      </p:grpSpPr>
      <p:graphicFrame>
        <p:nvGraphicFramePr>
          <p:cNvPr id="57" name="Content Placeholder 4">
            <a:extLst>
              <a:ext uri="{FF2B5EF4-FFF2-40B4-BE49-F238E27FC236}">
                <a16:creationId xmlns:a16="http://schemas.microsoft.com/office/drawing/2014/main" id="{DF5E1460-AFF6-B0E6-CEC9-A75F9114814B}"/>
              </a:ext>
            </a:extLst>
          </p:cNvPr>
          <p:cNvGraphicFramePr>
            <a:graphicFrameLocks/>
          </p:cNvGraphicFramePr>
          <p:nvPr>
            <p:extLst>
              <p:ext uri="{D42A27DB-BD31-4B8C-83A1-F6EECF244321}">
                <p14:modId xmlns:p14="http://schemas.microsoft.com/office/powerpoint/2010/main" val="302257295"/>
              </p:ext>
            </p:extLst>
          </p:nvPr>
        </p:nvGraphicFramePr>
        <p:xfrm>
          <a:off x="8040280"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58" name="Rectangle: Rounded Corners 57">
            <a:extLst>
              <a:ext uri="{FF2B5EF4-FFF2-40B4-BE49-F238E27FC236}">
                <a16:creationId xmlns:a16="http://schemas.microsoft.com/office/drawing/2014/main" id="{340785FF-9467-0E30-1E57-7988A43BCCC6}"/>
              </a:ext>
            </a:extLst>
          </p:cNvPr>
          <p:cNvSpPr/>
          <p:nvPr/>
        </p:nvSpPr>
        <p:spPr>
          <a:xfrm>
            <a:off x="9742090"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59" name="Content Placeholder 4">
            <a:extLst>
              <a:ext uri="{FF2B5EF4-FFF2-40B4-BE49-F238E27FC236}">
                <a16:creationId xmlns:a16="http://schemas.microsoft.com/office/drawing/2014/main" id="{B5FA0AE0-D4D0-B55D-F058-DACD6DB79A02}"/>
              </a:ext>
            </a:extLst>
          </p:cNvPr>
          <p:cNvGraphicFramePr>
            <a:graphicFrameLocks/>
          </p:cNvGraphicFramePr>
          <p:nvPr>
            <p:extLst>
              <p:ext uri="{D42A27DB-BD31-4B8C-83A1-F6EECF244321}">
                <p14:modId xmlns:p14="http://schemas.microsoft.com/office/powerpoint/2010/main" val="3331900790"/>
              </p:ext>
            </p:extLst>
          </p:nvPr>
        </p:nvGraphicFramePr>
        <p:xfrm>
          <a:off x="8040280"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0" name="Rectangle: Rounded Corners 59">
            <a:extLst>
              <a:ext uri="{FF2B5EF4-FFF2-40B4-BE49-F238E27FC236}">
                <a16:creationId xmlns:a16="http://schemas.microsoft.com/office/drawing/2014/main" id="{A74250FB-8B50-789F-B4AA-9170EC062CF6}"/>
              </a:ext>
            </a:extLst>
          </p:cNvPr>
          <p:cNvSpPr/>
          <p:nvPr/>
        </p:nvSpPr>
        <p:spPr>
          <a:xfrm>
            <a:off x="9742091"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61" name="Content Placeholder 4">
            <a:extLst>
              <a:ext uri="{FF2B5EF4-FFF2-40B4-BE49-F238E27FC236}">
                <a16:creationId xmlns:a16="http://schemas.microsoft.com/office/drawing/2014/main" id="{3AD2F0E7-27EA-2BD3-2376-204BCAA6B3C4}"/>
              </a:ext>
            </a:extLst>
          </p:cNvPr>
          <p:cNvGraphicFramePr>
            <a:graphicFrameLocks/>
          </p:cNvGraphicFramePr>
          <p:nvPr>
            <p:extLst>
              <p:ext uri="{D42A27DB-BD31-4B8C-83A1-F6EECF244321}">
                <p14:modId xmlns:p14="http://schemas.microsoft.com/office/powerpoint/2010/main" val="2766951376"/>
              </p:ext>
            </p:extLst>
          </p:nvPr>
        </p:nvGraphicFramePr>
        <p:xfrm>
          <a:off x="8040280"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2" name="Rectangle: Rounded Corners 61">
            <a:extLst>
              <a:ext uri="{FF2B5EF4-FFF2-40B4-BE49-F238E27FC236}">
                <a16:creationId xmlns:a16="http://schemas.microsoft.com/office/drawing/2014/main" id="{2D5D23A7-240F-CD85-EDC1-D330E538B8A2}"/>
              </a:ext>
            </a:extLst>
          </p:cNvPr>
          <p:cNvSpPr/>
          <p:nvPr/>
        </p:nvSpPr>
        <p:spPr>
          <a:xfrm>
            <a:off x="9742090"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63" name="Picture 62">
            <a:extLst>
              <a:ext uri="{FF2B5EF4-FFF2-40B4-BE49-F238E27FC236}">
                <a16:creationId xmlns:a16="http://schemas.microsoft.com/office/drawing/2014/main" id="{0A7D41A3-2FD9-D54B-C671-256469C887A5}"/>
              </a:ext>
            </a:extLst>
          </p:cNvPr>
          <p:cNvPicPr>
            <a:picLocks noChangeAspect="1"/>
          </p:cNvPicPr>
          <p:nvPr/>
        </p:nvPicPr>
        <p:blipFill>
          <a:blip r:embed="rId3"/>
          <a:srcRect l="17222" t="33069" r="27186" b="41346"/>
          <a:stretch>
            <a:fillRect/>
          </a:stretch>
        </p:blipFill>
        <p:spPr>
          <a:xfrm>
            <a:off x="9843095" y="2477918"/>
            <a:ext cx="1440178" cy="441874"/>
          </a:xfrm>
          <a:prstGeom prst="rect">
            <a:avLst/>
          </a:prstGeom>
        </p:spPr>
      </p:pic>
      <p:pic>
        <p:nvPicPr>
          <p:cNvPr id="64" name="Picture 63">
            <a:extLst>
              <a:ext uri="{FF2B5EF4-FFF2-40B4-BE49-F238E27FC236}">
                <a16:creationId xmlns:a16="http://schemas.microsoft.com/office/drawing/2014/main" id="{458FD06D-82CA-D203-E490-AB944AA0D3B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843184" y="3897611"/>
            <a:ext cx="1440000" cy="443613"/>
          </a:xfrm>
          <a:prstGeom prst="rect">
            <a:avLst/>
          </a:prstGeom>
        </p:spPr>
      </p:pic>
      <p:pic>
        <p:nvPicPr>
          <p:cNvPr id="65" name="Picture 64">
            <a:extLst>
              <a:ext uri="{FF2B5EF4-FFF2-40B4-BE49-F238E27FC236}">
                <a16:creationId xmlns:a16="http://schemas.microsoft.com/office/drawing/2014/main" id="{EACF379D-820D-1A10-96F9-260F30C08D21}"/>
              </a:ext>
            </a:extLst>
          </p:cNvPr>
          <p:cNvPicPr>
            <a:picLocks noChangeAspect="1"/>
          </p:cNvPicPr>
          <p:nvPr/>
        </p:nvPicPr>
        <p:blipFill>
          <a:blip r:embed="rId6"/>
          <a:srcRect l="13027" t="27953" r="16204" b="38897"/>
          <a:stretch>
            <a:fillRect/>
          </a:stretch>
        </p:blipFill>
        <p:spPr>
          <a:xfrm>
            <a:off x="9843185" y="5312288"/>
            <a:ext cx="1440000" cy="449693"/>
          </a:xfrm>
          <a:prstGeom prst="rect">
            <a:avLst/>
          </a:prstGeom>
        </p:spPr>
      </p:pic>
      <p:grpSp>
        <p:nvGrpSpPr>
          <p:cNvPr id="15" name="Group 14">
            <a:extLst>
              <a:ext uri="{FF2B5EF4-FFF2-40B4-BE49-F238E27FC236}">
                <a16:creationId xmlns:a16="http://schemas.microsoft.com/office/drawing/2014/main" id="{99D026FE-6686-C839-080A-7C6E970FC345}"/>
              </a:ext>
            </a:extLst>
          </p:cNvPr>
          <p:cNvGrpSpPr/>
          <p:nvPr/>
        </p:nvGrpSpPr>
        <p:grpSpPr>
          <a:xfrm>
            <a:off x="695327" y="1641474"/>
            <a:ext cx="7099934" cy="4321175"/>
            <a:chOff x="695327" y="1641474"/>
            <a:chExt cx="10801348" cy="4321175"/>
          </a:xfrm>
        </p:grpSpPr>
        <p:pic>
          <p:nvPicPr>
            <p:cNvPr id="13" name="Picture 12">
              <a:extLst>
                <a:ext uri="{FF2B5EF4-FFF2-40B4-BE49-F238E27FC236}">
                  <a16:creationId xmlns:a16="http://schemas.microsoft.com/office/drawing/2014/main" id="{D953E169-E1CA-4112-0C1B-8141A616B0A3}"/>
                </a:ext>
              </a:extLst>
            </p:cNvPr>
            <p:cNvPicPr>
              <a:picLocks noChangeAspect="1"/>
            </p:cNvPicPr>
            <p:nvPr/>
          </p:nvPicPr>
          <p:blipFill>
            <a:blip r:embed="rId7"/>
            <a:stretch>
              <a:fillRect/>
            </a:stretch>
          </p:blipFill>
          <p:spPr>
            <a:xfrm>
              <a:off x="695327" y="1641474"/>
              <a:ext cx="10801348" cy="4321175"/>
            </a:xfrm>
            <a:prstGeom prst="rect">
              <a:avLst/>
            </a:prstGeom>
          </p:spPr>
        </p:pic>
        <p:sp>
          <p:nvSpPr>
            <p:cNvPr id="14" name="Rectangle 13">
              <a:extLst>
                <a:ext uri="{FF2B5EF4-FFF2-40B4-BE49-F238E27FC236}">
                  <a16:creationId xmlns:a16="http://schemas.microsoft.com/office/drawing/2014/main" id="{19858E09-ED58-7D2D-AFC2-3E92C2A79C7F}"/>
                </a:ext>
              </a:extLst>
            </p:cNvPr>
            <p:cNvSpPr/>
            <p:nvPr/>
          </p:nvSpPr>
          <p:spPr>
            <a:xfrm>
              <a:off x="695327" y="1854200"/>
              <a:ext cx="1054100" cy="393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sp>
        <p:nvSpPr>
          <p:cNvPr id="2" name="Title 1">
            <a:extLst>
              <a:ext uri="{FF2B5EF4-FFF2-40B4-BE49-F238E27FC236}">
                <a16:creationId xmlns:a16="http://schemas.microsoft.com/office/drawing/2014/main" id="{0F4C4811-8EAD-E0B4-C0BB-50E0DBF074CD}"/>
              </a:ext>
            </a:extLst>
          </p:cNvPr>
          <p:cNvSpPr>
            <a:spLocks noGrp="1"/>
          </p:cNvSpPr>
          <p:nvPr>
            <p:ph type="title"/>
          </p:nvPr>
        </p:nvSpPr>
        <p:spPr/>
        <p:txBody>
          <a:bodyPr/>
          <a:lstStyle/>
          <a:p>
            <a:r>
              <a:rPr lang="en-US" sz="3600" dirty="0"/>
              <a:t>Similar Variables, Different Meanings</a:t>
            </a:r>
            <a:endParaRPr lang="en-NL" dirty="0"/>
          </a:p>
        </p:txBody>
      </p:sp>
      <p:sp>
        <p:nvSpPr>
          <p:cNvPr id="4" name="Slide Number Placeholder 3">
            <a:extLst>
              <a:ext uri="{FF2B5EF4-FFF2-40B4-BE49-F238E27FC236}">
                <a16:creationId xmlns:a16="http://schemas.microsoft.com/office/drawing/2014/main" id="{54C0BD5C-73BF-66F9-88BD-1B358189B19D}"/>
              </a:ext>
            </a:extLst>
          </p:cNvPr>
          <p:cNvSpPr>
            <a:spLocks noGrp="1"/>
          </p:cNvSpPr>
          <p:nvPr>
            <p:ph type="sldNum" sz="quarter" idx="12"/>
          </p:nvPr>
        </p:nvSpPr>
        <p:spPr/>
        <p:txBody>
          <a:bodyPr/>
          <a:lstStyle/>
          <a:p>
            <a:fld id="{4FAB73BC-B049-4115-A692-8D63A059BFB8}" type="slidenum">
              <a:rPr lang="en-US" smtClean="0"/>
              <a:pPr/>
              <a:t>15</a:t>
            </a:fld>
            <a:endParaRPr lang="en-US" dirty="0"/>
          </a:p>
        </p:txBody>
      </p:sp>
      <p:sp>
        <p:nvSpPr>
          <p:cNvPr id="18" name="Oval 17">
            <a:extLst>
              <a:ext uri="{FF2B5EF4-FFF2-40B4-BE49-F238E27FC236}">
                <a16:creationId xmlns:a16="http://schemas.microsoft.com/office/drawing/2014/main" id="{FDA926D1-0537-0020-FE64-3E10FFA60315}"/>
              </a:ext>
            </a:extLst>
          </p:cNvPr>
          <p:cNvSpPr/>
          <p:nvPr/>
        </p:nvSpPr>
        <p:spPr>
          <a:xfrm>
            <a:off x="8382929" y="4474483"/>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2" name="Straight Arrow Connector 21">
            <a:extLst>
              <a:ext uri="{FF2B5EF4-FFF2-40B4-BE49-F238E27FC236}">
                <a16:creationId xmlns:a16="http://schemas.microsoft.com/office/drawing/2014/main" id="{9A57F96E-A70F-A842-7326-1BC726B4E3B9}"/>
              </a:ext>
            </a:extLst>
          </p:cNvPr>
          <p:cNvCxnSpPr>
            <a:cxnSpLocks/>
            <a:stCxn id="18" idx="2"/>
          </p:cNvCxnSpPr>
          <p:nvPr/>
        </p:nvCxnSpPr>
        <p:spPr>
          <a:xfrm flipH="1" flipV="1">
            <a:off x="952500" y="4619625"/>
            <a:ext cx="7430429" cy="88858"/>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26DD9F63-ACD2-2537-40D3-1C6EC15B6BF9}"/>
              </a:ext>
            </a:extLst>
          </p:cNvPr>
          <p:cNvSpPr/>
          <p:nvPr/>
        </p:nvSpPr>
        <p:spPr>
          <a:xfrm>
            <a:off x="8382929" y="3047819"/>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6EA33F2F-8449-8B9E-B495-5DA9EB8C534F}"/>
              </a:ext>
            </a:extLst>
          </p:cNvPr>
          <p:cNvCxnSpPr>
            <a:cxnSpLocks/>
            <a:stCxn id="32" idx="2"/>
          </p:cNvCxnSpPr>
          <p:nvPr/>
        </p:nvCxnSpPr>
        <p:spPr>
          <a:xfrm flipH="1">
            <a:off x="952500" y="3281819"/>
            <a:ext cx="7430429" cy="218290"/>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2770854B-B42C-9409-E100-240E07B648B3}"/>
              </a:ext>
            </a:extLst>
          </p:cNvPr>
          <p:cNvSpPr/>
          <p:nvPr/>
        </p:nvSpPr>
        <p:spPr>
          <a:xfrm>
            <a:off x="8382929" y="1621155"/>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6" name="Straight Arrow Connector 35">
            <a:extLst>
              <a:ext uri="{FF2B5EF4-FFF2-40B4-BE49-F238E27FC236}">
                <a16:creationId xmlns:a16="http://schemas.microsoft.com/office/drawing/2014/main" id="{FA59A38F-27DA-1046-43AE-D936D92853D0}"/>
              </a:ext>
            </a:extLst>
          </p:cNvPr>
          <p:cNvCxnSpPr>
            <a:cxnSpLocks/>
          </p:cNvCxnSpPr>
          <p:nvPr/>
        </p:nvCxnSpPr>
        <p:spPr>
          <a:xfrm flipH="1">
            <a:off x="6991350" y="1955607"/>
            <a:ext cx="1457325" cy="151799"/>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17ECA1D-5453-72F7-31EC-9A8269554C87}"/>
              </a:ext>
            </a:extLst>
          </p:cNvPr>
          <p:cNvSpPr txBox="1"/>
          <p:nvPr/>
        </p:nvSpPr>
        <p:spPr>
          <a:xfrm>
            <a:off x="706665" y="5026620"/>
            <a:ext cx="4505326" cy="923330"/>
          </a:xfrm>
          <a:prstGeom prst="rect">
            <a:avLst/>
          </a:prstGeom>
          <a:solidFill>
            <a:schemeClr val="accent4"/>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r>
              <a:rPr lang="en-US" dirty="0">
                <a:solidFill>
                  <a:schemeClr val="bg1"/>
                </a:solidFill>
              </a:rPr>
              <a:t>The variables may look comparable, but they are linked to different meanings and should not be treated as interchangeable.</a:t>
            </a:r>
            <a:endParaRPr lang="en-NL" dirty="0">
              <a:solidFill>
                <a:schemeClr val="bg1"/>
              </a:solidFill>
            </a:endParaRPr>
          </a:p>
        </p:txBody>
      </p:sp>
      <p:sp>
        <p:nvSpPr>
          <p:cNvPr id="6" name="TextBox 5">
            <a:extLst>
              <a:ext uri="{FF2B5EF4-FFF2-40B4-BE49-F238E27FC236}">
                <a16:creationId xmlns:a16="http://schemas.microsoft.com/office/drawing/2014/main" id="{18A290A6-256E-D236-A8BE-987F948ADD1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594924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67687-B4A4-8F18-0692-2B04A8040CA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5C22300-BFC8-81A2-D4C5-188BAA4FBA5E}"/>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003709FA-715D-3F21-A75A-5E02C7EEE92E}"/>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91EEA462-5353-5530-CB89-FE6A6A2EF952}"/>
              </a:ext>
            </a:extLst>
          </p:cNvPr>
          <p:cNvSpPr>
            <a:spLocks noGrp="1"/>
          </p:cNvSpPr>
          <p:nvPr>
            <p:ph type="title"/>
          </p:nvPr>
        </p:nvSpPr>
        <p:spPr/>
        <p:txBody>
          <a:bodyPr/>
          <a:lstStyle/>
          <a:p>
            <a:r>
              <a:rPr lang="en-US" sz="3600" b="1" dirty="0"/>
              <a:t>Scenario 2: Identify the dataset that represents the right meaning</a:t>
            </a:r>
          </a:p>
        </p:txBody>
      </p:sp>
      <p:sp>
        <p:nvSpPr>
          <p:cNvPr id="7" name="Freeform: Shape 6">
            <a:extLst>
              <a:ext uri="{FF2B5EF4-FFF2-40B4-BE49-F238E27FC236}">
                <a16:creationId xmlns:a16="http://schemas.microsoft.com/office/drawing/2014/main" id="{D36BC47C-F30D-A9FD-4384-ACF93A6AB80B}"/>
              </a:ext>
            </a:extLst>
          </p:cNvPr>
          <p:cNvSpPr/>
          <p:nvPr/>
        </p:nvSpPr>
        <p:spPr>
          <a:xfrm>
            <a:off x="7034190"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0" name="Freeform: Shape 9">
            <a:extLst>
              <a:ext uri="{FF2B5EF4-FFF2-40B4-BE49-F238E27FC236}">
                <a16:creationId xmlns:a16="http://schemas.microsoft.com/office/drawing/2014/main" id="{9F372E44-1CFB-D52A-ABBF-07278A0AD461}"/>
              </a:ext>
            </a:extLst>
          </p:cNvPr>
          <p:cNvSpPr/>
          <p:nvPr/>
        </p:nvSpPr>
        <p:spPr>
          <a:xfrm>
            <a:off x="9183022"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2" name="Freeform: Shape 11">
            <a:extLst>
              <a:ext uri="{FF2B5EF4-FFF2-40B4-BE49-F238E27FC236}">
                <a16:creationId xmlns:a16="http://schemas.microsoft.com/office/drawing/2014/main" id="{3A7AE67C-B11C-9132-B369-7E3915BE19A8}"/>
              </a:ext>
            </a:extLst>
          </p:cNvPr>
          <p:cNvSpPr/>
          <p:nvPr/>
        </p:nvSpPr>
        <p:spPr>
          <a:xfrm>
            <a:off x="6162481" y="3586655"/>
            <a:ext cx="4297663" cy="371214"/>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3" name="Freeform: Shape 12">
            <a:extLst>
              <a:ext uri="{FF2B5EF4-FFF2-40B4-BE49-F238E27FC236}">
                <a16:creationId xmlns:a16="http://schemas.microsoft.com/office/drawing/2014/main" id="{4A55124F-451B-83F5-E8C4-D07182EE2B03}"/>
              </a:ext>
            </a:extLst>
          </p:cNvPr>
          <p:cNvSpPr/>
          <p:nvPr/>
        </p:nvSpPr>
        <p:spPr>
          <a:xfrm>
            <a:off x="9586636"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p:txBody>
      </p:sp>
      <p:sp>
        <p:nvSpPr>
          <p:cNvPr id="14" name="Freeform: Shape 13">
            <a:extLst>
              <a:ext uri="{FF2B5EF4-FFF2-40B4-BE49-F238E27FC236}">
                <a16:creationId xmlns:a16="http://schemas.microsoft.com/office/drawing/2014/main" id="{ED2D23AB-BB9D-6967-1124-DB1429A63CBF}"/>
              </a:ext>
            </a:extLst>
          </p:cNvPr>
          <p:cNvSpPr/>
          <p:nvPr/>
        </p:nvSpPr>
        <p:spPr>
          <a:xfrm>
            <a:off x="7034190"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5" name="Freeform: Shape 14">
            <a:extLst>
              <a:ext uri="{FF2B5EF4-FFF2-40B4-BE49-F238E27FC236}">
                <a16:creationId xmlns:a16="http://schemas.microsoft.com/office/drawing/2014/main" id="{99E68D43-B98B-0D27-513F-B300E2C72B75}"/>
              </a:ext>
            </a:extLst>
          </p:cNvPr>
          <p:cNvSpPr/>
          <p:nvPr/>
        </p:nvSpPr>
        <p:spPr>
          <a:xfrm>
            <a:off x="5288972"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p:txBody>
      </p:sp>
      <p:sp>
        <p:nvSpPr>
          <p:cNvPr id="16" name="Freeform: Shape 15">
            <a:extLst>
              <a:ext uri="{FF2B5EF4-FFF2-40B4-BE49-F238E27FC236}">
                <a16:creationId xmlns:a16="http://schemas.microsoft.com/office/drawing/2014/main" id="{999FF765-9198-804C-B71B-4531098C5E42}"/>
              </a:ext>
            </a:extLst>
          </p:cNvPr>
          <p:cNvSpPr/>
          <p:nvPr/>
        </p:nvSpPr>
        <p:spPr>
          <a:xfrm>
            <a:off x="9183022"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7" name="Freeform: Shape 16">
            <a:extLst>
              <a:ext uri="{FF2B5EF4-FFF2-40B4-BE49-F238E27FC236}">
                <a16:creationId xmlns:a16="http://schemas.microsoft.com/office/drawing/2014/main" id="{DA37B5E3-1CAB-8526-1F55-C6ADA891A596}"/>
              </a:ext>
            </a:extLst>
          </p:cNvPr>
          <p:cNvSpPr/>
          <p:nvPr/>
        </p:nvSpPr>
        <p:spPr>
          <a:xfrm>
            <a:off x="7437804"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p:txBody>
      </p:sp>
      <p:sp>
        <p:nvSpPr>
          <p:cNvPr id="18" name="Freeform: Shape 17">
            <a:extLst>
              <a:ext uri="{FF2B5EF4-FFF2-40B4-BE49-F238E27FC236}">
                <a16:creationId xmlns:a16="http://schemas.microsoft.com/office/drawing/2014/main" id="{BDAC8962-1BB8-AE76-8C7A-8B7A826A6A12}"/>
              </a:ext>
            </a:extLst>
          </p:cNvPr>
          <p:cNvSpPr/>
          <p:nvPr/>
        </p:nvSpPr>
        <p:spPr>
          <a:xfrm>
            <a:off x="9586636"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solidFill>
            <a:schemeClr val="accent3">
              <a:lumMod val="20000"/>
              <a:lumOff val="80000"/>
            </a:schemeClr>
          </a:solidFill>
          <a:ln>
            <a:solidFill>
              <a:schemeClr val="accent1"/>
            </a:solidFill>
          </a:ln>
        </p:spPr>
        <p:style>
          <a:lnRef idx="0">
            <a:scrgbClr r="0" g="0" b="0"/>
          </a:lnRef>
          <a:fillRef idx="3">
            <a:scrgbClr r="0" g="0" b="0"/>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p:txBody>
      </p:sp>
      <p:sp>
        <p:nvSpPr>
          <p:cNvPr id="4" name="Slide Number Placeholder 3">
            <a:extLst>
              <a:ext uri="{FF2B5EF4-FFF2-40B4-BE49-F238E27FC236}">
                <a16:creationId xmlns:a16="http://schemas.microsoft.com/office/drawing/2014/main" id="{61D4A03F-D759-3199-5D06-FB7E5301DE54}"/>
              </a:ext>
            </a:extLst>
          </p:cNvPr>
          <p:cNvSpPr>
            <a:spLocks noGrp="1"/>
          </p:cNvSpPr>
          <p:nvPr>
            <p:ph type="sldNum" sz="quarter" idx="12"/>
          </p:nvPr>
        </p:nvSpPr>
        <p:spPr/>
        <p:txBody>
          <a:bodyPr/>
          <a:lstStyle/>
          <a:p>
            <a:fld id="{4FAB73BC-B049-4115-A692-8D63A059BFB8}" type="slidenum">
              <a:rPr lang="en-US" smtClean="0"/>
              <a:pPr/>
              <a:t>16</a:t>
            </a:fld>
            <a:endParaRPr lang="en-US" dirty="0"/>
          </a:p>
        </p:txBody>
      </p:sp>
      <p:sp>
        <p:nvSpPr>
          <p:cNvPr id="9" name="Freeform: Shape 8">
            <a:extLst>
              <a:ext uri="{FF2B5EF4-FFF2-40B4-BE49-F238E27FC236}">
                <a16:creationId xmlns:a16="http://schemas.microsoft.com/office/drawing/2014/main" id="{6A7A5D0A-1E11-2688-27C6-3C43885E6ED0}"/>
              </a:ext>
            </a:extLst>
          </p:cNvPr>
          <p:cNvSpPr/>
          <p:nvPr/>
        </p:nvSpPr>
        <p:spPr>
          <a:xfrm>
            <a:off x="5288972"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900" b="1" dirty="0"/>
              <a:t>Scenario 1: </a:t>
            </a:r>
            <a:r>
              <a:rPr lang="en-US" sz="900" dirty="0"/>
              <a:t>Clarify Meanings Before Reuse</a:t>
            </a:r>
            <a:endParaRPr lang="en-NL" sz="900" dirty="0"/>
          </a:p>
        </p:txBody>
      </p:sp>
      <p:sp>
        <p:nvSpPr>
          <p:cNvPr id="11" name="Freeform: Shape 10">
            <a:extLst>
              <a:ext uri="{FF2B5EF4-FFF2-40B4-BE49-F238E27FC236}">
                <a16:creationId xmlns:a16="http://schemas.microsoft.com/office/drawing/2014/main" id="{EB67096A-3C96-E211-925D-47B8C9CD558F}"/>
              </a:ext>
            </a:extLst>
          </p:cNvPr>
          <p:cNvSpPr/>
          <p:nvPr/>
        </p:nvSpPr>
        <p:spPr>
          <a:xfrm>
            <a:off x="7437804"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900" b="1" u="none" kern="1200" dirty="0"/>
              <a:t>Scenario 2: </a:t>
            </a:r>
            <a:r>
              <a:rPr lang="en-US" sz="900" dirty="0"/>
              <a:t>Identify the dataset that represents the right meaning</a:t>
            </a:r>
            <a:endParaRPr lang="en-NL" sz="900" b="0" u="none" kern="1200" dirty="0"/>
          </a:p>
        </p:txBody>
      </p:sp>
    </p:spTree>
    <p:extLst>
      <p:ext uri="{BB962C8B-B14F-4D97-AF65-F5344CB8AC3E}">
        <p14:creationId xmlns:p14="http://schemas.microsoft.com/office/powerpoint/2010/main" val="218549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9"/>
                                        </p:tgtEl>
                                        <p:attrNameLst>
                                          <p:attrName>style.opacity</p:attrName>
                                        </p:attrNameLst>
                                      </p:cBhvr>
                                      <p:to>
                                        <p:strVal val="0.5"/>
                                      </p:to>
                                    </p:set>
                                    <p:animEffect filter="image" prLst="opacity: 0.5">
                                      <p:cBhvr rctx="IE">
                                        <p:cTn id="7" dur="indefinite"/>
                                        <p:tgtEl>
                                          <p:spTgt spid="9"/>
                                        </p:tgtEl>
                                      </p:cBhvr>
                                    </p:animEffect>
                                  </p:childTnLst>
                                </p:cTn>
                              </p:par>
                              <p:par>
                                <p:cTn id="8" presetID="6" presetClass="emph" presetSubtype="0" fill="hold" grpId="0" nodeType="withEffect">
                                  <p:stCondLst>
                                    <p:cond delay="0"/>
                                  </p:stCondLst>
                                  <p:childTnLst>
                                    <p:animScale>
                                      <p:cBhvr>
                                        <p:cTn id="9" dur="1000" fill="hold"/>
                                        <p:tgtEl>
                                          <p:spTgt spid="11"/>
                                        </p:tgtEl>
                                      </p:cBhvr>
                                      <p:by x="150000" y="150000"/>
                                    </p:animScale>
                                  </p:childTnLst>
                                </p:cTn>
                              </p:par>
                              <p:par>
                                <p:cTn id="10" presetID="9" presetClass="emph" presetSubtype="0" grpId="0" nodeType="withEffect">
                                  <p:stCondLst>
                                    <p:cond delay="0"/>
                                  </p:stCondLst>
                                  <p:childTnLst>
                                    <p:set>
                                      <p:cBhvr>
                                        <p:cTn id="11" dur="indefinite"/>
                                        <p:tgtEl>
                                          <p:spTgt spid="13"/>
                                        </p:tgtEl>
                                        <p:attrNameLst>
                                          <p:attrName>style.opacity</p:attrName>
                                        </p:attrNameLst>
                                      </p:cBhvr>
                                      <p:to>
                                        <p:strVal val="0.5"/>
                                      </p:to>
                                    </p:set>
                                    <p:animEffect filter="image" prLst="opacity: 0.5">
                                      <p:cBhvr rctx="IE">
                                        <p:cTn id="12" dur="indefinite"/>
                                        <p:tgtEl>
                                          <p:spTgt spid="13"/>
                                        </p:tgtEl>
                                      </p:cBhvr>
                                    </p:animEffect>
                                  </p:childTnLst>
                                </p:cTn>
                              </p:par>
                              <p:par>
                                <p:cTn id="13" presetID="9" presetClass="emph" presetSubtype="0" grpId="0" nodeType="withEffect">
                                  <p:stCondLst>
                                    <p:cond delay="0"/>
                                  </p:stCondLst>
                                  <p:childTnLst>
                                    <p:set>
                                      <p:cBhvr>
                                        <p:cTn id="14" dur="indefinite"/>
                                        <p:tgtEl>
                                          <p:spTgt spid="18"/>
                                        </p:tgtEl>
                                        <p:attrNameLst>
                                          <p:attrName>style.opacity</p:attrName>
                                        </p:attrNameLst>
                                      </p:cBhvr>
                                      <p:to>
                                        <p:strVal val="0.5"/>
                                      </p:to>
                                    </p:set>
                                    <p:animEffect filter="image" prLst="opacity: 0.5">
                                      <p:cBhvr rctx="IE">
                                        <p:cTn id="15" dur="indefinite"/>
                                        <p:tgtEl>
                                          <p:spTgt spid="18"/>
                                        </p:tgtEl>
                                      </p:cBhvr>
                                    </p:animEffect>
                                  </p:childTnLst>
                                </p:cTn>
                              </p:par>
                              <p:par>
                                <p:cTn id="16" presetID="9" presetClass="emph" presetSubtype="0" grpId="0" nodeType="withEffect">
                                  <p:stCondLst>
                                    <p:cond delay="0"/>
                                  </p:stCondLst>
                                  <p:childTnLst>
                                    <p:set>
                                      <p:cBhvr>
                                        <p:cTn id="17" dur="indefinite"/>
                                        <p:tgtEl>
                                          <p:spTgt spid="17"/>
                                        </p:tgtEl>
                                        <p:attrNameLst>
                                          <p:attrName>style.opacity</p:attrName>
                                        </p:attrNameLst>
                                      </p:cBhvr>
                                      <p:to>
                                        <p:strVal val="0.5"/>
                                      </p:to>
                                    </p:set>
                                    <p:animEffect filter="image" prLst="opacity: 0.5">
                                      <p:cBhvr rctx="IE">
                                        <p:cTn id="18" dur="indefinite"/>
                                        <p:tgtEl>
                                          <p:spTgt spid="17"/>
                                        </p:tgtEl>
                                      </p:cBhvr>
                                    </p:animEffect>
                                  </p:childTnLst>
                                </p:cTn>
                              </p:par>
                              <p:par>
                                <p:cTn id="19" presetID="9" presetClass="emph" presetSubtype="0" grpId="0" nodeType="withEffect">
                                  <p:stCondLst>
                                    <p:cond delay="0"/>
                                  </p:stCondLst>
                                  <p:childTnLst>
                                    <p:set>
                                      <p:cBhvr>
                                        <p:cTn id="20" dur="indefinite"/>
                                        <p:tgtEl>
                                          <p:spTgt spid="15"/>
                                        </p:tgtEl>
                                        <p:attrNameLst>
                                          <p:attrName>style.opacity</p:attrName>
                                        </p:attrNameLst>
                                      </p:cBhvr>
                                      <p:to>
                                        <p:strVal val="0.5"/>
                                      </p:to>
                                    </p:set>
                                    <p:animEffect filter="image" prLst="opacity: 0.5">
                                      <p:cBhvr rctx="IE">
                                        <p:cTn id="21" dur="indefinite"/>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7" grpId="0" animBg="1"/>
      <p:bldP spid="18" grpId="0" animBg="1"/>
      <p:bldP spid="9"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B025B-C5F6-A364-2B91-B87B5DF6BDC5}"/>
              </a:ext>
            </a:extLst>
          </p:cNvPr>
          <p:cNvSpPr>
            <a:spLocks noGrp="1"/>
          </p:cNvSpPr>
          <p:nvPr>
            <p:ph type="title"/>
          </p:nvPr>
        </p:nvSpPr>
        <p:spPr>
          <a:xfrm>
            <a:off x="695326" y="386001"/>
            <a:ext cx="10353673" cy="929259"/>
          </a:xfrm>
        </p:spPr>
        <p:txBody>
          <a:bodyPr/>
          <a:lstStyle/>
          <a:p>
            <a:r>
              <a:rPr lang="en-US" sz="3600" dirty="0"/>
              <a:t>Amir’s Question and Challenge</a:t>
            </a:r>
            <a:endParaRPr lang="en-NL" sz="3600" dirty="0"/>
          </a:p>
        </p:txBody>
      </p:sp>
      <p:sp>
        <p:nvSpPr>
          <p:cNvPr id="4" name="Slide Number Placeholder 3">
            <a:extLst>
              <a:ext uri="{FF2B5EF4-FFF2-40B4-BE49-F238E27FC236}">
                <a16:creationId xmlns:a16="http://schemas.microsoft.com/office/drawing/2014/main" id="{A505AD8B-0E0E-10B1-C430-A3094CEDE2EB}"/>
              </a:ext>
            </a:extLst>
          </p:cNvPr>
          <p:cNvSpPr>
            <a:spLocks noGrp="1"/>
          </p:cNvSpPr>
          <p:nvPr>
            <p:ph type="sldNum" sz="quarter" idx="12"/>
          </p:nvPr>
        </p:nvSpPr>
        <p:spPr/>
        <p:txBody>
          <a:bodyPr/>
          <a:lstStyle/>
          <a:p>
            <a:fld id="{4FAB73BC-B049-4115-A692-8D63A059BFB8}" type="slidenum">
              <a:rPr lang="en-US" smtClean="0"/>
              <a:pPr/>
              <a:t>17</a:t>
            </a:fld>
            <a:endParaRPr lang="en-US" dirty="0"/>
          </a:p>
        </p:txBody>
      </p:sp>
      <p:sp>
        <p:nvSpPr>
          <p:cNvPr id="9" name="Rectangle: Rounded Corners 8">
            <a:extLst>
              <a:ext uri="{FF2B5EF4-FFF2-40B4-BE49-F238E27FC236}">
                <a16:creationId xmlns:a16="http://schemas.microsoft.com/office/drawing/2014/main" id="{875C657C-B6C5-F375-57B7-D45100EA9781}"/>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5" name="Freeform: Shape 24">
            <a:extLst>
              <a:ext uri="{FF2B5EF4-FFF2-40B4-BE49-F238E27FC236}">
                <a16:creationId xmlns:a16="http://schemas.microsoft.com/office/drawing/2014/main" id="{580EA0D1-D1F1-B58D-8E42-C28E2B68AFDA}"/>
              </a:ext>
            </a:extLst>
          </p:cNvPr>
          <p:cNvSpPr/>
          <p:nvPr/>
        </p:nvSpPr>
        <p:spPr>
          <a:xfrm>
            <a:off x="960855" y="1882235"/>
            <a:ext cx="6293737" cy="1261697"/>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Find the datasets that contain the right variable for his study</a:t>
            </a:r>
          </a:p>
          <a:p>
            <a:pPr marL="171450" lvl="1" indent="-171450" defTabSz="711200">
              <a:lnSpc>
                <a:spcPct val="90000"/>
              </a:lnSpc>
              <a:spcBef>
                <a:spcPct val="0"/>
              </a:spcBef>
              <a:spcAft>
                <a:spcPts val="600"/>
              </a:spcAft>
              <a:buChar char="•"/>
            </a:pPr>
            <a:r>
              <a:rPr lang="en-US" sz="1400" dirty="0"/>
              <a:t>Select the columns that represent </a:t>
            </a:r>
            <a:r>
              <a:rPr lang="en-US" sz="1400" b="1" dirty="0"/>
              <a:t>biological sex</a:t>
            </a:r>
          </a:p>
          <a:p>
            <a:pPr marL="171450" lvl="1" indent="-171450" defTabSz="711200">
              <a:lnSpc>
                <a:spcPct val="90000"/>
              </a:lnSpc>
              <a:spcBef>
                <a:spcPct val="0"/>
              </a:spcBef>
              <a:spcAft>
                <a:spcPts val="600"/>
              </a:spcAft>
              <a:buChar char="•"/>
            </a:pPr>
            <a:r>
              <a:rPr lang="en-US" sz="1400" dirty="0"/>
              <a:t>Build a cohort using data that fit his research question</a:t>
            </a:r>
            <a:endParaRPr lang="en-NL" sz="1400" kern="1200" dirty="0"/>
          </a:p>
        </p:txBody>
      </p:sp>
      <p:sp>
        <p:nvSpPr>
          <p:cNvPr id="26" name="Freeform: Shape 25">
            <a:extLst>
              <a:ext uri="{FF2B5EF4-FFF2-40B4-BE49-F238E27FC236}">
                <a16:creationId xmlns:a16="http://schemas.microsoft.com/office/drawing/2014/main" id="{5F694844-08CF-3562-F739-02CD74F86281}"/>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7" name="Freeform: Shape 26">
            <a:extLst>
              <a:ext uri="{FF2B5EF4-FFF2-40B4-BE49-F238E27FC236}">
                <a16:creationId xmlns:a16="http://schemas.microsoft.com/office/drawing/2014/main" id="{F7FAED7C-589C-F88B-25DF-B6D5551E13D8}"/>
              </a:ext>
            </a:extLst>
          </p:cNvPr>
          <p:cNvSpPr/>
          <p:nvPr/>
        </p:nvSpPr>
        <p:spPr>
          <a:xfrm>
            <a:off x="960855" y="3449062"/>
            <a:ext cx="6293737" cy="1261697"/>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Several datasets may appear relevant at first glance.</a:t>
            </a:r>
          </a:p>
          <a:p>
            <a:pPr marL="171450" lvl="1" indent="-171450" defTabSz="711200">
              <a:lnSpc>
                <a:spcPct val="90000"/>
              </a:lnSpc>
              <a:spcBef>
                <a:spcPct val="0"/>
              </a:spcBef>
              <a:spcAft>
                <a:spcPts val="600"/>
              </a:spcAft>
              <a:buChar char="•"/>
            </a:pPr>
            <a:r>
              <a:rPr lang="en-US" sz="1400" dirty="0"/>
              <a:t>However, the visible sex/gender-related columns represent different meanings, so he cannot choose safely from labels alone.</a:t>
            </a:r>
            <a:endParaRPr lang="en-NL" sz="1400" kern="1200" dirty="0"/>
          </a:p>
        </p:txBody>
      </p:sp>
      <p:sp>
        <p:nvSpPr>
          <p:cNvPr id="28" name="Freeform: Shape 27">
            <a:extLst>
              <a:ext uri="{FF2B5EF4-FFF2-40B4-BE49-F238E27FC236}">
                <a16:creationId xmlns:a16="http://schemas.microsoft.com/office/drawing/2014/main" id="{47A78C1D-D974-3DAB-0B58-6E241E80BA90}"/>
              </a:ext>
            </a:extLst>
          </p:cNvPr>
          <p:cNvSpPr/>
          <p:nvPr/>
        </p:nvSpPr>
        <p:spPr>
          <a:xfrm>
            <a:off x="1085983" y="32815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9" name="TextBox 28">
            <a:extLst>
              <a:ext uri="{FF2B5EF4-FFF2-40B4-BE49-F238E27FC236}">
                <a16:creationId xmlns:a16="http://schemas.microsoft.com/office/drawing/2014/main" id="{8809F944-AC92-D91E-EEFB-C47038ED6776}"/>
              </a:ext>
            </a:extLst>
          </p:cNvPr>
          <p:cNvSpPr txBox="1"/>
          <p:nvPr/>
        </p:nvSpPr>
        <p:spPr>
          <a:xfrm>
            <a:off x="653368" y="4770467"/>
            <a:ext cx="6908709" cy="979069"/>
          </a:xfrm>
          <a:prstGeom prst="rect">
            <a:avLst/>
          </a:prstGeom>
          <a:noFill/>
        </p:spPr>
        <p:txBody>
          <a:bodyPr wrap="square" lIns="180000" tIns="180000" rIns="180000" bIns="180000" rtlCol="0">
            <a:spAutoFit/>
          </a:bodyPr>
          <a:lstStyle/>
          <a:p>
            <a:pPr algn="ctr"/>
            <a:r>
              <a:rPr lang="en-US" sz="2000" b="1" i="1" dirty="0"/>
              <a:t>“Which of these datasets contains the variable that represents biological sex?”</a:t>
            </a:r>
            <a:endParaRPr lang="en-US" sz="2000" i="1" dirty="0"/>
          </a:p>
        </p:txBody>
      </p:sp>
      <p:sp>
        <p:nvSpPr>
          <p:cNvPr id="5" name="TextBox 4">
            <a:extLst>
              <a:ext uri="{FF2B5EF4-FFF2-40B4-BE49-F238E27FC236}">
                <a16:creationId xmlns:a16="http://schemas.microsoft.com/office/drawing/2014/main" id="{C00B8A67-E47D-6574-6C90-893E4D33524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graphicFrame>
        <p:nvGraphicFramePr>
          <p:cNvPr id="3" name="Content Placeholder 4">
            <a:extLst>
              <a:ext uri="{FF2B5EF4-FFF2-40B4-BE49-F238E27FC236}">
                <a16:creationId xmlns:a16="http://schemas.microsoft.com/office/drawing/2014/main" id="{D16D6085-987F-C5A3-7B78-29C2388B34AF}"/>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0" name="Rectangle: Rounded Corners 9">
            <a:extLst>
              <a:ext uri="{FF2B5EF4-FFF2-40B4-BE49-F238E27FC236}">
                <a16:creationId xmlns:a16="http://schemas.microsoft.com/office/drawing/2014/main" id="{D98F221B-E45B-9B71-582E-18F66299EE80}"/>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1" name="Content Placeholder 4">
            <a:extLst>
              <a:ext uri="{FF2B5EF4-FFF2-40B4-BE49-F238E27FC236}">
                <a16:creationId xmlns:a16="http://schemas.microsoft.com/office/drawing/2014/main" id="{987B6ECC-5B16-EE52-A6CF-F4E4FB0E6B3B}"/>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2" name="Rectangle: Rounded Corners 11">
            <a:extLst>
              <a:ext uri="{FF2B5EF4-FFF2-40B4-BE49-F238E27FC236}">
                <a16:creationId xmlns:a16="http://schemas.microsoft.com/office/drawing/2014/main" id="{676A1B65-8359-05CD-762D-A8B500371441}"/>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3" name="Content Placeholder 4">
            <a:extLst>
              <a:ext uri="{FF2B5EF4-FFF2-40B4-BE49-F238E27FC236}">
                <a16:creationId xmlns:a16="http://schemas.microsoft.com/office/drawing/2014/main" id="{9740029C-4B04-1024-3BD0-05EE4B17FB42}"/>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4" name="Rectangle: Rounded Corners 13">
            <a:extLst>
              <a:ext uri="{FF2B5EF4-FFF2-40B4-BE49-F238E27FC236}">
                <a16:creationId xmlns:a16="http://schemas.microsoft.com/office/drawing/2014/main" id="{27399265-1E68-AC4D-7B19-14E13DAF15EC}"/>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5" name="Picture 14">
            <a:extLst>
              <a:ext uri="{FF2B5EF4-FFF2-40B4-BE49-F238E27FC236}">
                <a16:creationId xmlns:a16="http://schemas.microsoft.com/office/drawing/2014/main" id="{57D8CB0F-1E21-43C4-0E44-4982C3D3B577}"/>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6" name="Picture 15">
            <a:extLst>
              <a:ext uri="{FF2B5EF4-FFF2-40B4-BE49-F238E27FC236}">
                <a16:creationId xmlns:a16="http://schemas.microsoft.com/office/drawing/2014/main" id="{802A47D3-3052-32B6-86FB-9FC6973F193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7" name="Picture 16">
            <a:extLst>
              <a:ext uri="{FF2B5EF4-FFF2-40B4-BE49-F238E27FC236}">
                <a16:creationId xmlns:a16="http://schemas.microsoft.com/office/drawing/2014/main" id="{34D846AB-4235-521D-0017-35868DBE5ED9}"/>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
        <p:nvSpPr>
          <p:cNvPr id="8" name="Content Placeholder 7">
            <a:extLst>
              <a:ext uri="{FF2B5EF4-FFF2-40B4-BE49-F238E27FC236}">
                <a16:creationId xmlns:a16="http://schemas.microsoft.com/office/drawing/2014/main" id="{B2D99B09-A12F-1ECA-8C07-9EA58944DA3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071449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FE7CE-40DC-34CC-B3B8-0FC7CDC3A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07FA7-5E8C-4CC7-A410-4FB58890EDBF}"/>
              </a:ext>
            </a:extLst>
          </p:cNvPr>
          <p:cNvSpPr>
            <a:spLocks noGrp="1"/>
          </p:cNvSpPr>
          <p:nvPr>
            <p:ph type="title"/>
          </p:nvPr>
        </p:nvSpPr>
        <p:spPr>
          <a:xfrm>
            <a:off x="695327" y="386001"/>
            <a:ext cx="9704449" cy="929259"/>
          </a:xfrm>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0B880598-C7C1-7C39-ABA9-798386D62E52}"/>
              </a:ext>
            </a:extLst>
          </p:cNvPr>
          <p:cNvSpPr>
            <a:spLocks noGrp="1"/>
          </p:cNvSpPr>
          <p:nvPr>
            <p:ph type="sldNum" sz="quarter" idx="12"/>
          </p:nvPr>
        </p:nvSpPr>
        <p:spPr/>
        <p:txBody>
          <a:bodyPr/>
          <a:lstStyle/>
          <a:p>
            <a:fld id="{4FAB73BC-B049-4115-A692-8D63A059BFB8}" type="slidenum">
              <a:rPr lang="en-US" smtClean="0"/>
              <a:pPr/>
              <a:t>18</a:t>
            </a:fld>
            <a:endParaRPr lang="en-US" dirty="0"/>
          </a:p>
        </p:txBody>
      </p:sp>
      <p:cxnSp>
        <p:nvCxnSpPr>
          <p:cNvPr id="25" name="Straight Connector 24">
            <a:extLst>
              <a:ext uri="{FF2B5EF4-FFF2-40B4-BE49-F238E27FC236}">
                <a16:creationId xmlns:a16="http://schemas.microsoft.com/office/drawing/2014/main" id="{29592EFC-476C-EA57-7B74-907B558548BD}"/>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72DD2F8-F933-78B0-B9B1-AA397DE46F60}"/>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E3D537-AAFE-9E9C-1ECC-E377A4D39E93}"/>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0AE23CF-C5A2-0EEE-B90C-6AABA31A64E4}"/>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04CA369-D8AB-87EA-592B-A6079B175CE3}"/>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FA730DF4-F3A6-1CA3-DE93-57244F6CFF7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427A952-D955-C1BD-3824-36563D1F5152}"/>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0610333-5929-FD1D-FD64-504E424FDC21}"/>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1F75FDBC-BAB7-A2F8-FCC8-1F6A253DA53B}"/>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8A20A610-7AF0-DD44-A74D-3C23058FC460}"/>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3CDDB1F0-BCD3-7DD3-BCD8-365434EBA457}"/>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11" name="Straight Arrow Connector 10">
            <a:extLst>
              <a:ext uri="{FF2B5EF4-FFF2-40B4-BE49-F238E27FC236}">
                <a16:creationId xmlns:a16="http://schemas.microsoft.com/office/drawing/2014/main" id="{C847F680-E316-EE3A-0C9E-DF7A9B0709AC}"/>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ABD5595-F39A-AE0F-2074-9FF6B485A00C}"/>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898936EA-0DB6-B3DA-67B0-8DB53F38EB77}"/>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4CB2FC5D-EFA9-482D-0DAD-FDF42EBDB18C}"/>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C1EB2D7-6BEA-1110-B48C-DEE0F5CC740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9EFCED1-5140-972C-A894-EECFD7278B60}"/>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DE59E4D6-752D-5A0B-9EED-548293633FE4}"/>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B642A05-D4D4-93E0-665E-1E978F4B74BF}"/>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grpSp>
        <p:nvGrpSpPr>
          <p:cNvPr id="79" name="Group 78">
            <a:extLst>
              <a:ext uri="{FF2B5EF4-FFF2-40B4-BE49-F238E27FC236}">
                <a16:creationId xmlns:a16="http://schemas.microsoft.com/office/drawing/2014/main" id="{0A82C962-4D38-21A9-81F8-6D463603FEEE}"/>
              </a:ext>
            </a:extLst>
          </p:cNvPr>
          <p:cNvGrpSpPr/>
          <p:nvPr/>
        </p:nvGrpSpPr>
        <p:grpSpPr>
          <a:xfrm>
            <a:off x="4762739" y="5457825"/>
            <a:ext cx="3542414" cy="409575"/>
            <a:chOff x="4762739" y="5334000"/>
            <a:chExt cx="3542414" cy="409575"/>
          </a:xfrm>
        </p:grpSpPr>
        <p:sp>
          <p:nvSpPr>
            <p:cNvPr id="52" name="Oval 51">
              <a:extLst>
                <a:ext uri="{FF2B5EF4-FFF2-40B4-BE49-F238E27FC236}">
                  <a16:creationId xmlns:a16="http://schemas.microsoft.com/office/drawing/2014/main" id="{A1E44AE7-CEE8-F6E6-B9BB-35C1C7B41656}"/>
                </a:ext>
              </a:extLst>
            </p:cNvPr>
            <p:cNvSpPr/>
            <p:nvPr/>
          </p:nvSpPr>
          <p:spPr>
            <a:xfrm>
              <a:off x="4762739"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0698888C-4C12-519F-60B3-175ACD022D75}"/>
                </a:ext>
              </a:extLst>
            </p:cNvPr>
            <p:cNvSpPr/>
            <p:nvPr/>
          </p:nvSpPr>
          <p:spPr>
            <a:xfrm>
              <a:off x="7895578"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grpSp>
      <p:sp>
        <p:nvSpPr>
          <p:cNvPr id="78" name="Speech Bubble: Rectangle 77">
            <a:extLst>
              <a:ext uri="{FF2B5EF4-FFF2-40B4-BE49-F238E27FC236}">
                <a16:creationId xmlns:a16="http://schemas.microsoft.com/office/drawing/2014/main" id="{5C9A5480-03BC-0050-1736-C789910B6A6C}"/>
              </a:ext>
            </a:extLst>
          </p:cNvPr>
          <p:cNvSpPr/>
          <p:nvPr/>
        </p:nvSpPr>
        <p:spPr>
          <a:xfrm>
            <a:off x="704849" y="1648634"/>
            <a:ext cx="5391151" cy="596884"/>
          </a:xfrm>
          <a:prstGeom prst="wedgeRectCallout">
            <a:avLst>
              <a:gd name="adj1" fmla="val -20801"/>
              <a:gd name="adj2" fmla="val 107946"/>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When can two datasets be safely reused together?</a:t>
            </a:r>
          </a:p>
        </p:txBody>
      </p:sp>
      <p:cxnSp>
        <p:nvCxnSpPr>
          <p:cNvPr id="3" name="Connector: Curved 2">
            <a:extLst>
              <a:ext uri="{FF2B5EF4-FFF2-40B4-BE49-F238E27FC236}">
                <a16:creationId xmlns:a16="http://schemas.microsoft.com/office/drawing/2014/main" id="{4C05A326-22CD-EA0B-6FAF-4F055EF1C8BB}"/>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603A873-F6C9-DA90-2197-C61BE7B036F9}"/>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 name="TextBox 4">
            <a:extLst>
              <a:ext uri="{FF2B5EF4-FFF2-40B4-BE49-F238E27FC236}">
                <a16:creationId xmlns:a16="http://schemas.microsoft.com/office/drawing/2014/main" id="{BADB3FDB-6374-BC4B-CED4-A5BEADFAF129}"/>
              </a:ext>
            </a:extLst>
          </p:cNvPr>
          <p:cNvSpPr txBox="1"/>
          <p:nvPr/>
        </p:nvSpPr>
        <p:spPr>
          <a:xfrm>
            <a:off x="3996162" y="2140587"/>
            <a:ext cx="7485507" cy="369332"/>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solidFill>
                  <a:schemeClr val="bg1"/>
                </a:solidFill>
              </a:rPr>
              <a:t>When their relevant columns implement the same standard concept.</a:t>
            </a:r>
            <a:endParaRPr lang="en-NL" dirty="0">
              <a:solidFill>
                <a:schemeClr val="bg1"/>
              </a:solidFill>
            </a:endParaRPr>
          </a:p>
        </p:txBody>
      </p:sp>
      <p:sp>
        <p:nvSpPr>
          <p:cNvPr id="7" name="TextBox 6">
            <a:extLst>
              <a:ext uri="{FF2B5EF4-FFF2-40B4-BE49-F238E27FC236}">
                <a16:creationId xmlns:a16="http://schemas.microsoft.com/office/drawing/2014/main" id="{FB93D673-6E5C-20F4-FA95-06230571E83A}"/>
              </a:ext>
            </a:extLst>
          </p:cNvPr>
          <p:cNvSpPr txBox="1"/>
          <p:nvPr/>
        </p:nvSpPr>
        <p:spPr>
          <a:xfrm>
            <a:off x="4005016" y="2560820"/>
            <a:ext cx="7485507" cy="646331"/>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solidFill>
                  <a:sysClr val="windowText" lastClr="000000"/>
                </a:solidFill>
              </a:rPr>
              <a:t>However, this works only if (1) the standard concept is well defined, and </a:t>
            </a:r>
          </a:p>
          <a:p>
            <a:r>
              <a:rPr lang="en-US" dirty="0">
                <a:solidFill>
                  <a:sysClr val="windowText" lastClr="000000"/>
                </a:solidFill>
              </a:rPr>
              <a:t>(2) the datasets implement it correctly.</a:t>
            </a:r>
            <a:endParaRPr lang="en-NL" dirty="0">
              <a:solidFill>
                <a:sysClr val="windowText" lastClr="000000"/>
              </a:solidFill>
            </a:endParaRPr>
          </a:p>
        </p:txBody>
      </p:sp>
    </p:spTree>
    <p:extLst>
      <p:ext uri="{BB962C8B-B14F-4D97-AF65-F5344CB8AC3E}">
        <p14:creationId xmlns:p14="http://schemas.microsoft.com/office/powerpoint/2010/main" val="307921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2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A14F-F3DB-FC47-BE87-1AAA08E6E437}"/>
            </a:ext>
          </a:extLst>
        </p:cNvPr>
        <p:cNvGrpSpPr/>
        <p:nvPr/>
      </p:nvGrpSpPr>
      <p:grpSpPr>
        <a:xfrm>
          <a:off x="0" y="0"/>
          <a:ext cx="0" cy="0"/>
          <a:chOff x="0" y="0"/>
          <a:chExt cx="0" cy="0"/>
        </a:xfrm>
      </p:grpSpPr>
      <p:sp>
        <p:nvSpPr>
          <p:cNvPr id="60" name="Cloud 59">
            <a:extLst>
              <a:ext uri="{FF2B5EF4-FFF2-40B4-BE49-F238E27FC236}">
                <a16:creationId xmlns:a16="http://schemas.microsoft.com/office/drawing/2014/main" id="{D4DD2EC3-101F-2B3F-4653-DBD5B3A1BCFC}"/>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C57E4BE5-376A-9E7F-35C3-5233761B8DDA}"/>
              </a:ext>
            </a:extLst>
          </p:cNvPr>
          <p:cNvSpPr>
            <a:spLocks noGrp="1"/>
          </p:cNvSpPr>
          <p:nvPr>
            <p:ph type="title"/>
          </p:nvPr>
        </p:nvSpPr>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8C1813A7-7C4A-9DC2-D9E6-3BF6A407284B}"/>
              </a:ext>
            </a:extLst>
          </p:cNvPr>
          <p:cNvSpPr>
            <a:spLocks noGrp="1"/>
          </p:cNvSpPr>
          <p:nvPr>
            <p:ph type="sldNum" sz="quarter" idx="12"/>
          </p:nvPr>
        </p:nvSpPr>
        <p:spPr/>
        <p:txBody>
          <a:bodyPr/>
          <a:lstStyle/>
          <a:p>
            <a:fld id="{4FAB73BC-B049-4115-A692-8D63A059BFB8}" type="slidenum">
              <a:rPr lang="en-US" smtClean="0"/>
              <a:pPr/>
              <a:t>19</a:t>
            </a:fld>
            <a:endParaRPr lang="en-US" dirty="0"/>
          </a:p>
        </p:txBody>
      </p:sp>
      <p:cxnSp>
        <p:nvCxnSpPr>
          <p:cNvPr id="25" name="Straight Connector 24">
            <a:extLst>
              <a:ext uri="{FF2B5EF4-FFF2-40B4-BE49-F238E27FC236}">
                <a16:creationId xmlns:a16="http://schemas.microsoft.com/office/drawing/2014/main" id="{D67DD427-FE73-842A-B915-A4E83C603EA4}"/>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4E3545E-5912-05FE-664C-5A6E7E8FBCB2}"/>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61AB09-09B3-7F85-579B-F38161FC78C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EA4D262-6B27-EA25-B690-89B03F3AE04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9C303F23-F34F-54CD-646F-9B0AED08727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4C68E94-D302-AD87-C29C-7D4C6CCC38F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819E487-3D4C-A77B-7017-B4912C478227}"/>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AE78E32-B506-E4A5-D1A3-CA2527D42EEE}"/>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C4A1993-255F-DC61-CDA1-7EF4F99593AB}"/>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94A593C-913C-4E3F-6E94-0FC4ACC98C1A}"/>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4D5F3FA-30BE-82B0-32C6-24F8A9EE1608}"/>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B451271-E63A-A5F5-7548-4172B717F7C8}"/>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3636FC2-7067-B2B7-57E0-F1A98F1A6DB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2610B7B2-B537-0A67-CF74-B00D6B27F09A}"/>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F927041C-C4C2-A8C8-07B7-CBD46D929C66}"/>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C515BE55-9689-6181-7BF5-356862EB56F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17E74ED3-8899-552C-9DD6-413E72E0103A}"/>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6" name="Oval 55">
            <a:extLst>
              <a:ext uri="{FF2B5EF4-FFF2-40B4-BE49-F238E27FC236}">
                <a16:creationId xmlns:a16="http://schemas.microsoft.com/office/drawing/2014/main" id="{6C52ECA0-0571-5603-019B-597D19F08C06}"/>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D60A6AE2-4528-3514-6853-37AE0C417EA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B625D8F5-3751-C925-F796-3F97CD692AD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92B2EDD4-E0EF-320D-F5F8-B3EB4A5A75A2}"/>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1" name="Speech Bubble: Rectangle 50">
            <a:extLst>
              <a:ext uri="{FF2B5EF4-FFF2-40B4-BE49-F238E27FC236}">
                <a16:creationId xmlns:a16="http://schemas.microsoft.com/office/drawing/2014/main" id="{4E377E5B-97EE-F5C4-6466-04D920389DE3}"/>
              </a:ext>
            </a:extLst>
          </p:cNvPr>
          <p:cNvSpPr/>
          <p:nvPr/>
        </p:nvSpPr>
        <p:spPr>
          <a:xfrm>
            <a:off x="704850" y="1648634"/>
            <a:ext cx="5391150" cy="597600"/>
          </a:xfrm>
          <a:prstGeom prst="wedgeRectCallout">
            <a:avLst>
              <a:gd name="adj1" fmla="val -21059"/>
              <a:gd name="adj2" fmla="val 105541"/>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Can </a:t>
            </a:r>
            <a:r>
              <a:rPr lang="en-US" b="1" dirty="0"/>
              <a:t>D1 </a:t>
            </a:r>
            <a:r>
              <a:rPr lang="en-US" dirty="0"/>
              <a:t>and </a:t>
            </a:r>
            <a:r>
              <a:rPr lang="en-US" b="1" dirty="0"/>
              <a:t>D2 </a:t>
            </a:r>
            <a:r>
              <a:rPr lang="en-US" dirty="0"/>
              <a:t>be safely reused together?</a:t>
            </a:r>
          </a:p>
        </p:txBody>
      </p:sp>
      <p:grpSp>
        <p:nvGrpSpPr>
          <p:cNvPr id="54" name="Group 53">
            <a:extLst>
              <a:ext uri="{FF2B5EF4-FFF2-40B4-BE49-F238E27FC236}">
                <a16:creationId xmlns:a16="http://schemas.microsoft.com/office/drawing/2014/main" id="{A02BE12A-2D49-D829-0E10-2C665D3E589D}"/>
              </a:ext>
            </a:extLst>
          </p:cNvPr>
          <p:cNvGrpSpPr/>
          <p:nvPr/>
        </p:nvGrpSpPr>
        <p:grpSpPr>
          <a:xfrm>
            <a:off x="5046632" y="4507324"/>
            <a:ext cx="914400" cy="914400"/>
            <a:chOff x="4493141" y="273788"/>
            <a:chExt cx="914400" cy="914400"/>
          </a:xfrm>
        </p:grpSpPr>
        <p:sp>
          <p:nvSpPr>
            <p:cNvPr id="55" name="Oval 54">
              <a:extLst>
                <a:ext uri="{FF2B5EF4-FFF2-40B4-BE49-F238E27FC236}">
                  <a16:creationId xmlns:a16="http://schemas.microsoft.com/office/drawing/2014/main" id="{DF55D619-E9BC-6BCB-AF4D-95E34CE58435}"/>
                </a:ext>
              </a:extLst>
            </p:cNvPr>
            <p:cNvSpPr/>
            <p:nvPr/>
          </p:nvSpPr>
          <p:spPr>
            <a:xfrm>
              <a:off x="4630335" y="41098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59" name="Graphic 58" descr="Badge Question Mark with solid fill">
              <a:extLst>
                <a:ext uri="{FF2B5EF4-FFF2-40B4-BE49-F238E27FC236}">
                  <a16:creationId xmlns:a16="http://schemas.microsoft.com/office/drawing/2014/main" id="{A38543B5-A96A-4596-72DF-90C27C1412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93141" y="273788"/>
              <a:ext cx="914400" cy="914400"/>
            </a:xfrm>
            <a:prstGeom prst="rect">
              <a:avLst/>
            </a:prstGeom>
          </p:spPr>
        </p:pic>
      </p:grpSp>
      <p:cxnSp>
        <p:nvCxnSpPr>
          <p:cNvPr id="3" name="Connector: Curved 2">
            <a:extLst>
              <a:ext uri="{FF2B5EF4-FFF2-40B4-BE49-F238E27FC236}">
                <a16:creationId xmlns:a16="http://schemas.microsoft.com/office/drawing/2014/main" id="{85B0BC83-FEDD-EF93-A36A-770ECF4A99FE}"/>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6C4D3-2E46-3518-C650-ACEFF58C2ADA}"/>
              </a:ext>
            </a:extLst>
          </p:cNvPr>
          <p:cNvSpPr txBox="1"/>
          <p:nvPr/>
        </p:nvSpPr>
        <p:spPr>
          <a:xfrm>
            <a:off x="3996162" y="2164971"/>
            <a:ext cx="7485507"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solidFill>
                  <a:schemeClr val="bg1"/>
                </a:solidFill>
              </a:rPr>
              <a:t>Without explicit meanings, we can only see interoperability when datasets share the same standard concept.</a:t>
            </a:r>
            <a:endParaRPr lang="en-NL" dirty="0">
              <a:solidFill>
                <a:schemeClr val="bg1"/>
              </a:solidFill>
            </a:endParaRPr>
          </a:p>
        </p:txBody>
      </p:sp>
      <p:sp>
        <p:nvSpPr>
          <p:cNvPr id="9" name="TextBox 8">
            <a:extLst>
              <a:ext uri="{FF2B5EF4-FFF2-40B4-BE49-F238E27FC236}">
                <a16:creationId xmlns:a16="http://schemas.microsoft.com/office/drawing/2014/main" id="{C624DFD0-4B86-B7CC-66A9-C850A6610F1E}"/>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76113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2B88-155E-F865-7781-6F65155FB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56267-1763-5EE9-5E38-2351EDD07B5B}"/>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7FE807DD-5CE4-8A1B-C37A-252A3F48C8F9}"/>
              </a:ext>
            </a:extLst>
          </p:cNvPr>
          <p:cNvSpPr>
            <a:spLocks noGrp="1"/>
          </p:cNvSpPr>
          <p:nvPr>
            <p:ph type="sldNum" sz="quarter" idx="12"/>
          </p:nvPr>
        </p:nvSpPr>
        <p:spPr/>
        <p:txBody>
          <a:bodyPr/>
          <a:lstStyle/>
          <a:p>
            <a:fld id="{4FAB73BC-B049-4115-A692-8D63A059BFB8}" type="slidenum">
              <a:rPr lang="en-US" smtClean="0"/>
              <a:pPr/>
              <a:t>20</a:t>
            </a:fld>
            <a:endParaRPr lang="en-US" dirty="0"/>
          </a:p>
        </p:txBody>
      </p:sp>
      <p:cxnSp>
        <p:nvCxnSpPr>
          <p:cNvPr id="25" name="Straight Connector 24">
            <a:extLst>
              <a:ext uri="{FF2B5EF4-FFF2-40B4-BE49-F238E27FC236}">
                <a16:creationId xmlns:a16="http://schemas.microsoft.com/office/drawing/2014/main" id="{F8B6B38F-EBC1-375D-4E98-EA61B35728E8}"/>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D8BB496D-A7A1-09DE-5879-4B67CDEE4248}"/>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3E8C4001-4F8B-DC1F-6739-944EDC4193E0}"/>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5578AA24-E804-94ED-9AA3-04727176BB7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26E2583-D5A6-8CF1-D240-985A39547AFE}"/>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1EA763DD-2057-9F94-7310-D228860E4B7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E95C421-1D02-227B-4B44-659565F6D60F}"/>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878AA581-09A0-3644-6DCF-A893DDCB2797}"/>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F6203B1-FA4A-5AE7-94E3-B03F9DC0AE5E}"/>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C83CD8-5950-0E40-789D-14B85BBFF471}"/>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64162AA6-1BBC-E3B0-3AB1-9C504E2095DD}"/>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D8A22B13-A704-6A4A-3BD0-FABBF7FACF6B}"/>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30B3950-2241-6C58-1169-203BF934A3A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04B97203-3C6B-DAC9-ED6C-AA97692BA222}"/>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1E73AEFB-06A0-14E5-9CD5-99D5F3D4A7DC}"/>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0E19FE88-C46F-8705-C27E-5670AF3F85C5}"/>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D17E82C7-F274-DA4C-1899-33FE521187E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B89C4342-5044-1030-48A9-CDA46AE36F95}"/>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5AC3D4D7-3EA3-ED61-ED86-16F83D35FCC8}"/>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sp>
        <p:nvSpPr>
          <p:cNvPr id="9" name="Oval 8">
            <a:extLst>
              <a:ext uri="{FF2B5EF4-FFF2-40B4-BE49-F238E27FC236}">
                <a16:creationId xmlns:a16="http://schemas.microsoft.com/office/drawing/2014/main" id="{56179E8A-F1FC-7602-E87E-C8F27C78653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cxnSp>
        <p:nvCxnSpPr>
          <p:cNvPr id="10" name="Straight Arrow Connector 9">
            <a:extLst>
              <a:ext uri="{FF2B5EF4-FFF2-40B4-BE49-F238E27FC236}">
                <a16:creationId xmlns:a16="http://schemas.microsoft.com/office/drawing/2014/main" id="{F98ED3DA-1168-1690-61DE-4CDA5DFAC078}"/>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40B7C5-5996-3553-F230-41B46E7BD4B3}"/>
              </a:ext>
            </a:extLst>
          </p:cNvPr>
          <p:cNvCxnSpPr>
            <a:cxnSpLocks/>
            <a:stCxn id="58" idx="0"/>
            <a:endCxn id="9" idx="4"/>
          </p:cNvCxnSpPr>
          <p:nvPr/>
        </p:nvCxnSpPr>
        <p:spPr>
          <a:xfrm flipV="1">
            <a:off x="6017115" y="2466154"/>
            <a:ext cx="0" cy="80209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89FBF7C-CD15-F8F3-E501-07E64C564745}"/>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61386E59-3937-0FB4-F690-33553320474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0D862D82-1568-902F-157B-C79D58A66811}"/>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499F7B4E-884E-2904-6A7A-2C2369EC5EB7}"/>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EBEBD47-5D8E-2EB9-E02C-5E68AD7B0A3F}"/>
              </a:ext>
            </a:extLst>
          </p:cNvPr>
          <p:cNvGrpSpPr/>
          <p:nvPr/>
        </p:nvGrpSpPr>
        <p:grpSpPr>
          <a:xfrm>
            <a:off x="5050172" y="4502368"/>
            <a:ext cx="914400" cy="914400"/>
            <a:chOff x="5026342" y="319898"/>
            <a:chExt cx="914400" cy="914400"/>
          </a:xfrm>
        </p:grpSpPr>
        <p:sp>
          <p:nvSpPr>
            <p:cNvPr id="48" name="Oval 47">
              <a:extLst>
                <a:ext uri="{FF2B5EF4-FFF2-40B4-BE49-F238E27FC236}">
                  <a16:creationId xmlns:a16="http://schemas.microsoft.com/office/drawing/2014/main" id="{454117BC-97F4-73CE-F4B4-1A771D1F5FFE}"/>
                </a:ext>
              </a:extLst>
            </p:cNvPr>
            <p:cNvSpPr/>
            <p:nvPr/>
          </p:nvSpPr>
          <p:spPr>
            <a:xfrm>
              <a:off x="5163536" y="45709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21" name="Graphic 20" descr="Badge Cross with solid fill">
              <a:extLst>
                <a:ext uri="{FF2B5EF4-FFF2-40B4-BE49-F238E27FC236}">
                  <a16:creationId xmlns:a16="http://schemas.microsoft.com/office/drawing/2014/main" id="{46FBE4E4-A6B0-130D-AC05-560DFAC76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6342" y="319898"/>
              <a:ext cx="914400" cy="914400"/>
            </a:xfrm>
            <a:prstGeom prst="rect">
              <a:avLst/>
            </a:prstGeom>
          </p:spPr>
        </p:pic>
      </p:grpSp>
      <p:sp>
        <p:nvSpPr>
          <p:cNvPr id="43" name="TextBox 42">
            <a:extLst>
              <a:ext uri="{FF2B5EF4-FFF2-40B4-BE49-F238E27FC236}">
                <a16:creationId xmlns:a16="http://schemas.microsoft.com/office/drawing/2014/main" id="{F558A9DB-131C-D819-EBC1-2723FC36A670}"/>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B1B7C4C8-2B76-C4AB-FCEE-5ACFDC9AFB35}"/>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E9B0544-0348-3556-0193-9DDE38E2720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14" name="TextBox 13">
            <a:extLst>
              <a:ext uri="{FF2B5EF4-FFF2-40B4-BE49-F238E27FC236}">
                <a16:creationId xmlns:a16="http://schemas.microsoft.com/office/drawing/2014/main" id="{5E36416E-15C0-A1AA-9886-0C5396DCE65D}"/>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D4F6795E-40B7-FC11-251F-5B2BA2CB9F69}"/>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19" name="TextBox 18">
            <a:extLst>
              <a:ext uri="{FF2B5EF4-FFF2-40B4-BE49-F238E27FC236}">
                <a16:creationId xmlns:a16="http://schemas.microsoft.com/office/drawing/2014/main" id="{F3E4D7F5-32F2-2331-0A1A-4D93902CA297}"/>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232376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2BED-73BE-A7E1-9D70-716383B47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7C900-8572-836D-027D-79F7391311E4}"/>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9E386F84-2EBB-ABD0-C8A0-3CEF960CB43A}"/>
              </a:ext>
            </a:extLst>
          </p:cNvPr>
          <p:cNvSpPr>
            <a:spLocks noGrp="1"/>
          </p:cNvSpPr>
          <p:nvPr>
            <p:ph type="sldNum" sz="quarter" idx="12"/>
          </p:nvPr>
        </p:nvSpPr>
        <p:spPr/>
        <p:txBody>
          <a:bodyPr/>
          <a:lstStyle/>
          <a:p>
            <a:fld id="{4FAB73BC-B049-4115-A692-8D63A059BFB8}" type="slidenum">
              <a:rPr lang="en-US" smtClean="0"/>
              <a:pPr/>
              <a:t>21</a:t>
            </a:fld>
            <a:endParaRPr lang="en-US" dirty="0"/>
          </a:p>
        </p:txBody>
      </p:sp>
      <p:cxnSp>
        <p:nvCxnSpPr>
          <p:cNvPr id="25" name="Straight Connector 24">
            <a:extLst>
              <a:ext uri="{FF2B5EF4-FFF2-40B4-BE49-F238E27FC236}">
                <a16:creationId xmlns:a16="http://schemas.microsoft.com/office/drawing/2014/main" id="{61ED798C-B701-559D-9153-6D7B75563837}"/>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02D860CF-52A6-2E09-80FE-BE7C70C0B3F9}"/>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273C1B1-A85C-00DE-833D-E1DE7B205B88}"/>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864DA527-CBF1-631A-C154-AD510603CAB1}"/>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E7E0A84D-5B60-DC4B-0489-E3CC54455AD4}"/>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02557A1C-92BA-FDFC-C18C-8809F99556A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696AFA4-014F-422B-FA99-F022B8DF7020}"/>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2CFE052-6A61-EAB8-4AE3-AFABEAE6D3B4}"/>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E95164A-3DF1-B793-7ABD-CD0E736D5C49}"/>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67F3CA6-E89E-A301-FAD0-3AD263925FDF}"/>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53595EAC-ADDF-60F8-8794-BEDA069BAAE9}"/>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664937B2-86FF-A339-C130-DFF6DA8E366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EE8C0DA-86CF-A11F-5B21-B3A4912F2F6A}"/>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8C447A41-3AA6-A84F-7D9D-F9F26E4A7BF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41B979FF-09DE-5407-4C9C-D689EDE1E106}"/>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A8D3C8E-8F4D-E2F8-9C91-F8F4406304C0}"/>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50AEF8EF-AD53-E4B2-B079-11FC1BFA94EC}"/>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834EF26D-E8D3-EB34-206D-0E9E7E528F43}"/>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E9DEEE98-1320-ED69-1FC7-21CAC9D6130A}"/>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cxnSp>
        <p:nvCxnSpPr>
          <p:cNvPr id="10" name="Straight Arrow Connector 9">
            <a:extLst>
              <a:ext uri="{FF2B5EF4-FFF2-40B4-BE49-F238E27FC236}">
                <a16:creationId xmlns:a16="http://schemas.microsoft.com/office/drawing/2014/main" id="{B2A08A67-CEDC-4845-72B4-3701C828706B}"/>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1800E94-BEAD-22C5-E77B-B11B4A2A9AA9}"/>
              </a:ext>
            </a:extLst>
          </p:cNvPr>
          <p:cNvCxnSpPr>
            <a:cxnSpLocks/>
            <a:endCxn id="8" idx="5"/>
          </p:cNvCxnSpPr>
          <p:nvPr/>
        </p:nvCxnSpPr>
        <p:spPr>
          <a:xfrm flipH="1" flipV="1">
            <a:off x="4707199" y="2416463"/>
            <a:ext cx="1309915" cy="1056568"/>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265C240B-1792-F6B3-6188-61246E9E1B62}"/>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EEDEEFE1-62BF-827F-4B94-80A318BD15E4}"/>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9D11341F-0651-84A7-A830-AD048DE121EE}"/>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A53CF1D1-18AC-F2F4-D40C-51A6D7331438}"/>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82FBDE5-E9E8-DC5B-6826-29AE3F82D561}"/>
              </a:ext>
            </a:extLst>
          </p:cNvPr>
          <p:cNvGrpSpPr/>
          <p:nvPr/>
        </p:nvGrpSpPr>
        <p:grpSpPr>
          <a:xfrm>
            <a:off x="5055963" y="4511893"/>
            <a:ext cx="914400" cy="914400"/>
            <a:chOff x="4312140" y="357778"/>
            <a:chExt cx="914400" cy="914400"/>
          </a:xfrm>
        </p:grpSpPr>
        <p:sp>
          <p:nvSpPr>
            <p:cNvPr id="48" name="Oval 47">
              <a:extLst>
                <a:ext uri="{FF2B5EF4-FFF2-40B4-BE49-F238E27FC236}">
                  <a16:creationId xmlns:a16="http://schemas.microsoft.com/office/drawing/2014/main" id="{5CC09C2D-3C68-7C4A-9987-26F89ADB8090}"/>
                </a:ext>
              </a:extLst>
            </p:cNvPr>
            <p:cNvSpPr/>
            <p:nvPr/>
          </p:nvSpPr>
          <p:spPr>
            <a:xfrm>
              <a:off x="4449334" y="49497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7" name="Graphic 6" descr="Badge Tick1 with solid fill">
              <a:extLst>
                <a:ext uri="{FF2B5EF4-FFF2-40B4-BE49-F238E27FC236}">
                  <a16:creationId xmlns:a16="http://schemas.microsoft.com/office/drawing/2014/main" id="{42EF232A-1F3B-3221-70E9-D55E5DCC8D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2140" y="357778"/>
              <a:ext cx="914400" cy="914400"/>
            </a:xfrm>
            <a:prstGeom prst="rect">
              <a:avLst/>
            </a:prstGeom>
          </p:spPr>
        </p:pic>
      </p:grpSp>
      <p:sp>
        <p:nvSpPr>
          <p:cNvPr id="6" name="Oval 5">
            <a:extLst>
              <a:ext uri="{FF2B5EF4-FFF2-40B4-BE49-F238E27FC236}">
                <a16:creationId xmlns:a16="http://schemas.microsoft.com/office/drawing/2014/main" id="{F1BC3500-BBDE-96FB-D08B-F79A9E0D010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sp>
        <p:nvSpPr>
          <p:cNvPr id="14" name="TextBox 13">
            <a:extLst>
              <a:ext uri="{FF2B5EF4-FFF2-40B4-BE49-F238E27FC236}">
                <a16:creationId xmlns:a16="http://schemas.microsoft.com/office/drawing/2014/main" id="{2325DCC7-94A0-4700-7472-75E631C10418}"/>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9E0C7616-D178-8963-45FE-118E2E3D1A93}"/>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9CB1E23-C828-D596-0ABD-FC6213AC76D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9" name="TextBox 8">
            <a:extLst>
              <a:ext uri="{FF2B5EF4-FFF2-40B4-BE49-F238E27FC236}">
                <a16:creationId xmlns:a16="http://schemas.microsoft.com/office/drawing/2014/main" id="{93F0713D-493C-C986-59F6-70AB24EF542A}"/>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7E397F22-103B-C529-C563-9C452A477457}"/>
              </a:ext>
            </a:extLst>
          </p:cNvPr>
          <p:cNvSpPr txBox="1"/>
          <p:nvPr/>
        </p:nvSpPr>
        <p:spPr>
          <a:xfrm>
            <a:off x="6890660" y="2584640"/>
            <a:ext cx="4606015" cy="584775"/>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If the concepts share the same meaning, interoperability is possible.</a:t>
            </a:r>
            <a:endParaRPr lang="en-NL" sz="1600" dirty="0">
              <a:solidFill>
                <a:sysClr val="windowText" lastClr="000000"/>
              </a:solidFill>
            </a:endParaRPr>
          </a:p>
        </p:txBody>
      </p:sp>
      <p:sp>
        <p:nvSpPr>
          <p:cNvPr id="19" name="TextBox 18">
            <a:extLst>
              <a:ext uri="{FF2B5EF4-FFF2-40B4-BE49-F238E27FC236}">
                <a16:creationId xmlns:a16="http://schemas.microsoft.com/office/drawing/2014/main" id="{B36715D2-BB91-8959-56B9-A0D1580CB23E}"/>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20" name="TextBox 19">
            <a:extLst>
              <a:ext uri="{FF2B5EF4-FFF2-40B4-BE49-F238E27FC236}">
                <a16:creationId xmlns:a16="http://schemas.microsoft.com/office/drawing/2014/main" id="{067F9BA5-7CAB-1AD7-A008-83F39FB2D30F}"/>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2611867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A2023-D6E2-EE7D-EE7F-68F24FC02DF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CEAB0FE-E77C-8E6B-AB95-435BE5F0FF49}"/>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97AB0F6-25B9-D4EA-2B5B-EAD9F845C843}"/>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B80037D-11B1-ED59-7DDB-A4D224324AE9}"/>
              </a:ext>
            </a:extLst>
          </p:cNvPr>
          <p:cNvSpPr>
            <a:spLocks noGrp="1"/>
          </p:cNvSpPr>
          <p:nvPr>
            <p:ph type="sldNum" sz="quarter" idx="12"/>
          </p:nvPr>
        </p:nvSpPr>
        <p:spPr/>
        <p:txBody>
          <a:bodyPr/>
          <a:lstStyle/>
          <a:p>
            <a:fld id="{4FAB73BC-B049-4115-A692-8D63A059BFB8}" type="slidenum">
              <a:rPr lang="en-US" smtClean="0"/>
              <a:pPr/>
              <a:t>22</a:t>
            </a:fld>
            <a:endParaRPr lang="en-US" dirty="0"/>
          </a:p>
        </p:txBody>
      </p:sp>
      <p:sp>
        <p:nvSpPr>
          <p:cNvPr id="30" name="Parallelogram 29">
            <a:extLst>
              <a:ext uri="{FF2B5EF4-FFF2-40B4-BE49-F238E27FC236}">
                <a16:creationId xmlns:a16="http://schemas.microsoft.com/office/drawing/2014/main" id="{A2230CAE-DA16-9DE8-B991-8E37683B173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03FA0B7-FC95-CC60-41D1-3A516E38A40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E916CC6-A69B-5114-3B0F-FE07BAD0946E}"/>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6DD24FD7-AA32-FBE8-C1C6-950D3D06FEDC}"/>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114F32D6-8EA6-99C6-D6A9-C9A345B5674E}"/>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C418C424-A6FF-2455-CF2B-80EA63C970DF}"/>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DB62E8F5-965A-BE0B-68F1-B8B5A6EF5B21}"/>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677B91C-1215-FFD1-B67D-AF90E65ABB39}"/>
              </a:ext>
            </a:extLst>
          </p:cNvPr>
          <p:cNvCxnSpPr/>
          <p:nvPr/>
        </p:nvCxnSpPr>
        <p:spPr>
          <a:xfrm>
            <a:off x="11496675" y="1675518"/>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EE256DC-95E8-C3BA-633B-BFB41B7CF7A0}"/>
              </a:ext>
            </a:extLst>
          </p:cNvPr>
          <p:cNvCxnSpPr/>
          <p:nvPr/>
        </p:nvCxnSpPr>
        <p:spPr>
          <a:xfrm>
            <a:off x="10471412" y="292152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98D5191B-84A5-9FDD-B987-576F6FF0880C}"/>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D18D7790-BAE7-C37D-6947-DE1BAA4D2C10}"/>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9C670239-EDC7-77F5-F446-82DAE97CEBF3}"/>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93703511-4BBF-1E67-BAF2-0CFAF397544A}"/>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92235045-C8C9-1702-969A-11C017757C1D}"/>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B1B76DCA-3978-323E-FA8A-F7E01D184DB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FAFB936A-6F59-7D88-5708-455F4E33B369}"/>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51C0BDAA-B435-9264-61EA-1241921A87C9}"/>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4FD9D017-B176-7475-C6CB-C56C3381452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8B5C4AC4-81AE-F0BF-C101-B7B12FC5CC97}"/>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23858712-1D7A-4253-C40C-33B9B61A5E97}"/>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0ADF0A27-5E9D-3934-064F-B238A287A47B}"/>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2623585-F6D6-F1B3-97A5-253A18848A0A}"/>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24D96955-A91B-F127-AA5F-9D2F6C46DD45}"/>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025F0D81-7358-9DA8-1A4D-7E45BA19BFD1}"/>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3116CA4C-15B9-A0F6-4FFC-D05DABF1F8EC}"/>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5BC43E62-DC3A-D76D-57AA-25990727D2CD}"/>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E8329F88-235F-F32F-FD85-2D1E9F58F911}"/>
              </a:ext>
            </a:extLst>
          </p:cNvPr>
          <p:cNvCxnSpPr>
            <a:cxnSpLocks/>
            <a:stCxn id="56" idx="0"/>
            <a:endCxn id="8" idx="4"/>
          </p:cNvCxnSpPr>
          <p:nvPr/>
        </p:nvCxnSpPr>
        <p:spPr>
          <a:xfrm flipH="1" flipV="1">
            <a:off x="6722160" y="2488138"/>
            <a:ext cx="6595"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79B0268-750B-C7E5-D1CA-92F5DD1DFF71}"/>
              </a:ext>
            </a:extLst>
          </p:cNvPr>
          <p:cNvCxnSpPr>
            <a:cxnSpLocks/>
            <a:stCxn id="58" idx="0"/>
            <a:endCxn id="88" idx="4"/>
          </p:cNvCxnSpPr>
          <p:nvPr/>
        </p:nvCxnSpPr>
        <p:spPr>
          <a:xfrm flipH="1" flipV="1">
            <a:off x="8163884" y="2488206"/>
            <a:ext cx="1" cy="111001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E0C29FA-7113-915A-D578-84C563A5B15B}"/>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99EA313-6AE0-D480-B8CC-77252EFCF43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A3DA0B3-68C9-9A48-A855-A42D46AF5F16}"/>
              </a:ext>
            </a:extLst>
          </p:cNvPr>
          <p:cNvCxnSpPr>
            <a:cxnSpLocks/>
            <a:stCxn id="49" idx="0"/>
            <a:endCxn id="21" idx="4"/>
          </p:cNvCxnSpPr>
          <p:nvPr/>
        </p:nvCxnSpPr>
        <p:spPr>
          <a:xfrm flipV="1">
            <a:off x="9599014" y="2488138"/>
            <a:ext cx="0"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1EF5E0A-F6EE-AB95-D4DA-4553547256E1}"/>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D5609DBC-2C6E-EEEE-EEC9-1C0CE73946E4}"/>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4D6615F3-56AC-35C0-A02D-BC8AD5DB263A}"/>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4" name="Content Placeholder 2">
            <a:extLst>
              <a:ext uri="{FF2B5EF4-FFF2-40B4-BE49-F238E27FC236}">
                <a16:creationId xmlns:a16="http://schemas.microsoft.com/office/drawing/2014/main" id="{918DA243-88BD-7FEA-A20D-5C54F2F02EA3}"/>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The meanings are now clear in the conceptual model, but Amir still cannot query or compute over them directly.</a:t>
            </a:r>
          </a:p>
          <a:p>
            <a:pPr>
              <a:lnSpc>
                <a:spcPct val="85000"/>
              </a:lnSpc>
              <a:spcAft>
                <a:spcPts val="1800"/>
              </a:spcAft>
            </a:pPr>
            <a:r>
              <a:rPr lang="en-US" sz="2000" dirty="0"/>
              <a:t>The next step is to turn these conceptual meanings into machine-readable, </a:t>
            </a:r>
            <a:r>
              <a:rPr lang="en-US" sz="2000" dirty="0" err="1"/>
              <a:t>queryable</a:t>
            </a:r>
            <a:r>
              <a:rPr lang="en-US" sz="2000" dirty="0"/>
              <a:t>, and actionable relations.</a:t>
            </a:r>
            <a:endParaRPr lang="en-NL" sz="2000" dirty="0"/>
          </a:p>
        </p:txBody>
      </p:sp>
      <p:pic>
        <p:nvPicPr>
          <p:cNvPr id="7" name="slide 16">
            <a:hlinkClick r:id="" action="ppaction://media"/>
            <a:extLst>
              <a:ext uri="{FF2B5EF4-FFF2-40B4-BE49-F238E27FC236}">
                <a16:creationId xmlns:a16="http://schemas.microsoft.com/office/drawing/2014/main" id="{E29F63A8-12DC-BD41-CD17-0D097DAF022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458928" y="302262"/>
            <a:ext cx="609600" cy="609600"/>
          </a:xfrm>
          <a:prstGeom prst="rect">
            <a:avLst/>
          </a:prstGeom>
        </p:spPr>
      </p:pic>
    </p:spTree>
    <p:extLst>
      <p:ext uri="{BB962C8B-B14F-4D97-AF65-F5344CB8AC3E}">
        <p14:creationId xmlns:p14="http://schemas.microsoft.com/office/powerpoint/2010/main" val="426492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3015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9" fill="hold" display="0">
                  <p:stCondLst>
                    <p:cond delay="indefinite"/>
                  </p:stCondLst>
                  <p:endCondLst>
                    <p:cond evt="onStopAudio" delay="0">
                      <p:tgtEl>
                        <p:sldTgt/>
                      </p:tgtEl>
                    </p:cond>
                  </p:endCondLst>
                </p:cTn>
                <p:tgtEl>
                  <p:spTgt spid="7"/>
                </p:tgtEl>
              </p:cMediaNode>
            </p:audio>
          </p:childTnLst>
        </p:cTn>
      </p:par>
    </p:tnLst>
    <p:bldLst>
      <p:bldP spid="3"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D7A88-E09B-1CB2-2129-B7C06E604D5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A643824-B184-4E2E-4D20-9F9981DB5FF3}"/>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EF9E7A67-4594-01D4-D524-663D89E0D601}"/>
              </a:ext>
            </a:extLst>
          </p:cNvPr>
          <p:cNvSpPr>
            <a:spLocks noGrp="1"/>
          </p:cNvSpPr>
          <p:nvPr>
            <p:ph type="title"/>
          </p:nvPr>
        </p:nvSpPr>
        <p:spPr/>
        <p:txBody>
          <a:bodyPr/>
          <a:lstStyle/>
          <a:p>
            <a:r>
              <a:rPr lang="en-US" sz="3600" dirty="0"/>
              <a:t>The Health-RI Computational Ontology</a:t>
            </a:r>
            <a:endParaRPr lang="en-NL" sz="3600" dirty="0"/>
          </a:p>
        </p:txBody>
      </p:sp>
      <p:sp>
        <p:nvSpPr>
          <p:cNvPr id="4" name="Slide Number Placeholder 3">
            <a:extLst>
              <a:ext uri="{FF2B5EF4-FFF2-40B4-BE49-F238E27FC236}">
                <a16:creationId xmlns:a16="http://schemas.microsoft.com/office/drawing/2014/main" id="{6695E951-13AB-488A-CFC9-43CDA6FE4CF3}"/>
              </a:ext>
            </a:extLst>
          </p:cNvPr>
          <p:cNvSpPr>
            <a:spLocks noGrp="1"/>
          </p:cNvSpPr>
          <p:nvPr>
            <p:ph type="sldNum" sz="quarter" idx="12"/>
          </p:nvPr>
        </p:nvSpPr>
        <p:spPr/>
        <p:txBody>
          <a:bodyPr/>
          <a:lstStyle/>
          <a:p>
            <a:fld id="{4FAB73BC-B049-4115-A692-8D63A059BFB8}" type="slidenum">
              <a:rPr lang="en-US" smtClean="0"/>
              <a:pPr/>
              <a:t>23</a:t>
            </a:fld>
            <a:endParaRPr lang="en-US" dirty="0"/>
          </a:p>
        </p:txBody>
      </p:sp>
      <p:sp>
        <p:nvSpPr>
          <p:cNvPr id="31" name="Freeform: Shape 30">
            <a:extLst>
              <a:ext uri="{FF2B5EF4-FFF2-40B4-BE49-F238E27FC236}">
                <a16:creationId xmlns:a16="http://schemas.microsoft.com/office/drawing/2014/main" id="{FAD2CCD1-2CF6-9959-3D10-A296F877185F}"/>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5147C8-7CB4-E979-8DDD-BF894B585799}"/>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842930E4-F0FC-D20C-7344-AB31202E23F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E441779E-7662-71A4-D752-4A117DCA19DA}"/>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C43FFCDB-B498-9A6E-7CCA-54774947529C}"/>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8AD7C18C-9245-EAD6-3976-8774E197638E}"/>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D3AFE626-7345-1AE4-4225-74777528DBF5}"/>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95A0578B-EFDE-BB37-0DE2-1EC8F7C55CB1}"/>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9F4FB4D0-1BB0-A9F7-C916-4A67881ADA28}"/>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EBE3ACC8-EFF3-B475-08F4-381657A56175}"/>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2E495D52-1C91-1B61-47FE-AE27AD8AB6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CF2A1AF9-1976-AD01-4527-6BCB59FCD9BD}"/>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F6608BB3-0CBD-3221-FD9C-E3C109FA508F}"/>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69DCC5AE-FE5F-843F-4322-955F48EFFE02}"/>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55469AF0-5A48-B37A-56D5-4B58C8323EF3}"/>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D749D8C-A330-A044-972D-533D4EA4898C}"/>
              </a:ext>
            </a:extLst>
          </p:cNvPr>
          <p:cNvSpPr txBox="1"/>
          <p:nvPr/>
        </p:nvSpPr>
        <p:spPr>
          <a:xfrm>
            <a:off x="5468718" y="4500304"/>
            <a:ext cx="1239827"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HRIO</a:t>
            </a:r>
          </a:p>
          <a:p>
            <a:pPr algn="ctr"/>
            <a:r>
              <a:rPr lang="en-US" sz="1200" b="1" dirty="0">
                <a:ln>
                  <a:solidFill>
                    <a:schemeClr val="tx1">
                      <a:lumMod val="50000"/>
                      <a:lumOff val="50000"/>
                    </a:schemeClr>
                  </a:solidFill>
                </a:ln>
                <a:solidFill>
                  <a:schemeClr val="bg1"/>
                </a:solidFill>
              </a:rPr>
              <a:t>Computational</a:t>
            </a:r>
            <a:endParaRPr lang="en-NL" sz="1200" b="1" dirty="0">
              <a:ln>
                <a:solidFill>
                  <a:schemeClr val="tx1">
                    <a:lumMod val="50000"/>
                    <a:lumOff val="50000"/>
                  </a:schemeClr>
                </a:solidFill>
              </a:ln>
              <a:solidFill>
                <a:schemeClr val="bg1"/>
              </a:solidFill>
            </a:endParaRPr>
          </a:p>
        </p:txBody>
      </p:sp>
      <p:sp>
        <p:nvSpPr>
          <p:cNvPr id="21" name="TextBox 20">
            <a:extLst>
              <a:ext uri="{FF2B5EF4-FFF2-40B4-BE49-F238E27FC236}">
                <a16:creationId xmlns:a16="http://schemas.microsoft.com/office/drawing/2014/main" id="{6A208FD6-D1DD-D927-3EB8-3B8E6FE2315F}"/>
              </a:ext>
            </a:extLst>
          </p:cNvPr>
          <p:cNvSpPr txBox="1"/>
          <p:nvPr/>
        </p:nvSpPr>
        <p:spPr>
          <a:xfrm>
            <a:off x="6146123" y="3505364"/>
            <a:ext cx="100540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HRIO</a:t>
            </a:r>
          </a:p>
          <a:p>
            <a:pPr algn="ctr"/>
            <a:r>
              <a:rPr lang="en-US" sz="1200" b="1" dirty="0">
                <a:ln>
                  <a:solidFill>
                    <a:schemeClr val="tx1">
                      <a:lumMod val="50000"/>
                      <a:lumOff val="50000"/>
                    </a:schemeClr>
                  </a:solidFill>
                </a:ln>
                <a:solidFill>
                  <a:schemeClr val="bg1"/>
                </a:solidFill>
              </a:rPr>
              <a:t>Conceptual</a:t>
            </a:r>
            <a:endParaRPr lang="en-NL" sz="1200" b="1" dirty="0">
              <a:ln>
                <a:solidFill>
                  <a:schemeClr val="tx1">
                    <a:lumMod val="50000"/>
                    <a:lumOff val="50000"/>
                  </a:schemeClr>
                </a:solidFill>
              </a:ln>
              <a:solidFill>
                <a:schemeClr val="bg1"/>
              </a:solidFill>
            </a:endParaRPr>
          </a:p>
        </p:txBody>
      </p:sp>
      <p:sp>
        <p:nvSpPr>
          <p:cNvPr id="22" name="TextBox 21">
            <a:extLst>
              <a:ext uri="{FF2B5EF4-FFF2-40B4-BE49-F238E27FC236}">
                <a16:creationId xmlns:a16="http://schemas.microsoft.com/office/drawing/2014/main" id="{FE94EFA1-8F4C-2C4A-4A8D-8862D8531B3A}"/>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Rectangle 23">
            <a:extLst>
              <a:ext uri="{FF2B5EF4-FFF2-40B4-BE49-F238E27FC236}">
                <a16:creationId xmlns:a16="http://schemas.microsoft.com/office/drawing/2014/main" id="{E92E20EC-DCBE-241D-24E9-BE518C1EF6E3}"/>
              </a:ext>
            </a:extLst>
          </p:cNvPr>
          <p:cNvSpPr/>
          <p:nvPr/>
        </p:nvSpPr>
        <p:spPr>
          <a:xfrm>
            <a:off x="2114546" y="2449937"/>
            <a:ext cx="4298350" cy="236018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3" name="Freeform: Shape 2">
            <a:extLst>
              <a:ext uri="{FF2B5EF4-FFF2-40B4-BE49-F238E27FC236}">
                <a16:creationId xmlns:a16="http://schemas.microsoft.com/office/drawing/2014/main" id="{AE727679-E9F4-9BD9-D281-BDFB0AA9FB50}"/>
              </a:ext>
            </a:extLst>
          </p:cNvPr>
          <p:cNvSpPr/>
          <p:nvPr/>
        </p:nvSpPr>
        <p:spPr>
          <a:xfrm>
            <a:off x="2347256" y="2384025"/>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36" name="Group 35">
            <a:extLst>
              <a:ext uri="{FF2B5EF4-FFF2-40B4-BE49-F238E27FC236}">
                <a16:creationId xmlns:a16="http://schemas.microsoft.com/office/drawing/2014/main" id="{6771EC40-4F48-F33D-8B15-04D3A28DA398}"/>
              </a:ext>
            </a:extLst>
          </p:cNvPr>
          <p:cNvGrpSpPr/>
          <p:nvPr/>
        </p:nvGrpSpPr>
        <p:grpSpPr>
          <a:xfrm>
            <a:off x="785972" y="2418387"/>
            <a:ext cx="5026151" cy="1224496"/>
            <a:chOff x="1089807" y="2723025"/>
            <a:chExt cx="5026151" cy="1224496"/>
          </a:xfrm>
        </p:grpSpPr>
        <p:sp>
          <p:nvSpPr>
            <p:cNvPr id="28" name="TextBox 27">
              <a:extLst>
                <a:ext uri="{FF2B5EF4-FFF2-40B4-BE49-F238E27FC236}">
                  <a16:creationId xmlns:a16="http://schemas.microsoft.com/office/drawing/2014/main" id="{614DC35F-F3F4-35CF-BB50-565858BCEBAA}"/>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34" name="Group 33">
              <a:extLst>
                <a:ext uri="{FF2B5EF4-FFF2-40B4-BE49-F238E27FC236}">
                  <a16:creationId xmlns:a16="http://schemas.microsoft.com/office/drawing/2014/main" id="{F44B1B21-065E-2161-1121-36415D9658BA}"/>
                </a:ext>
              </a:extLst>
            </p:cNvPr>
            <p:cNvGrpSpPr/>
            <p:nvPr/>
          </p:nvGrpSpPr>
          <p:grpSpPr>
            <a:xfrm>
              <a:off x="1089807" y="2723025"/>
              <a:ext cx="1224496" cy="1224496"/>
              <a:chOff x="1089807" y="2723025"/>
              <a:chExt cx="1224496" cy="1224496"/>
            </a:xfrm>
          </p:grpSpPr>
          <p:pic>
            <p:nvPicPr>
              <p:cNvPr id="23" name="Graphic 22" descr="Excellent with solid fill">
                <a:extLst>
                  <a:ext uri="{FF2B5EF4-FFF2-40B4-BE49-F238E27FC236}">
                    <a16:creationId xmlns:a16="http://schemas.microsoft.com/office/drawing/2014/main" id="{F7831754-0820-B185-4A95-472C63A48E1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89807" y="2723025"/>
                <a:ext cx="1224496" cy="1224496"/>
              </a:xfrm>
              <a:prstGeom prst="rect">
                <a:avLst/>
              </a:prstGeom>
            </p:spPr>
          </p:pic>
          <p:sp>
            <p:nvSpPr>
              <p:cNvPr id="32" name="TextBox 31">
                <a:extLst>
                  <a:ext uri="{FF2B5EF4-FFF2-40B4-BE49-F238E27FC236}">
                    <a16:creationId xmlns:a16="http://schemas.microsoft.com/office/drawing/2014/main" id="{D19D0579-80DC-0634-51E5-EF8A9E28334F}"/>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grpSp>
        <p:nvGrpSpPr>
          <p:cNvPr id="38" name="Group 37">
            <a:extLst>
              <a:ext uri="{FF2B5EF4-FFF2-40B4-BE49-F238E27FC236}">
                <a16:creationId xmlns:a16="http://schemas.microsoft.com/office/drawing/2014/main" id="{5360A695-1600-4F24-125B-3494A8B544A7}"/>
              </a:ext>
            </a:extLst>
          </p:cNvPr>
          <p:cNvGrpSpPr/>
          <p:nvPr/>
        </p:nvGrpSpPr>
        <p:grpSpPr>
          <a:xfrm>
            <a:off x="789309" y="3722997"/>
            <a:ext cx="4523769" cy="1224496"/>
            <a:chOff x="1089807" y="4326591"/>
            <a:chExt cx="4523769" cy="1224496"/>
          </a:xfrm>
        </p:grpSpPr>
        <p:sp>
          <p:nvSpPr>
            <p:cNvPr id="29" name="TextBox 28">
              <a:extLst>
                <a:ext uri="{FF2B5EF4-FFF2-40B4-BE49-F238E27FC236}">
                  <a16:creationId xmlns:a16="http://schemas.microsoft.com/office/drawing/2014/main" id="{CB458F6A-0C71-C16F-28B0-F0A0E4517E98}"/>
                </a:ext>
              </a:extLst>
            </p:cNvPr>
            <p:cNvSpPr txBox="1"/>
            <p:nvPr/>
          </p:nvSpPr>
          <p:spPr>
            <a:xfrm>
              <a:off x="2264967" y="4584896"/>
              <a:ext cx="3348609" cy="707886"/>
            </a:xfrm>
            <a:prstGeom prst="rect">
              <a:avLst/>
            </a:prstGeom>
            <a:noFill/>
          </p:spPr>
          <p:txBody>
            <a:bodyPr wrap="none" rtlCol="0">
              <a:spAutoFit/>
            </a:bodyPr>
            <a:lstStyle/>
            <a:p>
              <a:r>
                <a:rPr lang="en-US" sz="2000" b="1" dirty="0">
                  <a:solidFill>
                    <a:srgbClr val="00B050"/>
                  </a:solidFill>
                </a:rPr>
                <a:t>Computational tractability:</a:t>
              </a:r>
            </a:p>
            <a:p>
              <a:r>
                <a:rPr lang="en-US" sz="2000" dirty="0">
                  <a:solidFill>
                    <a:srgbClr val="00B050"/>
                  </a:solidFill>
                </a:rPr>
                <a:t>Machine-readable relations</a:t>
              </a:r>
            </a:p>
          </p:txBody>
        </p:sp>
        <p:grpSp>
          <p:nvGrpSpPr>
            <p:cNvPr id="37" name="Group 36">
              <a:extLst>
                <a:ext uri="{FF2B5EF4-FFF2-40B4-BE49-F238E27FC236}">
                  <a16:creationId xmlns:a16="http://schemas.microsoft.com/office/drawing/2014/main" id="{B50B6CA2-7D59-DE51-936E-623C43959A71}"/>
                </a:ext>
              </a:extLst>
            </p:cNvPr>
            <p:cNvGrpSpPr/>
            <p:nvPr/>
          </p:nvGrpSpPr>
          <p:grpSpPr>
            <a:xfrm>
              <a:off x="1089807" y="4326591"/>
              <a:ext cx="1224496" cy="1224496"/>
              <a:chOff x="1089807" y="4326591"/>
              <a:chExt cx="1224496" cy="1224496"/>
            </a:xfrm>
          </p:grpSpPr>
          <p:pic>
            <p:nvPicPr>
              <p:cNvPr id="25" name="Graphic 24" descr="Excellent with solid fill">
                <a:extLst>
                  <a:ext uri="{FF2B5EF4-FFF2-40B4-BE49-F238E27FC236}">
                    <a16:creationId xmlns:a16="http://schemas.microsoft.com/office/drawing/2014/main" id="{18CD470B-1FAE-9095-DCD5-798C90D5BA8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89807" y="4326591"/>
                <a:ext cx="1224496" cy="1224496"/>
              </a:xfrm>
              <a:prstGeom prst="rect">
                <a:avLst/>
              </a:prstGeom>
            </p:spPr>
          </p:pic>
          <p:sp>
            <p:nvSpPr>
              <p:cNvPr id="33" name="TextBox 32">
                <a:extLst>
                  <a:ext uri="{FF2B5EF4-FFF2-40B4-BE49-F238E27FC236}">
                    <a16:creationId xmlns:a16="http://schemas.microsoft.com/office/drawing/2014/main" id="{051792E4-6104-FC76-A21C-20EE61C15440}"/>
                  </a:ext>
                </a:extLst>
              </p:cNvPr>
              <p:cNvSpPr txBox="1"/>
              <p:nvPr/>
            </p:nvSpPr>
            <p:spPr>
              <a:xfrm>
                <a:off x="1527167" y="4708007"/>
                <a:ext cx="349776" cy="461665"/>
              </a:xfrm>
              <a:prstGeom prst="rect">
                <a:avLst/>
              </a:prstGeom>
              <a:noFill/>
            </p:spPr>
            <p:txBody>
              <a:bodyPr wrap="none" rtlCol="0">
                <a:spAutoFit/>
              </a:bodyPr>
              <a:lstStyle/>
              <a:p>
                <a:r>
                  <a:rPr lang="en-US" sz="2400" b="1" dirty="0">
                    <a:solidFill>
                      <a:schemeClr val="bg1"/>
                    </a:solidFill>
                  </a:rPr>
                  <a:t>2</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C71BA5A6-0767-933C-C225-6917C1E5081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pic>
        <p:nvPicPr>
          <p:cNvPr id="26" name="slide 17">
            <a:hlinkClick r:id="" action="ppaction://media"/>
            <a:extLst>
              <a:ext uri="{FF2B5EF4-FFF2-40B4-BE49-F238E27FC236}">
                <a16:creationId xmlns:a16="http://schemas.microsoft.com/office/drawing/2014/main" id="{549CA4CA-5C4C-2AC2-F123-6BD8D7FADD98}"/>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2381593" y="241030"/>
            <a:ext cx="609600" cy="609600"/>
          </a:xfrm>
          <a:prstGeom prst="rect">
            <a:avLst/>
          </a:prstGeom>
        </p:spPr>
      </p:pic>
    </p:spTree>
    <p:extLst>
      <p:ext uri="{BB962C8B-B14F-4D97-AF65-F5344CB8AC3E}">
        <p14:creationId xmlns:p14="http://schemas.microsoft.com/office/powerpoint/2010/main" val="269029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1000"/>
                                        <p:tgtEl>
                                          <p:spTgt spid="3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mediacall" presetSubtype="0" fill="hold" nodeType="clickEffect">
                                  <p:stCondLst>
                                    <p:cond delay="0"/>
                                  </p:stCondLst>
                                  <p:childTnLst>
                                    <p:cmd type="call" cmd="playFrom(0.0)">
                                      <p:cBhvr>
                                        <p:cTn id="15" dur="3716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indefinite"/>
                  </p:stCondLst>
                  <p:endCondLst>
                    <p:cond evt="onStopAudio" delay="0">
                      <p:tgtEl>
                        <p:sldTgt/>
                      </p:tgtEl>
                    </p:cond>
                  </p:endCondLst>
                </p:cTn>
                <p:tgtEl>
                  <p:spTgt spid="26"/>
                </p:tgtEl>
              </p:cMediaNode>
            </p:audio>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261D-9223-1CE6-D9B2-F3B39F1CE2DA}"/>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1A8ACAF-2EEF-8606-F589-BC0D0E02C2E5}"/>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3FBF620-6AFB-7584-8C52-0F29FA242CBA}"/>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8C4959E-55A2-22E4-BC04-125277EA52F2}"/>
              </a:ext>
            </a:extLst>
          </p:cNvPr>
          <p:cNvSpPr>
            <a:spLocks noGrp="1"/>
          </p:cNvSpPr>
          <p:nvPr>
            <p:ph type="sldNum" sz="quarter" idx="12"/>
          </p:nvPr>
        </p:nvSpPr>
        <p:spPr/>
        <p:txBody>
          <a:bodyPr/>
          <a:lstStyle/>
          <a:p>
            <a:fld id="{4FAB73BC-B049-4115-A692-8D63A059BFB8}" type="slidenum">
              <a:rPr lang="en-US" smtClean="0"/>
              <a:pPr/>
              <a:t>24</a:t>
            </a:fld>
            <a:endParaRPr lang="en-US" dirty="0"/>
          </a:p>
        </p:txBody>
      </p:sp>
      <p:sp>
        <p:nvSpPr>
          <p:cNvPr id="30" name="Parallelogram 29">
            <a:extLst>
              <a:ext uri="{FF2B5EF4-FFF2-40B4-BE49-F238E27FC236}">
                <a16:creationId xmlns:a16="http://schemas.microsoft.com/office/drawing/2014/main" id="{14A0346A-892B-5A03-4750-55217956957C}"/>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8A78FFDC-C09A-7D7E-AB10-FD1E13288443}"/>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35E4319-E447-E74C-E51E-6CAC86B210C0}"/>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74FE3BF-BFFB-E6DA-3405-70B7B1E3DDF8}"/>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E5E408B3-AF68-E3B8-3F8B-B6C1671E8B07}"/>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6BCC97C2-6647-F47D-5055-0D8E72671472}"/>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400C3A88-E329-36BB-26E0-B4D36BBD51DA}"/>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B1B52C1-F0D4-85B5-8711-B4B384E1DE48}"/>
              </a:ext>
            </a:extLst>
          </p:cNvPr>
          <p:cNvCxnSpPr/>
          <p:nvPr/>
        </p:nvCxnSpPr>
        <p:spPr>
          <a:xfrm>
            <a:off x="11321146" y="167375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AEB28AE-436A-AA7F-B892-939D6505A97E}"/>
              </a:ext>
            </a:extLst>
          </p:cNvPr>
          <p:cNvCxnSpPr/>
          <p:nvPr/>
        </p:nvCxnSpPr>
        <p:spPr>
          <a:xfrm>
            <a:off x="9873466" y="2918356"/>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4903228-B2E7-922A-048E-C4175F9AB475}"/>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9E40DA5C-2921-B0AF-7B32-54597C243C58}"/>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62157E67-7678-6084-0B64-D5B8D1254C37}"/>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6D99EFB3-65C7-8081-77DD-B83B005B9E75}"/>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AC829292-8D6F-0F1A-72FB-06F78F5DB4A6}"/>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E61895C9-ED15-C2EA-9DF2-0FD6355A7E13}"/>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62713477-1399-210E-F6BC-761711A0D3C6}"/>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7AB44C87-9619-02BB-D22B-0FCB1B285ED1}"/>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12064FDA-95E8-3C3E-09CD-6873AD0C586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F84417C9-3DED-515B-D157-E2888970319A}"/>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E084727B-9829-EC5F-929B-E0342FB1CBB6}"/>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F462F5F4-745B-2428-210F-F8E816C8503F}"/>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45F2D83-E14F-34C6-CC0A-3BE8521DF614}"/>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D4A542C5-DB68-D770-871D-A8E25863C393}"/>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C42049F-FC2D-D518-DA47-B63AFF92CBB7}"/>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F45634D5-4D0F-22A2-C31E-90D972D9F40E}"/>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D4AEB0B5-61AA-1BFD-F79B-C135392F8921}"/>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F74A177D-B76A-6AAB-0188-56022FADB213}"/>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72761D-C93D-22ED-24D8-6D78A2FE42EC}"/>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9B61B2-9F1B-1CEE-395F-38DFF4F1DEA6}"/>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27C998-1015-3814-C5FE-97AD05CEBE36}"/>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E052502-CB27-47AE-4CD3-E68CC7D86225}"/>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8D7FF10-4490-3A12-44B9-C2F8728BB8BA}"/>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17BDF5F-077D-271C-30BE-E3B8385DE1A5}"/>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F0EF69A2-6368-5991-6129-DB2B3351D4D4}"/>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1" name="TextBox 10">
            <a:extLst>
              <a:ext uri="{FF2B5EF4-FFF2-40B4-BE49-F238E27FC236}">
                <a16:creationId xmlns:a16="http://schemas.microsoft.com/office/drawing/2014/main" id="{B4DC9FC5-C421-6AA2-7562-D89DC51C4EF6}"/>
              </a:ext>
            </a:extLst>
          </p:cNvPr>
          <p:cNvSpPr txBox="1"/>
          <p:nvPr/>
        </p:nvSpPr>
        <p:spPr>
          <a:xfrm>
            <a:off x="731576" y="3332536"/>
            <a:ext cx="4830135" cy="2590453"/>
          </a:xfrm>
          <a:prstGeom prst="rect">
            <a:avLst/>
          </a:prstGeom>
          <a:ln>
            <a:solidFill>
              <a:schemeClr val="accent2"/>
            </a:solidFill>
          </a:ln>
        </p:spPr>
        <p:style>
          <a:lnRef idx="3">
            <a:schemeClr val="lt1"/>
          </a:lnRef>
          <a:fillRef idx="1">
            <a:schemeClr val="dk1"/>
          </a:fillRef>
          <a:effectRef idx="1">
            <a:schemeClr val="dk1"/>
          </a:effectRef>
          <a:fontRef idx="minor">
            <a:schemeClr val="lt1"/>
          </a:fontRef>
        </p:style>
        <p:txBody>
          <a:bodyPr wrap="square" rtlCol="0">
            <a:spAutoFit/>
          </a:bodyPr>
          <a:lstStyle/>
          <a:p>
            <a:pPr>
              <a:spcAft>
                <a:spcPts val="100"/>
              </a:spcAft>
            </a:pPr>
            <a:r>
              <a:rPr lang="en-US" sz="1400" dirty="0">
                <a:solidFill>
                  <a:schemeClr val="bg1"/>
                </a:solidFill>
                <a:latin typeface="Courier New" panose="02070309020205020404" pitchFamily="49" charset="0"/>
                <a:cs typeface="Courier New" panose="02070309020205020404" pitchFamily="49" charset="0"/>
              </a:rPr>
              <a:t>SELECT DISTINCT ?output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WHERE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VALUES ?input { </a:t>
            </a:r>
            <a:r>
              <a:rPr lang="en-US" sz="1400" dirty="0" err="1">
                <a:solidFill>
                  <a:schemeClr val="bg1"/>
                </a:solidFill>
                <a:latin typeface="Courier New" panose="02070309020205020404" pitchFamily="49" charset="0"/>
                <a:cs typeface="Courier New" panose="02070309020205020404" pitchFamily="49" charset="0"/>
              </a:rPr>
              <a:t>hrio:Sex</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?mapping a </a:t>
            </a:r>
            <a:r>
              <a:rPr lang="en-US" sz="1400" dirty="0" err="1">
                <a:solidFill>
                  <a:schemeClr val="bg1"/>
                </a:solidFill>
                <a:latin typeface="Courier New" panose="02070309020205020404" pitchFamily="49" charset="0"/>
                <a:cs typeface="Courier New" panose="02070309020205020404" pitchFamily="49" charset="0"/>
              </a:rPr>
              <a:t>demo:Mapping</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demo:hasMappingSource</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demo:hasTargetMeaning</a:t>
            </a:r>
            <a:r>
              <a:rPr lang="en-US" sz="1400" dirty="0">
                <a:solidFill>
                  <a:schemeClr val="bg1"/>
                </a:solidFill>
                <a:latin typeface="Courier New" panose="02070309020205020404" pitchFamily="49" charset="0"/>
                <a:cs typeface="Courier New" panose="02070309020205020404" pitchFamily="49" charset="0"/>
              </a:rPr>
              <a:t> ?input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?output </a:t>
            </a:r>
            <a:r>
              <a:rPr lang="en-US" sz="1400" dirty="0" err="1">
                <a:solidFill>
                  <a:schemeClr val="bg1"/>
                </a:solidFill>
                <a:latin typeface="Courier New" panose="02070309020205020404" pitchFamily="49" charset="0"/>
                <a:cs typeface="Courier New" panose="02070309020205020404" pitchFamily="49" charset="0"/>
              </a:rPr>
              <a:t>demo:implementsConcept</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ORDER BY ?output</a:t>
            </a:r>
          </a:p>
        </p:txBody>
      </p:sp>
      <p:sp>
        <p:nvSpPr>
          <p:cNvPr id="15" name="TextBox 14">
            <a:extLst>
              <a:ext uri="{FF2B5EF4-FFF2-40B4-BE49-F238E27FC236}">
                <a16:creationId xmlns:a16="http://schemas.microsoft.com/office/drawing/2014/main" id="{AC910CAE-7309-5E1E-829E-295469039B00}"/>
              </a:ext>
            </a:extLst>
          </p:cNvPr>
          <p:cNvSpPr txBox="1"/>
          <p:nvPr/>
        </p:nvSpPr>
        <p:spPr>
          <a:xfrm>
            <a:off x="705293" y="1639416"/>
            <a:ext cx="3711674" cy="1323439"/>
          </a:xfrm>
          <a:prstGeom prst="rect">
            <a:avLst/>
          </a:prstGeom>
          <a:noFill/>
        </p:spPr>
        <p:txBody>
          <a:bodyPr wrap="square">
            <a:spAutoFit/>
          </a:bodyPr>
          <a:lstStyle/>
          <a:p>
            <a:pPr marL="285750" indent="-285750">
              <a:buFont typeface="Arial" panose="020B0604020202020204" pitchFamily="34" charset="0"/>
              <a:buChar char="•"/>
            </a:pPr>
            <a:r>
              <a:rPr lang="en-NL" sz="2000" dirty="0"/>
              <a:t>Amir can now query for dataset columns that are mapped to the meaning he needs</a:t>
            </a:r>
            <a:r>
              <a:rPr lang="en-US" sz="2000" dirty="0"/>
              <a:t>: HRIO’s Sex.</a:t>
            </a:r>
            <a:endParaRPr lang="en-NL" sz="2000" dirty="0"/>
          </a:p>
        </p:txBody>
      </p:sp>
      <p:sp>
        <p:nvSpPr>
          <p:cNvPr id="22" name="Rectangle: Rounded Corners 21">
            <a:extLst>
              <a:ext uri="{FF2B5EF4-FFF2-40B4-BE49-F238E27FC236}">
                <a16:creationId xmlns:a16="http://schemas.microsoft.com/office/drawing/2014/main" id="{75B53F95-060E-28EA-A766-3F31C291AB26}"/>
              </a:ext>
            </a:extLst>
          </p:cNvPr>
          <p:cNvSpPr/>
          <p:nvPr/>
        </p:nvSpPr>
        <p:spPr>
          <a:xfrm>
            <a:off x="6403763" y="1983602"/>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23" name="TextBox 22">
            <a:extLst>
              <a:ext uri="{FF2B5EF4-FFF2-40B4-BE49-F238E27FC236}">
                <a16:creationId xmlns:a16="http://schemas.microsoft.com/office/drawing/2014/main" id="{684B0D2C-CB58-51BA-03E6-A5B9975EB8E1}"/>
              </a:ext>
            </a:extLst>
          </p:cNvPr>
          <p:cNvSpPr txBox="1"/>
          <p:nvPr/>
        </p:nvSpPr>
        <p:spPr>
          <a:xfrm>
            <a:off x="6354437" y="1628775"/>
            <a:ext cx="731290" cy="369332"/>
          </a:xfrm>
          <a:prstGeom prst="rect">
            <a:avLst/>
          </a:prstGeom>
          <a:noFill/>
        </p:spPr>
        <p:txBody>
          <a:bodyPr wrap="none" rtlCol="0">
            <a:spAutoFit/>
          </a:bodyPr>
          <a:lstStyle/>
          <a:p>
            <a:pPr algn="ctr"/>
            <a:r>
              <a:rPr lang="en-US" b="1" dirty="0"/>
              <a:t>input</a:t>
            </a:r>
            <a:endParaRPr lang="en-NL" b="1" dirty="0"/>
          </a:p>
        </p:txBody>
      </p:sp>
      <p:sp>
        <p:nvSpPr>
          <p:cNvPr id="29" name="Rectangle: Rounded Corners 28">
            <a:extLst>
              <a:ext uri="{FF2B5EF4-FFF2-40B4-BE49-F238E27FC236}">
                <a16:creationId xmlns:a16="http://schemas.microsoft.com/office/drawing/2014/main" id="{9746A47D-9CC2-3A65-B6F7-80809820C696}"/>
              </a:ext>
            </a:extLst>
          </p:cNvPr>
          <p:cNvSpPr/>
          <p:nvPr/>
        </p:nvSpPr>
        <p:spPr>
          <a:xfrm>
            <a:off x="6403763" y="5000251"/>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32" name="TextBox 31">
            <a:extLst>
              <a:ext uri="{FF2B5EF4-FFF2-40B4-BE49-F238E27FC236}">
                <a16:creationId xmlns:a16="http://schemas.microsoft.com/office/drawing/2014/main" id="{CD086E81-C249-6C9C-29DB-E8C655CFB63E}"/>
              </a:ext>
            </a:extLst>
          </p:cNvPr>
          <p:cNvSpPr txBox="1"/>
          <p:nvPr/>
        </p:nvSpPr>
        <p:spPr>
          <a:xfrm>
            <a:off x="6277493" y="5608006"/>
            <a:ext cx="885179" cy="369332"/>
          </a:xfrm>
          <a:prstGeom prst="rect">
            <a:avLst/>
          </a:prstGeom>
          <a:noFill/>
        </p:spPr>
        <p:txBody>
          <a:bodyPr wrap="none" rtlCol="0">
            <a:spAutoFit/>
          </a:bodyPr>
          <a:lstStyle/>
          <a:p>
            <a:pPr algn="ctr"/>
            <a:r>
              <a:rPr lang="en-US" b="1" dirty="0"/>
              <a:t>output</a:t>
            </a:r>
            <a:endParaRPr lang="en-NL" b="1" dirty="0"/>
          </a:p>
        </p:txBody>
      </p:sp>
      <p:pic>
        <p:nvPicPr>
          <p:cNvPr id="7" name="slide 18">
            <a:hlinkClick r:id="" action="ppaction://media"/>
            <a:extLst>
              <a:ext uri="{FF2B5EF4-FFF2-40B4-BE49-F238E27FC236}">
                <a16:creationId xmlns:a16="http://schemas.microsoft.com/office/drawing/2014/main" id="{6AD980E5-C64B-A51B-48E8-92EFA1D21A8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424909" y="81201"/>
            <a:ext cx="609600" cy="609600"/>
          </a:xfrm>
          <a:prstGeom prst="rect">
            <a:avLst/>
          </a:prstGeom>
        </p:spPr>
      </p:pic>
    </p:spTree>
    <p:extLst>
      <p:ext uri="{BB962C8B-B14F-4D97-AF65-F5344CB8AC3E}">
        <p14:creationId xmlns:p14="http://schemas.microsoft.com/office/powerpoint/2010/main" val="3026687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100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100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par>
                                <p:cTn id="15" presetID="25" presetClass="emph" presetSubtype="0" fill="hold" nodeType="withEffect">
                                  <p:stCondLst>
                                    <p:cond delay="1000"/>
                                  </p:stCondLst>
                                  <p:childTnLst>
                                    <p:animClr clrSpc="hsl" dir="cw">
                                      <p:cBhvr override="childStyle">
                                        <p:cTn id="16" dur="500" fill="hold"/>
                                        <p:tgtEl>
                                          <p:spTgt spid="19"/>
                                        </p:tgtEl>
                                        <p:attrNameLst>
                                          <p:attrName>style.color</p:attrName>
                                        </p:attrNameLst>
                                      </p:cBhvr>
                                      <p:by>
                                        <p:hsl h="0" s="-70588" l="0"/>
                                      </p:by>
                                    </p:animClr>
                                    <p:animClr clrSpc="hsl" dir="cw">
                                      <p:cBhvr>
                                        <p:cTn id="17" dur="500" fill="hold"/>
                                        <p:tgtEl>
                                          <p:spTgt spid="19"/>
                                        </p:tgtEl>
                                        <p:attrNameLst>
                                          <p:attrName>fillcolor</p:attrName>
                                        </p:attrNameLst>
                                      </p:cBhvr>
                                      <p:by>
                                        <p:hsl h="0" s="-70588" l="0"/>
                                      </p:by>
                                    </p:animClr>
                                    <p:animClr clrSpc="hsl" dir="cw">
                                      <p:cBhvr>
                                        <p:cTn id="18" dur="500" fill="hold"/>
                                        <p:tgtEl>
                                          <p:spTgt spid="19"/>
                                        </p:tgtEl>
                                        <p:attrNameLst>
                                          <p:attrName>stroke.color</p:attrName>
                                        </p:attrNameLst>
                                      </p:cBhvr>
                                      <p:by>
                                        <p:hsl h="0" s="-70588" l="0"/>
                                      </p:by>
                                    </p:animClr>
                                    <p:set>
                                      <p:cBhvr>
                                        <p:cTn id="19" dur="500" fill="hold"/>
                                        <p:tgtEl>
                                          <p:spTgt spid="19"/>
                                        </p:tgtEl>
                                        <p:attrNameLst>
                                          <p:attrName>fill.type</p:attrName>
                                        </p:attrNameLst>
                                      </p:cBhvr>
                                      <p:to>
                                        <p:strVal val="solid"/>
                                      </p:to>
                                    </p:set>
                                  </p:childTnLst>
                                </p:cTn>
                              </p:par>
                              <p:par>
                                <p:cTn id="20" presetID="25" presetClass="emph" presetSubtype="0" fill="hold" nodeType="withEffect">
                                  <p:stCondLst>
                                    <p:cond delay="1000"/>
                                  </p:stCondLst>
                                  <p:childTnLst>
                                    <p:animClr clrSpc="hsl" dir="cw">
                                      <p:cBhvr override="childStyle">
                                        <p:cTn id="21" dur="500" fill="hold"/>
                                        <p:tgtEl>
                                          <p:spTgt spid="20"/>
                                        </p:tgtEl>
                                        <p:attrNameLst>
                                          <p:attrName>style.color</p:attrName>
                                        </p:attrNameLst>
                                      </p:cBhvr>
                                      <p:by>
                                        <p:hsl h="0" s="-70588" l="0"/>
                                      </p:by>
                                    </p:animClr>
                                    <p:animClr clrSpc="hsl" dir="cw">
                                      <p:cBhvr>
                                        <p:cTn id="22" dur="500" fill="hold"/>
                                        <p:tgtEl>
                                          <p:spTgt spid="20"/>
                                        </p:tgtEl>
                                        <p:attrNameLst>
                                          <p:attrName>fillcolor</p:attrName>
                                        </p:attrNameLst>
                                      </p:cBhvr>
                                      <p:by>
                                        <p:hsl h="0" s="-70588" l="0"/>
                                      </p:by>
                                    </p:animClr>
                                    <p:animClr clrSpc="hsl" dir="cw">
                                      <p:cBhvr>
                                        <p:cTn id="23" dur="500" fill="hold"/>
                                        <p:tgtEl>
                                          <p:spTgt spid="20"/>
                                        </p:tgtEl>
                                        <p:attrNameLst>
                                          <p:attrName>stroke.color</p:attrName>
                                        </p:attrNameLst>
                                      </p:cBhvr>
                                      <p:by>
                                        <p:hsl h="0" s="-70588" l="0"/>
                                      </p:by>
                                    </p:animClr>
                                    <p:set>
                                      <p:cBhvr>
                                        <p:cTn id="24" dur="500" fill="hold"/>
                                        <p:tgtEl>
                                          <p:spTgt spid="20"/>
                                        </p:tgtEl>
                                        <p:attrNameLst>
                                          <p:attrName>fill.type</p:attrName>
                                        </p:attrNameLst>
                                      </p:cBhvr>
                                      <p:to>
                                        <p:strVal val="solid"/>
                                      </p:to>
                                    </p:set>
                                  </p:childTnLst>
                                </p:cTn>
                              </p:par>
                              <p:par>
                                <p:cTn id="25" presetID="25" presetClass="emph" presetSubtype="0" fill="hold" grpId="0" nodeType="withEffect">
                                  <p:stCondLst>
                                    <p:cond delay="1000"/>
                                  </p:stCondLst>
                                  <p:childTnLst>
                                    <p:animClr clrSpc="hsl" dir="cw">
                                      <p:cBhvr override="childStyle">
                                        <p:cTn id="26" dur="500" fill="hold"/>
                                        <p:tgtEl>
                                          <p:spTgt spid="78"/>
                                        </p:tgtEl>
                                        <p:attrNameLst>
                                          <p:attrName>style.color</p:attrName>
                                        </p:attrNameLst>
                                      </p:cBhvr>
                                      <p:by>
                                        <p:hsl h="0" s="-70588" l="0"/>
                                      </p:by>
                                    </p:animClr>
                                    <p:animClr clrSpc="hsl" dir="cw">
                                      <p:cBhvr>
                                        <p:cTn id="27" dur="500" fill="hold"/>
                                        <p:tgtEl>
                                          <p:spTgt spid="78"/>
                                        </p:tgtEl>
                                        <p:attrNameLst>
                                          <p:attrName>fillcolor</p:attrName>
                                        </p:attrNameLst>
                                      </p:cBhvr>
                                      <p:by>
                                        <p:hsl h="0" s="-70588" l="0"/>
                                      </p:by>
                                    </p:animClr>
                                    <p:animClr clrSpc="hsl" dir="cw">
                                      <p:cBhvr>
                                        <p:cTn id="28" dur="500" fill="hold"/>
                                        <p:tgtEl>
                                          <p:spTgt spid="78"/>
                                        </p:tgtEl>
                                        <p:attrNameLst>
                                          <p:attrName>stroke.color</p:attrName>
                                        </p:attrNameLst>
                                      </p:cBhvr>
                                      <p:by>
                                        <p:hsl h="0" s="-70588" l="0"/>
                                      </p:by>
                                    </p:animClr>
                                    <p:set>
                                      <p:cBhvr>
                                        <p:cTn id="29" dur="500" fill="hold"/>
                                        <p:tgtEl>
                                          <p:spTgt spid="78"/>
                                        </p:tgtEl>
                                        <p:attrNameLst>
                                          <p:attrName>fill.type</p:attrName>
                                        </p:attrNameLst>
                                      </p:cBhvr>
                                      <p:to>
                                        <p:strVal val="solid"/>
                                      </p:to>
                                    </p:set>
                                  </p:childTnLst>
                                </p:cTn>
                              </p:par>
                              <p:par>
                                <p:cTn id="30" presetID="25" presetClass="emph" presetSubtype="0" fill="hold" grpId="0" nodeType="withEffect">
                                  <p:stCondLst>
                                    <p:cond delay="1000"/>
                                  </p:stCondLst>
                                  <p:childTnLst>
                                    <p:animClr clrSpc="hsl" dir="cw">
                                      <p:cBhvr override="childStyle">
                                        <p:cTn id="31" dur="500" fill="hold"/>
                                        <p:tgtEl>
                                          <p:spTgt spid="58"/>
                                        </p:tgtEl>
                                        <p:attrNameLst>
                                          <p:attrName>style.color</p:attrName>
                                        </p:attrNameLst>
                                      </p:cBhvr>
                                      <p:by>
                                        <p:hsl h="0" s="-70588" l="0"/>
                                      </p:by>
                                    </p:animClr>
                                    <p:animClr clrSpc="hsl" dir="cw">
                                      <p:cBhvr>
                                        <p:cTn id="32" dur="500" fill="hold"/>
                                        <p:tgtEl>
                                          <p:spTgt spid="58"/>
                                        </p:tgtEl>
                                        <p:attrNameLst>
                                          <p:attrName>fillcolor</p:attrName>
                                        </p:attrNameLst>
                                      </p:cBhvr>
                                      <p:by>
                                        <p:hsl h="0" s="-70588" l="0"/>
                                      </p:by>
                                    </p:animClr>
                                    <p:animClr clrSpc="hsl" dir="cw">
                                      <p:cBhvr>
                                        <p:cTn id="33" dur="500" fill="hold"/>
                                        <p:tgtEl>
                                          <p:spTgt spid="58"/>
                                        </p:tgtEl>
                                        <p:attrNameLst>
                                          <p:attrName>stroke.color</p:attrName>
                                        </p:attrNameLst>
                                      </p:cBhvr>
                                      <p:by>
                                        <p:hsl h="0" s="-70588" l="0"/>
                                      </p:by>
                                    </p:animClr>
                                    <p:set>
                                      <p:cBhvr>
                                        <p:cTn id="34" dur="500" fill="hold"/>
                                        <p:tgtEl>
                                          <p:spTgt spid="58"/>
                                        </p:tgtEl>
                                        <p:attrNameLst>
                                          <p:attrName>fill.type</p:attrName>
                                        </p:attrNameLst>
                                      </p:cBhvr>
                                      <p:to>
                                        <p:strVal val="solid"/>
                                      </p:to>
                                    </p:set>
                                  </p:childTnLst>
                                </p:cTn>
                              </p:par>
                              <p:par>
                                <p:cTn id="35" presetID="25" presetClass="emph" presetSubtype="0" fill="hold" grpId="0" nodeType="withEffect">
                                  <p:stCondLst>
                                    <p:cond delay="1000"/>
                                  </p:stCondLst>
                                  <p:childTnLst>
                                    <p:animClr clrSpc="hsl" dir="cw">
                                      <p:cBhvr override="childStyle">
                                        <p:cTn id="36" dur="500" fill="hold"/>
                                        <p:tgtEl>
                                          <p:spTgt spid="49"/>
                                        </p:tgtEl>
                                        <p:attrNameLst>
                                          <p:attrName>style.color</p:attrName>
                                        </p:attrNameLst>
                                      </p:cBhvr>
                                      <p:by>
                                        <p:hsl h="0" s="-70588" l="0"/>
                                      </p:by>
                                    </p:animClr>
                                    <p:animClr clrSpc="hsl" dir="cw">
                                      <p:cBhvr>
                                        <p:cTn id="37" dur="500" fill="hold"/>
                                        <p:tgtEl>
                                          <p:spTgt spid="49"/>
                                        </p:tgtEl>
                                        <p:attrNameLst>
                                          <p:attrName>fillcolor</p:attrName>
                                        </p:attrNameLst>
                                      </p:cBhvr>
                                      <p:by>
                                        <p:hsl h="0" s="-70588" l="0"/>
                                      </p:by>
                                    </p:animClr>
                                    <p:animClr clrSpc="hsl" dir="cw">
                                      <p:cBhvr>
                                        <p:cTn id="38" dur="500" fill="hold"/>
                                        <p:tgtEl>
                                          <p:spTgt spid="49"/>
                                        </p:tgtEl>
                                        <p:attrNameLst>
                                          <p:attrName>stroke.color</p:attrName>
                                        </p:attrNameLst>
                                      </p:cBhvr>
                                      <p:by>
                                        <p:hsl h="0" s="-70588" l="0"/>
                                      </p:by>
                                    </p:animClr>
                                    <p:set>
                                      <p:cBhvr>
                                        <p:cTn id="39" dur="500" fill="hold"/>
                                        <p:tgtEl>
                                          <p:spTgt spid="49"/>
                                        </p:tgtEl>
                                        <p:attrNameLst>
                                          <p:attrName>fill.type</p:attrName>
                                        </p:attrNameLst>
                                      </p:cBhvr>
                                      <p:to>
                                        <p:strVal val="solid"/>
                                      </p:to>
                                    </p:set>
                                  </p:childTnLst>
                                </p:cTn>
                              </p:par>
                              <p:par>
                                <p:cTn id="40" presetID="25" presetClass="emph" presetSubtype="0" fill="hold" grpId="0" nodeType="withEffect">
                                  <p:stCondLst>
                                    <p:cond delay="1000"/>
                                  </p:stCondLst>
                                  <p:childTnLst>
                                    <p:animClr clrSpc="hsl" dir="cw">
                                      <p:cBhvr override="childStyle">
                                        <p:cTn id="41" dur="500" fill="hold"/>
                                        <p:tgtEl>
                                          <p:spTgt spid="73"/>
                                        </p:tgtEl>
                                        <p:attrNameLst>
                                          <p:attrName>style.color</p:attrName>
                                        </p:attrNameLst>
                                      </p:cBhvr>
                                      <p:by>
                                        <p:hsl h="0" s="-70588" l="0"/>
                                      </p:by>
                                    </p:animClr>
                                    <p:animClr clrSpc="hsl" dir="cw">
                                      <p:cBhvr>
                                        <p:cTn id="42" dur="500" fill="hold"/>
                                        <p:tgtEl>
                                          <p:spTgt spid="73"/>
                                        </p:tgtEl>
                                        <p:attrNameLst>
                                          <p:attrName>fillcolor</p:attrName>
                                        </p:attrNameLst>
                                      </p:cBhvr>
                                      <p:by>
                                        <p:hsl h="0" s="-70588" l="0"/>
                                      </p:by>
                                    </p:animClr>
                                    <p:animClr clrSpc="hsl" dir="cw">
                                      <p:cBhvr>
                                        <p:cTn id="43" dur="500" fill="hold"/>
                                        <p:tgtEl>
                                          <p:spTgt spid="73"/>
                                        </p:tgtEl>
                                        <p:attrNameLst>
                                          <p:attrName>stroke.color</p:attrName>
                                        </p:attrNameLst>
                                      </p:cBhvr>
                                      <p:by>
                                        <p:hsl h="0" s="-70588" l="0"/>
                                      </p:by>
                                    </p:animClr>
                                    <p:set>
                                      <p:cBhvr>
                                        <p:cTn id="44" dur="500" fill="hold"/>
                                        <p:tgtEl>
                                          <p:spTgt spid="73"/>
                                        </p:tgtEl>
                                        <p:attrNameLst>
                                          <p:attrName>fill.type</p:attrName>
                                        </p:attrNameLst>
                                      </p:cBhvr>
                                      <p:to>
                                        <p:strVal val="solid"/>
                                      </p:to>
                                    </p:set>
                                  </p:childTnLst>
                                </p:cTn>
                              </p:par>
                              <p:par>
                                <p:cTn id="45" presetID="25" presetClass="emph" presetSubtype="0" fill="hold" grpId="0" nodeType="withEffect">
                                  <p:stCondLst>
                                    <p:cond delay="1000"/>
                                  </p:stCondLst>
                                  <p:childTnLst>
                                    <p:animClr clrSpc="hsl" dir="cw">
                                      <p:cBhvr override="childStyle">
                                        <p:cTn id="46" dur="500" fill="hold"/>
                                        <p:tgtEl>
                                          <p:spTgt spid="74"/>
                                        </p:tgtEl>
                                        <p:attrNameLst>
                                          <p:attrName>style.color</p:attrName>
                                        </p:attrNameLst>
                                      </p:cBhvr>
                                      <p:by>
                                        <p:hsl h="0" s="-70588" l="0"/>
                                      </p:by>
                                    </p:animClr>
                                    <p:animClr clrSpc="hsl" dir="cw">
                                      <p:cBhvr>
                                        <p:cTn id="47" dur="500" fill="hold"/>
                                        <p:tgtEl>
                                          <p:spTgt spid="74"/>
                                        </p:tgtEl>
                                        <p:attrNameLst>
                                          <p:attrName>fillcolor</p:attrName>
                                        </p:attrNameLst>
                                      </p:cBhvr>
                                      <p:by>
                                        <p:hsl h="0" s="-70588" l="0"/>
                                      </p:by>
                                    </p:animClr>
                                    <p:animClr clrSpc="hsl" dir="cw">
                                      <p:cBhvr>
                                        <p:cTn id="48" dur="500" fill="hold"/>
                                        <p:tgtEl>
                                          <p:spTgt spid="74"/>
                                        </p:tgtEl>
                                        <p:attrNameLst>
                                          <p:attrName>stroke.color</p:attrName>
                                        </p:attrNameLst>
                                      </p:cBhvr>
                                      <p:by>
                                        <p:hsl h="0" s="-70588" l="0"/>
                                      </p:by>
                                    </p:animClr>
                                    <p:set>
                                      <p:cBhvr>
                                        <p:cTn id="49" dur="500" fill="hold"/>
                                        <p:tgtEl>
                                          <p:spTgt spid="74"/>
                                        </p:tgtEl>
                                        <p:attrNameLst>
                                          <p:attrName>fill.type</p:attrName>
                                        </p:attrNameLst>
                                      </p:cBhvr>
                                      <p:to>
                                        <p:strVal val="solid"/>
                                      </p:to>
                                    </p:set>
                                  </p:childTnLst>
                                </p:cTn>
                              </p:par>
                              <p:par>
                                <p:cTn id="50" presetID="25" presetClass="emph" presetSubtype="0" fill="hold" grpId="0" nodeType="withEffect">
                                  <p:stCondLst>
                                    <p:cond delay="1000"/>
                                  </p:stCondLst>
                                  <p:childTnLst>
                                    <p:animClr clrSpc="hsl" dir="cw">
                                      <p:cBhvr override="childStyle">
                                        <p:cTn id="51" dur="500" fill="hold"/>
                                        <p:tgtEl>
                                          <p:spTgt spid="21"/>
                                        </p:tgtEl>
                                        <p:attrNameLst>
                                          <p:attrName>style.color</p:attrName>
                                        </p:attrNameLst>
                                      </p:cBhvr>
                                      <p:by>
                                        <p:hsl h="0" s="-70588" l="0"/>
                                      </p:by>
                                    </p:animClr>
                                    <p:animClr clrSpc="hsl" dir="cw">
                                      <p:cBhvr>
                                        <p:cTn id="52" dur="500" fill="hold"/>
                                        <p:tgtEl>
                                          <p:spTgt spid="21"/>
                                        </p:tgtEl>
                                        <p:attrNameLst>
                                          <p:attrName>fillcolor</p:attrName>
                                        </p:attrNameLst>
                                      </p:cBhvr>
                                      <p:by>
                                        <p:hsl h="0" s="-70588" l="0"/>
                                      </p:by>
                                    </p:animClr>
                                    <p:animClr clrSpc="hsl" dir="cw">
                                      <p:cBhvr>
                                        <p:cTn id="53" dur="500" fill="hold"/>
                                        <p:tgtEl>
                                          <p:spTgt spid="21"/>
                                        </p:tgtEl>
                                        <p:attrNameLst>
                                          <p:attrName>stroke.color</p:attrName>
                                        </p:attrNameLst>
                                      </p:cBhvr>
                                      <p:by>
                                        <p:hsl h="0" s="-70588" l="0"/>
                                      </p:by>
                                    </p:animClr>
                                    <p:set>
                                      <p:cBhvr>
                                        <p:cTn id="54" dur="500" fill="hold"/>
                                        <p:tgtEl>
                                          <p:spTgt spid="21"/>
                                        </p:tgtEl>
                                        <p:attrNameLst>
                                          <p:attrName>fill.type</p:attrName>
                                        </p:attrNameLst>
                                      </p:cBhvr>
                                      <p:to>
                                        <p:strVal val="solid"/>
                                      </p:to>
                                    </p:set>
                                  </p:childTnLst>
                                </p:cTn>
                              </p:par>
                              <p:par>
                                <p:cTn id="55" presetID="25" presetClass="emph" presetSubtype="0" fill="hold" nodeType="withEffect">
                                  <p:stCondLst>
                                    <p:cond delay="1000"/>
                                  </p:stCondLst>
                                  <p:childTnLst>
                                    <p:animClr clrSpc="hsl" dir="cw">
                                      <p:cBhvr override="childStyle">
                                        <p:cTn id="56" dur="500" fill="hold"/>
                                        <p:tgtEl>
                                          <p:spTgt spid="27"/>
                                        </p:tgtEl>
                                        <p:attrNameLst>
                                          <p:attrName>style.color</p:attrName>
                                        </p:attrNameLst>
                                      </p:cBhvr>
                                      <p:by>
                                        <p:hsl h="0" s="-70588" l="0"/>
                                      </p:by>
                                    </p:animClr>
                                    <p:animClr clrSpc="hsl" dir="cw">
                                      <p:cBhvr>
                                        <p:cTn id="57" dur="500" fill="hold"/>
                                        <p:tgtEl>
                                          <p:spTgt spid="27"/>
                                        </p:tgtEl>
                                        <p:attrNameLst>
                                          <p:attrName>fillcolor</p:attrName>
                                        </p:attrNameLst>
                                      </p:cBhvr>
                                      <p:by>
                                        <p:hsl h="0" s="-70588" l="0"/>
                                      </p:by>
                                    </p:animClr>
                                    <p:animClr clrSpc="hsl" dir="cw">
                                      <p:cBhvr>
                                        <p:cTn id="58" dur="500" fill="hold"/>
                                        <p:tgtEl>
                                          <p:spTgt spid="27"/>
                                        </p:tgtEl>
                                        <p:attrNameLst>
                                          <p:attrName>stroke.color</p:attrName>
                                        </p:attrNameLst>
                                      </p:cBhvr>
                                      <p:by>
                                        <p:hsl h="0" s="-70588" l="0"/>
                                      </p:by>
                                    </p:animClr>
                                    <p:set>
                                      <p:cBhvr>
                                        <p:cTn id="59" dur="500" fill="hold"/>
                                        <p:tgtEl>
                                          <p:spTgt spid="27"/>
                                        </p:tgtEl>
                                        <p:attrNameLst>
                                          <p:attrName>fill.type</p:attrName>
                                        </p:attrNameLst>
                                      </p:cBhvr>
                                      <p:to>
                                        <p:strVal val="solid"/>
                                      </p:to>
                                    </p:set>
                                  </p:childTnLst>
                                </p:cTn>
                              </p:par>
                              <p:par>
                                <p:cTn id="60" presetID="25" presetClass="emph" presetSubtype="0" fill="hold" nodeType="withEffect">
                                  <p:stCondLst>
                                    <p:cond delay="1000"/>
                                  </p:stCondLst>
                                  <p:childTnLst>
                                    <p:animClr clrSpc="hsl" dir="cw">
                                      <p:cBhvr override="childStyle">
                                        <p:cTn id="61" dur="500" fill="hold"/>
                                        <p:tgtEl>
                                          <p:spTgt spid="28"/>
                                        </p:tgtEl>
                                        <p:attrNameLst>
                                          <p:attrName>style.color</p:attrName>
                                        </p:attrNameLst>
                                      </p:cBhvr>
                                      <p:by>
                                        <p:hsl h="0" s="-70588" l="0"/>
                                      </p:by>
                                    </p:animClr>
                                    <p:animClr clrSpc="hsl" dir="cw">
                                      <p:cBhvr>
                                        <p:cTn id="62" dur="500" fill="hold"/>
                                        <p:tgtEl>
                                          <p:spTgt spid="28"/>
                                        </p:tgtEl>
                                        <p:attrNameLst>
                                          <p:attrName>fillcolor</p:attrName>
                                        </p:attrNameLst>
                                      </p:cBhvr>
                                      <p:by>
                                        <p:hsl h="0" s="-70588" l="0"/>
                                      </p:by>
                                    </p:animClr>
                                    <p:animClr clrSpc="hsl" dir="cw">
                                      <p:cBhvr>
                                        <p:cTn id="63" dur="500" fill="hold"/>
                                        <p:tgtEl>
                                          <p:spTgt spid="28"/>
                                        </p:tgtEl>
                                        <p:attrNameLst>
                                          <p:attrName>stroke.color</p:attrName>
                                        </p:attrNameLst>
                                      </p:cBhvr>
                                      <p:by>
                                        <p:hsl h="0" s="-70588" l="0"/>
                                      </p:by>
                                    </p:animClr>
                                    <p:set>
                                      <p:cBhvr>
                                        <p:cTn id="64" dur="500" fill="hold"/>
                                        <p:tgtEl>
                                          <p:spTgt spid="28"/>
                                        </p:tgtEl>
                                        <p:attrNameLst>
                                          <p:attrName>fill.type</p:attrName>
                                        </p:attrNameLst>
                                      </p:cBhvr>
                                      <p:to>
                                        <p:strVal val="solid"/>
                                      </p:to>
                                    </p:set>
                                  </p:childTnLst>
                                </p:cTn>
                              </p:par>
                              <p:par>
                                <p:cTn id="65" presetID="25" presetClass="emph" presetSubtype="0" fill="hold" nodeType="withEffect">
                                  <p:stCondLst>
                                    <p:cond delay="1000"/>
                                  </p:stCondLst>
                                  <p:childTnLst>
                                    <p:animClr clrSpc="hsl" dir="cw">
                                      <p:cBhvr override="childStyle">
                                        <p:cTn id="66" dur="500" fill="hold"/>
                                        <p:tgtEl>
                                          <p:spTgt spid="44"/>
                                        </p:tgtEl>
                                        <p:attrNameLst>
                                          <p:attrName>style.color</p:attrName>
                                        </p:attrNameLst>
                                      </p:cBhvr>
                                      <p:by>
                                        <p:hsl h="0" s="-70588" l="0"/>
                                      </p:by>
                                    </p:animClr>
                                    <p:animClr clrSpc="hsl" dir="cw">
                                      <p:cBhvr>
                                        <p:cTn id="67" dur="500" fill="hold"/>
                                        <p:tgtEl>
                                          <p:spTgt spid="44"/>
                                        </p:tgtEl>
                                        <p:attrNameLst>
                                          <p:attrName>fillcolor</p:attrName>
                                        </p:attrNameLst>
                                      </p:cBhvr>
                                      <p:by>
                                        <p:hsl h="0" s="-70588" l="0"/>
                                      </p:by>
                                    </p:animClr>
                                    <p:animClr clrSpc="hsl" dir="cw">
                                      <p:cBhvr>
                                        <p:cTn id="68" dur="500" fill="hold"/>
                                        <p:tgtEl>
                                          <p:spTgt spid="44"/>
                                        </p:tgtEl>
                                        <p:attrNameLst>
                                          <p:attrName>stroke.color</p:attrName>
                                        </p:attrNameLst>
                                      </p:cBhvr>
                                      <p:by>
                                        <p:hsl h="0" s="-70588" l="0"/>
                                      </p:by>
                                    </p:animClr>
                                    <p:set>
                                      <p:cBhvr>
                                        <p:cTn id="69" dur="500" fill="hold"/>
                                        <p:tgtEl>
                                          <p:spTgt spid="44"/>
                                        </p:tgtEl>
                                        <p:attrNameLst>
                                          <p:attrName>fill.type</p:attrName>
                                        </p:attrNameLst>
                                      </p:cBhvr>
                                      <p:to>
                                        <p:strVal val="solid"/>
                                      </p:to>
                                    </p:set>
                                  </p:childTnLst>
                                </p:cTn>
                              </p:par>
                              <p:par>
                                <p:cTn id="70" presetID="25" presetClass="emph" presetSubtype="0" fill="hold" nodeType="withEffect">
                                  <p:stCondLst>
                                    <p:cond delay="1000"/>
                                  </p:stCondLst>
                                  <p:childTnLst>
                                    <p:animClr clrSpc="hsl" dir="cw">
                                      <p:cBhvr override="childStyle">
                                        <p:cTn id="71" dur="500" fill="hold"/>
                                        <p:tgtEl>
                                          <p:spTgt spid="48"/>
                                        </p:tgtEl>
                                        <p:attrNameLst>
                                          <p:attrName>style.color</p:attrName>
                                        </p:attrNameLst>
                                      </p:cBhvr>
                                      <p:by>
                                        <p:hsl h="0" s="-70588" l="0"/>
                                      </p:by>
                                    </p:animClr>
                                    <p:animClr clrSpc="hsl" dir="cw">
                                      <p:cBhvr>
                                        <p:cTn id="72" dur="500" fill="hold"/>
                                        <p:tgtEl>
                                          <p:spTgt spid="48"/>
                                        </p:tgtEl>
                                        <p:attrNameLst>
                                          <p:attrName>fillcolor</p:attrName>
                                        </p:attrNameLst>
                                      </p:cBhvr>
                                      <p:by>
                                        <p:hsl h="0" s="-70588" l="0"/>
                                      </p:by>
                                    </p:animClr>
                                    <p:animClr clrSpc="hsl" dir="cw">
                                      <p:cBhvr>
                                        <p:cTn id="73" dur="500" fill="hold"/>
                                        <p:tgtEl>
                                          <p:spTgt spid="48"/>
                                        </p:tgtEl>
                                        <p:attrNameLst>
                                          <p:attrName>stroke.color</p:attrName>
                                        </p:attrNameLst>
                                      </p:cBhvr>
                                      <p:by>
                                        <p:hsl h="0" s="-70588" l="0"/>
                                      </p:by>
                                    </p:animClr>
                                    <p:set>
                                      <p:cBhvr>
                                        <p:cTn id="74" dur="500" fill="hold"/>
                                        <p:tgtEl>
                                          <p:spTgt spid="48"/>
                                        </p:tgtEl>
                                        <p:attrNameLst>
                                          <p:attrName>fill.type</p:attrName>
                                        </p:attrNameLst>
                                      </p:cBhvr>
                                      <p:to>
                                        <p:strVal val="solid"/>
                                      </p:to>
                                    </p:set>
                                  </p:childTnLst>
                                </p:cTn>
                              </p:par>
                              <p:par>
                                <p:cTn id="75" presetID="25" presetClass="emph" presetSubtype="0" fill="hold" grpId="0" nodeType="withEffect">
                                  <p:stCondLst>
                                    <p:cond delay="1000"/>
                                  </p:stCondLst>
                                  <p:childTnLst>
                                    <p:animClr clrSpc="hsl" dir="cw">
                                      <p:cBhvr override="childStyle">
                                        <p:cTn id="76" dur="500" fill="hold"/>
                                        <p:tgtEl>
                                          <p:spTgt spid="88"/>
                                        </p:tgtEl>
                                        <p:attrNameLst>
                                          <p:attrName>style.color</p:attrName>
                                        </p:attrNameLst>
                                      </p:cBhvr>
                                      <p:by>
                                        <p:hsl h="0" s="-70588" l="0"/>
                                      </p:by>
                                    </p:animClr>
                                    <p:animClr clrSpc="hsl" dir="cw">
                                      <p:cBhvr>
                                        <p:cTn id="77" dur="500" fill="hold"/>
                                        <p:tgtEl>
                                          <p:spTgt spid="88"/>
                                        </p:tgtEl>
                                        <p:attrNameLst>
                                          <p:attrName>fillcolor</p:attrName>
                                        </p:attrNameLst>
                                      </p:cBhvr>
                                      <p:by>
                                        <p:hsl h="0" s="-70588" l="0"/>
                                      </p:by>
                                    </p:animClr>
                                    <p:animClr clrSpc="hsl" dir="cw">
                                      <p:cBhvr>
                                        <p:cTn id="78" dur="500" fill="hold"/>
                                        <p:tgtEl>
                                          <p:spTgt spid="88"/>
                                        </p:tgtEl>
                                        <p:attrNameLst>
                                          <p:attrName>stroke.color</p:attrName>
                                        </p:attrNameLst>
                                      </p:cBhvr>
                                      <p:by>
                                        <p:hsl h="0" s="-70588" l="0"/>
                                      </p:by>
                                    </p:animClr>
                                    <p:set>
                                      <p:cBhvr>
                                        <p:cTn id="79" dur="500" fill="hold"/>
                                        <p:tgtEl>
                                          <p:spTgt spid="88"/>
                                        </p:tgtEl>
                                        <p:attrNameLst>
                                          <p:attrName>fill.type</p:attrName>
                                        </p:attrNameLst>
                                      </p:cBhvr>
                                      <p:to>
                                        <p:strVal val="solid"/>
                                      </p:to>
                                    </p:set>
                                  </p:childTnLst>
                                </p:cTn>
                              </p:par>
                              <p:par>
                                <p:cTn id="80" presetID="25" presetClass="emph" presetSubtype="0" fill="hold" grpId="0" nodeType="withEffect">
                                  <p:stCondLst>
                                    <p:cond delay="1000"/>
                                  </p:stCondLst>
                                  <p:childTnLst>
                                    <p:animClr clrSpc="hsl" dir="cw">
                                      <p:cBhvr override="childStyle">
                                        <p:cTn id="81" dur="500" fill="hold"/>
                                        <p:tgtEl>
                                          <p:spTgt spid="24"/>
                                        </p:tgtEl>
                                        <p:attrNameLst>
                                          <p:attrName>style.color</p:attrName>
                                        </p:attrNameLst>
                                      </p:cBhvr>
                                      <p:by>
                                        <p:hsl h="0" s="-70588" l="0"/>
                                      </p:by>
                                    </p:animClr>
                                    <p:animClr clrSpc="hsl" dir="cw">
                                      <p:cBhvr>
                                        <p:cTn id="82" dur="500" fill="hold"/>
                                        <p:tgtEl>
                                          <p:spTgt spid="24"/>
                                        </p:tgtEl>
                                        <p:attrNameLst>
                                          <p:attrName>fillcolor</p:attrName>
                                        </p:attrNameLst>
                                      </p:cBhvr>
                                      <p:by>
                                        <p:hsl h="0" s="-70588" l="0"/>
                                      </p:by>
                                    </p:animClr>
                                    <p:animClr clrSpc="hsl" dir="cw">
                                      <p:cBhvr>
                                        <p:cTn id="83" dur="500" fill="hold"/>
                                        <p:tgtEl>
                                          <p:spTgt spid="24"/>
                                        </p:tgtEl>
                                        <p:attrNameLst>
                                          <p:attrName>stroke.color</p:attrName>
                                        </p:attrNameLst>
                                      </p:cBhvr>
                                      <p:by>
                                        <p:hsl h="0" s="-70588" l="0"/>
                                      </p:by>
                                    </p:animClr>
                                    <p:set>
                                      <p:cBhvr>
                                        <p:cTn id="84" dur="500" fill="hold"/>
                                        <p:tgtEl>
                                          <p:spTgt spid="24"/>
                                        </p:tgtEl>
                                        <p:attrNameLst>
                                          <p:attrName>fill.type</p:attrName>
                                        </p:attrNameLst>
                                      </p:cBhvr>
                                      <p:to>
                                        <p:strVal val="solid"/>
                                      </p:to>
                                    </p:set>
                                  </p:childTnLst>
                                </p:cTn>
                              </p:par>
                              <p:par>
                                <p:cTn id="85" presetID="25" presetClass="emph" presetSubtype="0" fill="hold" grpId="0" nodeType="withEffect">
                                  <p:stCondLst>
                                    <p:cond delay="1000"/>
                                  </p:stCondLst>
                                  <p:childTnLst>
                                    <p:animClr clrSpc="hsl" dir="cw">
                                      <p:cBhvr override="childStyle">
                                        <p:cTn id="86" dur="500" fill="hold"/>
                                        <p:tgtEl>
                                          <p:spTgt spid="54"/>
                                        </p:tgtEl>
                                        <p:attrNameLst>
                                          <p:attrName>style.color</p:attrName>
                                        </p:attrNameLst>
                                      </p:cBhvr>
                                      <p:by>
                                        <p:hsl h="0" s="-70588" l="0"/>
                                      </p:by>
                                    </p:animClr>
                                    <p:animClr clrSpc="hsl" dir="cw">
                                      <p:cBhvr>
                                        <p:cTn id="87" dur="500" fill="hold"/>
                                        <p:tgtEl>
                                          <p:spTgt spid="54"/>
                                        </p:tgtEl>
                                        <p:attrNameLst>
                                          <p:attrName>fillcolor</p:attrName>
                                        </p:attrNameLst>
                                      </p:cBhvr>
                                      <p:by>
                                        <p:hsl h="0" s="-70588" l="0"/>
                                      </p:by>
                                    </p:animClr>
                                    <p:animClr clrSpc="hsl" dir="cw">
                                      <p:cBhvr>
                                        <p:cTn id="88" dur="500" fill="hold"/>
                                        <p:tgtEl>
                                          <p:spTgt spid="54"/>
                                        </p:tgtEl>
                                        <p:attrNameLst>
                                          <p:attrName>stroke.color</p:attrName>
                                        </p:attrNameLst>
                                      </p:cBhvr>
                                      <p:by>
                                        <p:hsl h="0" s="-70588" l="0"/>
                                      </p:by>
                                    </p:animClr>
                                    <p:set>
                                      <p:cBhvr>
                                        <p:cTn id="89" dur="500" fill="hold"/>
                                        <p:tgtEl>
                                          <p:spTgt spid="54"/>
                                        </p:tgtEl>
                                        <p:attrNameLst>
                                          <p:attrName>fill.type</p:attrName>
                                        </p:attrNameLst>
                                      </p:cBhvr>
                                      <p:to>
                                        <p:strVal val="solid"/>
                                      </p:to>
                                    </p:set>
                                  </p:childTnLst>
                                </p:cTn>
                              </p:par>
                              <p:par>
                                <p:cTn id="90" presetID="25" presetClass="emph" presetSubtype="0" fill="hold" grpId="0" nodeType="withEffect">
                                  <p:stCondLst>
                                    <p:cond delay="1000"/>
                                  </p:stCondLst>
                                  <p:childTnLst>
                                    <p:animClr clrSpc="hsl" dir="cw">
                                      <p:cBhvr override="childStyle">
                                        <p:cTn id="91" dur="500" fill="hold"/>
                                        <p:tgtEl>
                                          <p:spTgt spid="25"/>
                                        </p:tgtEl>
                                        <p:attrNameLst>
                                          <p:attrName>style.color</p:attrName>
                                        </p:attrNameLst>
                                      </p:cBhvr>
                                      <p:by>
                                        <p:hsl h="0" s="-70588" l="0"/>
                                      </p:by>
                                    </p:animClr>
                                    <p:animClr clrSpc="hsl" dir="cw">
                                      <p:cBhvr>
                                        <p:cTn id="92" dur="500" fill="hold"/>
                                        <p:tgtEl>
                                          <p:spTgt spid="25"/>
                                        </p:tgtEl>
                                        <p:attrNameLst>
                                          <p:attrName>fillcolor</p:attrName>
                                        </p:attrNameLst>
                                      </p:cBhvr>
                                      <p:by>
                                        <p:hsl h="0" s="-70588" l="0"/>
                                      </p:by>
                                    </p:animClr>
                                    <p:animClr clrSpc="hsl" dir="cw">
                                      <p:cBhvr>
                                        <p:cTn id="93" dur="500" fill="hold"/>
                                        <p:tgtEl>
                                          <p:spTgt spid="25"/>
                                        </p:tgtEl>
                                        <p:attrNameLst>
                                          <p:attrName>stroke.color</p:attrName>
                                        </p:attrNameLst>
                                      </p:cBhvr>
                                      <p:by>
                                        <p:hsl h="0" s="-70588" l="0"/>
                                      </p:by>
                                    </p:animClr>
                                    <p:set>
                                      <p:cBhvr>
                                        <p:cTn id="94" dur="500" fill="hold"/>
                                        <p:tgtEl>
                                          <p:spTgt spid="25"/>
                                        </p:tgtEl>
                                        <p:attrNameLst>
                                          <p:attrName>fill.type</p:attrName>
                                        </p:attrNameLst>
                                      </p:cBhvr>
                                      <p:to>
                                        <p:strVal val="solid"/>
                                      </p:to>
                                    </p:set>
                                  </p:childTnLst>
                                </p:cTn>
                              </p:par>
                              <p:par>
                                <p:cTn id="95" presetID="10" presetClass="entr" presetSubtype="0" fill="hold" grpId="0" nodeType="withEffect">
                                  <p:stCondLst>
                                    <p:cond delay="100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par>
                                <p:cTn id="98" presetID="10" presetClass="entr" presetSubtype="0" fill="hold" grpId="0" nodeType="withEffect">
                                  <p:stCondLst>
                                    <p:cond delay="10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childTnLst>
                                </p:cTn>
                              </p:par>
                              <p:par>
                                <p:cTn id="101" presetID="10" presetClass="entr" presetSubtype="0" fill="hold" grpId="0" nodeType="withEffect">
                                  <p:stCondLst>
                                    <p:cond delay="10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4" presetID="10" presetClass="entr" presetSubtype="0" fill="hold" grpId="0" nodeType="withEffect">
                                  <p:stCondLst>
                                    <p:cond delay="100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p:tgtEl>
                                          <p:spTgt spid="32"/>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mediacall" presetSubtype="0" fill="hold" nodeType="clickEffect">
                                  <p:stCondLst>
                                    <p:cond delay="0"/>
                                  </p:stCondLst>
                                  <p:childTnLst>
                                    <p:cmd type="call" cmd="playFrom(0.0)">
                                      <p:cBhvr>
                                        <p:cTn id="110" dur="4006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1" fill="hold" display="0">
                  <p:stCondLst>
                    <p:cond delay="indefinite"/>
                  </p:stCondLst>
                  <p:endCondLst>
                    <p:cond evt="onStopAudio" delay="0">
                      <p:tgtEl>
                        <p:sldTgt/>
                      </p:tgtEl>
                    </p:cond>
                  </p:endCondLst>
                </p:cTn>
                <p:tgtEl>
                  <p:spTgt spid="7"/>
                </p:tgtEl>
              </p:cMediaNode>
            </p:audio>
          </p:childTnLst>
        </p:cTn>
      </p:par>
    </p:tnLst>
    <p:bldLst>
      <p:bldP spid="24" grpId="0"/>
      <p:bldP spid="54" grpId="0"/>
      <p:bldP spid="78" grpId="0"/>
      <p:bldP spid="3" grpId="0"/>
      <p:bldP spid="6" grpId="0"/>
      <p:bldP spid="58" grpId="0" animBg="1"/>
      <p:bldP spid="49" grpId="0" animBg="1"/>
      <p:bldP spid="73" grpId="0" animBg="1"/>
      <p:bldP spid="74" grpId="0" animBg="1"/>
      <p:bldP spid="21" grpId="0" animBg="1"/>
      <p:bldP spid="88" grpId="0" animBg="1"/>
      <p:bldP spid="25" grpId="0"/>
      <p:bldP spid="22" grpId="0" animBg="1"/>
      <p:bldP spid="23" grpId="0"/>
      <p:bldP spid="29" grpId="0" animBg="1"/>
      <p:bldP spid="3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ealth-RI Pallete">
      <a:dk1>
        <a:srgbClr val="000000"/>
      </a:dk1>
      <a:lt1>
        <a:srgbClr val="FFFFFF"/>
      </a:lt1>
      <a:dk2>
        <a:srgbClr val="2E2E2E"/>
      </a:dk2>
      <a:lt2>
        <a:srgbClr val="F2F2F2"/>
      </a:lt2>
      <a:accent1>
        <a:srgbClr val="15467B"/>
      </a:accent1>
      <a:accent2>
        <a:srgbClr val="F8AF00"/>
      </a:accent2>
      <a:accent3>
        <a:srgbClr val="91D18B"/>
      </a:accent3>
      <a:accent4>
        <a:srgbClr val="2E7D32"/>
      </a:accent4>
      <a:accent5>
        <a:srgbClr val="E57373"/>
      </a:accent5>
      <a:accent6>
        <a:srgbClr val="C62828"/>
      </a:accent6>
      <a:hlink>
        <a:srgbClr val="005A9C"/>
      </a:hlink>
      <a:folHlink>
        <a:srgbClr val="4E84C4"/>
      </a:folHlink>
    </a:clrScheme>
    <a:fontScheme name="Custom 2">
      <a:majorFont>
        <a:latin typeface="Aptos"/>
        <a:ea typeface=""/>
        <a:cs typeface=""/>
      </a:majorFont>
      <a:minorFont>
        <a:latin typeface="Aptos"/>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Presentation1" id="{30C8497A-5654-403E-ADB2-4E3768297007}" vid="{9F21127E-C008-40D4-B83A-5ACE9267ED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2.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88A2F88-55C5-4ED1-9541-807C65424763}">
  <ds:schemaRefs>
    <ds:schemaRef ds:uri="http://purl.org/dc/elements/1.1/"/>
    <ds:schemaRef ds:uri="http://schemas.microsoft.com/office/2006/metadata/properties"/>
    <ds:schemaRef ds:uri="http://www.w3.org/XML/1998/namespace"/>
    <ds:schemaRef ds:uri="http://schemas.microsoft.com/office/2006/documentManagement/types"/>
    <ds:schemaRef ds:uri="http://purl.org/dc/terms/"/>
    <ds:schemaRef ds:uri="71af3243-3dd4-4a8d-8c0d-dd76da1f02a5"/>
    <ds:schemaRef ds:uri="http://schemas.microsoft.com/office/infopath/2007/PartnerControls"/>
    <ds:schemaRef ds:uri="http://schemas.openxmlformats.org/package/2006/metadata/core-properties"/>
    <ds:schemaRef ds:uri="16c05727-aa75-4e4a-9b5f-8a80a1165891"/>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Health-RI PowerPoint Template - 20251021</Template>
  <TotalTime>5482</TotalTime>
  <Words>4267</Words>
  <Application>Microsoft Office PowerPoint</Application>
  <PresentationFormat>Widescreen</PresentationFormat>
  <Paragraphs>632</Paragraphs>
  <Slides>24</Slides>
  <Notes>24</Notes>
  <HiddenSlides>0</HiddenSlides>
  <MMClips>3</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Amasis MT Pro Black</vt:lpstr>
      <vt:lpstr>Aptos</vt:lpstr>
      <vt:lpstr>Arial</vt:lpstr>
      <vt:lpstr>Atkinson Hyperlegible Mono</vt:lpstr>
      <vt:lpstr>Calibri</vt:lpstr>
      <vt:lpstr>Courier New</vt:lpstr>
      <vt:lpstr>Neue Haas Grotesk Text Pro Blac</vt:lpstr>
      <vt:lpstr>Tw Cen MT</vt:lpstr>
      <vt:lpstr>Wingdings 3</vt:lpstr>
      <vt:lpstr>Integral</vt:lpstr>
      <vt:lpstr>Applied Use Cases of  the Health-RI Semantic Interoperability Initiative</vt:lpstr>
      <vt:lpstr>Primary User Roles</vt:lpstr>
      <vt:lpstr>Amir Hassan: Research Goal and Challenge</vt:lpstr>
      <vt:lpstr>Amir’s End-to-End Workflow</vt:lpstr>
      <vt:lpstr>Scenario 1: Clarify Meanings Before Reuse</vt:lpstr>
      <vt:lpstr>Available Sex and Gender Variables by Dataset</vt:lpstr>
      <vt:lpstr>Amir’s Question and Challenge</vt:lpstr>
      <vt:lpstr>Labels and their Meanings</vt:lpstr>
      <vt:lpstr>Similar Labels Can Mislead Reuse</vt:lpstr>
      <vt:lpstr>Similar Labels Can Mislead Reuse</vt:lpstr>
      <vt:lpstr>Distinct Concepts Within Sex and Gender</vt:lpstr>
      <vt:lpstr>The Health-RI Conceptual Ontology</vt:lpstr>
      <vt:lpstr>HRIO Taxonomies for Sex and Gender</vt:lpstr>
      <vt:lpstr>Variables Map to Distinct Meanings</vt:lpstr>
      <vt:lpstr>Similar Variables, Different Meanings</vt:lpstr>
      <vt:lpstr>Scenario 2: Identify the dataset that represents the right meaning</vt:lpstr>
      <vt:lpstr>Amir’s Question and Challenge</vt:lpstr>
      <vt:lpstr>When are two datasets interoperable?</vt:lpstr>
      <vt:lpstr>When are two datasets interoperable?</vt:lpstr>
      <vt:lpstr>Semantic Interoperability Conditions</vt:lpstr>
      <vt:lpstr>Semantic Interoperability Conditions</vt:lpstr>
      <vt:lpstr>From Conceptual Clarity to Actionable Semantics</vt:lpstr>
      <vt:lpstr>The Health-RI Computational Ontology</vt:lpstr>
      <vt:lpstr>From Conceptual Clarity to Actionable Semantics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542</cp:revision>
  <dcterms:created xsi:type="dcterms:W3CDTF">2026-04-15T11:32:55Z</dcterms:created>
  <dcterms:modified xsi:type="dcterms:W3CDTF">2026-04-28T14:37:33Z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