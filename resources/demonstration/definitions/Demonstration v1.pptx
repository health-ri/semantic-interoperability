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wav" ContentType="audio/x-wav"/>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0.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31.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4"/>
  </p:sldMasterIdLst>
  <p:notesMasterIdLst>
    <p:notesMasterId r:id="rId74"/>
  </p:notesMasterIdLst>
  <p:sldIdLst>
    <p:sldId id="256" r:id="rId5"/>
    <p:sldId id="355" r:id="rId6"/>
    <p:sldId id="409" r:id="rId7"/>
    <p:sldId id="421" r:id="rId8"/>
    <p:sldId id="425" r:id="rId9"/>
    <p:sldId id="356" r:id="rId10"/>
    <p:sldId id="373" r:id="rId11"/>
    <p:sldId id="378" r:id="rId12"/>
    <p:sldId id="379" r:id="rId13"/>
    <p:sldId id="438" r:id="rId14"/>
    <p:sldId id="418" r:id="rId15"/>
    <p:sldId id="375" r:id="rId16"/>
    <p:sldId id="376" r:id="rId17"/>
    <p:sldId id="366" r:id="rId18"/>
    <p:sldId id="377" r:id="rId19"/>
    <p:sldId id="426" r:id="rId20"/>
    <p:sldId id="354" r:id="rId21"/>
    <p:sldId id="384" r:id="rId22"/>
    <p:sldId id="385" r:id="rId23"/>
    <p:sldId id="386" r:id="rId24"/>
    <p:sldId id="388" r:id="rId25"/>
    <p:sldId id="440" r:id="rId26"/>
    <p:sldId id="391" r:id="rId27"/>
    <p:sldId id="441" r:id="rId28"/>
    <p:sldId id="398" r:id="rId29"/>
    <p:sldId id="439" r:id="rId30"/>
    <p:sldId id="392" r:id="rId31"/>
    <p:sldId id="400" r:id="rId32"/>
    <p:sldId id="401" r:id="rId33"/>
    <p:sldId id="402" r:id="rId34"/>
    <p:sldId id="434" r:id="rId35"/>
    <p:sldId id="427" r:id="rId36"/>
    <p:sldId id="403" r:id="rId37"/>
    <p:sldId id="357" r:id="rId38"/>
    <p:sldId id="404" r:id="rId39"/>
    <p:sldId id="435" r:id="rId40"/>
    <p:sldId id="428" r:id="rId41"/>
    <p:sldId id="359" r:id="rId42"/>
    <p:sldId id="419" r:id="rId43"/>
    <p:sldId id="407" r:id="rId44"/>
    <p:sldId id="408" r:id="rId45"/>
    <p:sldId id="436" r:id="rId46"/>
    <p:sldId id="429" r:id="rId47"/>
    <p:sldId id="360" r:id="rId48"/>
    <p:sldId id="410" r:id="rId49"/>
    <p:sldId id="411" r:id="rId50"/>
    <p:sldId id="412" r:id="rId51"/>
    <p:sldId id="413" r:id="rId52"/>
    <p:sldId id="414" r:id="rId53"/>
    <p:sldId id="415" r:id="rId54"/>
    <p:sldId id="416" r:id="rId55"/>
    <p:sldId id="417" r:id="rId56"/>
    <p:sldId id="437" r:id="rId57"/>
    <p:sldId id="381" r:id="rId58"/>
    <p:sldId id="367" r:id="rId59"/>
    <p:sldId id="422" r:id="rId60"/>
    <p:sldId id="361" r:id="rId61"/>
    <p:sldId id="431" r:id="rId62"/>
    <p:sldId id="430" r:id="rId63"/>
    <p:sldId id="432" r:id="rId64"/>
    <p:sldId id="433" r:id="rId65"/>
    <p:sldId id="362" r:id="rId66"/>
    <p:sldId id="363" r:id="rId67"/>
    <p:sldId id="382" r:id="rId68"/>
    <p:sldId id="341" r:id="rId69"/>
    <p:sldId id="390" r:id="rId70"/>
    <p:sldId id="396" r:id="rId71"/>
    <p:sldId id="397" r:id="rId72"/>
    <p:sldId id="389" r:id="rId7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54F6DA60-9F5B-4D69-A466-C35CB4C4BB43}">
          <p14:sldIdLst>
            <p14:sldId id="256"/>
            <p14:sldId id="355"/>
            <p14:sldId id="409"/>
            <p14:sldId id="421"/>
            <p14:sldId id="425"/>
            <p14:sldId id="356"/>
            <p14:sldId id="373"/>
            <p14:sldId id="378"/>
            <p14:sldId id="379"/>
            <p14:sldId id="438"/>
            <p14:sldId id="418"/>
            <p14:sldId id="375"/>
            <p14:sldId id="376"/>
            <p14:sldId id="366"/>
            <p14:sldId id="377"/>
            <p14:sldId id="426"/>
            <p14:sldId id="354"/>
            <p14:sldId id="384"/>
            <p14:sldId id="385"/>
            <p14:sldId id="386"/>
            <p14:sldId id="388"/>
            <p14:sldId id="440"/>
            <p14:sldId id="391"/>
            <p14:sldId id="441"/>
            <p14:sldId id="398"/>
            <p14:sldId id="439"/>
            <p14:sldId id="392"/>
            <p14:sldId id="400"/>
            <p14:sldId id="401"/>
            <p14:sldId id="402"/>
            <p14:sldId id="434"/>
            <p14:sldId id="427"/>
            <p14:sldId id="403"/>
            <p14:sldId id="357"/>
            <p14:sldId id="404"/>
            <p14:sldId id="435"/>
            <p14:sldId id="428"/>
            <p14:sldId id="359"/>
            <p14:sldId id="419"/>
            <p14:sldId id="407"/>
            <p14:sldId id="408"/>
            <p14:sldId id="436"/>
            <p14:sldId id="429"/>
            <p14:sldId id="360"/>
            <p14:sldId id="410"/>
            <p14:sldId id="411"/>
            <p14:sldId id="412"/>
            <p14:sldId id="413"/>
            <p14:sldId id="414"/>
            <p14:sldId id="415"/>
            <p14:sldId id="416"/>
            <p14:sldId id="417"/>
            <p14:sldId id="437"/>
            <p14:sldId id="381"/>
            <p14:sldId id="367"/>
            <p14:sldId id="422"/>
            <p14:sldId id="361"/>
            <p14:sldId id="431"/>
            <p14:sldId id="430"/>
            <p14:sldId id="432"/>
            <p14:sldId id="433"/>
            <p14:sldId id="362"/>
            <p14:sldId id="363"/>
            <p14:sldId id="382"/>
            <p14:sldId id="341"/>
          </p14:sldIdLst>
        </p14:section>
        <p14:section name="Extra" id="{1CFDE7F0-1201-4C51-B70A-D3E9EF8779BC}">
          <p14:sldIdLst>
            <p14:sldId id="390"/>
            <p14:sldId id="396"/>
            <p14:sldId id="397"/>
            <p14:sldId id="389"/>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E4D9"/>
    <a:srgbClr val="E30614"/>
    <a:srgbClr val="F2F2F2"/>
    <a:srgbClr val="BCC1CB"/>
    <a:srgbClr val="FFFFFF"/>
    <a:srgbClr val="DEF1DC"/>
    <a:srgbClr val="15467B"/>
    <a:srgbClr val="000000"/>
    <a:srgbClr val="F8AF00"/>
    <a:srgbClr val="E019E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66828" autoAdjust="0"/>
  </p:normalViewPr>
  <p:slideViewPr>
    <p:cSldViewPr snapToGrid="0">
      <p:cViewPr varScale="1">
        <p:scale>
          <a:sx n="70" d="100"/>
          <a:sy n="70" d="100"/>
        </p:scale>
        <p:origin x="1320" y="66"/>
      </p:cViewPr>
      <p:guideLst/>
    </p:cSldViewPr>
  </p:slideViewPr>
  <p:notesTextViewPr>
    <p:cViewPr>
      <p:scale>
        <a:sx n="3" d="2"/>
        <a:sy n="3" d="2"/>
      </p:scale>
      <p:origin x="0" y="0"/>
    </p:cViewPr>
  </p:notesTextViewPr>
  <p:sorterViewPr>
    <p:cViewPr>
      <p:scale>
        <a:sx n="100" d="100"/>
        <a:sy n="100" d="100"/>
      </p:scale>
      <p:origin x="0" y="0"/>
    </p:cViewPr>
  </p:sorterViewPr>
  <p:notesViewPr>
    <p:cSldViewPr snapToGrid="0" showGuides="1">
      <p:cViewPr varScale="1">
        <p:scale>
          <a:sx n="81" d="100"/>
          <a:sy n="81" d="100"/>
        </p:scale>
        <p:origin x="3894" y="10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16" Type="http://schemas.openxmlformats.org/officeDocument/2006/relationships/slide" Target="slides/slide1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notesMaster" Target="notesMasters/notesMaster1.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viewProps" Target="viewProps.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s>
</file>

<file path=ppt/diagrams/_rels/data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image" Target="../media/image13.png"/></Relationships>
</file>

<file path=ppt/diagrams/_rels/data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image" Target="../media/image13.png"/></Relationships>
</file>

<file path=ppt/diagrams/_rels/drawing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image" Target="../media/image13.png"/></Relationships>
</file>

<file path=ppt/diagrams/_rels/drawing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image" Target="../media/image13.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A8897B1-8786-4F45-8F3E-6F9FA28A4495}" type="doc">
      <dgm:prSet loTypeId="urn:microsoft.com/office/officeart/2005/8/layout/bProcess3" loCatId="process" qsTypeId="urn:microsoft.com/office/officeart/2005/8/quickstyle/simple5" qsCatId="simple" csTypeId="urn:microsoft.com/office/officeart/2005/8/colors/accent1_2" csCatId="accent1" phldr="1"/>
      <dgm:spPr/>
      <dgm:t>
        <a:bodyPr/>
        <a:lstStyle/>
        <a:p>
          <a:endParaRPr lang="en-NL"/>
        </a:p>
      </dgm:t>
    </dgm:pt>
    <dgm:pt modelId="{0E885238-2E13-4AA2-80EA-5AE1057C5004}">
      <dgm:prSet/>
      <dgm:spPr/>
      <dgm:t>
        <a:bodyPr anchor="ctr"/>
        <a:lstStyle/>
        <a:p>
          <a:pPr algn="l"/>
          <a:r>
            <a:rPr lang="it-IT" b="1" u="none" dirty="0"/>
            <a:t>Scenario 1: </a:t>
          </a:r>
          <a:r>
            <a:rPr lang="en-US" dirty="0"/>
            <a:t>Clarify Meanings Before Reuse</a:t>
          </a:r>
          <a:endParaRPr lang="en-NL" b="0" u="none" dirty="0"/>
        </a:p>
      </dgm:t>
    </dgm:pt>
    <dgm:pt modelId="{0F1F07AB-F376-4A68-8731-667CA0C14530}" type="parTrans" cxnId="{2BA27D8A-14C6-4B88-8B88-8B51A471621A}">
      <dgm:prSet/>
      <dgm:spPr/>
      <dgm:t>
        <a:bodyPr/>
        <a:lstStyle/>
        <a:p>
          <a:endParaRPr lang="en-NL"/>
        </a:p>
      </dgm:t>
    </dgm:pt>
    <dgm:pt modelId="{86FEFBC6-1B20-4987-B9DF-E83ED6435580}" type="sibTrans" cxnId="{2BA27D8A-14C6-4B88-8B88-8B51A471621A}">
      <dgm:prSet/>
      <dgm:spPr>
        <a:ln w="34925">
          <a:solidFill>
            <a:schemeClr val="accent2"/>
          </a:solidFill>
          <a:tailEnd type="arrow" w="lg" len="med"/>
        </a:ln>
      </dgm:spPr>
      <dgm:t>
        <a:bodyPr/>
        <a:lstStyle/>
        <a:p>
          <a:endParaRPr lang="en-NL"/>
        </a:p>
      </dgm:t>
    </dgm:pt>
    <dgm:pt modelId="{96FB2433-1B30-4F4B-9905-BCD4E1757523}">
      <dgm:prSet/>
      <dgm:spPr/>
      <dgm:t>
        <a:bodyPr anchor="ctr"/>
        <a:lstStyle/>
        <a:p>
          <a:pPr algn="l"/>
          <a:r>
            <a:rPr lang="en-US" b="1" u="none" dirty="0">
              <a:solidFill>
                <a:schemeClr val="bg1"/>
              </a:solidFill>
            </a:rPr>
            <a:t>Scenario 5:</a:t>
          </a:r>
          <a:r>
            <a:rPr lang="en-US" b="0" u="none" dirty="0">
              <a:solidFill>
                <a:schemeClr val="bg1"/>
              </a:solidFill>
            </a:rPr>
            <a:t> </a:t>
          </a:r>
          <a:r>
            <a:rPr lang="en-US" dirty="0">
              <a:solidFill>
                <a:schemeClr val="bg1"/>
              </a:solidFill>
            </a:rPr>
            <a:t>Assess (re)use options around one selected concept</a:t>
          </a:r>
          <a:endParaRPr lang="en-NL" dirty="0">
            <a:solidFill>
              <a:schemeClr val="bg1"/>
            </a:solidFill>
          </a:endParaRPr>
        </a:p>
      </dgm:t>
    </dgm:pt>
    <dgm:pt modelId="{E1541FE1-F29C-4FEE-BAEE-28CC6FA333CA}" type="parTrans" cxnId="{6F760F83-3FFF-49AF-9DDE-A369A4B4C28C}">
      <dgm:prSet/>
      <dgm:spPr/>
      <dgm:t>
        <a:bodyPr/>
        <a:lstStyle/>
        <a:p>
          <a:endParaRPr lang="en-NL"/>
        </a:p>
      </dgm:t>
    </dgm:pt>
    <dgm:pt modelId="{ACC4E472-98B3-4A96-B982-D4F105C94079}" type="sibTrans" cxnId="{6F760F83-3FFF-49AF-9DDE-A369A4B4C28C}">
      <dgm:prSet/>
      <dgm:spPr>
        <a:ln w="34925">
          <a:solidFill>
            <a:schemeClr val="accent2"/>
          </a:solidFill>
          <a:tailEnd type="arrow" w="lg" len="med"/>
        </a:ln>
      </dgm:spPr>
      <dgm:t>
        <a:bodyPr/>
        <a:lstStyle/>
        <a:p>
          <a:endParaRPr lang="en-NL"/>
        </a:p>
      </dgm:t>
    </dgm:pt>
    <dgm:pt modelId="{E85426CD-3C98-4ECB-92E3-6688B23C5426}">
      <dgm:prSet/>
      <dgm:spPr>
        <a:solidFill>
          <a:schemeClr val="accent3">
            <a:lumMod val="20000"/>
            <a:lumOff val="80000"/>
          </a:schemeClr>
        </a:solidFill>
        <a:ln>
          <a:solidFill>
            <a:schemeClr val="accent1"/>
          </a:solidFill>
        </a:ln>
      </dgm:spPr>
      <dgm:t>
        <a:bodyPr anchor="ctr"/>
        <a:lstStyle/>
        <a:p>
          <a:pPr algn="l"/>
          <a:r>
            <a:rPr lang="en-US" b="1" dirty="0">
              <a:solidFill>
                <a:schemeClr val="accent1"/>
              </a:solidFill>
            </a:rPr>
            <a:t>Result:</a:t>
          </a:r>
          <a:r>
            <a:rPr lang="en-US" dirty="0">
              <a:solidFill>
                <a:schemeClr val="accent1"/>
              </a:solidFill>
            </a:rPr>
            <a:t> Amir could move from label-based guessing to a defensible decision, identifying which variable fits his study and which related concepts align, should be ruled out, or only partially overlap.</a:t>
          </a:r>
          <a:endParaRPr lang="en-NL" dirty="0">
            <a:solidFill>
              <a:schemeClr val="accent1"/>
            </a:solidFill>
          </a:endParaRPr>
        </a:p>
      </dgm:t>
    </dgm:pt>
    <dgm:pt modelId="{3365F242-5B4F-4CCD-970F-BDDE72811A13}" type="parTrans" cxnId="{5B810A0C-6F30-48D0-A6FE-E8CDEF9EF708}">
      <dgm:prSet/>
      <dgm:spPr/>
      <dgm:t>
        <a:bodyPr/>
        <a:lstStyle/>
        <a:p>
          <a:endParaRPr lang="en-NL"/>
        </a:p>
      </dgm:t>
    </dgm:pt>
    <dgm:pt modelId="{DD82BA89-33EE-4DFE-8737-2F62D7FD6AA6}" type="sibTrans" cxnId="{5B810A0C-6F30-48D0-A6FE-E8CDEF9EF708}">
      <dgm:prSet/>
      <dgm:spPr/>
      <dgm:t>
        <a:bodyPr/>
        <a:lstStyle/>
        <a:p>
          <a:endParaRPr lang="en-NL"/>
        </a:p>
      </dgm:t>
    </dgm:pt>
    <dgm:pt modelId="{3C8F336F-8535-471E-9E2E-EDBE1D90440F}">
      <dgm:prSet/>
      <dgm:spPr/>
      <dgm:t>
        <a:bodyPr anchor="ctr"/>
        <a:lstStyle/>
        <a:p>
          <a:pPr algn="l"/>
          <a:r>
            <a:rPr lang="en-US" b="1" u="none" dirty="0"/>
            <a:t>Scenario 2: </a:t>
          </a:r>
          <a:r>
            <a:rPr lang="en-US" dirty="0"/>
            <a:t>Identify the dataset that represents the right meaning</a:t>
          </a:r>
          <a:endParaRPr lang="en-NL" b="0" u="none" dirty="0"/>
        </a:p>
      </dgm:t>
    </dgm:pt>
    <dgm:pt modelId="{7FFDCBD2-F58A-4CBC-AAAA-674DC77DB221}" type="parTrans" cxnId="{8FEF0BA5-DE05-43D4-B0DA-2F430DB29B00}">
      <dgm:prSet/>
      <dgm:spPr/>
      <dgm:t>
        <a:bodyPr/>
        <a:lstStyle/>
        <a:p>
          <a:endParaRPr lang="en-NL"/>
        </a:p>
      </dgm:t>
    </dgm:pt>
    <dgm:pt modelId="{BE52810D-9388-433F-8634-C654FBAD953C}" type="sibTrans" cxnId="{8FEF0BA5-DE05-43D4-B0DA-2F430DB29B00}">
      <dgm:prSet/>
      <dgm:spPr>
        <a:ln w="34925">
          <a:solidFill>
            <a:schemeClr val="accent2"/>
          </a:solidFill>
          <a:tailEnd type="arrow" w="lg" len="med"/>
        </a:ln>
      </dgm:spPr>
      <dgm:t>
        <a:bodyPr/>
        <a:lstStyle/>
        <a:p>
          <a:endParaRPr lang="en-NL"/>
        </a:p>
      </dgm:t>
    </dgm:pt>
    <dgm:pt modelId="{B838CBCF-5171-4C26-A79F-F2628D2489E9}">
      <dgm:prSet/>
      <dgm:spPr/>
      <dgm:t>
        <a:bodyPr anchor="ctr"/>
        <a:lstStyle/>
        <a:p>
          <a:pPr algn="l"/>
          <a:r>
            <a:rPr lang="en-US" b="1" u="none" dirty="0"/>
            <a:t>Scenario 3: </a:t>
          </a:r>
          <a:r>
            <a:rPr lang="en-US" b="0" u="none" dirty="0"/>
            <a:t>Inspect what a selected column means</a:t>
          </a:r>
          <a:endParaRPr lang="en-NL" b="0" u="none" dirty="0"/>
        </a:p>
      </dgm:t>
    </dgm:pt>
    <dgm:pt modelId="{37ABE1D1-0D82-4C33-8C5E-E6FC17D92F16}" type="parTrans" cxnId="{3D00B630-316B-4C03-940C-A3F2A935219B}">
      <dgm:prSet/>
      <dgm:spPr/>
      <dgm:t>
        <a:bodyPr/>
        <a:lstStyle/>
        <a:p>
          <a:endParaRPr lang="en-NL"/>
        </a:p>
      </dgm:t>
    </dgm:pt>
    <dgm:pt modelId="{6A8F28F4-4B87-48C1-BD5E-BBC975331ABB}" type="sibTrans" cxnId="{3D00B630-316B-4C03-940C-A3F2A935219B}">
      <dgm:prSet/>
      <dgm:spPr>
        <a:ln w="34925">
          <a:solidFill>
            <a:schemeClr val="accent2"/>
          </a:solidFill>
          <a:tailEnd type="arrow" w="lg" len="med"/>
        </a:ln>
      </dgm:spPr>
      <dgm:t>
        <a:bodyPr/>
        <a:lstStyle/>
        <a:p>
          <a:endParaRPr lang="en-NL"/>
        </a:p>
      </dgm:t>
    </dgm:pt>
    <dgm:pt modelId="{55A474CF-010C-4359-947B-B2BA53B9046A}">
      <dgm:prSet/>
      <dgm:spPr/>
      <dgm:t>
        <a:bodyPr anchor="ctr"/>
        <a:lstStyle/>
        <a:p>
          <a:pPr algn="l"/>
          <a:r>
            <a:rPr lang="en-US" b="1" u="none" dirty="0"/>
            <a:t>Scenario 4:</a:t>
          </a:r>
          <a:r>
            <a:rPr lang="en-US" b="0" u="none" dirty="0"/>
            <a:t> Formalize the semantic relation between two selected columns</a:t>
          </a:r>
          <a:endParaRPr lang="en-NL" b="0" u="none" dirty="0"/>
        </a:p>
      </dgm:t>
    </dgm:pt>
    <dgm:pt modelId="{5FC4AA4E-464A-4DE7-BC19-4BDCC3F1EF95}" type="parTrans" cxnId="{544B5546-AEBE-4640-87D1-FA28567E1BEF}">
      <dgm:prSet/>
      <dgm:spPr/>
      <dgm:t>
        <a:bodyPr/>
        <a:lstStyle/>
        <a:p>
          <a:endParaRPr lang="en-NL"/>
        </a:p>
      </dgm:t>
    </dgm:pt>
    <dgm:pt modelId="{EC8E753D-90AC-48A4-9CB4-12897BD0A970}" type="sibTrans" cxnId="{544B5546-AEBE-4640-87D1-FA28567E1BEF}">
      <dgm:prSet/>
      <dgm:spPr>
        <a:ln w="34925">
          <a:solidFill>
            <a:schemeClr val="accent2"/>
          </a:solidFill>
          <a:tailEnd type="arrow" w="lg" len="med"/>
        </a:ln>
      </dgm:spPr>
      <dgm:t>
        <a:bodyPr/>
        <a:lstStyle/>
        <a:p>
          <a:endParaRPr lang="en-NL"/>
        </a:p>
      </dgm:t>
    </dgm:pt>
    <dgm:pt modelId="{EF7E357A-05A4-420C-91CB-57667FFFC1C1}" type="pres">
      <dgm:prSet presAssocID="{9A8897B1-8786-4F45-8F3E-6F9FA28A4495}" presName="Name0" presStyleCnt="0">
        <dgm:presLayoutVars>
          <dgm:dir/>
          <dgm:resizeHandles val="exact"/>
        </dgm:presLayoutVars>
      </dgm:prSet>
      <dgm:spPr/>
    </dgm:pt>
    <dgm:pt modelId="{BCF0A5AE-28F4-460B-A483-4E9270C15EA5}" type="pres">
      <dgm:prSet presAssocID="{0E885238-2E13-4AA2-80EA-5AE1057C5004}" presName="node" presStyleLbl="node1" presStyleIdx="0" presStyleCnt="6">
        <dgm:presLayoutVars>
          <dgm:bulletEnabled val="1"/>
        </dgm:presLayoutVars>
      </dgm:prSet>
      <dgm:spPr/>
    </dgm:pt>
    <dgm:pt modelId="{BEC936B6-E74A-4ADC-9FF8-41B735ABA13C}" type="pres">
      <dgm:prSet presAssocID="{86FEFBC6-1B20-4987-B9DF-E83ED6435580}" presName="sibTrans" presStyleLbl="sibTrans1D1" presStyleIdx="0" presStyleCnt="5"/>
      <dgm:spPr/>
    </dgm:pt>
    <dgm:pt modelId="{ABAE6600-31A1-4F9E-9842-1F1EA55B3009}" type="pres">
      <dgm:prSet presAssocID="{86FEFBC6-1B20-4987-B9DF-E83ED6435580}" presName="connectorText" presStyleLbl="sibTrans1D1" presStyleIdx="0" presStyleCnt="5"/>
      <dgm:spPr/>
    </dgm:pt>
    <dgm:pt modelId="{3466A636-609B-4F26-B741-EC0A1C2852FA}" type="pres">
      <dgm:prSet presAssocID="{3C8F336F-8535-471E-9E2E-EDBE1D90440F}" presName="node" presStyleLbl="node1" presStyleIdx="1" presStyleCnt="6">
        <dgm:presLayoutVars>
          <dgm:bulletEnabled val="1"/>
        </dgm:presLayoutVars>
      </dgm:prSet>
      <dgm:spPr/>
    </dgm:pt>
    <dgm:pt modelId="{EE67AEC7-A539-4D09-80D5-397693C7C04F}" type="pres">
      <dgm:prSet presAssocID="{BE52810D-9388-433F-8634-C654FBAD953C}" presName="sibTrans" presStyleLbl="sibTrans1D1" presStyleIdx="1" presStyleCnt="5"/>
      <dgm:spPr/>
    </dgm:pt>
    <dgm:pt modelId="{E37894B1-EA6F-4974-AA0B-CCF4FEF8C9A7}" type="pres">
      <dgm:prSet presAssocID="{BE52810D-9388-433F-8634-C654FBAD953C}" presName="connectorText" presStyleLbl="sibTrans1D1" presStyleIdx="1" presStyleCnt="5"/>
      <dgm:spPr/>
    </dgm:pt>
    <dgm:pt modelId="{781997A3-EE88-46C6-BA3F-CB53E3E30BE6}" type="pres">
      <dgm:prSet presAssocID="{B838CBCF-5171-4C26-A79F-F2628D2489E9}" presName="node" presStyleLbl="node1" presStyleIdx="2" presStyleCnt="6">
        <dgm:presLayoutVars>
          <dgm:bulletEnabled val="1"/>
        </dgm:presLayoutVars>
      </dgm:prSet>
      <dgm:spPr/>
    </dgm:pt>
    <dgm:pt modelId="{0C26B74F-5C5E-488F-BE18-6EEF27F0F2A6}" type="pres">
      <dgm:prSet presAssocID="{6A8F28F4-4B87-48C1-BD5E-BBC975331ABB}" presName="sibTrans" presStyleLbl="sibTrans1D1" presStyleIdx="2" presStyleCnt="5"/>
      <dgm:spPr/>
    </dgm:pt>
    <dgm:pt modelId="{76D31899-9C2E-41D5-85B0-AF533E161E3D}" type="pres">
      <dgm:prSet presAssocID="{6A8F28F4-4B87-48C1-BD5E-BBC975331ABB}" presName="connectorText" presStyleLbl="sibTrans1D1" presStyleIdx="2" presStyleCnt="5"/>
      <dgm:spPr/>
    </dgm:pt>
    <dgm:pt modelId="{385934CF-4E3A-484C-B2B3-66DCDD4477E7}" type="pres">
      <dgm:prSet presAssocID="{55A474CF-010C-4359-947B-B2BA53B9046A}" presName="node" presStyleLbl="node1" presStyleIdx="3" presStyleCnt="6">
        <dgm:presLayoutVars>
          <dgm:bulletEnabled val="1"/>
        </dgm:presLayoutVars>
      </dgm:prSet>
      <dgm:spPr/>
    </dgm:pt>
    <dgm:pt modelId="{B654FB9A-C7F5-4D27-A357-D10950EFC7A1}" type="pres">
      <dgm:prSet presAssocID="{EC8E753D-90AC-48A4-9CB4-12897BD0A970}" presName="sibTrans" presStyleLbl="sibTrans1D1" presStyleIdx="3" presStyleCnt="5"/>
      <dgm:spPr/>
    </dgm:pt>
    <dgm:pt modelId="{B360CC18-5E5A-4211-A96A-57475586979B}" type="pres">
      <dgm:prSet presAssocID="{EC8E753D-90AC-48A4-9CB4-12897BD0A970}" presName="connectorText" presStyleLbl="sibTrans1D1" presStyleIdx="3" presStyleCnt="5"/>
      <dgm:spPr/>
    </dgm:pt>
    <dgm:pt modelId="{7F969913-C98E-4911-B734-E71B7FCCDDE1}" type="pres">
      <dgm:prSet presAssocID="{96FB2433-1B30-4F4B-9905-BCD4E1757523}" presName="node" presStyleLbl="node1" presStyleIdx="4" presStyleCnt="6">
        <dgm:presLayoutVars>
          <dgm:bulletEnabled val="1"/>
        </dgm:presLayoutVars>
      </dgm:prSet>
      <dgm:spPr/>
    </dgm:pt>
    <dgm:pt modelId="{E04C062C-12EC-4CAC-A9F7-FA386B959D12}" type="pres">
      <dgm:prSet presAssocID="{ACC4E472-98B3-4A96-B982-D4F105C94079}" presName="sibTrans" presStyleLbl="sibTrans1D1" presStyleIdx="4" presStyleCnt="5"/>
      <dgm:spPr/>
    </dgm:pt>
    <dgm:pt modelId="{07469705-030F-4808-BDF9-2CD70F975978}" type="pres">
      <dgm:prSet presAssocID="{ACC4E472-98B3-4A96-B982-D4F105C94079}" presName="connectorText" presStyleLbl="sibTrans1D1" presStyleIdx="4" presStyleCnt="5"/>
      <dgm:spPr/>
    </dgm:pt>
    <dgm:pt modelId="{F33A4F67-5619-4B2C-B090-C5D18F9B354D}" type="pres">
      <dgm:prSet presAssocID="{E85426CD-3C98-4ECB-92E3-6688B23C5426}" presName="node" presStyleLbl="node1" presStyleIdx="5" presStyleCnt="6">
        <dgm:presLayoutVars>
          <dgm:bulletEnabled val="1"/>
        </dgm:presLayoutVars>
      </dgm:prSet>
      <dgm:spPr/>
    </dgm:pt>
  </dgm:ptLst>
  <dgm:cxnLst>
    <dgm:cxn modelId="{69553A00-49DD-4DFA-AC34-1C949A251304}" type="presOf" srcId="{0E885238-2E13-4AA2-80EA-5AE1057C5004}" destId="{BCF0A5AE-28F4-460B-A483-4E9270C15EA5}" srcOrd="0" destOrd="0" presId="urn:microsoft.com/office/officeart/2005/8/layout/bProcess3"/>
    <dgm:cxn modelId="{5B810A0C-6F30-48D0-A6FE-E8CDEF9EF708}" srcId="{9A8897B1-8786-4F45-8F3E-6F9FA28A4495}" destId="{E85426CD-3C98-4ECB-92E3-6688B23C5426}" srcOrd="5" destOrd="0" parTransId="{3365F242-5B4F-4CCD-970F-BDDE72811A13}" sibTransId="{DD82BA89-33EE-4DFE-8737-2F62D7FD6AA6}"/>
    <dgm:cxn modelId="{5274691B-CFA5-4113-B5B6-90DCD5A994A3}" type="presOf" srcId="{E85426CD-3C98-4ECB-92E3-6688B23C5426}" destId="{F33A4F67-5619-4B2C-B090-C5D18F9B354D}" srcOrd="0" destOrd="0" presId="urn:microsoft.com/office/officeart/2005/8/layout/bProcess3"/>
    <dgm:cxn modelId="{A4B3B71B-F4EB-42DD-8B36-1314E3349C1A}" type="presOf" srcId="{6A8F28F4-4B87-48C1-BD5E-BBC975331ABB}" destId="{0C26B74F-5C5E-488F-BE18-6EEF27F0F2A6}" srcOrd="0" destOrd="0" presId="urn:microsoft.com/office/officeart/2005/8/layout/bProcess3"/>
    <dgm:cxn modelId="{BBB6BC21-5C3C-486C-A0D9-E12EFAFBAB9E}" type="presOf" srcId="{BE52810D-9388-433F-8634-C654FBAD953C}" destId="{EE67AEC7-A539-4D09-80D5-397693C7C04F}" srcOrd="0" destOrd="0" presId="urn:microsoft.com/office/officeart/2005/8/layout/bProcess3"/>
    <dgm:cxn modelId="{D3FEB728-27E0-4CDD-9514-CF79B1AD67C5}" type="presOf" srcId="{ACC4E472-98B3-4A96-B982-D4F105C94079}" destId="{E04C062C-12EC-4CAC-A9F7-FA386B959D12}" srcOrd="0" destOrd="0" presId="urn:microsoft.com/office/officeart/2005/8/layout/bProcess3"/>
    <dgm:cxn modelId="{3D00B630-316B-4C03-940C-A3F2A935219B}" srcId="{9A8897B1-8786-4F45-8F3E-6F9FA28A4495}" destId="{B838CBCF-5171-4C26-A79F-F2628D2489E9}" srcOrd="2" destOrd="0" parTransId="{37ABE1D1-0D82-4C33-8C5E-E6FC17D92F16}" sibTransId="{6A8F28F4-4B87-48C1-BD5E-BBC975331ABB}"/>
    <dgm:cxn modelId="{A5CB413E-6A8D-4E05-9518-E95B5922452D}" type="presOf" srcId="{6A8F28F4-4B87-48C1-BD5E-BBC975331ABB}" destId="{76D31899-9C2E-41D5-85B0-AF533E161E3D}" srcOrd="1" destOrd="0" presId="urn:microsoft.com/office/officeart/2005/8/layout/bProcess3"/>
    <dgm:cxn modelId="{C99A665C-BBE2-45C8-88D4-86FFA35FE582}" type="presOf" srcId="{86FEFBC6-1B20-4987-B9DF-E83ED6435580}" destId="{BEC936B6-E74A-4ADC-9FF8-41B735ABA13C}" srcOrd="0" destOrd="0" presId="urn:microsoft.com/office/officeart/2005/8/layout/bProcess3"/>
    <dgm:cxn modelId="{544B5546-AEBE-4640-87D1-FA28567E1BEF}" srcId="{9A8897B1-8786-4F45-8F3E-6F9FA28A4495}" destId="{55A474CF-010C-4359-947B-B2BA53B9046A}" srcOrd="3" destOrd="0" parTransId="{5FC4AA4E-464A-4DE7-BC19-4BDCC3F1EF95}" sibTransId="{EC8E753D-90AC-48A4-9CB4-12897BD0A970}"/>
    <dgm:cxn modelId="{0BE4A14E-2C20-43F0-BB6F-4EF2800B40E7}" type="presOf" srcId="{ACC4E472-98B3-4A96-B982-D4F105C94079}" destId="{07469705-030F-4808-BDF9-2CD70F975978}" srcOrd="1" destOrd="0" presId="urn:microsoft.com/office/officeart/2005/8/layout/bProcess3"/>
    <dgm:cxn modelId="{2FB3BF6F-BBDB-4EA7-AA62-18B7EC16C150}" type="presOf" srcId="{EC8E753D-90AC-48A4-9CB4-12897BD0A970}" destId="{B654FB9A-C7F5-4D27-A357-D10950EFC7A1}" srcOrd="0" destOrd="0" presId="urn:microsoft.com/office/officeart/2005/8/layout/bProcess3"/>
    <dgm:cxn modelId="{E6026250-9624-4147-9AC7-5D984A41E0A9}" type="presOf" srcId="{86FEFBC6-1B20-4987-B9DF-E83ED6435580}" destId="{ABAE6600-31A1-4F9E-9842-1F1EA55B3009}" srcOrd="1" destOrd="0" presId="urn:microsoft.com/office/officeart/2005/8/layout/bProcess3"/>
    <dgm:cxn modelId="{6F760F83-3FFF-49AF-9DDE-A369A4B4C28C}" srcId="{9A8897B1-8786-4F45-8F3E-6F9FA28A4495}" destId="{96FB2433-1B30-4F4B-9905-BCD4E1757523}" srcOrd="4" destOrd="0" parTransId="{E1541FE1-F29C-4FEE-BAEE-28CC6FA333CA}" sibTransId="{ACC4E472-98B3-4A96-B982-D4F105C94079}"/>
    <dgm:cxn modelId="{2BA27D8A-14C6-4B88-8B88-8B51A471621A}" srcId="{9A8897B1-8786-4F45-8F3E-6F9FA28A4495}" destId="{0E885238-2E13-4AA2-80EA-5AE1057C5004}" srcOrd="0" destOrd="0" parTransId="{0F1F07AB-F376-4A68-8731-667CA0C14530}" sibTransId="{86FEFBC6-1B20-4987-B9DF-E83ED6435580}"/>
    <dgm:cxn modelId="{F89E568E-1DB9-4C9B-A36F-414BB50921D6}" type="presOf" srcId="{EC8E753D-90AC-48A4-9CB4-12897BD0A970}" destId="{B360CC18-5E5A-4211-A96A-57475586979B}" srcOrd="1" destOrd="0" presId="urn:microsoft.com/office/officeart/2005/8/layout/bProcess3"/>
    <dgm:cxn modelId="{AC102B90-C86C-4AED-9E66-AB2B69F44C10}" type="presOf" srcId="{9A8897B1-8786-4F45-8F3E-6F9FA28A4495}" destId="{EF7E357A-05A4-420C-91CB-57667FFFC1C1}" srcOrd="0" destOrd="0" presId="urn:microsoft.com/office/officeart/2005/8/layout/bProcess3"/>
    <dgm:cxn modelId="{8FEF0BA5-DE05-43D4-B0DA-2F430DB29B00}" srcId="{9A8897B1-8786-4F45-8F3E-6F9FA28A4495}" destId="{3C8F336F-8535-471E-9E2E-EDBE1D90440F}" srcOrd="1" destOrd="0" parTransId="{7FFDCBD2-F58A-4CBC-AAAA-674DC77DB221}" sibTransId="{BE52810D-9388-433F-8634-C654FBAD953C}"/>
    <dgm:cxn modelId="{D7BA06AC-70CE-4B91-BCEB-C962B6FB0D51}" type="presOf" srcId="{55A474CF-010C-4359-947B-B2BA53B9046A}" destId="{385934CF-4E3A-484C-B2B3-66DCDD4477E7}" srcOrd="0" destOrd="0" presId="urn:microsoft.com/office/officeart/2005/8/layout/bProcess3"/>
    <dgm:cxn modelId="{617DBAB3-1DA8-440B-BFC7-AAFC172051E2}" type="presOf" srcId="{B838CBCF-5171-4C26-A79F-F2628D2489E9}" destId="{781997A3-EE88-46C6-BA3F-CB53E3E30BE6}" srcOrd="0" destOrd="0" presId="urn:microsoft.com/office/officeart/2005/8/layout/bProcess3"/>
    <dgm:cxn modelId="{EE24FBD7-CD34-46EC-9AC2-FEB30CE81D9E}" type="presOf" srcId="{96FB2433-1B30-4F4B-9905-BCD4E1757523}" destId="{7F969913-C98E-4911-B734-E71B7FCCDDE1}" srcOrd="0" destOrd="0" presId="urn:microsoft.com/office/officeart/2005/8/layout/bProcess3"/>
    <dgm:cxn modelId="{8C444DED-40D8-46AD-8A19-F5E35C24FB58}" type="presOf" srcId="{3C8F336F-8535-471E-9E2E-EDBE1D90440F}" destId="{3466A636-609B-4F26-B741-EC0A1C2852FA}" srcOrd="0" destOrd="0" presId="urn:microsoft.com/office/officeart/2005/8/layout/bProcess3"/>
    <dgm:cxn modelId="{EFEEFBF0-DCD4-44BE-BC5C-A4C1346724C2}" type="presOf" srcId="{BE52810D-9388-433F-8634-C654FBAD953C}" destId="{E37894B1-EA6F-4974-AA0B-CCF4FEF8C9A7}" srcOrd="1" destOrd="0" presId="urn:microsoft.com/office/officeart/2005/8/layout/bProcess3"/>
    <dgm:cxn modelId="{0CD2F95F-B815-413B-801B-26A679D5466B}" type="presParOf" srcId="{EF7E357A-05A4-420C-91CB-57667FFFC1C1}" destId="{BCF0A5AE-28F4-460B-A483-4E9270C15EA5}" srcOrd="0" destOrd="0" presId="urn:microsoft.com/office/officeart/2005/8/layout/bProcess3"/>
    <dgm:cxn modelId="{AFB8879D-1DAA-4CD4-B90A-6948EF070108}" type="presParOf" srcId="{EF7E357A-05A4-420C-91CB-57667FFFC1C1}" destId="{BEC936B6-E74A-4ADC-9FF8-41B735ABA13C}" srcOrd="1" destOrd="0" presId="urn:microsoft.com/office/officeart/2005/8/layout/bProcess3"/>
    <dgm:cxn modelId="{CF0978AE-7B41-4145-A60D-8AE0E270886B}" type="presParOf" srcId="{BEC936B6-E74A-4ADC-9FF8-41B735ABA13C}" destId="{ABAE6600-31A1-4F9E-9842-1F1EA55B3009}" srcOrd="0" destOrd="0" presId="urn:microsoft.com/office/officeart/2005/8/layout/bProcess3"/>
    <dgm:cxn modelId="{A8A35B8A-507D-4527-B0E1-E6C8D6EB626F}" type="presParOf" srcId="{EF7E357A-05A4-420C-91CB-57667FFFC1C1}" destId="{3466A636-609B-4F26-B741-EC0A1C2852FA}" srcOrd="2" destOrd="0" presId="urn:microsoft.com/office/officeart/2005/8/layout/bProcess3"/>
    <dgm:cxn modelId="{D5848CC5-45D8-4A16-AD90-5B558C1F9987}" type="presParOf" srcId="{EF7E357A-05A4-420C-91CB-57667FFFC1C1}" destId="{EE67AEC7-A539-4D09-80D5-397693C7C04F}" srcOrd="3" destOrd="0" presId="urn:microsoft.com/office/officeart/2005/8/layout/bProcess3"/>
    <dgm:cxn modelId="{61EA3739-24EE-40AD-A494-1C9958507863}" type="presParOf" srcId="{EE67AEC7-A539-4D09-80D5-397693C7C04F}" destId="{E37894B1-EA6F-4974-AA0B-CCF4FEF8C9A7}" srcOrd="0" destOrd="0" presId="urn:microsoft.com/office/officeart/2005/8/layout/bProcess3"/>
    <dgm:cxn modelId="{FDA2234D-A8D5-4B74-88F1-9AF418299913}" type="presParOf" srcId="{EF7E357A-05A4-420C-91CB-57667FFFC1C1}" destId="{781997A3-EE88-46C6-BA3F-CB53E3E30BE6}" srcOrd="4" destOrd="0" presId="urn:microsoft.com/office/officeart/2005/8/layout/bProcess3"/>
    <dgm:cxn modelId="{10DD85A1-5A0A-4881-A208-A0576BF6401D}" type="presParOf" srcId="{EF7E357A-05A4-420C-91CB-57667FFFC1C1}" destId="{0C26B74F-5C5E-488F-BE18-6EEF27F0F2A6}" srcOrd="5" destOrd="0" presId="urn:microsoft.com/office/officeart/2005/8/layout/bProcess3"/>
    <dgm:cxn modelId="{400C5360-71EF-46B1-92C7-B981BA29782C}" type="presParOf" srcId="{0C26B74F-5C5E-488F-BE18-6EEF27F0F2A6}" destId="{76D31899-9C2E-41D5-85B0-AF533E161E3D}" srcOrd="0" destOrd="0" presId="urn:microsoft.com/office/officeart/2005/8/layout/bProcess3"/>
    <dgm:cxn modelId="{D5A32493-64E7-4AD7-9E18-ED7E17C4614E}" type="presParOf" srcId="{EF7E357A-05A4-420C-91CB-57667FFFC1C1}" destId="{385934CF-4E3A-484C-B2B3-66DCDD4477E7}" srcOrd="6" destOrd="0" presId="urn:microsoft.com/office/officeart/2005/8/layout/bProcess3"/>
    <dgm:cxn modelId="{11D8B7BE-7C6A-4BFA-A15C-EFEE93DB9B90}" type="presParOf" srcId="{EF7E357A-05A4-420C-91CB-57667FFFC1C1}" destId="{B654FB9A-C7F5-4D27-A357-D10950EFC7A1}" srcOrd="7" destOrd="0" presId="urn:microsoft.com/office/officeart/2005/8/layout/bProcess3"/>
    <dgm:cxn modelId="{598E51E8-124E-4767-AE54-37A8D40A3CE5}" type="presParOf" srcId="{B654FB9A-C7F5-4D27-A357-D10950EFC7A1}" destId="{B360CC18-5E5A-4211-A96A-57475586979B}" srcOrd="0" destOrd="0" presId="urn:microsoft.com/office/officeart/2005/8/layout/bProcess3"/>
    <dgm:cxn modelId="{AE5A2044-28D9-40FB-9AF2-0A3464C7E0E9}" type="presParOf" srcId="{EF7E357A-05A4-420C-91CB-57667FFFC1C1}" destId="{7F969913-C98E-4911-B734-E71B7FCCDDE1}" srcOrd="8" destOrd="0" presId="urn:microsoft.com/office/officeart/2005/8/layout/bProcess3"/>
    <dgm:cxn modelId="{3527FF3F-F300-4F5A-AEA0-68ADCBAB02AE}" type="presParOf" srcId="{EF7E357A-05A4-420C-91CB-57667FFFC1C1}" destId="{E04C062C-12EC-4CAC-A9F7-FA386B959D12}" srcOrd="9" destOrd="0" presId="urn:microsoft.com/office/officeart/2005/8/layout/bProcess3"/>
    <dgm:cxn modelId="{68E98944-8A49-4DF2-9FE0-99C0607ACAAC}" type="presParOf" srcId="{E04C062C-12EC-4CAC-A9F7-FA386B959D12}" destId="{07469705-030F-4808-BDF9-2CD70F975978}" srcOrd="0" destOrd="0" presId="urn:microsoft.com/office/officeart/2005/8/layout/bProcess3"/>
    <dgm:cxn modelId="{853DEABF-B10F-4CB7-84D5-04D4E87EC10B}" type="presParOf" srcId="{EF7E357A-05A4-420C-91CB-57667FFFC1C1}" destId="{F33A4F67-5619-4B2C-B090-C5D18F9B354D}" srcOrd="10" destOrd="0" presId="urn:microsoft.com/office/officeart/2005/8/layout/bProcess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5C19C58-31BA-49AC-8B8F-ECE045733DBA}" type="doc">
      <dgm:prSet loTypeId="urn:microsoft.com/office/officeart/2008/layout/CaptionedPictures" loCatId="picture" qsTypeId="urn:microsoft.com/office/officeart/2005/8/quickstyle/simple4" qsCatId="simple" csTypeId="urn:microsoft.com/office/officeart/2005/8/colors/accent1_2" csCatId="accent1" phldr="1"/>
      <dgm:spPr/>
      <dgm:t>
        <a:bodyPr/>
        <a:lstStyle/>
        <a:p>
          <a:endParaRPr lang="en-NL"/>
        </a:p>
      </dgm:t>
    </dgm:pt>
    <dgm:pt modelId="{607D5BF2-DFEC-4B74-8D38-C28442FAFFF5}">
      <dgm:prSet phldrT="[Text]" phldr="0"/>
      <dgm:spPr/>
      <dgm:t>
        <a:bodyPr/>
        <a:lstStyle/>
        <a:p>
          <a:r>
            <a:rPr lang="en-US" dirty="0"/>
            <a:t>(Biological) Sex: Male</a:t>
          </a:r>
          <a:endParaRPr lang="en-NL" dirty="0"/>
        </a:p>
      </dgm:t>
    </dgm:pt>
    <dgm:pt modelId="{6BD3EEC5-6560-466C-83D8-B26481A66F53}" type="parTrans" cxnId="{9A33EFF8-4BB2-4E66-92B7-8C0D8B454901}">
      <dgm:prSet/>
      <dgm:spPr/>
      <dgm:t>
        <a:bodyPr/>
        <a:lstStyle/>
        <a:p>
          <a:endParaRPr lang="en-NL"/>
        </a:p>
      </dgm:t>
    </dgm:pt>
    <dgm:pt modelId="{F833CBFA-4F00-4356-96C5-4FDBAB56AF74}" type="sibTrans" cxnId="{9A33EFF8-4BB2-4E66-92B7-8C0D8B454901}">
      <dgm:prSet/>
      <dgm:spPr/>
      <dgm:t>
        <a:bodyPr/>
        <a:lstStyle/>
        <a:p>
          <a:endParaRPr lang="en-NL"/>
        </a:p>
      </dgm:t>
    </dgm:pt>
    <dgm:pt modelId="{6B222F87-7DBD-4E68-9102-89C6C90DDAEF}">
      <dgm:prSet phldrT="[Text]"/>
      <dgm:spPr/>
      <dgm:t>
        <a:bodyPr/>
        <a:lstStyle/>
        <a:p>
          <a:r>
            <a:rPr lang="en-US" b="1"/>
            <a:t>Patient-002</a:t>
          </a:r>
          <a:endParaRPr lang="en-NL" b="1" dirty="0"/>
        </a:p>
      </dgm:t>
    </dgm:pt>
    <dgm:pt modelId="{AB266ED0-F401-4CFD-BB85-40D2CEC47E3F}" type="parTrans" cxnId="{D0842D9E-317E-4AE8-B51E-BBA34196C449}">
      <dgm:prSet/>
      <dgm:spPr/>
      <dgm:t>
        <a:bodyPr/>
        <a:lstStyle/>
        <a:p>
          <a:endParaRPr lang="en-NL"/>
        </a:p>
      </dgm:t>
    </dgm:pt>
    <dgm:pt modelId="{4BC6B5FD-9D81-4147-B352-B53DAC4964E7}" type="sibTrans" cxnId="{D0842D9E-317E-4AE8-B51E-BBA34196C449}">
      <dgm:prSet/>
      <dgm:spPr/>
      <dgm:t>
        <a:bodyPr/>
        <a:lstStyle/>
        <a:p>
          <a:endParaRPr lang="en-NL"/>
        </a:p>
      </dgm:t>
    </dgm:pt>
    <dgm:pt modelId="{16EA0510-5088-44C5-B017-1C99132E19EF}">
      <dgm:prSet phldrT="[Text]" phldr="0"/>
      <dgm:spPr/>
      <dgm:t>
        <a:bodyPr/>
        <a:lstStyle/>
        <a:p>
          <a:r>
            <a:rPr lang="en-US" dirty="0"/>
            <a:t>(Biological) Sex: Male</a:t>
          </a:r>
          <a:endParaRPr lang="en-NL" dirty="0"/>
        </a:p>
      </dgm:t>
    </dgm:pt>
    <dgm:pt modelId="{4DDD4E8B-7904-413C-A151-6B055270DBD8}" type="parTrans" cxnId="{1B14BF2C-A52E-4100-B57A-E7283A8A9BD5}">
      <dgm:prSet/>
      <dgm:spPr/>
      <dgm:t>
        <a:bodyPr/>
        <a:lstStyle/>
        <a:p>
          <a:endParaRPr lang="en-NL"/>
        </a:p>
      </dgm:t>
    </dgm:pt>
    <dgm:pt modelId="{E6F30FBE-D1FB-4842-B735-612BBDECFBE8}" type="sibTrans" cxnId="{1B14BF2C-A52E-4100-B57A-E7283A8A9BD5}">
      <dgm:prSet/>
      <dgm:spPr/>
      <dgm:t>
        <a:bodyPr/>
        <a:lstStyle/>
        <a:p>
          <a:endParaRPr lang="en-NL"/>
        </a:p>
      </dgm:t>
    </dgm:pt>
    <dgm:pt modelId="{BC7CCC39-99B3-4077-92E4-B4C54FFE7DBF}">
      <dgm:prSet phldrT="[Text]"/>
      <dgm:spPr/>
      <dgm:t>
        <a:bodyPr/>
        <a:lstStyle/>
        <a:p>
          <a:r>
            <a:rPr lang="en-US" b="1" dirty="0"/>
            <a:t>Patient-001</a:t>
          </a:r>
          <a:endParaRPr lang="en-NL" b="1" dirty="0"/>
        </a:p>
      </dgm:t>
    </dgm:pt>
    <dgm:pt modelId="{507E72B2-D876-417F-B8FE-ADFAD0B758D0}" type="parTrans" cxnId="{D44F90AE-BAC4-4C9B-8C14-F60C12CF9614}">
      <dgm:prSet/>
      <dgm:spPr/>
      <dgm:t>
        <a:bodyPr/>
        <a:lstStyle/>
        <a:p>
          <a:endParaRPr lang="en-NL"/>
        </a:p>
      </dgm:t>
    </dgm:pt>
    <dgm:pt modelId="{4592CE00-5DF3-4ED2-9FD3-D2000E67DBA7}" type="sibTrans" cxnId="{D44F90AE-BAC4-4C9B-8C14-F60C12CF9614}">
      <dgm:prSet/>
      <dgm:spPr/>
      <dgm:t>
        <a:bodyPr/>
        <a:lstStyle/>
        <a:p>
          <a:endParaRPr lang="en-NL"/>
        </a:p>
      </dgm:t>
    </dgm:pt>
    <dgm:pt modelId="{8050DAC1-72D7-4A2E-9179-1D67416B9325}">
      <dgm:prSet phldrT="[Text]" phldr="0"/>
      <dgm:spPr/>
      <dgm:t>
        <a:bodyPr/>
        <a:lstStyle/>
        <a:p>
          <a:r>
            <a:rPr lang="en-US" dirty="0"/>
            <a:t>(Social) Gender: Male</a:t>
          </a:r>
          <a:endParaRPr lang="en-NL" dirty="0"/>
        </a:p>
      </dgm:t>
    </dgm:pt>
    <dgm:pt modelId="{48F32C56-269D-488E-B259-5FE5F9F51A4F}" type="parTrans" cxnId="{F960A859-0BB1-4604-8739-E05173933F85}">
      <dgm:prSet/>
      <dgm:spPr/>
      <dgm:t>
        <a:bodyPr/>
        <a:lstStyle/>
        <a:p>
          <a:endParaRPr lang="en-NL"/>
        </a:p>
      </dgm:t>
    </dgm:pt>
    <dgm:pt modelId="{74BF0334-AFB5-46E8-8970-62468C854C0C}" type="sibTrans" cxnId="{F960A859-0BB1-4604-8739-E05173933F85}">
      <dgm:prSet/>
      <dgm:spPr/>
      <dgm:t>
        <a:bodyPr/>
        <a:lstStyle/>
        <a:p>
          <a:endParaRPr lang="en-NL"/>
        </a:p>
      </dgm:t>
    </dgm:pt>
    <dgm:pt modelId="{5F75A165-9718-46D3-8880-1938ED8FD2DB}">
      <dgm:prSet phldrT="[Text]" phldr="0"/>
      <dgm:spPr/>
      <dgm:t>
        <a:bodyPr/>
        <a:lstStyle/>
        <a:p>
          <a:r>
            <a:rPr lang="en-US" dirty="0"/>
            <a:t>(Social) Gender: Female (Trans)</a:t>
          </a:r>
          <a:endParaRPr lang="en-NL" dirty="0"/>
        </a:p>
      </dgm:t>
    </dgm:pt>
    <dgm:pt modelId="{A414B49E-9DB0-4DC4-A5D8-0805FD76FFCC}" type="parTrans" cxnId="{11F01769-8291-4F80-9205-8B6B5D0C4F8B}">
      <dgm:prSet/>
      <dgm:spPr/>
      <dgm:t>
        <a:bodyPr/>
        <a:lstStyle/>
        <a:p>
          <a:endParaRPr lang="en-NL"/>
        </a:p>
      </dgm:t>
    </dgm:pt>
    <dgm:pt modelId="{13094134-587E-4CCA-B415-1F1DD4571C7F}" type="sibTrans" cxnId="{11F01769-8291-4F80-9205-8B6B5D0C4F8B}">
      <dgm:prSet/>
      <dgm:spPr/>
      <dgm:t>
        <a:bodyPr/>
        <a:lstStyle/>
        <a:p>
          <a:endParaRPr lang="en-NL"/>
        </a:p>
      </dgm:t>
    </dgm:pt>
    <dgm:pt modelId="{E2B0BA4C-3342-42F5-ADB3-C2A2329BE835}">
      <dgm:prSet phldrT="[Text]"/>
      <dgm:spPr/>
      <dgm:t>
        <a:bodyPr/>
        <a:lstStyle/>
        <a:p>
          <a:r>
            <a:rPr lang="en-US" b="1"/>
            <a:t>Patient-003</a:t>
          </a:r>
          <a:endParaRPr lang="en-NL" b="1" dirty="0"/>
        </a:p>
      </dgm:t>
    </dgm:pt>
    <dgm:pt modelId="{2B516BBF-D87F-4CBF-BBBF-B5D1F411CD34}" type="sibTrans" cxnId="{6C7AC91F-8E8B-487D-B7BB-835C02EA45CA}">
      <dgm:prSet/>
      <dgm:spPr/>
      <dgm:t>
        <a:bodyPr/>
        <a:lstStyle/>
        <a:p>
          <a:endParaRPr lang="en-NL"/>
        </a:p>
      </dgm:t>
    </dgm:pt>
    <dgm:pt modelId="{67C4BCDC-C388-4B7C-A287-371CC1E00B38}" type="parTrans" cxnId="{6C7AC91F-8E8B-487D-B7BB-835C02EA45CA}">
      <dgm:prSet/>
      <dgm:spPr/>
      <dgm:t>
        <a:bodyPr/>
        <a:lstStyle/>
        <a:p>
          <a:endParaRPr lang="en-NL"/>
        </a:p>
      </dgm:t>
    </dgm:pt>
    <dgm:pt modelId="{0190DE36-2851-409D-83F0-8E42955A2707}">
      <dgm:prSet phldrT="[Text]" phldr="0"/>
      <dgm:spPr/>
      <dgm:t>
        <a:bodyPr/>
        <a:lstStyle/>
        <a:p>
          <a:r>
            <a:rPr lang="en-US" dirty="0"/>
            <a:t>(Biological) Sex: Female</a:t>
          </a:r>
          <a:endParaRPr lang="en-NL" dirty="0"/>
        </a:p>
      </dgm:t>
    </dgm:pt>
    <dgm:pt modelId="{799C1BBF-58CE-406D-9A03-24C1885776E6}" type="sibTrans" cxnId="{2910DD94-5143-4C03-9D6A-97980AB65928}">
      <dgm:prSet/>
      <dgm:spPr/>
      <dgm:t>
        <a:bodyPr/>
        <a:lstStyle/>
        <a:p>
          <a:endParaRPr lang="en-NL"/>
        </a:p>
      </dgm:t>
    </dgm:pt>
    <dgm:pt modelId="{325BCC62-BE2D-463D-BC40-3122B7EE094F}" type="parTrans" cxnId="{2910DD94-5143-4C03-9D6A-97980AB65928}">
      <dgm:prSet/>
      <dgm:spPr/>
      <dgm:t>
        <a:bodyPr/>
        <a:lstStyle/>
        <a:p>
          <a:endParaRPr lang="en-NL"/>
        </a:p>
      </dgm:t>
    </dgm:pt>
    <dgm:pt modelId="{8FCE1C56-5EA3-4C18-9549-A9D08E09023E}">
      <dgm:prSet phldrT="[Text]" phldr="0"/>
      <dgm:spPr/>
      <dgm:t>
        <a:bodyPr/>
        <a:lstStyle/>
        <a:p>
          <a:r>
            <a:rPr lang="en-US" dirty="0"/>
            <a:t>(Social) Gender: Non-binary</a:t>
          </a:r>
          <a:endParaRPr lang="en-NL" dirty="0"/>
        </a:p>
      </dgm:t>
    </dgm:pt>
    <dgm:pt modelId="{1B0E8543-B5F4-4FA1-84ED-3B99E041EA54}" type="sibTrans" cxnId="{827FA79E-E21C-4897-98BB-E69BD3E460EA}">
      <dgm:prSet/>
      <dgm:spPr/>
      <dgm:t>
        <a:bodyPr/>
        <a:lstStyle/>
        <a:p>
          <a:endParaRPr lang="en-NL"/>
        </a:p>
      </dgm:t>
    </dgm:pt>
    <dgm:pt modelId="{6F621260-10B0-40C6-BCF1-A15CCCF78D35}" type="parTrans" cxnId="{827FA79E-E21C-4897-98BB-E69BD3E460EA}">
      <dgm:prSet/>
      <dgm:spPr/>
      <dgm:t>
        <a:bodyPr/>
        <a:lstStyle/>
        <a:p>
          <a:endParaRPr lang="en-NL"/>
        </a:p>
      </dgm:t>
    </dgm:pt>
    <dgm:pt modelId="{7A04C77A-5726-4FED-9967-83B038E7E84B}" type="pres">
      <dgm:prSet presAssocID="{65C19C58-31BA-49AC-8B8F-ECE045733DBA}" presName="Name0" presStyleCnt="0">
        <dgm:presLayoutVars>
          <dgm:chMax/>
          <dgm:chPref/>
          <dgm:dir/>
        </dgm:presLayoutVars>
      </dgm:prSet>
      <dgm:spPr/>
    </dgm:pt>
    <dgm:pt modelId="{1C570E93-47A0-436A-9418-B76F5CDDD29F}" type="pres">
      <dgm:prSet presAssocID="{BC7CCC39-99B3-4077-92E4-B4C54FFE7DBF}" presName="composite" presStyleCnt="0">
        <dgm:presLayoutVars>
          <dgm:chMax val="1"/>
          <dgm:chPref val="1"/>
        </dgm:presLayoutVars>
      </dgm:prSet>
      <dgm:spPr/>
    </dgm:pt>
    <dgm:pt modelId="{CE7BAC15-DC59-4FF0-A35E-63B19A7584AF}" type="pres">
      <dgm:prSet presAssocID="{BC7CCC39-99B3-4077-92E4-B4C54FFE7DBF}" presName="Accent" presStyleLbl="trAlignAcc1" presStyleIdx="0" presStyleCnt="3">
        <dgm:presLayoutVars>
          <dgm:chMax val="0"/>
          <dgm:chPref val="0"/>
        </dgm:presLayoutVars>
      </dgm:prSet>
      <dgm:spPr/>
    </dgm:pt>
    <dgm:pt modelId="{2DF05040-81DA-48BC-9673-8AF4C20552F0}" type="pres">
      <dgm:prSet presAssocID="{BC7CCC39-99B3-4077-92E4-B4C54FFE7DBF}" presName="Image" presStyleLbl="alignImgPlace1" presStyleIdx="0" presStyleCnt="3">
        <dgm:presLayoutVars>
          <dgm:chMax val="0"/>
          <dgm:chPref val="0"/>
        </dgm:presLayoutVars>
      </dgm:prSet>
      <dgm:spPr>
        <a:blipFill>
          <a:blip xmlns:r="http://schemas.openxmlformats.org/officeDocument/2006/relationships" r:embed="rId1"/>
          <a:srcRect/>
          <a:stretch>
            <a:fillRect t="-9000" b="-9000"/>
          </a:stretch>
        </a:blipFill>
        <a:ln>
          <a:solidFill>
            <a:schemeClr val="bg2">
              <a:lumMod val="90000"/>
            </a:schemeClr>
          </a:solidFill>
        </a:ln>
      </dgm:spPr>
    </dgm:pt>
    <dgm:pt modelId="{3CCE2650-1700-4130-B8E0-C7411250E7B3}" type="pres">
      <dgm:prSet presAssocID="{BC7CCC39-99B3-4077-92E4-B4C54FFE7DBF}" presName="ChildComposite" presStyleCnt="0"/>
      <dgm:spPr/>
    </dgm:pt>
    <dgm:pt modelId="{30369D29-5851-4F5A-89A8-A1FEF75330DD}" type="pres">
      <dgm:prSet presAssocID="{BC7CCC39-99B3-4077-92E4-B4C54FFE7DBF}" presName="Child" presStyleLbl="node1" presStyleIdx="0" presStyleCnt="3">
        <dgm:presLayoutVars>
          <dgm:chMax val="0"/>
          <dgm:chPref val="0"/>
          <dgm:bulletEnabled val="1"/>
        </dgm:presLayoutVars>
      </dgm:prSet>
      <dgm:spPr/>
    </dgm:pt>
    <dgm:pt modelId="{E136DF8C-D1DB-4C48-9240-BD42223BD201}" type="pres">
      <dgm:prSet presAssocID="{BC7CCC39-99B3-4077-92E4-B4C54FFE7DBF}" presName="Parent" presStyleLbl="revTx" presStyleIdx="0" presStyleCnt="3">
        <dgm:presLayoutVars>
          <dgm:chMax val="1"/>
          <dgm:chPref val="0"/>
          <dgm:bulletEnabled val="1"/>
        </dgm:presLayoutVars>
      </dgm:prSet>
      <dgm:spPr/>
    </dgm:pt>
    <dgm:pt modelId="{ED046396-4612-4499-963C-C3C762166ECB}" type="pres">
      <dgm:prSet presAssocID="{4592CE00-5DF3-4ED2-9FD3-D2000E67DBA7}" presName="sibTrans" presStyleCnt="0"/>
      <dgm:spPr/>
    </dgm:pt>
    <dgm:pt modelId="{E6BE8F6E-EA3A-4EE8-959B-6DBA66C138FA}" type="pres">
      <dgm:prSet presAssocID="{6B222F87-7DBD-4E68-9102-89C6C90DDAEF}" presName="composite" presStyleCnt="0">
        <dgm:presLayoutVars>
          <dgm:chMax val="1"/>
          <dgm:chPref val="1"/>
        </dgm:presLayoutVars>
      </dgm:prSet>
      <dgm:spPr/>
    </dgm:pt>
    <dgm:pt modelId="{BE5F1572-A447-4997-B7C1-2B8E87C28E09}" type="pres">
      <dgm:prSet presAssocID="{6B222F87-7DBD-4E68-9102-89C6C90DDAEF}" presName="Accent" presStyleLbl="trAlignAcc1" presStyleIdx="1" presStyleCnt="3">
        <dgm:presLayoutVars>
          <dgm:chMax val="0"/>
          <dgm:chPref val="0"/>
        </dgm:presLayoutVars>
      </dgm:prSet>
      <dgm:spPr/>
    </dgm:pt>
    <dgm:pt modelId="{0B8A85D8-4111-4B5E-94D3-3398FD061187}" type="pres">
      <dgm:prSet presAssocID="{6B222F87-7DBD-4E68-9102-89C6C90DDAEF}" presName="Image" presStyleLbl="alignImgPlace1" presStyleIdx="1" presStyleCnt="3">
        <dgm:presLayoutVars>
          <dgm:chMax val="0"/>
          <dgm:chPref val="0"/>
        </dgm:presLayoutVars>
      </dgm:prSet>
      <dgm:spPr>
        <a:blipFill>
          <a:blip xmlns:r="http://schemas.openxmlformats.org/officeDocument/2006/relationships" r:embed="rId2"/>
          <a:srcRect/>
          <a:stretch>
            <a:fillRect t="-9000" b="-9000"/>
          </a:stretch>
        </a:blipFill>
        <a:ln>
          <a:solidFill>
            <a:schemeClr val="bg2">
              <a:lumMod val="90000"/>
            </a:schemeClr>
          </a:solidFill>
        </a:ln>
      </dgm:spPr>
    </dgm:pt>
    <dgm:pt modelId="{CAA051D4-2E60-48F4-86C2-BD43857BEC5E}" type="pres">
      <dgm:prSet presAssocID="{6B222F87-7DBD-4E68-9102-89C6C90DDAEF}" presName="ChildComposite" presStyleCnt="0"/>
      <dgm:spPr/>
    </dgm:pt>
    <dgm:pt modelId="{4D0764FE-A32F-4969-8A80-EC1C58EFDB9C}" type="pres">
      <dgm:prSet presAssocID="{6B222F87-7DBD-4E68-9102-89C6C90DDAEF}" presName="Child" presStyleLbl="node1" presStyleIdx="1" presStyleCnt="3">
        <dgm:presLayoutVars>
          <dgm:chMax val="0"/>
          <dgm:chPref val="0"/>
          <dgm:bulletEnabled val="1"/>
        </dgm:presLayoutVars>
      </dgm:prSet>
      <dgm:spPr/>
    </dgm:pt>
    <dgm:pt modelId="{01877ED6-BA92-43FC-A70B-E91E700CFB37}" type="pres">
      <dgm:prSet presAssocID="{6B222F87-7DBD-4E68-9102-89C6C90DDAEF}" presName="Parent" presStyleLbl="revTx" presStyleIdx="1" presStyleCnt="3">
        <dgm:presLayoutVars>
          <dgm:chMax val="1"/>
          <dgm:chPref val="0"/>
          <dgm:bulletEnabled val="1"/>
        </dgm:presLayoutVars>
      </dgm:prSet>
      <dgm:spPr/>
    </dgm:pt>
    <dgm:pt modelId="{01C955DA-55D9-47F3-A11A-72386F7FF6E7}" type="pres">
      <dgm:prSet presAssocID="{4BC6B5FD-9D81-4147-B352-B53DAC4964E7}" presName="sibTrans" presStyleCnt="0"/>
      <dgm:spPr/>
    </dgm:pt>
    <dgm:pt modelId="{E67F7DF9-CAEF-499A-BFB1-F5C67C667EB2}" type="pres">
      <dgm:prSet presAssocID="{E2B0BA4C-3342-42F5-ADB3-C2A2329BE835}" presName="composite" presStyleCnt="0">
        <dgm:presLayoutVars>
          <dgm:chMax val="1"/>
          <dgm:chPref val="1"/>
        </dgm:presLayoutVars>
      </dgm:prSet>
      <dgm:spPr/>
    </dgm:pt>
    <dgm:pt modelId="{8CCC9092-02C7-4EFA-BE32-E14222A62392}" type="pres">
      <dgm:prSet presAssocID="{E2B0BA4C-3342-42F5-ADB3-C2A2329BE835}" presName="Accent" presStyleLbl="trAlignAcc1" presStyleIdx="2" presStyleCnt="3">
        <dgm:presLayoutVars>
          <dgm:chMax val="0"/>
          <dgm:chPref val="0"/>
        </dgm:presLayoutVars>
      </dgm:prSet>
      <dgm:spPr/>
    </dgm:pt>
    <dgm:pt modelId="{92ED66F0-881F-41E1-96A9-763D5D5A48B5}" type="pres">
      <dgm:prSet presAssocID="{E2B0BA4C-3342-42F5-ADB3-C2A2329BE835}" presName="Image" presStyleLbl="alignImgPlace1" presStyleIdx="2" presStyleCnt="3">
        <dgm:presLayoutVars>
          <dgm:chMax val="0"/>
          <dgm:chPref val="0"/>
        </dgm:presLayoutVars>
      </dgm:prSet>
      <dgm:spPr>
        <a:blipFill>
          <a:blip xmlns:r="http://schemas.openxmlformats.org/officeDocument/2006/relationships" r:embed="rId3"/>
          <a:srcRect/>
          <a:stretch>
            <a:fillRect t="-9000" b="-9000"/>
          </a:stretch>
        </a:blipFill>
        <a:ln>
          <a:solidFill>
            <a:schemeClr val="bg2">
              <a:lumMod val="90000"/>
            </a:schemeClr>
          </a:solidFill>
        </a:ln>
      </dgm:spPr>
    </dgm:pt>
    <dgm:pt modelId="{994F22B7-E841-489F-B4A6-5FFD1CE00462}" type="pres">
      <dgm:prSet presAssocID="{E2B0BA4C-3342-42F5-ADB3-C2A2329BE835}" presName="ChildComposite" presStyleCnt="0"/>
      <dgm:spPr/>
    </dgm:pt>
    <dgm:pt modelId="{7482A5E8-BC8F-4AEE-9D6D-EC66E1A46D4C}" type="pres">
      <dgm:prSet presAssocID="{E2B0BA4C-3342-42F5-ADB3-C2A2329BE835}" presName="Child" presStyleLbl="node1" presStyleIdx="2" presStyleCnt="3">
        <dgm:presLayoutVars>
          <dgm:chMax val="0"/>
          <dgm:chPref val="0"/>
          <dgm:bulletEnabled val="1"/>
        </dgm:presLayoutVars>
      </dgm:prSet>
      <dgm:spPr/>
    </dgm:pt>
    <dgm:pt modelId="{0CA4B0F1-8C27-4F9D-A3DD-07465492F2D6}" type="pres">
      <dgm:prSet presAssocID="{E2B0BA4C-3342-42F5-ADB3-C2A2329BE835}" presName="Parent" presStyleLbl="revTx" presStyleIdx="2" presStyleCnt="3">
        <dgm:presLayoutVars>
          <dgm:chMax val="1"/>
          <dgm:chPref val="0"/>
          <dgm:bulletEnabled val="1"/>
        </dgm:presLayoutVars>
      </dgm:prSet>
      <dgm:spPr/>
    </dgm:pt>
  </dgm:ptLst>
  <dgm:cxnLst>
    <dgm:cxn modelId="{1571A01C-08F6-42C8-9D1B-DB4F85ED193F}" type="presOf" srcId="{5F75A165-9718-46D3-8880-1938ED8FD2DB}" destId="{4D0764FE-A32F-4969-8A80-EC1C58EFDB9C}" srcOrd="0" destOrd="1" presId="urn:microsoft.com/office/officeart/2008/layout/CaptionedPictures"/>
    <dgm:cxn modelId="{6C7AC91F-8E8B-487D-B7BB-835C02EA45CA}" srcId="{65C19C58-31BA-49AC-8B8F-ECE045733DBA}" destId="{E2B0BA4C-3342-42F5-ADB3-C2A2329BE835}" srcOrd="2" destOrd="0" parTransId="{67C4BCDC-C388-4B7C-A287-371CC1E00B38}" sibTransId="{2B516BBF-D87F-4CBF-BBBF-B5D1F411CD34}"/>
    <dgm:cxn modelId="{1B14BF2C-A52E-4100-B57A-E7283A8A9BD5}" srcId="{6B222F87-7DBD-4E68-9102-89C6C90DDAEF}" destId="{16EA0510-5088-44C5-B017-1C99132E19EF}" srcOrd="0" destOrd="0" parTransId="{4DDD4E8B-7904-413C-A151-6B055270DBD8}" sibTransId="{E6F30FBE-D1FB-4842-B735-612BBDECFBE8}"/>
    <dgm:cxn modelId="{CBAA9A33-D257-45EF-8FB5-7DA97A1FAF72}" type="presOf" srcId="{607D5BF2-DFEC-4B74-8D38-C28442FAFFF5}" destId="{30369D29-5851-4F5A-89A8-A1FEF75330DD}" srcOrd="0" destOrd="0" presId="urn:microsoft.com/office/officeart/2008/layout/CaptionedPictures"/>
    <dgm:cxn modelId="{B55CD03E-B1FF-4121-9A20-DCAF244EBCBA}" type="presOf" srcId="{0190DE36-2851-409D-83F0-8E42955A2707}" destId="{7482A5E8-BC8F-4AEE-9D6D-EC66E1A46D4C}" srcOrd="0" destOrd="0" presId="urn:microsoft.com/office/officeart/2008/layout/CaptionedPictures"/>
    <dgm:cxn modelId="{1017D063-AD15-4E25-B520-0DF942F2B106}" type="presOf" srcId="{BC7CCC39-99B3-4077-92E4-B4C54FFE7DBF}" destId="{E136DF8C-D1DB-4C48-9240-BD42223BD201}" srcOrd="0" destOrd="0" presId="urn:microsoft.com/office/officeart/2008/layout/CaptionedPictures"/>
    <dgm:cxn modelId="{11F01769-8291-4F80-9205-8B6B5D0C4F8B}" srcId="{6B222F87-7DBD-4E68-9102-89C6C90DDAEF}" destId="{5F75A165-9718-46D3-8880-1938ED8FD2DB}" srcOrd="1" destOrd="0" parTransId="{A414B49E-9DB0-4DC4-A5D8-0805FD76FFCC}" sibTransId="{13094134-587E-4CCA-B415-1F1DD4571C7F}"/>
    <dgm:cxn modelId="{8CE8EF6B-0890-4216-96B1-13192A97AC16}" type="presOf" srcId="{6B222F87-7DBD-4E68-9102-89C6C90DDAEF}" destId="{01877ED6-BA92-43FC-A70B-E91E700CFB37}" srcOrd="0" destOrd="0" presId="urn:microsoft.com/office/officeart/2008/layout/CaptionedPictures"/>
    <dgm:cxn modelId="{A1834C52-F995-4B1E-8F3B-D25D5073CFD6}" type="presOf" srcId="{65C19C58-31BA-49AC-8B8F-ECE045733DBA}" destId="{7A04C77A-5726-4FED-9967-83B038E7E84B}" srcOrd="0" destOrd="0" presId="urn:microsoft.com/office/officeart/2008/layout/CaptionedPictures"/>
    <dgm:cxn modelId="{F960A859-0BB1-4604-8739-E05173933F85}" srcId="{BC7CCC39-99B3-4077-92E4-B4C54FFE7DBF}" destId="{8050DAC1-72D7-4A2E-9179-1D67416B9325}" srcOrd="1" destOrd="0" parTransId="{48F32C56-269D-488E-B259-5FE5F9F51A4F}" sibTransId="{74BF0334-AFB5-46E8-8970-62468C854C0C}"/>
    <dgm:cxn modelId="{2910DD94-5143-4C03-9D6A-97980AB65928}" srcId="{E2B0BA4C-3342-42F5-ADB3-C2A2329BE835}" destId="{0190DE36-2851-409D-83F0-8E42955A2707}" srcOrd="0" destOrd="0" parTransId="{325BCC62-BE2D-463D-BC40-3122B7EE094F}" sibTransId="{799C1BBF-58CE-406D-9A03-24C1885776E6}"/>
    <dgm:cxn modelId="{D0842D9E-317E-4AE8-B51E-BBA34196C449}" srcId="{65C19C58-31BA-49AC-8B8F-ECE045733DBA}" destId="{6B222F87-7DBD-4E68-9102-89C6C90DDAEF}" srcOrd="1" destOrd="0" parTransId="{AB266ED0-F401-4CFD-BB85-40D2CEC47E3F}" sibTransId="{4BC6B5FD-9D81-4147-B352-B53DAC4964E7}"/>
    <dgm:cxn modelId="{827FA79E-E21C-4897-98BB-E69BD3E460EA}" srcId="{E2B0BA4C-3342-42F5-ADB3-C2A2329BE835}" destId="{8FCE1C56-5EA3-4C18-9549-A9D08E09023E}" srcOrd="1" destOrd="0" parTransId="{6F621260-10B0-40C6-BCF1-A15CCCF78D35}" sibTransId="{1B0E8543-B5F4-4FA1-84ED-3B99E041EA54}"/>
    <dgm:cxn modelId="{D44F90AE-BAC4-4C9B-8C14-F60C12CF9614}" srcId="{65C19C58-31BA-49AC-8B8F-ECE045733DBA}" destId="{BC7CCC39-99B3-4077-92E4-B4C54FFE7DBF}" srcOrd="0" destOrd="0" parTransId="{507E72B2-D876-417F-B8FE-ADFAD0B758D0}" sibTransId="{4592CE00-5DF3-4ED2-9FD3-D2000E67DBA7}"/>
    <dgm:cxn modelId="{126ECFB2-1787-4246-90BE-1A8DA227A79F}" type="presOf" srcId="{16EA0510-5088-44C5-B017-1C99132E19EF}" destId="{4D0764FE-A32F-4969-8A80-EC1C58EFDB9C}" srcOrd="0" destOrd="0" presId="urn:microsoft.com/office/officeart/2008/layout/CaptionedPictures"/>
    <dgm:cxn modelId="{6A4EA0D8-0506-44AA-AD6D-29812F9ECAE9}" type="presOf" srcId="{8050DAC1-72D7-4A2E-9179-1D67416B9325}" destId="{30369D29-5851-4F5A-89A8-A1FEF75330DD}" srcOrd="0" destOrd="1" presId="urn:microsoft.com/office/officeart/2008/layout/CaptionedPictures"/>
    <dgm:cxn modelId="{999951DC-1887-4D60-81FC-5DC22AA4D67D}" type="presOf" srcId="{E2B0BA4C-3342-42F5-ADB3-C2A2329BE835}" destId="{0CA4B0F1-8C27-4F9D-A3DD-07465492F2D6}" srcOrd="0" destOrd="0" presId="urn:microsoft.com/office/officeart/2008/layout/CaptionedPictures"/>
    <dgm:cxn modelId="{356105F6-F658-41C2-8750-111C4245F215}" type="presOf" srcId="{8FCE1C56-5EA3-4C18-9549-A9D08E09023E}" destId="{7482A5E8-BC8F-4AEE-9D6D-EC66E1A46D4C}" srcOrd="0" destOrd="1" presId="urn:microsoft.com/office/officeart/2008/layout/CaptionedPictures"/>
    <dgm:cxn modelId="{9A33EFF8-4BB2-4E66-92B7-8C0D8B454901}" srcId="{BC7CCC39-99B3-4077-92E4-B4C54FFE7DBF}" destId="{607D5BF2-DFEC-4B74-8D38-C28442FAFFF5}" srcOrd="0" destOrd="0" parTransId="{6BD3EEC5-6560-466C-83D8-B26481A66F53}" sibTransId="{F833CBFA-4F00-4356-96C5-4FDBAB56AF74}"/>
    <dgm:cxn modelId="{16CB960D-A4D8-4005-8DC1-3A4BAA018C02}" type="presParOf" srcId="{7A04C77A-5726-4FED-9967-83B038E7E84B}" destId="{1C570E93-47A0-436A-9418-B76F5CDDD29F}" srcOrd="0" destOrd="0" presId="urn:microsoft.com/office/officeart/2008/layout/CaptionedPictures"/>
    <dgm:cxn modelId="{2B1B0ABE-FDCC-475E-B9F3-BEE1940102D8}" type="presParOf" srcId="{1C570E93-47A0-436A-9418-B76F5CDDD29F}" destId="{CE7BAC15-DC59-4FF0-A35E-63B19A7584AF}" srcOrd="0" destOrd="0" presId="urn:microsoft.com/office/officeart/2008/layout/CaptionedPictures"/>
    <dgm:cxn modelId="{C7C19DAB-DAF8-4B97-9766-5E3922179C93}" type="presParOf" srcId="{1C570E93-47A0-436A-9418-B76F5CDDD29F}" destId="{2DF05040-81DA-48BC-9673-8AF4C20552F0}" srcOrd="1" destOrd="0" presId="urn:microsoft.com/office/officeart/2008/layout/CaptionedPictures"/>
    <dgm:cxn modelId="{B1939ABF-7B4F-48A2-A31E-5ACEDEAE0DE3}" type="presParOf" srcId="{1C570E93-47A0-436A-9418-B76F5CDDD29F}" destId="{3CCE2650-1700-4130-B8E0-C7411250E7B3}" srcOrd="2" destOrd="0" presId="urn:microsoft.com/office/officeart/2008/layout/CaptionedPictures"/>
    <dgm:cxn modelId="{CDE29AEA-58AE-4CD0-BEFB-B1DE7DE65B2F}" type="presParOf" srcId="{3CCE2650-1700-4130-B8E0-C7411250E7B3}" destId="{30369D29-5851-4F5A-89A8-A1FEF75330DD}" srcOrd="0" destOrd="0" presId="urn:microsoft.com/office/officeart/2008/layout/CaptionedPictures"/>
    <dgm:cxn modelId="{76C23F34-D7B5-42D7-87DE-C7808CB231CF}" type="presParOf" srcId="{3CCE2650-1700-4130-B8E0-C7411250E7B3}" destId="{E136DF8C-D1DB-4C48-9240-BD42223BD201}" srcOrd="1" destOrd="0" presId="urn:microsoft.com/office/officeart/2008/layout/CaptionedPictures"/>
    <dgm:cxn modelId="{224D7039-22FE-4AEE-B1D5-ADC02EDE4A52}" type="presParOf" srcId="{7A04C77A-5726-4FED-9967-83B038E7E84B}" destId="{ED046396-4612-4499-963C-C3C762166ECB}" srcOrd="1" destOrd="0" presId="urn:microsoft.com/office/officeart/2008/layout/CaptionedPictures"/>
    <dgm:cxn modelId="{1A1F3734-7D78-4EB4-B1BD-920A746497AF}" type="presParOf" srcId="{7A04C77A-5726-4FED-9967-83B038E7E84B}" destId="{E6BE8F6E-EA3A-4EE8-959B-6DBA66C138FA}" srcOrd="2" destOrd="0" presId="urn:microsoft.com/office/officeart/2008/layout/CaptionedPictures"/>
    <dgm:cxn modelId="{D36382DD-EF98-4A97-BF80-710F6A5C3982}" type="presParOf" srcId="{E6BE8F6E-EA3A-4EE8-959B-6DBA66C138FA}" destId="{BE5F1572-A447-4997-B7C1-2B8E87C28E09}" srcOrd="0" destOrd="0" presId="urn:microsoft.com/office/officeart/2008/layout/CaptionedPictures"/>
    <dgm:cxn modelId="{5F24D523-6486-42CF-B4B9-E0D0FC08FF59}" type="presParOf" srcId="{E6BE8F6E-EA3A-4EE8-959B-6DBA66C138FA}" destId="{0B8A85D8-4111-4B5E-94D3-3398FD061187}" srcOrd="1" destOrd="0" presId="urn:microsoft.com/office/officeart/2008/layout/CaptionedPictures"/>
    <dgm:cxn modelId="{DFC75D37-6574-4F12-BB4C-E70F10750CC1}" type="presParOf" srcId="{E6BE8F6E-EA3A-4EE8-959B-6DBA66C138FA}" destId="{CAA051D4-2E60-48F4-86C2-BD43857BEC5E}" srcOrd="2" destOrd="0" presId="urn:microsoft.com/office/officeart/2008/layout/CaptionedPictures"/>
    <dgm:cxn modelId="{82D54F56-032A-4000-9E19-FDCE82738E1B}" type="presParOf" srcId="{CAA051D4-2E60-48F4-86C2-BD43857BEC5E}" destId="{4D0764FE-A32F-4969-8A80-EC1C58EFDB9C}" srcOrd="0" destOrd="0" presId="urn:microsoft.com/office/officeart/2008/layout/CaptionedPictures"/>
    <dgm:cxn modelId="{6CD8EE34-4B6F-4D9E-846F-571AA92751AA}" type="presParOf" srcId="{CAA051D4-2E60-48F4-86C2-BD43857BEC5E}" destId="{01877ED6-BA92-43FC-A70B-E91E700CFB37}" srcOrd="1" destOrd="0" presId="urn:microsoft.com/office/officeart/2008/layout/CaptionedPictures"/>
    <dgm:cxn modelId="{CDF4EC68-77BE-4921-9DF3-9D5BE2A2B5B8}" type="presParOf" srcId="{7A04C77A-5726-4FED-9967-83B038E7E84B}" destId="{01C955DA-55D9-47F3-A11A-72386F7FF6E7}" srcOrd="3" destOrd="0" presId="urn:microsoft.com/office/officeart/2008/layout/CaptionedPictures"/>
    <dgm:cxn modelId="{3EF52AA0-2313-4A96-86B8-C000F61875A5}" type="presParOf" srcId="{7A04C77A-5726-4FED-9967-83B038E7E84B}" destId="{E67F7DF9-CAEF-499A-BFB1-F5C67C667EB2}" srcOrd="4" destOrd="0" presId="urn:microsoft.com/office/officeart/2008/layout/CaptionedPictures"/>
    <dgm:cxn modelId="{384FF91D-29B4-4CF7-B82C-797B32FD700B}" type="presParOf" srcId="{E67F7DF9-CAEF-499A-BFB1-F5C67C667EB2}" destId="{8CCC9092-02C7-4EFA-BE32-E14222A62392}" srcOrd="0" destOrd="0" presId="urn:microsoft.com/office/officeart/2008/layout/CaptionedPictures"/>
    <dgm:cxn modelId="{D9C5084A-B4AF-4331-99AA-60A6CD2E499A}" type="presParOf" srcId="{E67F7DF9-CAEF-499A-BFB1-F5C67C667EB2}" destId="{92ED66F0-881F-41E1-96A9-763D5D5A48B5}" srcOrd="1" destOrd="0" presId="urn:microsoft.com/office/officeart/2008/layout/CaptionedPictures"/>
    <dgm:cxn modelId="{1F78CBD9-F985-47F1-BA93-D6CB8F069705}" type="presParOf" srcId="{E67F7DF9-CAEF-499A-BFB1-F5C67C667EB2}" destId="{994F22B7-E841-489F-B4A6-5FFD1CE00462}" srcOrd="2" destOrd="0" presId="urn:microsoft.com/office/officeart/2008/layout/CaptionedPictures"/>
    <dgm:cxn modelId="{F2ACC5BB-318D-4F7F-B7D7-DE8FF6984695}" type="presParOf" srcId="{994F22B7-E841-489F-B4A6-5FFD1CE00462}" destId="{7482A5E8-BC8F-4AEE-9D6D-EC66E1A46D4C}" srcOrd="0" destOrd="0" presId="urn:microsoft.com/office/officeart/2008/layout/CaptionedPictures"/>
    <dgm:cxn modelId="{404580F7-0512-4B44-9832-51EAC5DB662E}" type="presParOf" srcId="{994F22B7-E841-489F-B4A6-5FFD1CE00462}" destId="{0CA4B0F1-8C27-4F9D-A3DD-07465492F2D6}" srcOrd="1" destOrd="0" presId="urn:microsoft.com/office/officeart/2008/layout/CaptionedPicture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5C19C58-31BA-49AC-8B8F-ECE045733DBA}" type="doc">
      <dgm:prSet loTypeId="urn:microsoft.com/office/officeart/2008/layout/CaptionedPictures" loCatId="picture" qsTypeId="urn:microsoft.com/office/officeart/2005/8/quickstyle/simple4" qsCatId="simple" csTypeId="urn:microsoft.com/office/officeart/2005/8/colors/accent1_2" csCatId="accent1" phldr="1"/>
      <dgm:spPr/>
      <dgm:t>
        <a:bodyPr/>
        <a:lstStyle/>
        <a:p>
          <a:endParaRPr lang="en-NL"/>
        </a:p>
      </dgm:t>
    </dgm:pt>
    <dgm:pt modelId="{BC7CCC39-99B3-4077-92E4-B4C54FFE7DBF}">
      <dgm:prSet phldrT="[Text]"/>
      <dgm:spPr/>
      <dgm:t>
        <a:bodyPr/>
        <a:lstStyle/>
        <a:p>
          <a:r>
            <a:rPr lang="en-US" b="1"/>
            <a:t>Patient-001</a:t>
          </a:r>
          <a:endParaRPr lang="en-NL" b="1" dirty="0"/>
        </a:p>
      </dgm:t>
    </dgm:pt>
    <dgm:pt modelId="{507E72B2-D876-417F-B8FE-ADFAD0B758D0}" type="parTrans" cxnId="{D44F90AE-BAC4-4C9B-8C14-F60C12CF9614}">
      <dgm:prSet/>
      <dgm:spPr/>
      <dgm:t>
        <a:bodyPr/>
        <a:lstStyle/>
        <a:p>
          <a:endParaRPr lang="en-NL"/>
        </a:p>
      </dgm:t>
    </dgm:pt>
    <dgm:pt modelId="{4592CE00-5DF3-4ED2-9FD3-D2000E67DBA7}" type="sibTrans" cxnId="{D44F90AE-BAC4-4C9B-8C14-F60C12CF9614}">
      <dgm:prSet/>
      <dgm:spPr/>
      <dgm:t>
        <a:bodyPr/>
        <a:lstStyle/>
        <a:p>
          <a:endParaRPr lang="en-NL"/>
        </a:p>
      </dgm:t>
    </dgm:pt>
    <dgm:pt modelId="{FA7EC4AF-46C8-4BE1-8537-1ACA04C5263D}">
      <dgm:prSet phldrT="[Text]" phldr="0"/>
      <dgm:spPr/>
      <dgm:t>
        <a:bodyPr/>
        <a:lstStyle/>
        <a:p>
          <a:r>
            <a:rPr lang="en-US" dirty="0"/>
            <a:t>(Biological) Sex: Male</a:t>
          </a:r>
          <a:endParaRPr lang="en-NL" dirty="0"/>
        </a:p>
      </dgm:t>
    </dgm:pt>
    <dgm:pt modelId="{FA45D412-47C4-49CF-ADAC-82FE5E508F49}" type="parTrans" cxnId="{7337AB65-5C64-404F-87C5-7ABD7F850C1B}">
      <dgm:prSet/>
      <dgm:spPr/>
      <dgm:t>
        <a:bodyPr/>
        <a:lstStyle/>
        <a:p>
          <a:endParaRPr lang="en-NL"/>
        </a:p>
      </dgm:t>
    </dgm:pt>
    <dgm:pt modelId="{C7029CE2-A685-4B34-9786-823106BD866D}" type="sibTrans" cxnId="{7337AB65-5C64-404F-87C5-7ABD7F850C1B}">
      <dgm:prSet/>
      <dgm:spPr/>
      <dgm:t>
        <a:bodyPr/>
        <a:lstStyle/>
        <a:p>
          <a:endParaRPr lang="en-NL"/>
        </a:p>
      </dgm:t>
    </dgm:pt>
    <dgm:pt modelId="{55781AC0-6676-4F7C-BD64-3272B2393068}">
      <dgm:prSet phldrT="[Text]" phldr="0"/>
      <dgm:spPr/>
      <dgm:t>
        <a:bodyPr/>
        <a:lstStyle/>
        <a:p>
          <a:r>
            <a:rPr lang="en-US" dirty="0"/>
            <a:t>(Social) Gender: Male</a:t>
          </a:r>
          <a:endParaRPr lang="en-NL" dirty="0"/>
        </a:p>
      </dgm:t>
    </dgm:pt>
    <dgm:pt modelId="{DCFC7ED7-FDDE-475F-822B-F36E029F4654}" type="parTrans" cxnId="{F1D06D41-97EB-4C19-823E-31C06AC60AB0}">
      <dgm:prSet/>
      <dgm:spPr/>
      <dgm:t>
        <a:bodyPr/>
        <a:lstStyle/>
        <a:p>
          <a:endParaRPr lang="en-NL"/>
        </a:p>
      </dgm:t>
    </dgm:pt>
    <dgm:pt modelId="{1DB78806-2B6B-4C5D-BED9-C626A2BA1DFA}" type="sibTrans" cxnId="{F1D06D41-97EB-4C19-823E-31C06AC60AB0}">
      <dgm:prSet/>
      <dgm:spPr/>
      <dgm:t>
        <a:bodyPr/>
        <a:lstStyle/>
        <a:p>
          <a:endParaRPr lang="en-NL"/>
        </a:p>
      </dgm:t>
    </dgm:pt>
    <dgm:pt modelId="{9563DFE9-F088-4432-850E-07466291F6DA}">
      <dgm:prSet phldrT="[Text]"/>
      <dgm:spPr/>
      <dgm:t>
        <a:bodyPr/>
        <a:lstStyle/>
        <a:p>
          <a:r>
            <a:rPr lang="en-US" b="1"/>
            <a:t>Patient-002</a:t>
          </a:r>
          <a:endParaRPr lang="en-NL" b="1" dirty="0"/>
        </a:p>
      </dgm:t>
    </dgm:pt>
    <dgm:pt modelId="{A4F582B3-123E-46F5-895E-F9FCAD0F40F1}" type="parTrans" cxnId="{E0D44A7E-646F-4E14-A243-E1145AFEF11A}">
      <dgm:prSet/>
      <dgm:spPr/>
      <dgm:t>
        <a:bodyPr/>
        <a:lstStyle/>
        <a:p>
          <a:endParaRPr lang="en-NL"/>
        </a:p>
      </dgm:t>
    </dgm:pt>
    <dgm:pt modelId="{871D2E08-8986-4D57-B01F-126B48465A2C}" type="sibTrans" cxnId="{E0D44A7E-646F-4E14-A243-E1145AFEF11A}">
      <dgm:prSet/>
      <dgm:spPr/>
      <dgm:t>
        <a:bodyPr/>
        <a:lstStyle/>
        <a:p>
          <a:endParaRPr lang="en-NL"/>
        </a:p>
      </dgm:t>
    </dgm:pt>
    <dgm:pt modelId="{AD2A4B16-0175-4147-A788-F0A18EADEA9A}">
      <dgm:prSet phldrT="[Text]" phldr="0"/>
      <dgm:spPr/>
      <dgm:t>
        <a:bodyPr/>
        <a:lstStyle/>
        <a:p>
          <a:r>
            <a:rPr lang="en-US" dirty="0"/>
            <a:t>(Biological) Sex: Male</a:t>
          </a:r>
          <a:endParaRPr lang="en-NL" dirty="0"/>
        </a:p>
      </dgm:t>
    </dgm:pt>
    <dgm:pt modelId="{1F01AB3D-1F6F-4912-87FB-8161D5B2B410}" type="parTrans" cxnId="{1247259E-8ED4-4EE1-86A3-E70DEAEE409E}">
      <dgm:prSet/>
      <dgm:spPr/>
      <dgm:t>
        <a:bodyPr/>
        <a:lstStyle/>
        <a:p>
          <a:endParaRPr lang="en-NL"/>
        </a:p>
      </dgm:t>
    </dgm:pt>
    <dgm:pt modelId="{91AE664E-193F-437A-92C7-656280A54C35}" type="sibTrans" cxnId="{1247259E-8ED4-4EE1-86A3-E70DEAEE409E}">
      <dgm:prSet/>
      <dgm:spPr/>
      <dgm:t>
        <a:bodyPr/>
        <a:lstStyle/>
        <a:p>
          <a:endParaRPr lang="en-NL"/>
        </a:p>
      </dgm:t>
    </dgm:pt>
    <dgm:pt modelId="{70019997-2DF2-4378-AEAC-7DF956BA6967}">
      <dgm:prSet phldrT="[Text]" phldr="0"/>
      <dgm:spPr/>
      <dgm:t>
        <a:bodyPr/>
        <a:lstStyle/>
        <a:p>
          <a:r>
            <a:rPr lang="en-US" dirty="0"/>
            <a:t>(Social) Gender: Female (Trans)</a:t>
          </a:r>
          <a:endParaRPr lang="en-NL" dirty="0"/>
        </a:p>
      </dgm:t>
    </dgm:pt>
    <dgm:pt modelId="{D981B3A1-1AA2-42D1-9060-3504AE3A3AFD}" type="parTrans" cxnId="{ED7F59F6-6AD2-49D9-B39A-0D4A0EC8354B}">
      <dgm:prSet/>
      <dgm:spPr/>
      <dgm:t>
        <a:bodyPr/>
        <a:lstStyle/>
        <a:p>
          <a:endParaRPr lang="en-NL"/>
        </a:p>
      </dgm:t>
    </dgm:pt>
    <dgm:pt modelId="{DF84FE96-80FE-402E-AC96-26B206CA1680}" type="sibTrans" cxnId="{ED7F59F6-6AD2-49D9-B39A-0D4A0EC8354B}">
      <dgm:prSet/>
      <dgm:spPr/>
      <dgm:t>
        <a:bodyPr/>
        <a:lstStyle/>
        <a:p>
          <a:endParaRPr lang="en-NL"/>
        </a:p>
      </dgm:t>
    </dgm:pt>
    <dgm:pt modelId="{4CCCA2C8-4B00-405C-AE3A-9A7B13487CE2}">
      <dgm:prSet phldrT="[Text]"/>
      <dgm:spPr/>
      <dgm:t>
        <a:bodyPr/>
        <a:lstStyle/>
        <a:p>
          <a:r>
            <a:rPr lang="en-US" b="1"/>
            <a:t>Patient-003</a:t>
          </a:r>
          <a:endParaRPr lang="en-NL" b="1" dirty="0"/>
        </a:p>
      </dgm:t>
    </dgm:pt>
    <dgm:pt modelId="{90CA1F91-3CD4-45AE-9F5A-64FFC910A55A}" type="parTrans" cxnId="{3B18214B-0959-44D1-9513-918E5DB930C7}">
      <dgm:prSet/>
      <dgm:spPr/>
      <dgm:t>
        <a:bodyPr/>
        <a:lstStyle/>
        <a:p>
          <a:endParaRPr lang="en-NL"/>
        </a:p>
      </dgm:t>
    </dgm:pt>
    <dgm:pt modelId="{B8A835DF-CD9B-4060-8938-C437663AA840}" type="sibTrans" cxnId="{3B18214B-0959-44D1-9513-918E5DB930C7}">
      <dgm:prSet/>
      <dgm:spPr/>
      <dgm:t>
        <a:bodyPr/>
        <a:lstStyle/>
        <a:p>
          <a:endParaRPr lang="en-NL"/>
        </a:p>
      </dgm:t>
    </dgm:pt>
    <dgm:pt modelId="{810BC362-90F6-4B23-9D68-CBE1434F2906}">
      <dgm:prSet phldrT="[Text]" phldr="0"/>
      <dgm:spPr/>
      <dgm:t>
        <a:bodyPr/>
        <a:lstStyle/>
        <a:p>
          <a:r>
            <a:rPr lang="en-US" dirty="0"/>
            <a:t>(Biological) Sex: Female</a:t>
          </a:r>
          <a:endParaRPr lang="en-NL" dirty="0"/>
        </a:p>
      </dgm:t>
    </dgm:pt>
    <dgm:pt modelId="{211542DF-C281-4448-B338-74F34AA76124}" type="parTrans" cxnId="{BBE654BF-6D39-4768-B80B-1FA6FBCE85D2}">
      <dgm:prSet/>
      <dgm:spPr/>
      <dgm:t>
        <a:bodyPr/>
        <a:lstStyle/>
        <a:p>
          <a:endParaRPr lang="en-NL"/>
        </a:p>
      </dgm:t>
    </dgm:pt>
    <dgm:pt modelId="{B3545EE0-C887-4A1D-BC63-DA83C15D640A}" type="sibTrans" cxnId="{BBE654BF-6D39-4768-B80B-1FA6FBCE85D2}">
      <dgm:prSet/>
      <dgm:spPr/>
      <dgm:t>
        <a:bodyPr/>
        <a:lstStyle/>
        <a:p>
          <a:endParaRPr lang="en-NL"/>
        </a:p>
      </dgm:t>
    </dgm:pt>
    <dgm:pt modelId="{0F6B5DE3-AB7F-47FB-96BD-B205D6288E8C}">
      <dgm:prSet phldrT="[Text]" phldr="0"/>
      <dgm:spPr/>
      <dgm:t>
        <a:bodyPr/>
        <a:lstStyle/>
        <a:p>
          <a:r>
            <a:rPr lang="en-US" dirty="0"/>
            <a:t>(Social) Gender: Non-binary</a:t>
          </a:r>
          <a:endParaRPr lang="en-NL" dirty="0"/>
        </a:p>
      </dgm:t>
    </dgm:pt>
    <dgm:pt modelId="{4F46B828-8C54-4BDC-88FD-895785129323}" type="parTrans" cxnId="{CC34117D-9E63-47F0-9635-AB5AAD1EE1CC}">
      <dgm:prSet/>
      <dgm:spPr/>
      <dgm:t>
        <a:bodyPr/>
        <a:lstStyle/>
        <a:p>
          <a:endParaRPr lang="en-NL"/>
        </a:p>
      </dgm:t>
    </dgm:pt>
    <dgm:pt modelId="{9E7C8ED5-8C37-42DB-9AF8-2609FADDCCA7}" type="sibTrans" cxnId="{CC34117D-9E63-47F0-9635-AB5AAD1EE1CC}">
      <dgm:prSet/>
      <dgm:spPr/>
      <dgm:t>
        <a:bodyPr/>
        <a:lstStyle/>
        <a:p>
          <a:endParaRPr lang="en-NL"/>
        </a:p>
      </dgm:t>
    </dgm:pt>
    <dgm:pt modelId="{7A04C77A-5726-4FED-9967-83B038E7E84B}" type="pres">
      <dgm:prSet presAssocID="{65C19C58-31BA-49AC-8B8F-ECE045733DBA}" presName="Name0" presStyleCnt="0">
        <dgm:presLayoutVars>
          <dgm:chMax/>
          <dgm:chPref/>
          <dgm:dir/>
        </dgm:presLayoutVars>
      </dgm:prSet>
      <dgm:spPr/>
    </dgm:pt>
    <dgm:pt modelId="{1C570E93-47A0-436A-9418-B76F5CDDD29F}" type="pres">
      <dgm:prSet presAssocID="{BC7CCC39-99B3-4077-92E4-B4C54FFE7DBF}" presName="composite" presStyleCnt="0">
        <dgm:presLayoutVars>
          <dgm:chMax val="1"/>
          <dgm:chPref val="1"/>
        </dgm:presLayoutVars>
      </dgm:prSet>
      <dgm:spPr/>
    </dgm:pt>
    <dgm:pt modelId="{CE7BAC15-DC59-4FF0-A35E-63B19A7584AF}" type="pres">
      <dgm:prSet presAssocID="{BC7CCC39-99B3-4077-92E4-B4C54FFE7DBF}" presName="Accent" presStyleLbl="trAlignAcc1" presStyleIdx="0" presStyleCnt="3">
        <dgm:presLayoutVars>
          <dgm:chMax val="0"/>
          <dgm:chPref val="0"/>
        </dgm:presLayoutVars>
      </dgm:prSet>
      <dgm:spPr/>
    </dgm:pt>
    <dgm:pt modelId="{2DF05040-81DA-48BC-9673-8AF4C20552F0}" type="pres">
      <dgm:prSet presAssocID="{BC7CCC39-99B3-4077-92E4-B4C54FFE7DBF}" presName="Image" presStyleLbl="alignImgPlace1" presStyleIdx="0" presStyleCnt="3">
        <dgm:presLayoutVars>
          <dgm:chMax val="0"/>
          <dgm:chPref val="0"/>
        </dgm:presLayoutVars>
      </dgm:prSet>
      <dgm:spPr>
        <a:blipFill>
          <a:blip xmlns:r="http://schemas.openxmlformats.org/officeDocument/2006/relationships" r:embed="rId1"/>
          <a:srcRect/>
          <a:stretch>
            <a:fillRect t="-9000" b="-9000"/>
          </a:stretch>
        </a:blipFill>
        <a:ln>
          <a:solidFill>
            <a:schemeClr val="bg2">
              <a:lumMod val="90000"/>
            </a:schemeClr>
          </a:solidFill>
        </a:ln>
      </dgm:spPr>
    </dgm:pt>
    <dgm:pt modelId="{3CCE2650-1700-4130-B8E0-C7411250E7B3}" type="pres">
      <dgm:prSet presAssocID="{BC7CCC39-99B3-4077-92E4-B4C54FFE7DBF}" presName="ChildComposite" presStyleCnt="0"/>
      <dgm:spPr/>
    </dgm:pt>
    <dgm:pt modelId="{30369D29-5851-4F5A-89A8-A1FEF75330DD}" type="pres">
      <dgm:prSet presAssocID="{BC7CCC39-99B3-4077-92E4-B4C54FFE7DBF}" presName="Child" presStyleLbl="node1" presStyleIdx="0" presStyleCnt="3">
        <dgm:presLayoutVars>
          <dgm:chMax val="0"/>
          <dgm:chPref val="0"/>
          <dgm:bulletEnabled val="1"/>
        </dgm:presLayoutVars>
      </dgm:prSet>
      <dgm:spPr/>
    </dgm:pt>
    <dgm:pt modelId="{E136DF8C-D1DB-4C48-9240-BD42223BD201}" type="pres">
      <dgm:prSet presAssocID="{BC7CCC39-99B3-4077-92E4-B4C54FFE7DBF}" presName="Parent" presStyleLbl="revTx" presStyleIdx="0" presStyleCnt="3">
        <dgm:presLayoutVars>
          <dgm:chMax val="1"/>
          <dgm:chPref val="0"/>
          <dgm:bulletEnabled val="1"/>
        </dgm:presLayoutVars>
      </dgm:prSet>
      <dgm:spPr/>
    </dgm:pt>
    <dgm:pt modelId="{ED046396-4612-4499-963C-C3C762166ECB}" type="pres">
      <dgm:prSet presAssocID="{4592CE00-5DF3-4ED2-9FD3-D2000E67DBA7}" presName="sibTrans" presStyleCnt="0"/>
      <dgm:spPr/>
    </dgm:pt>
    <dgm:pt modelId="{802F8DB2-4F21-4CAA-B8DC-9A157C93305E}" type="pres">
      <dgm:prSet presAssocID="{9563DFE9-F088-4432-850E-07466291F6DA}" presName="composite" presStyleCnt="0">
        <dgm:presLayoutVars>
          <dgm:chMax val="1"/>
          <dgm:chPref val="1"/>
        </dgm:presLayoutVars>
      </dgm:prSet>
      <dgm:spPr/>
    </dgm:pt>
    <dgm:pt modelId="{61729CCB-9515-4519-A792-EAB84117191A}" type="pres">
      <dgm:prSet presAssocID="{9563DFE9-F088-4432-850E-07466291F6DA}" presName="Accent" presStyleLbl="trAlignAcc1" presStyleIdx="1" presStyleCnt="3">
        <dgm:presLayoutVars>
          <dgm:chMax val="0"/>
          <dgm:chPref val="0"/>
        </dgm:presLayoutVars>
      </dgm:prSet>
      <dgm:spPr/>
    </dgm:pt>
    <dgm:pt modelId="{02D1F558-C992-4F85-8E17-FBA9661CA627}" type="pres">
      <dgm:prSet presAssocID="{9563DFE9-F088-4432-850E-07466291F6DA}" presName="Image" presStyleLbl="alignImgPlace1" presStyleIdx="1" presStyleCnt="3">
        <dgm:presLayoutVars>
          <dgm:chMax val="0"/>
          <dgm:chPref val="0"/>
        </dgm:presLayoutVars>
      </dgm:prSet>
      <dgm:spPr>
        <a:blipFill>
          <a:blip xmlns:r="http://schemas.openxmlformats.org/officeDocument/2006/relationships" r:embed="rId2"/>
          <a:srcRect/>
          <a:stretch>
            <a:fillRect t="-9000" b="-9000"/>
          </a:stretch>
        </a:blipFill>
      </dgm:spPr>
    </dgm:pt>
    <dgm:pt modelId="{12ADBEE4-D217-4D9A-BA9F-DE39C0D44F6C}" type="pres">
      <dgm:prSet presAssocID="{9563DFE9-F088-4432-850E-07466291F6DA}" presName="ChildComposite" presStyleCnt="0"/>
      <dgm:spPr/>
    </dgm:pt>
    <dgm:pt modelId="{AD77C35C-7E47-4D30-BBF2-0106E6B5AD1D}" type="pres">
      <dgm:prSet presAssocID="{9563DFE9-F088-4432-850E-07466291F6DA}" presName="Child" presStyleLbl="node1" presStyleIdx="1" presStyleCnt="3">
        <dgm:presLayoutVars>
          <dgm:chMax val="0"/>
          <dgm:chPref val="0"/>
          <dgm:bulletEnabled val="1"/>
        </dgm:presLayoutVars>
      </dgm:prSet>
      <dgm:spPr/>
    </dgm:pt>
    <dgm:pt modelId="{F24A334F-23E1-4C7A-8933-4FBF6E1B0CB8}" type="pres">
      <dgm:prSet presAssocID="{9563DFE9-F088-4432-850E-07466291F6DA}" presName="Parent" presStyleLbl="revTx" presStyleIdx="1" presStyleCnt="3">
        <dgm:presLayoutVars>
          <dgm:chMax val="1"/>
          <dgm:chPref val="0"/>
          <dgm:bulletEnabled val="1"/>
        </dgm:presLayoutVars>
      </dgm:prSet>
      <dgm:spPr/>
    </dgm:pt>
    <dgm:pt modelId="{F28AD8FC-5D72-488A-8E8A-61F51D472B3D}" type="pres">
      <dgm:prSet presAssocID="{871D2E08-8986-4D57-B01F-126B48465A2C}" presName="sibTrans" presStyleCnt="0"/>
      <dgm:spPr/>
    </dgm:pt>
    <dgm:pt modelId="{E01F287E-0DC9-4D20-8275-A4A699A6176F}" type="pres">
      <dgm:prSet presAssocID="{4CCCA2C8-4B00-405C-AE3A-9A7B13487CE2}" presName="composite" presStyleCnt="0">
        <dgm:presLayoutVars>
          <dgm:chMax val="1"/>
          <dgm:chPref val="1"/>
        </dgm:presLayoutVars>
      </dgm:prSet>
      <dgm:spPr/>
    </dgm:pt>
    <dgm:pt modelId="{FF040796-1AD1-4ADB-A3EC-614B71D12AC6}" type="pres">
      <dgm:prSet presAssocID="{4CCCA2C8-4B00-405C-AE3A-9A7B13487CE2}" presName="Accent" presStyleLbl="trAlignAcc1" presStyleIdx="2" presStyleCnt="3">
        <dgm:presLayoutVars>
          <dgm:chMax val="0"/>
          <dgm:chPref val="0"/>
        </dgm:presLayoutVars>
      </dgm:prSet>
      <dgm:spPr/>
    </dgm:pt>
    <dgm:pt modelId="{597087CC-C98D-4D61-B068-DE41E196529F}" type="pres">
      <dgm:prSet presAssocID="{4CCCA2C8-4B00-405C-AE3A-9A7B13487CE2}" presName="Image" presStyleLbl="alignImgPlace1" presStyleIdx="2" presStyleCnt="3">
        <dgm:presLayoutVars>
          <dgm:chMax val="0"/>
          <dgm:chPref val="0"/>
        </dgm:presLayoutVars>
      </dgm:prSet>
      <dgm:spPr>
        <a:blipFill>
          <a:blip xmlns:r="http://schemas.openxmlformats.org/officeDocument/2006/relationships" r:embed="rId3"/>
          <a:srcRect/>
          <a:stretch>
            <a:fillRect t="-9000" b="-9000"/>
          </a:stretch>
        </a:blipFill>
      </dgm:spPr>
    </dgm:pt>
    <dgm:pt modelId="{037029AE-80F5-43E6-AB51-B3CC696D1547}" type="pres">
      <dgm:prSet presAssocID="{4CCCA2C8-4B00-405C-AE3A-9A7B13487CE2}" presName="ChildComposite" presStyleCnt="0"/>
      <dgm:spPr/>
    </dgm:pt>
    <dgm:pt modelId="{3BCE3F62-C0A5-44ED-BEC3-89835E81E17A}" type="pres">
      <dgm:prSet presAssocID="{4CCCA2C8-4B00-405C-AE3A-9A7B13487CE2}" presName="Child" presStyleLbl="node1" presStyleIdx="2" presStyleCnt="3">
        <dgm:presLayoutVars>
          <dgm:chMax val="0"/>
          <dgm:chPref val="0"/>
          <dgm:bulletEnabled val="1"/>
        </dgm:presLayoutVars>
      </dgm:prSet>
      <dgm:spPr/>
    </dgm:pt>
    <dgm:pt modelId="{EDB797C2-3FDD-41D1-A3F1-116D37397FAB}" type="pres">
      <dgm:prSet presAssocID="{4CCCA2C8-4B00-405C-AE3A-9A7B13487CE2}" presName="Parent" presStyleLbl="revTx" presStyleIdx="2" presStyleCnt="3">
        <dgm:presLayoutVars>
          <dgm:chMax val="1"/>
          <dgm:chPref val="0"/>
          <dgm:bulletEnabled val="1"/>
        </dgm:presLayoutVars>
      </dgm:prSet>
      <dgm:spPr/>
    </dgm:pt>
  </dgm:ptLst>
  <dgm:cxnLst>
    <dgm:cxn modelId="{544A1C35-124D-4F1E-8C66-A5B90BA5CEBD}" type="presOf" srcId="{AD2A4B16-0175-4147-A788-F0A18EADEA9A}" destId="{AD77C35C-7E47-4D30-BBF2-0106E6B5AD1D}" srcOrd="0" destOrd="0" presId="urn:microsoft.com/office/officeart/2008/layout/CaptionedPictures"/>
    <dgm:cxn modelId="{F9E0E25F-84FE-4360-ACF8-49035AB6CFBE}" type="presOf" srcId="{70019997-2DF2-4378-AEAC-7DF956BA6967}" destId="{AD77C35C-7E47-4D30-BBF2-0106E6B5AD1D}" srcOrd="0" destOrd="1" presId="urn:microsoft.com/office/officeart/2008/layout/CaptionedPictures"/>
    <dgm:cxn modelId="{F1D06D41-97EB-4C19-823E-31C06AC60AB0}" srcId="{BC7CCC39-99B3-4077-92E4-B4C54FFE7DBF}" destId="{55781AC0-6676-4F7C-BD64-3272B2393068}" srcOrd="1" destOrd="0" parTransId="{DCFC7ED7-FDDE-475F-822B-F36E029F4654}" sibTransId="{1DB78806-2B6B-4C5D-BED9-C626A2BA1DFA}"/>
    <dgm:cxn modelId="{1017D063-AD15-4E25-B520-0DF942F2B106}" type="presOf" srcId="{BC7CCC39-99B3-4077-92E4-B4C54FFE7DBF}" destId="{E136DF8C-D1DB-4C48-9240-BD42223BD201}" srcOrd="0" destOrd="0" presId="urn:microsoft.com/office/officeart/2008/layout/CaptionedPictures"/>
    <dgm:cxn modelId="{7337AB65-5C64-404F-87C5-7ABD7F850C1B}" srcId="{BC7CCC39-99B3-4077-92E4-B4C54FFE7DBF}" destId="{FA7EC4AF-46C8-4BE1-8537-1ACA04C5263D}" srcOrd="0" destOrd="0" parTransId="{FA45D412-47C4-49CF-ADAC-82FE5E508F49}" sibTransId="{C7029CE2-A685-4B34-9786-823106BD866D}"/>
    <dgm:cxn modelId="{3B18214B-0959-44D1-9513-918E5DB930C7}" srcId="{65C19C58-31BA-49AC-8B8F-ECE045733DBA}" destId="{4CCCA2C8-4B00-405C-AE3A-9A7B13487CE2}" srcOrd="2" destOrd="0" parTransId="{90CA1F91-3CD4-45AE-9F5A-64FFC910A55A}" sibTransId="{B8A835DF-CD9B-4060-8938-C437663AA840}"/>
    <dgm:cxn modelId="{DB186A52-F201-4512-8734-BBBE87FEE4F1}" type="presOf" srcId="{4CCCA2C8-4B00-405C-AE3A-9A7B13487CE2}" destId="{EDB797C2-3FDD-41D1-A3F1-116D37397FAB}" srcOrd="0" destOrd="0" presId="urn:microsoft.com/office/officeart/2008/layout/CaptionedPictures"/>
    <dgm:cxn modelId="{A1834C52-F995-4B1E-8F3B-D25D5073CFD6}" type="presOf" srcId="{65C19C58-31BA-49AC-8B8F-ECE045733DBA}" destId="{7A04C77A-5726-4FED-9967-83B038E7E84B}" srcOrd="0" destOrd="0" presId="urn:microsoft.com/office/officeart/2008/layout/CaptionedPictures"/>
    <dgm:cxn modelId="{CC34117D-9E63-47F0-9635-AB5AAD1EE1CC}" srcId="{4CCCA2C8-4B00-405C-AE3A-9A7B13487CE2}" destId="{0F6B5DE3-AB7F-47FB-96BD-B205D6288E8C}" srcOrd="1" destOrd="0" parTransId="{4F46B828-8C54-4BDC-88FD-895785129323}" sibTransId="{9E7C8ED5-8C37-42DB-9AF8-2609FADDCCA7}"/>
    <dgm:cxn modelId="{E0D44A7E-646F-4E14-A243-E1145AFEF11A}" srcId="{65C19C58-31BA-49AC-8B8F-ECE045733DBA}" destId="{9563DFE9-F088-4432-850E-07466291F6DA}" srcOrd="1" destOrd="0" parTransId="{A4F582B3-123E-46F5-895E-F9FCAD0F40F1}" sibTransId="{871D2E08-8986-4D57-B01F-126B48465A2C}"/>
    <dgm:cxn modelId="{1247259E-8ED4-4EE1-86A3-E70DEAEE409E}" srcId="{9563DFE9-F088-4432-850E-07466291F6DA}" destId="{AD2A4B16-0175-4147-A788-F0A18EADEA9A}" srcOrd="0" destOrd="0" parTransId="{1F01AB3D-1F6F-4912-87FB-8161D5B2B410}" sibTransId="{91AE664E-193F-437A-92C7-656280A54C35}"/>
    <dgm:cxn modelId="{E3A143A3-3FC2-400A-8F7A-E9670963322D}" type="presOf" srcId="{FA7EC4AF-46C8-4BE1-8537-1ACA04C5263D}" destId="{30369D29-5851-4F5A-89A8-A1FEF75330DD}" srcOrd="0" destOrd="0" presId="urn:microsoft.com/office/officeart/2008/layout/CaptionedPictures"/>
    <dgm:cxn modelId="{D44F90AE-BAC4-4C9B-8C14-F60C12CF9614}" srcId="{65C19C58-31BA-49AC-8B8F-ECE045733DBA}" destId="{BC7CCC39-99B3-4077-92E4-B4C54FFE7DBF}" srcOrd="0" destOrd="0" parTransId="{507E72B2-D876-417F-B8FE-ADFAD0B758D0}" sibTransId="{4592CE00-5DF3-4ED2-9FD3-D2000E67DBA7}"/>
    <dgm:cxn modelId="{BBE654BF-6D39-4768-B80B-1FA6FBCE85D2}" srcId="{4CCCA2C8-4B00-405C-AE3A-9A7B13487CE2}" destId="{810BC362-90F6-4B23-9D68-CBE1434F2906}" srcOrd="0" destOrd="0" parTransId="{211542DF-C281-4448-B338-74F34AA76124}" sibTransId="{B3545EE0-C887-4A1D-BC63-DA83C15D640A}"/>
    <dgm:cxn modelId="{F9469EC9-AA9F-428B-8157-D061EAE97B8C}" type="presOf" srcId="{810BC362-90F6-4B23-9D68-CBE1434F2906}" destId="{3BCE3F62-C0A5-44ED-BEC3-89835E81E17A}" srcOrd="0" destOrd="0" presId="urn:microsoft.com/office/officeart/2008/layout/CaptionedPictures"/>
    <dgm:cxn modelId="{C70199CB-DF3B-46D7-87FE-7BAE2EED5ED3}" type="presOf" srcId="{9563DFE9-F088-4432-850E-07466291F6DA}" destId="{F24A334F-23E1-4C7A-8933-4FBF6E1B0CB8}" srcOrd="0" destOrd="0" presId="urn:microsoft.com/office/officeart/2008/layout/CaptionedPictures"/>
    <dgm:cxn modelId="{040746E9-0B44-47D2-AB72-AE99F8B6DA28}" type="presOf" srcId="{0F6B5DE3-AB7F-47FB-96BD-B205D6288E8C}" destId="{3BCE3F62-C0A5-44ED-BEC3-89835E81E17A}" srcOrd="0" destOrd="1" presId="urn:microsoft.com/office/officeart/2008/layout/CaptionedPictures"/>
    <dgm:cxn modelId="{0818B8F1-E6B1-4595-A490-3612814E3A41}" type="presOf" srcId="{55781AC0-6676-4F7C-BD64-3272B2393068}" destId="{30369D29-5851-4F5A-89A8-A1FEF75330DD}" srcOrd="0" destOrd="1" presId="urn:microsoft.com/office/officeart/2008/layout/CaptionedPictures"/>
    <dgm:cxn modelId="{ED7F59F6-6AD2-49D9-B39A-0D4A0EC8354B}" srcId="{9563DFE9-F088-4432-850E-07466291F6DA}" destId="{70019997-2DF2-4378-AEAC-7DF956BA6967}" srcOrd="1" destOrd="0" parTransId="{D981B3A1-1AA2-42D1-9060-3504AE3A3AFD}" sibTransId="{DF84FE96-80FE-402E-AC96-26B206CA1680}"/>
    <dgm:cxn modelId="{16CB960D-A4D8-4005-8DC1-3A4BAA018C02}" type="presParOf" srcId="{7A04C77A-5726-4FED-9967-83B038E7E84B}" destId="{1C570E93-47A0-436A-9418-B76F5CDDD29F}" srcOrd="0" destOrd="0" presId="urn:microsoft.com/office/officeart/2008/layout/CaptionedPictures"/>
    <dgm:cxn modelId="{2B1B0ABE-FDCC-475E-B9F3-BEE1940102D8}" type="presParOf" srcId="{1C570E93-47A0-436A-9418-B76F5CDDD29F}" destId="{CE7BAC15-DC59-4FF0-A35E-63B19A7584AF}" srcOrd="0" destOrd="0" presId="urn:microsoft.com/office/officeart/2008/layout/CaptionedPictures"/>
    <dgm:cxn modelId="{C7C19DAB-DAF8-4B97-9766-5E3922179C93}" type="presParOf" srcId="{1C570E93-47A0-436A-9418-B76F5CDDD29F}" destId="{2DF05040-81DA-48BC-9673-8AF4C20552F0}" srcOrd="1" destOrd="0" presId="urn:microsoft.com/office/officeart/2008/layout/CaptionedPictures"/>
    <dgm:cxn modelId="{B1939ABF-7B4F-48A2-A31E-5ACEDEAE0DE3}" type="presParOf" srcId="{1C570E93-47A0-436A-9418-B76F5CDDD29F}" destId="{3CCE2650-1700-4130-B8E0-C7411250E7B3}" srcOrd="2" destOrd="0" presId="urn:microsoft.com/office/officeart/2008/layout/CaptionedPictures"/>
    <dgm:cxn modelId="{CDE29AEA-58AE-4CD0-BEFB-B1DE7DE65B2F}" type="presParOf" srcId="{3CCE2650-1700-4130-B8E0-C7411250E7B3}" destId="{30369D29-5851-4F5A-89A8-A1FEF75330DD}" srcOrd="0" destOrd="0" presId="urn:microsoft.com/office/officeart/2008/layout/CaptionedPictures"/>
    <dgm:cxn modelId="{76C23F34-D7B5-42D7-87DE-C7808CB231CF}" type="presParOf" srcId="{3CCE2650-1700-4130-B8E0-C7411250E7B3}" destId="{E136DF8C-D1DB-4C48-9240-BD42223BD201}" srcOrd="1" destOrd="0" presId="urn:microsoft.com/office/officeart/2008/layout/CaptionedPictures"/>
    <dgm:cxn modelId="{224D7039-22FE-4AEE-B1D5-ADC02EDE4A52}" type="presParOf" srcId="{7A04C77A-5726-4FED-9967-83B038E7E84B}" destId="{ED046396-4612-4499-963C-C3C762166ECB}" srcOrd="1" destOrd="0" presId="urn:microsoft.com/office/officeart/2008/layout/CaptionedPictures"/>
    <dgm:cxn modelId="{5F8B9637-4BB0-4C91-AB56-D1F438925C91}" type="presParOf" srcId="{7A04C77A-5726-4FED-9967-83B038E7E84B}" destId="{802F8DB2-4F21-4CAA-B8DC-9A157C93305E}" srcOrd="2" destOrd="0" presId="urn:microsoft.com/office/officeart/2008/layout/CaptionedPictures"/>
    <dgm:cxn modelId="{FAC332E9-882D-4DB5-A7BC-5F6DDF7E2748}" type="presParOf" srcId="{802F8DB2-4F21-4CAA-B8DC-9A157C93305E}" destId="{61729CCB-9515-4519-A792-EAB84117191A}" srcOrd="0" destOrd="0" presId="urn:microsoft.com/office/officeart/2008/layout/CaptionedPictures"/>
    <dgm:cxn modelId="{EA76A7A1-6296-4873-8660-705ADE69EC60}" type="presParOf" srcId="{802F8DB2-4F21-4CAA-B8DC-9A157C93305E}" destId="{02D1F558-C992-4F85-8E17-FBA9661CA627}" srcOrd="1" destOrd="0" presId="urn:microsoft.com/office/officeart/2008/layout/CaptionedPictures"/>
    <dgm:cxn modelId="{51F3B69D-4EAF-402A-A12A-D53330A45324}" type="presParOf" srcId="{802F8DB2-4F21-4CAA-B8DC-9A157C93305E}" destId="{12ADBEE4-D217-4D9A-BA9F-DE39C0D44F6C}" srcOrd="2" destOrd="0" presId="urn:microsoft.com/office/officeart/2008/layout/CaptionedPictures"/>
    <dgm:cxn modelId="{E32F6F07-9915-443A-A1FB-EED5DFFDD83B}" type="presParOf" srcId="{12ADBEE4-D217-4D9A-BA9F-DE39C0D44F6C}" destId="{AD77C35C-7E47-4D30-BBF2-0106E6B5AD1D}" srcOrd="0" destOrd="0" presId="urn:microsoft.com/office/officeart/2008/layout/CaptionedPictures"/>
    <dgm:cxn modelId="{C5FE0058-2B2D-4F3F-8D42-A6956505AC61}" type="presParOf" srcId="{12ADBEE4-D217-4D9A-BA9F-DE39C0D44F6C}" destId="{F24A334F-23E1-4C7A-8933-4FBF6E1B0CB8}" srcOrd="1" destOrd="0" presId="urn:microsoft.com/office/officeart/2008/layout/CaptionedPictures"/>
    <dgm:cxn modelId="{C1FEA2ED-331D-4926-BD8A-E0F94E2372B0}" type="presParOf" srcId="{7A04C77A-5726-4FED-9967-83B038E7E84B}" destId="{F28AD8FC-5D72-488A-8E8A-61F51D472B3D}" srcOrd="3" destOrd="0" presId="urn:microsoft.com/office/officeart/2008/layout/CaptionedPictures"/>
    <dgm:cxn modelId="{36249DF8-DED9-4272-9270-404C40CDD9CB}" type="presParOf" srcId="{7A04C77A-5726-4FED-9967-83B038E7E84B}" destId="{E01F287E-0DC9-4D20-8275-A4A699A6176F}" srcOrd="4" destOrd="0" presId="urn:microsoft.com/office/officeart/2008/layout/CaptionedPictures"/>
    <dgm:cxn modelId="{ADAFFA8E-337E-46E1-8364-CAA7FB7562C7}" type="presParOf" srcId="{E01F287E-0DC9-4D20-8275-A4A699A6176F}" destId="{FF040796-1AD1-4ADB-A3EC-614B71D12AC6}" srcOrd="0" destOrd="0" presId="urn:microsoft.com/office/officeart/2008/layout/CaptionedPictures"/>
    <dgm:cxn modelId="{BFBB8F7D-8124-4539-A1A6-D7232E70A027}" type="presParOf" srcId="{E01F287E-0DC9-4D20-8275-A4A699A6176F}" destId="{597087CC-C98D-4D61-B068-DE41E196529F}" srcOrd="1" destOrd="0" presId="urn:microsoft.com/office/officeart/2008/layout/CaptionedPictures"/>
    <dgm:cxn modelId="{7D50A3C2-5ACE-49CF-BD70-60BD5E1ED12A}" type="presParOf" srcId="{E01F287E-0DC9-4D20-8275-A4A699A6176F}" destId="{037029AE-80F5-43E6-AB51-B3CC696D1547}" srcOrd="2" destOrd="0" presId="urn:microsoft.com/office/officeart/2008/layout/CaptionedPictures"/>
    <dgm:cxn modelId="{68229262-FDE5-4D66-B629-CFACC89B8A98}" type="presParOf" srcId="{037029AE-80F5-43E6-AB51-B3CC696D1547}" destId="{3BCE3F62-C0A5-44ED-BEC3-89835E81E17A}" srcOrd="0" destOrd="0" presId="urn:microsoft.com/office/officeart/2008/layout/CaptionedPictures"/>
    <dgm:cxn modelId="{1007D869-8DBF-4051-B45C-562DFD86447F}" type="presParOf" srcId="{037029AE-80F5-43E6-AB51-B3CC696D1547}" destId="{EDB797C2-3FDD-41D1-A3F1-116D37397FAB}" srcOrd="1" destOrd="0" presId="urn:microsoft.com/office/officeart/2008/layout/CaptionedPicture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A8897B1-8786-4F45-8F3E-6F9FA28A4495}" type="doc">
      <dgm:prSet loTypeId="urn:microsoft.com/office/officeart/2005/8/layout/bProcess3" loCatId="process" qsTypeId="urn:microsoft.com/office/officeart/2005/8/quickstyle/simple5" qsCatId="simple" csTypeId="urn:microsoft.com/office/officeart/2005/8/colors/accent1_2" csCatId="accent1" phldr="1"/>
      <dgm:spPr/>
      <dgm:t>
        <a:bodyPr/>
        <a:lstStyle/>
        <a:p>
          <a:endParaRPr lang="en-NL"/>
        </a:p>
      </dgm:t>
    </dgm:pt>
    <dgm:pt modelId="{0E885238-2E13-4AA2-80EA-5AE1057C5004}">
      <dgm:prSet/>
      <dgm:spPr/>
      <dgm:t>
        <a:bodyPr anchor="ctr"/>
        <a:lstStyle/>
        <a:p>
          <a:pPr algn="l"/>
          <a:r>
            <a:rPr lang="it-IT" b="1" u="none" dirty="0"/>
            <a:t>Scenario 1: </a:t>
          </a:r>
        </a:p>
        <a:p>
          <a:pPr algn="l"/>
          <a:r>
            <a:rPr lang="en-US" dirty="0"/>
            <a:t>Clarify Meanings Before Reuse</a:t>
          </a:r>
        </a:p>
        <a:p>
          <a:pPr algn="l"/>
          <a:endParaRPr lang="en-NL" b="0" u="none" dirty="0"/>
        </a:p>
      </dgm:t>
    </dgm:pt>
    <dgm:pt modelId="{0F1F07AB-F376-4A68-8731-667CA0C14530}" type="parTrans" cxnId="{2BA27D8A-14C6-4B88-8B88-8B51A471621A}">
      <dgm:prSet/>
      <dgm:spPr/>
      <dgm:t>
        <a:bodyPr/>
        <a:lstStyle/>
        <a:p>
          <a:endParaRPr lang="en-NL"/>
        </a:p>
      </dgm:t>
    </dgm:pt>
    <dgm:pt modelId="{86FEFBC6-1B20-4987-B9DF-E83ED6435580}" type="sibTrans" cxnId="{2BA27D8A-14C6-4B88-8B88-8B51A471621A}">
      <dgm:prSet/>
      <dgm:spPr>
        <a:ln w="34925">
          <a:solidFill>
            <a:schemeClr val="accent2"/>
          </a:solidFill>
          <a:tailEnd type="arrow" w="lg" len="med"/>
        </a:ln>
      </dgm:spPr>
      <dgm:t>
        <a:bodyPr/>
        <a:lstStyle/>
        <a:p>
          <a:endParaRPr lang="en-NL"/>
        </a:p>
      </dgm:t>
    </dgm:pt>
    <dgm:pt modelId="{96FB2433-1B30-4F4B-9905-BCD4E1757523}">
      <dgm:prSet/>
      <dgm:spPr/>
      <dgm:t>
        <a:bodyPr anchor="ctr"/>
        <a:lstStyle/>
        <a:p>
          <a:pPr algn="l"/>
          <a:r>
            <a:rPr lang="en-US" b="1" u="none" dirty="0">
              <a:solidFill>
                <a:schemeClr val="bg1"/>
              </a:solidFill>
            </a:rPr>
            <a:t>Scenario 5:</a:t>
          </a:r>
          <a:r>
            <a:rPr lang="en-US" b="0" u="none" dirty="0">
              <a:solidFill>
                <a:schemeClr val="bg1"/>
              </a:solidFill>
            </a:rPr>
            <a:t> </a:t>
          </a:r>
        </a:p>
        <a:p>
          <a:pPr algn="l"/>
          <a:r>
            <a:rPr lang="en-US" dirty="0">
              <a:solidFill>
                <a:schemeClr val="bg1"/>
              </a:solidFill>
            </a:rPr>
            <a:t>Assess (re)use options around one selected concept</a:t>
          </a:r>
          <a:endParaRPr lang="en-NL" dirty="0">
            <a:solidFill>
              <a:schemeClr val="bg1"/>
            </a:solidFill>
          </a:endParaRPr>
        </a:p>
      </dgm:t>
    </dgm:pt>
    <dgm:pt modelId="{E1541FE1-F29C-4FEE-BAEE-28CC6FA333CA}" type="parTrans" cxnId="{6F760F83-3FFF-49AF-9DDE-A369A4B4C28C}">
      <dgm:prSet/>
      <dgm:spPr/>
      <dgm:t>
        <a:bodyPr/>
        <a:lstStyle/>
        <a:p>
          <a:endParaRPr lang="en-NL"/>
        </a:p>
      </dgm:t>
    </dgm:pt>
    <dgm:pt modelId="{ACC4E472-98B3-4A96-B982-D4F105C94079}" type="sibTrans" cxnId="{6F760F83-3FFF-49AF-9DDE-A369A4B4C28C}">
      <dgm:prSet/>
      <dgm:spPr>
        <a:ln w="34925">
          <a:solidFill>
            <a:schemeClr val="accent2"/>
          </a:solidFill>
          <a:tailEnd type="arrow" w="lg" len="med"/>
        </a:ln>
      </dgm:spPr>
      <dgm:t>
        <a:bodyPr/>
        <a:lstStyle/>
        <a:p>
          <a:endParaRPr lang="en-NL"/>
        </a:p>
      </dgm:t>
    </dgm:pt>
    <dgm:pt modelId="{E85426CD-3C98-4ECB-92E3-6688B23C5426}">
      <dgm:prSet/>
      <dgm:spPr>
        <a:solidFill>
          <a:schemeClr val="accent3">
            <a:lumMod val="20000"/>
            <a:lumOff val="80000"/>
          </a:schemeClr>
        </a:solidFill>
        <a:ln>
          <a:solidFill>
            <a:schemeClr val="accent1"/>
          </a:solidFill>
        </a:ln>
      </dgm:spPr>
      <dgm:t>
        <a:bodyPr anchor="ctr"/>
        <a:lstStyle/>
        <a:p>
          <a:pPr algn="l"/>
          <a:r>
            <a:rPr lang="en-US" b="1" dirty="0">
              <a:solidFill>
                <a:schemeClr val="accent1"/>
              </a:solidFill>
            </a:rPr>
            <a:t>Result:</a:t>
          </a:r>
          <a:r>
            <a:rPr lang="en-US" dirty="0">
              <a:solidFill>
                <a:schemeClr val="accent1"/>
              </a:solidFill>
            </a:rPr>
            <a:t> Amir could move from label-based guessing to a defensible decision, identifying which variable fits his study and which related concepts align, should be ruled out, or only partially overlap.</a:t>
          </a:r>
          <a:endParaRPr lang="en-NL" dirty="0">
            <a:solidFill>
              <a:schemeClr val="accent1"/>
            </a:solidFill>
          </a:endParaRPr>
        </a:p>
      </dgm:t>
    </dgm:pt>
    <dgm:pt modelId="{3365F242-5B4F-4CCD-970F-BDDE72811A13}" type="parTrans" cxnId="{5B810A0C-6F30-48D0-A6FE-E8CDEF9EF708}">
      <dgm:prSet/>
      <dgm:spPr/>
      <dgm:t>
        <a:bodyPr/>
        <a:lstStyle/>
        <a:p>
          <a:endParaRPr lang="en-NL"/>
        </a:p>
      </dgm:t>
    </dgm:pt>
    <dgm:pt modelId="{DD82BA89-33EE-4DFE-8737-2F62D7FD6AA6}" type="sibTrans" cxnId="{5B810A0C-6F30-48D0-A6FE-E8CDEF9EF708}">
      <dgm:prSet/>
      <dgm:spPr/>
      <dgm:t>
        <a:bodyPr/>
        <a:lstStyle/>
        <a:p>
          <a:endParaRPr lang="en-NL"/>
        </a:p>
      </dgm:t>
    </dgm:pt>
    <dgm:pt modelId="{3C8F336F-8535-471E-9E2E-EDBE1D90440F}">
      <dgm:prSet/>
      <dgm:spPr/>
      <dgm:t>
        <a:bodyPr anchor="ctr"/>
        <a:lstStyle/>
        <a:p>
          <a:pPr algn="l"/>
          <a:r>
            <a:rPr lang="en-US" b="1" u="none" dirty="0"/>
            <a:t>Scenario 2: </a:t>
          </a:r>
        </a:p>
        <a:p>
          <a:pPr algn="l"/>
          <a:r>
            <a:rPr lang="en-US" dirty="0"/>
            <a:t>Identify the dataset that represents the right meaning</a:t>
          </a:r>
          <a:endParaRPr lang="en-NL" b="0" u="none" dirty="0"/>
        </a:p>
      </dgm:t>
    </dgm:pt>
    <dgm:pt modelId="{7FFDCBD2-F58A-4CBC-AAAA-674DC77DB221}" type="parTrans" cxnId="{8FEF0BA5-DE05-43D4-B0DA-2F430DB29B00}">
      <dgm:prSet/>
      <dgm:spPr/>
      <dgm:t>
        <a:bodyPr/>
        <a:lstStyle/>
        <a:p>
          <a:endParaRPr lang="en-NL"/>
        </a:p>
      </dgm:t>
    </dgm:pt>
    <dgm:pt modelId="{BE52810D-9388-433F-8634-C654FBAD953C}" type="sibTrans" cxnId="{8FEF0BA5-DE05-43D4-B0DA-2F430DB29B00}">
      <dgm:prSet/>
      <dgm:spPr>
        <a:ln w="34925">
          <a:solidFill>
            <a:schemeClr val="accent2"/>
          </a:solidFill>
          <a:tailEnd type="arrow" w="lg" len="med"/>
        </a:ln>
      </dgm:spPr>
      <dgm:t>
        <a:bodyPr/>
        <a:lstStyle/>
        <a:p>
          <a:endParaRPr lang="en-NL"/>
        </a:p>
      </dgm:t>
    </dgm:pt>
    <dgm:pt modelId="{B838CBCF-5171-4C26-A79F-F2628D2489E9}">
      <dgm:prSet/>
      <dgm:spPr/>
      <dgm:t>
        <a:bodyPr anchor="ctr"/>
        <a:lstStyle/>
        <a:p>
          <a:pPr algn="l"/>
          <a:r>
            <a:rPr lang="en-US" b="1" u="none" dirty="0"/>
            <a:t>Scenario 3: </a:t>
          </a:r>
        </a:p>
        <a:p>
          <a:pPr algn="l"/>
          <a:r>
            <a:rPr lang="en-US" b="0" u="none" dirty="0"/>
            <a:t>Inspect what a selected column means</a:t>
          </a:r>
          <a:endParaRPr lang="en-NL" b="0" u="none" dirty="0"/>
        </a:p>
      </dgm:t>
    </dgm:pt>
    <dgm:pt modelId="{37ABE1D1-0D82-4C33-8C5E-E6FC17D92F16}" type="parTrans" cxnId="{3D00B630-316B-4C03-940C-A3F2A935219B}">
      <dgm:prSet/>
      <dgm:spPr/>
      <dgm:t>
        <a:bodyPr/>
        <a:lstStyle/>
        <a:p>
          <a:endParaRPr lang="en-NL"/>
        </a:p>
      </dgm:t>
    </dgm:pt>
    <dgm:pt modelId="{6A8F28F4-4B87-48C1-BD5E-BBC975331ABB}" type="sibTrans" cxnId="{3D00B630-316B-4C03-940C-A3F2A935219B}">
      <dgm:prSet/>
      <dgm:spPr>
        <a:ln w="34925">
          <a:solidFill>
            <a:schemeClr val="accent2"/>
          </a:solidFill>
          <a:tailEnd type="arrow" w="lg" len="med"/>
        </a:ln>
      </dgm:spPr>
      <dgm:t>
        <a:bodyPr/>
        <a:lstStyle/>
        <a:p>
          <a:endParaRPr lang="en-NL"/>
        </a:p>
      </dgm:t>
    </dgm:pt>
    <dgm:pt modelId="{55A474CF-010C-4359-947B-B2BA53B9046A}">
      <dgm:prSet/>
      <dgm:spPr/>
      <dgm:t>
        <a:bodyPr anchor="ctr"/>
        <a:lstStyle/>
        <a:p>
          <a:pPr algn="l"/>
          <a:r>
            <a:rPr lang="en-US" b="1" u="none" dirty="0"/>
            <a:t>Scenario 4:</a:t>
          </a:r>
          <a:r>
            <a:rPr lang="en-US" b="0" u="none" dirty="0"/>
            <a:t> </a:t>
          </a:r>
        </a:p>
        <a:p>
          <a:pPr algn="l"/>
          <a:r>
            <a:rPr lang="en-US" b="0" u="none" dirty="0"/>
            <a:t>Formalize the semantic relation between two selected columns</a:t>
          </a:r>
          <a:endParaRPr lang="en-NL" b="0" u="none" dirty="0"/>
        </a:p>
      </dgm:t>
    </dgm:pt>
    <dgm:pt modelId="{5FC4AA4E-464A-4DE7-BC19-4BDCC3F1EF95}" type="parTrans" cxnId="{544B5546-AEBE-4640-87D1-FA28567E1BEF}">
      <dgm:prSet/>
      <dgm:spPr/>
      <dgm:t>
        <a:bodyPr/>
        <a:lstStyle/>
        <a:p>
          <a:endParaRPr lang="en-NL"/>
        </a:p>
      </dgm:t>
    </dgm:pt>
    <dgm:pt modelId="{EC8E753D-90AC-48A4-9CB4-12897BD0A970}" type="sibTrans" cxnId="{544B5546-AEBE-4640-87D1-FA28567E1BEF}">
      <dgm:prSet/>
      <dgm:spPr>
        <a:ln w="34925">
          <a:solidFill>
            <a:schemeClr val="accent2"/>
          </a:solidFill>
          <a:tailEnd type="arrow" w="lg" len="med"/>
        </a:ln>
      </dgm:spPr>
      <dgm:t>
        <a:bodyPr/>
        <a:lstStyle/>
        <a:p>
          <a:endParaRPr lang="en-NL"/>
        </a:p>
      </dgm:t>
    </dgm:pt>
    <dgm:pt modelId="{EF7E357A-05A4-420C-91CB-57667FFFC1C1}" type="pres">
      <dgm:prSet presAssocID="{9A8897B1-8786-4F45-8F3E-6F9FA28A4495}" presName="Name0" presStyleCnt="0">
        <dgm:presLayoutVars>
          <dgm:dir/>
          <dgm:resizeHandles val="exact"/>
        </dgm:presLayoutVars>
      </dgm:prSet>
      <dgm:spPr/>
    </dgm:pt>
    <dgm:pt modelId="{BCF0A5AE-28F4-460B-A483-4E9270C15EA5}" type="pres">
      <dgm:prSet presAssocID="{0E885238-2E13-4AA2-80EA-5AE1057C5004}" presName="node" presStyleLbl="node1" presStyleIdx="0" presStyleCnt="6" custScaleY="74023">
        <dgm:presLayoutVars>
          <dgm:bulletEnabled val="1"/>
        </dgm:presLayoutVars>
      </dgm:prSet>
      <dgm:spPr/>
    </dgm:pt>
    <dgm:pt modelId="{BEC936B6-E74A-4ADC-9FF8-41B735ABA13C}" type="pres">
      <dgm:prSet presAssocID="{86FEFBC6-1B20-4987-B9DF-E83ED6435580}" presName="sibTrans" presStyleLbl="sibTrans1D1" presStyleIdx="0" presStyleCnt="5"/>
      <dgm:spPr/>
    </dgm:pt>
    <dgm:pt modelId="{ABAE6600-31A1-4F9E-9842-1F1EA55B3009}" type="pres">
      <dgm:prSet presAssocID="{86FEFBC6-1B20-4987-B9DF-E83ED6435580}" presName="connectorText" presStyleLbl="sibTrans1D1" presStyleIdx="0" presStyleCnt="5"/>
      <dgm:spPr/>
    </dgm:pt>
    <dgm:pt modelId="{3466A636-609B-4F26-B741-EC0A1C2852FA}" type="pres">
      <dgm:prSet presAssocID="{3C8F336F-8535-471E-9E2E-EDBE1D90440F}" presName="node" presStyleLbl="node1" presStyleIdx="1" presStyleCnt="6" custScaleY="74023">
        <dgm:presLayoutVars>
          <dgm:bulletEnabled val="1"/>
        </dgm:presLayoutVars>
      </dgm:prSet>
      <dgm:spPr/>
    </dgm:pt>
    <dgm:pt modelId="{EE67AEC7-A539-4D09-80D5-397693C7C04F}" type="pres">
      <dgm:prSet presAssocID="{BE52810D-9388-433F-8634-C654FBAD953C}" presName="sibTrans" presStyleLbl="sibTrans1D1" presStyleIdx="1" presStyleCnt="5"/>
      <dgm:spPr/>
    </dgm:pt>
    <dgm:pt modelId="{E37894B1-EA6F-4974-AA0B-CCF4FEF8C9A7}" type="pres">
      <dgm:prSet presAssocID="{BE52810D-9388-433F-8634-C654FBAD953C}" presName="connectorText" presStyleLbl="sibTrans1D1" presStyleIdx="1" presStyleCnt="5"/>
      <dgm:spPr/>
    </dgm:pt>
    <dgm:pt modelId="{781997A3-EE88-46C6-BA3F-CB53E3E30BE6}" type="pres">
      <dgm:prSet presAssocID="{B838CBCF-5171-4C26-A79F-F2628D2489E9}" presName="node" presStyleLbl="node1" presStyleIdx="2" presStyleCnt="6" custScaleY="74023">
        <dgm:presLayoutVars>
          <dgm:bulletEnabled val="1"/>
        </dgm:presLayoutVars>
      </dgm:prSet>
      <dgm:spPr/>
    </dgm:pt>
    <dgm:pt modelId="{0C26B74F-5C5E-488F-BE18-6EEF27F0F2A6}" type="pres">
      <dgm:prSet presAssocID="{6A8F28F4-4B87-48C1-BD5E-BBC975331ABB}" presName="sibTrans" presStyleLbl="sibTrans1D1" presStyleIdx="2" presStyleCnt="5"/>
      <dgm:spPr/>
    </dgm:pt>
    <dgm:pt modelId="{76D31899-9C2E-41D5-85B0-AF533E161E3D}" type="pres">
      <dgm:prSet presAssocID="{6A8F28F4-4B87-48C1-BD5E-BBC975331ABB}" presName="connectorText" presStyleLbl="sibTrans1D1" presStyleIdx="2" presStyleCnt="5"/>
      <dgm:spPr/>
    </dgm:pt>
    <dgm:pt modelId="{385934CF-4E3A-484C-B2B3-66DCDD4477E7}" type="pres">
      <dgm:prSet presAssocID="{55A474CF-010C-4359-947B-B2BA53B9046A}" presName="node" presStyleLbl="node1" presStyleIdx="3" presStyleCnt="6" custScaleY="74023">
        <dgm:presLayoutVars>
          <dgm:bulletEnabled val="1"/>
        </dgm:presLayoutVars>
      </dgm:prSet>
      <dgm:spPr/>
    </dgm:pt>
    <dgm:pt modelId="{B654FB9A-C7F5-4D27-A357-D10950EFC7A1}" type="pres">
      <dgm:prSet presAssocID="{EC8E753D-90AC-48A4-9CB4-12897BD0A970}" presName="sibTrans" presStyleLbl="sibTrans1D1" presStyleIdx="3" presStyleCnt="5"/>
      <dgm:spPr/>
    </dgm:pt>
    <dgm:pt modelId="{B360CC18-5E5A-4211-A96A-57475586979B}" type="pres">
      <dgm:prSet presAssocID="{EC8E753D-90AC-48A4-9CB4-12897BD0A970}" presName="connectorText" presStyleLbl="sibTrans1D1" presStyleIdx="3" presStyleCnt="5"/>
      <dgm:spPr/>
    </dgm:pt>
    <dgm:pt modelId="{7F969913-C98E-4911-B734-E71B7FCCDDE1}" type="pres">
      <dgm:prSet presAssocID="{96FB2433-1B30-4F4B-9905-BCD4E1757523}" presName="node" presStyleLbl="node1" presStyleIdx="4" presStyleCnt="6" custScaleY="74023">
        <dgm:presLayoutVars>
          <dgm:bulletEnabled val="1"/>
        </dgm:presLayoutVars>
      </dgm:prSet>
      <dgm:spPr/>
    </dgm:pt>
    <dgm:pt modelId="{E04C062C-12EC-4CAC-A9F7-FA386B959D12}" type="pres">
      <dgm:prSet presAssocID="{ACC4E472-98B3-4A96-B982-D4F105C94079}" presName="sibTrans" presStyleLbl="sibTrans1D1" presStyleIdx="4" presStyleCnt="5"/>
      <dgm:spPr/>
    </dgm:pt>
    <dgm:pt modelId="{07469705-030F-4808-BDF9-2CD70F975978}" type="pres">
      <dgm:prSet presAssocID="{ACC4E472-98B3-4A96-B982-D4F105C94079}" presName="connectorText" presStyleLbl="sibTrans1D1" presStyleIdx="4" presStyleCnt="5"/>
      <dgm:spPr/>
    </dgm:pt>
    <dgm:pt modelId="{F33A4F67-5619-4B2C-B090-C5D18F9B354D}" type="pres">
      <dgm:prSet presAssocID="{E85426CD-3C98-4ECB-92E3-6688B23C5426}" presName="node" presStyleLbl="node1" presStyleIdx="5" presStyleCnt="6">
        <dgm:presLayoutVars>
          <dgm:bulletEnabled val="1"/>
        </dgm:presLayoutVars>
      </dgm:prSet>
      <dgm:spPr/>
    </dgm:pt>
  </dgm:ptLst>
  <dgm:cxnLst>
    <dgm:cxn modelId="{69553A00-49DD-4DFA-AC34-1C949A251304}" type="presOf" srcId="{0E885238-2E13-4AA2-80EA-5AE1057C5004}" destId="{BCF0A5AE-28F4-460B-A483-4E9270C15EA5}" srcOrd="0" destOrd="0" presId="urn:microsoft.com/office/officeart/2005/8/layout/bProcess3"/>
    <dgm:cxn modelId="{5B810A0C-6F30-48D0-A6FE-E8CDEF9EF708}" srcId="{9A8897B1-8786-4F45-8F3E-6F9FA28A4495}" destId="{E85426CD-3C98-4ECB-92E3-6688B23C5426}" srcOrd="5" destOrd="0" parTransId="{3365F242-5B4F-4CCD-970F-BDDE72811A13}" sibTransId="{DD82BA89-33EE-4DFE-8737-2F62D7FD6AA6}"/>
    <dgm:cxn modelId="{5274691B-CFA5-4113-B5B6-90DCD5A994A3}" type="presOf" srcId="{E85426CD-3C98-4ECB-92E3-6688B23C5426}" destId="{F33A4F67-5619-4B2C-B090-C5D18F9B354D}" srcOrd="0" destOrd="0" presId="urn:microsoft.com/office/officeart/2005/8/layout/bProcess3"/>
    <dgm:cxn modelId="{A4B3B71B-F4EB-42DD-8B36-1314E3349C1A}" type="presOf" srcId="{6A8F28F4-4B87-48C1-BD5E-BBC975331ABB}" destId="{0C26B74F-5C5E-488F-BE18-6EEF27F0F2A6}" srcOrd="0" destOrd="0" presId="urn:microsoft.com/office/officeart/2005/8/layout/bProcess3"/>
    <dgm:cxn modelId="{BBB6BC21-5C3C-486C-A0D9-E12EFAFBAB9E}" type="presOf" srcId="{BE52810D-9388-433F-8634-C654FBAD953C}" destId="{EE67AEC7-A539-4D09-80D5-397693C7C04F}" srcOrd="0" destOrd="0" presId="urn:microsoft.com/office/officeart/2005/8/layout/bProcess3"/>
    <dgm:cxn modelId="{D3FEB728-27E0-4CDD-9514-CF79B1AD67C5}" type="presOf" srcId="{ACC4E472-98B3-4A96-B982-D4F105C94079}" destId="{E04C062C-12EC-4CAC-A9F7-FA386B959D12}" srcOrd="0" destOrd="0" presId="urn:microsoft.com/office/officeart/2005/8/layout/bProcess3"/>
    <dgm:cxn modelId="{3D00B630-316B-4C03-940C-A3F2A935219B}" srcId="{9A8897B1-8786-4F45-8F3E-6F9FA28A4495}" destId="{B838CBCF-5171-4C26-A79F-F2628D2489E9}" srcOrd="2" destOrd="0" parTransId="{37ABE1D1-0D82-4C33-8C5E-E6FC17D92F16}" sibTransId="{6A8F28F4-4B87-48C1-BD5E-BBC975331ABB}"/>
    <dgm:cxn modelId="{A5CB413E-6A8D-4E05-9518-E95B5922452D}" type="presOf" srcId="{6A8F28F4-4B87-48C1-BD5E-BBC975331ABB}" destId="{76D31899-9C2E-41D5-85B0-AF533E161E3D}" srcOrd="1" destOrd="0" presId="urn:microsoft.com/office/officeart/2005/8/layout/bProcess3"/>
    <dgm:cxn modelId="{C99A665C-BBE2-45C8-88D4-86FFA35FE582}" type="presOf" srcId="{86FEFBC6-1B20-4987-B9DF-E83ED6435580}" destId="{BEC936B6-E74A-4ADC-9FF8-41B735ABA13C}" srcOrd="0" destOrd="0" presId="urn:microsoft.com/office/officeart/2005/8/layout/bProcess3"/>
    <dgm:cxn modelId="{544B5546-AEBE-4640-87D1-FA28567E1BEF}" srcId="{9A8897B1-8786-4F45-8F3E-6F9FA28A4495}" destId="{55A474CF-010C-4359-947B-B2BA53B9046A}" srcOrd="3" destOrd="0" parTransId="{5FC4AA4E-464A-4DE7-BC19-4BDCC3F1EF95}" sibTransId="{EC8E753D-90AC-48A4-9CB4-12897BD0A970}"/>
    <dgm:cxn modelId="{0BE4A14E-2C20-43F0-BB6F-4EF2800B40E7}" type="presOf" srcId="{ACC4E472-98B3-4A96-B982-D4F105C94079}" destId="{07469705-030F-4808-BDF9-2CD70F975978}" srcOrd="1" destOrd="0" presId="urn:microsoft.com/office/officeart/2005/8/layout/bProcess3"/>
    <dgm:cxn modelId="{2FB3BF6F-BBDB-4EA7-AA62-18B7EC16C150}" type="presOf" srcId="{EC8E753D-90AC-48A4-9CB4-12897BD0A970}" destId="{B654FB9A-C7F5-4D27-A357-D10950EFC7A1}" srcOrd="0" destOrd="0" presId="urn:microsoft.com/office/officeart/2005/8/layout/bProcess3"/>
    <dgm:cxn modelId="{E6026250-9624-4147-9AC7-5D984A41E0A9}" type="presOf" srcId="{86FEFBC6-1B20-4987-B9DF-E83ED6435580}" destId="{ABAE6600-31A1-4F9E-9842-1F1EA55B3009}" srcOrd="1" destOrd="0" presId="urn:microsoft.com/office/officeart/2005/8/layout/bProcess3"/>
    <dgm:cxn modelId="{6F760F83-3FFF-49AF-9DDE-A369A4B4C28C}" srcId="{9A8897B1-8786-4F45-8F3E-6F9FA28A4495}" destId="{96FB2433-1B30-4F4B-9905-BCD4E1757523}" srcOrd="4" destOrd="0" parTransId="{E1541FE1-F29C-4FEE-BAEE-28CC6FA333CA}" sibTransId="{ACC4E472-98B3-4A96-B982-D4F105C94079}"/>
    <dgm:cxn modelId="{2BA27D8A-14C6-4B88-8B88-8B51A471621A}" srcId="{9A8897B1-8786-4F45-8F3E-6F9FA28A4495}" destId="{0E885238-2E13-4AA2-80EA-5AE1057C5004}" srcOrd="0" destOrd="0" parTransId="{0F1F07AB-F376-4A68-8731-667CA0C14530}" sibTransId="{86FEFBC6-1B20-4987-B9DF-E83ED6435580}"/>
    <dgm:cxn modelId="{F89E568E-1DB9-4C9B-A36F-414BB50921D6}" type="presOf" srcId="{EC8E753D-90AC-48A4-9CB4-12897BD0A970}" destId="{B360CC18-5E5A-4211-A96A-57475586979B}" srcOrd="1" destOrd="0" presId="urn:microsoft.com/office/officeart/2005/8/layout/bProcess3"/>
    <dgm:cxn modelId="{AC102B90-C86C-4AED-9E66-AB2B69F44C10}" type="presOf" srcId="{9A8897B1-8786-4F45-8F3E-6F9FA28A4495}" destId="{EF7E357A-05A4-420C-91CB-57667FFFC1C1}" srcOrd="0" destOrd="0" presId="urn:microsoft.com/office/officeart/2005/8/layout/bProcess3"/>
    <dgm:cxn modelId="{8FEF0BA5-DE05-43D4-B0DA-2F430DB29B00}" srcId="{9A8897B1-8786-4F45-8F3E-6F9FA28A4495}" destId="{3C8F336F-8535-471E-9E2E-EDBE1D90440F}" srcOrd="1" destOrd="0" parTransId="{7FFDCBD2-F58A-4CBC-AAAA-674DC77DB221}" sibTransId="{BE52810D-9388-433F-8634-C654FBAD953C}"/>
    <dgm:cxn modelId="{D7BA06AC-70CE-4B91-BCEB-C962B6FB0D51}" type="presOf" srcId="{55A474CF-010C-4359-947B-B2BA53B9046A}" destId="{385934CF-4E3A-484C-B2B3-66DCDD4477E7}" srcOrd="0" destOrd="0" presId="urn:microsoft.com/office/officeart/2005/8/layout/bProcess3"/>
    <dgm:cxn modelId="{617DBAB3-1DA8-440B-BFC7-AAFC172051E2}" type="presOf" srcId="{B838CBCF-5171-4C26-A79F-F2628D2489E9}" destId="{781997A3-EE88-46C6-BA3F-CB53E3E30BE6}" srcOrd="0" destOrd="0" presId="urn:microsoft.com/office/officeart/2005/8/layout/bProcess3"/>
    <dgm:cxn modelId="{EE24FBD7-CD34-46EC-9AC2-FEB30CE81D9E}" type="presOf" srcId="{96FB2433-1B30-4F4B-9905-BCD4E1757523}" destId="{7F969913-C98E-4911-B734-E71B7FCCDDE1}" srcOrd="0" destOrd="0" presId="urn:microsoft.com/office/officeart/2005/8/layout/bProcess3"/>
    <dgm:cxn modelId="{8C444DED-40D8-46AD-8A19-F5E35C24FB58}" type="presOf" srcId="{3C8F336F-8535-471E-9E2E-EDBE1D90440F}" destId="{3466A636-609B-4F26-B741-EC0A1C2852FA}" srcOrd="0" destOrd="0" presId="urn:microsoft.com/office/officeart/2005/8/layout/bProcess3"/>
    <dgm:cxn modelId="{EFEEFBF0-DCD4-44BE-BC5C-A4C1346724C2}" type="presOf" srcId="{BE52810D-9388-433F-8634-C654FBAD953C}" destId="{E37894B1-EA6F-4974-AA0B-CCF4FEF8C9A7}" srcOrd="1" destOrd="0" presId="urn:microsoft.com/office/officeart/2005/8/layout/bProcess3"/>
    <dgm:cxn modelId="{0CD2F95F-B815-413B-801B-26A679D5466B}" type="presParOf" srcId="{EF7E357A-05A4-420C-91CB-57667FFFC1C1}" destId="{BCF0A5AE-28F4-460B-A483-4E9270C15EA5}" srcOrd="0" destOrd="0" presId="urn:microsoft.com/office/officeart/2005/8/layout/bProcess3"/>
    <dgm:cxn modelId="{AFB8879D-1DAA-4CD4-B90A-6948EF070108}" type="presParOf" srcId="{EF7E357A-05A4-420C-91CB-57667FFFC1C1}" destId="{BEC936B6-E74A-4ADC-9FF8-41B735ABA13C}" srcOrd="1" destOrd="0" presId="urn:microsoft.com/office/officeart/2005/8/layout/bProcess3"/>
    <dgm:cxn modelId="{CF0978AE-7B41-4145-A60D-8AE0E270886B}" type="presParOf" srcId="{BEC936B6-E74A-4ADC-9FF8-41B735ABA13C}" destId="{ABAE6600-31A1-4F9E-9842-1F1EA55B3009}" srcOrd="0" destOrd="0" presId="urn:microsoft.com/office/officeart/2005/8/layout/bProcess3"/>
    <dgm:cxn modelId="{A8A35B8A-507D-4527-B0E1-E6C8D6EB626F}" type="presParOf" srcId="{EF7E357A-05A4-420C-91CB-57667FFFC1C1}" destId="{3466A636-609B-4F26-B741-EC0A1C2852FA}" srcOrd="2" destOrd="0" presId="urn:microsoft.com/office/officeart/2005/8/layout/bProcess3"/>
    <dgm:cxn modelId="{D5848CC5-45D8-4A16-AD90-5B558C1F9987}" type="presParOf" srcId="{EF7E357A-05A4-420C-91CB-57667FFFC1C1}" destId="{EE67AEC7-A539-4D09-80D5-397693C7C04F}" srcOrd="3" destOrd="0" presId="urn:microsoft.com/office/officeart/2005/8/layout/bProcess3"/>
    <dgm:cxn modelId="{61EA3739-24EE-40AD-A494-1C9958507863}" type="presParOf" srcId="{EE67AEC7-A539-4D09-80D5-397693C7C04F}" destId="{E37894B1-EA6F-4974-AA0B-CCF4FEF8C9A7}" srcOrd="0" destOrd="0" presId="urn:microsoft.com/office/officeart/2005/8/layout/bProcess3"/>
    <dgm:cxn modelId="{FDA2234D-A8D5-4B74-88F1-9AF418299913}" type="presParOf" srcId="{EF7E357A-05A4-420C-91CB-57667FFFC1C1}" destId="{781997A3-EE88-46C6-BA3F-CB53E3E30BE6}" srcOrd="4" destOrd="0" presId="urn:microsoft.com/office/officeart/2005/8/layout/bProcess3"/>
    <dgm:cxn modelId="{10DD85A1-5A0A-4881-A208-A0576BF6401D}" type="presParOf" srcId="{EF7E357A-05A4-420C-91CB-57667FFFC1C1}" destId="{0C26B74F-5C5E-488F-BE18-6EEF27F0F2A6}" srcOrd="5" destOrd="0" presId="urn:microsoft.com/office/officeart/2005/8/layout/bProcess3"/>
    <dgm:cxn modelId="{400C5360-71EF-46B1-92C7-B981BA29782C}" type="presParOf" srcId="{0C26B74F-5C5E-488F-BE18-6EEF27F0F2A6}" destId="{76D31899-9C2E-41D5-85B0-AF533E161E3D}" srcOrd="0" destOrd="0" presId="urn:microsoft.com/office/officeart/2005/8/layout/bProcess3"/>
    <dgm:cxn modelId="{D5A32493-64E7-4AD7-9E18-ED7E17C4614E}" type="presParOf" srcId="{EF7E357A-05A4-420C-91CB-57667FFFC1C1}" destId="{385934CF-4E3A-484C-B2B3-66DCDD4477E7}" srcOrd="6" destOrd="0" presId="urn:microsoft.com/office/officeart/2005/8/layout/bProcess3"/>
    <dgm:cxn modelId="{11D8B7BE-7C6A-4BFA-A15C-EFEE93DB9B90}" type="presParOf" srcId="{EF7E357A-05A4-420C-91CB-57667FFFC1C1}" destId="{B654FB9A-C7F5-4D27-A357-D10950EFC7A1}" srcOrd="7" destOrd="0" presId="urn:microsoft.com/office/officeart/2005/8/layout/bProcess3"/>
    <dgm:cxn modelId="{598E51E8-124E-4767-AE54-37A8D40A3CE5}" type="presParOf" srcId="{B654FB9A-C7F5-4D27-A357-D10950EFC7A1}" destId="{B360CC18-5E5A-4211-A96A-57475586979B}" srcOrd="0" destOrd="0" presId="urn:microsoft.com/office/officeart/2005/8/layout/bProcess3"/>
    <dgm:cxn modelId="{AE5A2044-28D9-40FB-9AF2-0A3464C7E0E9}" type="presParOf" srcId="{EF7E357A-05A4-420C-91CB-57667FFFC1C1}" destId="{7F969913-C98E-4911-B734-E71B7FCCDDE1}" srcOrd="8" destOrd="0" presId="urn:microsoft.com/office/officeart/2005/8/layout/bProcess3"/>
    <dgm:cxn modelId="{3527FF3F-F300-4F5A-AEA0-68ADCBAB02AE}" type="presParOf" srcId="{EF7E357A-05A4-420C-91CB-57667FFFC1C1}" destId="{E04C062C-12EC-4CAC-A9F7-FA386B959D12}" srcOrd="9" destOrd="0" presId="urn:microsoft.com/office/officeart/2005/8/layout/bProcess3"/>
    <dgm:cxn modelId="{68E98944-8A49-4DF2-9FE0-99C0607ACAAC}" type="presParOf" srcId="{E04C062C-12EC-4CAC-A9F7-FA386B959D12}" destId="{07469705-030F-4808-BDF9-2CD70F975978}" srcOrd="0" destOrd="0" presId="urn:microsoft.com/office/officeart/2005/8/layout/bProcess3"/>
    <dgm:cxn modelId="{853DEABF-B10F-4CB7-84D5-04D4E87EC10B}" type="presParOf" srcId="{EF7E357A-05A4-420C-91CB-57667FFFC1C1}" destId="{F33A4F67-5619-4B2C-B090-C5D18F9B354D}" srcOrd="10" destOrd="0" presId="urn:microsoft.com/office/officeart/2005/8/layout/bProcess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9A8897B1-8786-4F45-8F3E-6F9FA28A4495}" type="doc">
      <dgm:prSet loTypeId="urn:microsoft.com/office/officeart/2005/8/layout/bProcess3" loCatId="process" qsTypeId="urn:microsoft.com/office/officeart/2005/8/quickstyle/simple5" qsCatId="simple" csTypeId="urn:microsoft.com/office/officeart/2005/8/colors/accent2_2" csCatId="accent2" phldr="1"/>
      <dgm:spPr/>
      <dgm:t>
        <a:bodyPr/>
        <a:lstStyle/>
        <a:p>
          <a:endParaRPr lang="en-NL"/>
        </a:p>
      </dgm:t>
    </dgm:pt>
    <dgm:pt modelId="{E9199F4D-0A49-4236-8F4F-D7A140EB9A91}">
      <dgm:prSet/>
      <dgm:spPr/>
      <dgm:t>
        <a:bodyPr/>
        <a:lstStyle/>
        <a:p>
          <a:r>
            <a:rPr lang="it-IT" b="1" dirty="0"/>
            <a:t>Scenario 6</a:t>
          </a:r>
          <a:r>
            <a:rPr lang="it-IT" b="0" dirty="0"/>
            <a:t> — validate one concept</a:t>
          </a:r>
          <a:endParaRPr lang="en-NL" b="0" dirty="0"/>
        </a:p>
      </dgm:t>
    </dgm:pt>
    <dgm:pt modelId="{3600EABE-4C2D-4913-989B-A7A8719D6A7B}" type="parTrans" cxnId="{1A74AF74-D986-4CC6-98A5-A7CC091477B1}">
      <dgm:prSet/>
      <dgm:spPr/>
      <dgm:t>
        <a:bodyPr/>
        <a:lstStyle/>
        <a:p>
          <a:endParaRPr lang="en-NL" b="0"/>
        </a:p>
      </dgm:t>
    </dgm:pt>
    <dgm:pt modelId="{8732B16B-A717-447B-8477-0E01FC887290}" type="sibTrans" cxnId="{1A74AF74-D986-4CC6-98A5-A7CC091477B1}">
      <dgm:prSet/>
      <dgm:spPr/>
      <dgm:t>
        <a:bodyPr/>
        <a:lstStyle/>
        <a:p>
          <a:endParaRPr lang="en-NL" b="0"/>
        </a:p>
      </dgm:t>
    </dgm:pt>
    <dgm:pt modelId="{A6DDFE19-6677-4436-9497-CAECEE06EC70}">
      <dgm:prSet/>
      <dgm:spPr/>
      <dgm:t>
        <a:bodyPr/>
        <a:lstStyle/>
        <a:p>
          <a:r>
            <a:rPr lang="en-US" b="1" dirty="0"/>
            <a:t>Scenario 7</a:t>
          </a:r>
          <a:r>
            <a:rPr lang="en-US" b="0" dirty="0"/>
            <a:t> — review all inconsistencies</a:t>
          </a:r>
          <a:endParaRPr lang="en-NL" b="0" dirty="0"/>
        </a:p>
      </dgm:t>
    </dgm:pt>
    <dgm:pt modelId="{DCAAF45C-9AAE-43A6-9C75-9E4FDE7131C5}" type="parTrans" cxnId="{B7B85446-CFF8-4BAD-B8C1-69BA55234DDD}">
      <dgm:prSet/>
      <dgm:spPr/>
      <dgm:t>
        <a:bodyPr/>
        <a:lstStyle/>
        <a:p>
          <a:endParaRPr lang="en-NL" b="0"/>
        </a:p>
      </dgm:t>
    </dgm:pt>
    <dgm:pt modelId="{7DDBE0C6-03CA-4E18-B4EB-4C58A20E7A3B}" type="sibTrans" cxnId="{B7B85446-CFF8-4BAD-B8C1-69BA55234DDD}">
      <dgm:prSet/>
      <dgm:spPr/>
      <dgm:t>
        <a:bodyPr/>
        <a:lstStyle/>
        <a:p>
          <a:endParaRPr lang="en-NL" b="0"/>
        </a:p>
      </dgm:t>
    </dgm:pt>
    <dgm:pt modelId="{565B2B3B-5B37-43E2-A54D-D96D46E7FB0A}">
      <dgm:prSet/>
      <dgm:spPr/>
      <dgm:t>
        <a:bodyPr/>
        <a:lstStyle/>
        <a:p>
          <a:r>
            <a:rPr lang="en-US" b="1" dirty="0"/>
            <a:t>Scenario 8</a:t>
          </a:r>
          <a:r>
            <a:rPr lang="en-US" b="0" dirty="0"/>
            <a:t> — simulate consequences before publication</a:t>
          </a:r>
          <a:endParaRPr lang="en-NL" b="0" dirty="0"/>
        </a:p>
      </dgm:t>
    </dgm:pt>
    <dgm:pt modelId="{B835043C-1D1B-473A-9C5D-02E769099347}" type="parTrans" cxnId="{B698304C-7652-4F4A-A9CF-AC77F7E9115B}">
      <dgm:prSet/>
      <dgm:spPr/>
      <dgm:t>
        <a:bodyPr/>
        <a:lstStyle/>
        <a:p>
          <a:endParaRPr lang="en-NL" b="0"/>
        </a:p>
      </dgm:t>
    </dgm:pt>
    <dgm:pt modelId="{A4DCC177-BCEC-43A9-8D22-47CB4A3FEFA3}" type="sibTrans" cxnId="{B698304C-7652-4F4A-A9CF-AC77F7E9115B}">
      <dgm:prSet/>
      <dgm:spPr/>
      <dgm:t>
        <a:bodyPr/>
        <a:lstStyle/>
        <a:p>
          <a:endParaRPr lang="en-NL" b="0"/>
        </a:p>
      </dgm:t>
    </dgm:pt>
    <dgm:pt modelId="{C03D9C20-C313-40DD-9456-4F6401D43EE7}">
      <dgm:prSet/>
      <dgm:spPr/>
      <dgm:t>
        <a:bodyPr/>
        <a:lstStyle/>
        <a:p>
          <a:endParaRPr lang="en-NL" b="0" dirty="0"/>
        </a:p>
      </dgm:t>
    </dgm:pt>
    <dgm:pt modelId="{D8EA4684-7D90-41CA-AE71-0C5D708D023D}" type="parTrans" cxnId="{433A31E7-C56E-4BC7-B591-EFC27638C809}">
      <dgm:prSet/>
      <dgm:spPr/>
      <dgm:t>
        <a:bodyPr/>
        <a:lstStyle/>
        <a:p>
          <a:endParaRPr lang="en-NL"/>
        </a:p>
      </dgm:t>
    </dgm:pt>
    <dgm:pt modelId="{5457DEA9-A622-4920-B41A-AFFBB7752939}" type="sibTrans" cxnId="{433A31E7-C56E-4BC7-B591-EFC27638C809}">
      <dgm:prSet/>
      <dgm:spPr/>
      <dgm:t>
        <a:bodyPr/>
        <a:lstStyle/>
        <a:p>
          <a:endParaRPr lang="en-NL"/>
        </a:p>
      </dgm:t>
    </dgm:pt>
    <dgm:pt modelId="{EF7E357A-05A4-420C-91CB-57667FFFC1C1}" type="pres">
      <dgm:prSet presAssocID="{9A8897B1-8786-4F45-8F3E-6F9FA28A4495}" presName="Name0" presStyleCnt="0">
        <dgm:presLayoutVars>
          <dgm:dir/>
          <dgm:resizeHandles val="exact"/>
        </dgm:presLayoutVars>
      </dgm:prSet>
      <dgm:spPr/>
    </dgm:pt>
    <dgm:pt modelId="{D149737F-36DF-4011-B9E5-AAB9F36AF052}" type="pres">
      <dgm:prSet presAssocID="{E9199F4D-0A49-4236-8F4F-D7A140EB9A91}" presName="node" presStyleLbl="node1" presStyleIdx="0" presStyleCnt="4">
        <dgm:presLayoutVars>
          <dgm:bulletEnabled val="1"/>
        </dgm:presLayoutVars>
      </dgm:prSet>
      <dgm:spPr/>
    </dgm:pt>
    <dgm:pt modelId="{C30F5C66-3708-42C1-85DE-CEE3C68AB376}" type="pres">
      <dgm:prSet presAssocID="{8732B16B-A717-447B-8477-0E01FC887290}" presName="sibTrans" presStyleLbl="sibTrans1D1" presStyleIdx="0" presStyleCnt="3"/>
      <dgm:spPr/>
    </dgm:pt>
    <dgm:pt modelId="{A00D1525-7DD0-4B68-BEC5-B0518EB3959C}" type="pres">
      <dgm:prSet presAssocID="{8732B16B-A717-447B-8477-0E01FC887290}" presName="connectorText" presStyleLbl="sibTrans1D1" presStyleIdx="0" presStyleCnt="3"/>
      <dgm:spPr/>
    </dgm:pt>
    <dgm:pt modelId="{8998D27A-080C-4007-A8AC-9F8DD7B1C5A5}" type="pres">
      <dgm:prSet presAssocID="{A6DDFE19-6677-4436-9497-CAECEE06EC70}" presName="node" presStyleLbl="node1" presStyleIdx="1" presStyleCnt="4">
        <dgm:presLayoutVars>
          <dgm:bulletEnabled val="1"/>
        </dgm:presLayoutVars>
      </dgm:prSet>
      <dgm:spPr/>
    </dgm:pt>
    <dgm:pt modelId="{DEE4307B-914B-4176-8198-21CFECF65827}" type="pres">
      <dgm:prSet presAssocID="{7DDBE0C6-03CA-4E18-B4EB-4C58A20E7A3B}" presName="sibTrans" presStyleLbl="sibTrans1D1" presStyleIdx="1" presStyleCnt="3"/>
      <dgm:spPr/>
    </dgm:pt>
    <dgm:pt modelId="{68D72BB0-710C-4234-BB6C-4E554FB70EE0}" type="pres">
      <dgm:prSet presAssocID="{7DDBE0C6-03CA-4E18-B4EB-4C58A20E7A3B}" presName="connectorText" presStyleLbl="sibTrans1D1" presStyleIdx="1" presStyleCnt="3"/>
      <dgm:spPr/>
    </dgm:pt>
    <dgm:pt modelId="{D4D2ADCE-BDBA-4FFE-ACF8-FE949F15D9AD}" type="pres">
      <dgm:prSet presAssocID="{565B2B3B-5B37-43E2-A54D-D96D46E7FB0A}" presName="node" presStyleLbl="node1" presStyleIdx="2" presStyleCnt="4">
        <dgm:presLayoutVars>
          <dgm:bulletEnabled val="1"/>
        </dgm:presLayoutVars>
      </dgm:prSet>
      <dgm:spPr/>
    </dgm:pt>
    <dgm:pt modelId="{EC840B94-7646-4FD9-A6AE-9D190066EFBF}" type="pres">
      <dgm:prSet presAssocID="{A4DCC177-BCEC-43A9-8D22-47CB4A3FEFA3}" presName="sibTrans" presStyleLbl="sibTrans1D1" presStyleIdx="2" presStyleCnt="3"/>
      <dgm:spPr/>
    </dgm:pt>
    <dgm:pt modelId="{B83C7A3A-A482-491A-9EAF-46352B8321CC}" type="pres">
      <dgm:prSet presAssocID="{A4DCC177-BCEC-43A9-8D22-47CB4A3FEFA3}" presName="connectorText" presStyleLbl="sibTrans1D1" presStyleIdx="2" presStyleCnt="3"/>
      <dgm:spPr/>
    </dgm:pt>
    <dgm:pt modelId="{0829F314-22B6-4965-B38C-3171E339DB25}" type="pres">
      <dgm:prSet presAssocID="{C03D9C20-C313-40DD-9456-4F6401D43EE7}" presName="node" presStyleLbl="node1" presStyleIdx="3" presStyleCnt="4">
        <dgm:presLayoutVars>
          <dgm:bulletEnabled val="1"/>
        </dgm:presLayoutVars>
      </dgm:prSet>
      <dgm:spPr/>
    </dgm:pt>
  </dgm:ptLst>
  <dgm:cxnLst>
    <dgm:cxn modelId="{E64A542E-F3FC-4573-A521-50AB597BFDF7}" type="presOf" srcId="{7DDBE0C6-03CA-4E18-B4EB-4C58A20E7A3B}" destId="{DEE4307B-914B-4176-8198-21CFECF65827}" srcOrd="0" destOrd="0" presId="urn:microsoft.com/office/officeart/2005/8/layout/bProcess3"/>
    <dgm:cxn modelId="{F56A5960-6AE9-4D45-9D6C-FB0FBC6CA0C2}" type="presOf" srcId="{A6DDFE19-6677-4436-9497-CAECEE06EC70}" destId="{8998D27A-080C-4007-A8AC-9F8DD7B1C5A5}" srcOrd="0" destOrd="0" presId="urn:microsoft.com/office/officeart/2005/8/layout/bProcess3"/>
    <dgm:cxn modelId="{B8C23361-E8DB-40DA-AD1C-0F50D173FC6A}" type="presOf" srcId="{8732B16B-A717-447B-8477-0E01FC887290}" destId="{C30F5C66-3708-42C1-85DE-CEE3C68AB376}" srcOrd="0" destOrd="0" presId="urn:microsoft.com/office/officeart/2005/8/layout/bProcess3"/>
    <dgm:cxn modelId="{B7B85446-CFF8-4BAD-B8C1-69BA55234DDD}" srcId="{9A8897B1-8786-4F45-8F3E-6F9FA28A4495}" destId="{A6DDFE19-6677-4436-9497-CAECEE06EC70}" srcOrd="1" destOrd="0" parTransId="{DCAAF45C-9AAE-43A6-9C75-9E4FDE7131C5}" sibTransId="{7DDBE0C6-03CA-4E18-B4EB-4C58A20E7A3B}"/>
    <dgm:cxn modelId="{9DECFE67-F867-4A65-A920-C3041EA204B8}" type="presOf" srcId="{E9199F4D-0A49-4236-8F4F-D7A140EB9A91}" destId="{D149737F-36DF-4011-B9E5-AAB9F36AF052}" srcOrd="0" destOrd="0" presId="urn:microsoft.com/office/officeart/2005/8/layout/bProcess3"/>
    <dgm:cxn modelId="{B698304C-7652-4F4A-A9CF-AC77F7E9115B}" srcId="{9A8897B1-8786-4F45-8F3E-6F9FA28A4495}" destId="{565B2B3B-5B37-43E2-A54D-D96D46E7FB0A}" srcOrd="2" destOrd="0" parTransId="{B835043C-1D1B-473A-9C5D-02E769099347}" sibTransId="{A4DCC177-BCEC-43A9-8D22-47CB4A3FEFA3}"/>
    <dgm:cxn modelId="{3A4B5473-8210-4CB4-9D47-5CEE155B1339}" type="presOf" srcId="{A4DCC177-BCEC-43A9-8D22-47CB4A3FEFA3}" destId="{B83C7A3A-A482-491A-9EAF-46352B8321CC}" srcOrd="1" destOrd="0" presId="urn:microsoft.com/office/officeart/2005/8/layout/bProcess3"/>
    <dgm:cxn modelId="{1A74AF74-D986-4CC6-98A5-A7CC091477B1}" srcId="{9A8897B1-8786-4F45-8F3E-6F9FA28A4495}" destId="{E9199F4D-0A49-4236-8F4F-D7A140EB9A91}" srcOrd="0" destOrd="0" parTransId="{3600EABE-4C2D-4913-989B-A7A8719D6A7B}" sibTransId="{8732B16B-A717-447B-8477-0E01FC887290}"/>
    <dgm:cxn modelId="{FE09E274-CDC3-4709-A6AB-50DDF256F5A8}" type="presOf" srcId="{8732B16B-A717-447B-8477-0E01FC887290}" destId="{A00D1525-7DD0-4B68-BEC5-B0518EB3959C}" srcOrd="1" destOrd="0" presId="urn:microsoft.com/office/officeart/2005/8/layout/bProcess3"/>
    <dgm:cxn modelId="{DE6C8C78-A6A4-4B50-B040-B51BBAF540D7}" type="presOf" srcId="{A4DCC177-BCEC-43A9-8D22-47CB4A3FEFA3}" destId="{EC840B94-7646-4FD9-A6AE-9D190066EFBF}" srcOrd="0" destOrd="0" presId="urn:microsoft.com/office/officeart/2005/8/layout/bProcess3"/>
    <dgm:cxn modelId="{AE180F7B-1203-46DD-B2E1-80B449028F54}" type="presOf" srcId="{565B2B3B-5B37-43E2-A54D-D96D46E7FB0A}" destId="{D4D2ADCE-BDBA-4FFE-ACF8-FE949F15D9AD}" srcOrd="0" destOrd="0" presId="urn:microsoft.com/office/officeart/2005/8/layout/bProcess3"/>
    <dgm:cxn modelId="{AC102B90-C86C-4AED-9E66-AB2B69F44C10}" type="presOf" srcId="{9A8897B1-8786-4F45-8F3E-6F9FA28A4495}" destId="{EF7E357A-05A4-420C-91CB-57667FFFC1C1}" srcOrd="0" destOrd="0" presId="urn:microsoft.com/office/officeart/2005/8/layout/bProcess3"/>
    <dgm:cxn modelId="{14B95AB3-97D6-4810-9E84-55CE52B723F7}" type="presOf" srcId="{C03D9C20-C313-40DD-9456-4F6401D43EE7}" destId="{0829F314-22B6-4965-B38C-3171E339DB25}" srcOrd="0" destOrd="0" presId="urn:microsoft.com/office/officeart/2005/8/layout/bProcess3"/>
    <dgm:cxn modelId="{39D9D1D1-2B29-425C-8E04-CC348E9D2113}" type="presOf" srcId="{7DDBE0C6-03CA-4E18-B4EB-4C58A20E7A3B}" destId="{68D72BB0-710C-4234-BB6C-4E554FB70EE0}" srcOrd="1" destOrd="0" presId="urn:microsoft.com/office/officeart/2005/8/layout/bProcess3"/>
    <dgm:cxn modelId="{433A31E7-C56E-4BC7-B591-EFC27638C809}" srcId="{9A8897B1-8786-4F45-8F3E-6F9FA28A4495}" destId="{C03D9C20-C313-40DD-9456-4F6401D43EE7}" srcOrd="3" destOrd="0" parTransId="{D8EA4684-7D90-41CA-AE71-0C5D708D023D}" sibTransId="{5457DEA9-A622-4920-B41A-AFFBB7752939}"/>
    <dgm:cxn modelId="{7AFEB5F5-421C-45DA-BD14-83D0F4A873AF}" type="presParOf" srcId="{EF7E357A-05A4-420C-91CB-57667FFFC1C1}" destId="{D149737F-36DF-4011-B9E5-AAB9F36AF052}" srcOrd="0" destOrd="0" presId="urn:microsoft.com/office/officeart/2005/8/layout/bProcess3"/>
    <dgm:cxn modelId="{2AB5E4C4-4CF3-44CA-83C3-783CD4C25274}" type="presParOf" srcId="{EF7E357A-05A4-420C-91CB-57667FFFC1C1}" destId="{C30F5C66-3708-42C1-85DE-CEE3C68AB376}" srcOrd="1" destOrd="0" presId="urn:microsoft.com/office/officeart/2005/8/layout/bProcess3"/>
    <dgm:cxn modelId="{963394E4-02EF-4376-916D-7553F10403B1}" type="presParOf" srcId="{C30F5C66-3708-42C1-85DE-CEE3C68AB376}" destId="{A00D1525-7DD0-4B68-BEC5-B0518EB3959C}" srcOrd="0" destOrd="0" presId="urn:microsoft.com/office/officeart/2005/8/layout/bProcess3"/>
    <dgm:cxn modelId="{406C598E-F8D9-455E-9469-4E97B46D63FB}" type="presParOf" srcId="{EF7E357A-05A4-420C-91CB-57667FFFC1C1}" destId="{8998D27A-080C-4007-A8AC-9F8DD7B1C5A5}" srcOrd="2" destOrd="0" presId="urn:microsoft.com/office/officeart/2005/8/layout/bProcess3"/>
    <dgm:cxn modelId="{AC1CF8BF-6A3A-4C30-8615-9C1EECECEF9B}" type="presParOf" srcId="{EF7E357A-05A4-420C-91CB-57667FFFC1C1}" destId="{DEE4307B-914B-4176-8198-21CFECF65827}" srcOrd="3" destOrd="0" presId="urn:microsoft.com/office/officeart/2005/8/layout/bProcess3"/>
    <dgm:cxn modelId="{64498DC2-38B2-449E-BFF2-C6DD7C9101A7}" type="presParOf" srcId="{DEE4307B-914B-4176-8198-21CFECF65827}" destId="{68D72BB0-710C-4234-BB6C-4E554FB70EE0}" srcOrd="0" destOrd="0" presId="urn:microsoft.com/office/officeart/2005/8/layout/bProcess3"/>
    <dgm:cxn modelId="{10D6FF20-96FB-450E-8220-399B9A1D3D9B}" type="presParOf" srcId="{EF7E357A-05A4-420C-91CB-57667FFFC1C1}" destId="{D4D2ADCE-BDBA-4FFE-ACF8-FE949F15D9AD}" srcOrd="4" destOrd="0" presId="urn:microsoft.com/office/officeart/2005/8/layout/bProcess3"/>
    <dgm:cxn modelId="{989EF643-7C18-44EA-8F1D-C0F7A8F85FF9}" type="presParOf" srcId="{EF7E357A-05A4-420C-91CB-57667FFFC1C1}" destId="{EC840B94-7646-4FD9-A6AE-9D190066EFBF}" srcOrd="5" destOrd="0" presId="urn:microsoft.com/office/officeart/2005/8/layout/bProcess3"/>
    <dgm:cxn modelId="{A33D2A4F-AF23-40DC-8FB1-AE4B9CE2D821}" type="presParOf" srcId="{EC840B94-7646-4FD9-A6AE-9D190066EFBF}" destId="{B83C7A3A-A482-491A-9EAF-46352B8321CC}" srcOrd="0" destOrd="0" presId="urn:microsoft.com/office/officeart/2005/8/layout/bProcess3"/>
    <dgm:cxn modelId="{6F67DDEE-BC7F-4F9D-A789-CB9305854F51}" type="presParOf" srcId="{EF7E357A-05A4-420C-91CB-57667FFFC1C1}" destId="{0829F314-22B6-4965-B38C-3171E339DB25}" srcOrd="6" destOrd="0" presId="urn:microsoft.com/office/officeart/2005/8/layout/bProcess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9A8897B1-8786-4F45-8F3E-6F9FA28A4495}" type="doc">
      <dgm:prSet loTypeId="urn:microsoft.com/office/officeart/2005/8/layout/bProcess3" loCatId="process" qsTypeId="urn:microsoft.com/office/officeart/2005/8/quickstyle/simple5" qsCatId="simple" csTypeId="urn:microsoft.com/office/officeart/2005/8/colors/accent2_2" csCatId="accent2" phldr="1"/>
      <dgm:spPr/>
      <dgm:t>
        <a:bodyPr/>
        <a:lstStyle/>
        <a:p>
          <a:endParaRPr lang="en-NL"/>
        </a:p>
      </dgm:t>
    </dgm:pt>
    <dgm:pt modelId="{E9199F4D-0A49-4236-8F4F-D7A140EB9A91}">
      <dgm:prSet/>
      <dgm:spPr/>
      <dgm:t>
        <a:bodyPr/>
        <a:lstStyle/>
        <a:p>
          <a:r>
            <a:rPr lang="it-IT" b="1" dirty="0"/>
            <a:t>Scenario 6</a:t>
          </a:r>
          <a:r>
            <a:rPr lang="it-IT" b="0" dirty="0"/>
            <a:t> — validate one concept</a:t>
          </a:r>
          <a:endParaRPr lang="en-NL" b="0" dirty="0"/>
        </a:p>
      </dgm:t>
    </dgm:pt>
    <dgm:pt modelId="{3600EABE-4C2D-4913-989B-A7A8719D6A7B}" type="parTrans" cxnId="{1A74AF74-D986-4CC6-98A5-A7CC091477B1}">
      <dgm:prSet/>
      <dgm:spPr/>
      <dgm:t>
        <a:bodyPr/>
        <a:lstStyle/>
        <a:p>
          <a:endParaRPr lang="en-NL" b="0"/>
        </a:p>
      </dgm:t>
    </dgm:pt>
    <dgm:pt modelId="{8732B16B-A717-447B-8477-0E01FC887290}" type="sibTrans" cxnId="{1A74AF74-D986-4CC6-98A5-A7CC091477B1}">
      <dgm:prSet/>
      <dgm:spPr/>
      <dgm:t>
        <a:bodyPr/>
        <a:lstStyle/>
        <a:p>
          <a:endParaRPr lang="en-NL" b="0"/>
        </a:p>
      </dgm:t>
    </dgm:pt>
    <dgm:pt modelId="{A6DDFE19-6677-4436-9497-CAECEE06EC70}">
      <dgm:prSet/>
      <dgm:spPr/>
      <dgm:t>
        <a:bodyPr/>
        <a:lstStyle/>
        <a:p>
          <a:r>
            <a:rPr lang="en-US" b="1" dirty="0"/>
            <a:t>Scenario 7</a:t>
          </a:r>
          <a:r>
            <a:rPr lang="en-US" b="0" dirty="0"/>
            <a:t> — review all inconsistencies</a:t>
          </a:r>
          <a:endParaRPr lang="en-NL" b="0" dirty="0"/>
        </a:p>
      </dgm:t>
    </dgm:pt>
    <dgm:pt modelId="{DCAAF45C-9AAE-43A6-9C75-9E4FDE7131C5}" type="parTrans" cxnId="{B7B85446-CFF8-4BAD-B8C1-69BA55234DDD}">
      <dgm:prSet/>
      <dgm:spPr/>
      <dgm:t>
        <a:bodyPr/>
        <a:lstStyle/>
        <a:p>
          <a:endParaRPr lang="en-NL" b="0"/>
        </a:p>
      </dgm:t>
    </dgm:pt>
    <dgm:pt modelId="{7DDBE0C6-03CA-4E18-B4EB-4C58A20E7A3B}" type="sibTrans" cxnId="{B7B85446-CFF8-4BAD-B8C1-69BA55234DDD}">
      <dgm:prSet/>
      <dgm:spPr/>
      <dgm:t>
        <a:bodyPr/>
        <a:lstStyle/>
        <a:p>
          <a:endParaRPr lang="en-NL" b="0"/>
        </a:p>
      </dgm:t>
    </dgm:pt>
    <dgm:pt modelId="{565B2B3B-5B37-43E2-A54D-D96D46E7FB0A}">
      <dgm:prSet/>
      <dgm:spPr/>
      <dgm:t>
        <a:bodyPr/>
        <a:lstStyle/>
        <a:p>
          <a:r>
            <a:rPr lang="en-US" b="1" dirty="0"/>
            <a:t>Scenario 8</a:t>
          </a:r>
          <a:r>
            <a:rPr lang="en-US" b="0" dirty="0"/>
            <a:t> — simulate consequences before publication</a:t>
          </a:r>
          <a:endParaRPr lang="en-NL" b="0" dirty="0"/>
        </a:p>
      </dgm:t>
    </dgm:pt>
    <dgm:pt modelId="{B835043C-1D1B-473A-9C5D-02E769099347}" type="parTrans" cxnId="{B698304C-7652-4F4A-A9CF-AC77F7E9115B}">
      <dgm:prSet/>
      <dgm:spPr/>
      <dgm:t>
        <a:bodyPr/>
        <a:lstStyle/>
        <a:p>
          <a:endParaRPr lang="en-NL" b="0"/>
        </a:p>
      </dgm:t>
    </dgm:pt>
    <dgm:pt modelId="{A4DCC177-BCEC-43A9-8D22-47CB4A3FEFA3}" type="sibTrans" cxnId="{B698304C-7652-4F4A-A9CF-AC77F7E9115B}">
      <dgm:prSet/>
      <dgm:spPr/>
      <dgm:t>
        <a:bodyPr/>
        <a:lstStyle/>
        <a:p>
          <a:endParaRPr lang="en-NL" b="0"/>
        </a:p>
      </dgm:t>
    </dgm:pt>
    <dgm:pt modelId="{C03D9C20-C313-40DD-9456-4F6401D43EE7}">
      <dgm:prSet/>
      <dgm:spPr/>
      <dgm:t>
        <a:bodyPr/>
        <a:lstStyle/>
        <a:p>
          <a:endParaRPr lang="en-NL" b="0" dirty="0"/>
        </a:p>
      </dgm:t>
    </dgm:pt>
    <dgm:pt modelId="{D8EA4684-7D90-41CA-AE71-0C5D708D023D}" type="parTrans" cxnId="{433A31E7-C56E-4BC7-B591-EFC27638C809}">
      <dgm:prSet/>
      <dgm:spPr/>
      <dgm:t>
        <a:bodyPr/>
        <a:lstStyle/>
        <a:p>
          <a:endParaRPr lang="en-NL"/>
        </a:p>
      </dgm:t>
    </dgm:pt>
    <dgm:pt modelId="{5457DEA9-A622-4920-B41A-AFFBB7752939}" type="sibTrans" cxnId="{433A31E7-C56E-4BC7-B591-EFC27638C809}">
      <dgm:prSet/>
      <dgm:spPr/>
      <dgm:t>
        <a:bodyPr/>
        <a:lstStyle/>
        <a:p>
          <a:endParaRPr lang="en-NL"/>
        </a:p>
      </dgm:t>
    </dgm:pt>
    <dgm:pt modelId="{EF7E357A-05A4-420C-91CB-57667FFFC1C1}" type="pres">
      <dgm:prSet presAssocID="{9A8897B1-8786-4F45-8F3E-6F9FA28A4495}" presName="Name0" presStyleCnt="0">
        <dgm:presLayoutVars>
          <dgm:dir/>
          <dgm:resizeHandles val="exact"/>
        </dgm:presLayoutVars>
      </dgm:prSet>
      <dgm:spPr/>
    </dgm:pt>
    <dgm:pt modelId="{D149737F-36DF-4011-B9E5-AAB9F36AF052}" type="pres">
      <dgm:prSet presAssocID="{E9199F4D-0A49-4236-8F4F-D7A140EB9A91}" presName="node" presStyleLbl="node1" presStyleIdx="0" presStyleCnt="4">
        <dgm:presLayoutVars>
          <dgm:bulletEnabled val="1"/>
        </dgm:presLayoutVars>
      </dgm:prSet>
      <dgm:spPr/>
    </dgm:pt>
    <dgm:pt modelId="{C30F5C66-3708-42C1-85DE-CEE3C68AB376}" type="pres">
      <dgm:prSet presAssocID="{8732B16B-A717-447B-8477-0E01FC887290}" presName="sibTrans" presStyleLbl="sibTrans1D1" presStyleIdx="0" presStyleCnt="3"/>
      <dgm:spPr/>
    </dgm:pt>
    <dgm:pt modelId="{A00D1525-7DD0-4B68-BEC5-B0518EB3959C}" type="pres">
      <dgm:prSet presAssocID="{8732B16B-A717-447B-8477-0E01FC887290}" presName="connectorText" presStyleLbl="sibTrans1D1" presStyleIdx="0" presStyleCnt="3"/>
      <dgm:spPr/>
    </dgm:pt>
    <dgm:pt modelId="{8998D27A-080C-4007-A8AC-9F8DD7B1C5A5}" type="pres">
      <dgm:prSet presAssocID="{A6DDFE19-6677-4436-9497-CAECEE06EC70}" presName="node" presStyleLbl="node1" presStyleIdx="1" presStyleCnt="4">
        <dgm:presLayoutVars>
          <dgm:bulletEnabled val="1"/>
        </dgm:presLayoutVars>
      </dgm:prSet>
      <dgm:spPr/>
    </dgm:pt>
    <dgm:pt modelId="{DEE4307B-914B-4176-8198-21CFECF65827}" type="pres">
      <dgm:prSet presAssocID="{7DDBE0C6-03CA-4E18-B4EB-4C58A20E7A3B}" presName="sibTrans" presStyleLbl="sibTrans1D1" presStyleIdx="1" presStyleCnt="3"/>
      <dgm:spPr/>
    </dgm:pt>
    <dgm:pt modelId="{68D72BB0-710C-4234-BB6C-4E554FB70EE0}" type="pres">
      <dgm:prSet presAssocID="{7DDBE0C6-03CA-4E18-B4EB-4C58A20E7A3B}" presName="connectorText" presStyleLbl="sibTrans1D1" presStyleIdx="1" presStyleCnt="3"/>
      <dgm:spPr/>
    </dgm:pt>
    <dgm:pt modelId="{D4D2ADCE-BDBA-4FFE-ACF8-FE949F15D9AD}" type="pres">
      <dgm:prSet presAssocID="{565B2B3B-5B37-43E2-A54D-D96D46E7FB0A}" presName="node" presStyleLbl="node1" presStyleIdx="2" presStyleCnt="4">
        <dgm:presLayoutVars>
          <dgm:bulletEnabled val="1"/>
        </dgm:presLayoutVars>
      </dgm:prSet>
      <dgm:spPr/>
    </dgm:pt>
    <dgm:pt modelId="{EC840B94-7646-4FD9-A6AE-9D190066EFBF}" type="pres">
      <dgm:prSet presAssocID="{A4DCC177-BCEC-43A9-8D22-47CB4A3FEFA3}" presName="sibTrans" presStyleLbl="sibTrans1D1" presStyleIdx="2" presStyleCnt="3"/>
      <dgm:spPr/>
    </dgm:pt>
    <dgm:pt modelId="{B83C7A3A-A482-491A-9EAF-46352B8321CC}" type="pres">
      <dgm:prSet presAssocID="{A4DCC177-BCEC-43A9-8D22-47CB4A3FEFA3}" presName="connectorText" presStyleLbl="sibTrans1D1" presStyleIdx="2" presStyleCnt="3"/>
      <dgm:spPr/>
    </dgm:pt>
    <dgm:pt modelId="{0829F314-22B6-4965-B38C-3171E339DB25}" type="pres">
      <dgm:prSet presAssocID="{C03D9C20-C313-40DD-9456-4F6401D43EE7}" presName="node" presStyleLbl="node1" presStyleIdx="3" presStyleCnt="4">
        <dgm:presLayoutVars>
          <dgm:bulletEnabled val="1"/>
        </dgm:presLayoutVars>
      </dgm:prSet>
      <dgm:spPr/>
    </dgm:pt>
  </dgm:ptLst>
  <dgm:cxnLst>
    <dgm:cxn modelId="{E64A542E-F3FC-4573-A521-50AB597BFDF7}" type="presOf" srcId="{7DDBE0C6-03CA-4E18-B4EB-4C58A20E7A3B}" destId="{DEE4307B-914B-4176-8198-21CFECF65827}" srcOrd="0" destOrd="0" presId="urn:microsoft.com/office/officeart/2005/8/layout/bProcess3"/>
    <dgm:cxn modelId="{F56A5960-6AE9-4D45-9D6C-FB0FBC6CA0C2}" type="presOf" srcId="{A6DDFE19-6677-4436-9497-CAECEE06EC70}" destId="{8998D27A-080C-4007-A8AC-9F8DD7B1C5A5}" srcOrd="0" destOrd="0" presId="urn:microsoft.com/office/officeart/2005/8/layout/bProcess3"/>
    <dgm:cxn modelId="{B8C23361-E8DB-40DA-AD1C-0F50D173FC6A}" type="presOf" srcId="{8732B16B-A717-447B-8477-0E01FC887290}" destId="{C30F5C66-3708-42C1-85DE-CEE3C68AB376}" srcOrd="0" destOrd="0" presId="urn:microsoft.com/office/officeart/2005/8/layout/bProcess3"/>
    <dgm:cxn modelId="{B7B85446-CFF8-4BAD-B8C1-69BA55234DDD}" srcId="{9A8897B1-8786-4F45-8F3E-6F9FA28A4495}" destId="{A6DDFE19-6677-4436-9497-CAECEE06EC70}" srcOrd="1" destOrd="0" parTransId="{DCAAF45C-9AAE-43A6-9C75-9E4FDE7131C5}" sibTransId="{7DDBE0C6-03CA-4E18-B4EB-4C58A20E7A3B}"/>
    <dgm:cxn modelId="{9DECFE67-F867-4A65-A920-C3041EA204B8}" type="presOf" srcId="{E9199F4D-0A49-4236-8F4F-D7A140EB9A91}" destId="{D149737F-36DF-4011-B9E5-AAB9F36AF052}" srcOrd="0" destOrd="0" presId="urn:microsoft.com/office/officeart/2005/8/layout/bProcess3"/>
    <dgm:cxn modelId="{B698304C-7652-4F4A-A9CF-AC77F7E9115B}" srcId="{9A8897B1-8786-4F45-8F3E-6F9FA28A4495}" destId="{565B2B3B-5B37-43E2-A54D-D96D46E7FB0A}" srcOrd="2" destOrd="0" parTransId="{B835043C-1D1B-473A-9C5D-02E769099347}" sibTransId="{A4DCC177-BCEC-43A9-8D22-47CB4A3FEFA3}"/>
    <dgm:cxn modelId="{3A4B5473-8210-4CB4-9D47-5CEE155B1339}" type="presOf" srcId="{A4DCC177-BCEC-43A9-8D22-47CB4A3FEFA3}" destId="{B83C7A3A-A482-491A-9EAF-46352B8321CC}" srcOrd="1" destOrd="0" presId="urn:microsoft.com/office/officeart/2005/8/layout/bProcess3"/>
    <dgm:cxn modelId="{1A74AF74-D986-4CC6-98A5-A7CC091477B1}" srcId="{9A8897B1-8786-4F45-8F3E-6F9FA28A4495}" destId="{E9199F4D-0A49-4236-8F4F-D7A140EB9A91}" srcOrd="0" destOrd="0" parTransId="{3600EABE-4C2D-4913-989B-A7A8719D6A7B}" sibTransId="{8732B16B-A717-447B-8477-0E01FC887290}"/>
    <dgm:cxn modelId="{FE09E274-CDC3-4709-A6AB-50DDF256F5A8}" type="presOf" srcId="{8732B16B-A717-447B-8477-0E01FC887290}" destId="{A00D1525-7DD0-4B68-BEC5-B0518EB3959C}" srcOrd="1" destOrd="0" presId="urn:microsoft.com/office/officeart/2005/8/layout/bProcess3"/>
    <dgm:cxn modelId="{DE6C8C78-A6A4-4B50-B040-B51BBAF540D7}" type="presOf" srcId="{A4DCC177-BCEC-43A9-8D22-47CB4A3FEFA3}" destId="{EC840B94-7646-4FD9-A6AE-9D190066EFBF}" srcOrd="0" destOrd="0" presId="urn:microsoft.com/office/officeart/2005/8/layout/bProcess3"/>
    <dgm:cxn modelId="{AE180F7B-1203-46DD-B2E1-80B449028F54}" type="presOf" srcId="{565B2B3B-5B37-43E2-A54D-D96D46E7FB0A}" destId="{D4D2ADCE-BDBA-4FFE-ACF8-FE949F15D9AD}" srcOrd="0" destOrd="0" presId="urn:microsoft.com/office/officeart/2005/8/layout/bProcess3"/>
    <dgm:cxn modelId="{AC102B90-C86C-4AED-9E66-AB2B69F44C10}" type="presOf" srcId="{9A8897B1-8786-4F45-8F3E-6F9FA28A4495}" destId="{EF7E357A-05A4-420C-91CB-57667FFFC1C1}" srcOrd="0" destOrd="0" presId="urn:microsoft.com/office/officeart/2005/8/layout/bProcess3"/>
    <dgm:cxn modelId="{14B95AB3-97D6-4810-9E84-55CE52B723F7}" type="presOf" srcId="{C03D9C20-C313-40DD-9456-4F6401D43EE7}" destId="{0829F314-22B6-4965-B38C-3171E339DB25}" srcOrd="0" destOrd="0" presId="urn:microsoft.com/office/officeart/2005/8/layout/bProcess3"/>
    <dgm:cxn modelId="{39D9D1D1-2B29-425C-8E04-CC348E9D2113}" type="presOf" srcId="{7DDBE0C6-03CA-4E18-B4EB-4C58A20E7A3B}" destId="{68D72BB0-710C-4234-BB6C-4E554FB70EE0}" srcOrd="1" destOrd="0" presId="urn:microsoft.com/office/officeart/2005/8/layout/bProcess3"/>
    <dgm:cxn modelId="{433A31E7-C56E-4BC7-B591-EFC27638C809}" srcId="{9A8897B1-8786-4F45-8F3E-6F9FA28A4495}" destId="{C03D9C20-C313-40DD-9456-4F6401D43EE7}" srcOrd="3" destOrd="0" parTransId="{D8EA4684-7D90-41CA-AE71-0C5D708D023D}" sibTransId="{5457DEA9-A622-4920-B41A-AFFBB7752939}"/>
    <dgm:cxn modelId="{7AFEB5F5-421C-45DA-BD14-83D0F4A873AF}" type="presParOf" srcId="{EF7E357A-05A4-420C-91CB-57667FFFC1C1}" destId="{D149737F-36DF-4011-B9E5-AAB9F36AF052}" srcOrd="0" destOrd="0" presId="urn:microsoft.com/office/officeart/2005/8/layout/bProcess3"/>
    <dgm:cxn modelId="{2AB5E4C4-4CF3-44CA-83C3-783CD4C25274}" type="presParOf" srcId="{EF7E357A-05A4-420C-91CB-57667FFFC1C1}" destId="{C30F5C66-3708-42C1-85DE-CEE3C68AB376}" srcOrd="1" destOrd="0" presId="urn:microsoft.com/office/officeart/2005/8/layout/bProcess3"/>
    <dgm:cxn modelId="{963394E4-02EF-4376-916D-7553F10403B1}" type="presParOf" srcId="{C30F5C66-3708-42C1-85DE-CEE3C68AB376}" destId="{A00D1525-7DD0-4B68-BEC5-B0518EB3959C}" srcOrd="0" destOrd="0" presId="urn:microsoft.com/office/officeart/2005/8/layout/bProcess3"/>
    <dgm:cxn modelId="{406C598E-F8D9-455E-9469-4E97B46D63FB}" type="presParOf" srcId="{EF7E357A-05A4-420C-91CB-57667FFFC1C1}" destId="{8998D27A-080C-4007-A8AC-9F8DD7B1C5A5}" srcOrd="2" destOrd="0" presId="urn:microsoft.com/office/officeart/2005/8/layout/bProcess3"/>
    <dgm:cxn modelId="{AC1CF8BF-6A3A-4C30-8615-9C1EECECEF9B}" type="presParOf" srcId="{EF7E357A-05A4-420C-91CB-57667FFFC1C1}" destId="{DEE4307B-914B-4176-8198-21CFECF65827}" srcOrd="3" destOrd="0" presId="urn:microsoft.com/office/officeart/2005/8/layout/bProcess3"/>
    <dgm:cxn modelId="{64498DC2-38B2-449E-BFF2-C6DD7C9101A7}" type="presParOf" srcId="{DEE4307B-914B-4176-8198-21CFECF65827}" destId="{68D72BB0-710C-4234-BB6C-4E554FB70EE0}" srcOrd="0" destOrd="0" presId="urn:microsoft.com/office/officeart/2005/8/layout/bProcess3"/>
    <dgm:cxn modelId="{10D6FF20-96FB-450E-8220-399B9A1D3D9B}" type="presParOf" srcId="{EF7E357A-05A4-420C-91CB-57667FFFC1C1}" destId="{D4D2ADCE-BDBA-4FFE-ACF8-FE949F15D9AD}" srcOrd="4" destOrd="0" presId="urn:microsoft.com/office/officeart/2005/8/layout/bProcess3"/>
    <dgm:cxn modelId="{989EF643-7C18-44EA-8F1D-C0F7A8F85FF9}" type="presParOf" srcId="{EF7E357A-05A4-420C-91CB-57667FFFC1C1}" destId="{EC840B94-7646-4FD9-A6AE-9D190066EFBF}" srcOrd="5" destOrd="0" presId="urn:microsoft.com/office/officeart/2005/8/layout/bProcess3"/>
    <dgm:cxn modelId="{A33D2A4F-AF23-40DC-8FB1-AE4B9CE2D821}" type="presParOf" srcId="{EC840B94-7646-4FD9-A6AE-9D190066EFBF}" destId="{B83C7A3A-A482-491A-9EAF-46352B8321CC}" srcOrd="0" destOrd="0" presId="urn:microsoft.com/office/officeart/2005/8/layout/bProcess3"/>
    <dgm:cxn modelId="{6F67DDEE-BC7F-4F9D-A789-CB9305854F51}" type="presParOf" srcId="{EF7E357A-05A4-420C-91CB-57667FFFC1C1}" destId="{0829F314-22B6-4965-B38C-3171E339DB25}" srcOrd="6" destOrd="0" presId="urn:microsoft.com/office/officeart/2005/8/layout/bProcess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3C80DAFD-7755-4045-ACCB-C1B9A31893E2}" type="doc">
      <dgm:prSet loTypeId="urn:microsoft.com/office/officeart/2005/8/layout/arrow4" loCatId="relationship" qsTypeId="urn:microsoft.com/office/officeart/2005/8/quickstyle/simple4" qsCatId="simple" csTypeId="urn:microsoft.com/office/officeart/2005/8/colors/colorful3" csCatId="colorful" phldr="1"/>
      <dgm:spPr/>
      <dgm:t>
        <a:bodyPr/>
        <a:lstStyle/>
        <a:p>
          <a:endParaRPr lang="en-NL"/>
        </a:p>
      </dgm:t>
    </dgm:pt>
    <dgm:pt modelId="{F302DAF3-A57A-4FFE-A08A-D3925176F125}">
      <dgm:prSet phldrT="[Text]" custT="1"/>
      <dgm:spPr/>
      <dgm:t>
        <a:bodyPr/>
        <a:lstStyle/>
        <a:p>
          <a:r>
            <a:rPr lang="en-US" sz="2000" b="1" dirty="0">
              <a:solidFill>
                <a:schemeClr val="accent6"/>
              </a:solidFill>
            </a:rPr>
            <a:t>Interpretation and Assessment</a:t>
          </a:r>
          <a:endParaRPr lang="en-NL" sz="2000" b="1" dirty="0">
            <a:solidFill>
              <a:schemeClr val="accent6"/>
            </a:solidFill>
          </a:endParaRPr>
        </a:p>
      </dgm:t>
    </dgm:pt>
    <dgm:pt modelId="{A5F36B48-392D-4FDC-839D-F72F469F64F1}" type="parTrans" cxnId="{B3511177-F32A-46AF-A09F-2586A82238D4}">
      <dgm:prSet/>
      <dgm:spPr/>
      <dgm:t>
        <a:bodyPr/>
        <a:lstStyle/>
        <a:p>
          <a:endParaRPr lang="en-NL" sz="1600"/>
        </a:p>
      </dgm:t>
    </dgm:pt>
    <dgm:pt modelId="{8DE0D985-AFD0-41C0-B052-0FC45A5B8569}" type="sibTrans" cxnId="{B3511177-F32A-46AF-A09F-2586A82238D4}">
      <dgm:prSet/>
      <dgm:spPr/>
      <dgm:t>
        <a:bodyPr/>
        <a:lstStyle/>
        <a:p>
          <a:endParaRPr lang="en-NL" sz="1600"/>
        </a:p>
      </dgm:t>
    </dgm:pt>
    <dgm:pt modelId="{ABE47C3C-0425-43E5-B8FC-02184146A1DC}">
      <dgm:prSet phldrT="[Text]" custT="1"/>
      <dgm:spPr/>
      <dgm:t>
        <a:bodyPr/>
        <a:lstStyle/>
        <a:p>
          <a:pPr>
            <a:buNone/>
          </a:pPr>
          <a:r>
            <a:rPr lang="en-US" sz="2000" b="1" dirty="0">
              <a:solidFill>
                <a:schemeClr val="accent4"/>
              </a:solidFill>
            </a:rPr>
            <a:t>Specification and Implementation</a:t>
          </a:r>
          <a:endParaRPr lang="en-NL" sz="2000" b="1" dirty="0">
            <a:solidFill>
              <a:schemeClr val="accent4"/>
            </a:solidFill>
          </a:endParaRPr>
        </a:p>
      </dgm:t>
    </dgm:pt>
    <dgm:pt modelId="{60819E33-10B4-4988-A07F-89C5EDCBFCC8}" type="parTrans" cxnId="{23B6B783-0A8F-4A2F-8009-CE52C70F380B}">
      <dgm:prSet/>
      <dgm:spPr/>
      <dgm:t>
        <a:bodyPr/>
        <a:lstStyle/>
        <a:p>
          <a:endParaRPr lang="en-NL" sz="1600"/>
        </a:p>
      </dgm:t>
    </dgm:pt>
    <dgm:pt modelId="{81B458B7-812E-48E4-8CF0-4695B4BF7713}" type="sibTrans" cxnId="{23B6B783-0A8F-4A2F-8009-CE52C70F380B}">
      <dgm:prSet/>
      <dgm:spPr/>
      <dgm:t>
        <a:bodyPr/>
        <a:lstStyle/>
        <a:p>
          <a:endParaRPr lang="en-NL" sz="1600"/>
        </a:p>
      </dgm:t>
    </dgm:pt>
    <dgm:pt modelId="{6BFCBA7A-45FE-4DB0-834E-5930375ED4BA}">
      <dgm:prSet phldrT="[Text]" custT="1"/>
      <dgm:spPr/>
      <dgm:t>
        <a:bodyPr/>
        <a:lstStyle/>
        <a:p>
          <a:r>
            <a:rPr lang="en-US" sz="1600" dirty="0">
              <a:solidFill>
                <a:schemeClr val="accent6"/>
              </a:solidFill>
            </a:rPr>
            <a:t>Difficult and costly</a:t>
          </a:r>
          <a:endParaRPr lang="en-NL" sz="1600" dirty="0">
            <a:solidFill>
              <a:schemeClr val="accent6"/>
            </a:solidFill>
          </a:endParaRPr>
        </a:p>
      </dgm:t>
    </dgm:pt>
    <dgm:pt modelId="{B3773DEB-D67A-41A4-ABE3-1B7609A1522D}" type="parTrans" cxnId="{92B6A51B-BB2D-4D81-B16E-FA887338DAC0}">
      <dgm:prSet/>
      <dgm:spPr/>
      <dgm:t>
        <a:bodyPr/>
        <a:lstStyle/>
        <a:p>
          <a:endParaRPr lang="en-NL" sz="1600"/>
        </a:p>
      </dgm:t>
    </dgm:pt>
    <dgm:pt modelId="{D3BB8079-9719-475A-A910-4F13D3D3D0E5}" type="sibTrans" cxnId="{92B6A51B-BB2D-4D81-B16E-FA887338DAC0}">
      <dgm:prSet/>
      <dgm:spPr/>
      <dgm:t>
        <a:bodyPr/>
        <a:lstStyle/>
        <a:p>
          <a:endParaRPr lang="en-NL" sz="1600"/>
        </a:p>
      </dgm:t>
    </dgm:pt>
    <dgm:pt modelId="{1401F78E-3B67-4DE8-9B8F-B60B7C7A1266}">
      <dgm:prSet phldrT="[Text]" custT="1"/>
      <dgm:spPr/>
      <dgm:t>
        <a:bodyPr/>
        <a:lstStyle/>
        <a:p>
          <a:r>
            <a:rPr lang="en-US" sz="1600" dirty="0">
              <a:solidFill>
                <a:schemeClr val="accent6"/>
              </a:solidFill>
            </a:rPr>
            <a:t>Error-prone</a:t>
          </a:r>
          <a:endParaRPr lang="en-NL" sz="1600" dirty="0">
            <a:solidFill>
              <a:schemeClr val="accent6"/>
            </a:solidFill>
          </a:endParaRPr>
        </a:p>
      </dgm:t>
    </dgm:pt>
    <dgm:pt modelId="{1B082D67-58CC-41C9-9195-CB860882EC71}" type="parTrans" cxnId="{17005C90-0117-481D-B789-CF294F5D126E}">
      <dgm:prSet/>
      <dgm:spPr/>
      <dgm:t>
        <a:bodyPr/>
        <a:lstStyle/>
        <a:p>
          <a:endParaRPr lang="en-NL" sz="1600"/>
        </a:p>
      </dgm:t>
    </dgm:pt>
    <dgm:pt modelId="{F28991A7-30A7-4CC7-BCB0-6CF1D9E3229C}" type="sibTrans" cxnId="{17005C90-0117-481D-B789-CF294F5D126E}">
      <dgm:prSet/>
      <dgm:spPr/>
      <dgm:t>
        <a:bodyPr/>
        <a:lstStyle/>
        <a:p>
          <a:endParaRPr lang="en-NL" sz="1600"/>
        </a:p>
      </dgm:t>
    </dgm:pt>
    <dgm:pt modelId="{BF45B748-2519-4915-9FD6-77B047B7F5B5}">
      <dgm:prSet phldrT="[Text]" custT="1"/>
      <dgm:spPr/>
      <dgm:t>
        <a:bodyPr/>
        <a:lstStyle/>
        <a:p>
          <a:pPr>
            <a:buFont typeface="Arial" panose="020B0604020202020204" pitchFamily="34" charset="0"/>
            <a:buChar char="•"/>
          </a:pPr>
          <a:r>
            <a:rPr lang="en-US" sz="1600" dirty="0">
              <a:solidFill>
                <a:schemeClr val="accent4"/>
              </a:solidFill>
            </a:rPr>
            <a:t>Systematic</a:t>
          </a:r>
          <a:endParaRPr lang="en-NL" sz="1600" dirty="0">
            <a:solidFill>
              <a:schemeClr val="accent4"/>
            </a:solidFill>
          </a:endParaRPr>
        </a:p>
      </dgm:t>
    </dgm:pt>
    <dgm:pt modelId="{40E6772C-5B1F-4312-90EF-FAA7DF67D58A}" type="parTrans" cxnId="{FD88E537-48CE-4B51-84CD-EF06C47EF602}">
      <dgm:prSet/>
      <dgm:spPr/>
      <dgm:t>
        <a:bodyPr/>
        <a:lstStyle/>
        <a:p>
          <a:endParaRPr lang="en-NL" sz="1600"/>
        </a:p>
      </dgm:t>
    </dgm:pt>
    <dgm:pt modelId="{41002579-95CF-483B-BD81-30DC8FC3801E}" type="sibTrans" cxnId="{FD88E537-48CE-4B51-84CD-EF06C47EF602}">
      <dgm:prSet/>
      <dgm:spPr/>
      <dgm:t>
        <a:bodyPr/>
        <a:lstStyle/>
        <a:p>
          <a:endParaRPr lang="en-NL" sz="1600"/>
        </a:p>
      </dgm:t>
    </dgm:pt>
    <dgm:pt modelId="{75FCBA4E-C5AA-4F76-AADE-1F1408A826D1}">
      <dgm:prSet phldrT="[Text]" custT="1"/>
      <dgm:spPr/>
      <dgm:t>
        <a:bodyPr/>
        <a:lstStyle/>
        <a:p>
          <a:pPr>
            <a:buFont typeface="Arial" panose="020B0604020202020204" pitchFamily="34" charset="0"/>
            <a:buChar char="•"/>
          </a:pPr>
          <a:r>
            <a:rPr lang="en-US" sz="1600" dirty="0">
              <a:solidFill>
                <a:schemeClr val="accent4"/>
              </a:solidFill>
            </a:rPr>
            <a:t>Structured</a:t>
          </a:r>
          <a:endParaRPr lang="en-NL" sz="1600" dirty="0">
            <a:solidFill>
              <a:schemeClr val="accent4"/>
            </a:solidFill>
          </a:endParaRPr>
        </a:p>
      </dgm:t>
    </dgm:pt>
    <dgm:pt modelId="{980EA69B-8BDD-4B28-AEAE-F9FD5EC96B56}" type="parTrans" cxnId="{307B092F-3CD1-4643-9762-3C1D86EF404D}">
      <dgm:prSet/>
      <dgm:spPr/>
      <dgm:t>
        <a:bodyPr/>
        <a:lstStyle/>
        <a:p>
          <a:endParaRPr lang="en-NL" sz="1600"/>
        </a:p>
      </dgm:t>
    </dgm:pt>
    <dgm:pt modelId="{AB13CF54-9DF3-4D14-8AC7-F0015486D638}" type="sibTrans" cxnId="{307B092F-3CD1-4643-9762-3C1D86EF404D}">
      <dgm:prSet/>
      <dgm:spPr/>
      <dgm:t>
        <a:bodyPr/>
        <a:lstStyle/>
        <a:p>
          <a:endParaRPr lang="en-NL" sz="1600"/>
        </a:p>
      </dgm:t>
    </dgm:pt>
    <dgm:pt modelId="{7D8AAB28-59EB-4753-8606-8C83DA8CA3DB}">
      <dgm:prSet phldrT="[Text]" custT="1"/>
      <dgm:spPr/>
      <dgm:t>
        <a:bodyPr/>
        <a:lstStyle/>
        <a:p>
          <a:r>
            <a:rPr lang="en-US" sz="1600" dirty="0">
              <a:solidFill>
                <a:schemeClr val="accent6"/>
              </a:solidFill>
            </a:rPr>
            <a:t>Non-deterministic (interpretation-driven)</a:t>
          </a:r>
          <a:endParaRPr lang="en-NL" sz="1600" dirty="0">
            <a:solidFill>
              <a:schemeClr val="accent6"/>
            </a:solidFill>
          </a:endParaRPr>
        </a:p>
      </dgm:t>
    </dgm:pt>
    <dgm:pt modelId="{13A474B7-9C97-4452-8F48-A0FD6E412903}" type="parTrans" cxnId="{5C4F1F72-DD7F-4335-A665-0DE0B86B1CEA}">
      <dgm:prSet/>
      <dgm:spPr/>
      <dgm:t>
        <a:bodyPr/>
        <a:lstStyle/>
        <a:p>
          <a:endParaRPr lang="en-NL" sz="1600"/>
        </a:p>
      </dgm:t>
    </dgm:pt>
    <dgm:pt modelId="{F19B5291-A998-483E-9D9D-007D147BF756}" type="sibTrans" cxnId="{5C4F1F72-DD7F-4335-A665-0DE0B86B1CEA}">
      <dgm:prSet/>
      <dgm:spPr/>
      <dgm:t>
        <a:bodyPr/>
        <a:lstStyle/>
        <a:p>
          <a:endParaRPr lang="en-NL" sz="1600"/>
        </a:p>
      </dgm:t>
    </dgm:pt>
    <dgm:pt modelId="{8E24AB29-4D8F-4097-8927-4EDDB98E8844}">
      <dgm:prSet phldrT="[Text]" custT="1"/>
      <dgm:spPr/>
      <dgm:t>
        <a:bodyPr/>
        <a:lstStyle/>
        <a:p>
          <a:pPr>
            <a:buFont typeface="Arial" panose="020B0604020202020204" pitchFamily="34" charset="0"/>
            <a:buChar char="•"/>
          </a:pPr>
          <a:r>
            <a:rPr lang="en-US" sz="1600" dirty="0">
              <a:solidFill>
                <a:schemeClr val="accent4"/>
              </a:solidFill>
            </a:rPr>
            <a:t>Deterministic (specification-driven)</a:t>
          </a:r>
          <a:endParaRPr lang="en-NL" sz="1600" dirty="0">
            <a:solidFill>
              <a:schemeClr val="accent4"/>
            </a:solidFill>
          </a:endParaRPr>
        </a:p>
      </dgm:t>
    </dgm:pt>
    <dgm:pt modelId="{3A43EDAD-A0A5-4F81-9455-AC2811822643}" type="parTrans" cxnId="{BC72E015-DAC8-487C-AFAC-2F9260980AB9}">
      <dgm:prSet/>
      <dgm:spPr/>
      <dgm:t>
        <a:bodyPr/>
        <a:lstStyle/>
        <a:p>
          <a:endParaRPr lang="en-NL" sz="1600"/>
        </a:p>
      </dgm:t>
    </dgm:pt>
    <dgm:pt modelId="{E9DFC5E3-86B2-4A6F-A006-40BCA6EAC7ED}" type="sibTrans" cxnId="{BC72E015-DAC8-487C-AFAC-2F9260980AB9}">
      <dgm:prSet/>
      <dgm:spPr/>
      <dgm:t>
        <a:bodyPr/>
        <a:lstStyle/>
        <a:p>
          <a:endParaRPr lang="en-NL" sz="1600"/>
        </a:p>
      </dgm:t>
    </dgm:pt>
    <dgm:pt modelId="{44A3BEEB-6C1A-43AC-99D7-FC3244866C4E}" type="pres">
      <dgm:prSet presAssocID="{3C80DAFD-7755-4045-ACCB-C1B9A31893E2}" presName="compositeShape" presStyleCnt="0">
        <dgm:presLayoutVars>
          <dgm:chMax val="2"/>
          <dgm:dir/>
          <dgm:resizeHandles val="exact"/>
        </dgm:presLayoutVars>
      </dgm:prSet>
      <dgm:spPr/>
    </dgm:pt>
    <dgm:pt modelId="{B6455582-0D8D-401A-867F-62C87D5CC44D}" type="pres">
      <dgm:prSet presAssocID="{F302DAF3-A57A-4FFE-A08A-D3925176F125}" presName="upArrow" presStyleLbl="node1" presStyleIdx="0" presStyleCnt="2"/>
      <dgm:spPr>
        <a:solidFill>
          <a:schemeClr val="accent6"/>
        </a:solidFill>
      </dgm:spPr>
    </dgm:pt>
    <dgm:pt modelId="{34048791-BADD-45D0-8A4B-9035A43B5EB6}" type="pres">
      <dgm:prSet presAssocID="{F302DAF3-A57A-4FFE-A08A-D3925176F125}" presName="upArrowText" presStyleLbl="revTx" presStyleIdx="0" presStyleCnt="2">
        <dgm:presLayoutVars>
          <dgm:chMax val="0"/>
          <dgm:bulletEnabled val="1"/>
        </dgm:presLayoutVars>
      </dgm:prSet>
      <dgm:spPr/>
    </dgm:pt>
    <dgm:pt modelId="{567C7E33-649A-481E-AA80-A35A95B325FC}" type="pres">
      <dgm:prSet presAssocID="{ABE47C3C-0425-43E5-B8FC-02184146A1DC}" presName="downArrow" presStyleLbl="node1" presStyleIdx="1" presStyleCnt="2"/>
      <dgm:spPr/>
    </dgm:pt>
    <dgm:pt modelId="{3CC102CC-413F-4569-BC0C-06DC9C23D0E6}" type="pres">
      <dgm:prSet presAssocID="{ABE47C3C-0425-43E5-B8FC-02184146A1DC}" presName="downArrowText" presStyleLbl="revTx" presStyleIdx="1" presStyleCnt="2">
        <dgm:presLayoutVars>
          <dgm:chMax val="0"/>
          <dgm:bulletEnabled val="1"/>
        </dgm:presLayoutVars>
      </dgm:prSet>
      <dgm:spPr/>
    </dgm:pt>
  </dgm:ptLst>
  <dgm:cxnLst>
    <dgm:cxn modelId="{EBA94302-8592-457C-ABE7-29F54C08BE77}" type="presOf" srcId="{1401F78E-3B67-4DE8-9B8F-B60B7C7A1266}" destId="{34048791-BADD-45D0-8A4B-9035A43B5EB6}" srcOrd="0" destOrd="2" presId="urn:microsoft.com/office/officeart/2005/8/layout/arrow4"/>
    <dgm:cxn modelId="{BC72E015-DAC8-487C-AFAC-2F9260980AB9}" srcId="{ABE47C3C-0425-43E5-B8FC-02184146A1DC}" destId="{8E24AB29-4D8F-4097-8927-4EDDB98E8844}" srcOrd="2" destOrd="0" parTransId="{3A43EDAD-A0A5-4F81-9455-AC2811822643}" sibTransId="{E9DFC5E3-86B2-4A6F-A006-40BCA6EAC7ED}"/>
    <dgm:cxn modelId="{92B6A51B-BB2D-4D81-B16E-FA887338DAC0}" srcId="{F302DAF3-A57A-4FFE-A08A-D3925176F125}" destId="{6BFCBA7A-45FE-4DB0-834E-5930375ED4BA}" srcOrd="0" destOrd="0" parTransId="{B3773DEB-D67A-41A4-ABE3-1B7609A1522D}" sibTransId="{D3BB8079-9719-475A-A910-4F13D3D3D0E5}"/>
    <dgm:cxn modelId="{61CE4E25-3BE3-4823-BB58-C179F5E42C1D}" type="presOf" srcId="{F302DAF3-A57A-4FFE-A08A-D3925176F125}" destId="{34048791-BADD-45D0-8A4B-9035A43B5EB6}" srcOrd="0" destOrd="0" presId="urn:microsoft.com/office/officeart/2005/8/layout/arrow4"/>
    <dgm:cxn modelId="{307B092F-3CD1-4643-9762-3C1D86EF404D}" srcId="{ABE47C3C-0425-43E5-B8FC-02184146A1DC}" destId="{75FCBA4E-C5AA-4F76-AADE-1F1408A826D1}" srcOrd="1" destOrd="0" parTransId="{980EA69B-8BDD-4B28-AEAE-F9FD5EC96B56}" sibTransId="{AB13CF54-9DF3-4D14-8AC7-F0015486D638}"/>
    <dgm:cxn modelId="{FD88E537-48CE-4B51-84CD-EF06C47EF602}" srcId="{ABE47C3C-0425-43E5-B8FC-02184146A1DC}" destId="{BF45B748-2519-4915-9FD6-77B047B7F5B5}" srcOrd="0" destOrd="0" parTransId="{40E6772C-5B1F-4312-90EF-FAA7DF67D58A}" sibTransId="{41002579-95CF-483B-BD81-30DC8FC3801E}"/>
    <dgm:cxn modelId="{D7F3A064-F4AA-48E8-A977-806D8B30BCB8}" type="presOf" srcId="{BF45B748-2519-4915-9FD6-77B047B7F5B5}" destId="{3CC102CC-413F-4569-BC0C-06DC9C23D0E6}" srcOrd="0" destOrd="1" presId="urn:microsoft.com/office/officeart/2005/8/layout/arrow4"/>
    <dgm:cxn modelId="{2297704E-8D36-4CE3-BDD0-3292A8F6FD6C}" type="presOf" srcId="{ABE47C3C-0425-43E5-B8FC-02184146A1DC}" destId="{3CC102CC-413F-4569-BC0C-06DC9C23D0E6}" srcOrd="0" destOrd="0" presId="urn:microsoft.com/office/officeart/2005/8/layout/arrow4"/>
    <dgm:cxn modelId="{5C4F1F72-DD7F-4335-A665-0DE0B86B1CEA}" srcId="{F302DAF3-A57A-4FFE-A08A-D3925176F125}" destId="{7D8AAB28-59EB-4753-8606-8C83DA8CA3DB}" srcOrd="2" destOrd="0" parTransId="{13A474B7-9C97-4452-8F48-A0FD6E412903}" sibTransId="{F19B5291-A998-483E-9D9D-007D147BF756}"/>
    <dgm:cxn modelId="{2A1B7353-FC2A-49BB-B14A-CCDB7ED6745A}" type="presOf" srcId="{6BFCBA7A-45FE-4DB0-834E-5930375ED4BA}" destId="{34048791-BADD-45D0-8A4B-9035A43B5EB6}" srcOrd="0" destOrd="1" presId="urn:microsoft.com/office/officeart/2005/8/layout/arrow4"/>
    <dgm:cxn modelId="{B3511177-F32A-46AF-A09F-2586A82238D4}" srcId="{3C80DAFD-7755-4045-ACCB-C1B9A31893E2}" destId="{F302DAF3-A57A-4FFE-A08A-D3925176F125}" srcOrd="0" destOrd="0" parTransId="{A5F36B48-392D-4FDC-839D-F72F469F64F1}" sibTransId="{8DE0D985-AFD0-41C0-B052-0FC45A5B8569}"/>
    <dgm:cxn modelId="{23B6B783-0A8F-4A2F-8009-CE52C70F380B}" srcId="{3C80DAFD-7755-4045-ACCB-C1B9A31893E2}" destId="{ABE47C3C-0425-43E5-B8FC-02184146A1DC}" srcOrd="1" destOrd="0" parTransId="{60819E33-10B4-4988-A07F-89C5EDCBFCC8}" sibTransId="{81B458B7-812E-48E4-8CF0-4695B4BF7713}"/>
    <dgm:cxn modelId="{17005C90-0117-481D-B789-CF294F5D126E}" srcId="{F302DAF3-A57A-4FFE-A08A-D3925176F125}" destId="{1401F78E-3B67-4DE8-9B8F-B60B7C7A1266}" srcOrd="1" destOrd="0" parTransId="{1B082D67-58CC-41C9-9195-CB860882EC71}" sibTransId="{F28991A7-30A7-4CC7-BCB0-6CF1D9E3229C}"/>
    <dgm:cxn modelId="{3C9A749F-92BD-4882-9485-BA1A6E326D24}" type="presOf" srcId="{3C80DAFD-7755-4045-ACCB-C1B9A31893E2}" destId="{44A3BEEB-6C1A-43AC-99D7-FC3244866C4E}" srcOrd="0" destOrd="0" presId="urn:microsoft.com/office/officeart/2005/8/layout/arrow4"/>
    <dgm:cxn modelId="{6679F3AA-616E-4431-B305-02792D3E7A41}" type="presOf" srcId="{8E24AB29-4D8F-4097-8927-4EDDB98E8844}" destId="{3CC102CC-413F-4569-BC0C-06DC9C23D0E6}" srcOrd="0" destOrd="3" presId="urn:microsoft.com/office/officeart/2005/8/layout/arrow4"/>
    <dgm:cxn modelId="{97848BD8-0809-48FD-B424-A3FF19379482}" type="presOf" srcId="{7D8AAB28-59EB-4753-8606-8C83DA8CA3DB}" destId="{34048791-BADD-45D0-8A4B-9035A43B5EB6}" srcOrd="0" destOrd="3" presId="urn:microsoft.com/office/officeart/2005/8/layout/arrow4"/>
    <dgm:cxn modelId="{73FD7EFE-1FC5-4A41-A9C3-81A51C1CD2F3}" type="presOf" srcId="{75FCBA4E-C5AA-4F76-AADE-1F1408A826D1}" destId="{3CC102CC-413F-4569-BC0C-06DC9C23D0E6}" srcOrd="0" destOrd="2" presId="urn:microsoft.com/office/officeart/2005/8/layout/arrow4"/>
    <dgm:cxn modelId="{2F20E83C-F892-4E75-B46D-2B7A8DFE210E}" type="presParOf" srcId="{44A3BEEB-6C1A-43AC-99D7-FC3244866C4E}" destId="{B6455582-0D8D-401A-867F-62C87D5CC44D}" srcOrd="0" destOrd="0" presId="urn:microsoft.com/office/officeart/2005/8/layout/arrow4"/>
    <dgm:cxn modelId="{D5345E39-1E48-4A7A-AEF6-D122B4CC5F90}" type="presParOf" srcId="{44A3BEEB-6C1A-43AC-99D7-FC3244866C4E}" destId="{34048791-BADD-45D0-8A4B-9035A43B5EB6}" srcOrd="1" destOrd="0" presId="urn:microsoft.com/office/officeart/2005/8/layout/arrow4"/>
    <dgm:cxn modelId="{8644B576-DDEB-40C8-998E-4066C59A11C7}" type="presParOf" srcId="{44A3BEEB-6C1A-43AC-99D7-FC3244866C4E}" destId="{567C7E33-649A-481E-AA80-A35A95B325FC}" srcOrd="2" destOrd="0" presId="urn:microsoft.com/office/officeart/2005/8/layout/arrow4"/>
    <dgm:cxn modelId="{7BD92954-9005-4373-987C-84D2EB740C27}" type="presParOf" srcId="{44A3BEEB-6C1A-43AC-99D7-FC3244866C4E}" destId="{3CC102CC-413F-4569-BC0C-06DC9C23D0E6}" srcOrd="3" destOrd="0" presId="urn:microsoft.com/office/officeart/2005/8/layout/arrow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EC936B6-E74A-4ADC-9FF8-41B735ABA13C}">
      <dsp:nvSpPr>
        <dsp:cNvPr id="0" name=""/>
        <dsp:cNvSpPr/>
      </dsp:nvSpPr>
      <dsp:spPr>
        <a:xfrm>
          <a:off x="1749858" y="1194035"/>
          <a:ext cx="371214" cy="91440"/>
        </a:xfrm>
        <a:custGeom>
          <a:avLst/>
          <a:gdLst/>
          <a:ahLst/>
          <a:cxnLst/>
          <a:rect l="0" t="0" r="0" b="0"/>
          <a:pathLst>
            <a:path>
              <a:moveTo>
                <a:pt x="0" y="45720"/>
              </a:moveTo>
              <a:lnTo>
                <a:pt x="371214" y="45720"/>
              </a:lnTo>
            </a:path>
          </a:pathLst>
        </a:custGeom>
        <a:noFill/>
        <a:ln w="34925" cap="flat" cmpd="sng" algn="ctr">
          <a:solidFill>
            <a:schemeClr val="accent2"/>
          </a:solidFill>
          <a:prstDash val="solid"/>
          <a:tailEnd type="arrow" w="lg" len="me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NL" sz="500" kern="1200"/>
        </a:p>
      </dsp:txBody>
      <dsp:txXfrm>
        <a:off x="1925420" y="1237746"/>
        <a:ext cx="20090" cy="4018"/>
      </dsp:txXfrm>
    </dsp:sp>
    <dsp:sp modelId="{BCF0A5AE-28F4-460B-A483-4E9270C15EA5}">
      <dsp:nvSpPr>
        <dsp:cNvPr id="0" name=""/>
        <dsp:cNvSpPr/>
      </dsp:nvSpPr>
      <dsp:spPr>
        <a:xfrm>
          <a:off x="4640" y="715649"/>
          <a:ext cx="1747017" cy="1048210"/>
        </a:xfrm>
        <a:prstGeom prst="rect">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accent1">
              <a:hueOff val="0"/>
              <a:satOff val="0"/>
              <a:lumOff val="0"/>
              <a:alphaOff val="0"/>
              <a:shade val="35000"/>
              <a:satMod val="160000"/>
            </a:schemeClr>
          </a:contourClr>
        </a:sp3d>
      </dsp:spPr>
      <dsp:style>
        <a:lnRef idx="0">
          <a:scrgbClr r="0" g="0" b="0"/>
        </a:lnRef>
        <a:fillRef idx="3">
          <a:scrgbClr r="0" g="0" b="0"/>
        </a:fillRef>
        <a:effectRef idx="3">
          <a:scrgbClr r="0" g="0" b="0"/>
        </a:effectRef>
        <a:fontRef idx="minor">
          <a:schemeClr val="lt1"/>
        </a:fontRef>
      </dsp:style>
      <dsp:txBody>
        <a:bodyPr spcFirstLastPara="0" vert="horz" wrap="square" lIns="64008" tIns="64008" rIns="64008" bIns="64008" numCol="1" spcCol="1270" anchor="ctr" anchorCtr="0">
          <a:noAutofit/>
        </a:bodyPr>
        <a:lstStyle/>
        <a:p>
          <a:pPr marL="0" lvl="0" indent="0" algn="l" defTabSz="400050">
            <a:lnSpc>
              <a:spcPct val="90000"/>
            </a:lnSpc>
            <a:spcBef>
              <a:spcPct val="0"/>
            </a:spcBef>
            <a:spcAft>
              <a:spcPct val="35000"/>
            </a:spcAft>
            <a:buNone/>
          </a:pPr>
          <a:r>
            <a:rPr lang="it-IT" sz="900" b="1" u="none" kern="1200" dirty="0"/>
            <a:t>Scenario 1: </a:t>
          </a:r>
          <a:r>
            <a:rPr lang="en-US" sz="900" kern="1200" dirty="0"/>
            <a:t>Clarify Meanings Before Reuse</a:t>
          </a:r>
          <a:endParaRPr lang="en-NL" sz="900" b="0" u="none" kern="1200" dirty="0"/>
        </a:p>
      </dsp:txBody>
      <dsp:txXfrm>
        <a:off x="4640" y="715649"/>
        <a:ext cx="1747017" cy="1048210"/>
      </dsp:txXfrm>
    </dsp:sp>
    <dsp:sp modelId="{EE67AEC7-A539-4D09-80D5-397693C7C04F}">
      <dsp:nvSpPr>
        <dsp:cNvPr id="0" name=""/>
        <dsp:cNvSpPr/>
      </dsp:nvSpPr>
      <dsp:spPr>
        <a:xfrm>
          <a:off x="3898690" y="1194035"/>
          <a:ext cx="371214" cy="91440"/>
        </a:xfrm>
        <a:custGeom>
          <a:avLst/>
          <a:gdLst/>
          <a:ahLst/>
          <a:cxnLst/>
          <a:rect l="0" t="0" r="0" b="0"/>
          <a:pathLst>
            <a:path>
              <a:moveTo>
                <a:pt x="0" y="45720"/>
              </a:moveTo>
              <a:lnTo>
                <a:pt x="371214" y="45720"/>
              </a:lnTo>
            </a:path>
          </a:pathLst>
        </a:custGeom>
        <a:noFill/>
        <a:ln w="34925" cap="flat" cmpd="sng" algn="ctr">
          <a:solidFill>
            <a:schemeClr val="accent2"/>
          </a:solidFill>
          <a:prstDash val="solid"/>
          <a:tailEnd type="arrow" w="lg" len="me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NL" sz="500" kern="1200"/>
        </a:p>
      </dsp:txBody>
      <dsp:txXfrm>
        <a:off x="4074251" y="1237746"/>
        <a:ext cx="20090" cy="4018"/>
      </dsp:txXfrm>
    </dsp:sp>
    <dsp:sp modelId="{3466A636-609B-4F26-B741-EC0A1C2852FA}">
      <dsp:nvSpPr>
        <dsp:cNvPr id="0" name=""/>
        <dsp:cNvSpPr/>
      </dsp:nvSpPr>
      <dsp:spPr>
        <a:xfrm>
          <a:off x="2153472" y="715649"/>
          <a:ext cx="1747017" cy="1048210"/>
        </a:xfrm>
        <a:prstGeom prst="rect">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accent1">
              <a:hueOff val="0"/>
              <a:satOff val="0"/>
              <a:lumOff val="0"/>
              <a:alphaOff val="0"/>
              <a:shade val="35000"/>
              <a:satMod val="160000"/>
            </a:schemeClr>
          </a:contourClr>
        </a:sp3d>
      </dsp:spPr>
      <dsp:style>
        <a:lnRef idx="0">
          <a:scrgbClr r="0" g="0" b="0"/>
        </a:lnRef>
        <a:fillRef idx="3">
          <a:scrgbClr r="0" g="0" b="0"/>
        </a:fillRef>
        <a:effectRef idx="3">
          <a:scrgbClr r="0" g="0" b="0"/>
        </a:effectRef>
        <a:fontRef idx="minor">
          <a:schemeClr val="lt1"/>
        </a:fontRef>
      </dsp:style>
      <dsp:txBody>
        <a:bodyPr spcFirstLastPara="0" vert="horz" wrap="square" lIns="64008" tIns="64008" rIns="64008" bIns="64008" numCol="1" spcCol="1270" anchor="ctr" anchorCtr="0">
          <a:noAutofit/>
        </a:bodyPr>
        <a:lstStyle/>
        <a:p>
          <a:pPr marL="0" lvl="0" indent="0" algn="l" defTabSz="400050">
            <a:lnSpc>
              <a:spcPct val="90000"/>
            </a:lnSpc>
            <a:spcBef>
              <a:spcPct val="0"/>
            </a:spcBef>
            <a:spcAft>
              <a:spcPct val="35000"/>
            </a:spcAft>
            <a:buNone/>
          </a:pPr>
          <a:r>
            <a:rPr lang="en-US" sz="900" b="1" u="none" kern="1200" dirty="0"/>
            <a:t>Scenario 2: </a:t>
          </a:r>
          <a:r>
            <a:rPr lang="en-US" sz="900" kern="1200" dirty="0"/>
            <a:t>Identify the dataset that represents the right meaning</a:t>
          </a:r>
          <a:endParaRPr lang="en-NL" sz="900" b="0" u="none" kern="1200" dirty="0"/>
        </a:p>
      </dsp:txBody>
      <dsp:txXfrm>
        <a:off x="2153472" y="715649"/>
        <a:ext cx="1747017" cy="1048210"/>
      </dsp:txXfrm>
    </dsp:sp>
    <dsp:sp modelId="{0C26B74F-5C5E-488F-BE18-6EEF27F0F2A6}">
      <dsp:nvSpPr>
        <dsp:cNvPr id="0" name=""/>
        <dsp:cNvSpPr/>
      </dsp:nvSpPr>
      <dsp:spPr>
        <a:xfrm>
          <a:off x="878149" y="1762060"/>
          <a:ext cx="4297663" cy="371214"/>
        </a:xfrm>
        <a:custGeom>
          <a:avLst/>
          <a:gdLst/>
          <a:ahLst/>
          <a:cxnLst/>
          <a:rect l="0" t="0" r="0" b="0"/>
          <a:pathLst>
            <a:path>
              <a:moveTo>
                <a:pt x="4297663" y="0"/>
              </a:moveTo>
              <a:lnTo>
                <a:pt x="4297663" y="202707"/>
              </a:lnTo>
              <a:lnTo>
                <a:pt x="0" y="202707"/>
              </a:lnTo>
              <a:lnTo>
                <a:pt x="0" y="371214"/>
              </a:lnTo>
            </a:path>
          </a:pathLst>
        </a:custGeom>
        <a:noFill/>
        <a:ln w="34925" cap="flat" cmpd="sng" algn="ctr">
          <a:solidFill>
            <a:schemeClr val="accent2"/>
          </a:solidFill>
          <a:prstDash val="solid"/>
          <a:tailEnd type="arrow" w="lg" len="me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NL" sz="500" kern="1200"/>
        </a:p>
      </dsp:txBody>
      <dsp:txXfrm>
        <a:off x="2919071" y="1945658"/>
        <a:ext cx="215820" cy="4018"/>
      </dsp:txXfrm>
    </dsp:sp>
    <dsp:sp modelId="{781997A3-EE88-46C6-BA3F-CB53E3E30BE6}">
      <dsp:nvSpPr>
        <dsp:cNvPr id="0" name=""/>
        <dsp:cNvSpPr/>
      </dsp:nvSpPr>
      <dsp:spPr>
        <a:xfrm>
          <a:off x="4302304" y="715649"/>
          <a:ext cx="1747017" cy="1048210"/>
        </a:xfrm>
        <a:prstGeom prst="rect">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accent1">
              <a:hueOff val="0"/>
              <a:satOff val="0"/>
              <a:lumOff val="0"/>
              <a:alphaOff val="0"/>
              <a:shade val="35000"/>
              <a:satMod val="160000"/>
            </a:schemeClr>
          </a:contourClr>
        </a:sp3d>
      </dsp:spPr>
      <dsp:style>
        <a:lnRef idx="0">
          <a:scrgbClr r="0" g="0" b="0"/>
        </a:lnRef>
        <a:fillRef idx="3">
          <a:scrgbClr r="0" g="0" b="0"/>
        </a:fillRef>
        <a:effectRef idx="3">
          <a:scrgbClr r="0" g="0" b="0"/>
        </a:effectRef>
        <a:fontRef idx="minor">
          <a:schemeClr val="lt1"/>
        </a:fontRef>
      </dsp:style>
      <dsp:txBody>
        <a:bodyPr spcFirstLastPara="0" vert="horz" wrap="square" lIns="64008" tIns="64008" rIns="64008" bIns="64008" numCol="1" spcCol="1270" anchor="ctr" anchorCtr="0">
          <a:noAutofit/>
        </a:bodyPr>
        <a:lstStyle/>
        <a:p>
          <a:pPr marL="0" lvl="0" indent="0" algn="l" defTabSz="400050">
            <a:lnSpc>
              <a:spcPct val="90000"/>
            </a:lnSpc>
            <a:spcBef>
              <a:spcPct val="0"/>
            </a:spcBef>
            <a:spcAft>
              <a:spcPct val="35000"/>
            </a:spcAft>
            <a:buNone/>
          </a:pPr>
          <a:r>
            <a:rPr lang="en-US" sz="900" b="1" u="none" kern="1200" dirty="0"/>
            <a:t>Scenario 3: </a:t>
          </a:r>
          <a:r>
            <a:rPr lang="en-US" sz="900" b="0" u="none" kern="1200" dirty="0"/>
            <a:t>Inspect what a selected column means</a:t>
          </a:r>
          <a:endParaRPr lang="en-NL" sz="900" b="0" u="none" kern="1200" dirty="0"/>
        </a:p>
      </dsp:txBody>
      <dsp:txXfrm>
        <a:off x="4302304" y="715649"/>
        <a:ext cx="1747017" cy="1048210"/>
      </dsp:txXfrm>
    </dsp:sp>
    <dsp:sp modelId="{B654FB9A-C7F5-4D27-A357-D10950EFC7A1}">
      <dsp:nvSpPr>
        <dsp:cNvPr id="0" name=""/>
        <dsp:cNvSpPr/>
      </dsp:nvSpPr>
      <dsp:spPr>
        <a:xfrm>
          <a:off x="1749858" y="2644059"/>
          <a:ext cx="371214" cy="91440"/>
        </a:xfrm>
        <a:custGeom>
          <a:avLst/>
          <a:gdLst/>
          <a:ahLst/>
          <a:cxnLst/>
          <a:rect l="0" t="0" r="0" b="0"/>
          <a:pathLst>
            <a:path>
              <a:moveTo>
                <a:pt x="0" y="45720"/>
              </a:moveTo>
              <a:lnTo>
                <a:pt x="371214" y="45720"/>
              </a:lnTo>
            </a:path>
          </a:pathLst>
        </a:custGeom>
        <a:noFill/>
        <a:ln w="34925" cap="flat" cmpd="sng" algn="ctr">
          <a:solidFill>
            <a:schemeClr val="accent2"/>
          </a:solidFill>
          <a:prstDash val="solid"/>
          <a:tailEnd type="arrow" w="lg" len="me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NL" sz="500" kern="1200"/>
        </a:p>
      </dsp:txBody>
      <dsp:txXfrm>
        <a:off x="1925420" y="2687770"/>
        <a:ext cx="20090" cy="4018"/>
      </dsp:txXfrm>
    </dsp:sp>
    <dsp:sp modelId="{385934CF-4E3A-484C-B2B3-66DCDD4477E7}">
      <dsp:nvSpPr>
        <dsp:cNvPr id="0" name=""/>
        <dsp:cNvSpPr/>
      </dsp:nvSpPr>
      <dsp:spPr>
        <a:xfrm>
          <a:off x="4640" y="2165674"/>
          <a:ext cx="1747017" cy="1048210"/>
        </a:xfrm>
        <a:prstGeom prst="rect">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accent1">
              <a:hueOff val="0"/>
              <a:satOff val="0"/>
              <a:lumOff val="0"/>
              <a:alphaOff val="0"/>
              <a:shade val="35000"/>
              <a:satMod val="160000"/>
            </a:schemeClr>
          </a:contourClr>
        </a:sp3d>
      </dsp:spPr>
      <dsp:style>
        <a:lnRef idx="0">
          <a:scrgbClr r="0" g="0" b="0"/>
        </a:lnRef>
        <a:fillRef idx="3">
          <a:scrgbClr r="0" g="0" b="0"/>
        </a:fillRef>
        <a:effectRef idx="3">
          <a:scrgbClr r="0" g="0" b="0"/>
        </a:effectRef>
        <a:fontRef idx="minor">
          <a:schemeClr val="lt1"/>
        </a:fontRef>
      </dsp:style>
      <dsp:txBody>
        <a:bodyPr spcFirstLastPara="0" vert="horz" wrap="square" lIns="64008" tIns="64008" rIns="64008" bIns="64008" numCol="1" spcCol="1270" anchor="ctr" anchorCtr="0">
          <a:noAutofit/>
        </a:bodyPr>
        <a:lstStyle/>
        <a:p>
          <a:pPr marL="0" lvl="0" indent="0" algn="l" defTabSz="400050">
            <a:lnSpc>
              <a:spcPct val="90000"/>
            </a:lnSpc>
            <a:spcBef>
              <a:spcPct val="0"/>
            </a:spcBef>
            <a:spcAft>
              <a:spcPct val="35000"/>
            </a:spcAft>
            <a:buNone/>
          </a:pPr>
          <a:r>
            <a:rPr lang="en-US" sz="900" b="1" u="none" kern="1200" dirty="0"/>
            <a:t>Scenario 4:</a:t>
          </a:r>
          <a:r>
            <a:rPr lang="en-US" sz="900" b="0" u="none" kern="1200" dirty="0"/>
            <a:t> Formalize the semantic relation between two selected columns</a:t>
          </a:r>
          <a:endParaRPr lang="en-NL" sz="900" b="0" u="none" kern="1200" dirty="0"/>
        </a:p>
      </dsp:txBody>
      <dsp:txXfrm>
        <a:off x="4640" y="2165674"/>
        <a:ext cx="1747017" cy="1048210"/>
      </dsp:txXfrm>
    </dsp:sp>
    <dsp:sp modelId="{E04C062C-12EC-4CAC-A9F7-FA386B959D12}">
      <dsp:nvSpPr>
        <dsp:cNvPr id="0" name=""/>
        <dsp:cNvSpPr/>
      </dsp:nvSpPr>
      <dsp:spPr>
        <a:xfrm>
          <a:off x="3898690" y="2644059"/>
          <a:ext cx="371214" cy="91440"/>
        </a:xfrm>
        <a:custGeom>
          <a:avLst/>
          <a:gdLst/>
          <a:ahLst/>
          <a:cxnLst/>
          <a:rect l="0" t="0" r="0" b="0"/>
          <a:pathLst>
            <a:path>
              <a:moveTo>
                <a:pt x="0" y="45720"/>
              </a:moveTo>
              <a:lnTo>
                <a:pt x="371214" y="45720"/>
              </a:lnTo>
            </a:path>
          </a:pathLst>
        </a:custGeom>
        <a:noFill/>
        <a:ln w="34925" cap="flat" cmpd="sng" algn="ctr">
          <a:solidFill>
            <a:schemeClr val="accent2"/>
          </a:solidFill>
          <a:prstDash val="solid"/>
          <a:tailEnd type="arrow" w="lg" len="me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NL" sz="500" kern="1200"/>
        </a:p>
      </dsp:txBody>
      <dsp:txXfrm>
        <a:off x="4074251" y="2687770"/>
        <a:ext cx="20090" cy="4018"/>
      </dsp:txXfrm>
    </dsp:sp>
    <dsp:sp modelId="{7F969913-C98E-4911-B734-E71B7FCCDDE1}">
      <dsp:nvSpPr>
        <dsp:cNvPr id="0" name=""/>
        <dsp:cNvSpPr/>
      </dsp:nvSpPr>
      <dsp:spPr>
        <a:xfrm>
          <a:off x="2153472" y="2165674"/>
          <a:ext cx="1747017" cy="1048210"/>
        </a:xfrm>
        <a:prstGeom prst="rect">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accent1">
              <a:hueOff val="0"/>
              <a:satOff val="0"/>
              <a:lumOff val="0"/>
              <a:alphaOff val="0"/>
              <a:shade val="35000"/>
              <a:satMod val="160000"/>
            </a:schemeClr>
          </a:contourClr>
        </a:sp3d>
      </dsp:spPr>
      <dsp:style>
        <a:lnRef idx="0">
          <a:scrgbClr r="0" g="0" b="0"/>
        </a:lnRef>
        <a:fillRef idx="3">
          <a:scrgbClr r="0" g="0" b="0"/>
        </a:fillRef>
        <a:effectRef idx="3">
          <a:scrgbClr r="0" g="0" b="0"/>
        </a:effectRef>
        <a:fontRef idx="minor">
          <a:schemeClr val="lt1"/>
        </a:fontRef>
      </dsp:style>
      <dsp:txBody>
        <a:bodyPr spcFirstLastPara="0" vert="horz" wrap="square" lIns="64008" tIns="64008" rIns="64008" bIns="64008" numCol="1" spcCol="1270" anchor="ctr" anchorCtr="0">
          <a:noAutofit/>
        </a:bodyPr>
        <a:lstStyle/>
        <a:p>
          <a:pPr marL="0" lvl="0" indent="0" algn="l" defTabSz="400050">
            <a:lnSpc>
              <a:spcPct val="90000"/>
            </a:lnSpc>
            <a:spcBef>
              <a:spcPct val="0"/>
            </a:spcBef>
            <a:spcAft>
              <a:spcPct val="35000"/>
            </a:spcAft>
            <a:buNone/>
          </a:pPr>
          <a:r>
            <a:rPr lang="en-US" sz="900" b="1" u="none" kern="1200" dirty="0">
              <a:solidFill>
                <a:schemeClr val="bg1"/>
              </a:solidFill>
            </a:rPr>
            <a:t>Scenario 5:</a:t>
          </a:r>
          <a:r>
            <a:rPr lang="en-US" sz="900" b="0" u="none" kern="1200" dirty="0">
              <a:solidFill>
                <a:schemeClr val="bg1"/>
              </a:solidFill>
            </a:rPr>
            <a:t> </a:t>
          </a:r>
          <a:r>
            <a:rPr lang="en-US" sz="900" kern="1200" dirty="0">
              <a:solidFill>
                <a:schemeClr val="bg1"/>
              </a:solidFill>
            </a:rPr>
            <a:t>Assess (re)use options around one selected concept</a:t>
          </a:r>
          <a:endParaRPr lang="en-NL" sz="900" kern="1200" dirty="0">
            <a:solidFill>
              <a:schemeClr val="bg1"/>
            </a:solidFill>
          </a:endParaRPr>
        </a:p>
      </dsp:txBody>
      <dsp:txXfrm>
        <a:off x="2153472" y="2165674"/>
        <a:ext cx="1747017" cy="1048210"/>
      </dsp:txXfrm>
    </dsp:sp>
    <dsp:sp modelId="{F33A4F67-5619-4B2C-B090-C5D18F9B354D}">
      <dsp:nvSpPr>
        <dsp:cNvPr id="0" name=""/>
        <dsp:cNvSpPr/>
      </dsp:nvSpPr>
      <dsp:spPr>
        <a:xfrm>
          <a:off x="4302304" y="2165674"/>
          <a:ext cx="1747017" cy="1048210"/>
        </a:xfrm>
        <a:prstGeom prst="rect">
          <a:avLst/>
        </a:prstGeom>
        <a:solidFill>
          <a:schemeClr val="accent3">
            <a:lumMod val="20000"/>
            <a:lumOff val="80000"/>
          </a:schemeClr>
        </a:solidFill>
        <a:ln>
          <a:solidFill>
            <a:schemeClr val="accent1"/>
          </a:solidFill>
        </a:ln>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accent1">
              <a:hueOff val="0"/>
              <a:satOff val="0"/>
              <a:lumOff val="0"/>
              <a:alphaOff val="0"/>
              <a:shade val="35000"/>
              <a:satMod val="160000"/>
            </a:schemeClr>
          </a:contourClr>
        </a:sp3d>
      </dsp:spPr>
      <dsp:style>
        <a:lnRef idx="0">
          <a:scrgbClr r="0" g="0" b="0"/>
        </a:lnRef>
        <a:fillRef idx="3">
          <a:scrgbClr r="0" g="0" b="0"/>
        </a:fillRef>
        <a:effectRef idx="3">
          <a:scrgbClr r="0" g="0" b="0"/>
        </a:effectRef>
        <a:fontRef idx="minor">
          <a:schemeClr val="lt1"/>
        </a:fontRef>
      </dsp:style>
      <dsp:txBody>
        <a:bodyPr spcFirstLastPara="0" vert="horz" wrap="square" lIns="64008" tIns="64008" rIns="64008" bIns="64008" numCol="1" spcCol="1270" anchor="ctr" anchorCtr="0">
          <a:noAutofit/>
        </a:bodyPr>
        <a:lstStyle/>
        <a:p>
          <a:pPr marL="0" lvl="0" indent="0" algn="l" defTabSz="400050">
            <a:lnSpc>
              <a:spcPct val="90000"/>
            </a:lnSpc>
            <a:spcBef>
              <a:spcPct val="0"/>
            </a:spcBef>
            <a:spcAft>
              <a:spcPct val="35000"/>
            </a:spcAft>
            <a:buNone/>
          </a:pPr>
          <a:r>
            <a:rPr lang="en-US" sz="900" b="1" kern="1200" dirty="0">
              <a:solidFill>
                <a:schemeClr val="accent1"/>
              </a:solidFill>
            </a:rPr>
            <a:t>Result:</a:t>
          </a:r>
          <a:r>
            <a:rPr lang="en-US" sz="900" kern="1200" dirty="0">
              <a:solidFill>
                <a:schemeClr val="accent1"/>
              </a:solidFill>
            </a:rPr>
            <a:t> Amir could move from label-based guessing to a defensible decision, identifying which variable fits his study and which related concepts align, should be ruled out, or only partially overlap.</a:t>
          </a:r>
          <a:endParaRPr lang="en-NL" sz="900" kern="1200" dirty="0">
            <a:solidFill>
              <a:schemeClr val="accent1"/>
            </a:solidFill>
          </a:endParaRPr>
        </a:p>
      </dsp:txBody>
      <dsp:txXfrm>
        <a:off x="4302304" y="2165674"/>
        <a:ext cx="1747017" cy="104821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E7BAC15-DC59-4FF0-A35E-63B19A7584AF}">
      <dsp:nvSpPr>
        <dsp:cNvPr id="0" name=""/>
        <dsp:cNvSpPr/>
      </dsp:nvSpPr>
      <dsp:spPr>
        <a:xfrm>
          <a:off x="1551" y="390340"/>
          <a:ext cx="3009419" cy="3540493"/>
        </a:xfrm>
        <a:prstGeom prst="rect">
          <a:avLst/>
        </a:prstGeom>
        <a:solidFill>
          <a:schemeClr val="lt1">
            <a:alpha val="4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2DF05040-81DA-48BC-9673-8AF4C20552F0}">
      <dsp:nvSpPr>
        <dsp:cNvPr id="0" name=""/>
        <dsp:cNvSpPr/>
      </dsp:nvSpPr>
      <dsp:spPr>
        <a:xfrm>
          <a:off x="152022" y="531960"/>
          <a:ext cx="2708477" cy="2301321"/>
        </a:xfrm>
        <a:prstGeom prst="rect">
          <a:avLst/>
        </a:prstGeom>
        <a:blipFill>
          <a:blip xmlns:r="http://schemas.openxmlformats.org/officeDocument/2006/relationships" r:embed="rId1"/>
          <a:srcRect/>
          <a:stretch>
            <a:fillRect t="-9000" b="-9000"/>
          </a:stretch>
        </a:blipFill>
        <a:ln>
          <a:solidFill>
            <a:schemeClr val="bg2">
              <a:lumMod val="90000"/>
            </a:schemeClr>
          </a:solidFill>
        </a:ln>
        <a:effectLst>
          <a:outerShdw blurRad="50800" dist="12700" dir="5400000" algn="ctr" rotWithShape="0">
            <a:srgbClr val="000000">
              <a:alpha val="50000"/>
            </a:srgbClr>
          </a:outerShdw>
        </a:effectLst>
      </dsp:spPr>
      <dsp:style>
        <a:lnRef idx="0">
          <a:scrgbClr r="0" g="0" b="0"/>
        </a:lnRef>
        <a:fillRef idx="1">
          <a:scrgbClr r="0" g="0" b="0"/>
        </a:fillRef>
        <a:effectRef idx="2">
          <a:scrgbClr r="0" g="0" b="0"/>
        </a:effectRef>
        <a:fontRef idx="minor"/>
      </dsp:style>
    </dsp:sp>
    <dsp:sp modelId="{30369D29-5851-4F5A-89A8-A1FEF75330DD}">
      <dsp:nvSpPr>
        <dsp:cNvPr id="0" name=""/>
        <dsp:cNvSpPr/>
      </dsp:nvSpPr>
      <dsp:spPr>
        <a:xfrm>
          <a:off x="152022" y="3187359"/>
          <a:ext cx="2708477" cy="601855"/>
        </a:xfrm>
        <a:prstGeom prst="rect">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50800" dist="12700" dir="5400000" algn="ctr"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dirty="0"/>
            <a:t>(Biological) Sex: Male</a:t>
          </a:r>
          <a:endParaRPr lang="en-NL" sz="1400" kern="1200" dirty="0"/>
        </a:p>
        <a:p>
          <a:pPr marL="0" lvl="0" indent="0" algn="l" defTabSz="622300">
            <a:lnSpc>
              <a:spcPct val="90000"/>
            </a:lnSpc>
            <a:spcBef>
              <a:spcPct val="0"/>
            </a:spcBef>
            <a:spcAft>
              <a:spcPct val="35000"/>
            </a:spcAft>
            <a:buNone/>
          </a:pPr>
          <a:r>
            <a:rPr lang="en-US" sz="1400" kern="1200" dirty="0"/>
            <a:t>(Social) Gender: Male</a:t>
          </a:r>
          <a:endParaRPr lang="en-NL" sz="1400" kern="1200" dirty="0"/>
        </a:p>
      </dsp:txBody>
      <dsp:txXfrm>
        <a:off x="152022" y="3187359"/>
        <a:ext cx="2708477" cy="601855"/>
      </dsp:txXfrm>
    </dsp:sp>
    <dsp:sp modelId="{E136DF8C-D1DB-4C48-9240-BD42223BD201}">
      <dsp:nvSpPr>
        <dsp:cNvPr id="0" name=""/>
        <dsp:cNvSpPr/>
      </dsp:nvSpPr>
      <dsp:spPr>
        <a:xfrm>
          <a:off x="152022" y="2833281"/>
          <a:ext cx="2708477" cy="3540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dirty="0"/>
            <a:t>Patient-001</a:t>
          </a:r>
          <a:endParaRPr lang="en-NL" sz="1600" b="1" kern="1200" dirty="0"/>
        </a:p>
      </dsp:txBody>
      <dsp:txXfrm>
        <a:off x="152022" y="2833281"/>
        <a:ext cx="2708477" cy="354077"/>
      </dsp:txXfrm>
    </dsp:sp>
    <dsp:sp modelId="{BE5F1572-A447-4997-B7C1-2B8E87C28E09}">
      <dsp:nvSpPr>
        <dsp:cNvPr id="0" name=""/>
        <dsp:cNvSpPr/>
      </dsp:nvSpPr>
      <dsp:spPr>
        <a:xfrm>
          <a:off x="3895965" y="390340"/>
          <a:ext cx="3009419" cy="3540493"/>
        </a:xfrm>
        <a:prstGeom prst="rect">
          <a:avLst/>
        </a:prstGeom>
        <a:solidFill>
          <a:schemeClr val="lt1">
            <a:alpha val="4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0B8A85D8-4111-4B5E-94D3-3398FD061187}">
      <dsp:nvSpPr>
        <dsp:cNvPr id="0" name=""/>
        <dsp:cNvSpPr/>
      </dsp:nvSpPr>
      <dsp:spPr>
        <a:xfrm>
          <a:off x="4046436" y="531960"/>
          <a:ext cx="2708477" cy="2301321"/>
        </a:xfrm>
        <a:prstGeom prst="rect">
          <a:avLst/>
        </a:prstGeom>
        <a:blipFill>
          <a:blip xmlns:r="http://schemas.openxmlformats.org/officeDocument/2006/relationships" r:embed="rId2"/>
          <a:srcRect/>
          <a:stretch>
            <a:fillRect t="-9000" b="-9000"/>
          </a:stretch>
        </a:blipFill>
        <a:ln>
          <a:solidFill>
            <a:schemeClr val="bg2">
              <a:lumMod val="90000"/>
            </a:schemeClr>
          </a:solidFill>
        </a:ln>
        <a:effectLst>
          <a:outerShdw blurRad="50800" dist="12700" dir="5400000" algn="ctr" rotWithShape="0">
            <a:srgbClr val="000000">
              <a:alpha val="50000"/>
            </a:srgbClr>
          </a:outerShdw>
        </a:effectLst>
      </dsp:spPr>
      <dsp:style>
        <a:lnRef idx="0">
          <a:scrgbClr r="0" g="0" b="0"/>
        </a:lnRef>
        <a:fillRef idx="1">
          <a:scrgbClr r="0" g="0" b="0"/>
        </a:fillRef>
        <a:effectRef idx="2">
          <a:scrgbClr r="0" g="0" b="0"/>
        </a:effectRef>
        <a:fontRef idx="minor"/>
      </dsp:style>
    </dsp:sp>
    <dsp:sp modelId="{4D0764FE-A32F-4969-8A80-EC1C58EFDB9C}">
      <dsp:nvSpPr>
        <dsp:cNvPr id="0" name=""/>
        <dsp:cNvSpPr/>
      </dsp:nvSpPr>
      <dsp:spPr>
        <a:xfrm>
          <a:off x="4046436" y="3187359"/>
          <a:ext cx="2708477" cy="601855"/>
        </a:xfrm>
        <a:prstGeom prst="rect">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50800" dist="12700" dir="5400000" algn="ctr"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dirty="0"/>
            <a:t>(Biological) Sex: Male</a:t>
          </a:r>
          <a:endParaRPr lang="en-NL" sz="1400" kern="1200" dirty="0"/>
        </a:p>
        <a:p>
          <a:pPr marL="0" lvl="0" indent="0" algn="l" defTabSz="622300">
            <a:lnSpc>
              <a:spcPct val="90000"/>
            </a:lnSpc>
            <a:spcBef>
              <a:spcPct val="0"/>
            </a:spcBef>
            <a:spcAft>
              <a:spcPct val="35000"/>
            </a:spcAft>
            <a:buNone/>
          </a:pPr>
          <a:r>
            <a:rPr lang="en-US" sz="1400" kern="1200" dirty="0"/>
            <a:t>(Social) Gender: Female (Trans)</a:t>
          </a:r>
          <a:endParaRPr lang="en-NL" sz="1400" kern="1200" dirty="0"/>
        </a:p>
      </dsp:txBody>
      <dsp:txXfrm>
        <a:off x="4046436" y="3187359"/>
        <a:ext cx="2708477" cy="601855"/>
      </dsp:txXfrm>
    </dsp:sp>
    <dsp:sp modelId="{01877ED6-BA92-43FC-A70B-E91E700CFB37}">
      <dsp:nvSpPr>
        <dsp:cNvPr id="0" name=""/>
        <dsp:cNvSpPr/>
      </dsp:nvSpPr>
      <dsp:spPr>
        <a:xfrm>
          <a:off x="4046436" y="2833281"/>
          <a:ext cx="2708477" cy="3540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a:t>Patient-002</a:t>
          </a:r>
          <a:endParaRPr lang="en-NL" sz="1600" b="1" kern="1200" dirty="0"/>
        </a:p>
      </dsp:txBody>
      <dsp:txXfrm>
        <a:off x="4046436" y="2833281"/>
        <a:ext cx="2708477" cy="354077"/>
      </dsp:txXfrm>
    </dsp:sp>
    <dsp:sp modelId="{8CCC9092-02C7-4EFA-BE32-E14222A62392}">
      <dsp:nvSpPr>
        <dsp:cNvPr id="0" name=""/>
        <dsp:cNvSpPr/>
      </dsp:nvSpPr>
      <dsp:spPr>
        <a:xfrm>
          <a:off x="7790378" y="390340"/>
          <a:ext cx="3009419" cy="3540493"/>
        </a:xfrm>
        <a:prstGeom prst="rect">
          <a:avLst/>
        </a:prstGeom>
        <a:solidFill>
          <a:schemeClr val="lt1">
            <a:alpha val="4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92ED66F0-881F-41E1-96A9-763D5D5A48B5}">
      <dsp:nvSpPr>
        <dsp:cNvPr id="0" name=""/>
        <dsp:cNvSpPr/>
      </dsp:nvSpPr>
      <dsp:spPr>
        <a:xfrm>
          <a:off x="7940849" y="531960"/>
          <a:ext cx="2708477" cy="2301321"/>
        </a:xfrm>
        <a:prstGeom prst="rect">
          <a:avLst/>
        </a:prstGeom>
        <a:blipFill>
          <a:blip xmlns:r="http://schemas.openxmlformats.org/officeDocument/2006/relationships" r:embed="rId3"/>
          <a:srcRect/>
          <a:stretch>
            <a:fillRect t="-9000" b="-9000"/>
          </a:stretch>
        </a:blipFill>
        <a:ln>
          <a:solidFill>
            <a:schemeClr val="bg2">
              <a:lumMod val="90000"/>
            </a:schemeClr>
          </a:solidFill>
        </a:ln>
        <a:effectLst>
          <a:outerShdw blurRad="50800" dist="12700" dir="5400000" algn="ctr" rotWithShape="0">
            <a:srgbClr val="000000">
              <a:alpha val="50000"/>
            </a:srgbClr>
          </a:outerShdw>
        </a:effectLst>
      </dsp:spPr>
      <dsp:style>
        <a:lnRef idx="0">
          <a:scrgbClr r="0" g="0" b="0"/>
        </a:lnRef>
        <a:fillRef idx="1">
          <a:scrgbClr r="0" g="0" b="0"/>
        </a:fillRef>
        <a:effectRef idx="2">
          <a:scrgbClr r="0" g="0" b="0"/>
        </a:effectRef>
        <a:fontRef idx="minor"/>
      </dsp:style>
    </dsp:sp>
    <dsp:sp modelId="{7482A5E8-BC8F-4AEE-9D6D-EC66E1A46D4C}">
      <dsp:nvSpPr>
        <dsp:cNvPr id="0" name=""/>
        <dsp:cNvSpPr/>
      </dsp:nvSpPr>
      <dsp:spPr>
        <a:xfrm>
          <a:off x="7940849" y="3187359"/>
          <a:ext cx="2708477" cy="601855"/>
        </a:xfrm>
        <a:prstGeom prst="rect">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50800" dist="12700" dir="5400000" algn="ctr"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dirty="0"/>
            <a:t>(Biological) Sex: Female</a:t>
          </a:r>
          <a:endParaRPr lang="en-NL" sz="1400" kern="1200" dirty="0"/>
        </a:p>
        <a:p>
          <a:pPr marL="0" lvl="0" indent="0" algn="l" defTabSz="622300">
            <a:lnSpc>
              <a:spcPct val="90000"/>
            </a:lnSpc>
            <a:spcBef>
              <a:spcPct val="0"/>
            </a:spcBef>
            <a:spcAft>
              <a:spcPct val="35000"/>
            </a:spcAft>
            <a:buNone/>
          </a:pPr>
          <a:r>
            <a:rPr lang="en-US" sz="1400" kern="1200" dirty="0"/>
            <a:t>(Social) Gender: Non-binary</a:t>
          </a:r>
          <a:endParaRPr lang="en-NL" sz="1400" kern="1200" dirty="0"/>
        </a:p>
      </dsp:txBody>
      <dsp:txXfrm>
        <a:off x="7940849" y="3187359"/>
        <a:ext cx="2708477" cy="601855"/>
      </dsp:txXfrm>
    </dsp:sp>
    <dsp:sp modelId="{0CA4B0F1-8C27-4F9D-A3DD-07465492F2D6}">
      <dsp:nvSpPr>
        <dsp:cNvPr id="0" name=""/>
        <dsp:cNvSpPr/>
      </dsp:nvSpPr>
      <dsp:spPr>
        <a:xfrm>
          <a:off x="7940849" y="2833281"/>
          <a:ext cx="2708477" cy="3540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a:t>Patient-003</a:t>
          </a:r>
          <a:endParaRPr lang="en-NL" sz="1600" b="1" kern="1200" dirty="0"/>
        </a:p>
      </dsp:txBody>
      <dsp:txXfrm>
        <a:off x="7940849" y="2833281"/>
        <a:ext cx="2708477" cy="35407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E7BAC15-DC59-4FF0-A35E-63B19A7584AF}">
      <dsp:nvSpPr>
        <dsp:cNvPr id="0" name=""/>
        <dsp:cNvSpPr/>
      </dsp:nvSpPr>
      <dsp:spPr>
        <a:xfrm>
          <a:off x="445" y="27405"/>
          <a:ext cx="1739285" cy="2046217"/>
        </a:xfrm>
        <a:prstGeom prst="rect">
          <a:avLst/>
        </a:prstGeom>
        <a:solidFill>
          <a:schemeClr val="lt1">
            <a:alpha val="4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2DF05040-81DA-48BC-9673-8AF4C20552F0}">
      <dsp:nvSpPr>
        <dsp:cNvPr id="0" name=""/>
        <dsp:cNvSpPr/>
      </dsp:nvSpPr>
      <dsp:spPr>
        <a:xfrm>
          <a:off x="87410" y="109253"/>
          <a:ext cx="1565356" cy="1330041"/>
        </a:xfrm>
        <a:prstGeom prst="rect">
          <a:avLst/>
        </a:prstGeom>
        <a:blipFill>
          <a:blip xmlns:r="http://schemas.openxmlformats.org/officeDocument/2006/relationships" r:embed="rId1"/>
          <a:srcRect/>
          <a:stretch>
            <a:fillRect t="-9000" b="-9000"/>
          </a:stretch>
        </a:blipFill>
        <a:ln>
          <a:solidFill>
            <a:schemeClr val="bg2">
              <a:lumMod val="90000"/>
            </a:schemeClr>
          </a:solidFill>
        </a:ln>
        <a:effectLst>
          <a:outerShdw blurRad="50800" dist="12700" dir="5400000" algn="ctr" rotWithShape="0">
            <a:srgbClr val="000000">
              <a:alpha val="50000"/>
            </a:srgbClr>
          </a:outerShdw>
        </a:effectLst>
      </dsp:spPr>
      <dsp:style>
        <a:lnRef idx="0">
          <a:scrgbClr r="0" g="0" b="0"/>
        </a:lnRef>
        <a:fillRef idx="1">
          <a:scrgbClr r="0" g="0" b="0"/>
        </a:fillRef>
        <a:effectRef idx="2">
          <a:scrgbClr r="0" g="0" b="0"/>
        </a:effectRef>
        <a:fontRef idx="minor"/>
      </dsp:style>
    </dsp:sp>
    <dsp:sp modelId="{30369D29-5851-4F5A-89A8-A1FEF75330DD}">
      <dsp:nvSpPr>
        <dsp:cNvPr id="0" name=""/>
        <dsp:cNvSpPr/>
      </dsp:nvSpPr>
      <dsp:spPr>
        <a:xfrm>
          <a:off x="87410" y="1643933"/>
          <a:ext cx="1565356" cy="347840"/>
        </a:xfrm>
        <a:prstGeom prst="rect">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50800" dist="12700" dir="5400000" algn="ctr"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l" defTabSz="355600">
            <a:lnSpc>
              <a:spcPct val="90000"/>
            </a:lnSpc>
            <a:spcBef>
              <a:spcPct val="0"/>
            </a:spcBef>
            <a:spcAft>
              <a:spcPct val="35000"/>
            </a:spcAft>
            <a:buNone/>
          </a:pPr>
          <a:r>
            <a:rPr lang="en-US" sz="800" kern="1200" dirty="0"/>
            <a:t>(Biological) Sex: Male</a:t>
          </a:r>
          <a:endParaRPr lang="en-NL" sz="800" kern="1200" dirty="0"/>
        </a:p>
        <a:p>
          <a:pPr marL="0" lvl="0" indent="0" algn="l" defTabSz="355600">
            <a:lnSpc>
              <a:spcPct val="90000"/>
            </a:lnSpc>
            <a:spcBef>
              <a:spcPct val="0"/>
            </a:spcBef>
            <a:spcAft>
              <a:spcPct val="35000"/>
            </a:spcAft>
            <a:buNone/>
          </a:pPr>
          <a:r>
            <a:rPr lang="en-US" sz="800" kern="1200" dirty="0"/>
            <a:t>(Social) Gender: Male</a:t>
          </a:r>
          <a:endParaRPr lang="en-NL" sz="800" kern="1200" dirty="0"/>
        </a:p>
      </dsp:txBody>
      <dsp:txXfrm>
        <a:off x="87410" y="1643933"/>
        <a:ext cx="1565356" cy="347840"/>
      </dsp:txXfrm>
    </dsp:sp>
    <dsp:sp modelId="{E136DF8C-D1DB-4C48-9240-BD42223BD201}">
      <dsp:nvSpPr>
        <dsp:cNvPr id="0" name=""/>
        <dsp:cNvSpPr/>
      </dsp:nvSpPr>
      <dsp:spPr>
        <a:xfrm>
          <a:off x="87410" y="1439295"/>
          <a:ext cx="1565356" cy="2046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b="1" kern="1200"/>
            <a:t>Patient-001</a:t>
          </a:r>
          <a:endParaRPr lang="en-NL" sz="900" b="1" kern="1200" dirty="0"/>
        </a:p>
      </dsp:txBody>
      <dsp:txXfrm>
        <a:off x="87410" y="1439295"/>
        <a:ext cx="1565356" cy="204638"/>
      </dsp:txXfrm>
    </dsp:sp>
    <dsp:sp modelId="{61729CCB-9515-4519-A792-EAB84117191A}">
      <dsp:nvSpPr>
        <dsp:cNvPr id="0" name=""/>
        <dsp:cNvSpPr/>
      </dsp:nvSpPr>
      <dsp:spPr>
        <a:xfrm>
          <a:off x="1913659" y="27405"/>
          <a:ext cx="1739285" cy="2046217"/>
        </a:xfrm>
        <a:prstGeom prst="rect">
          <a:avLst/>
        </a:prstGeom>
        <a:solidFill>
          <a:schemeClr val="lt1">
            <a:alpha val="4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02D1F558-C992-4F85-8E17-FBA9661CA627}">
      <dsp:nvSpPr>
        <dsp:cNvPr id="0" name=""/>
        <dsp:cNvSpPr/>
      </dsp:nvSpPr>
      <dsp:spPr>
        <a:xfrm>
          <a:off x="2000624" y="109253"/>
          <a:ext cx="1565356" cy="1330041"/>
        </a:xfrm>
        <a:prstGeom prst="rect">
          <a:avLst/>
        </a:prstGeom>
        <a:blipFill>
          <a:blip xmlns:r="http://schemas.openxmlformats.org/officeDocument/2006/relationships" r:embed="rId2"/>
          <a:srcRect/>
          <a:stretch>
            <a:fillRect t="-9000" b="-9000"/>
          </a:stretch>
        </a:blipFill>
        <a:ln>
          <a:noFill/>
        </a:ln>
        <a:effectLst>
          <a:outerShdw blurRad="50800" dist="12700" dir="5400000" algn="ctr" rotWithShape="0">
            <a:srgbClr val="000000">
              <a:alpha val="50000"/>
            </a:srgbClr>
          </a:outerShdw>
        </a:effectLst>
      </dsp:spPr>
      <dsp:style>
        <a:lnRef idx="0">
          <a:scrgbClr r="0" g="0" b="0"/>
        </a:lnRef>
        <a:fillRef idx="1">
          <a:scrgbClr r="0" g="0" b="0"/>
        </a:fillRef>
        <a:effectRef idx="2">
          <a:scrgbClr r="0" g="0" b="0"/>
        </a:effectRef>
        <a:fontRef idx="minor"/>
      </dsp:style>
    </dsp:sp>
    <dsp:sp modelId="{AD77C35C-7E47-4D30-BBF2-0106E6B5AD1D}">
      <dsp:nvSpPr>
        <dsp:cNvPr id="0" name=""/>
        <dsp:cNvSpPr/>
      </dsp:nvSpPr>
      <dsp:spPr>
        <a:xfrm>
          <a:off x="2000624" y="1643933"/>
          <a:ext cx="1565356" cy="347840"/>
        </a:xfrm>
        <a:prstGeom prst="rect">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50800" dist="12700" dir="5400000" algn="ctr"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l" defTabSz="355600">
            <a:lnSpc>
              <a:spcPct val="90000"/>
            </a:lnSpc>
            <a:spcBef>
              <a:spcPct val="0"/>
            </a:spcBef>
            <a:spcAft>
              <a:spcPct val="35000"/>
            </a:spcAft>
            <a:buNone/>
          </a:pPr>
          <a:r>
            <a:rPr lang="en-US" sz="800" kern="1200" dirty="0"/>
            <a:t>(Biological) Sex: Male</a:t>
          </a:r>
          <a:endParaRPr lang="en-NL" sz="800" kern="1200" dirty="0"/>
        </a:p>
        <a:p>
          <a:pPr marL="0" lvl="0" indent="0" algn="l" defTabSz="355600">
            <a:lnSpc>
              <a:spcPct val="90000"/>
            </a:lnSpc>
            <a:spcBef>
              <a:spcPct val="0"/>
            </a:spcBef>
            <a:spcAft>
              <a:spcPct val="35000"/>
            </a:spcAft>
            <a:buNone/>
          </a:pPr>
          <a:r>
            <a:rPr lang="en-US" sz="800" kern="1200" dirty="0"/>
            <a:t>(Social) Gender: Female (Trans)</a:t>
          </a:r>
          <a:endParaRPr lang="en-NL" sz="800" kern="1200" dirty="0"/>
        </a:p>
      </dsp:txBody>
      <dsp:txXfrm>
        <a:off x="2000624" y="1643933"/>
        <a:ext cx="1565356" cy="347840"/>
      </dsp:txXfrm>
    </dsp:sp>
    <dsp:sp modelId="{F24A334F-23E1-4C7A-8933-4FBF6E1B0CB8}">
      <dsp:nvSpPr>
        <dsp:cNvPr id="0" name=""/>
        <dsp:cNvSpPr/>
      </dsp:nvSpPr>
      <dsp:spPr>
        <a:xfrm>
          <a:off x="2000624" y="1439295"/>
          <a:ext cx="1565356" cy="2046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b="1" kern="1200"/>
            <a:t>Patient-002</a:t>
          </a:r>
          <a:endParaRPr lang="en-NL" sz="900" b="1" kern="1200" dirty="0"/>
        </a:p>
      </dsp:txBody>
      <dsp:txXfrm>
        <a:off x="2000624" y="1439295"/>
        <a:ext cx="1565356" cy="204638"/>
      </dsp:txXfrm>
    </dsp:sp>
    <dsp:sp modelId="{FF040796-1AD1-4ADB-A3EC-614B71D12AC6}">
      <dsp:nvSpPr>
        <dsp:cNvPr id="0" name=""/>
        <dsp:cNvSpPr/>
      </dsp:nvSpPr>
      <dsp:spPr>
        <a:xfrm>
          <a:off x="957052" y="2247551"/>
          <a:ext cx="1739285" cy="2046217"/>
        </a:xfrm>
        <a:prstGeom prst="rect">
          <a:avLst/>
        </a:prstGeom>
        <a:solidFill>
          <a:schemeClr val="lt1">
            <a:alpha val="4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597087CC-C98D-4D61-B068-DE41E196529F}">
      <dsp:nvSpPr>
        <dsp:cNvPr id="0" name=""/>
        <dsp:cNvSpPr/>
      </dsp:nvSpPr>
      <dsp:spPr>
        <a:xfrm>
          <a:off x="1044017" y="2329400"/>
          <a:ext cx="1565356" cy="1330041"/>
        </a:xfrm>
        <a:prstGeom prst="rect">
          <a:avLst/>
        </a:prstGeom>
        <a:blipFill>
          <a:blip xmlns:r="http://schemas.openxmlformats.org/officeDocument/2006/relationships" r:embed="rId3"/>
          <a:srcRect/>
          <a:stretch>
            <a:fillRect t="-9000" b="-9000"/>
          </a:stretch>
        </a:blipFill>
        <a:ln>
          <a:noFill/>
        </a:ln>
        <a:effectLst>
          <a:outerShdw blurRad="50800" dist="12700" dir="5400000" algn="ctr" rotWithShape="0">
            <a:srgbClr val="000000">
              <a:alpha val="50000"/>
            </a:srgbClr>
          </a:outerShdw>
        </a:effectLst>
      </dsp:spPr>
      <dsp:style>
        <a:lnRef idx="0">
          <a:scrgbClr r="0" g="0" b="0"/>
        </a:lnRef>
        <a:fillRef idx="1">
          <a:scrgbClr r="0" g="0" b="0"/>
        </a:fillRef>
        <a:effectRef idx="2">
          <a:scrgbClr r="0" g="0" b="0"/>
        </a:effectRef>
        <a:fontRef idx="minor"/>
      </dsp:style>
    </dsp:sp>
    <dsp:sp modelId="{3BCE3F62-C0A5-44ED-BEC3-89835E81E17A}">
      <dsp:nvSpPr>
        <dsp:cNvPr id="0" name=""/>
        <dsp:cNvSpPr/>
      </dsp:nvSpPr>
      <dsp:spPr>
        <a:xfrm>
          <a:off x="1044017" y="3864080"/>
          <a:ext cx="1565356" cy="347840"/>
        </a:xfrm>
        <a:prstGeom prst="rect">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50800" dist="12700" dir="5400000" algn="ctr"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l" defTabSz="355600">
            <a:lnSpc>
              <a:spcPct val="90000"/>
            </a:lnSpc>
            <a:spcBef>
              <a:spcPct val="0"/>
            </a:spcBef>
            <a:spcAft>
              <a:spcPct val="35000"/>
            </a:spcAft>
            <a:buNone/>
          </a:pPr>
          <a:r>
            <a:rPr lang="en-US" sz="800" kern="1200" dirty="0"/>
            <a:t>(Biological) Sex: Female</a:t>
          </a:r>
          <a:endParaRPr lang="en-NL" sz="800" kern="1200" dirty="0"/>
        </a:p>
        <a:p>
          <a:pPr marL="0" lvl="0" indent="0" algn="l" defTabSz="355600">
            <a:lnSpc>
              <a:spcPct val="90000"/>
            </a:lnSpc>
            <a:spcBef>
              <a:spcPct val="0"/>
            </a:spcBef>
            <a:spcAft>
              <a:spcPct val="35000"/>
            </a:spcAft>
            <a:buNone/>
          </a:pPr>
          <a:r>
            <a:rPr lang="en-US" sz="800" kern="1200" dirty="0"/>
            <a:t>(Social) Gender: Non-binary</a:t>
          </a:r>
          <a:endParaRPr lang="en-NL" sz="800" kern="1200" dirty="0"/>
        </a:p>
      </dsp:txBody>
      <dsp:txXfrm>
        <a:off x="1044017" y="3864080"/>
        <a:ext cx="1565356" cy="347840"/>
      </dsp:txXfrm>
    </dsp:sp>
    <dsp:sp modelId="{EDB797C2-3FDD-41D1-A3F1-116D37397FAB}">
      <dsp:nvSpPr>
        <dsp:cNvPr id="0" name=""/>
        <dsp:cNvSpPr/>
      </dsp:nvSpPr>
      <dsp:spPr>
        <a:xfrm>
          <a:off x="1044017" y="3659442"/>
          <a:ext cx="1565356" cy="2046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b="1" kern="1200"/>
            <a:t>Patient-003</a:t>
          </a:r>
          <a:endParaRPr lang="en-NL" sz="900" b="1" kern="1200" dirty="0"/>
        </a:p>
      </dsp:txBody>
      <dsp:txXfrm>
        <a:off x="1044017" y="3659442"/>
        <a:ext cx="1565356" cy="20463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EC936B6-E74A-4ADC-9FF8-41B735ABA13C}">
      <dsp:nvSpPr>
        <dsp:cNvPr id="0" name=""/>
        <dsp:cNvSpPr/>
      </dsp:nvSpPr>
      <dsp:spPr>
        <a:xfrm>
          <a:off x="3123471" y="821316"/>
          <a:ext cx="686307" cy="91440"/>
        </a:xfrm>
        <a:custGeom>
          <a:avLst/>
          <a:gdLst/>
          <a:ahLst/>
          <a:cxnLst/>
          <a:rect l="0" t="0" r="0" b="0"/>
          <a:pathLst>
            <a:path>
              <a:moveTo>
                <a:pt x="0" y="45720"/>
              </a:moveTo>
              <a:lnTo>
                <a:pt x="686307" y="45720"/>
              </a:lnTo>
            </a:path>
          </a:pathLst>
        </a:custGeom>
        <a:noFill/>
        <a:ln w="34925" cap="flat" cmpd="sng" algn="ctr">
          <a:solidFill>
            <a:schemeClr val="accent2"/>
          </a:solidFill>
          <a:prstDash val="solid"/>
          <a:tailEnd type="arrow" w="lg" len="me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NL" sz="500" kern="1200"/>
        </a:p>
      </dsp:txBody>
      <dsp:txXfrm>
        <a:off x="3448702" y="863451"/>
        <a:ext cx="35845" cy="7169"/>
      </dsp:txXfrm>
    </dsp:sp>
    <dsp:sp modelId="{BCF0A5AE-28F4-460B-A483-4E9270C15EA5}">
      <dsp:nvSpPr>
        <dsp:cNvPr id="0" name=""/>
        <dsp:cNvSpPr/>
      </dsp:nvSpPr>
      <dsp:spPr>
        <a:xfrm>
          <a:off x="8280" y="174849"/>
          <a:ext cx="3116991" cy="1384374"/>
        </a:xfrm>
        <a:prstGeom prst="rect">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accent1">
              <a:hueOff val="0"/>
              <a:satOff val="0"/>
              <a:lumOff val="0"/>
              <a:alphaOff val="0"/>
              <a:shade val="35000"/>
              <a:satMod val="160000"/>
            </a:schemeClr>
          </a:contourClr>
        </a:sp3d>
      </dsp:spPr>
      <dsp:style>
        <a:lnRef idx="0">
          <a:scrgbClr r="0" g="0" b="0"/>
        </a:lnRef>
        <a:fillRef idx="3">
          <a:scrgbClr r="0" g="0" b="0"/>
        </a:fillRef>
        <a:effectRef idx="3">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l" defTabSz="711200">
            <a:lnSpc>
              <a:spcPct val="90000"/>
            </a:lnSpc>
            <a:spcBef>
              <a:spcPct val="0"/>
            </a:spcBef>
            <a:spcAft>
              <a:spcPct val="35000"/>
            </a:spcAft>
            <a:buNone/>
          </a:pPr>
          <a:r>
            <a:rPr lang="it-IT" sz="1600" b="1" u="none" kern="1200" dirty="0"/>
            <a:t>Scenario 1: </a:t>
          </a:r>
        </a:p>
        <a:p>
          <a:pPr marL="0" lvl="0" indent="0" algn="l" defTabSz="711200">
            <a:lnSpc>
              <a:spcPct val="90000"/>
            </a:lnSpc>
            <a:spcBef>
              <a:spcPct val="0"/>
            </a:spcBef>
            <a:spcAft>
              <a:spcPct val="35000"/>
            </a:spcAft>
            <a:buNone/>
          </a:pPr>
          <a:r>
            <a:rPr lang="en-US" sz="1600" kern="1200" dirty="0"/>
            <a:t>Clarify Meanings Before Reuse</a:t>
          </a:r>
        </a:p>
        <a:p>
          <a:pPr marL="0" lvl="0" indent="0" algn="l" defTabSz="711200">
            <a:lnSpc>
              <a:spcPct val="90000"/>
            </a:lnSpc>
            <a:spcBef>
              <a:spcPct val="0"/>
            </a:spcBef>
            <a:spcAft>
              <a:spcPct val="35000"/>
            </a:spcAft>
            <a:buNone/>
          </a:pPr>
          <a:endParaRPr lang="en-NL" sz="1600" b="0" u="none" kern="1200" dirty="0"/>
        </a:p>
      </dsp:txBody>
      <dsp:txXfrm>
        <a:off x="8280" y="174849"/>
        <a:ext cx="3116991" cy="1384374"/>
      </dsp:txXfrm>
    </dsp:sp>
    <dsp:sp modelId="{EE67AEC7-A539-4D09-80D5-397693C7C04F}">
      <dsp:nvSpPr>
        <dsp:cNvPr id="0" name=""/>
        <dsp:cNvSpPr/>
      </dsp:nvSpPr>
      <dsp:spPr>
        <a:xfrm>
          <a:off x="6957370" y="821316"/>
          <a:ext cx="686307" cy="91440"/>
        </a:xfrm>
        <a:custGeom>
          <a:avLst/>
          <a:gdLst/>
          <a:ahLst/>
          <a:cxnLst/>
          <a:rect l="0" t="0" r="0" b="0"/>
          <a:pathLst>
            <a:path>
              <a:moveTo>
                <a:pt x="0" y="45720"/>
              </a:moveTo>
              <a:lnTo>
                <a:pt x="686307" y="45720"/>
              </a:lnTo>
            </a:path>
          </a:pathLst>
        </a:custGeom>
        <a:noFill/>
        <a:ln w="34925" cap="flat" cmpd="sng" algn="ctr">
          <a:solidFill>
            <a:schemeClr val="accent2"/>
          </a:solidFill>
          <a:prstDash val="solid"/>
          <a:tailEnd type="arrow" w="lg" len="me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NL" sz="500" kern="1200"/>
        </a:p>
      </dsp:txBody>
      <dsp:txXfrm>
        <a:off x="7282601" y="863451"/>
        <a:ext cx="35845" cy="7169"/>
      </dsp:txXfrm>
    </dsp:sp>
    <dsp:sp modelId="{3466A636-609B-4F26-B741-EC0A1C2852FA}">
      <dsp:nvSpPr>
        <dsp:cNvPr id="0" name=""/>
        <dsp:cNvSpPr/>
      </dsp:nvSpPr>
      <dsp:spPr>
        <a:xfrm>
          <a:off x="3842179" y="174849"/>
          <a:ext cx="3116991" cy="1384374"/>
        </a:xfrm>
        <a:prstGeom prst="rect">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accent1">
              <a:hueOff val="0"/>
              <a:satOff val="0"/>
              <a:lumOff val="0"/>
              <a:alphaOff val="0"/>
              <a:shade val="35000"/>
              <a:satMod val="160000"/>
            </a:schemeClr>
          </a:contourClr>
        </a:sp3d>
      </dsp:spPr>
      <dsp:style>
        <a:lnRef idx="0">
          <a:scrgbClr r="0" g="0" b="0"/>
        </a:lnRef>
        <a:fillRef idx="3">
          <a:scrgbClr r="0" g="0" b="0"/>
        </a:fillRef>
        <a:effectRef idx="3">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l" defTabSz="711200">
            <a:lnSpc>
              <a:spcPct val="90000"/>
            </a:lnSpc>
            <a:spcBef>
              <a:spcPct val="0"/>
            </a:spcBef>
            <a:spcAft>
              <a:spcPct val="35000"/>
            </a:spcAft>
            <a:buNone/>
          </a:pPr>
          <a:r>
            <a:rPr lang="en-US" sz="1600" b="1" u="none" kern="1200" dirty="0"/>
            <a:t>Scenario 2: </a:t>
          </a:r>
        </a:p>
        <a:p>
          <a:pPr marL="0" lvl="0" indent="0" algn="l" defTabSz="711200">
            <a:lnSpc>
              <a:spcPct val="90000"/>
            </a:lnSpc>
            <a:spcBef>
              <a:spcPct val="0"/>
            </a:spcBef>
            <a:spcAft>
              <a:spcPct val="35000"/>
            </a:spcAft>
            <a:buNone/>
          </a:pPr>
          <a:r>
            <a:rPr lang="en-US" sz="1600" kern="1200" dirty="0"/>
            <a:t>Identify the dataset that represents the right meaning</a:t>
          </a:r>
          <a:endParaRPr lang="en-NL" sz="1600" b="0" u="none" kern="1200" dirty="0"/>
        </a:p>
      </dsp:txBody>
      <dsp:txXfrm>
        <a:off x="3842179" y="174849"/>
        <a:ext cx="3116991" cy="1384374"/>
      </dsp:txXfrm>
    </dsp:sp>
    <dsp:sp modelId="{0C26B74F-5C5E-488F-BE18-6EEF27F0F2A6}">
      <dsp:nvSpPr>
        <dsp:cNvPr id="0" name=""/>
        <dsp:cNvSpPr/>
      </dsp:nvSpPr>
      <dsp:spPr>
        <a:xfrm>
          <a:off x="1566775" y="1557423"/>
          <a:ext cx="7667798" cy="929218"/>
        </a:xfrm>
        <a:custGeom>
          <a:avLst/>
          <a:gdLst/>
          <a:ahLst/>
          <a:cxnLst/>
          <a:rect l="0" t="0" r="0" b="0"/>
          <a:pathLst>
            <a:path>
              <a:moveTo>
                <a:pt x="7667798" y="0"/>
              </a:moveTo>
              <a:lnTo>
                <a:pt x="7667798" y="481709"/>
              </a:lnTo>
              <a:lnTo>
                <a:pt x="0" y="481709"/>
              </a:lnTo>
              <a:lnTo>
                <a:pt x="0" y="929218"/>
              </a:lnTo>
            </a:path>
          </a:pathLst>
        </a:custGeom>
        <a:noFill/>
        <a:ln w="34925" cap="flat" cmpd="sng" algn="ctr">
          <a:solidFill>
            <a:schemeClr val="accent2"/>
          </a:solidFill>
          <a:prstDash val="solid"/>
          <a:tailEnd type="arrow" w="lg" len="me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NL" sz="500" kern="1200"/>
        </a:p>
      </dsp:txBody>
      <dsp:txXfrm>
        <a:off x="5207484" y="2018447"/>
        <a:ext cx="386381" cy="7169"/>
      </dsp:txXfrm>
    </dsp:sp>
    <dsp:sp modelId="{781997A3-EE88-46C6-BA3F-CB53E3E30BE6}">
      <dsp:nvSpPr>
        <dsp:cNvPr id="0" name=""/>
        <dsp:cNvSpPr/>
      </dsp:nvSpPr>
      <dsp:spPr>
        <a:xfrm>
          <a:off x="7676078" y="174849"/>
          <a:ext cx="3116991" cy="1384374"/>
        </a:xfrm>
        <a:prstGeom prst="rect">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accent1">
              <a:hueOff val="0"/>
              <a:satOff val="0"/>
              <a:lumOff val="0"/>
              <a:alphaOff val="0"/>
              <a:shade val="35000"/>
              <a:satMod val="160000"/>
            </a:schemeClr>
          </a:contourClr>
        </a:sp3d>
      </dsp:spPr>
      <dsp:style>
        <a:lnRef idx="0">
          <a:scrgbClr r="0" g="0" b="0"/>
        </a:lnRef>
        <a:fillRef idx="3">
          <a:scrgbClr r="0" g="0" b="0"/>
        </a:fillRef>
        <a:effectRef idx="3">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l" defTabSz="711200">
            <a:lnSpc>
              <a:spcPct val="90000"/>
            </a:lnSpc>
            <a:spcBef>
              <a:spcPct val="0"/>
            </a:spcBef>
            <a:spcAft>
              <a:spcPct val="35000"/>
            </a:spcAft>
            <a:buNone/>
          </a:pPr>
          <a:r>
            <a:rPr lang="en-US" sz="1600" b="1" u="none" kern="1200" dirty="0"/>
            <a:t>Scenario 3: </a:t>
          </a:r>
        </a:p>
        <a:p>
          <a:pPr marL="0" lvl="0" indent="0" algn="l" defTabSz="711200">
            <a:lnSpc>
              <a:spcPct val="90000"/>
            </a:lnSpc>
            <a:spcBef>
              <a:spcPct val="0"/>
            </a:spcBef>
            <a:spcAft>
              <a:spcPct val="35000"/>
            </a:spcAft>
            <a:buNone/>
          </a:pPr>
          <a:r>
            <a:rPr lang="en-US" sz="1600" b="0" u="none" kern="1200" dirty="0"/>
            <a:t>Inspect what a selected column means</a:t>
          </a:r>
          <a:endParaRPr lang="en-NL" sz="1600" b="0" u="none" kern="1200" dirty="0"/>
        </a:p>
      </dsp:txBody>
      <dsp:txXfrm>
        <a:off x="7676078" y="174849"/>
        <a:ext cx="3116991" cy="1384374"/>
      </dsp:txXfrm>
    </dsp:sp>
    <dsp:sp modelId="{B654FB9A-C7F5-4D27-A357-D10950EFC7A1}">
      <dsp:nvSpPr>
        <dsp:cNvPr id="0" name=""/>
        <dsp:cNvSpPr/>
      </dsp:nvSpPr>
      <dsp:spPr>
        <a:xfrm>
          <a:off x="3123471" y="3165508"/>
          <a:ext cx="686307" cy="91440"/>
        </a:xfrm>
        <a:custGeom>
          <a:avLst/>
          <a:gdLst/>
          <a:ahLst/>
          <a:cxnLst/>
          <a:rect l="0" t="0" r="0" b="0"/>
          <a:pathLst>
            <a:path>
              <a:moveTo>
                <a:pt x="0" y="45720"/>
              </a:moveTo>
              <a:lnTo>
                <a:pt x="686307" y="45720"/>
              </a:lnTo>
            </a:path>
          </a:pathLst>
        </a:custGeom>
        <a:noFill/>
        <a:ln w="34925" cap="flat" cmpd="sng" algn="ctr">
          <a:solidFill>
            <a:schemeClr val="accent2"/>
          </a:solidFill>
          <a:prstDash val="solid"/>
          <a:tailEnd type="arrow" w="lg" len="me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NL" sz="500" kern="1200"/>
        </a:p>
      </dsp:txBody>
      <dsp:txXfrm>
        <a:off x="3448702" y="3207644"/>
        <a:ext cx="35845" cy="7169"/>
      </dsp:txXfrm>
    </dsp:sp>
    <dsp:sp modelId="{385934CF-4E3A-484C-B2B3-66DCDD4477E7}">
      <dsp:nvSpPr>
        <dsp:cNvPr id="0" name=""/>
        <dsp:cNvSpPr/>
      </dsp:nvSpPr>
      <dsp:spPr>
        <a:xfrm>
          <a:off x="8280" y="2519041"/>
          <a:ext cx="3116991" cy="1384374"/>
        </a:xfrm>
        <a:prstGeom prst="rect">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accent1">
              <a:hueOff val="0"/>
              <a:satOff val="0"/>
              <a:lumOff val="0"/>
              <a:alphaOff val="0"/>
              <a:shade val="35000"/>
              <a:satMod val="160000"/>
            </a:schemeClr>
          </a:contourClr>
        </a:sp3d>
      </dsp:spPr>
      <dsp:style>
        <a:lnRef idx="0">
          <a:scrgbClr r="0" g="0" b="0"/>
        </a:lnRef>
        <a:fillRef idx="3">
          <a:scrgbClr r="0" g="0" b="0"/>
        </a:fillRef>
        <a:effectRef idx="3">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l" defTabSz="711200">
            <a:lnSpc>
              <a:spcPct val="90000"/>
            </a:lnSpc>
            <a:spcBef>
              <a:spcPct val="0"/>
            </a:spcBef>
            <a:spcAft>
              <a:spcPct val="35000"/>
            </a:spcAft>
            <a:buNone/>
          </a:pPr>
          <a:r>
            <a:rPr lang="en-US" sz="1600" b="1" u="none" kern="1200" dirty="0"/>
            <a:t>Scenario 4:</a:t>
          </a:r>
          <a:r>
            <a:rPr lang="en-US" sz="1600" b="0" u="none" kern="1200" dirty="0"/>
            <a:t> </a:t>
          </a:r>
        </a:p>
        <a:p>
          <a:pPr marL="0" lvl="0" indent="0" algn="l" defTabSz="711200">
            <a:lnSpc>
              <a:spcPct val="90000"/>
            </a:lnSpc>
            <a:spcBef>
              <a:spcPct val="0"/>
            </a:spcBef>
            <a:spcAft>
              <a:spcPct val="35000"/>
            </a:spcAft>
            <a:buNone/>
          </a:pPr>
          <a:r>
            <a:rPr lang="en-US" sz="1600" b="0" u="none" kern="1200" dirty="0"/>
            <a:t>Formalize the semantic relation between two selected columns</a:t>
          </a:r>
          <a:endParaRPr lang="en-NL" sz="1600" b="0" u="none" kern="1200" dirty="0"/>
        </a:p>
      </dsp:txBody>
      <dsp:txXfrm>
        <a:off x="8280" y="2519041"/>
        <a:ext cx="3116991" cy="1384374"/>
      </dsp:txXfrm>
    </dsp:sp>
    <dsp:sp modelId="{E04C062C-12EC-4CAC-A9F7-FA386B959D12}">
      <dsp:nvSpPr>
        <dsp:cNvPr id="0" name=""/>
        <dsp:cNvSpPr/>
      </dsp:nvSpPr>
      <dsp:spPr>
        <a:xfrm>
          <a:off x="6957370" y="3165508"/>
          <a:ext cx="686307" cy="91440"/>
        </a:xfrm>
        <a:custGeom>
          <a:avLst/>
          <a:gdLst/>
          <a:ahLst/>
          <a:cxnLst/>
          <a:rect l="0" t="0" r="0" b="0"/>
          <a:pathLst>
            <a:path>
              <a:moveTo>
                <a:pt x="0" y="45720"/>
              </a:moveTo>
              <a:lnTo>
                <a:pt x="686307" y="45720"/>
              </a:lnTo>
            </a:path>
          </a:pathLst>
        </a:custGeom>
        <a:noFill/>
        <a:ln w="34925" cap="flat" cmpd="sng" algn="ctr">
          <a:solidFill>
            <a:schemeClr val="accent2"/>
          </a:solidFill>
          <a:prstDash val="solid"/>
          <a:tailEnd type="arrow" w="lg" len="me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NL" sz="500" kern="1200"/>
        </a:p>
      </dsp:txBody>
      <dsp:txXfrm>
        <a:off x="7282601" y="3207644"/>
        <a:ext cx="35845" cy="7169"/>
      </dsp:txXfrm>
    </dsp:sp>
    <dsp:sp modelId="{7F969913-C98E-4911-B734-E71B7FCCDDE1}">
      <dsp:nvSpPr>
        <dsp:cNvPr id="0" name=""/>
        <dsp:cNvSpPr/>
      </dsp:nvSpPr>
      <dsp:spPr>
        <a:xfrm>
          <a:off x="3842179" y="2519041"/>
          <a:ext cx="3116991" cy="1384374"/>
        </a:xfrm>
        <a:prstGeom prst="rect">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accent1">
              <a:hueOff val="0"/>
              <a:satOff val="0"/>
              <a:lumOff val="0"/>
              <a:alphaOff val="0"/>
              <a:shade val="35000"/>
              <a:satMod val="160000"/>
            </a:schemeClr>
          </a:contourClr>
        </a:sp3d>
      </dsp:spPr>
      <dsp:style>
        <a:lnRef idx="0">
          <a:scrgbClr r="0" g="0" b="0"/>
        </a:lnRef>
        <a:fillRef idx="3">
          <a:scrgbClr r="0" g="0" b="0"/>
        </a:fillRef>
        <a:effectRef idx="3">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l" defTabSz="711200">
            <a:lnSpc>
              <a:spcPct val="90000"/>
            </a:lnSpc>
            <a:spcBef>
              <a:spcPct val="0"/>
            </a:spcBef>
            <a:spcAft>
              <a:spcPct val="35000"/>
            </a:spcAft>
            <a:buNone/>
          </a:pPr>
          <a:r>
            <a:rPr lang="en-US" sz="1600" b="1" u="none" kern="1200" dirty="0">
              <a:solidFill>
                <a:schemeClr val="bg1"/>
              </a:solidFill>
            </a:rPr>
            <a:t>Scenario 5:</a:t>
          </a:r>
          <a:r>
            <a:rPr lang="en-US" sz="1600" b="0" u="none" kern="1200" dirty="0">
              <a:solidFill>
                <a:schemeClr val="bg1"/>
              </a:solidFill>
            </a:rPr>
            <a:t> </a:t>
          </a:r>
        </a:p>
        <a:p>
          <a:pPr marL="0" lvl="0" indent="0" algn="l" defTabSz="711200">
            <a:lnSpc>
              <a:spcPct val="90000"/>
            </a:lnSpc>
            <a:spcBef>
              <a:spcPct val="0"/>
            </a:spcBef>
            <a:spcAft>
              <a:spcPct val="35000"/>
            </a:spcAft>
            <a:buNone/>
          </a:pPr>
          <a:r>
            <a:rPr lang="en-US" sz="1600" kern="1200" dirty="0">
              <a:solidFill>
                <a:schemeClr val="bg1"/>
              </a:solidFill>
            </a:rPr>
            <a:t>Assess (re)use options around one selected concept</a:t>
          </a:r>
          <a:endParaRPr lang="en-NL" sz="1600" kern="1200" dirty="0">
            <a:solidFill>
              <a:schemeClr val="bg1"/>
            </a:solidFill>
          </a:endParaRPr>
        </a:p>
      </dsp:txBody>
      <dsp:txXfrm>
        <a:off x="3842179" y="2519041"/>
        <a:ext cx="3116991" cy="1384374"/>
      </dsp:txXfrm>
    </dsp:sp>
    <dsp:sp modelId="{F33A4F67-5619-4B2C-B090-C5D18F9B354D}">
      <dsp:nvSpPr>
        <dsp:cNvPr id="0" name=""/>
        <dsp:cNvSpPr/>
      </dsp:nvSpPr>
      <dsp:spPr>
        <a:xfrm>
          <a:off x="7676078" y="2276131"/>
          <a:ext cx="3116991" cy="1870194"/>
        </a:xfrm>
        <a:prstGeom prst="rect">
          <a:avLst/>
        </a:prstGeom>
        <a:solidFill>
          <a:schemeClr val="accent3">
            <a:lumMod val="20000"/>
            <a:lumOff val="80000"/>
          </a:schemeClr>
        </a:solidFill>
        <a:ln>
          <a:solidFill>
            <a:schemeClr val="accent1"/>
          </a:solidFill>
        </a:ln>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accent1">
              <a:hueOff val="0"/>
              <a:satOff val="0"/>
              <a:lumOff val="0"/>
              <a:alphaOff val="0"/>
              <a:shade val="35000"/>
              <a:satMod val="160000"/>
            </a:schemeClr>
          </a:contourClr>
        </a:sp3d>
      </dsp:spPr>
      <dsp:style>
        <a:lnRef idx="0">
          <a:scrgbClr r="0" g="0" b="0"/>
        </a:lnRef>
        <a:fillRef idx="3">
          <a:scrgbClr r="0" g="0" b="0"/>
        </a:fillRef>
        <a:effectRef idx="3">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l" defTabSz="711200">
            <a:lnSpc>
              <a:spcPct val="90000"/>
            </a:lnSpc>
            <a:spcBef>
              <a:spcPct val="0"/>
            </a:spcBef>
            <a:spcAft>
              <a:spcPct val="35000"/>
            </a:spcAft>
            <a:buNone/>
          </a:pPr>
          <a:r>
            <a:rPr lang="en-US" sz="1600" b="1" kern="1200" dirty="0">
              <a:solidFill>
                <a:schemeClr val="accent1"/>
              </a:solidFill>
            </a:rPr>
            <a:t>Result:</a:t>
          </a:r>
          <a:r>
            <a:rPr lang="en-US" sz="1600" kern="1200" dirty="0">
              <a:solidFill>
                <a:schemeClr val="accent1"/>
              </a:solidFill>
            </a:rPr>
            <a:t> Amir could move from label-based guessing to a defensible decision, identifying which variable fits his study and which related concepts align, should be ruled out, or only partially overlap.</a:t>
          </a:r>
          <a:endParaRPr lang="en-NL" sz="1600" kern="1200" dirty="0">
            <a:solidFill>
              <a:schemeClr val="accent1"/>
            </a:solidFill>
          </a:endParaRPr>
        </a:p>
      </dsp:txBody>
      <dsp:txXfrm>
        <a:off x="7676078" y="2276131"/>
        <a:ext cx="3116991" cy="187019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30F5C66-3708-42C1-85DE-CEE3C68AB376}">
      <dsp:nvSpPr>
        <dsp:cNvPr id="0" name=""/>
        <dsp:cNvSpPr/>
      </dsp:nvSpPr>
      <dsp:spPr>
        <a:xfrm>
          <a:off x="2071244" y="1044765"/>
          <a:ext cx="445976" cy="91440"/>
        </a:xfrm>
        <a:custGeom>
          <a:avLst/>
          <a:gdLst/>
          <a:ahLst/>
          <a:cxnLst/>
          <a:rect l="0" t="0" r="0" b="0"/>
          <a:pathLst>
            <a:path>
              <a:moveTo>
                <a:pt x="0" y="45720"/>
              </a:moveTo>
              <a:lnTo>
                <a:pt x="445976" y="45720"/>
              </a:lnTo>
            </a:path>
          </a:pathLst>
        </a:custGeom>
        <a:noFill/>
        <a:ln w="9525" cap="flat" cmpd="sng" algn="ctr">
          <a:solidFill>
            <a:schemeClr val="accent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NL" sz="500" b="0" kern="1200"/>
        </a:p>
      </dsp:txBody>
      <dsp:txXfrm>
        <a:off x="2282318" y="1088102"/>
        <a:ext cx="23828" cy="4765"/>
      </dsp:txXfrm>
    </dsp:sp>
    <dsp:sp modelId="{D149737F-36DF-4011-B9E5-AAB9F36AF052}">
      <dsp:nvSpPr>
        <dsp:cNvPr id="0" name=""/>
        <dsp:cNvSpPr/>
      </dsp:nvSpPr>
      <dsp:spPr>
        <a:xfrm>
          <a:off x="970" y="468863"/>
          <a:ext cx="2072073" cy="1243244"/>
        </a:xfrm>
        <a:prstGeom prst="rect">
          <a:avLst/>
        </a:prstGeom>
        <a:gradFill rotWithShape="0">
          <a:gsLst>
            <a:gs pos="0">
              <a:schemeClr val="accent2">
                <a:hueOff val="0"/>
                <a:satOff val="0"/>
                <a:lumOff val="0"/>
                <a:alphaOff val="0"/>
                <a:tint val="100000"/>
                <a:shade val="85000"/>
                <a:satMod val="100000"/>
                <a:lumMod val="100000"/>
              </a:schemeClr>
            </a:gs>
            <a:gs pos="100000">
              <a:schemeClr val="accent2">
                <a:hueOff val="0"/>
                <a:satOff val="0"/>
                <a:lumOff val="0"/>
                <a:alphaOff val="0"/>
                <a:tint val="90000"/>
                <a:shade val="100000"/>
                <a:satMod val="150000"/>
                <a:lumMod val="100000"/>
              </a:schemeClr>
            </a:gs>
          </a:gsLst>
          <a:path path="circle">
            <a:fillToRect l="100000" t="100000" r="100000" b="100000"/>
          </a:path>
        </a:gradFill>
        <a:ln>
          <a:noFill/>
        </a:ln>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accent2">
              <a:hueOff val="0"/>
              <a:satOff val="0"/>
              <a:lumOff val="0"/>
              <a:alphaOff val="0"/>
              <a:shade val="35000"/>
              <a:satMod val="160000"/>
            </a:schemeClr>
          </a:contourClr>
        </a:sp3d>
      </dsp:spPr>
      <dsp:style>
        <a:lnRef idx="0">
          <a:scrgbClr r="0" g="0" b="0"/>
        </a:lnRef>
        <a:fillRef idx="3">
          <a:scrgbClr r="0" g="0" b="0"/>
        </a:fillRef>
        <a:effectRef idx="3">
          <a:scrgbClr r="0" g="0" b="0"/>
        </a:effectRef>
        <a:fontRef idx="minor">
          <a:schemeClr val="lt1"/>
        </a:fontRef>
      </dsp:style>
      <dsp:txBody>
        <a:bodyPr spcFirstLastPara="0" vert="horz" wrap="square" lIns="120904" tIns="120904" rIns="120904" bIns="120904" numCol="1" spcCol="1270" anchor="ctr" anchorCtr="0">
          <a:noAutofit/>
        </a:bodyPr>
        <a:lstStyle/>
        <a:p>
          <a:pPr marL="0" lvl="0" indent="0" algn="ctr" defTabSz="755650">
            <a:lnSpc>
              <a:spcPct val="90000"/>
            </a:lnSpc>
            <a:spcBef>
              <a:spcPct val="0"/>
            </a:spcBef>
            <a:spcAft>
              <a:spcPct val="35000"/>
            </a:spcAft>
            <a:buNone/>
          </a:pPr>
          <a:r>
            <a:rPr lang="it-IT" sz="1700" b="1" kern="1200" dirty="0"/>
            <a:t>Scenario 6</a:t>
          </a:r>
          <a:r>
            <a:rPr lang="it-IT" sz="1700" b="0" kern="1200" dirty="0"/>
            <a:t> — validate one concept</a:t>
          </a:r>
          <a:endParaRPr lang="en-NL" sz="1700" b="0" kern="1200" dirty="0"/>
        </a:p>
      </dsp:txBody>
      <dsp:txXfrm>
        <a:off x="970" y="468863"/>
        <a:ext cx="2072073" cy="1243244"/>
      </dsp:txXfrm>
    </dsp:sp>
    <dsp:sp modelId="{DEE4307B-914B-4176-8198-21CFECF65827}">
      <dsp:nvSpPr>
        <dsp:cNvPr id="0" name=""/>
        <dsp:cNvSpPr/>
      </dsp:nvSpPr>
      <dsp:spPr>
        <a:xfrm>
          <a:off x="1037007" y="1710307"/>
          <a:ext cx="2548650" cy="445976"/>
        </a:xfrm>
        <a:custGeom>
          <a:avLst/>
          <a:gdLst/>
          <a:ahLst/>
          <a:cxnLst/>
          <a:rect l="0" t="0" r="0" b="0"/>
          <a:pathLst>
            <a:path>
              <a:moveTo>
                <a:pt x="2548650" y="0"/>
              </a:moveTo>
              <a:lnTo>
                <a:pt x="2548650" y="240088"/>
              </a:lnTo>
              <a:lnTo>
                <a:pt x="0" y="240088"/>
              </a:lnTo>
              <a:lnTo>
                <a:pt x="0" y="445976"/>
              </a:lnTo>
            </a:path>
          </a:pathLst>
        </a:custGeom>
        <a:noFill/>
        <a:ln w="9525" cap="flat" cmpd="sng" algn="ctr">
          <a:solidFill>
            <a:schemeClr val="accent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NL" sz="500" b="0" kern="1200"/>
        </a:p>
      </dsp:txBody>
      <dsp:txXfrm>
        <a:off x="2246511" y="1930913"/>
        <a:ext cx="129641" cy="4765"/>
      </dsp:txXfrm>
    </dsp:sp>
    <dsp:sp modelId="{8998D27A-080C-4007-A8AC-9F8DD7B1C5A5}">
      <dsp:nvSpPr>
        <dsp:cNvPr id="0" name=""/>
        <dsp:cNvSpPr/>
      </dsp:nvSpPr>
      <dsp:spPr>
        <a:xfrm>
          <a:off x="2549620" y="468863"/>
          <a:ext cx="2072073" cy="1243244"/>
        </a:xfrm>
        <a:prstGeom prst="rect">
          <a:avLst/>
        </a:prstGeom>
        <a:gradFill rotWithShape="0">
          <a:gsLst>
            <a:gs pos="0">
              <a:schemeClr val="accent2">
                <a:hueOff val="0"/>
                <a:satOff val="0"/>
                <a:lumOff val="0"/>
                <a:alphaOff val="0"/>
                <a:tint val="100000"/>
                <a:shade val="85000"/>
                <a:satMod val="100000"/>
                <a:lumMod val="100000"/>
              </a:schemeClr>
            </a:gs>
            <a:gs pos="100000">
              <a:schemeClr val="accent2">
                <a:hueOff val="0"/>
                <a:satOff val="0"/>
                <a:lumOff val="0"/>
                <a:alphaOff val="0"/>
                <a:tint val="90000"/>
                <a:shade val="100000"/>
                <a:satMod val="150000"/>
                <a:lumMod val="100000"/>
              </a:schemeClr>
            </a:gs>
          </a:gsLst>
          <a:path path="circle">
            <a:fillToRect l="100000" t="100000" r="100000" b="100000"/>
          </a:path>
        </a:gradFill>
        <a:ln>
          <a:noFill/>
        </a:ln>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accent2">
              <a:hueOff val="0"/>
              <a:satOff val="0"/>
              <a:lumOff val="0"/>
              <a:alphaOff val="0"/>
              <a:shade val="35000"/>
              <a:satMod val="160000"/>
            </a:schemeClr>
          </a:contourClr>
        </a:sp3d>
      </dsp:spPr>
      <dsp:style>
        <a:lnRef idx="0">
          <a:scrgbClr r="0" g="0" b="0"/>
        </a:lnRef>
        <a:fillRef idx="3">
          <a:scrgbClr r="0" g="0" b="0"/>
        </a:fillRef>
        <a:effectRef idx="3">
          <a:scrgbClr r="0" g="0" b="0"/>
        </a:effectRef>
        <a:fontRef idx="minor">
          <a:schemeClr val="lt1"/>
        </a:fontRef>
      </dsp:style>
      <dsp:txBody>
        <a:bodyPr spcFirstLastPara="0" vert="horz" wrap="square" lIns="120904" tIns="120904" rIns="120904" bIns="120904" numCol="1" spcCol="1270" anchor="ctr" anchorCtr="0">
          <a:noAutofit/>
        </a:bodyPr>
        <a:lstStyle/>
        <a:p>
          <a:pPr marL="0" lvl="0" indent="0" algn="ctr" defTabSz="755650">
            <a:lnSpc>
              <a:spcPct val="90000"/>
            </a:lnSpc>
            <a:spcBef>
              <a:spcPct val="0"/>
            </a:spcBef>
            <a:spcAft>
              <a:spcPct val="35000"/>
            </a:spcAft>
            <a:buNone/>
          </a:pPr>
          <a:r>
            <a:rPr lang="en-US" sz="1700" b="1" kern="1200" dirty="0"/>
            <a:t>Scenario 7</a:t>
          </a:r>
          <a:r>
            <a:rPr lang="en-US" sz="1700" b="0" kern="1200" dirty="0"/>
            <a:t> — review all inconsistencies</a:t>
          </a:r>
          <a:endParaRPr lang="en-NL" sz="1700" b="0" kern="1200" dirty="0"/>
        </a:p>
      </dsp:txBody>
      <dsp:txXfrm>
        <a:off x="2549620" y="468863"/>
        <a:ext cx="2072073" cy="1243244"/>
      </dsp:txXfrm>
    </dsp:sp>
    <dsp:sp modelId="{EC840B94-7646-4FD9-A6AE-9D190066EFBF}">
      <dsp:nvSpPr>
        <dsp:cNvPr id="0" name=""/>
        <dsp:cNvSpPr/>
      </dsp:nvSpPr>
      <dsp:spPr>
        <a:xfrm>
          <a:off x="2071244" y="2764586"/>
          <a:ext cx="445976" cy="91440"/>
        </a:xfrm>
        <a:custGeom>
          <a:avLst/>
          <a:gdLst/>
          <a:ahLst/>
          <a:cxnLst/>
          <a:rect l="0" t="0" r="0" b="0"/>
          <a:pathLst>
            <a:path>
              <a:moveTo>
                <a:pt x="0" y="45720"/>
              </a:moveTo>
              <a:lnTo>
                <a:pt x="445976" y="45720"/>
              </a:lnTo>
            </a:path>
          </a:pathLst>
        </a:custGeom>
        <a:noFill/>
        <a:ln w="9525" cap="flat" cmpd="sng" algn="ctr">
          <a:solidFill>
            <a:schemeClr val="accent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NL" sz="500" b="0" kern="1200"/>
        </a:p>
      </dsp:txBody>
      <dsp:txXfrm>
        <a:off x="2282318" y="2807923"/>
        <a:ext cx="23828" cy="4765"/>
      </dsp:txXfrm>
    </dsp:sp>
    <dsp:sp modelId="{D4D2ADCE-BDBA-4FFE-ACF8-FE949F15D9AD}">
      <dsp:nvSpPr>
        <dsp:cNvPr id="0" name=""/>
        <dsp:cNvSpPr/>
      </dsp:nvSpPr>
      <dsp:spPr>
        <a:xfrm>
          <a:off x="970" y="2188684"/>
          <a:ext cx="2072073" cy="1243244"/>
        </a:xfrm>
        <a:prstGeom prst="rect">
          <a:avLst/>
        </a:prstGeom>
        <a:gradFill rotWithShape="0">
          <a:gsLst>
            <a:gs pos="0">
              <a:schemeClr val="accent2">
                <a:hueOff val="0"/>
                <a:satOff val="0"/>
                <a:lumOff val="0"/>
                <a:alphaOff val="0"/>
                <a:tint val="100000"/>
                <a:shade val="85000"/>
                <a:satMod val="100000"/>
                <a:lumMod val="100000"/>
              </a:schemeClr>
            </a:gs>
            <a:gs pos="100000">
              <a:schemeClr val="accent2">
                <a:hueOff val="0"/>
                <a:satOff val="0"/>
                <a:lumOff val="0"/>
                <a:alphaOff val="0"/>
                <a:tint val="90000"/>
                <a:shade val="100000"/>
                <a:satMod val="150000"/>
                <a:lumMod val="100000"/>
              </a:schemeClr>
            </a:gs>
          </a:gsLst>
          <a:path path="circle">
            <a:fillToRect l="100000" t="100000" r="100000" b="100000"/>
          </a:path>
        </a:gradFill>
        <a:ln>
          <a:noFill/>
        </a:ln>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accent2">
              <a:hueOff val="0"/>
              <a:satOff val="0"/>
              <a:lumOff val="0"/>
              <a:alphaOff val="0"/>
              <a:shade val="35000"/>
              <a:satMod val="160000"/>
            </a:schemeClr>
          </a:contourClr>
        </a:sp3d>
      </dsp:spPr>
      <dsp:style>
        <a:lnRef idx="0">
          <a:scrgbClr r="0" g="0" b="0"/>
        </a:lnRef>
        <a:fillRef idx="3">
          <a:scrgbClr r="0" g="0" b="0"/>
        </a:fillRef>
        <a:effectRef idx="3">
          <a:scrgbClr r="0" g="0" b="0"/>
        </a:effectRef>
        <a:fontRef idx="minor">
          <a:schemeClr val="lt1"/>
        </a:fontRef>
      </dsp:style>
      <dsp:txBody>
        <a:bodyPr spcFirstLastPara="0" vert="horz" wrap="square" lIns="120904" tIns="120904" rIns="120904" bIns="120904" numCol="1" spcCol="1270" anchor="ctr" anchorCtr="0">
          <a:noAutofit/>
        </a:bodyPr>
        <a:lstStyle/>
        <a:p>
          <a:pPr marL="0" lvl="0" indent="0" algn="ctr" defTabSz="755650">
            <a:lnSpc>
              <a:spcPct val="90000"/>
            </a:lnSpc>
            <a:spcBef>
              <a:spcPct val="0"/>
            </a:spcBef>
            <a:spcAft>
              <a:spcPct val="35000"/>
            </a:spcAft>
            <a:buNone/>
          </a:pPr>
          <a:r>
            <a:rPr lang="en-US" sz="1700" b="1" kern="1200" dirty="0"/>
            <a:t>Scenario 8</a:t>
          </a:r>
          <a:r>
            <a:rPr lang="en-US" sz="1700" b="0" kern="1200" dirty="0"/>
            <a:t> — simulate consequences before publication</a:t>
          </a:r>
          <a:endParaRPr lang="en-NL" sz="1700" b="0" kern="1200" dirty="0"/>
        </a:p>
      </dsp:txBody>
      <dsp:txXfrm>
        <a:off x="970" y="2188684"/>
        <a:ext cx="2072073" cy="1243244"/>
      </dsp:txXfrm>
    </dsp:sp>
    <dsp:sp modelId="{0829F314-22B6-4965-B38C-3171E339DB25}">
      <dsp:nvSpPr>
        <dsp:cNvPr id="0" name=""/>
        <dsp:cNvSpPr/>
      </dsp:nvSpPr>
      <dsp:spPr>
        <a:xfrm>
          <a:off x="2549620" y="2188684"/>
          <a:ext cx="2072073" cy="1243244"/>
        </a:xfrm>
        <a:prstGeom prst="rect">
          <a:avLst/>
        </a:prstGeom>
        <a:gradFill rotWithShape="0">
          <a:gsLst>
            <a:gs pos="0">
              <a:schemeClr val="accent2">
                <a:hueOff val="0"/>
                <a:satOff val="0"/>
                <a:lumOff val="0"/>
                <a:alphaOff val="0"/>
                <a:tint val="100000"/>
                <a:shade val="85000"/>
                <a:satMod val="100000"/>
                <a:lumMod val="100000"/>
              </a:schemeClr>
            </a:gs>
            <a:gs pos="100000">
              <a:schemeClr val="accent2">
                <a:hueOff val="0"/>
                <a:satOff val="0"/>
                <a:lumOff val="0"/>
                <a:alphaOff val="0"/>
                <a:tint val="90000"/>
                <a:shade val="100000"/>
                <a:satMod val="150000"/>
                <a:lumMod val="100000"/>
              </a:schemeClr>
            </a:gs>
          </a:gsLst>
          <a:path path="circle">
            <a:fillToRect l="100000" t="100000" r="100000" b="100000"/>
          </a:path>
        </a:gradFill>
        <a:ln>
          <a:noFill/>
        </a:ln>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accent2">
              <a:hueOff val="0"/>
              <a:satOff val="0"/>
              <a:lumOff val="0"/>
              <a:alphaOff val="0"/>
              <a:shade val="35000"/>
              <a:satMod val="160000"/>
            </a:schemeClr>
          </a:contourClr>
        </a:sp3d>
      </dsp:spPr>
      <dsp:style>
        <a:lnRef idx="0">
          <a:scrgbClr r="0" g="0" b="0"/>
        </a:lnRef>
        <a:fillRef idx="3">
          <a:scrgbClr r="0" g="0" b="0"/>
        </a:fillRef>
        <a:effectRef idx="3">
          <a:scrgbClr r="0" g="0" b="0"/>
        </a:effectRef>
        <a:fontRef idx="minor">
          <a:schemeClr val="lt1"/>
        </a:fontRef>
      </dsp:style>
      <dsp:txBody>
        <a:bodyPr spcFirstLastPara="0" vert="horz" wrap="square" lIns="120904" tIns="120904" rIns="120904" bIns="120904" numCol="1" spcCol="1270" anchor="ctr" anchorCtr="0">
          <a:noAutofit/>
        </a:bodyPr>
        <a:lstStyle/>
        <a:p>
          <a:pPr marL="0" lvl="0" indent="0" algn="ctr" defTabSz="755650">
            <a:lnSpc>
              <a:spcPct val="90000"/>
            </a:lnSpc>
            <a:spcBef>
              <a:spcPct val="0"/>
            </a:spcBef>
            <a:spcAft>
              <a:spcPct val="35000"/>
            </a:spcAft>
            <a:buNone/>
          </a:pPr>
          <a:endParaRPr lang="en-NL" sz="1700" b="0" kern="1200" dirty="0"/>
        </a:p>
      </dsp:txBody>
      <dsp:txXfrm>
        <a:off x="2549620" y="2188684"/>
        <a:ext cx="2072073" cy="1243244"/>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30F5C66-3708-42C1-85DE-CEE3C68AB376}">
      <dsp:nvSpPr>
        <dsp:cNvPr id="0" name=""/>
        <dsp:cNvSpPr/>
      </dsp:nvSpPr>
      <dsp:spPr>
        <a:xfrm>
          <a:off x="4737247" y="861559"/>
          <a:ext cx="664004" cy="91440"/>
        </a:xfrm>
        <a:custGeom>
          <a:avLst/>
          <a:gdLst/>
          <a:ahLst/>
          <a:cxnLst/>
          <a:rect l="0" t="0" r="0" b="0"/>
          <a:pathLst>
            <a:path>
              <a:moveTo>
                <a:pt x="0" y="45720"/>
              </a:moveTo>
              <a:lnTo>
                <a:pt x="664004" y="45720"/>
              </a:lnTo>
            </a:path>
          </a:pathLst>
        </a:custGeom>
        <a:noFill/>
        <a:ln w="9525" cap="flat" cmpd="sng" algn="ctr">
          <a:solidFill>
            <a:schemeClr val="accent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NL" sz="500" b="0" kern="1200"/>
        </a:p>
      </dsp:txBody>
      <dsp:txXfrm>
        <a:off x="5051884" y="903806"/>
        <a:ext cx="34730" cy="6946"/>
      </dsp:txXfrm>
    </dsp:sp>
    <dsp:sp modelId="{D149737F-36DF-4011-B9E5-AAB9F36AF052}">
      <dsp:nvSpPr>
        <dsp:cNvPr id="0" name=""/>
        <dsp:cNvSpPr/>
      </dsp:nvSpPr>
      <dsp:spPr>
        <a:xfrm>
          <a:off x="1719027" y="1272"/>
          <a:ext cx="3020020" cy="1812012"/>
        </a:xfrm>
        <a:prstGeom prst="rect">
          <a:avLst/>
        </a:prstGeom>
        <a:gradFill rotWithShape="0">
          <a:gsLst>
            <a:gs pos="0">
              <a:schemeClr val="accent2">
                <a:hueOff val="0"/>
                <a:satOff val="0"/>
                <a:lumOff val="0"/>
                <a:alphaOff val="0"/>
                <a:tint val="100000"/>
                <a:shade val="85000"/>
                <a:satMod val="100000"/>
                <a:lumMod val="100000"/>
              </a:schemeClr>
            </a:gs>
            <a:gs pos="100000">
              <a:schemeClr val="accent2">
                <a:hueOff val="0"/>
                <a:satOff val="0"/>
                <a:lumOff val="0"/>
                <a:alphaOff val="0"/>
                <a:tint val="90000"/>
                <a:shade val="100000"/>
                <a:satMod val="150000"/>
                <a:lumMod val="100000"/>
              </a:schemeClr>
            </a:gs>
          </a:gsLst>
          <a:path path="circle">
            <a:fillToRect l="100000" t="100000" r="100000" b="100000"/>
          </a:path>
        </a:gradFill>
        <a:ln>
          <a:noFill/>
        </a:ln>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accent2">
              <a:hueOff val="0"/>
              <a:satOff val="0"/>
              <a:lumOff val="0"/>
              <a:alphaOff val="0"/>
              <a:shade val="35000"/>
              <a:satMod val="160000"/>
            </a:schemeClr>
          </a:contourClr>
        </a:sp3d>
      </dsp:spPr>
      <dsp:style>
        <a:lnRef idx="0">
          <a:scrgbClr r="0" g="0" b="0"/>
        </a:lnRef>
        <a:fillRef idx="3">
          <a:scrgbClr r="0" g="0" b="0"/>
        </a:fillRef>
        <a:effectRef idx="3">
          <a:scrgbClr r="0" g="0" b="0"/>
        </a:effectRef>
        <a:fontRef idx="minor">
          <a:schemeClr val="lt1"/>
        </a:fontRef>
      </dsp:style>
      <dsp:txBody>
        <a:bodyPr spcFirstLastPara="0" vert="horz" wrap="square" lIns="177800" tIns="177800" rIns="177800" bIns="177800" numCol="1" spcCol="1270" anchor="ctr" anchorCtr="0">
          <a:noAutofit/>
        </a:bodyPr>
        <a:lstStyle/>
        <a:p>
          <a:pPr marL="0" lvl="0" indent="0" algn="ctr" defTabSz="1111250">
            <a:lnSpc>
              <a:spcPct val="90000"/>
            </a:lnSpc>
            <a:spcBef>
              <a:spcPct val="0"/>
            </a:spcBef>
            <a:spcAft>
              <a:spcPct val="35000"/>
            </a:spcAft>
            <a:buNone/>
          </a:pPr>
          <a:r>
            <a:rPr lang="it-IT" sz="2500" b="1" kern="1200" dirty="0"/>
            <a:t>Scenario 6</a:t>
          </a:r>
          <a:r>
            <a:rPr lang="it-IT" sz="2500" b="0" kern="1200" dirty="0"/>
            <a:t> — validate one concept</a:t>
          </a:r>
          <a:endParaRPr lang="en-NL" sz="2500" b="0" kern="1200" dirty="0"/>
        </a:p>
      </dsp:txBody>
      <dsp:txXfrm>
        <a:off x="1719027" y="1272"/>
        <a:ext cx="3020020" cy="1812012"/>
      </dsp:txXfrm>
    </dsp:sp>
    <dsp:sp modelId="{DEE4307B-914B-4176-8198-21CFECF65827}">
      <dsp:nvSpPr>
        <dsp:cNvPr id="0" name=""/>
        <dsp:cNvSpPr/>
      </dsp:nvSpPr>
      <dsp:spPr>
        <a:xfrm>
          <a:off x="3229037" y="1811485"/>
          <a:ext cx="3714624" cy="664004"/>
        </a:xfrm>
        <a:custGeom>
          <a:avLst/>
          <a:gdLst/>
          <a:ahLst/>
          <a:cxnLst/>
          <a:rect l="0" t="0" r="0" b="0"/>
          <a:pathLst>
            <a:path>
              <a:moveTo>
                <a:pt x="3714624" y="0"/>
              </a:moveTo>
              <a:lnTo>
                <a:pt x="3714624" y="349102"/>
              </a:lnTo>
              <a:lnTo>
                <a:pt x="0" y="349102"/>
              </a:lnTo>
              <a:lnTo>
                <a:pt x="0" y="664004"/>
              </a:lnTo>
            </a:path>
          </a:pathLst>
        </a:custGeom>
        <a:noFill/>
        <a:ln w="9525" cap="flat" cmpd="sng" algn="ctr">
          <a:solidFill>
            <a:schemeClr val="accent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NL" sz="500" b="0" kern="1200"/>
        </a:p>
      </dsp:txBody>
      <dsp:txXfrm>
        <a:off x="4991874" y="2140014"/>
        <a:ext cx="188950" cy="6946"/>
      </dsp:txXfrm>
    </dsp:sp>
    <dsp:sp modelId="{8998D27A-080C-4007-A8AC-9F8DD7B1C5A5}">
      <dsp:nvSpPr>
        <dsp:cNvPr id="0" name=""/>
        <dsp:cNvSpPr/>
      </dsp:nvSpPr>
      <dsp:spPr>
        <a:xfrm>
          <a:off x="5433652" y="1272"/>
          <a:ext cx="3020020" cy="1812012"/>
        </a:xfrm>
        <a:prstGeom prst="rect">
          <a:avLst/>
        </a:prstGeom>
        <a:gradFill rotWithShape="0">
          <a:gsLst>
            <a:gs pos="0">
              <a:schemeClr val="accent2">
                <a:hueOff val="0"/>
                <a:satOff val="0"/>
                <a:lumOff val="0"/>
                <a:alphaOff val="0"/>
                <a:tint val="100000"/>
                <a:shade val="85000"/>
                <a:satMod val="100000"/>
                <a:lumMod val="100000"/>
              </a:schemeClr>
            </a:gs>
            <a:gs pos="100000">
              <a:schemeClr val="accent2">
                <a:hueOff val="0"/>
                <a:satOff val="0"/>
                <a:lumOff val="0"/>
                <a:alphaOff val="0"/>
                <a:tint val="90000"/>
                <a:shade val="100000"/>
                <a:satMod val="150000"/>
                <a:lumMod val="100000"/>
              </a:schemeClr>
            </a:gs>
          </a:gsLst>
          <a:path path="circle">
            <a:fillToRect l="100000" t="100000" r="100000" b="100000"/>
          </a:path>
        </a:gradFill>
        <a:ln>
          <a:noFill/>
        </a:ln>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accent2">
              <a:hueOff val="0"/>
              <a:satOff val="0"/>
              <a:lumOff val="0"/>
              <a:alphaOff val="0"/>
              <a:shade val="35000"/>
              <a:satMod val="160000"/>
            </a:schemeClr>
          </a:contourClr>
        </a:sp3d>
      </dsp:spPr>
      <dsp:style>
        <a:lnRef idx="0">
          <a:scrgbClr r="0" g="0" b="0"/>
        </a:lnRef>
        <a:fillRef idx="3">
          <a:scrgbClr r="0" g="0" b="0"/>
        </a:fillRef>
        <a:effectRef idx="3">
          <a:scrgbClr r="0" g="0" b="0"/>
        </a:effectRef>
        <a:fontRef idx="minor">
          <a:schemeClr val="lt1"/>
        </a:fontRef>
      </dsp:style>
      <dsp:txBody>
        <a:bodyPr spcFirstLastPara="0" vert="horz" wrap="square" lIns="177800" tIns="177800" rIns="177800" bIns="177800" numCol="1" spcCol="1270" anchor="ctr" anchorCtr="0">
          <a:noAutofit/>
        </a:bodyPr>
        <a:lstStyle/>
        <a:p>
          <a:pPr marL="0" lvl="0" indent="0" algn="ctr" defTabSz="1111250">
            <a:lnSpc>
              <a:spcPct val="90000"/>
            </a:lnSpc>
            <a:spcBef>
              <a:spcPct val="0"/>
            </a:spcBef>
            <a:spcAft>
              <a:spcPct val="35000"/>
            </a:spcAft>
            <a:buNone/>
          </a:pPr>
          <a:r>
            <a:rPr lang="en-US" sz="2500" b="1" kern="1200" dirty="0"/>
            <a:t>Scenario 7</a:t>
          </a:r>
          <a:r>
            <a:rPr lang="en-US" sz="2500" b="0" kern="1200" dirty="0"/>
            <a:t> — review all inconsistencies</a:t>
          </a:r>
          <a:endParaRPr lang="en-NL" sz="2500" b="0" kern="1200" dirty="0"/>
        </a:p>
      </dsp:txBody>
      <dsp:txXfrm>
        <a:off x="5433652" y="1272"/>
        <a:ext cx="3020020" cy="1812012"/>
      </dsp:txXfrm>
    </dsp:sp>
    <dsp:sp modelId="{EC840B94-7646-4FD9-A6AE-9D190066EFBF}">
      <dsp:nvSpPr>
        <dsp:cNvPr id="0" name=""/>
        <dsp:cNvSpPr/>
      </dsp:nvSpPr>
      <dsp:spPr>
        <a:xfrm>
          <a:off x="4737247" y="3368175"/>
          <a:ext cx="664004" cy="91440"/>
        </a:xfrm>
        <a:custGeom>
          <a:avLst/>
          <a:gdLst/>
          <a:ahLst/>
          <a:cxnLst/>
          <a:rect l="0" t="0" r="0" b="0"/>
          <a:pathLst>
            <a:path>
              <a:moveTo>
                <a:pt x="0" y="45720"/>
              </a:moveTo>
              <a:lnTo>
                <a:pt x="664004" y="45720"/>
              </a:lnTo>
            </a:path>
          </a:pathLst>
        </a:custGeom>
        <a:noFill/>
        <a:ln w="9525" cap="flat" cmpd="sng" algn="ctr">
          <a:solidFill>
            <a:schemeClr val="accent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NL" sz="500" b="0" kern="1200"/>
        </a:p>
      </dsp:txBody>
      <dsp:txXfrm>
        <a:off x="5051884" y="3410422"/>
        <a:ext cx="34730" cy="6946"/>
      </dsp:txXfrm>
    </dsp:sp>
    <dsp:sp modelId="{D4D2ADCE-BDBA-4FFE-ACF8-FE949F15D9AD}">
      <dsp:nvSpPr>
        <dsp:cNvPr id="0" name=""/>
        <dsp:cNvSpPr/>
      </dsp:nvSpPr>
      <dsp:spPr>
        <a:xfrm>
          <a:off x="1719027" y="2507889"/>
          <a:ext cx="3020020" cy="1812012"/>
        </a:xfrm>
        <a:prstGeom prst="rect">
          <a:avLst/>
        </a:prstGeom>
        <a:gradFill rotWithShape="0">
          <a:gsLst>
            <a:gs pos="0">
              <a:schemeClr val="accent2">
                <a:hueOff val="0"/>
                <a:satOff val="0"/>
                <a:lumOff val="0"/>
                <a:alphaOff val="0"/>
                <a:tint val="100000"/>
                <a:shade val="85000"/>
                <a:satMod val="100000"/>
                <a:lumMod val="100000"/>
              </a:schemeClr>
            </a:gs>
            <a:gs pos="100000">
              <a:schemeClr val="accent2">
                <a:hueOff val="0"/>
                <a:satOff val="0"/>
                <a:lumOff val="0"/>
                <a:alphaOff val="0"/>
                <a:tint val="90000"/>
                <a:shade val="100000"/>
                <a:satMod val="150000"/>
                <a:lumMod val="100000"/>
              </a:schemeClr>
            </a:gs>
          </a:gsLst>
          <a:path path="circle">
            <a:fillToRect l="100000" t="100000" r="100000" b="100000"/>
          </a:path>
        </a:gradFill>
        <a:ln>
          <a:noFill/>
        </a:ln>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accent2">
              <a:hueOff val="0"/>
              <a:satOff val="0"/>
              <a:lumOff val="0"/>
              <a:alphaOff val="0"/>
              <a:shade val="35000"/>
              <a:satMod val="160000"/>
            </a:schemeClr>
          </a:contourClr>
        </a:sp3d>
      </dsp:spPr>
      <dsp:style>
        <a:lnRef idx="0">
          <a:scrgbClr r="0" g="0" b="0"/>
        </a:lnRef>
        <a:fillRef idx="3">
          <a:scrgbClr r="0" g="0" b="0"/>
        </a:fillRef>
        <a:effectRef idx="3">
          <a:scrgbClr r="0" g="0" b="0"/>
        </a:effectRef>
        <a:fontRef idx="minor">
          <a:schemeClr val="lt1"/>
        </a:fontRef>
      </dsp:style>
      <dsp:txBody>
        <a:bodyPr spcFirstLastPara="0" vert="horz" wrap="square" lIns="177800" tIns="177800" rIns="177800" bIns="177800" numCol="1" spcCol="1270" anchor="ctr" anchorCtr="0">
          <a:noAutofit/>
        </a:bodyPr>
        <a:lstStyle/>
        <a:p>
          <a:pPr marL="0" lvl="0" indent="0" algn="ctr" defTabSz="1111250">
            <a:lnSpc>
              <a:spcPct val="90000"/>
            </a:lnSpc>
            <a:spcBef>
              <a:spcPct val="0"/>
            </a:spcBef>
            <a:spcAft>
              <a:spcPct val="35000"/>
            </a:spcAft>
            <a:buNone/>
          </a:pPr>
          <a:r>
            <a:rPr lang="en-US" sz="2500" b="1" kern="1200" dirty="0"/>
            <a:t>Scenario 8</a:t>
          </a:r>
          <a:r>
            <a:rPr lang="en-US" sz="2500" b="0" kern="1200" dirty="0"/>
            <a:t> — simulate consequences before publication</a:t>
          </a:r>
          <a:endParaRPr lang="en-NL" sz="2500" b="0" kern="1200" dirty="0"/>
        </a:p>
      </dsp:txBody>
      <dsp:txXfrm>
        <a:off x="1719027" y="2507889"/>
        <a:ext cx="3020020" cy="1812012"/>
      </dsp:txXfrm>
    </dsp:sp>
    <dsp:sp modelId="{0829F314-22B6-4965-B38C-3171E339DB25}">
      <dsp:nvSpPr>
        <dsp:cNvPr id="0" name=""/>
        <dsp:cNvSpPr/>
      </dsp:nvSpPr>
      <dsp:spPr>
        <a:xfrm>
          <a:off x="5433652" y="2507889"/>
          <a:ext cx="3020020" cy="1812012"/>
        </a:xfrm>
        <a:prstGeom prst="rect">
          <a:avLst/>
        </a:prstGeom>
        <a:gradFill rotWithShape="0">
          <a:gsLst>
            <a:gs pos="0">
              <a:schemeClr val="accent2">
                <a:hueOff val="0"/>
                <a:satOff val="0"/>
                <a:lumOff val="0"/>
                <a:alphaOff val="0"/>
                <a:tint val="100000"/>
                <a:shade val="85000"/>
                <a:satMod val="100000"/>
                <a:lumMod val="100000"/>
              </a:schemeClr>
            </a:gs>
            <a:gs pos="100000">
              <a:schemeClr val="accent2">
                <a:hueOff val="0"/>
                <a:satOff val="0"/>
                <a:lumOff val="0"/>
                <a:alphaOff val="0"/>
                <a:tint val="90000"/>
                <a:shade val="100000"/>
                <a:satMod val="150000"/>
                <a:lumMod val="100000"/>
              </a:schemeClr>
            </a:gs>
          </a:gsLst>
          <a:path path="circle">
            <a:fillToRect l="100000" t="100000" r="100000" b="100000"/>
          </a:path>
        </a:gradFill>
        <a:ln>
          <a:noFill/>
        </a:ln>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accent2">
              <a:hueOff val="0"/>
              <a:satOff val="0"/>
              <a:lumOff val="0"/>
              <a:alphaOff val="0"/>
              <a:shade val="35000"/>
              <a:satMod val="160000"/>
            </a:schemeClr>
          </a:contourClr>
        </a:sp3d>
      </dsp:spPr>
      <dsp:style>
        <a:lnRef idx="0">
          <a:scrgbClr r="0" g="0" b="0"/>
        </a:lnRef>
        <a:fillRef idx="3">
          <a:scrgbClr r="0" g="0" b="0"/>
        </a:fillRef>
        <a:effectRef idx="3">
          <a:scrgbClr r="0" g="0" b="0"/>
        </a:effectRef>
        <a:fontRef idx="minor">
          <a:schemeClr val="lt1"/>
        </a:fontRef>
      </dsp:style>
      <dsp:txBody>
        <a:bodyPr spcFirstLastPara="0" vert="horz" wrap="square" lIns="177800" tIns="177800" rIns="177800" bIns="177800" numCol="1" spcCol="1270" anchor="ctr" anchorCtr="0">
          <a:noAutofit/>
        </a:bodyPr>
        <a:lstStyle/>
        <a:p>
          <a:pPr marL="0" lvl="0" indent="0" algn="ctr" defTabSz="1111250">
            <a:lnSpc>
              <a:spcPct val="90000"/>
            </a:lnSpc>
            <a:spcBef>
              <a:spcPct val="0"/>
            </a:spcBef>
            <a:spcAft>
              <a:spcPct val="35000"/>
            </a:spcAft>
            <a:buNone/>
          </a:pPr>
          <a:endParaRPr lang="en-NL" sz="2500" b="0" kern="1200" dirty="0"/>
        </a:p>
      </dsp:txBody>
      <dsp:txXfrm>
        <a:off x="5433652" y="2507889"/>
        <a:ext cx="3020020" cy="1812012"/>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455582-0D8D-401A-867F-62C87D5CC44D}">
      <dsp:nvSpPr>
        <dsp:cNvPr id="0" name=""/>
        <dsp:cNvSpPr/>
      </dsp:nvSpPr>
      <dsp:spPr>
        <a:xfrm>
          <a:off x="2746" y="0"/>
          <a:ext cx="1647607" cy="1918675"/>
        </a:xfrm>
        <a:prstGeom prst="upArrow">
          <a:avLst/>
        </a:prstGeom>
        <a:solidFill>
          <a:schemeClr val="accent6"/>
        </a:solidFill>
        <a:ln>
          <a:noFill/>
        </a:ln>
        <a:effectLst>
          <a:outerShdw blurRad="50800" dist="12700" dir="5400000" algn="ctr"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sp>
    <dsp:sp modelId="{34048791-BADD-45D0-8A4B-9035A43B5EB6}">
      <dsp:nvSpPr>
        <dsp:cNvPr id="0" name=""/>
        <dsp:cNvSpPr/>
      </dsp:nvSpPr>
      <dsp:spPr>
        <a:xfrm>
          <a:off x="1699782" y="0"/>
          <a:ext cx="2795940" cy="19186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2240" tIns="0" rIns="142240" bIns="142240" numCol="1" spcCol="1270" anchor="ctr" anchorCtr="0">
          <a:noAutofit/>
        </a:bodyPr>
        <a:lstStyle/>
        <a:p>
          <a:pPr marL="0" lvl="0" indent="0" algn="l" defTabSz="889000">
            <a:lnSpc>
              <a:spcPct val="90000"/>
            </a:lnSpc>
            <a:spcBef>
              <a:spcPct val="0"/>
            </a:spcBef>
            <a:spcAft>
              <a:spcPct val="35000"/>
            </a:spcAft>
            <a:buNone/>
          </a:pPr>
          <a:r>
            <a:rPr lang="en-US" sz="2000" b="1" kern="1200" dirty="0">
              <a:solidFill>
                <a:schemeClr val="accent6"/>
              </a:solidFill>
            </a:rPr>
            <a:t>Interpretation and Assessment</a:t>
          </a:r>
          <a:endParaRPr lang="en-NL" sz="2000" b="1" kern="1200" dirty="0">
            <a:solidFill>
              <a:schemeClr val="accent6"/>
            </a:solidFill>
          </a:endParaRPr>
        </a:p>
        <a:p>
          <a:pPr marL="171450" lvl="1" indent="-171450" algn="l" defTabSz="711200">
            <a:lnSpc>
              <a:spcPct val="90000"/>
            </a:lnSpc>
            <a:spcBef>
              <a:spcPct val="0"/>
            </a:spcBef>
            <a:spcAft>
              <a:spcPct val="15000"/>
            </a:spcAft>
            <a:buChar char="•"/>
          </a:pPr>
          <a:r>
            <a:rPr lang="en-US" sz="1600" kern="1200" dirty="0">
              <a:solidFill>
                <a:schemeClr val="accent6"/>
              </a:solidFill>
            </a:rPr>
            <a:t>Difficult and costly</a:t>
          </a:r>
          <a:endParaRPr lang="en-NL" sz="1600" kern="1200" dirty="0">
            <a:solidFill>
              <a:schemeClr val="accent6"/>
            </a:solidFill>
          </a:endParaRPr>
        </a:p>
        <a:p>
          <a:pPr marL="171450" lvl="1" indent="-171450" algn="l" defTabSz="711200">
            <a:lnSpc>
              <a:spcPct val="90000"/>
            </a:lnSpc>
            <a:spcBef>
              <a:spcPct val="0"/>
            </a:spcBef>
            <a:spcAft>
              <a:spcPct val="15000"/>
            </a:spcAft>
            <a:buChar char="•"/>
          </a:pPr>
          <a:r>
            <a:rPr lang="en-US" sz="1600" kern="1200" dirty="0">
              <a:solidFill>
                <a:schemeClr val="accent6"/>
              </a:solidFill>
            </a:rPr>
            <a:t>Error-prone</a:t>
          </a:r>
          <a:endParaRPr lang="en-NL" sz="1600" kern="1200" dirty="0">
            <a:solidFill>
              <a:schemeClr val="accent6"/>
            </a:solidFill>
          </a:endParaRPr>
        </a:p>
        <a:p>
          <a:pPr marL="171450" lvl="1" indent="-171450" algn="l" defTabSz="711200">
            <a:lnSpc>
              <a:spcPct val="90000"/>
            </a:lnSpc>
            <a:spcBef>
              <a:spcPct val="0"/>
            </a:spcBef>
            <a:spcAft>
              <a:spcPct val="15000"/>
            </a:spcAft>
            <a:buChar char="•"/>
          </a:pPr>
          <a:r>
            <a:rPr lang="en-US" sz="1600" kern="1200" dirty="0">
              <a:solidFill>
                <a:schemeClr val="accent6"/>
              </a:solidFill>
            </a:rPr>
            <a:t>Non-deterministic (interpretation-driven)</a:t>
          </a:r>
          <a:endParaRPr lang="en-NL" sz="1600" kern="1200" dirty="0">
            <a:solidFill>
              <a:schemeClr val="accent6"/>
            </a:solidFill>
          </a:endParaRPr>
        </a:p>
      </dsp:txBody>
      <dsp:txXfrm>
        <a:off x="1699782" y="0"/>
        <a:ext cx="2795940" cy="1918675"/>
      </dsp:txXfrm>
    </dsp:sp>
    <dsp:sp modelId="{567C7E33-649A-481E-AA80-A35A95B325FC}">
      <dsp:nvSpPr>
        <dsp:cNvPr id="0" name=""/>
        <dsp:cNvSpPr/>
      </dsp:nvSpPr>
      <dsp:spPr>
        <a:xfrm>
          <a:off x="497028" y="2078565"/>
          <a:ext cx="1647607" cy="1918675"/>
        </a:xfrm>
        <a:prstGeom prst="downArrow">
          <a:avLst/>
        </a:prstGeom>
        <a:gradFill rotWithShape="0">
          <a:gsLst>
            <a:gs pos="0">
              <a:schemeClr val="accent3">
                <a:hueOff val="491081"/>
                <a:satOff val="2989"/>
                <a:lumOff val="-34706"/>
                <a:alphaOff val="0"/>
                <a:tint val="100000"/>
                <a:shade val="85000"/>
                <a:satMod val="100000"/>
                <a:lumMod val="100000"/>
              </a:schemeClr>
            </a:gs>
            <a:gs pos="100000">
              <a:schemeClr val="accent3">
                <a:hueOff val="491081"/>
                <a:satOff val="2989"/>
                <a:lumOff val="-34706"/>
                <a:alphaOff val="0"/>
                <a:tint val="90000"/>
                <a:shade val="100000"/>
                <a:satMod val="150000"/>
                <a:lumMod val="100000"/>
              </a:schemeClr>
            </a:gs>
          </a:gsLst>
          <a:path path="circle">
            <a:fillToRect l="100000" t="100000" r="100000" b="100000"/>
          </a:path>
        </a:gradFill>
        <a:ln>
          <a:noFill/>
        </a:ln>
        <a:effectLst>
          <a:outerShdw blurRad="50800" dist="12700" dir="5400000" algn="ctr"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sp>
    <dsp:sp modelId="{3CC102CC-413F-4569-BC0C-06DC9C23D0E6}">
      <dsp:nvSpPr>
        <dsp:cNvPr id="0" name=""/>
        <dsp:cNvSpPr/>
      </dsp:nvSpPr>
      <dsp:spPr>
        <a:xfrm>
          <a:off x="2194064" y="2078565"/>
          <a:ext cx="2795940" cy="19186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2240" tIns="0" rIns="142240" bIns="142240" numCol="1" spcCol="1270" anchor="ctr" anchorCtr="0">
          <a:noAutofit/>
        </a:bodyPr>
        <a:lstStyle/>
        <a:p>
          <a:pPr marL="0" lvl="0" indent="0" algn="l" defTabSz="889000">
            <a:lnSpc>
              <a:spcPct val="90000"/>
            </a:lnSpc>
            <a:spcBef>
              <a:spcPct val="0"/>
            </a:spcBef>
            <a:spcAft>
              <a:spcPct val="35000"/>
            </a:spcAft>
            <a:buNone/>
          </a:pPr>
          <a:r>
            <a:rPr lang="en-US" sz="2000" b="1" kern="1200" dirty="0">
              <a:solidFill>
                <a:schemeClr val="accent4"/>
              </a:solidFill>
            </a:rPr>
            <a:t>Specification and Implementation</a:t>
          </a:r>
          <a:endParaRPr lang="en-NL" sz="2000" b="1" kern="1200" dirty="0">
            <a:solidFill>
              <a:schemeClr val="accent4"/>
            </a:solidFill>
          </a:endParaRPr>
        </a:p>
        <a:p>
          <a:pPr marL="171450" lvl="1" indent="-171450" algn="l" defTabSz="711200">
            <a:lnSpc>
              <a:spcPct val="90000"/>
            </a:lnSpc>
            <a:spcBef>
              <a:spcPct val="0"/>
            </a:spcBef>
            <a:spcAft>
              <a:spcPct val="15000"/>
            </a:spcAft>
            <a:buFont typeface="Arial" panose="020B0604020202020204" pitchFamily="34" charset="0"/>
            <a:buChar char="•"/>
          </a:pPr>
          <a:r>
            <a:rPr lang="en-US" sz="1600" kern="1200" dirty="0">
              <a:solidFill>
                <a:schemeClr val="accent4"/>
              </a:solidFill>
            </a:rPr>
            <a:t>Systematic</a:t>
          </a:r>
          <a:endParaRPr lang="en-NL" sz="1600" kern="1200" dirty="0">
            <a:solidFill>
              <a:schemeClr val="accent4"/>
            </a:solidFill>
          </a:endParaRPr>
        </a:p>
        <a:p>
          <a:pPr marL="171450" lvl="1" indent="-171450" algn="l" defTabSz="711200">
            <a:lnSpc>
              <a:spcPct val="90000"/>
            </a:lnSpc>
            <a:spcBef>
              <a:spcPct val="0"/>
            </a:spcBef>
            <a:spcAft>
              <a:spcPct val="15000"/>
            </a:spcAft>
            <a:buFont typeface="Arial" panose="020B0604020202020204" pitchFamily="34" charset="0"/>
            <a:buChar char="•"/>
          </a:pPr>
          <a:r>
            <a:rPr lang="en-US" sz="1600" kern="1200" dirty="0">
              <a:solidFill>
                <a:schemeClr val="accent4"/>
              </a:solidFill>
            </a:rPr>
            <a:t>Structured</a:t>
          </a:r>
          <a:endParaRPr lang="en-NL" sz="1600" kern="1200" dirty="0">
            <a:solidFill>
              <a:schemeClr val="accent4"/>
            </a:solidFill>
          </a:endParaRPr>
        </a:p>
        <a:p>
          <a:pPr marL="171450" lvl="1" indent="-171450" algn="l" defTabSz="711200">
            <a:lnSpc>
              <a:spcPct val="90000"/>
            </a:lnSpc>
            <a:spcBef>
              <a:spcPct val="0"/>
            </a:spcBef>
            <a:spcAft>
              <a:spcPct val="15000"/>
            </a:spcAft>
            <a:buFont typeface="Arial" panose="020B0604020202020204" pitchFamily="34" charset="0"/>
            <a:buChar char="•"/>
          </a:pPr>
          <a:r>
            <a:rPr lang="en-US" sz="1600" kern="1200" dirty="0">
              <a:solidFill>
                <a:schemeClr val="accent4"/>
              </a:solidFill>
            </a:rPr>
            <a:t>Deterministic (specification-driven)</a:t>
          </a:r>
          <a:endParaRPr lang="en-NL" sz="1600" kern="1200" dirty="0">
            <a:solidFill>
              <a:schemeClr val="accent4"/>
            </a:solidFill>
          </a:endParaRPr>
        </a:p>
      </dsp:txBody>
      <dsp:txXfrm>
        <a:off x="2194064" y="2078565"/>
        <a:ext cx="2795940" cy="1918675"/>
      </dsp:txXfrm>
    </dsp:sp>
  </dsp:spTree>
</dsp:drawing>
</file>

<file path=ppt/diagrams/layout1.xml><?xml version="1.0" encoding="utf-8"?>
<dgm:layoutDef xmlns:dgm="http://schemas.openxmlformats.org/drawingml/2006/diagram" xmlns:a="http://schemas.openxmlformats.org/drawingml/2006/main" uniqueId="urn:microsoft.com/office/officeart/2005/8/layout/bProcess3">
  <dgm:title val=""/>
  <dgm:desc val=""/>
  <dgm:catLst>
    <dgm:cat type="process" pri="18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Lst>
        <dgm:ruleLst>
          <dgm:rule type="primFontSz" val="5"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8/layout/CaptionedPictures">
  <dgm:title val=""/>
  <dgm:desc val=""/>
  <dgm:catLst>
    <dgm:cat type="picture" pri="5000"/>
    <dgm:cat type="pictureconvert" pri="50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Lst>
      <dgm:cxnLst>
        <dgm:cxn modelId="60" srcId="0" destId="10" srcOrd="0" destOrd="0"/>
        <dgm:cxn modelId="12" srcId="10" destId="11" srcOrd="0" destOrd="0"/>
        <dgm:cxn modelId="70" srcId="0" destId="20" srcOrd="1" destOrd="0"/>
        <dgm:cxn modelId="22" srcId="20" destId="2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 modelId="40">
          <dgm:prSet phldr="1"/>
        </dgm:pt>
        <dgm:pt modelId="4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 modelId="90" srcId="0" destId="40" srcOrd="3" destOrd="0"/>
        <dgm:cxn modelId="42" srcId="40" destId="41" srcOrd="0" destOrd="0"/>
      </dgm:cxnLst>
      <dgm:bg/>
      <dgm:whole/>
    </dgm:dataModel>
  </dgm:clrData>
  <dgm:layoutNode name="Name0">
    <dgm:varLst>
      <dgm:chMax/>
      <dgm:chPref/>
      <dgm:dir/>
    </dgm:varLst>
    <dgm:choose name="Name1">
      <dgm:if name="Name2" func="var" arg="dir" op="equ" val="norm">
        <dgm:alg type="snake">
          <dgm:param type="off" val="ctr"/>
        </dgm:alg>
      </dgm:if>
      <dgm:else name="Name3">
        <dgm:alg type="snake">
          <dgm:param type="grDir" val="tR"/>
          <dgm:param type="off" val="ctr"/>
        </dgm:alg>
      </dgm:else>
    </dgm:choose>
    <dgm:shape xmlns:r="http://schemas.openxmlformats.org/officeDocument/2006/relationships" r:blip="">
      <dgm:adjLst/>
    </dgm:shape>
    <dgm:constrLst>
      <dgm:constr type="primFontSz" for="des" forName="Parent" op="equ"/>
      <dgm:constr type="primFontSz" for="des" forName="Child" refType="primFontSz" refFor="des" refForName="Parent" op="lte"/>
      <dgm:constr type="w" for="ch" forName="composite" refType="w"/>
      <dgm:constr type="h" for="ch" forName="composite" refType="h"/>
      <dgm:constr type="sp" refType="w" refFor="ch" refForName="composite" op="equ" fact="0.1"/>
      <dgm:constr type="w" for="ch" forName="sibTrans" refType="w" refFor="ch" refForName="composite" op="equ" fact="0.1"/>
      <dgm:constr type="h" for="ch" forName="sibTrans" refType="w" refFor="ch" refForName="sibTrans" op="equ"/>
    </dgm:constrLst>
    <dgm:forEach name="nodesForEach" axis="ch" ptType="node">
      <dgm:layoutNode name="composite">
        <dgm:varLst>
          <dgm:chMax val="1"/>
          <dgm:chPref val="1"/>
        </dgm:varLst>
        <dgm:alg type="composite">
          <dgm:param type="ar" val="0.85"/>
        </dgm:alg>
        <dgm:shape xmlns:r="http://schemas.openxmlformats.org/officeDocument/2006/relationships" r:blip="">
          <dgm:adjLst/>
        </dgm:shape>
        <dgm:constrLst>
          <dgm:constr type="l" for="ch" forName="Accent" refType="w" fact="0"/>
          <dgm:constr type="t" for="ch" forName="Accent" refType="h" fact="0"/>
          <dgm:constr type="w" for="ch" forName="Accent" refType="w"/>
          <dgm:constr type="h" for="ch" forName="Accent" refType="h"/>
          <dgm:constr type="l" for="ch" forName="Image" refType="w" fact="0.05"/>
          <dgm:constr type="t" for="ch" forName="Image" refType="h" fact="0.04"/>
          <dgm:constr type="w" for="ch" forName="Image" refType="w" fact="0.9"/>
          <dgm:constr type="h" for="ch" forName="Image" refType="h" fact="0.65"/>
          <dgm:constr type="l" for="ch" forName="ChildComposite" refType="w" fact="0.05"/>
          <dgm:constr type="t" for="ch" forName="ChildComposite" refType="h" fact="0.69"/>
          <dgm:constr type="w" for="ch" forName="ChildComposite" refType="w" fact="0.9"/>
          <dgm:constr type="h" for="ch" forName="ChildComposite" refType="h" fact="0.27"/>
        </dgm:constrLst>
        <dgm:layoutNode name="Accent" styleLbl="trAlignAcc1">
          <dgm:varLst>
            <dgm:chMax val="0"/>
            <dgm:chPref val="0"/>
          </dgm:varLst>
          <dgm:alg type="sp"/>
          <dgm:shape xmlns:r="http://schemas.openxmlformats.org/officeDocument/2006/relationships" type="rect" r:blip="">
            <dgm:adjLst/>
          </dgm:shape>
          <dgm:presOf/>
        </dgm:layoutNode>
        <dgm:layoutNode name="Image" styleLbl="alignImgPlace1">
          <dgm:varLst>
            <dgm:chMax val="0"/>
            <dgm:chPref val="0"/>
          </dgm:varLst>
          <dgm:alg type="sp"/>
          <dgm:shape xmlns:r="http://schemas.openxmlformats.org/officeDocument/2006/relationships" type="rect" r:blip="" blipPhldr="1">
            <dgm:adjLst/>
          </dgm:shape>
          <dgm:presOf/>
        </dgm:layoutNode>
        <dgm:layoutNode name="ChildComposite">
          <dgm:alg type="composite"/>
          <dgm:shape xmlns:r="http://schemas.openxmlformats.org/officeDocument/2006/relationships" r:blip="">
            <dgm:adjLst/>
          </dgm:shape>
          <dgm:choose name="Name4">
            <dgm:if name="Name5" axis="ch" ptType="node" func="cnt" op="gte" val="1">
              <dgm:constrLst>
                <dgm:constr type="l" for="ch" forName="Parent" refType="w" fact="0"/>
                <dgm:constr type="t" for="ch" forName="Parent" refType="h" fact="0"/>
                <dgm:constr type="w" for="ch" forName="Parent" refType="w"/>
                <dgm:constr type="h" for="ch" forName="Parent" refType="h" fact="0.3704"/>
                <dgm:constr type="l" for="ch" forName="Child" refType="w" fact="0"/>
                <dgm:constr type="t" for="ch" forName="Child" refType="h" fact="0.3704"/>
                <dgm:constr type="w" for="ch" forName="Child" refType="w"/>
                <dgm:constr type="h" for="ch" forName="Child" refType="h" fact="0.6296"/>
              </dgm:constrLst>
            </dgm:if>
            <dgm:else name="Name6">
              <dgm:constrLst>
                <dgm:constr type="l" for="ch" forName="Parent" refType="w" fact="0"/>
                <dgm:constr type="t" for="ch" forName="Parent" refType="h" fact="0"/>
                <dgm:constr type="w" for="ch" forName="Parent" refType="w"/>
                <dgm:constr type="h" for="ch" forName="Parent" refType="h"/>
                <dgm:constr type="l" for="ch" forName="Child" refType="w" fact="0"/>
                <dgm:constr type="t" for="ch" forName="Child" refType="h" fact="0"/>
                <dgm:constr type="w" for="ch" forName="Child" refType="w" fact="0"/>
                <dgm:constr type="h" for="ch" forName="Child" refType="h" fact="0"/>
              </dgm:constrLst>
            </dgm:else>
          </dgm:choose>
          <dgm:layoutNode name="Child" styleLbl="node1">
            <dgm:varLst>
              <dgm:chMax val="0"/>
              <dgm:chPref val="0"/>
              <dgm:bulletEnabled val="1"/>
            </dgm:varLst>
            <dgm:choose name="Name7">
              <dgm:if name="Name8" axis="ch" ptType="node" func="cnt" op="gt" val="1">
                <dgm:alg type="tx">
                  <dgm:param type="parTxLTRAlign" val="l"/>
                  <dgm:param type="parTxRTLAlign" val="r"/>
                  <dgm:param type="txAnchorVert" val="mid"/>
                  <dgm:param type="txAnchorVertCh" val="mid"/>
                </dgm:alg>
              </dgm:if>
              <dgm:else name="Name9">
                <dgm:alg type="tx">
                  <dgm:param type="parTxLTRAlign" val="ctr"/>
                  <dgm:param type="parTxRTLAlign" val="ctr"/>
                  <dgm:param type="shpTxLTRAlignCh" val="l"/>
                  <dgm:param type="shpTxRTLAlignCh" val="r"/>
                  <dgm:param type="txAnchorVert" val="mid"/>
                  <dgm:param type="txAnchorVertCh" val="mid"/>
                </dgm:alg>
              </dgm:else>
            </dgm:choose>
            <dgm:choose name="Name10">
              <dgm:if name="Name11" axis="ch" ptType="node" func="cnt" op="gte" val="1">
                <dgm:shape xmlns:r="http://schemas.openxmlformats.org/officeDocument/2006/relationships" type="rect" r:blip="">
                  <dgm:adjLst/>
                </dgm:shape>
              </dgm:if>
              <dgm:else name="Name12">
                <dgm:shape xmlns:r="http://schemas.openxmlformats.org/officeDocument/2006/relationships" type="rect" r:blip="" hideGeom="1">
                  <dgm:adjLst/>
                </dgm:shape>
              </dgm:else>
            </dgm:choose>
            <dgm:choose name="Name13">
              <dgm:if name="Name14" axis="ch" ptType="node" func="cnt" op="gte" val="1">
                <dgm:presOf axis="des" ptType="node"/>
              </dgm:if>
              <dgm:else name="Name15">
                <dgm:presOf/>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arent" styleLbl="revTx">
            <dgm:varLst>
              <dgm:chMax val="1"/>
              <dgm:chPref val="0"/>
              <dgm:bulletEnabled val="1"/>
            </dgm:varLst>
            <dgm:alg type="tx">
              <dgm:param type="shpTxLTRAlignCh" val="ctr"/>
              <dgm:param type="txAnchorVert" val="mid"/>
            </dgm:alg>
            <dgm:shape xmlns:r="http://schemas.openxmlformats.org/officeDocument/2006/relationships" type="rect"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8/layout/CaptionedPictures">
  <dgm:title val=""/>
  <dgm:desc val=""/>
  <dgm:catLst>
    <dgm:cat type="picture" pri="5000"/>
    <dgm:cat type="pictureconvert" pri="50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Lst>
      <dgm:cxnLst>
        <dgm:cxn modelId="60" srcId="0" destId="10" srcOrd="0" destOrd="0"/>
        <dgm:cxn modelId="12" srcId="10" destId="11" srcOrd="0" destOrd="0"/>
        <dgm:cxn modelId="70" srcId="0" destId="20" srcOrd="1" destOrd="0"/>
        <dgm:cxn modelId="22" srcId="20" destId="2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 modelId="40">
          <dgm:prSet phldr="1"/>
        </dgm:pt>
        <dgm:pt modelId="4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 modelId="90" srcId="0" destId="40" srcOrd="3" destOrd="0"/>
        <dgm:cxn modelId="42" srcId="40" destId="41" srcOrd="0" destOrd="0"/>
      </dgm:cxnLst>
      <dgm:bg/>
      <dgm:whole/>
    </dgm:dataModel>
  </dgm:clrData>
  <dgm:layoutNode name="Name0">
    <dgm:varLst>
      <dgm:chMax/>
      <dgm:chPref/>
      <dgm:dir/>
    </dgm:varLst>
    <dgm:choose name="Name1">
      <dgm:if name="Name2" func="var" arg="dir" op="equ" val="norm">
        <dgm:alg type="snake">
          <dgm:param type="off" val="ctr"/>
        </dgm:alg>
      </dgm:if>
      <dgm:else name="Name3">
        <dgm:alg type="snake">
          <dgm:param type="grDir" val="tR"/>
          <dgm:param type="off" val="ctr"/>
        </dgm:alg>
      </dgm:else>
    </dgm:choose>
    <dgm:shape xmlns:r="http://schemas.openxmlformats.org/officeDocument/2006/relationships" r:blip="">
      <dgm:adjLst/>
    </dgm:shape>
    <dgm:constrLst>
      <dgm:constr type="primFontSz" for="des" forName="Parent" op="equ"/>
      <dgm:constr type="primFontSz" for="des" forName="Child" refType="primFontSz" refFor="des" refForName="Parent" op="lte"/>
      <dgm:constr type="w" for="ch" forName="composite" refType="w"/>
      <dgm:constr type="h" for="ch" forName="composite" refType="h"/>
      <dgm:constr type="sp" refType="w" refFor="ch" refForName="composite" op="equ" fact="0.1"/>
      <dgm:constr type="w" for="ch" forName="sibTrans" refType="w" refFor="ch" refForName="composite" op="equ" fact="0.1"/>
      <dgm:constr type="h" for="ch" forName="sibTrans" refType="w" refFor="ch" refForName="sibTrans" op="equ"/>
    </dgm:constrLst>
    <dgm:forEach name="nodesForEach" axis="ch" ptType="node">
      <dgm:layoutNode name="composite">
        <dgm:varLst>
          <dgm:chMax val="1"/>
          <dgm:chPref val="1"/>
        </dgm:varLst>
        <dgm:alg type="composite">
          <dgm:param type="ar" val="0.85"/>
        </dgm:alg>
        <dgm:shape xmlns:r="http://schemas.openxmlformats.org/officeDocument/2006/relationships" r:blip="">
          <dgm:adjLst/>
        </dgm:shape>
        <dgm:constrLst>
          <dgm:constr type="l" for="ch" forName="Accent" refType="w" fact="0"/>
          <dgm:constr type="t" for="ch" forName="Accent" refType="h" fact="0"/>
          <dgm:constr type="w" for="ch" forName="Accent" refType="w"/>
          <dgm:constr type="h" for="ch" forName="Accent" refType="h"/>
          <dgm:constr type="l" for="ch" forName="Image" refType="w" fact="0.05"/>
          <dgm:constr type="t" for="ch" forName="Image" refType="h" fact="0.04"/>
          <dgm:constr type="w" for="ch" forName="Image" refType="w" fact="0.9"/>
          <dgm:constr type="h" for="ch" forName="Image" refType="h" fact="0.65"/>
          <dgm:constr type="l" for="ch" forName="ChildComposite" refType="w" fact="0.05"/>
          <dgm:constr type="t" for="ch" forName="ChildComposite" refType="h" fact="0.69"/>
          <dgm:constr type="w" for="ch" forName="ChildComposite" refType="w" fact="0.9"/>
          <dgm:constr type="h" for="ch" forName="ChildComposite" refType="h" fact="0.27"/>
        </dgm:constrLst>
        <dgm:layoutNode name="Accent" styleLbl="trAlignAcc1">
          <dgm:varLst>
            <dgm:chMax val="0"/>
            <dgm:chPref val="0"/>
          </dgm:varLst>
          <dgm:alg type="sp"/>
          <dgm:shape xmlns:r="http://schemas.openxmlformats.org/officeDocument/2006/relationships" type="rect" r:blip="">
            <dgm:adjLst/>
          </dgm:shape>
          <dgm:presOf/>
        </dgm:layoutNode>
        <dgm:layoutNode name="Image" styleLbl="alignImgPlace1">
          <dgm:varLst>
            <dgm:chMax val="0"/>
            <dgm:chPref val="0"/>
          </dgm:varLst>
          <dgm:alg type="sp"/>
          <dgm:shape xmlns:r="http://schemas.openxmlformats.org/officeDocument/2006/relationships" type="rect" r:blip="" blipPhldr="1">
            <dgm:adjLst/>
          </dgm:shape>
          <dgm:presOf/>
        </dgm:layoutNode>
        <dgm:layoutNode name="ChildComposite">
          <dgm:alg type="composite"/>
          <dgm:shape xmlns:r="http://schemas.openxmlformats.org/officeDocument/2006/relationships" r:blip="">
            <dgm:adjLst/>
          </dgm:shape>
          <dgm:choose name="Name4">
            <dgm:if name="Name5" axis="ch" ptType="node" func="cnt" op="gte" val="1">
              <dgm:constrLst>
                <dgm:constr type="l" for="ch" forName="Parent" refType="w" fact="0"/>
                <dgm:constr type="t" for="ch" forName="Parent" refType="h" fact="0"/>
                <dgm:constr type="w" for="ch" forName="Parent" refType="w"/>
                <dgm:constr type="h" for="ch" forName="Parent" refType="h" fact="0.3704"/>
                <dgm:constr type="l" for="ch" forName="Child" refType="w" fact="0"/>
                <dgm:constr type="t" for="ch" forName="Child" refType="h" fact="0.3704"/>
                <dgm:constr type="w" for="ch" forName="Child" refType="w"/>
                <dgm:constr type="h" for="ch" forName="Child" refType="h" fact="0.6296"/>
              </dgm:constrLst>
            </dgm:if>
            <dgm:else name="Name6">
              <dgm:constrLst>
                <dgm:constr type="l" for="ch" forName="Parent" refType="w" fact="0"/>
                <dgm:constr type="t" for="ch" forName="Parent" refType="h" fact="0"/>
                <dgm:constr type="w" for="ch" forName="Parent" refType="w"/>
                <dgm:constr type="h" for="ch" forName="Parent" refType="h"/>
                <dgm:constr type="l" for="ch" forName="Child" refType="w" fact="0"/>
                <dgm:constr type="t" for="ch" forName="Child" refType="h" fact="0"/>
                <dgm:constr type="w" for="ch" forName="Child" refType="w" fact="0"/>
                <dgm:constr type="h" for="ch" forName="Child" refType="h" fact="0"/>
              </dgm:constrLst>
            </dgm:else>
          </dgm:choose>
          <dgm:layoutNode name="Child" styleLbl="node1">
            <dgm:varLst>
              <dgm:chMax val="0"/>
              <dgm:chPref val="0"/>
              <dgm:bulletEnabled val="1"/>
            </dgm:varLst>
            <dgm:choose name="Name7">
              <dgm:if name="Name8" axis="ch" ptType="node" func="cnt" op="gt" val="1">
                <dgm:alg type="tx">
                  <dgm:param type="parTxLTRAlign" val="l"/>
                  <dgm:param type="parTxRTLAlign" val="r"/>
                  <dgm:param type="txAnchorVert" val="mid"/>
                  <dgm:param type="txAnchorVertCh" val="mid"/>
                </dgm:alg>
              </dgm:if>
              <dgm:else name="Name9">
                <dgm:alg type="tx">
                  <dgm:param type="parTxLTRAlign" val="ctr"/>
                  <dgm:param type="parTxRTLAlign" val="ctr"/>
                  <dgm:param type="shpTxLTRAlignCh" val="l"/>
                  <dgm:param type="shpTxRTLAlignCh" val="r"/>
                  <dgm:param type="txAnchorVert" val="mid"/>
                  <dgm:param type="txAnchorVertCh" val="mid"/>
                </dgm:alg>
              </dgm:else>
            </dgm:choose>
            <dgm:choose name="Name10">
              <dgm:if name="Name11" axis="ch" ptType="node" func="cnt" op="gte" val="1">
                <dgm:shape xmlns:r="http://schemas.openxmlformats.org/officeDocument/2006/relationships" type="rect" r:blip="">
                  <dgm:adjLst/>
                </dgm:shape>
              </dgm:if>
              <dgm:else name="Name12">
                <dgm:shape xmlns:r="http://schemas.openxmlformats.org/officeDocument/2006/relationships" type="rect" r:blip="" hideGeom="1">
                  <dgm:adjLst/>
                </dgm:shape>
              </dgm:else>
            </dgm:choose>
            <dgm:choose name="Name13">
              <dgm:if name="Name14" axis="ch" ptType="node" func="cnt" op="gte" val="1">
                <dgm:presOf axis="des" ptType="node"/>
              </dgm:if>
              <dgm:else name="Name15">
                <dgm:presOf/>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arent" styleLbl="revTx">
            <dgm:varLst>
              <dgm:chMax val="1"/>
              <dgm:chPref val="0"/>
              <dgm:bulletEnabled val="1"/>
            </dgm:varLst>
            <dgm:alg type="tx">
              <dgm:param type="shpTxLTRAlignCh" val="ctr"/>
              <dgm:param type="txAnchorVert" val="mid"/>
            </dgm:alg>
            <dgm:shape xmlns:r="http://schemas.openxmlformats.org/officeDocument/2006/relationships" type="rect"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bProcess3">
  <dgm:title val=""/>
  <dgm:desc val=""/>
  <dgm:catLst>
    <dgm:cat type="process" pri="18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Lst>
        <dgm:ruleLst>
          <dgm:rule type="primFontSz" val="5"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bProcess3">
  <dgm:title val=""/>
  <dgm:desc val=""/>
  <dgm:catLst>
    <dgm:cat type="process" pri="18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Lst>
        <dgm:ruleLst>
          <dgm:rule type="primFontSz" val="5"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bProcess3">
  <dgm:title val=""/>
  <dgm:desc val=""/>
  <dgm:catLst>
    <dgm:cat type="process" pri="18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Lst>
        <dgm:ruleLst>
          <dgm:rule type="primFontSz" val="5"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arrow4">
  <dgm:title val=""/>
  <dgm:desc val=""/>
  <dgm:catLst>
    <dgm:cat type="relationship" pri="8000"/>
    <dgm:cat type="process" pri="30000"/>
  </dgm:catLst>
  <dgm:samp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Lst>
      <dgm:cxnLst>
        <dgm:cxn modelId="3" srcId="0" destId="1" srcOrd="0" destOrd="0"/>
        <dgm:cxn modelId="4" srcId="0" destId="2" srcOrd="1" destOrd="0"/>
      </dgm:cxnLst>
      <dgm:bg/>
      <dgm:whole/>
    </dgm:dataModel>
  </dgm:clrData>
  <dgm:layoutNode name="compositeShape">
    <dgm:varLst>
      <dgm:chMax val="2"/>
      <dgm:dir/>
      <dgm:resizeHandles val="exact"/>
    </dgm:varLst>
    <dgm:alg type="composite"/>
    <dgm:shape xmlns:r="http://schemas.openxmlformats.org/officeDocument/2006/relationships" r:blip="">
      <dgm:adjLst/>
    </dgm:shape>
    <dgm:presOf/>
    <dgm:choose name="Name0">
      <dgm:if name="Name1" func="var" arg="dir" op="equ" val="norm">
        <dgm:choose name="Name2">
          <dgm:if name="Name3" axis="ch" ptType="node" func="cnt" op="lte" val="1">
            <dgm:constrLst>
              <dgm:constr type="primFontSz" for="des" ptType="node" op="equ" val="65"/>
              <dgm:constr type="w" for="ch" forName="upArrow" refType="w" fact="0.33"/>
              <dgm:constr type="h" for="ch" forName="upArrow" refType="h"/>
              <dgm:constr type="b" for="ch" forName="upArrow" refType="h" fact="0.48"/>
              <dgm:constr type="l" for="ch" forName="upArrow"/>
              <dgm:constr type="h" for="ch" forName="upArrow" refType="w" refFor="ch" refForName="upArrow" op="gte" fact="0.75"/>
              <dgm:constr type="w" for="ch" forName="upArrowText" refType="w" fact="0.56"/>
              <dgm:constr type="h" for="ch" forName="upArrowText" refType="h"/>
              <dgm:constr type="b" for="ch" forName="upArrowText" refType="h" fact="0.48"/>
              <dgm:constr type="l" for="ch" forName="upArrowText" refType="w" refFor="ch" refForName="upArrow" fact="1.03"/>
            </dgm:constrLst>
          </dgm:if>
          <dgm:else name="Name4">
            <dgm:constrLst>
              <dgm:constr type="primFontSz" for="des" ptType="node" op="equ" val="65"/>
              <dgm:constr type="w" for="ch" forName="upArrow" refType="w" fact="0.33"/>
              <dgm:constr type="h" for="ch" forName="upArrow" refType="h" fact="0.48"/>
              <dgm:constr type="b" for="ch" forName="upArrow" refType="h" fact="0.48"/>
              <dgm:constr type="l" for="ch" forName="upArrow"/>
              <dgm:constr type="h" for="ch" forName="upArrow" refType="w" refFor="ch" refForName="upArrow" op="gte" fact="0.75"/>
              <dgm:constr type="w" for="ch" forName="upArrowText" refType="w" fact="0.56"/>
              <dgm:constr type="h" for="ch" forName="upArrowText" refType="h" fact="0.48"/>
              <dgm:constr type="b" for="ch" forName="upArrowText" refType="h" fact="0.48"/>
              <dgm:constr type="l" for="ch" forName="upArrowText" refType="w" refFor="ch" refForName="upArrow" fact="1.03"/>
              <dgm:constr type="w" for="ch" forName="downArrow" refType="w" fact="0.33"/>
              <dgm:constr type="h" for="ch" forName="downArrow" refType="h" fact="0.48"/>
              <dgm:constr type="t" for="ch" forName="downArrow" refType="h" fact="0.52"/>
              <dgm:constr type="l" for="ch" forName="downArrow" refType="w" refFor="ch" refForName="downArrow" fact="0.3"/>
              <dgm:constr type="h" for="ch" forName="downArrow" refType="w" refFor="ch" refForName="downArrow" op="gte" fact="0.75"/>
              <dgm:constr type="w" for="ch" forName="downArrowText" refType="w" fact="0.56"/>
              <dgm:constr type="h" for="ch" forName="downArrowText" refType="h" fact="0.48"/>
              <dgm:constr type="t" for="ch" forName="downArrowText" refType="h" fact="0.52"/>
              <dgm:constr type="l" for="ch" forName="downArrowText" refType="w" refFor="ch" refForName="downArrow" fact="1.33"/>
            </dgm:constrLst>
          </dgm:else>
        </dgm:choose>
      </dgm:if>
      <dgm:else name="Name5">
        <dgm:choose name="Name6">
          <dgm:if name="Name7" axis="ch" ptType="node" func="cnt" op="lte" val="1">
            <dgm:constrLst>
              <dgm:constr type="primFontSz" for="des" ptType="node" op="equ" val="65"/>
              <dgm:constr type="w" for="ch" forName="upArrow" refType="w" fact="0.33"/>
              <dgm:constr type="h" for="ch" forName="upArrow" refType="h"/>
              <dgm:constr type="t" for="ch" forName="upArrow"/>
              <dgm:constr type="l" for="ch" forName="upArrow" refType="w" fact="0.67"/>
              <dgm:constr type="h" for="ch" forName="upArrow" refType="w" refFor="ch" refForName="upArrow" op="gte" fact="0.75"/>
              <dgm:constr type="w" for="ch" forName="upArrowText" refType="w" fact="0.56"/>
              <dgm:constr type="h" for="ch" forName="upArrowText" refType="h"/>
              <dgm:constr type="t" for="ch" forName="upArrowText"/>
              <dgm:constr type="l" for="ch" forName="upArrowText" refType="w" fact="0.1"/>
            </dgm:constrLst>
          </dgm:if>
          <dgm:else name="Name8">
            <dgm:constrLst>
              <dgm:constr type="primFontSz" for="des" ptType="node" op="equ" val="65"/>
              <dgm:constr type="w" for="ch" forName="upArrow" refType="w" fact="0.33"/>
              <dgm:constr type="h" for="ch" forName="upArrow" refType="h" fact="0.48"/>
              <dgm:constr type="t" for="ch" forName="upArrow"/>
              <dgm:constr type="l" for="ch" forName="upArrow" refType="w" fact="0.67"/>
              <dgm:constr type="h" for="ch" forName="upArrow" refType="w" refFor="ch" refForName="upArrow" op="gte" fact="0.75"/>
              <dgm:constr type="w" for="ch" forName="upArrowText" refType="w" fact="0.56"/>
              <dgm:constr type="h" for="ch" forName="upArrowText" refType="h" fact="0.48"/>
              <dgm:constr type="t" for="ch" forName="upArrowText"/>
              <dgm:constr type="l" for="ch" forName="upArrowText" refType="w" fact="0.1"/>
              <dgm:constr type="w" for="ch" forName="downArrow" refType="w" fact="0.33"/>
              <dgm:constr type="h" for="ch" forName="downArrow" refType="h" fact="0.48"/>
              <dgm:constr type="t" for="ch" forName="downArrow" refType="h" fact="0.52"/>
              <dgm:constr type="l" for="ch" forName="downArrow" refType="w" fact="0.57"/>
              <dgm:constr type="h" for="ch" forName="downArrow" refType="w" refFor="ch" refForName="downArrow" op="gte" fact="0.75"/>
              <dgm:constr type="w" for="ch" forName="downArrowText" refType="w" fact="0.56"/>
              <dgm:constr type="h" for="ch" forName="downArrowText" refType="h" fact="0.48"/>
              <dgm:constr type="t" for="ch" forName="downArrowText" refType="h" fact="0.52"/>
              <dgm:constr type="l" for="ch" forName="downArrowText"/>
            </dgm:constrLst>
          </dgm:else>
        </dgm:choose>
      </dgm:else>
    </dgm:choose>
    <dgm:ruleLst/>
    <dgm:forEach name="Name9" axis="ch" ptType="node" cnt="1">
      <dgm:layoutNode name="upArrow" styleLbl="node1">
        <dgm:alg type="sp"/>
        <dgm:shape xmlns:r="http://schemas.openxmlformats.org/officeDocument/2006/relationships" type="upArrow" r:blip="">
          <dgm:adjLst/>
        </dgm:shape>
        <dgm:presOf/>
        <dgm:constrLst/>
        <dgm:ruleLst/>
      </dgm:layoutNode>
      <dgm:layoutNode name="upArrowText" styleLbl="revTx">
        <dgm:varLst>
          <dgm:chMax val="0"/>
          <dgm:bulletEnabled val="1"/>
        </dgm:varLst>
        <dgm:choose name="Name10">
          <dgm:if name="Name11" axis="root des" ptType="all node" func="maxDepth" op="gt" val="1">
            <dgm:alg type="tx">
              <dgm:param type="parTxLTRAlign" val="l"/>
              <dgm:param type="parTxRTLAlign" val="r"/>
              <dgm:param type="txAnchorVertCh" val="mid"/>
            </dgm:alg>
          </dgm:if>
          <dgm:else name="Name12">
            <dgm:choose name="Name13">
              <dgm:if name="Name14" func="var" arg="dir" op="equ" val="norm">
                <dgm:alg type="tx">
                  <dgm:param type="parTxLTRAlign" val="l"/>
                  <dgm:param type="parTxRTLAlign" val="l"/>
                  <dgm:param type="txAnchorVertCh" val="mid"/>
                </dgm:alg>
              </dgm:if>
              <dgm:else name="Name15">
                <dgm:alg type="tx">
                  <dgm:param type="parTxLTRAlign" val="r"/>
                  <dgm:param type="parTxRTLAlign" val="r"/>
                  <dgm:param type="txAnchorVertCh" val="mid"/>
                </dgm:alg>
              </dgm:else>
            </dgm:choose>
          </dgm:else>
        </dgm:choose>
        <dgm:shape xmlns:r="http://schemas.openxmlformats.org/officeDocument/2006/relationships" type="rect" r:blip="">
          <dgm:adjLst/>
        </dgm:shape>
        <dgm:presOf axis="desOrSelf" ptType="node"/>
        <dgm:constrLst>
          <dgm:constr type="tMarg"/>
        </dgm:constrLst>
        <dgm:ruleLst>
          <dgm:rule type="primFontSz" val="5" fact="NaN" max="NaN"/>
        </dgm:ruleLst>
      </dgm:layoutNode>
    </dgm:forEach>
    <dgm:forEach name="Name16" axis="ch" ptType="node" st="2" cnt="1">
      <dgm:layoutNode name="downArrow" styleLbl="node1">
        <dgm:alg type="sp"/>
        <dgm:shape xmlns:r="http://schemas.openxmlformats.org/officeDocument/2006/relationships" type="downArrow" r:blip="">
          <dgm:adjLst/>
        </dgm:shape>
        <dgm:presOf/>
        <dgm:constrLst/>
        <dgm:ruleLst/>
      </dgm:layoutNode>
      <dgm:layoutNode name="downArrowText" styleLbl="revTx">
        <dgm:varLst>
          <dgm:chMax val="0"/>
          <dgm:bulletEnabled val="1"/>
        </dgm:varLst>
        <dgm:choose name="Name17">
          <dgm:if name="Name18" axis="root des" ptType="all node" func="maxDepth" op="gt" val="1">
            <dgm:alg type="tx">
              <dgm:param type="parTxLTRAlign" val="l"/>
              <dgm:param type="parTxRTLAlign" val="r"/>
              <dgm:param type="txAnchorVertCh" val="mid"/>
            </dgm:alg>
          </dgm:if>
          <dgm:else name="Name19">
            <dgm:choose name="Name20">
              <dgm:if name="Name21" func="var" arg="dir" op="equ" val="norm">
                <dgm:alg type="tx">
                  <dgm:param type="parTxLTRAlign" val="l"/>
                  <dgm:param type="parTxRTLAlign" val="l"/>
                  <dgm:param type="txAnchorVertCh" val="mid"/>
                </dgm:alg>
              </dgm:if>
              <dgm:else name="Name22">
                <dgm:alg type="tx">
                  <dgm:param type="parTxLTRAlign" val="r"/>
                  <dgm:param type="parTxRTLAlign" val="r"/>
                  <dgm:param type="txAnchorVertCh" val="mid"/>
                </dgm:alg>
              </dgm:else>
            </dgm:choose>
          </dgm:else>
        </dgm:choose>
        <dgm:shape xmlns:r="http://schemas.openxmlformats.org/officeDocument/2006/relationships" type="rect" r:blip="">
          <dgm:adjLst/>
        </dgm:shape>
        <dgm:presOf axis="desOrSelf" ptType="node"/>
        <dgm:constrLst>
          <dgm:constr type="tMarg"/>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452ADB1-275D-430A-89EE-5C7E6CFF6FF2}" type="datetimeFigureOut">
              <a:rPr lang="en-US" smtClean="0"/>
              <a:t>4/24/2026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B725628-3A68-42F4-BA86-981817953149}" type="slidenum">
              <a:rPr lang="en-US" smtClean="0"/>
              <a:t>‹#›</a:t>
            </a:fld>
            <a:endParaRPr lang="en-US" dirty="0"/>
          </a:p>
        </p:txBody>
      </p:sp>
    </p:spTree>
    <p:extLst>
      <p:ext uri="{BB962C8B-B14F-4D97-AF65-F5344CB8AC3E}">
        <p14:creationId xmlns:p14="http://schemas.microsoft.com/office/powerpoint/2010/main" val="6492586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In this presentation, I will walk you through applied use cases from the Health-RI Semantic Interoperability Initiative.</a:t>
            </a:r>
          </a:p>
          <a:p>
            <a:endParaRPr lang="en-US" dirty="0"/>
          </a:p>
          <a:p>
            <a:r>
              <a:rPr lang="en-US" dirty="0"/>
              <a:t>The focus is on how semantic technologies can support practical decisions in health data reuse. Rather than discussing interoperability in the abstract, we will follow concrete user stories and show how meaning can be made explicit, compared, validated, and reused across datasets.</a:t>
            </a:r>
            <a:endParaRPr lang="en-NL" dirty="0"/>
          </a:p>
        </p:txBody>
      </p:sp>
      <p:sp>
        <p:nvSpPr>
          <p:cNvPr id="4" name="Slide Number Placeholder 3"/>
          <p:cNvSpPr>
            <a:spLocks noGrp="1"/>
          </p:cNvSpPr>
          <p:nvPr>
            <p:ph type="sldNum" sz="quarter" idx="5"/>
          </p:nvPr>
        </p:nvSpPr>
        <p:spPr/>
        <p:txBody>
          <a:bodyPr/>
          <a:lstStyle/>
          <a:p>
            <a:fld id="{4B725628-3A68-42F4-BA86-981817953149}" type="slidenum">
              <a:rPr lang="en-US" smtClean="0"/>
              <a:t>1</a:t>
            </a:fld>
            <a:endParaRPr lang="en-US" dirty="0"/>
          </a:p>
        </p:txBody>
      </p:sp>
    </p:spTree>
    <p:extLst>
      <p:ext uri="{BB962C8B-B14F-4D97-AF65-F5344CB8AC3E}">
        <p14:creationId xmlns:p14="http://schemas.microsoft.com/office/powerpoint/2010/main" val="41235326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make the examples easier to follow, we introduce two primary user roles.</a:t>
            </a:r>
          </a:p>
          <a:p>
            <a:endParaRPr lang="en-US" dirty="0"/>
          </a:p>
          <a:p>
            <a:r>
              <a:rPr lang="en-US" dirty="0"/>
              <a:t>The first is Dr. Amir Hassan, a researcher who wants to reuse health data responsibly for analysis.</a:t>
            </a:r>
          </a:p>
          <a:p>
            <a:endParaRPr lang="en-US" dirty="0"/>
          </a:p>
          <a:p>
            <a:r>
              <a:rPr lang="en-US" dirty="0"/>
              <a:t>The second is Inge de Boer, a data steward who is responsible for making sure that data elements are described, mapped, and published in a consistent and reliable way.</a:t>
            </a:r>
          </a:p>
          <a:p>
            <a:endParaRPr lang="en-US" dirty="0"/>
          </a:p>
          <a:p>
            <a:r>
              <a:rPr lang="en-US" dirty="0"/>
              <a:t>Together, these two roles represent both sides of semantic interoperability: the person who needs to find and interpret data, and the person who helps make that data understandable and reusable.</a:t>
            </a:r>
            <a:endParaRPr lang="en-NL" dirty="0"/>
          </a:p>
        </p:txBody>
      </p:sp>
      <p:sp>
        <p:nvSpPr>
          <p:cNvPr id="4" name="Slide Number Placeholder 3"/>
          <p:cNvSpPr>
            <a:spLocks noGrp="1"/>
          </p:cNvSpPr>
          <p:nvPr>
            <p:ph type="sldNum" sz="quarter" idx="5"/>
          </p:nvPr>
        </p:nvSpPr>
        <p:spPr/>
        <p:txBody>
          <a:bodyPr/>
          <a:lstStyle/>
          <a:p>
            <a:fld id="{4B725628-3A68-42F4-BA86-981817953149}" type="slidenum">
              <a:rPr lang="en-US" smtClean="0"/>
              <a:t>2</a:t>
            </a:fld>
            <a:endParaRPr lang="en-US" dirty="0"/>
          </a:p>
        </p:txBody>
      </p:sp>
    </p:spTree>
    <p:extLst>
      <p:ext uri="{BB962C8B-B14F-4D97-AF65-F5344CB8AC3E}">
        <p14:creationId xmlns:p14="http://schemas.microsoft.com/office/powerpoint/2010/main" val="3423071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begin with Amir’s perspective.</a:t>
            </a:r>
          </a:p>
          <a:p>
            <a:endParaRPr lang="en-US" dirty="0"/>
          </a:p>
          <a:p>
            <a:r>
              <a:rPr lang="en-US" dirty="0"/>
              <a:t>Amir is studying whether treatment outcomes differ across patient groups. To do that, he needs to stratify his cohort using the correct sex- or gender-related variable.</a:t>
            </a:r>
          </a:p>
          <a:p>
            <a:endParaRPr lang="en-US" dirty="0"/>
          </a:p>
          <a:p>
            <a:r>
              <a:rPr lang="en-US" dirty="0"/>
              <a:t>At first, this may sound straightforward. Many datasets contain variables that appear to describe sex or gender.</a:t>
            </a:r>
          </a:p>
          <a:p>
            <a:endParaRPr lang="en-US" dirty="0"/>
          </a:p>
          <a:p>
            <a:r>
              <a:rPr lang="en-US" dirty="0"/>
              <a:t>But before Amir can request and combine data, he needs to know which datasets contain the concept he actually needs, and whether similar variables are defined in the same way across institutions.</a:t>
            </a:r>
          </a:p>
          <a:p>
            <a:endParaRPr lang="en-US" dirty="0"/>
          </a:p>
          <a:p>
            <a:r>
              <a:rPr lang="en-US" dirty="0"/>
              <a:t>This is the central challenge: the labels may look familiar, but the underlying meanings may not be the same.</a:t>
            </a:r>
            <a:endParaRPr lang="en-NL" dirty="0"/>
          </a:p>
        </p:txBody>
      </p:sp>
      <p:sp>
        <p:nvSpPr>
          <p:cNvPr id="4" name="Slide Number Placeholder 3"/>
          <p:cNvSpPr>
            <a:spLocks noGrp="1"/>
          </p:cNvSpPr>
          <p:nvPr>
            <p:ph type="sldNum" sz="quarter" idx="5"/>
          </p:nvPr>
        </p:nvSpPr>
        <p:spPr/>
        <p:txBody>
          <a:bodyPr/>
          <a:lstStyle/>
          <a:p>
            <a:fld id="{4B725628-3A68-42F4-BA86-981817953149}" type="slidenum">
              <a:rPr lang="en-US" smtClean="0"/>
              <a:t>3</a:t>
            </a:fld>
            <a:endParaRPr lang="en-US" dirty="0"/>
          </a:p>
        </p:txBody>
      </p:sp>
    </p:spTree>
    <p:extLst>
      <p:ext uri="{BB962C8B-B14F-4D97-AF65-F5344CB8AC3E}">
        <p14:creationId xmlns:p14="http://schemas.microsoft.com/office/powerpoint/2010/main" val="20682298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623614-9283-CB39-4D29-6D385C9A31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E9A2B9-7498-0C6F-2E26-F37FF3A980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E12BAA-164D-8F97-B03F-273DC479F445}"/>
              </a:ext>
            </a:extLst>
          </p:cNvPr>
          <p:cNvSpPr>
            <a:spLocks noGrp="1"/>
          </p:cNvSpPr>
          <p:nvPr>
            <p:ph type="body" idx="1"/>
          </p:nvPr>
        </p:nvSpPr>
        <p:spPr/>
        <p:txBody>
          <a:bodyPr/>
          <a:lstStyle/>
          <a:p>
            <a:r>
              <a:rPr lang="en-US" dirty="0"/>
              <a:t>This is Amir’s end-to-end workflow.</a:t>
            </a:r>
          </a:p>
          <a:p>
            <a:endParaRPr lang="en-US" dirty="0"/>
          </a:p>
          <a:p>
            <a:r>
              <a:rPr lang="en-US" dirty="0"/>
              <a:t>The workflow follows the steps Amir needs to take before he can make a defensible decision about data reuse. His goal is to move from label-based guessing to evidence-based interpretation.</a:t>
            </a:r>
            <a:endParaRPr lang="en-NL" dirty="0"/>
          </a:p>
        </p:txBody>
      </p:sp>
      <p:sp>
        <p:nvSpPr>
          <p:cNvPr id="4" name="Slide Number Placeholder 3">
            <a:extLst>
              <a:ext uri="{FF2B5EF4-FFF2-40B4-BE49-F238E27FC236}">
                <a16:creationId xmlns:a16="http://schemas.microsoft.com/office/drawing/2014/main" id="{E6C9C0B4-B39C-575D-0A7B-72DBB0B6254F}"/>
              </a:ext>
            </a:extLst>
          </p:cNvPr>
          <p:cNvSpPr>
            <a:spLocks noGrp="1"/>
          </p:cNvSpPr>
          <p:nvPr>
            <p:ph type="sldNum" sz="quarter" idx="5"/>
          </p:nvPr>
        </p:nvSpPr>
        <p:spPr/>
        <p:txBody>
          <a:bodyPr/>
          <a:lstStyle/>
          <a:p>
            <a:fld id="{4B725628-3A68-42F4-BA86-981817953149}" type="slidenum">
              <a:rPr lang="en-US" smtClean="0"/>
              <a:t>4</a:t>
            </a:fld>
            <a:endParaRPr lang="en-US" dirty="0"/>
          </a:p>
        </p:txBody>
      </p:sp>
    </p:spTree>
    <p:extLst>
      <p:ext uri="{BB962C8B-B14F-4D97-AF65-F5344CB8AC3E}">
        <p14:creationId xmlns:p14="http://schemas.microsoft.com/office/powerpoint/2010/main" val="31385448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A4CD39-9F9E-B63A-B061-4BCE3C643A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0CAAB0-78B5-A8C3-C0BD-3617325443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8E26E9-385B-E2F9-6C13-F25E99D909B1}"/>
              </a:ext>
            </a:extLst>
          </p:cNvPr>
          <p:cNvSpPr>
            <a:spLocks noGrp="1"/>
          </p:cNvSpPr>
          <p:nvPr>
            <p:ph type="body" idx="1"/>
          </p:nvPr>
        </p:nvSpPr>
        <p:spPr/>
        <p:txBody>
          <a:bodyPr/>
          <a:lstStyle/>
          <a:p>
            <a:r>
              <a:rPr lang="en-US" dirty="0"/>
              <a:t>We now move into the first applied scenario: clarifying meanings before reuse.</a:t>
            </a:r>
          </a:p>
          <a:p>
            <a:endParaRPr lang="en-US" dirty="0"/>
          </a:p>
          <a:p>
            <a:r>
              <a:rPr lang="en-US" dirty="0"/>
              <a:t>This is the starting point for Amir’s work. Before selecting or combining any datasets, he needs to understand the landscape of related concepts.</a:t>
            </a:r>
          </a:p>
          <a:p>
            <a:endParaRPr lang="en-US" dirty="0"/>
          </a:p>
          <a:p>
            <a:r>
              <a:rPr lang="en-US" dirty="0"/>
              <a:t>Although sex- and gender-related variables may appear similar at first glance, they can be based on very different aspects of a person’s identity or record, including biological characteristics, social identity, legal status, or the perspective of the person or institution defining the information.</a:t>
            </a:r>
          </a:p>
          <a:p>
            <a:endParaRPr lang="en-US" dirty="0"/>
          </a:p>
          <a:p>
            <a:r>
              <a:rPr lang="en-US" dirty="0"/>
              <a:t>At this step, Amir is trying to understand what is out there: which sex- and gender-related meanings are represented in the available datasets, how they differ from one another, and which one best matches what he needs for his study.</a:t>
            </a:r>
          </a:p>
        </p:txBody>
      </p:sp>
      <p:sp>
        <p:nvSpPr>
          <p:cNvPr id="4" name="Slide Number Placeholder 3">
            <a:extLst>
              <a:ext uri="{FF2B5EF4-FFF2-40B4-BE49-F238E27FC236}">
                <a16:creationId xmlns:a16="http://schemas.microsoft.com/office/drawing/2014/main" id="{CCE507B6-5731-B0F4-A013-031273C70B59}"/>
              </a:ext>
            </a:extLst>
          </p:cNvPr>
          <p:cNvSpPr>
            <a:spLocks noGrp="1"/>
          </p:cNvSpPr>
          <p:nvPr>
            <p:ph type="sldNum" sz="quarter" idx="5"/>
          </p:nvPr>
        </p:nvSpPr>
        <p:spPr/>
        <p:txBody>
          <a:bodyPr/>
          <a:lstStyle/>
          <a:p>
            <a:fld id="{4B725628-3A68-42F4-BA86-981817953149}" type="slidenum">
              <a:rPr lang="en-US" smtClean="0"/>
              <a:t>5</a:t>
            </a:fld>
            <a:endParaRPr lang="en-US" dirty="0"/>
          </a:p>
        </p:txBody>
      </p:sp>
    </p:spTree>
    <p:extLst>
      <p:ext uri="{BB962C8B-B14F-4D97-AF65-F5344CB8AC3E}">
        <p14:creationId xmlns:p14="http://schemas.microsoft.com/office/powerpoint/2010/main" val="29963274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this slide, Amir sees three illustrative dataset options. They are fictional examples, created to make the scenario realistic while keeping the focus on the semantic problem.</a:t>
            </a:r>
          </a:p>
          <a:p>
            <a:endParaRPr lang="en-US" dirty="0"/>
          </a:p>
          <a:p>
            <a:r>
              <a:rPr lang="en-US" dirty="0"/>
              <a:t>The first is the NPR Demographic Extract. We can think of this as a dataset owned by a national population registry, created to support demographic identification and population-level linkage. This dataset uses the Care-SM standard. The specific term used from that standard is </a:t>
            </a:r>
            <a:r>
              <a:rPr lang="en-US" dirty="0" err="1"/>
              <a:t>care-sm:Sex</a:t>
            </a:r>
            <a:r>
              <a:rPr lang="en-US" dirty="0"/>
              <a:t>, with the label “Biological sex.”</a:t>
            </a:r>
          </a:p>
          <a:p>
            <a:endParaRPr lang="en-US" dirty="0"/>
          </a:p>
          <a:p>
            <a:r>
              <a:rPr lang="en-US" dirty="0"/>
              <a:t>The second is the Hospital Registration Extract. This can be understood as a dataset owned by a hospital registration system, created to support patient registration and administrative handling during clinical encounters. This dataset uses an openEHR-based representation. The specific term used is </a:t>
            </a:r>
            <a:r>
              <a:rPr lang="en-US" dirty="0" err="1"/>
              <a:t>hri-openehr:legal-gender</a:t>
            </a:r>
            <a:r>
              <a:rPr lang="en-US" dirty="0"/>
              <a:t>, with the label “Legal gender.”</a:t>
            </a:r>
          </a:p>
          <a:p>
            <a:endParaRPr lang="en-US" dirty="0"/>
          </a:p>
          <a:p>
            <a:r>
              <a:rPr lang="en-US" dirty="0"/>
              <a:t>The third is the Administrative Intake Extract. This can be understood as a dataset owned by an intake or questionnaire service, created to collect information provided during administrative intake. This dataset uses LOINC. The specific term has label “Administrative gender.”</a:t>
            </a:r>
          </a:p>
        </p:txBody>
      </p:sp>
      <p:sp>
        <p:nvSpPr>
          <p:cNvPr id="4" name="Slide Number Placeholder 3"/>
          <p:cNvSpPr>
            <a:spLocks noGrp="1"/>
          </p:cNvSpPr>
          <p:nvPr>
            <p:ph type="sldNum" sz="quarter" idx="5"/>
          </p:nvPr>
        </p:nvSpPr>
        <p:spPr/>
        <p:txBody>
          <a:bodyPr/>
          <a:lstStyle/>
          <a:p>
            <a:fld id="{4B725628-3A68-42F4-BA86-981817953149}" type="slidenum">
              <a:rPr lang="en-US" smtClean="0"/>
              <a:t>6</a:t>
            </a:fld>
            <a:endParaRPr lang="en-US" dirty="0"/>
          </a:p>
        </p:txBody>
      </p:sp>
    </p:spTree>
    <p:extLst>
      <p:ext uri="{BB962C8B-B14F-4D97-AF65-F5344CB8AC3E}">
        <p14:creationId xmlns:p14="http://schemas.microsoft.com/office/powerpoint/2010/main" val="26829145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makes Amir’s question explicit.</a:t>
            </a:r>
          </a:p>
          <a:p>
            <a:endParaRPr lang="en-US" dirty="0"/>
          </a:p>
          <a:p>
            <a:r>
              <a:rPr lang="en-US" dirty="0"/>
              <a:t>What Amir wants is clear: he wants to build a valid cohort, use the variable that fits his research question, and interpret the available data in a way that supports reliable analysis.</a:t>
            </a:r>
          </a:p>
          <a:p>
            <a:endParaRPr lang="en-US" dirty="0"/>
          </a:p>
          <a:p>
            <a:r>
              <a:rPr lang="en-US" dirty="0"/>
              <a:t>The challenge is that the datasets appear to contain similar sex- or gender-related information.</a:t>
            </a:r>
          </a:p>
          <a:p>
            <a:endParaRPr lang="en-US" dirty="0"/>
          </a:p>
          <a:p>
            <a:r>
              <a:rPr lang="en-US" dirty="0"/>
              <a:t>However, if these variables do not mean the same thing, treating them as equivalent could distort the results of the study.</a:t>
            </a:r>
          </a:p>
          <a:p>
            <a:endParaRPr lang="en-US" dirty="0"/>
          </a:p>
          <a:p>
            <a:r>
              <a:rPr lang="en-US" dirty="0"/>
              <a:t>So Amir’s key question becomes: what semantic differences do I need to understand before I can correctly compare and reuse these datasets?</a:t>
            </a:r>
            <a:endParaRPr lang="en-NL" dirty="0"/>
          </a:p>
        </p:txBody>
      </p:sp>
      <p:sp>
        <p:nvSpPr>
          <p:cNvPr id="4" name="Slide Number Placeholder 3"/>
          <p:cNvSpPr>
            <a:spLocks noGrp="1"/>
          </p:cNvSpPr>
          <p:nvPr>
            <p:ph type="sldNum" sz="quarter" idx="5"/>
          </p:nvPr>
        </p:nvSpPr>
        <p:spPr/>
        <p:txBody>
          <a:bodyPr/>
          <a:lstStyle/>
          <a:p>
            <a:fld id="{4B725628-3A68-42F4-BA86-981817953149}" type="slidenum">
              <a:rPr lang="en-US" smtClean="0"/>
              <a:t>7</a:t>
            </a:fld>
            <a:endParaRPr lang="en-US" dirty="0"/>
          </a:p>
        </p:txBody>
      </p:sp>
    </p:spTree>
    <p:extLst>
      <p:ext uri="{BB962C8B-B14F-4D97-AF65-F5344CB8AC3E}">
        <p14:creationId xmlns:p14="http://schemas.microsoft.com/office/powerpoint/2010/main" val="919993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highlights the problem with relying on labels alone.</a:t>
            </a:r>
          </a:p>
          <a:p>
            <a:endParaRPr lang="en-US" dirty="0"/>
          </a:p>
          <a:p>
            <a:r>
              <a:rPr lang="en-US" dirty="0"/>
              <a:t>We see terms such as female appearing in more than one dataset. But the same term does not necessarily carry the same meaning in every context.</a:t>
            </a:r>
          </a:p>
          <a:p>
            <a:endParaRPr lang="en-US" dirty="0"/>
          </a:p>
          <a:p>
            <a:r>
              <a:rPr lang="en-US" dirty="0"/>
              <a:t>For example, the term female in a biological sex column may not be equivalent to female in a legal gender column.</a:t>
            </a:r>
          </a:p>
          <a:p>
            <a:endParaRPr lang="en-US" dirty="0"/>
          </a:p>
          <a:p>
            <a:r>
              <a:rPr lang="en-US" dirty="0"/>
              <a:t>We also see related terms such as man and male. These may look close, but they do not necessarily refer to the same concept.</a:t>
            </a:r>
          </a:p>
          <a:p>
            <a:endParaRPr lang="en-US" dirty="0"/>
          </a:p>
          <a:p>
            <a:r>
              <a:rPr lang="en-US" dirty="0"/>
              <a:t>This highlights an important distinction: there is the value itself, and there is the meaning of the column in which that value appears.</a:t>
            </a:r>
          </a:p>
          <a:p>
            <a:endParaRPr lang="en-US" dirty="0"/>
          </a:p>
          <a:p>
            <a:r>
              <a:rPr lang="en-US" dirty="0"/>
              <a:t>So the key question is not just whether labels match, but whether the underlying concepts align.</a:t>
            </a:r>
          </a:p>
          <a:p>
            <a:endParaRPr lang="en-US" dirty="0"/>
          </a:p>
          <a:p>
            <a:r>
              <a:rPr lang="en-US" dirty="0"/>
              <a:t>This is where precise and explicit definitions become essential for responsible and reproducible data reuse.</a:t>
            </a:r>
            <a:endParaRPr lang="en-NL" dirty="0"/>
          </a:p>
        </p:txBody>
      </p:sp>
      <p:sp>
        <p:nvSpPr>
          <p:cNvPr id="4" name="Slide Number Placeholder 3"/>
          <p:cNvSpPr>
            <a:spLocks noGrp="1"/>
          </p:cNvSpPr>
          <p:nvPr>
            <p:ph type="sldNum" sz="quarter" idx="5"/>
          </p:nvPr>
        </p:nvSpPr>
        <p:spPr/>
        <p:txBody>
          <a:bodyPr/>
          <a:lstStyle/>
          <a:p>
            <a:fld id="{4B725628-3A68-42F4-BA86-981817953149}" type="slidenum">
              <a:rPr lang="en-US" smtClean="0"/>
              <a:t>8</a:t>
            </a:fld>
            <a:endParaRPr lang="en-US" dirty="0"/>
          </a:p>
        </p:txBody>
      </p:sp>
    </p:spTree>
    <p:extLst>
      <p:ext uri="{BB962C8B-B14F-4D97-AF65-F5344CB8AC3E}">
        <p14:creationId xmlns:p14="http://schemas.microsoft.com/office/powerpoint/2010/main" val="3199901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 simple example that shows why similar labels can mislead reuse.</a:t>
            </a:r>
          </a:p>
          <a:p>
            <a:endParaRPr lang="en-US" dirty="0"/>
          </a:p>
          <a:p>
            <a:r>
              <a:rPr lang="en-US" dirty="0"/>
              <a:t>Here we see three patients. Each patient has information about biological sex and social gender.</a:t>
            </a:r>
          </a:p>
          <a:p>
            <a:endParaRPr lang="en-US" dirty="0"/>
          </a:p>
          <a:p>
            <a:r>
              <a:rPr lang="en-US" dirty="0"/>
              <a:t>The important point is that these are not the same variable.</a:t>
            </a:r>
          </a:p>
          <a:p>
            <a:endParaRPr lang="en-US" dirty="0"/>
          </a:p>
          <a:p>
            <a:r>
              <a:rPr lang="en-US" dirty="0"/>
              <a:t>Patient 1 has male biological sex and male social gender. Patient 2 has male biological sex, but their social gender is recorded as female. Patient 3 has female biological sex and non-binary social gender.</a:t>
            </a:r>
          </a:p>
        </p:txBody>
      </p:sp>
      <p:sp>
        <p:nvSpPr>
          <p:cNvPr id="4" name="Slide Number Placeholder 3"/>
          <p:cNvSpPr>
            <a:spLocks noGrp="1"/>
          </p:cNvSpPr>
          <p:nvPr>
            <p:ph type="sldNum" sz="quarter" idx="5"/>
          </p:nvPr>
        </p:nvSpPr>
        <p:spPr/>
        <p:txBody>
          <a:bodyPr/>
          <a:lstStyle/>
          <a:p>
            <a:fld id="{4B725628-3A68-42F4-BA86-981817953149}" type="slidenum">
              <a:rPr lang="en-US" smtClean="0"/>
              <a:t>9</a:t>
            </a:fld>
            <a:endParaRPr lang="en-US" dirty="0"/>
          </a:p>
        </p:txBody>
      </p:sp>
    </p:spTree>
    <p:extLst>
      <p:ext uri="{BB962C8B-B14F-4D97-AF65-F5344CB8AC3E}">
        <p14:creationId xmlns:p14="http://schemas.microsoft.com/office/powerpoint/2010/main" val="18750257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what can go wrong if Amir uses the wrong variable for his research question.</a:t>
            </a:r>
          </a:p>
          <a:p>
            <a:endParaRPr lang="en-US" dirty="0"/>
          </a:p>
          <a:p>
            <a:r>
              <a:rPr lang="en-US" dirty="0"/>
              <a:t>If the intended criterion is biological sex, but Amir filters on gender equals male, he retrieves only Patient 1. He misses Patient 2, whose biological sex is male.</a:t>
            </a:r>
          </a:p>
          <a:p>
            <a:endParaRPr lang="en-US" dirty="0"/>
          </a:p>
          <a:p>
            <a:r>
              <a:rPr lang="en-US" dirty="0"/>
              <a:t>If the intended criterion is social gender, and Amir wants patients who socially identify as male, filtering on sex equals male retrieves Patient 1 and Patient 2. But Patient 2 should not be included for that question, because their social gender is recorded as female, with trans indicated.</a:t>
            </a:r>
          </a:p>
          <a:p>
            <a:endParaRPr lang="en-US" dirty="0"/>
          </a:p>
          <a:p>
            <a:r>
              <a:rPr lang="en-US" dirty="0"/>
              <a:t>And if Amir wants patients with female gender, but filters on sex equals female, he retrieves only Patient 3. He misses Patient 2.</a:t>
            </a:r>
          </a:p>
          <a:p>
            <a:endParaRPr lang="en-US" dirty="0"/>
          </a:p>
          <a:p>
            <a:r>
              <a:rPr lang="en-US" dirty="0"/>
              <a:t>So the issue is not simply a technical filtering mistake. It is a semantic mistake: the query uses a variable whose meaning does not match the study criterion.</a:t>
            </a:r>
            <a:endParaRPr lang="en-NL" dirty="0"/>
          </a:p>
        </p:txBody>
      </p:sp>
      <p:sp>
        <p:nvSpPr>
          <p:cNvPr id="4" name="Slide Number Placeholder 3"/>
          <p:cNvSpPr>
            <a:spLocks noGrp="1"/>
          </p:cNvSpPr>
          <p:nvPr>
            <p:ph type="sldNum" sz="quarter" idx="5"/>
          </p:nvPr>
        </p:nvSpPr>
        <p:spPr/>
        <p:txBody>
          <a:bodyPr/>
          <a:lstStyle/>
          <a:p>
            <a:fld id="{4B725628-3A68-42F4-BA86-981817953149}" type="slidenum">
              <a:rPr lang="en-US" smtClean="0"/>
              <a:t>10</a:t>
            </a:fld>
            <a:endParaRPr lang="en-US" dirty="0"/>
          </a:p>
        </p:txBody>
      </p:sp>
    </p:spTree>
    <p:extLst>
      <p:ext uri="{BB962C8B-B14F-4D97-AF65-F5344CB8AC3E}">
        <p14:creationId xmlns:p14="http://schemas.microsoft.com/office/powerpoint/2010/main" val="18370941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that sex and gender are not single, uniform meanings. They branch into several related but different concepts.</a:t>
            </a:r>
          </a:p>
          <a:p>
            <a:endParaRPr lang="en-US" dirty="0"/>
          </a:p>
          <a:p>
            <a:r>
              <a:rPr lang="en-US" dirty="0"/>
              <a:t>For example, biological sex, sex at birth, and karyotypical sex are not automatically the same thing. In the same way, social gender, self-identified gender, administrative gender, and legal gender refer to different kinds of information.</a:t>
            </a:r>
          </a:p>
          <a:p>
            <a:endParaRPr lang="en-US" dirty="0"/>
          </a:p>
          <a:p>
            <a:r>
              <a:rPr lang="en-US" dirty="0"/>
              <a:t>So, before Amir compares variables across datasets, he needs to understand which specific meaning each variable refers to, and how those meanings relate to one another.</a:t>
            </a:r>
            <a:endParaRPr lang="en-NL" dirty="0"/>
          </a:p>
        </p:txBody>
      </p:sp>
      <p:sp>
        <p:nvSpPr>
          <p:cNvPr id="4" name="Slide Number Placeholder 3"/>
          <p:cNvSpPr>
            <a:spLocks noGrp="1"/>
          </p:cNvSpPr>
          <p:nvPr>
            <p:ph type="sldNum" sz="quarter" idx="5"/>
          </p:nvPr>
        </p:nvSpPr>
        <p:spPr/>
        <p:txBody>
          <a:bodyPr/>
          <a:lstStyle/>
          <a:p>
            <a:fld id="{4B725628-3A68-42F4-BA86-981817953149}" type="slidenum">
              <a:rPr lang="en-US" smtClean="0"/>
              <a:t>11</a:t>
            </a:fld>
            <a:endParaRPr lang="en-US" dirty="0"/>
          </a:p>
        </p:txBody>
      </p:sp>
    </p:spTree>
    <p:extLst>
      <p:ext uri="{BB962C8B-B14F-4D97-AF65-F5344CB8AC3E}">
        <p14:creationId xmlns:p14="http://schemas.microsoft.com/office/powerpoint/2010/main" val="40246095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support this kind of clarification, we use HRIO: the Health-RI Ontology.</a:t>
            </a:r>
          </a:p>
          <a:p>
            <a:endParaRPr lang="en-US" dirty="0"/>
          </a:p>
          <a:p>
            <a:r>
              <a:rPr lang="en-US" dirty="0"/>
              <a:t>HRIO makes the variables’ intended meanings precise and explicit, using OntoUML: a modeling language designed to describe concepts and their relationships in a clear and unambiguous way.</a:t>
            </a:r>
          </a:p>
        </p:txBody>
      </p:sp>
      <p:sp>
        <p:nvSpPr>
          <p:cNvPr id="4" name="Slide Number Placeholder 3"/>
          <p:cNvSpPr>
            <a:spLocks noGrp="1"/>
          </p:cNvSpPr>
          <p:nvPr>
            <p:ph type="sldNum" sz="quarter" idx="5"/>
          </p:nvPr>
        </p:nvSpPr>
        <p:spPr/>
        <p:txBody>
          <a:bodyPr/>
          <a:lstStyle/>
          <a:p>
            <a:fld id="{4B725628-3A68-42F4-BA86-981817953149}" type="slidenum">
              <a:rPr lang="en-US" smtClean="0"/>
              <a:t>12</a:t>
            </a:fld>
            <a:endParaRPr lang="en-US" dirty="0"/>
          </a:p>
        </p:txBody>
      </p:sp>
    </p:spTree>
    <p:extLst>
      <p:ext uri="{BB962C8B-B14F-4D97-AF65-F5344CB8AC3E}">
        <p14:creationId xmlns:p14="http://schemas.microsoft.com/office/powerpoint/2010/main" val="22558233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we see the HRIO taxonomies for sex and gender.</a:t>
            </a:r>
          </a:p>
          <a:p>
            <a:endParaRPr lang="en-US" dirty="0"/>
          </a:p>
          <a:p>
            <a:r>
              <a:rPr lang="en-US" dirty="0"/>
              <a:t>The details of the diagrams are not the main focus for the audience at this point. What this slide shows is that HRIO organizes these meanings into clear taxonomies.</a:t>
            </a:r>
          </a:p>
          <a:p>
            <a:endParaRPr lang="en-US" dirty="0"/>
          </a:p>
          <a:p>
            <a:r>
              <a:rPr lang="en-US" dirty="0"/>
              <a:t>Instead of treating all sex- and gender-related variables as one flat group, HRIO separates them into precise categories and makes their distinctions explicit.</a:t>
            </a:r>
          </a:p>
          <a:p>
            <a:endParaRPr lang="en-US" dirty="0"/>
          </a:p>
          <a:p>
            <a:r>
              <a:rPr lang="en-US" dirty="0"/>
              <a:t>This gives Amir a reference structure for asking better questions. For example, instead of simply asking for “gender,” he can now see that there are different kinds of gender-related concepts, connected in different ways, and identify which one best fits his study.</a:t>
            </a:r>
          </a:p>
        </p:txBody>
      </p:sp>
      <p:sp>
        <p:nvSpPr>
          <p:cNvPr id="4" name="Slide Number Placeholder 3"/>
          <p:cNvSpPr>
            <a:spLocks noGrp="1"/>
          </p:cNvSpPr>
          <p:nvPr>
            <p:ph type="sldNum" sz="quarter" idx="5"/>
          </p:nvPr>
        </p:nvSpPr>
        <p:spPr/>
        <p:txBody>
          <a:bodyPr/>
          <a:lstStyle/>
          <a:p>
            <a:fld id="{4B725628-3A68-42F4-BA86-981817953149}" type="slidenum">
              <a:rPr lang="en-US" smtClean="0"/>
              <a:t>13</a:t>
            </a:fld>
            <a:endParaRPr lang="en-US" dirty="0"/>
          </a:p>
        </p:txBody>
      </p:sp>
    </p:spTree>
    <p:extLst>
      <p:ext uri="{BB962C8B-B14F-4D97-AF65-F5344CB8AC3E}">
        <p14:creationId xmlns:p14="http://schemas.microsoft.com/office/powerpoint/2010/main" val="168293154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these distinctions in place, Amir can use HRIO to identify the intended meaning of each dataset variable.</a:t>
            </a:r>
          </a:p>
          <a:p>
            <a:endParaRPr lang="en-US" dirty="0"/>
          </a:p>
          <a:p>
            <a:r>
              <a:rPr lang="en-US" dirty="0"/>
              <a:t>Here, the Care-SM variable, labeled Biological sex, is linked to the HRIO’s Sex concept. The openEHR-based variable, labeled Legal gender, is linked to the HRIO’s Legal Gender concept. And the LOINC variable, labeled Administrative gender, is linked to the HRIO’s Administrative Gender concept.</a:t>
            </a:r>
          </a:p>
          <a:p>
            <a:endParaRPr lang="en-US" dirty="0"/>
          </a:p>
          <a:p>
            <a:r>
              <a:rPr lang="en-US" dirty="0"/>
              <a:t>The key point is that each variable keeps its original representation, but its meaning becomes explicit.</a:t>
            </a:r>
            <a:endParaRPr lang="en-NL" dirty="0"/>
          </a:p>
        </p:txBody>
      </p:sp>
      <p:sp>
        <p:nvSpPr>
          <p:cNvPr id="4" name="Slide Number Placeholder 3"/>
          <p:cNvSpPr>
            <a:spLocks noGrp="1"/>
          </p:cNvSpPr>
          <p:nvPr>
            <p:ph type="sldNum" sz="quarter" idx="5"/>
          </p:nvPr>
        </p:nvSpPr>
        <p:spPr/>
        <p:txBody>
          <a:bodyPr/>
          <a:lstStyle/>
          <a:p>
            <a:fld id="{4B725628-3A68-42F4-BA86-981817953149}" type="slidenum">
              <a:rPr lang="en-US" smtClean="0"/>
              <a:t>14</a:t>
            </a:fld>
            <a:endParaRPr lang="en-US" dirty="0"/>
          </a:p>
        </p:txBody>
      </p:sp>
    </p:spTree>
    <p:extLst>
      <p:ext uri="{BB962C8B-B14F-4D97-AF65-F5344CB8AC3E}">
        <p14:creationId xmlns:p14="http://schemas.microsoft.com/office/powerpoint/2010/main" val="23684571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now return to the dataset variables from Amir’s scenario.</a:t>
            </a:r>
          </a:p>
          <a:p>
            <a:endParaRPr lang="en-US" dirty="0"/>
          </a:p>
          <a:p>
            <a:r>
              <a:rPr lang="en-US" dirty="0"/>
              <a:t>The variables may still look comparable because they contain familiar values such as female, male, woman, man, and non-binary.</a:t>
            </a:r>
          </a:p>
          <a:p>
            <a:endParaRPr lang="en-US" dirty="0"/>
          </a:p>
          <a:p>
            <a:r>
              <a:rPr lang="en-US" dirty="0"/>
              <a:t>But after Amir uses HRIO to identify the intended meaning of each variable, their differences become clear.</a:t>
            </a:r>
          </a:p>
          <a:p>
            <a:endParaRPr lang="en-US" dirty="0"/>
          </a:p>
          <a:p>
            <a:r>
              <a:rPr lang="en-US" dirty="0"/>
              <a:t>One variable is about biological sex. One is about legal gender. One is about administrative gender.</a:t>
            </a:r>
          </a:p>
          <a:p>
            <a:endParaRPr lang="en-US" dirty="0"/>
          </a:p>
          <a:p>
            <a:r>
              <a:rPr lang="en-US" dirty="0"/>
              <a:t>So the conclusion for this first scenario is clear: Amir should not treat these variables as interchangeable just because their labels or values look similar.</a:t>
            </a:r>
          </a:p>
          <a:p>
            <a:endParaRPr lang="en-US" dirty="0"/>
          </a:p>
          <a:p>
            <a:r>
              <a:rPr lang="en-US" dirty="0"/>
              <a:t>By making the meanings explicit, he can avoid label-based guessing and move toward a more defensible decision about which data can be reused for his study.</a:t>
            </a:r>
            <a:endParaRPr lang="en-NL" dirty="0"/>
          </a:p>
        </p:txBody>
      </p:sp>
      <p:sp>
        <p:nvSpPr>
          <p:cNvPr id="4" name="Slide Number Placeholder 3"/>
          <p:cNvSpPr>
            <a:spLocks noGrp="1"/>
          </p:cNvSpPr>
          <p:nvPr>
            <p:ph type="sldNum" sz="quarter" idx="5"/>
          </p:nvPr>
        </p:nvSpPr>
        <p:spPr/>
        <p:txBody>
          <a:bodyPr/>
          <a:lstStyle/>
          <a:p>
            <a:fld id="{4B725628-3A68-42F4-BA86-981817953149}" type="slidenum">
              <a:rPr lang="en-US" smtClean="0"/>
              <a:t>15</a:t>
            </a:fld>
            <a:endParaRPr lang="en-US" dirty="0"/>
          </a:p>
        </p:txBody>
      </p:sp>
    </p:spTree>
    <p:extLst>
      <p:ext uri="{BB962C8B-B14F-4D97-AF65-F5344CB8AC3E}">
        <p14:creationId xmlns:p14="http://schemas.microsoft.com/office/powerpoint/2010/main" val="301436188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F976FF-880B-14F5-D84A-1608928647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17A925-87DB-5A9D-ABB3-FA4EAEEB95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4E3DAF-4320-F7C8-2E1A-76F811688348}"/>
              </a:ext>
            </a:extLst>
          </p:cNvPr>
          <p:cNvSpPr>
            <a:spLocks noGrp="1"/>
          </p:cNvSpPr>
          <p:nvPr>
            <p:ph type="body" idx="1"/>
          </p:nvPr>
        </p:nvSpPr>
        <p:spPr/>
        <p:txBody>
          <a:bodyPr/>
          <a:lstStyle/>
          <a:p>
            <a:r>
              <a:rPr lang="en-US" dirty="0"/>
              <a:t>We now move from Scenario 1 into Scenario 2.</a:t>
            </a:r>
          </a:p>
          <a:p>
            <a:endParaRPr lang="en-US" dirty="0"/>
          </a:p>
          <a:p>
            <a:r>
              <a:rPr lang="en-US" dirty="0"/>
              <a:t>In the first scenario, Amir clarified that sex- and gender-related variables can represent different meanings. In this scenario, he applies that understanding to a practical task: finding the dataset that contains the right variable for his study.</a:t>
            </a:r>
          </a:p>
          <a:p>
            <a:endParaRPr lang="en-US" dirty="0"/>
          </a:p>
          <a:p>
            <a:r>
              <a:rPr lang="en-US" dirty="0"/>
              <a:t>For Amir, the target meaning is biological sex. The question is no longer simply, “Which datasets contain a column whose label is related to sex?” The question is, “Which dataset contains the variable that represents biological sex?”</a:t>
            </a:r>
            <a:endParaRPr lang="en-NL" dirty="0"/>
          </a:p>
        </p:txBody>
      </p:sp>
      <p:sp>
        <p:nvSpPr>
          <p:cNvPr id="4" name="Slide Number Placeholder 3">
            <a:extLst>
              <a:ext uri="{FF2B5EF4-FFF2-40B4-BE49-F238E27FC236}">
                <a16:creationId xmlns:a16="http://schemas.microsoft.com/office/drawing/2014/main" id="{1E15F549-EFB6-FD56-DB79-55A2F69FF8C1}"/>
              </a:ext>
            </a:extLst>
          </p:cNvPr>
          <p:cNvSpPr>
            <a:spLocks noGrp="1"/>
          </p:cNvSpPr>
          <p:nvPr>
            <p:ph type="sldNum" sz="quarter" idx="5"/>
          </p:nvPr>
        </p:nvSpPr>
        <p:spPr/>
        <p:txBody>
          <a:bodyPr/>
          <a:lstStyle/>
          <a:p>
            <a:fld id="{4B725628-3A68-42F4-BA86-981817953149}" type="slidenum">
              <a:rPr lang="en-US" smtClean="0"/>
              <a:t>16</a:t>
            </a:fld>
            <a:endParaRPr lang="en-US" dirty="0"/>
          </a:p>
        </p:txBody>
      </p:sp>
    </p:spTree>
    <p:extLst>
      <p:ext uri="{BB962C8B-B14F-4D97-AF65-F5344CB8AC3E}">
        <p14:creationId xmlns:p14="http://schemas.microsoft.com/office/powerpoint/2010/main" val="294613259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scenario, Amir wants to identify the datasets that contain the right variable for his study: a column representing biological sex.</a:t>
            </a:r>
          </a:p>
          <a:p>
            <a:endParaRPr lang="en-US" dirty="0"/>
          </a:p>
          <a:p>
            <a:r>
              <a:rPr lang="en-US" dirty="0"/>
              <a:t>Several datasets may look relevant at first glance. They all contain sex- or gender-related columns, and some of their values may look familiar. But Amir knows that visible labels alone are not enough.</a:t>
            </a:r>
          </a:p>
          <a:p>
            <a:endParaRPr lang="en-US" dirty="0"/>
          </a:p>
          <a:p>
            <a:r>
              <a:rPr lang="en-US" dirty="0"/>
              <a:t>So the question becomes: which of these datasets contains the variable that actually represents biological sex?</a:t>
            </a:r>
            <a:endParaRPr lang="en-NL" dirty="0"/>
          </a:p>
        </p:txBody>
      </p:sp>
      <p:sp>
        <p:nvSpPr>
          <p:cNvPr id="4" name="Slide Number Placeholder 3"/>
          <p:cNvSpPr>
            <a:spLocks noGrp="1"/>
          </p:cNvSpPr>
          <p:nvPr>
            <p:ph type="sldNum" sz="quarter" idx="5"/>
          </p:nvPr>
        </p:nvSpPr>
        <p:spPr/>
        <p:txBody>
          <a:bodyPr/>
          <a:lstStyle/>
          <a:p>
            <a:fld id="{4B725628-3A68-42F4-BA86-981817953149}" type="slidenum">
              <a:rPr lang="en-US" smtClean="0"/>
              <a:t>17</a:t>
            </a:fld>
            <a:endParaRPr lang="en-US" dirty="0"/>
          </a:p>
        </p:txBody>
      </p:sp>
    </p:spTree>
    <p:extLst>
      <p:ext uri="{BB962C8B-B14F-4D97-AF65-F5344CB8AC3E}">
        <p14:creationId xmlns:p14="http://schemas.microsoft.com/office/powerpoint/2010/main" val="213193001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understand the problem more generally, we start with a simple question: when can two datasets be safely reused together?</a:t>
            </a:r>
          </a:p>
          <a:p>
            <a:endParaRPr lang="en-US" dirty="0"/>
          </a:p>
          <a:p>
            <a:r>
              <a:rPr lang="en-US" dirty="0"/>
              <a:t>At the bottom, we have dataset columns. At the level above, we have standard concepts. A dataset column may implement a concept from a standard.</a:t>
            </a:r>
          </a:p>
          <a:p>
            <a:endParaRPr lang="en-US" dirty="0"/>
          </a:p>
          <a:p>
            <a:r>
              <a:rPr lang="en-US" dirty="0"/>
              <a:t>When the relevant columns from different datasets implement the same standard concept, that shared concept can provide a useful point of alignment.</a:t>
            </a:r>
          </a:p>
          <a:p>
            <a:endParaRPr lang="en-US" dirty="0"/>
          </a:p>
          <a:p>
            <a:r>
              <a:rPr lang="en-US" dirty="0"/>
              <a:t>However, this only works under two important conditions: the standard concept must be well defined, and the datasets must implement it correctly. </a:t>
            </a:r>
          </a:p>
          <a:p>
            <a:endParaRPr lang="en-US" dirty="0"/>
          </a:p>
          <a:p>
            <a:r>
              <a:rPr lang="en-US" dirty="0"/>
              <a:t>So, this model can support interoperability, but only when the shared standard concept is sufficiently precise and reliably used.</a:t>
            </a:r>
            <a:endParaRPr lang="en-NL" dirty="0"/>
          </a:p>
        </p:txBody>
      </p:sp>
      <p:sp>
        <p:nvSpPr>
          <p:cNvPr id="4" name="Slide Number Placeholder 3"/>
          <p:cNvSpPr>
            <a:spLocks noGrp="1"/>
          </p:cNvSpPr>
          <p:nvPr>
            <p:ph type="sldNum" sz="quarter" idx="5"/>
          </p:nvPr>
        </p:nvSpPr>
        <p:spPr/>
        <p:txBody>
          <a:bodyPr/>
          <a:lstStyle/>
          <a:p>
            <a:fld id="{4B725628-3A68-42F4-BA86-981817953149}" type="slidenum">
              <a:rPr lang="en-US" smtClean="0"/>
              <a:t>18</a:t>
            </a:fld>
            <a:endParaRPr lang="en-US" dirty="0"/>
          </a:p>
        </p:txBody>
      </p:sp>
    </p:spTree>
    <p:extLst>
      <p:ext uri="{BB962C8B-B14F-4D97-AF65-F5344CB8AC3E}">
        <p14:creationId xmlns:p14="http://schemas.microsoft.com/office/powerpoint/2010/main" val="391423701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next question is: what happens when two dataset columns do not implement the same standard concept? For example, can D1 and D2 be compared or combined safely?</a:t>
            </a:r>
          </a:p>
          <a:p>
            <a:endParaRPr lang="en-US" dirty="0"/>
          </a:p>
          <a:p>
            <a:r>
              <a:rPr lang="en-US" dirty="0"/>
              <a:t>If both columns point to the same well-defined standard concept, we have visible evidence of alignment. But if that shared concept is missing, indirect, or unclear, then interoperability is harder to assess.</a:t>
            </a:r>
          </a:p>
          <a:p>
            <a:endParaRPr lang="en-US" dirty="0"/>
          </a:p>
          <a:p>
            <a:r>
              <a:rPr lang="en-US" dirty="0"/>
              <a:t>Without explicit meanings, we can only see interoperability when datasets share the same standard concept.</a:t>
            </a:r>
            <a:endParaRPr lang="en-NL" dirty="0"/>
          </a:p>
        </p:txBody>
      </p:sp>
      <p:sp>
        <p:nvSpPr>
          <p:cNvPr id="4" name="Slide Number Placeholder 3"/>
          <p:cNvSpPr>
            <a:spLocks noGrp="1"/>
          </p:cNvSpPr>
          <p:nvPr>
            <p:ph type="sldNum" sz="quarter" idx="5"/>
          </p:nvPr>
        </p:nvSpPr>
        <p:spPr/>
        <p:txBody>
          <a:bodyPr/>
          <a:lstStyle/>
          <a:p>
            <a:fld id="{4B725628-3A68-42F4-BA86-981817953149}" type="slidenum">
              <a:rPr lang="en-US" smtClean="0"/>
              <a:t>19</a:t>
            </a:fld>
            <a:endParaRPr lang="en-US" dirty="0"/>
          </a:p>
        </p:txBody>
      </p:sp>
    </p:spTree>
    <p:extLst>
      <p:ext uri="{BB962C8B-B14F-4D97-AF65-F5344CB8AC3E}">
        <p14:creationId xmlns:p14="http://schemas.microsoft.com/office/powerpoint/2010/main" val="141832798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make the condition for semantic interoperability more explicit.</a:t>
            </a:r>
          </a:p>
          <a:p>
            <a:endParaRPr lang="en-US" dirty="0"/>
          </a:p>
          <a:p>
            <a:r>
              <a:rPr lang="en-US" dirty="0"/>
              <a:t>D1 and D2 may both appear relevant, and their concepts may belong to the same broad area. But once we look at the meanings layer, we see that they point to different meanings.</a:t>
            </a:r>
          </a:p>
          <a:p>
            <a:endParaRPr lang="en-US" dirty="0"/>
          </a:p>
          <a:p>
            <a:r>
              <a:rPr lang="en-US" dirty="0"/>
              <a:t>That difference matters. If the concepts do not share the same meaning, then the variables cannot be safely reused together.</a:t>
            </a:r>
          </a:p>
          <a:p>
            <a:endParaRPr lang="en-US" dirty="0"/>
          </a:p>
          <a:p>
            <a:r>
              <a:rPr lang="en-US" dirty="0"/>
              <a:t>So for Amir, this is a negative result: without shared meaning, these variables should not be treated as interoperable for his study.</a:t>
            </a:r>
            <a:endParaRPr lang="en-NL" dirty="0"/>
          </a:p>
        </p:txBody>
      </p:sp>
      <p:sp>
        <p:nvSpPr>
          <p:cNvPr id="4" name="Slide Number Placeholder 3"/>
          <p:cNvSpPr>
            <a:spLocks noGrp="1"/>
          </p:cNvSpPr>
          <p:nvPr>
            <p:ph type="sldNum" sz="quarter" idx="5"/>
          </p:nvPr>
        </p:nvSpPr>
        <p:spPr/>
        <p:txBody>
          <a:bodyPr/>
          <a:lstStyle/>
          <a:p>
            <a:fld id="{4B725628-3A68-42F4-BA86-981817953149}" type="slidenum">
              <a:rPr lang="en-US" smtClean="0"/>
              <a:t>20</a:t>
            </a:fld>
            <a:endParaRPr lang="en-US" dirty="0"/>
          </a:p>
        </p:txBody>
      </p:sp>
    </p:spTree>
    <p:extLst>
      <p:ext uri="{BB962C8B-B14F-4D97-AF65-F5344CB8AC3E}">
        <p14:creationId xmlns:p14="http://schemas.microsoft.com/office/powerpoint/2010/main" val="304470756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see the positive case.</a:t>
            </a:r>
          </a:p>
          <a:p>
            <a:endParaRPr lang="en-US" dirty="0"/>
          </a:p>
          <a:p>
            <a:r>
              <a:rPr lang="en-US" dirty="0"/>
              <a:t>D1 and D2 are connected to concepts that share the same meaning. This gives us a semantic basis for comparing or reusing them together.</a:t>
            </a:r>
          </a:p>
          <a:p>
            <a:endParaRPr lang="en-US" dirty="0"/>
          </a:p>
          <a:p>
            <a:r>
              <a:rPr lang="en-US" dirty="0"/>
              <a:t>However, semantic compatibility is only one part of interoperability. It is necessary, but not sufficient. Other aspects still matter, such as structure, values, formats, and implementation details.</a:t>
            </a:r>
          </a:p>
          <a:p>
            <a:endParaRPr lang="en-US" dirty="0"/>
          </a:p>
          <a:p>
            <a:r>
              <a:rPr lang="en-US" dirty="0"/>
              <a:t>So the conclusion here is cautious but positive: D1 and D2 meet the necessary condition for interoperability.</a:t>
            </a:r>
            <a:endParaRPr lang="en-NL" dirty="0"/>
          </a:p>
        </p:txBody>
      </p:sp>
      <p:sp>
        <p:nvSpPr>
          <p:cNvPr id="4" name="Slide Number Placeholder 3"/>
          <p:cNvSpPr>
            <a:spLocks noGrp="1"/>
          </p:cNvSpPr>
          <p:nvPr>
            <p:ph type="sldNum" sz="quarter" idx="5"/>
          </p:nvPr>
        </p:nvSpPr>
        <p:spPr/>
        <p:txBody>
          <a:bodyPr/>
          <a:lstStyle/>
          <a:p>
            <a:fld id="{4B725628-3A68-42F4-BA86-981817953149}" type="slidenum">
              <a:rPr lang="en-US" smtClean="0"/>
              <a:t>21</a:t>
            </a:fld>
            <a:endParaRPr lang="en-US" dirty="0"/>
          </a:p>
        </p:txBody>
      </p:sp>
    </p:spTree>
    <p:extLst>
      <p:ext uri="{BB962C8B-B14F-4D97-AF65-F5344CB8AC3E}">
        <p14:creationId xmlns:p14="http://schemas.microsoft.com/office/powerpoint/2010/main" val="242976065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24C521-4C4A-14A6-93D5-6FB26168E3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F9448B-58D7-1C9D-389D-BAF1E8C65F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0D8EC1-7287-93EA-B315-7E510E995DE4}"/>
              </a:ext>
            </a:extLst>
          </p:cNvPr>
          <p:cNvSpPr>
            <a:spLocks noGrp="1"/>
          </p:cNvSpPr>
          <p:nvPr>
            <p:ph type="body" idx="1"/>
          </p:nvPr>
        </p:nvSpPr>
        <p:spPr/>
        <p:txBody>
          <a:bodyPr/>
          <a:lstStyle/>
          <a:p>
            <a:r>
              <a:rPr lang="en-US" dirty="0"/>
              <a:t>Back in Amir’s situation.</a:t>
            </a:r>
          </a:p>
          <a:p>
            <a:endParaRPr lang="en-US" dirty="0"/>
          </a:p>
          <a:p>
            <a:r>
              <a:rPr lang="en-US" dirty="0"/>
              <a:t>At this point, the relevant meanings are clear in the conceptual model. Amir can see which concepts represent biological sex, legal gender, or administrative gender.</a:t>
            </a:r>
          </a:p>
          <a:p>
            <a:endParaRPr lang="en-US" dirty="0"/>
          </a:p>
          <a:p>
            <a:r>
              <a:rPr lang="en-US" dirty="0"/>
              <a:t>However, this still leaves Amir with a practical limitation. The meanings are known, but they are not yet computationally actionable.</a:t>
            </a:r>
          </a:p>
          <a:p>
            <a:endParaRPr lang="en-US" dirty="0"/>
          </a:p>
          <a:p>
            <a:r>
              <a:rPr lang="en-US" dirty="0"/>
              <a:t>The next step is to turn these conceptual meanings into machine-readable, </a:t>
            </a:r>
            <a:r>
              <a:rPr lang="en-US" dirty="0" err="1"/>
              <a:t>queryable</a:t>
            </a:r>
            <a:r>
              <a:rPr lang="en-US" dirty="0"/>
              <a:t>, and actionable relations.</a:t>
            </a:r>
            <a:endParaRPr lang="en-NL" dirty="0"/>
          </a:p>
        </p:txBody>
      </p:sp>
      <p:sp>
        <p:nvSpPr>
          <p:cNvPr id="4" name="Slide Number Placeholder 3">
            <a:extLst>
              <a:ext uri="{FF2B5EF4-FFF2-40B4-BE49-F238E27FC236}">
                <a16:creationId xmlns:a16="http://schemas.microsoft.com/office/drawing/2014/main" id="{C61448BC-A349-F4E1-3B8A-09D5726D36EF}"/>
              </a:ext>
            </a:extLst>
          </p:cNvPr>
          <p:cNvSpPr>
            <a:spLocks noGrp="1"/>
          </p:cNvSpPr>
          <p:nvPr>
            <p:ph type="sldNum" sz="quarter" idx="5"/>
          </p:nvPr>
        </p:nvSpPr>
        <p:spPr/>
        <p:txBody>
          <a:bodyPr/>
          <a:lstStyle/>
          <a:p>
            <a:fld id="{4B725628-3A68-42F4-BA86-981817953149}" type="slidenum">
              <a:rPr lang="en-US" smtClean="0"/>
              <a:t>22</a:t>
            </a:fld>
            <a:endParaRPr lang="en-US" dirty="0"/>
          </a:p>
        </p:txBody>
      </p:sp>
    </p:spTree>
    <p:extLst>
      <p:ext uri="{BB962C8B-B14F-4D97-AF65-F5344CB8AC3E}">
        <p14:creationId xmlns:p14="http://schemas.microsoft.com/office/powerpoint/2010/main" val="404175736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previous scenario, we introduced HRIO as a way to support conceptual clarification. It helped make meanings precise and explicit. But we now move from conceptual clarification to computational tractability.</a:t>
            </a:r>
          </a:p>
          <a:p>
            <a:endParaRPr lang="en-US" dirty="0"/>
          </a:p>
          <a:p>
            <a:r>
              <a:rPr lang="en-US" dirty="0"/>
              <a:t>This is where the computational version of HRIO comes in. It represents the relevant meanings and their relations in machine-readable form, so they can be queried, processed, and reused.</a:t>
            </a:r>
          </a:p>
          <a:p>
            <a:endParaRPr lang="en-US" dirty="0"/>
          </a:p>
          <a:p>
            <a:r>
              <a:rPr lang="en-US" dirty="0"/>
              <a:t>In other words, the computational ontology turns conceptual distinctions into something that can support Amir’s dataset discovery task.</a:t>
            </a:r>
            <a:endParaRPr lang="en-NL" dirty="0"/>
          </a:p>
        </p:txBody>
      </p:sp>
      <p:sp>
        <p:nvSpPr>
          <p:cNvPr id="4" name="Slide Number Placeholder 3"/>
          <p:cNvSpPr>
            <a:spLocks noGrp="1"/>
          </p:cNvSpPr>
          <p:nvPr>
            <p:ph type="sldNum" sz="quarter" idx="5"/>
          </p:nvPr>
        </p:nvSpPr>
        <p:spPr/>
        <p:txBody>
          <a:bodyPr/>
          <a:lstStyle/>
          <a:p>
            <a:fld id="{4B725628-3A68-42F4-BA86-981817953149}" type="slidenum">
              <a:rPr lang="en-US" smtClean="0"/>
              <a:t>23</a:t>
            </a:fld>
            <a:endParaRPr lang="en-US" dirty="0"/>
          </a:p>
        </p:txBody>
      </p:sp>
    </p:spTree>
    <p:extLst>
      <p:ext uri="{BB962C8B-B14F-4D97-AF65-F5344CB8AC3E}">
        <p14:creationId xmlns:p14="http://schemas.microsoft.com/office/powerpoint/2010/main" val="221638558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66214C-8238-E1A5-18D2-7912C18DDF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3C17F2-6411-5045-BEE3-9B35848C44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045450-BC4C-5235-F247-41D11087B9A7}"/>
              </a:ext>
            </a:extLst>
          </p:cNvPr>
          <p:cNvSpPr>
            <a:spLocks noGrp="1"/>
          </p:cNvSpPr>
          <p:nvPr>
            <p:ph type="body" idx="1"/>
          </p:nvPr>
        </p:nvSpPr>
        <p:spPr/>
        <p:txBody>
          <a:bodyPr/>
          <a:lstStyle/>
          <a:p>
            <a:r>
              <a:rPr lang="en-US" dirty="0"/>
              <a:t>We now reach the result of Scenario 2.</a:t>
            </a:r>
          </a:p>
          <a:p>
            <a:endParaRPr lang="en-US" dirty="0"/>
          </a:p>
          <a:p>
            <a:r>
              <a:rPr lang="en-US" dirty="0"/>
              <a:t>The meanings are now not only clear, but also computationally actionable. Amir can query for dataset columns that are mapped to the meaning he needs: biological sex, represented here as HRIO’s Sex.</a:t>
            </a:r>
          </a:p>
          <a:p>
            <a:endParaRPr lang="en-US" dirty="0"/>
          </a:p>
          <a:p>
            <a:r>
              <a:rPr lang="en-US" dirty="0"/>
              <a:t>In this example, the query returns the NPR Demographic Extract, because its column is mapped to the biological sex meaning.</a:t>
            </a:r>
          </a:p>
          <a:p>
            <a:endParaRPr lang="en-US" dirty="0"/>
          </a:p>
          <a:p>
            <a:r>
              <a:rPr lang="en-US" dirty="0"/>
              <a:t>So, Amir no longer has to rely only on labels or manual inspection. He can use explicit, machine-readable semantic relations to identify the dataset that contains the right variable for his study.</a:t>
            </a:r>
            <a:endParaRPr lang="en-NL" dirty="0"/>
          </a:p>
        </p:txBody>
      </p:sp>
      <p:sp>
        <p:nvSpPr>
          <p:cNvPr id="4" name="Slide Number Placeholder 3">
            <a:extLst>
              <a:ext uri="{FF2B5EF4-FFF2-40B4-BE49-F238E27FC236}">
                <a16:creationId xmlns:a16="http://schemas.microsoft.com/office/drawing/2014/main" id="{8ECC4602-0AE5-E8AF-2688-A4E3913B463C}"/>
              </a:ext>
            </a:extLst>
          </p:cNvPr>
          <p:cNvSpPr>
            <a:spLocks noGrp="1"/>
          </p:cNvSpPr>
          <p:nvPr>
            <p:ph type="sldNum" sz="quarter" idx="5"/>
          </p:nvPr>
        </p:nvSpPr>
        <p:spPr/>
        <p:txBody>
          <a:bodyPr/>
          <a:lstStyle/>
          <a:p>
            <a:fld id="{4B725628-3A68-42F4-BA86-981817953149}" type="slidenum">
              <a:rPr lang="en-US" smtClean="0"/>
              <a:t>24</a:t>
            </a:fld>
            <a:endParaRPr lang="en-US" dirty="0"/>
          </a:p>
        </p:txBody>
      </p:sp>
    </p:spTree>
    <p:extLst>
      <p:ext uri="{BB962C8B-B14F-4D97-AF65-F5344CB8AC3E}">
        <p14:creationId xmlns:p14="http://schemas.microsoft.com/office/powerpoint/2010/main" val="190637381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4B725628-3A68-42F4-BA86-981817953149}" type="slidenum">
              <a:rPr lang="en-US" smtClean="0"/>
              <a:t>28</a:t>
            </a:fld>
            <a:endParaRPr lang="en-US" dirty="0"/>
          </a:p>
        </p:txBody>
      </p:sp>
    </p:spTree>
    <p:extLst>
      <p:ext uri="{BB962C8B-B14F-4D97-AF65-F5344CB8AC3E}">
        <p14:creationId xmlns:p14="http://schemas.microsoft.com/office/powerpoint/2010/main" val="19796478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9CD7B1-6460-0E26-A287-551926E9DF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9A0EBB-8F4E-AB55-D284-AB091522D3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D40CC5-BB87-83FA-196F-DC7E59D105D2}"/>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C2EF9D4F-4467-832E-2E48-FEBEB59D09D4}"/>
              </a:ext>
            </a:extLst>
          </p:cNvPr>
          <p:cNvSpPr>
            <a:spLocks noGrp="1"/>
          </p:cNvSpPr>
          <p:nvPr>
            <p:ph type="sldNum" sz="quarter" idx="5"/>
          </p:nvPr>
        </p:nvSpPr>
        <p:spPr/>
        <p:txBody>
          <a:bodyPr/>
          <a:lstStyle/>
          <a:p>
            <a:fld id="{4B725628-3A68-42F4-BA86-981817953149}" type="slidenum">
              <a:rPr lang="en-US" smtClean="0"/>
              <a:t>32</a:t>
            </a:fld>
            <a:endParaRPr lang="en-US" dirty="0"/>
          </a:p>
        </p:txBody>
      </p:sp>
    </p:spTree>
    <p:extLst>
      <p:ext uri="{BB962C8B-B14F-4D97-AF65-F5344CB8AC3E}">
        <p14:creationId xmlns:p14="http://schemas.microsoft.com/office/powerpoint/2010/main" val="95610775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CEEAF-674E-835F-E78C-9950851D25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85B965-88AB-69A0-7C7A-F7412BBFEC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D4113B-3897-E2FB-EA76-AFA9AA3DC9EC}"/>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6AA8CBFE-0A3F-FB8E-6A38-7804F1DA47E2}"/>
              </a:ext>
            </a:extLst>
          </p:cNvPr>
          <p:cNvSpPr>
            <a:spLocks noGrp="1"/>
          </p:cNvSpPr>
          <p:nvPr>
            <p:ph type="sldNum" sz="quarter" idx="5"/>
          </p:nvPr>
        </p:nvSpPr>
        <p:spPr/>
        <p:txBody>
          <a:bodyPr/>
          <a:lstStyle/>
          <a:p>
            <a:fld id="{4B725628-3A68-42F4-BA86-981817953149}" type="slidenum">
              <a:rPr lang="en-US" smtClean="0"/>
              <a:t>37</a:t>
            </a:fld>
            <a:endParaRPr lang="en-US" dirty="0"/>
          </a:p>
        </p:txBody>
      </p:sp>
    </p:spTree>
    <p:extLst>
      <p:ext uri="{BB962C8B-B14F-4D97-AF65-F5344CB8AC3E}">
        <p14:creationId xmlns:p14="http://schemas.microsoft.com/office/powerpoint/2010/main" val="368793497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4B725628-3A68-42F4-BA86-981817953149}" type="slidenum">
              <a:rPr lang="en-US" smtClean="0"/>
              <a:t>38</a:t>
            </a:fld>
            <a:endParaRPr lang="en-US" dirty="0"/>
          </a:p>
        </p:txBody>
      </p:sp>
    </p:spTree>
    <p:extLst>
      <p:ext uri="{BB962C8B-B14F-4D97-AF65-F5344CB8AC3E}">
        <p14:creationId xmlns:p14="http://schemas.microsoft.com/office/powerpoint/2010/main" val="95572485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6612E1-37C8-4ABC-BDE5-206A1C69F6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C421C0-4903-4AA4-CAC0-4E38C5ACF4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1B2E8C-3482-7A6C-030B-DB75C445BB9C}"/>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1F8958F7-DF48-B77B-E482-C7475B8B1A48}"/>
              </a:ext>
            </a:extLst>
          </p:cNvPr>
          <p:cNvSpPr>
            <a:spLocks noGrp="1"/>
          </p:cNvSpPr>
          <p:nvPr>
            <p:ph type="sldNum" sz="quarter" idx="5"/>
          </p:nvPr>
        </p:nvSpPr>
        <p:spPr/>
        <p:txBody>
          <a:bodyPr/>
          <a:lstStyle/>
          <a:p>
            <a:fld id="{4B725628-3A68-42F4-BA86-981817953149}" type="slidenum">
              <a:rPr lang="en-US" smtClean="0"/>
              <a:t>43</a:t>
            </a:fld>
            <a:endParaRPr lang="en-US" dirty="0"/>
          </a:p>
        </p:txBody>
      </p:sp>
    </p:spTree>
    <p:extLst>
      <p:ext uri="{BB962C8B-B14F-4D97-AF65-F5344CB8AC3E}">
        <p14:creationId xmlns:p14="http://schemas.microsoft.com/office/powerpoint/2010/main" val="70060482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US" dirty="0"/>
            </a:br>
            <a:r>
              <a:rPr lang="en-US" dirty="0"/>
              <a:t>## Amir’s story</a:t>
            </a:r>
            <a:br>
              <a:rPr lang="en-US" dirty="0"/>
            </a:br>
            <a:r>
              <a:rPr lang="en-US" dirty="0"/>
              <a:t>1. Scenario 1 — define the semantic space</a:t>
            </a:r>
            <a:br>
              <a:rPr lang="en-US" dirty="0"/>
            </a:br>
            <a:r>
              <a:rPr lang="en-US" dirty="0"/>
              <a:t>2. Scenario 2 — find which dataset implements the needed meaning</a:t>
            </a:r>
            <a:br>
              <a:rPr lang="en-US" dirty="0"/>
            </a:br>
            <a:r>
              <a:rPr lang="en-US" dirty="0"/>
              <a:t>3. Scenario 3 — inspect what a selected column means</a:t>
            </a:r>
            <a:br>
              <a:rPr lang="en-US" dirty="0"/>
            </a:br>
            <a:r>
              <a:rPr lang="en-US" dirty="0"/>
              <a:t>4. Scenario 4 — compare two selected columns</a:t>
            </a:r>
            <a:br>
              <a:rPr lang="en-US" dirty="0"/>
            </a:br>
            <a:r>
              <a:rPr lang="en-US" dirty="0"/>
              <a:t>5. Scenario 5 — assess reuse options around one selected concept</a:t>
            </a:r>
            <a:br>
              <a:rPr lang="en-US" dirty="0"/>
            </a:br>
            <a:br>
              <a:rPr lang="en-US" dirty="0"/>
            </a:br>
            <a:r>
              <a:rPr lang="en-US" dirty="0"/>
              <a:t>## Inge’s story</a:t>
            </a:r>
            <a:br>
              <a:rPr lang="en-US" dirty="0"/>
            </a:br>
            <a:r>
              <a:rPr lang="en-US" dirty="0"/>
              <a:t>6. Scenario 6 — validate one concept</a:t>
            </a:r>
            <a:br>
              <a:rPr lang="en-US" dirty="0"/>
            </a:br>
            <a:r>
              <a:rPr lang="en-US" dirty="0"/>
              <a:t>7. Scenario 7 — review all inconsistencies</a:t>
            </a:r>
            <a:br>
              <a:rPr lang="en-US" dirty="0"/>
            </a:br>
            <a:r>
              <a:rPr lang="en-US" dirty="0"/>
              <a:t>8. Scenario 8 — simulate consequences before publication</a:t>
            </a:r>
            <a:br>
              <a:rPr lang="en-US" dirty="0"/>
            </a:br>
            <a:br>
              <a:rPr lang="en-US" dirty="0"/>
            </a:br>
            <a:r>
              <a:rPr lang="en-US" dirty="0"/>
              <a:t>---</a:t>
            </a:r>
            <a:br>
              <a:rPr lang="en-US" dirty="0"/>
            </a:br>
            <a:br>
              <a:rPr lang="en-US" dirty="0"/>
            </a:br>
            <a:r>
              <a:rPr lang="en-US" dirty="0"/>
              <a:t># Short summary slide text</a:t>
            </a:r>
            <a:br>
              <a:rPr lang="en-US" dirty="0"/>
            </a:br>
            <a:br>
              <a:rPr lang="en-US" dirty="0"/>
            </a:br>
            <a:r>
              <a:rPr lang="en-US" dirty="0"/>
              <a:t>**Amir’s value:** </a:t>
            </a:r>
            <a:br>
              <a:rPr lang="en-US" dirty="0"/>
            </a:br>
            <a:r>
              <a:rPr lang="en-US" dirty="0"/>
              <a:t>The ontology helps Amir understand which dataset column means what, identify which dataset is fit for his study, and avoid merging variables that only look similar.</a:t>
            </a:r>
            <a:br>
              <a:rPr lang="en-US" dirty="0"/>
            </a:br>
            <a:br>
              <a:rPr lang="en-US" dirty="0"/>
            </a:br>
            <a:r>
              <a:rPr lang="en-US" dirty="0"/>
              <a:t>**Inge’s value:** </a:t>
            </a:r>
            <a:br>
              <a:rPr lang="en-US" dirty="0"/>
            </a:br>
            <a:r>
              <a:rPr lang="en-US" dirty="0"/>
              <a:t>The ontology helps Inge validate mappings, detect inconsistencies, and simulate the consequences of new alignments before they are published.</a:t>
            </a:r>
            <a:br>
              <a:rPr lang="en-US" dirty="0"/>
            </a:br>
            <a:endParaRPr lang="en-NL" dirty="0"/>
          </a:p>
        </p:txBody>
      </p:sp>
      <p:sp>
        <p:nvSpPr>
          <p:cNvPr id="4" name="Slide Number Placeholder 3"/>
          <p:cNvSpPr>
            <a:spLocks noGrp="1"/>
          </p:cNvSpPr>
          <p:nvPr>
            <p:ph type="sldNum" sz="quarter" idx="5"/>
          </p:nvPr>
        </p:nvSpPr>
        <p:spPr/>
        <p:txBody>
          <a:bodyPr/>
          <a:lstStyle/>
          <a:p>
            <a:fld id="{4B725628-3A68-42F4-BA86-981817953149}" type="slidenum">
              <a:rPr lang="en-US" smtClean="0"/>
              <a:t>54</a:t>
            </a:fld>
            <a:endParaRPr lang="en-US" dirty="0"/>
          </a:p>
        </p:txBody>
      </p:sp>
    </p:spTree>
    <p:extLst>
      <p:ext uri="{BB962C8B-B14F-4D97-AF65-F5344CB8AC3E}">
        <p14:creationId xmlns:p14="http://schemas.microsoft.com/office/powerpoint/2010/main" val="271478564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4B725628-3A68-42F4-BA86-981817953149}" type="slidenum">
              <a:rPr lang="en-US" smtClean="0"/>
              <a:t>55</a:t>
            </a:fld>
            <a:endParaRPr lang="en-US" dirty="0"/>
          </a:p>
        </p:txBody>
      </p:sp>
    </p:spTree>
    <p:extLst>
      <p:ext uri="{BB962C8B-B14F-4D97-AF65-F5344CB8AC3E}">
        <p14:creationId xmlns:p14="http://schemas.microsoft.com/office/powerpoint/2010/main" val="133867951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 BE DONE.</a:t>
            </a:r>
            <a:endParaRPr lang="en-NL" dirty="0"/>
          </a:p>
          <a:p>
            <a:endParaRPr lang="en-NL" dirty="0"/>
          </a:p>
        </p:txBody>
      </p:sp>
      <p:sp>
        <p:nvSpPr>
          <p:cNvPr id="4" name="Slide Number Placeholder 3"/>
          <p:cNvSpPr>
            <a:spLocks noGrp="1"/>
          </p:cNvSpPr>
          <p:nvPr>
            <p:ph type="sldNum" sz="quarter" idx="5"/>
          </p:nvPr>
        </p:nvSpPr>
        <p:spPr/>
        <p:txBody>
          <a:bodyPr/>
          <a:lstStyle/>
          <a:p>
            <a:fld id="{4B725628-3A68-42F4-BA86-981817953149}" type="slidenum">
              <a:rPr lang="en-US" smtClean="0"/>
              <a:t>66</a:t>
            </a:fld>
            <a:endParaRPr lang="en-US" dirty="0"/>
          </a:p>
        </p:txBody>
      </p:sp>
    </p:spTree>
    <p:extLst>
      <p:ext uri="{BB962C8B-B14F-4D97-AF65-F5344CB8AC3E}">
        <p14:creationId xmlns:p14="http://schemas.microsoft.com/office/powerpoint/2010/main" val="397590215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 BE DONE.</a:t>
            </a:r>
            <a:endParaRPr lang="en-NL" dirty="0"/>
          </a:p>
          <a:p>
            <a:endParaRPr lang="en-NL" dirty="0"/>
          </a:p>
        </p:txBody>
      </p:sp>
      <p:sp>
        <p:nvSpPr>
          <p:cNvPr id="4" name="Slide Number Placeholder 3"/>
          <p:cNvSpPr>
            <a:spLocks noGrp="1"/>
          </p:cNvSpPr>
          <p:nvPr>
            <p:ph type="sldNum" sz="quarter" idx="5"/>
          </p:nvPr>
        </p:nvSpPr>
        <p:spPr/>
        <p:txBody>
          <a:bodyPr/>
          <a:lstStyle/>
          <a:p>
            <a:fld id="{4B725628-3A68-42F4-BA86-981817953149}" type="slidenum">
              <a:rPr lang="en-US" smtClean="0"/>
              <a:t>67</a:t>
            </a:fld>
            <a:endParaRPr lang="en-US" dirty="0"/>
          </a:p>
        </p:txBody>
      </p:sp>
    </p:spTree>
    <p:extLst>
      <p:ext uri="{BB962C8B-B14F-4D97-AF65-F5344CB8AC3E}">
        <p14:creationId xmlns:p14="http://schemas.microsoft.com/office/powerpoint/2010/main" val="201277205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 BE DONE.</a:t>
            </a:r>
            <a:endParaRPr lang="en-NL" dirty="0"/>
          </a:p>
          <a:p>
            <a:endParaRPr lang="en-NL" dirty="0"/>
          </a:p>
        </p:txBody>
      </p:sp>
      <p:sp>
        <p:nvSpPr>
          <p:cNvPr id="4" name="Slide Number Placeholder 3"/>
          <p:cNvSpPr>
            <a:spLocks noGrp="1"/>
          </p:cNvSpPr>
          <p:nvPr>
            <p:ph type="sldNum" sz="quarter" idx="5"/>
          </p:nvPr>
        </p:nvSpPr>
        <p:spPr/>
        <p:txBody>
          <a:bodyPr/>
          <a:lstStyle/>
          <a:p>
            <a:fld id="{4B725628-3A68-42F4-BA86-981817953149}" type="slidenum">
              <a:rPr lang="en-US" smtClean="0"/>
              <a:t>68</a:t>
            </a:fld>
            <a:endParaRPr lang="en-US" dirty="0"/>
          </a:p>
        </p:txBody>
      </p:sp>
    </p:spTree>
    <p:extLst>
      <p:ext uri="{BB962C8B-B14F-4D97-AF65-F5344CB8AC3E}">
        <p14:creationId xmlns:p14="http://schemas.microsoft.com/office/powerpoint/2010/main" val="317576449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4B725628-3A68-42F4-BA86-981817953149}" type="slidenum">
              <a:rPr lang="en-US" smtClean="0"/>
              <a:t>69</a:t>
            </a:fld>
            <a:endParaRPr lang="en-US" dirty="0"/>
          </a:p>
        </p:txBody>
      </p:sp>
    </p:spTree>
    <p:extLst>
      <p:ext uri="{BB962C8B-B14F-4D97-AF65-F5344CB8AC3E}">
        <p14:creationId xmlns:p14="http://schemas.microsoft.com/office/powerpoint/2010/main" val="17944883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NL"/>
          </a:p>
        </p:txBody>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NL"/>
          </a:p>
        </p:txBody>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atin typeface="Aptos" panose="020B0004020202020204" pitchFamily="34" charset="0"/>
              </a:defRPr>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latin typeface="Aptos" panose="020B0004020202020204" pitchFamily="34" charset="0"/>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a:xfrm>
            <a:off x="1024129" y="6470704"/>
            <a:ext cx="2154143" cy="274320"/>
          </a:xfrm>
          <a:prstGeom prst="rect">
            <a:avLst/>
          </a:prstGeom>
        </p:spPr>
        <p:txBody>
          <a:bodyPr/>
          <a:lstStyle>
            <a:lvl1pPr algn="l">
              <a:defRPr>
                <a:latin typeface="Aptos" panose="020B0004020202020204" pitchFamily="34" charset="0"/>
              </a:defRPr>
            </a:lvl1pPr>
          </a:lstStyle>
          <a:p>
            <a:fld id="{99FE1E47-52F5-462E-80D5-1AFAA75EACED}" type="datetime1">
              <a:rPr lang="en-US" smtClean="0"/>
              <a:pPr/>
              <a:t>4/24/2026</a:t>
            </a:fld>
            <a:endParaRPr lang="en-US" dirty="0"/>
          </a:p>
        </p:txBody>
      </p:sp>
      <p:sp>
        <p:nvSpPr>
          <p:cNvPr id="5" name="Footer Placeholder 4"/>
          <p:cNvSpPr>
            <a:spLocks noGrp="1"/>
          </p:cNvSpPr>
          <p:nvPr>
            <p:ph type="ftr" sz="quarter" idx="11"/>
          </p:nvPr>
        </p:nvSpPr>
        <p:spPr/>
        <p:txBody>
          <a:bodyPr/>
          <a:lstStyle>
            <a:lvl1pPr>
              <a:defRPr>
                <a:latin typeface="Aptos" panose="020B0004020202020204" pitchFamily="34" charset="0"/>
              </a:defRPr>
            </a:lvl1pPr>
          </a:lstStyle>
          <a:p>
            <a:endParaRPr lang="en-US" dirty="0"/>
          </a:p>
        </p:txBody>
      </p:sp>
      <p:sp>
        <p:nvSpPr>
          <p:cNvPr id="6" name="Slide Number Placeholder 5"/>
          <p:cNvSpPr>
            <a:spLocks noGrp="1"/>
          </p:cNvSpPr>
          <p:nvPr>
            <p:ph type="sldNum" sz="quarter" idx="12"/>
          </p:nvPr>
        </p:nvSpPr>
        <p:spPr>
          <a:xfrm>
            <a:off x="10837333" y="6470704"/>
            <a:ext cx="973667" cy="274320"/>
          </a:xfrm>
          <a:prstGeom prst="rect">
            <a:avLst/>
          </a:prstGeom>
        </p:spPr>
        <p:txBody>
          <a:bodyPr/>
          <a:lstStyle>
            <a:lvl1pPr>
              <a:defRPr>
                <a:latin typeface="Aptos" panose="020B0004020202020204" pitchFamily="34" charset="0"/>
              </a:defRPr>
            </a:lvl1pPr>
          </a:lstStyle>
          <a:p>
            <a:fld id="{4FAB73BC-B049-4115-A692-8D63A059BFB8}" type="slidenum">
              <a:rPr lang="en-US" smtClean="0"/>
              <a:pPr/>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95327" y="386001"/>
            <a:ext cx="9153523" cy="929259"/>
          </a:xfrm>
        </p:spPr>
        <p:txBody>
          <a:bodyPr>
            <a:noAutofit/>
          </a:bodyPr>
          <a:lstStyle>
            <a:lvl1pPr>
              <a:lnSpc>
                <a:spcPct val="100000"/>
              </a:lnSpc>
              <a:defRPr sz="4000" cap="small" baseline="0">
                <a:latin typeface="Aptos" panose="020B0004020202020204" pitchFamily="34" charset="0"/>
              </a:defRPr>
            </a:lvl1pPr>
          </a:lstStyle>
          <a:p>
            <a:r>
              <a:rPr lang="en-US"/>
              <a:t>Click to edit Master title style</a:t>
            </a:r>
            <a:endParaRPr lang="en-US" dirty="0"/>
          </a:p>
        </p:txBody>
      </p:sp>
      <p:sp>
        <p:nvSpPr>
          <p:cNvPr id="3" name="Content Placeholder 2"/>
          <p:cNvSpPr>
            <a:spLocks noGrp="1"/>
          </p:cNvSpPr>
          <p:nvPr>
            <p:ph idx="1"/>
          </p:nvPr>
        </p:nvSpPr>
        <p:spPr>
          <a:xfrm>
            <a:off x="695325" y="1628776"/>
            <a:ext cx="10801349" cy="4321174"/>
          </a:xfrm>
        </p:spPr>
        <p:txBody>
          <a:bodyPr>
            <a:normAutofit/>
          </a:bodyPr>
          <a:lstStyle>
            <a:lvl1pPr marL="91440" indent="360000">
              <a:lnSpc>
                <a:spcPct val="105000"/>
              </a:lnSpc>
              <a:spcBef>
                <a:spcPts val="600"/>
              </a:spcBef>
              <a:spcAft>
                <a:spcPts val="600"/>
              </a:spcAft>
              <a:buClr>
                <a:schemeClr val="tx1"/>
              </a:buClr>
              <a:buSzPct val="115000"/>
              <a:buFont typeface="Arial" panose="020B0604020202020204" pitchFamily="34" charset="0"/>
              <a:buChar char="•"/>
              <a:defRPr sz="2400">
                <a:latin typeface="Aptos" panose="020B0004020202020204" pitchFamily="34" charset="0"/>
              </a:defRPr>
            </a:lvl1pPr>
            <a:lvl2pPr marL="265176" indent="360000">
              <a:lnSpc>
                <a:spcPct val="105000"/>
              </a:lnSpc>
              <a:spcBef>
                <a:spcPts val="600"/>
              </a:spcBef>
              <a:spcAft>
                <a:spcPts val="600"/>
              </a:spcAft>
              <a:buClr>
                <a:schemeClr val="tx1"/>
              </a:buClr>
              <a:buSzPct val="115000"/>
              <a:buFont typeface="Arial" panose="020B0604020202020204" pitchFamily="34" charset="0"/>
              <a:buChar char="•"/>
              <a:defRPr sz="2000">
                <a:latin typeface="Aptos" panose="020B0004020202020204" pitchFamily="34" charset="0"/>
              </a:defRPr>
            </a:lvl2pPr>
            <a:lvl3pPr marL="448056" indent="360000">
              <a:lnSpc>
                <a:spcPct val="105000"/>
              </a:lnSpc>
              <a:spcBef>
                <a:spcPts val="600"/>
              </a:spcBef>
              <a:spcAft>
                <a:spcPts val="600"/>
              </a:spcAft>
              <a:buClr>
                <a:schemeClr val="tx1"/>
              </a:buClr>
              <a:buSzPct val="115000"/>
              <a:buFont typeface="Arial" panose="020B0604020202020204" pitchFamily="34" charset="0"/>
              <a:buChar char="•"/>
              <a:defRPr sz="1600">
                <a:latin typeface="Aptos" panose="020B0004020202020204" pitchFamily="34" charset="0"/>
              </a:defRPr>
            </a:lvl3pPr>
            <a:lvl4pPr marL="594360" indent="360000">
              <a:lnSpc>
                <a:spcPct val="105000"/>
              </a:lnSpc>
              <a:spcBef>
                <a:spcPts val="600"/>
              </a:spcBef>
              <a:spcAft>
                <a:spcPts val="600"/>
              </a:spcAft>
              <a:buClr>
                <a:schemeClr val="tx1"/>
              </a:buClr>
              <a:buSzPct val="115000"/>
              <a:buFont typeface="Arial" panose="020B0604020202020204" pitchFamily="34" charset="0"/>
              <a:buChar char="•"/>
              <a:defRPr sz="1600">
                <a:latin typeface="Aptos" panose="020B0004020202020204" pitchFamily="34" charset="0"/>
              </a:defRPr>
            </a:lvl4pPr>
            <a:lvl5pPr marL="777240" indent="360000">
              <a:lnSpc>
                <a:spcPct val="105000"/>
              </a:lnSpc>
              <a:spcBef>
                <a:spcPts val="600"/>
              </a:spcBef>
              <a:spcAft>
                <a:spcPts val="0"/>
              </a:spcAft>
              <a:buClr>
                <a:schemeClr val="tx1"/>
              </a:buClr>
              <a:buSzPct val="115000"/>
              <a:buFont typeface="Arial" panose="020B0604020202020204" pitchFamily="34" charset="0"/>
              <a:buChar char="•"/>
              <a:defRPr sz="1600">
                <a:latin typeface="Aptos"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a:xfrm>
            <a:off x="11580875" y="6443841"/>
            <a:ext cx="505587" cy="274320"/>
          </a:xfrm>
          <a:prstGeom prst="rect">
            <a:avLst/>
          </a:prstGeom>
        </p:spPr>
        <p:txBody>
          <a:bodyPr anchor="ctr"/>
          <a:lstStyle>
            <a:lvl1pPr algn="ctr">
              <a:defRPr>
                <a:latin typeface="Aptos" panose="020B0004020202020204" pitchFamily="34" charset="0"/>
              </a:defRPr>
            </a:lvl1pPr>
          </a:lstStyle>
          <a:p>
            <a:fld id="{4FAB73BC-B049-4115-A692-8D63A059BFB8}" type="slidenum">
              <a:rPr lang="en-US" smtClean="0"/>
              <a:pPr/>
              <a:t>‹#›</a:t>
            </a:fld>
            <a:endParaRPr lang="en-US" dirty="0"/>
          </a:p>
        </p:txBody>
      </p:sp>
      <p:cxnSp>
        <p:nvCxnSpPr>
          <p:cNvPr id="8" name="Straight Connector 7">
            <a:extLst>
              <a:ext uri="{FF2B5EF4-FFF2-40B4-BE49-F238E27FC236}">
                <a16:creationId xmlns:a16="http://schemas.microsoft.com/office/drawing/2014/main" id="{34F72B13-EBFD-FC3A-4BCC-37D345ED1AC1}"/>
              </a:ext>
            </a:extLst>
          </p:cNvPr>
          <p:cNvCxnSpPr>
            <a:cxnSpLocks/>
          </p:cNvCxnSpPr>
          <p:nvPr userDrawn="1"/>
        </p:nvCxnSpPr>
        <p:spPr>
          <a:xfrm>
            <a:off x="557403" y="383095"/>
            <a:ext cx="0" cy="940880"/>
          </a:xfrm>
          <a:prstGeom prst="line">
            <a:avLst/>
          </a:prstGeom>
          <a:ln w="19050"/>
        </p:spPr>
        <p:style>
          <a:lnRef idx="1">
            <a:schemeClr val="accent1"/>
          </a:lnRef>
          <a:fillRef idx="0">
            <a:schemeClr val="accent1"/>
          </a:fillRef>
          <a:effectRef idx="0">
            <a:schemeClr val="accent1"/>
          </a:effectRef>
          <a:fontRef idx="minor">
            <a:schemeClr val="tx1"/>
          </a:fontRef>
        </p:style>
      </p:cxnSp>
      <p:pic>
        <p:nvPicPr>
          <p:cNvPr id="10" name="Graphic 9">
            <a:extLst>
              <a:ext uri="{FF2B5EF4-FFF2-40B4-BE49-F238E27FC236}">
                <a16:creationId xmlns:a16="http://schemas.microsoft.com/office/drawing/2014/main" id="{E6F258B6-76A2-C454-164F-C3F41A9FF0C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914766" y="78400"/>
            <a:ext cx="2200271" cy="772230"/>
          </a:xfrm>
          <a:prstGeom prst="rect">
            <a:avLst/>
          </a:prstGeom>
        </p:spPr>
      </p:pic>
      <p:sp>
        <p:nvSpPr>
          <p:cNvPr id="1552" name="TextBox 1551">
            <a:extLst>
              <a:ext uri="{FF2B5EF4-FFF2-40B4-BE49-F238E27FC236}">
                <a16:creationId xmlns:a16="http://schemas.microsoft.com/office/drawing/2014/main" id="{FE1E9B33-2745-F48B-3BF2-2014C9BD3E07}"/>
              </a:ext>
            </a:extLst>
          </p:cNvPr>
          <p:cNvSpPr txBox="1"/>
          <p:nvPr userDrawn="1"/>
        </p:nvSpPr>
        <p:spPr>
          <a:xfrm>
            <a:off x="695325" y="6304002"/>
            <a:ext cx="4435830" cy="553998"/>
          </a:xfrm>
          <a:prstGeom prst="rect">
            <a:avLst/>
          </a:prstGeom>
          <a:noFill/>
        </p:spPr>
        <p:txBody>
          <a:bodyPr wrap="none" rtlCol="0">
            <a:spAutoFit/>
          </a:bodyPr>
          <a:lstStyle/>
          <a:p>
            <a:pPr algn="l"/>
            <a:r>
              <a:rPr lang="en-US" sz="1000" b="1" i="0" dirty="0">
                <a:solidFill>
                  <a:srgbClr val="15467B"/>
                </a:solidFill>
                <a:latin typeface="Atkinson Hyperlegible Mono" panose="02000009000000000000" pitchFamily="49" charset="0"/>
                <a:cs typeface="Aharoni" panose="020F0502020204030204" pitchFamily="2" charset="-79"/>
              </a:rPr>
              <a:t>Health-RI</a:t>
            </a:r>
          </a:p>
          <a:p>
            <a:pPr algn="l"/>
            <a:r>
              <a:rPr lang="en-US" sz="1000" b="1" i="0" dirty="0">
                <a:solidFill>
                  <a:srgbClr val="15467B"/>
                </a:solidFill>
                <a:latin typeface="Atkinson Hyperlegible Mono" panose="02000009000000000000" pitchFamily="49" charset="0"/>
                <a:cs typeface="Aharoni" panose="020F0502020204030204" pitchFamily="2" charset="-79"/>
              </a:rPr>
              <a:t>Semantic Interoperability Initiative</a:t>
            </a:r>
          </a:p>
          <a:p>
            <a:pPr algn="l"/>
            <a:r>
              <a:rPr lang="en-US" sz="1000" b="0" i="0" dirty="0">
                <a:solidFill>
                  <a:srgbClr val="15467B"/>
                </a:solidFill>
                <a:latin typeface="Atkinson Hyperlegible Mono" panose="02000009000000000000" pitchFamily="49" charset="0"/>
                <a:cs typeface="Aharoni" panose="020F0502020204030204" pitchFamily="2" charset="-79"/>
              </a:rPr>
              <a:t>https://w3id.org/health-ri/semantic-interoperability</a:t>
            </a:r>
            <a:endParaRPr lang="en-NL" sz="1000" b="0" i="0" dirty="0">
              <a:solidFill>
                <a:srgbClr val="15467B"/>
              </a:solidFill>
              <a:latin typeface="Atkinson Hyperlegible Mono" panose="02000009000000000000" pitchFamily="49" charset="0"/>
              <a:cs typeface="Aharoni" panose="020F0502020204030204" pitchFamily="2" charset="-79"/>
            </a:endParaRPr>
          </a:p>
        </p:txBody>
      </p:sp>
      <p:pic>
        <p:nvPicPr>
          <p:cNvPr id="1553" name="Picture 1552">
            <a:extLst>
              <a:ext uri="{FF2B5EF4-FFF2-40B4-BE49-F238E27FC236}">
                <a16:creationId xmlns:a16="http://schemas.microsoft.com/office/drawing/2014/main" id="{F374156B-0C5B-3EB0-196C-219F6B055071}"/>
              </a:ext>
            </a:extLst>
          </p:cNvPr>
          <p:cNvPicPr>
            <a:picLocks noChangeAspect="1"/>
          </p:cNvPicPr>
          <p:nvPr userDrawn="1"/>
        </p:nvPicPr>
        <p:blipFill>
          <a:blip r:embed="rId3">
            <a:clrChange>
              <a:clrFrom>
                <a:srgbClr val="FFFFFF"/>
              </a:clrFrom>
              <a:clrTo>
                <a:srgbClr val="FFFFFF">
                  <a:alpha val="0"/>
                </a:srgbClr>
              </a:clrTo>
            </a:clrChange>
            <a:duotone>
              <a:schemeClr val="accent1">
                <a:shade val="45000"/>
                <a:satMod val="135000"/>
              </a:schemeClr>
              <a:prstClr val="white"/>
            </a:duotone>
          </a:blip>
          <a:stretch>
            <a:fillRect/>
          </a:stretch>
        </p:blipFill>
        <p:spPr>
          <a:xfrm>
            <a:off x="12573" y="6176772"/>
            <a:ext cx="682752" cy="681228"/>
          </a:xfrm>
          <a:prstGeom prst="rect">
            <a:avLst/>
          </a:prstGeom>
        </p:spPr>
      </p:pic>
    </p:spTree>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438" userDrawn="1">
          <p15:clr>
            <a:srgbClr val="FBAE40"/>
          </p15:clr>
        </p15:guide>
        <p15:guide id="4" pos="7242" userDrawn="1">
          <p15:clr>
            <a:srgbClr val="FBAE40"/>
          </p15:clr>
        </p15:guide>
        <p15:guide id="5" orient="horz" pos="1026" userDrawn="1">
          <p15:clr>
            <a:srgbClr val="FBAE40"/>
          </p15:clr>
        </p15:guide>
        <p15:guide id="6" orient="horz" pos="3748" userDrawn="1">
          <p15:clr>
            <a:srgbClr val="FBAE40"/>
          </p15:clr>
        </p15:guide>
        <p15:guide id="7" orient="horz" pos="2387" userDrawn="1">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Aptos" panose="020B0004020202020204" pitchFamily="34" charset="0"/>
              </a:defRPr>
            </a:lvl1pPr>
          </a:lstStyle>
          <a:p>
            <a:fld id="{59AB8727-0C24-4D04-B5CC-46C87A542BBE}" type="datetime1">
              <a:rPr lang="en-US" smtClean="0"/>
              <a:pPr/>
              <a:t>4/24/2026</a:t>
            </a:fld>
            <a:endParaRPr lang="en-US" dirty="0"/>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Aptos" panose="020B0004020202020204" pitchFamily="34" charset="0"/>
              </a:defRPr>
            </a:lvl1pPr>
          </a:lstStyle>
          <a:p>
            <a:endParaRPr lang="en-US" dirty="0"/>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1" name="Picture 10" descr="A close-up of a logo&#10;&#10;AI-generated content may be incorrect.">
            <a:extLst>
              <a:ext uri="{FF2B5EF4-FFF2-40B4-BE49-F238E27FC236}">
                <a16:creationId xmlns:a16="http://schemas.microsoft.com/office/drawing/2014/main" id="{AA2AD037-21F9-ABBE-4E61-3C198569BE7D}"/>
              </a:ext>
            </a:extLst>
          </p:cNvPr>
          <p:cNvPicPr>
            <a:picLocks noChangeAspect="1"/>
          </p:cNvPicPr>
          <p:nvPr userDrawn="1"/>
        </p:nvPicPr>
        <p:blipFill>
          <a:blip r:embed="rId4"/>
          <a:stretch>
            <a:fillRect/>
          </a:stretch>
        </p:blipFill>
        <p:spPr>
          <a:xfrm>
            <a:off x="216117" y="6204748"/>
            <a:ext cx="2717584" cy="540275"/>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Lst>
  <p:hf hdr="0" ftr="0" dt="0"/>
  <p:txStyles>
    <p:titleStyle>
      <a:lvl1pPr algn="l" defTabSz="914400" rtl="0" eaLnBrk="1" latinLnBrk="0" hangingPunct="1">
        <a:lnSpc>
          <a:spcPct val="80000"/>
        </a:lnSpc>
        <a:spcBef>
          <a:spcPct val="0"/>
        </a:spcBef>
        <a:buNone/>
        <a:defRPr sz="4000" kern="1200" cap="all" spc="100" baseline="0">
          <a:solidFill>
            <a:schemeClr val="tx1">
              <a:lumMod val="95000"/>
              <a:lumOff val="5000"/>
            </a:schemeClr>
          </a:solidFill>
          <a:latin typeface="Aptos" panose="020B0004020202020204" pitchFamily="34" charset="0"/>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Aptos" panose="020B0004020202020204" pitchFamily="34" charset="0"/>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Aptos" panose="020B0004020202020204" pitchFamily="34" charset="0"/>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Aptos" panose="020B0004020202020204" pitchFamily="34" charset="0"/>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Aptos" panose="020B0004020202020204" pitchFamily="34" charset="0"/>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Aptos" panose="020B0004020202020204" pitchFamily="34" charset="0"/>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6.png"/><Relationship Id="rId7" Type="http://schemas.openxmlformats.org/officeDocument/2006/relationships/diagramColors" Target="../diagrams/colors1.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7.png"/><Relationship Id="rId7"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1.png"/><Relationship Id="rId5" Type="http://schemas.microsoft.com/office/2007/relationships/hdphoto" Target="../media/hdphoto1.wdp"/><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7.png"/><Relationship Id="rId7"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0.sv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24.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11.png"/><Relationship Id="rId5" Type="http://schemas.microsoft.com/office/2007/relationships/hdphoto" Target="../media/hdphoto1.wdp"/><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11.png"/><Relationship Id="rId5" Type="http://schemas.microsoft.com/office/2007/relationships/hdphoto" Target="../media/hdphoto1.wdp"/><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wav"/><Relationship Id="rId1" Type="http://schemas.microsoft.com/office/2007/relationships/media" Target="../media/media1.wav"/><Relationship Id="rId5" Type="http://schemas.openxmlformats.org/officeDocument/2006/relationships/image" Target="../media/image28.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slideLayout" Target="../slideLayouts/slideLayout2.xml"/><Relationship Id="rId7" Type="http://schemas.openxmlformats.org/officeDocument/2006/relationships/image" Target="../media/image18.png"/><Relationship Id="rId2" Type="http://schemas.openxmlformats.org/officeDocument/2006/relationships/audio" Target="../media/media2.wav"/><Relationship Id="rId1" Type="http://schemas.microsoft.com/office/2007/relationships/media" Target="../media/media2.wav"/><Relationship Id="rId6" Type="http://schemas.openxmlformats.org/officeDocument/2006/relationships/image" Target="../media/image17.png"/><Relationship Id="rId5" Type="http://schemas.openxmlformats.org/officeDocument/2006/relationships/image" Target="../media/image16.png"/><Relationship Id="rId10" Type="http://schemas.openxmlformats.org/officeDocument/2006/relationships/image" Target="../media/image28.png"/><Relationship Id="rId4" Type="http://schemas.openxmlformats.org/officeDocument/2006/relationships/notesSlide" Target="../notesSlides/notesSlide23.xml"/><Relationship Id="rId9" Type="http://schemas.openxmlformats.org/officeDocument/2006/relationships/image" Target="../media/image20.sv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3.wav"/><Relationship Id="rId1" Type="http://schemas.microsoft.com/office/2007/relationships/media" Target="../media/media3.wav"/><Relationship Id="rId5" Type="http://schemas.openxmlformats.org/officeDocument/2006/relationships/image" Target="../media/image28.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11.png"/><Relationship Id="rId4" Type="http://schemas.microsoft.com/office/2007/relationships/hdphoto" Target="../media/hdphoto1.wdp"/></Relationships>
</file>

<file path=ppt/slides/_rels/slide3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11.png"/><Relationship Id="rId4" Type="http://schemas.microsoft.com/office/2007/relationships/hdphoto" Target="../media/hdphoto1.wdp"/></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11.png"/><Relationship Id="rId4" Type="http://schemas.microsoft.com/office/2007/relationships/hdphoto" Target="../media/hdphoto1.wdp"/></Relationships>
</file>

<file path=ppt/slides/_rels/slide3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11.png"/><Relationship Id="rId5" Type="http://schemas.microsoft.com/office/2007/relationships/hdphoto" Target="../media/hdphoto1.wdp"/><Relationship Id="rId4" Type="http://schemas.openxmlformats.org/officeDocument/2006/relationships/image" Target="../media/image9.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11.png"/><Relationship Id="rId4" Type="http://schemas.microsoft.com/office/2007/relationships/hdphoto" Target="../media/hdphoto1.wdp"/></Relationships>
</file>

<file path=ppt/slides/_rels/slide4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18.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11.png"/><Relationship Id="rId4" Type="http://schemas.microsoft.com/office/2007/relationships/hdphoto" Target="../media/hdphoto1.wdp"/></Relationships>
</file>

<file path=ppt/slides/_rels/slide54.xml.rels><?xml version="1.0" encoding="UTF-8" standalone="yes"?>
<Relationships xmlns="http://schemas.openxmlformats.org/package/2006/relationships"><Relationship Id="rId8" Type="http://schemas.openxmlformats.org/officeDocument/2006/relationships/image" Target="../media/image30.svg"/><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5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5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11.png"/><Relationship Id="rId4" Type="http://schemas.microsoft.com/office/2007/relationships/hdphoto" Target="../media/hdphoto1.wdp"/></Relationships>
</file>

<file path=ppt/slides/_rels/slide5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11.png"/><Relationship Id="rId4" Type="http://schemas.microsoft.com/office/2007/relationships/hdphoto" Target="../media/hdphoto1.wdp"/></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25.sv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diagramLayout" Target="../diagrams/layout6.xml"/><Relationship Id="rId7" Type="http://schemas.openxmlformats.org/officeDocument/2006/relationships/image" Target="../media/image32.svg"/><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6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5.jpg"/><Relationship Id="rId1" Type="http://schemas.openxmlformats.org/officeDocument/2006/relationships/slideLayout" Target="../slideLayouts/slideLayout1.xml"/><Relationship Id="rId4" Type="http://schemas.openxmlformats.org/officeDocument/2006/relationships/image" Target="../media/image33.png"/></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microsoft.com/office/2007/relationships/hdphoto" Target="../media/hdphoto2.wdp"/></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2FDF0794-1B86-42B2-B8C7-F60123E638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74" y="0"/>
            <a:ext cx="12188726" cy="68589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Picture 4">
            <a:extLst>
              <a:ext uri="{FF2B5EF4-FFF2-40B4-BE49-F238E27FC236}">
                <a16:creationId xmlns:a16="http://schemas.microsoft.com/office/drawing/2014/main" id="{230BD1B1-AA22-48F1-B3ED-579CD284605D}"/>
              </a:ext>
              <a:ext uri="{C183D7F6-B498-43B3-948B-1728B52AA6E4}">
                <adec:decorative xmlns:adec="http://schemas.microsoft.com/office/drawing/2017/decorative" val="1"/>
              </a:ext>
            </a:extLst>
          </p:cNvPr>
          <p:cNvPicPr>
            <a:picLocks noChangeAspect="1"/>
          </p:cNvPicPr>
          <p:nvPr/>
        </p:nvPicPr>
        <p:blipFill rotWithShape="1">
          <a:blip r:embed="rId3"/>
          <a:srcRect r="52444" b="-1"/>
          <a:stretch/>
        </p:blipFill>
        <p:spPr>
          <a:xfrm>
            <a:off x="20" y="975"/>
            <a:ext cx="12191980" cy="6858000"/>
          </a:xfrm>
          <a:prstGeom prst="rect">
            <a:avLst/>
          </a:prstGeom>
        </p:spPr>
      </p:pic>
      <p:sp>
        <p:nvSpPr>
          <p:cNvPr id="21" name="Rectangle 20">
            <a:extLst>
              <a:ext uri="{FF2B5EF4-FFF2-40B4-BE49-F238E27FC236}">
                <a16:creationId xmlns:a16="http://schemas.microsoft.com/office/drawing/2014/main" id="{EAA48FC5-3C83-4F1B-BC33-DF0B588F83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96786" y="3064931"/>
            <a:ext cx="8295215" cy="2488568"/>
          </a:xfrm>
          <a:prstGeom prst="rect">
            <a:avLst/>
          </a:prstGeom>
          <a:solidFill>
            <a:srgbClr val="000001">
              <a:alpha val="7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E3D84FB-5D02-47D2-98FD-4F01A02E2AEA}"/>
              </a:ext>
            </a:extLst>
          </p:cNvPr>
          <p:cNvSpPr>
            <a:spLocks noGrp="1"/>
          </p:cNvSpPr>
          <p:nvPr>
            <p:ph type="ctrTitle"/>
          </p:nvPr>
        </p:nvSpPr>
        <p:spPr>
          <a:xfrm>
            <a:off x="4309349" y="3429000"/>
            <a:ext cx="7501651" cy="1090938"/>
          </a:xfrm>
        </p:spPr>
        <p:txBody>
          <a:bodyPr anchor="ctr">
            <a:noAutofit/>
          </a:bodyPr>
          <a:lstStyle/>
          <a:p>
            <a:r>
              <a:rPr lang="en-US" sz="3200" dirty="0">
                <a:solidFill>
                  <a:srgbClr val="FFFFFF"/>
                </a:solidFill>
              </a:rPr>
              <a:t>Applied Use Cases of </a:t>
            </a:r>
            <a:br>
              <a:rPr lang="en-US" sz="3200" dirty="0">
                <a:solidFill>
                  <a:srgbClr val="FFFFFF"/>
                </a:solidFill>
              </a:rPr>
            </a:br>
            <a:r>
              <a:rPr lang="en-US" sz="3200" b="1" dirty="0">
                <a:solidFill>
                  <a:srgbClr val="FFFFFF"/>
                </a:solidFill>
              </a:rPr>
              <a:t>the Health-RI Semantic Interoperability Initiative</a:t>
            </a:r>
          </a:p>
        </p:txBody>
      </p:sp>
      <p:sp>
        <p:nvSpPr>
          <p:cNvPr id="3" name="Subtitle 2">
            <a:extLst>
              <a:ext uri="{FF2B5EF4-FFF2-40B4-BE49-F238E27FC236}">
                <a16:creationId xmlns:a16="http://schemas.microsoft.com/office/drawing/2014/main" id="{E9F6641D-ADF3-40BD-9BA3-E740E77C8826}"/>
              </a:ext>
            </a:extLst>
          </p:cNvPr>
          <p:cNvSpPr>
            <a:spLocks noGrp="1"/>
          </p:cNvSpPr>
          <p:nvPr>
            <p:ph type="subTitle" idx="1"/>
          </p:nvPr>
        </p:nvSpPr>
        <p:spPr>
          <a:xfrm>
            <a:off x="4309349" y="4779313"/>
            <a:ext cx="7501650" cy="514816"/>
          </a:xfrm>
        </p:spPr>
        <p:txBody>
          <a:bodyPr anchor="t">
            <a:normAutofit fontScale="70000" lnSpcReduction="20000"/>
          </a:bodyPr>
          <a:lstStyle/>
          <a:p>
            <a:pPr algn="r"/>
            <a:r>
              <a:rPr lang="en-US" sz="2000" i="1" dirty="0">
                <a:solidFill>
                  <a:srgbClr val="FFFFFF"/>
                </a:solidFill>
              </a:rPr>
              <a:t>Pedro Paulo F. Barcelos,</a:t>
            </a:r>
            <a:r>
              <a:rPr lang="en-US" sz="2000" dirty="0">
                <a:solidFill>
                  <a:srgbClr val="FFFFFF"/>
                </a:solidFill>
              </a:rPr>
              <a:t> </a:t>
            </a:r>
            <a:r>
              <a:rPr lang="en-US" sz="2000" i="1" dirty="0">
                <a:solidFill>
                  <a:srgbClr val="FFFFFF"/>
                </a:solidFill>
              </a:rPr>
              <a:t>Niek van </a:t>
            </a:r>
            <a:r>
              <a:rPr lang="en-US" sz="2000" i="1" dirty="0" err="1">
                <a:solidFill>
                  <a:srgbClr val="FFFFFF"/>
                </a:solidFill>
              </a:rPr>
              <a:t>Ulzen</a:t>
            </a:r>
            <a:r>
              <a:rPr lang="en-US" sz="2000" i="1" dirty="0">
                <a:solidFill>
                  <a:srgbClr val="FFFFFF"/>
                </a:solidFill>
              </a:rPr>
              <a:t>, Reinier Groeneveld, </a:t>
            </a:r>
          </a:p>
          <a:p>
            <a:pPr algn="r"/>
            <a:r>
              <a:rPr lang="en-US" sz="2000" i="1" dirty="0">
                <a:solidFill>
                  <a:srgbClr val="FFFFFF"/>
                </a:solidFill>
              </a:rPr>
              <a:t>Ana Konrad, Douwe </a:t>
            </a:r>
            <a:r>
              <a:rPr lang="en-US" sz="2000" i="1" dirty="0" err="1">
                <a:solidFill>
                  <a:srgbClr val="FFFFFF"/>
                </a:solidFill>
              </a:rPr>
              <a:t>Spaanderman</a:t>
            </a:r>
            <a:r>
              <a:rPr lang="en-US" sz="2000" i="1" dirty="0">
                <a:solidFill>
                  <a:srgbClr val="FFFFFF"/>
                </a:solidFill>
              </a:rPr>
              <a:t>, and </a:t>
            </a:r>
            <a:r>
              <a:rPr lang="en-US" sz="2000" i="1" dirty="0" err="1">
                <a:solidFill>
                  <a:srgbClr val="FFFFFF"/>
                </a:solidFill>
              </a:rPr>
              <a:t>Shuxin</a:t>
            </a:r>
            <a:r>
              <a:rPr lang="en-US" sz="2000" i="1" dirty="0">
                <a:solidFill>
                  <a:srgbClr val="FFFFFF"/>
                </a:solidFill>
              </a:rPr>
              <a:t> Zhang</a:t>
            </a:r>
          </a:p>
          <a:p>
            <a:pPr algn="r"/>
            <a:endParaRPr lang="en-US" sz="2000" i="1" dirty="0">
              <a:solidFill>
                <a:srgbClr val="FFFFFF"/>
              </a:solidFill>
            </a:endParaRPr>
          </a:p>
        </p:txBody>
      </p:sp>
      <p:cxnSp>
        <p:nvCxnSpPr>
          <p:cNvPr id="23" name="Straight Connector 22">
            <a:extLst>
              <a:ext uri="{FF2B5EF4-FFF2-40B4-BE49-F238E27FC236}">
                <a16:creationId xmlns:a16="http://schemas.microsoft.com/office/drawing/2014/main" id="{62F01714-1A39-4194-BD47-8A9960C5998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309349" y="4666480"/>
            <a:ext cx="6832499" cy="0"/>
          </a:xfrm>
          <a:prstGeom prst="line">
            <a:avLst/>
          </a:prstGeom>
          <a:ln w="22225">
            <a:solidFill>
              <a:srgbClr val="4AC4E3"/>
            </a:solidFill>
          </a:ln>
        </p:spPr>
        <p:style>
          <a:lnRef idx="3">
            <a:schemeClr val="accent1"/>
          </a:lnRef>
          <a:fillRef idx="0">
            <a:schemeClr val="accent1"/>
          </a:fillRef>
          <a:effectRef idx="2">
            <a:schemeClr val="accent1"/>
          </a:effectRef>
          <a:fontRef idx="minor">
            <a:schemeClr val="tx1"/>
          </a:fontRef>
        </p:style>
      </p:cxnSp>
      <p:pic>
        <p:nvPicPr>
          <p:cNvPr id="4" name="Graphic 3">
            <a:extLst>
              <a:ext uri="{FF2B5EF4-FFF2-40B4-BE49-F238E27FC236}">
                <a16:creationId xmlns:a16="http://schemas.microsoft.com/office/drawing/2014/main" id="{11F8F97E-9DBB-832B-96BE-09367EDA5E2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444753" y="5554033"/>
            <a:ext cx="3736135" cy="1311271"/>
          </a:xfrm>
          <a:prstGeom prst="rect">
            <a:avLst/>
          </a:prstGeom>
        </p:spPr>
      </p:pic>
    </p:spTree>
    <p:extLst>
      <p:ext uri="{BB962C8B-B14F-4D97-AF65-F5344CB8AC3E}">
        <p14:creationId xmlns:p14="http://schemas.microsoft.com/office/powerpoint/2010/main" val="2806257027"/>
      </p:ext>
    </p:extLst>
  </p:cSld>
  <p:clrMapOvr>
    <a:masterClrMapping/>
  </p:clrMapOvr>
  <mc:AlternateContent xmlns:mc="http://schemas.openxmlformats.org/markup-compatibility/2006" xmlns:p14="http://schemas.microsoft.com/office/powerpoint/2010/main">
    <mc:Choice Requires="p14">
      <p:transition spd="slow" p14:dur="2000" advClick="0" advTm="28240"/>
    </mc:Choice>
    <mc:Fallback xmlns="">
      <p:transition spd="slow" advClick="0" advTm="2824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F9DD79-BC21-045D-47F6-B359C2B83496}"/>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BDA63EF1-83B1-1046-D02F-FEB7EC477EF7}"/>
              </a:ext>
            </a:extLst>
          </p:cNvPr>
          <p:cNvPicPr>
            <a:picLocks noChangeAspect="1"/>
          </p:cNvPicPr>
          <p:nvPr/>
        </p:nvPicPr>
        <p:blipFill>
          <a:blip r:embed="rId3"/>
          <a:srcRect t="21286" b="18695"/>
          <a:stretch>
            <a:fillRect/>
          </a:stretch>
        </p:blipFill>
        <p:spPr>
          <a:xfrm>
            <a:off x="695325" y="1628775"/>
            <a:ext cx="10799546" cy="4321175"/>
          </a:xfrm>
          <a:prstGeom prst="rect">
            <a:avLst/>
          </a:prstGeom>
        </p:spPr>
      </p:pic>
      <p:sp>
        <p:nvSpPr>
          <p:cNvPr id="10" name="TextBox 9">
            <a:extLst>
              <a:ext uri="{FF2B5EF4-FFF2-40B4-BE49-F238E27FC236}">
                <a16:creationId xmlns:a16="http://schemas.microsoft.com/office/drawing/2014/main" id="{30EC6402-A8E4-A66D-43CF-CEC13D3F8A67}"/>
              </a:ext>
            </a:extLst>
          </p:cNvPr>
          <p:cNvSpPr txBox="1"/>
          <p:nvPr/>
        </p:nvSpPr>
        <p:spPr>
          <a:xfrm>
            <a:off x="6094197" y="5488284"/>
            <a:ext cx="5398870" cy="461665"/>
          </a:xfrm>
          <a:prstGeom prst="rect">
            <a:avLst/>
          </a:prstGeom>
          <a:solidFill>
            <a:schemeClr val="accent2">
              <a:lumMod val="20000"/>
              <a:lumOff val="80000"/>
            </a:schemeClr>
          </a:solidFill>
          <a:ln>
            <a:noFill/>
          </a:ln>
          <a:effectLst/>
          <a:scene3d>
            <a:camera prst="orthographicFront">
              <a:rot lat="0" lon="0" rev="0"/>
            </a:camera>
            <a:lightRig rig="contrasting" dir="t">
              <a:rot lat="0" lon="0" rev="7800000"/>
            </a:lightRig>
          </a:scene3d>
          <a:sp3d>
            <a:bevelT w="139700" h="139700"/>
          </a:sp3d>
        </p:spPr>
        <p:txBody>
          <a:bodyPr wrap="square" rtlCol="0">
            <a:spAutoFit/>
          </a:bodyPr>
          <a:lstStyle>
            <a:defPPr>
              <a:defRPr lang="en-US"/>
            </a:defPPr>
            <a:lvl1pPr>
              <a:defRPr sz="2400" b="1"/>
            </a:lvl1pPr>
          </a:lstStyle>
          <a:p>
            <a:pPr algn="ctr"/>
            <a:r>
              <a:rPr lang="en-US" dirty="0">
                <a:solidFill>
                  <a:schemeClr val="accent2">
                    <a:lumMod val="50000"/>
                  </a:schemeClr>
                </a:solidFill>
              </a:rPr>
              <a:t>Inge de Boer — Data Steward</a:t>
            </a:r>
          </a:p>
        </p:txBody>
      </p:sp>
      <p:sp>
        <p:nvSpPr>
          <p:cNvPr id="2" name="Title 1">
            <a:extLst>
              <a:ext uri="{FF2B5EF4-FFF2-40B4-BE49-F238E27FC236}">
                <a16:creationId xmlns:a16="http://schemas.microsoft.com/office/drawing/2014/main" id="{8ACB5CD6-5DA5-2CEA-062E-B1349FE85A1E}"/>
              </a:ext>
            </a:extLst>
          </p:cNvPr>
          <p:cNvSpPr>
            <a:spLocks noGrp="1"/>
          </p:cNvSpPr>
          <p:nvPr>
            <p:ph type="title"/>
          </p:nvPr>
        </p:nvSpPr>
        <p:spPr/>
        <p:txBody>
          <a:bodyPr/>
          <a:lstStyle/>
          <a:p>
            <a:r>
              <a:rPr lang="en-US" sz="3600" dirty="0"/>
              <a:t>Primary User Roles</a:t>
            </a:r>
            <a:endParaRPr lang="en-NL" sz="3600" dirty="0"/>
          </a:p>
        </p:txBody>
      </p:sp>
      <p:sp>
        <p:nvSpPr>
          <p:cNvPr id="4" name="Slide Number Placeholder 3">
            <a:extLst>
              <a:ext uri="{FF2B5EF4-FFF2-40B4-BE49-F238E27FC236}">
                <a16:creationId xmlns:a16="http://schemas.microsoft.com/office/drawing/2014/main" id="{17CF79CE-C286-6E61-83C6-A399CE565E5B}"/>
              </a:ext>
            </a:extLst>
          </p:cNvPr>
          <p:cNvSpPr>
            <a:spLocks noGrp="1"/>
          </p:cNvSpPr>
          <p:nvPr>
            <p:ph type="sldNum" sz="quarter" idx="12"/>
          </p:nvPr>
        </p:nvSpPr>
        <p:spPr/>
        <p:txBody>
          <a:bodyPr/>
          <a:lstStyle/>
          <a:p>
            <a:fld id="{4FAB73BC-B049-4115-A692-8D63A059BFB8}" type="slidenum">
              <a:rPr lang="en-US" smtClean="0"/>
              <a:pPr/>
              <a:t>2</a:t>
            </a:fld>
            <a:endParaRPr lang="en-US" dirty="0"/>
          </a:p>
        </p:txBody>
      </p:sp>
      <p:sp>
        <p:nvSpPr>
          <p:cNvPr id="5" name="TextBox 4">
            <a:extLst>
              <a:ext uri="{FF2B5EF4-FFF2-40B4-BE49-F238E27FC236}">
                <a16:creationId xmlns:a16="http://schemas.microsoft.com/office/drawing/2014/main" id="{068EA33D-2427-9EC9-FB5C-5E139CB99096}"/>
              </a:ext>
            </a:extLst>
          </p:cNvPr>
          <p:cNvSpPr txBox="1"/>
          <p:nvPr/>
        </p:nvSpPr>
        <p:spPr>
          <a:xfrm>
            <a:off x="695326" y="5488285"/>
            <a:ext cx="5398870" cy="461665"/>
          </a:xfrm>
          <a:prstGeom prst="rect">
            <a:avLst/>
          </a:prstGeom>
          <a:solidFill>
            <a:schemeClr val="accent1">
              <a:lumMod val="20000"/>
              <a:lumOff val="80000"/>
            </a:schemeClr>
          </a:solidFill>
          <a:ln>
            <a:noFill/>
          </a:ln>
          <a:effectLst/>
          <a:scene3d>
            <a:camera prst="orthographicFront">
              <a:rot lat="0" lon="0" rev="0"/>
            </a:camera>
            <a:lightRig rig="contrasting" dir="t">
              <a:rot lat="0" lon="0" rev="7800000"/>
            </a:lightRig>
          </a:scene3d>
          <a:sp3d>
            <a:bevelT w="139700" h="139700"/>
          </a:sp3d>
        </p:spPr>
        <p:txBody>
          <a:bodyPr wrap="square" rtlCol="0" anchor="ctr">
            <a:spAutoFit/>
          </a:bodyPr>
          <a:lstStyle/>
          <a:p>
            <a:pPr algn="ctr"/>
            <a:r>
              <a:rPr lang="en-US" sz="2400" b="1" dirty="0">
                <a:solidFill>
                  <a:schemeClr val="accent1">
                    <a:lumMod val="50000"/>
                  </a:schemeClr>
                </a:solidFill>
              </a:rPr>
              <a:t>Dr. Amir Hassan — Researcher</a:t>
            </a:r>
            <a:endParaRPr lang="en-US" sz="2400" dirty="0">
              <a:solidFill>
                <a:schemeClr val="accent1">
                  <a:lumMod val="50000"/>
                </a:schemeClr>
              </a:solidFill>
            </a:endParaRPr>
          </a:p>
        </p:txBody>
      </p:sp>
    </p:spTree>
    <p:extLst>
      <p:ext uri="{BB962C8B-B14F-4D97-AF65-F5344CB8AC3E}">
        <p14:creationId xmlns:p14="http://schemas.microsoft.com/office/powerpoint/2010/main" val="686720732"/>
      </p:ext>
    </p:extLst>
  </p:cSld>
  <p:clrMapOvr>
    <a:masterClrMapping/>
  </p:clrMapOvr>
  <mc:AlternateContent xmlns:mc="http://schemas.openxmlformats.org/markup-compatibility/2006" xmlns:p14="http://schemas.microsoft.com/office/powerpoint/2010/main">
    <mc:Choice Requires="p14">
      <p:transition spd="slow" p14:dur="2000" advClick="0" advTm="35310"/>
    </mc:Choice>
    <mc:Fallback xmlns="">
      <p:transition spd="slow" advClick="0" advTm="3531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2BA4B5-9CE0-0E7A-1C76-4A292BE135F1}"/>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46330AC1-A43F-C0C9-DFF2-49BCF3B25AA1}"/>
              </a:ext>
            </a:extLst>
          </p:cNvPr>
          <p:cNvPicPr>
            <a:picLocks noChangeAspect="1"/>
          </p:cNvPicPr>
          <p:nvPr/>
        </p:nvPicPr>
        <p:blipFill>
          <a:blip r:embed="rId3"/>
          <a:srcRect t="21286" b="18695"/>
          <a:stretch>
            <a:fillRect/>
          </a:stretch>
        </p:blipFill>
        <p:spPr>
          <a:xfrm>
            <a:off x="695325" y="1628775"/>
            <a:ext cx="10799546" cy="4321175"/>
          </a:xfrm>
          <a:prstGeom prst="rect">
            <a:avLst/>
          </a:prstGeom>
        </p:spPr>
      </p:pic>
      <p:sp>
        <p:nvSpPr>
          <p:cNvPr id="10" name="TextBox 9">
            <a:extLst>
              <a:ext uri="{FF2B5EF4-FFF2-40B4-BE49-F238E27FC236}">
                <a16:creationId xmlns:a16="http://schemas.microsoft.com/office/drawing/2014/main" id="{CCCD1DD0-DFCB-02AF-697E-AEE17850252E}"/>
              </a:ext>
            </a:extLst>
          </p:cNvPr>
          <p:cNvSpPr txBox="1"/>
          <p:nvPr/>
        </p:nvSpPr>
        <p:spPr>
          <a:xfrm>
            <a:off x="6094197" y="5488284"/>
            <a:ext cx="5398870" cy="461665"/>
          </a:xfrm>
          <a:prstGeom prst="rect">
            <a:avLst/>
          </a:prstGeom>
          <a:solidFill>
            <a:schemeClr val="accent2">
              <a:lumMod val="20000"/>
              <a:lumOff val="80000"/>
            </a:schemeClr>
          </a:solidFill>
          <a:ln>
            <a:noFill/>
          </a:ln>
          <a:effectLst/>
          <a:scene3d>
            <a:camera prst="orthographicFront">
              <a:rot lat="0" lon="0" rev="0"/>
            </a:camera>
            <a:lightRig rig="contrasting" dir="t">
              <a:rot lat="0" lon="0" rev="7800000"/>
            </a:lightRig>
          </a:scene3d>
          <a:sp3d>
            <a:bevelT w="139700" h="139700"/>
          </a:sp3d>
        </p:spPr>
        <p:txBody>
          <a:bodyPr wrap="square" rtlCol="0">
            <a:spAutoFit/>
          </a:bodyPr>
          <a:lstStyle>
            <a:defPPr>
              <a:defRPr lang="en-US"/>
            </a:defPPr>
            <a:lvl1pPr>
              <a:defRPr sz="2400" b="1"/>
            </a:lvl1pPr>
          </a:lstStyle>
          <a:p>
            <a:pPr algn="ctr"/>
            <a:r>
              <a:rPr lang="en-US" dirty="0">
                <a:solidFill>
                  <a:schemeClr val="accent2">
                    <a:lumMod val="50000"/>
                  </a:schemeClr>
                </a:solidFill>
              </a:rPr>
              <a:t>Inge de Boer — Data Steward</a:t>
            </a:r>
          </a:p>
        </p:txBody>
      </p:sp>
      <p:sp>
        <p:nvSpPr>
          <p:cNvPr id="2" name="Title 1">
            <a:extLst>
              <a:ext uri="{FF2B5EF4-FFF2-40B4-BE49-F238E27FC236}">
                <a16:creationId xmlns:a16="http://schemas.microsoft.com/office/drawing/2014/main" id="{F563D5D0-928F-765F-2F97-4E1BE0AD6641}"/>
              </a:ext>
            </a:extLst>
          </p:cNvPr>
          <p:cNvSpPr>
            <a:spLocks noGrp="1"/>
          </p:cNvSpPr>
          <p:nvPr>
            <p:ph type="title"/>
          </p:nvPr>
        </p:nvSpPr>
        <p:spPr/>
        <p:txBody>
          <a:bodyPr/>
          <a:lstStyle/>
          <a:p>
            <a:r>
              <a:rPr lang="en-US" sz="3600" dirty="0"/>
              <a:t>Amir Hassan: Research Goal and Challenge</a:t>
            </a:r>
            <a:endParaRPr lang="en-NL" sz="3600" dirty="0"/>
          </a:p>
        </p:txBody>
      </p:sp>
      <p:sp>
        <p:nvSpPr>
          <p:cNvPr id="4" name="Slide Number Placeholder 3">
            <a:extLst>
              <a:ext uri="{FF2B5EF4-FFF2-40B4-BE49-F238E27FC236}">
                <a16:creationId xmlns:a16="http://schemas.microsoft.com/office/drawing/2014/main" id="{E0A20D24-8B52-DDAE-27AE-C4BFC8377BAF}"/>
              </a:ext>
            </a:extLst>
          </p:cNvPr>
          <p:cNvSpPr>
            <a:spLocks noGrp="1"/>
          </p:cNvSpPr>
          <p:nvPr>
            <p:ph type="sldNum" sz="quarter" idx="12"/>
          </p:nvPr>
        </p:nvSpPr>
        <p:spPr/>
        <p:txBody>
          <a:bodyPr/>
          <a:lstStyle/>
          <a:p>
            <a:fld id="{4FAB73BC-B049-4115-A692-8D63A059BFB8}" type="slidenum">
              <a:rPr lang="en-US" smtClean="0"/>
              <a:pPr/>
              <a:t>3</a:t>
            </a:fld>
            <a:endParaRPr lang="en-US" dirty="0"/>
          </a:p>
        </p:txBody>
      </p:sp>
      <p:sp>
        <p:nvSpPr>
          <p:cNvPr id="11" name="Rectangle 10">
            <a:extLst>
              <a:ext uri="{FF2B5EF4-FFF2-40B4-BE49-F238E27FC236}">
                <a16:creationId xmlns:a16="http://schemas.microsoft.com/office/drawing/2014/main" id="{1832A84C-B6B9-82F9-0572-8097BC9A0165}"/>
              </a:ext>
            </a:extLst>
          </p:cNvPr>
          <p:cNvSpPr/>
          <p:nvPr/>
        </p:nvSpPr>
        <p:spPr>
          <a:xfrm>
            <a:off x="6091381" y="1628775"/>
            <a:ext cx="5397858" cy="4321175"/>
          </a:xfrm>
          <a:prstGeom prst="rect">
            <a:avLst/>
          </a:prstGeom>
          <a:solidFill>
            <a:schemeClr val="accent1">
              <a:lumMod val="20000"/>
              <a:lumOff val="80000"/>
              <a:alpha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60000" tIns="180000" rIns="180000" bIns="180000" rtlCol="0" anchor="ctr"/>
          <a:lstStyle/>
          <a:p>
            <a:r>
              <a:rPr lang="en-US" sz="2000" b="1" i="1" dirty="0">
                <a:solidFill>
                  <a:schemeClr val="tx1"/>
                </a:solidFill>
              </a:rPr>
              <a:t>Amir</a:t>
            </a:r>
            <a:r>
              <a:rPr lang="en-US" sz="2000" i="1" dirty="0">
                <a:solidFill>
                  <a:schemeClr val="tx1"/>
                </a:solidFill>
              </a:rPr>
              <a:t> is studying whether treatment outcomes differ across patient groups and needs to stratify his cohort using the correct sex/gender-related variable.</a:t>
            </a:r>
          </a:p>
          <a:p>
            <a:endParaRPr lang="en-US" sz="1200" i="1" dirty="0">
              <a:solidFill>
                <a:schemeClr val="tx1"/>
              </a:solidFill>
            </a:endParaRPr>
          </a:p>
          <a:p>
            <a:r>
              <a:rPr lang="en-US" sz="2000" i="1" dirty="0">
                <a:solidFill>
                  <a:schemeClr val="tx1"/>
                </a:solidFill>
              </a:rPr>
              <a:t>Before requesting data, he must identify which datasets contain the right concept and whether those variables are semantically compatible across institutions.</a:t>
            </a:r>
            <a:endParaRPr lang="en-NL" sz="2000" i="1" dirty="0">
              <a:solidFill>
                <a:schemeClr val="tx1"/>
              </a:solidFill>
            </a:endParaRPr>
          </a:p>
        </p:txBody>
      </p:sp>
      <p:sp>
        <p:nvSpPr>
          <p:cNvPr id="3" name="TextBox 2">
            <a:extLst>
              <a:ext uri="{FF2B5EF4-FFF2-40B4-BE49-F238E27FC236}">
                <a16:creationId xmlns:a16="http://schemas.microsoft.com/office/drawing/2014/main" id="{BA945E14-5509-99A3-E817-A3161D6BA80C}"/>
              </a:ext>
            </a:extLst>
          </p:cNvPr>
          <p:cNvSpPr txBox="1"/>
          <p:nvPr/>
        </p:nvSpPr>
        <p:spPr>
          <a:xfrm>
            <a:off x="695326" y="5488285"/>
            <a:ext cx="5398870" cy="461665"/>
          </a:xfrm>
          <a:prstGeom prst="rect">
            <a:avLst/>
          </a:prstGeom>
          <a:solidFill>
            <a:schemeClr val="accent1">
              <a:lumMod val="20000"/>
              <a:lumOff val="80000"/>
            </a:schemeClr>
          </a:solidFill>
          <a:ln>
            <a:noFill/>
          </a:ln>
          <a:effectLst/>
          <a:scene3d>
            <a:camera prst="orthographicFront">
              <a:rot lat="0" lon="0" rev="0"/>
            </a:camera>
            <a:lightRig rig="contrasting" dir="t">
              <a:rot lat="0" lon="0" rev="7800000"/>
            </a:lightRig>
          </a:scene3d>
          <a:sp3d>
            <a:bevelT w="139700" h="139700"/>
          </a:sp3d>
        </p:spPr>
        <p:txBody>
          <a:bodyPr wrap="square" rtlCol="0" anchor="ctr">
            <a:spAutoFit/>
          </a:bodyPr>
          <a:lstStyle/>
          <a:p>
            <a:pPr algn="ctr"/>
            <a:r>
              <a:rPr lang="en-US" sz="2400" b="1" dirty="0">
                <a:solidFill>
                  <a:schemeClr val="accent1">
                    <a:lumMod val="50000"/>
                  </a:schemeClr>
                </a:solidFill>
              </a:rPr>
              <a:t>Dr. Amir Hassan — Researcher</a:t>
            </a:r>
            <a:endParaRPr lang="en-US" sz="2400" dirty="0">
              <a:solidFill>
                <a:schemeClr val="accent1">
                  <a:lumMod val="50000"/>
                </a:schemeClr>
              </a:solidFill>
            </a:endParaRPr>
          </a:p>
        </p:txBody>
      </p:sp>
    </p:spTree>
    <p:extLst>
      <p:ext uri="{BB962C8B-B14F-4D97-AF65-F5344CB8AC3E}">
        <p14:creationId xmlns:p14="http://schemas.microsoft.com/office/powerpoint/2010/main" val="31729899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524967-4023-1260-2A2D-CD078C8EE973}"/>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C95CDC21-1125-CC7B-1EF8-53E9EE7846DB}"/>
              </a:ext>
            </a:extLst>
          </p:cNvPr>
          <p:cNvPicPr>
            <a:picLocks noChangeAspect="1"/>
          </p:cNvPicPr>
          <p:nvPr/>
        </p:nvPicPr>
        <p:blipFill>
          <a:blip r:embed="rId3"/>
          <a:srcRect t="21286" b="18695"/>
          <a:stretch>
            <a:fillRect/>
          </a:stretch>
        </p:blipFill>
        <p:spPr>
          <a:xfrm>
            <a:off x="695325" y="1628775"/>
            <a:ext cx="10799546" cy="4321175"/>
          </a:xfrm>
          <a:prstGeom prst="rect">
            <a:avLst/>
          </a:prstGeom>
        </p:spPr>
      </p:pic>
      <p:sp>
        <p:nvSpPr>
          <p:cNvPr id="8" name="Rectangle 7">
            <a:extLst>
              <a:ext uri="{FF2B5EF4-FFF2-40B4-BE49-F238E27FC236}">
                <a16:creationId xmlns:a16="http://schemas.microsoft.com/office/drawing/2014/main" id="{30ED2438-14C2-2994-B5BA-886487827E01}"/>
              </a:ext>
            </a:extLst>
          </p:cNvPr>
          <p:cNvSpPr/>
          <p:nvPr/>
        </p:nvSpPr>
        <p:spPr>
          <a:xfrm>
            <a:off x="5136204" y="1628775"/>
            <a:ext cx="6350219" cy="4321175"/>
          </a:xfrm>
          <a:prstGeom prst="rect">
            <a:avLst/>
          </a:prstGeom>
          <a:solidFill>
            <a:schemeClr val="accent1">
              <a:lumMod val="20000"/>
              <a:lumOff val="80000"/>
              <a:alpha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60000" tIns="180000" rIns="180000" bIns="180000" rtlCol="0" anchor="ctr"/>
          <a:lstStyle/>
          <a:p>
            <a:endParaRPr lang="en-NL" sz="2000" i="1" dirty="0">
              <a:solidFill>
                <a:schemeClr val="tx1"/>
              </a:solidFill>
            </a:endParaRPr>
          </a:p>
        </p:txBody>
      </p:sp>
      <p:sp>
        <p:nvSpPr>
          <p:cNvPr id="2" name="Title 1">
            <a:extLst>
              <a:ext uri="{FF2B5EF4-FFF2-40B4-BE49-F238E27FC236}">
                <a16:creationId xmlns:a16="http://schemas.microsoft.com/office/drawing/2014/main" id="{14F49214-4CE0-AE98-270C-7CEDC205D0DD}"/>
              </a:ext>
            </a:extLst>
          </p:cNvPr>
          <p:cNvSpPr>
            <a:spLocks noGrp="1"/>
          </p:cNvSpPr>
          <p:nvPr>
            <p:ph type="title"/>
          </p:nvPr>
        </p:nvSpPr>
        <p:spPr/>
        <p:txBody>
          <a:bodyPr/>
          <a:lstStyle/>
          <a:p>
            <a:r>
              <a:rPr lang="en-US" sz="3600" dirty="0"/>
              <a:t>Amir’s End-to-End Workflow</a:t>
            </a:r>
            <a:endParaRPr lang="en-NL" sz="3600" dirty="0"/>
          </a:p>
        </p:txBody>
      </p:sp>
      <p:graphicFrame>
        <p:nvGraphicFramePr>
          <p:cNvPr id="5" name="Content Placeholder 4">
            <a:extLst>
              <a:ext uri="{FF2B5EF4-FFF2-40B4-BE49-F238E27FC236}">
                <a16:creationId xmlns:a16="http://schemas.microsoft.com/office/drawing/2014/main" id="{51CEB8B4-CD90-A6FC-E173-CB30E30A5340}"/>
              </a:ext>
            </a:extLst>
          </p:cNvPr>
          <p:cNvGraphicFramePr>
            <a:graphicFrameLocks noGrp="1"/>
          </p:cNvGraphicFramePr>
          <p:nvPr>
            <p:ph idx="1"/>
            <p:extLst>
              <p:ext uri="{D42A27DB-BD31-4B8C-83A1-F6EECF244321}">
                <p14:modId xmlns:p14="http://schemas.microsoft.com/office/powerpoint/2010/main" val="745334848"/>
              </p:ext>
            </p:extLst>
          </p:nvPr>
        </p:nvGraphicFramePr>
        <p:xfrm>
          <a:off x="5284332" y="1824595"/>
          <a:ext cx="6053963" cy="392953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4" name="Slide Number Placeholder 3">
            <a:extLst>
              <a:ext uri="{FF2B5EF4-FFF2-40B4-BE49-F238E27FC236}">
                <a16:creationId xmlns:a16="http://schemas.microsoft.com/office/drawing/2014/main" id="{76514581-538E-99F3-2C71-25569D493BA0}"/>
              </a:ext>
            </a:extLst>
          </p:cNvPr>
          <p:cNvSpPr>
            <a:spLocks noGrp="1"/>
          </p:cNvSpPr>
          <p:nvPr>
            <p:ph type="sldNum" sz="quarter" idx="12"/>
          </p:nvPr>
        </p:nvSpPr>
        <p:spPr/>
        <p:txBody>
          <a:bodyPr/>
          <a:lstStyle/>
          <a:p>
            <a:fld id="{4FAB73BC-B049-4115-A692-8D63A059BFB8}" type="slidenum">
              <a:rPr lang="en-US" smtClean="0"/>
              <a:pPr/>
              <a:t>4</a:t>
            </a:fld>
            <a:endParaRPr lang="en-US" dirty="0"/>
          </a:p>
        </p:txBody>
      </p:sp>
      <p:sp>
        <p:nvSpPr>
          <p:cNvPr id="3" name="TextBox 2">
            <a:extLst>
              <a:ext uri="{FF2B5EF4-FFF2-40B4-BE49-F238E27FC236}">
                <a16:creationId xmlns:a16="http://schemas.microsoft.com/office/drawing/2014/main" id="{6251A294-1E6F-FB11-E7BB-2DB635A91604}"/>
              </a:ext>
            </a:extLst>
          </p:cNvPr>
          <p:cNvSpPr txBox="1"/>
          <p:nvPr/>
        </p:nvSpPr>
        <p:spPr>
          <a:xfrm>
            <a:off x="695326" y="5488285"/>
            <a:ext cx="5398870" cy="461665"/>
          </a:xfrm>
          <a:prstGeom prst="rect">
            <a:avLst/>
          </a:prstGeom>
          <a:solidFill>
            <a:schemeClr val="accent1">
              <a:lumMod val="20000"/>
              <a:lumOff val="80000"/>
            </a:schemeClr>
          </a:solidFill>
          <a:ln>
            <a:noFill/>
          </a:ln>
          <a:effectLst/>
          <a:scene3d>
            <a:camera prst="orthographicFront">
              <a:rot lat="0" lon="0" rev="0"/>
            </a:camera>
            <a:lightRig rig="contrasting" dir="t">
              <a:rot lat="0" lon="0" rev="7800000"/>
            </a:lightRig>
          </a:scene3d>
          <a:sp3d>
            <a:bevelT w="139700" h="139700"/>
          </a:sp3d>
        </p:spPr>
        <p:txBody>
          <a:bodyPr wrap="square" rtlCol="0" anchor="ctr">
            <a:spAutoFit/>
          </a:bodyPr>
          <a:lstStyle/>
          <a:p>
            <a:pPr algn="ctr"/>
            <a:r>
              <a:rPr lang="en-US" sz="2400" b="1" dirty="0">
                <a:solidFill>
                  <a:schemeClr val="accent1">
                    <a:lumMod val="50000"/>
                  </a:schemeClr>
                </a:solidFill>
              </a:rPr>
              <a:t>Dr. Amir Hassan — Researcher</a:t>
            </a:r>
            <a:endParaRPr lang="en-US" sz="2400" dirty="0">
              <a:solidFill>
                <a:schemeClr val="accent1">
                  <a:lumMod val="50000"/>
                </a:schemeClr>
              </a:solidFill>
            </a:endParaRPr>
          </a:p>
        </p:txBody>
      </p:sp>
    </p:spTree>
    <p:extLst>
      <p:ext uri="{BB962C8B-B14F-4D97-AF65-F5344CB8AC3E}">
        <p14:creationId xmlns:p14="http://schemas.microsoft.com/office/powerpoint/2010/main" val="40420987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130DAF-7D7B-7006-AAD4-327B26717FDF}"/>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B0194285-2BAF-18BE-66A1-823EA171E0DC}"/>
              </a:ext>
            </a:extLst>
          </p:cNvPr>
          <p:cNvPicPr>
            <a:picLocks noChangeAspect="1"/>
          </p:cNvPicPr>
          <p:nvPr/>
        </p:nvPicPr>
        <p:blipFill>
          <a:blip r:embed="rId3"/>
          <a:srcRect t="21286" b="18695"/>
          <a:stretch>
            <a:fillRect/>
          </a:stretch>
        </p:blipFill>
        <p:spPr>
          <a:xfrm>
            <a:off x="695325" y="1628775"/>
            <a:ext cx="10799546" cy="4321175"/>
          </a:xfrm>
          <a:prstGeom prst="rect">
            <a:avLst/>
          </a:prstGeom>
        </p:spPr>
      </p:pic>
      <p:sp>
        <p:nvSpPr>
          <p:cNvPr id="8" name="Rectangle 7">
            <a:extLst>
              <a:ext uri="{FF2B5EF4-FFF2-40B4-BE49-F238E27FC236}">
                <a16:creationId xmlns:a16="http://schemas.microsoft.com/office/drawing/2014/main" id="{4EC27650-E3C0-B209-09BC-B0EA88AD7652}"/>
              </a:ext>
            </a:extLst>
          </p:cNvPr>
          <p:cNvSpPr/>
          <p:nvPr/>
        </p:nvSpPr>
        <p:spPr>
          <a:xfrm>
            <a:off x="5136204" y="1628775"/>
            <a:ext cx="6350219" cy="4321175"/>
          </a:xfrm>
          <a:prstGeom prst="rect">
            <a:avLst/>
          </a:prstGeom>
          <a:solidFill>
            <a:schemeClr val="accent1">
              <a:lumMod val="20000"/>
              <a:lumOff val="80000"/>
              <a:alpha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60000" tIns="180000" rIns="180000" bIns="180000" rtlCol="0" anchor="ctr"/>
          <a:lstStyle/>
          <a:p>
            <a:endParaRPr lang="en-NL" sz="2000" i="1" dirty="0">
              <a:solidFill>
                <a:schemeClr val="tx1"/>
              </a:solidFill>
            </a:endParaRPr>
          </a:p>
        </p:txBody>
      </p:sp>
      <p:sp>
        <p:nvSpPr>
          <p:cNvPr id="2" name="Title 1">
            <a:extLst>
              <a:ext uri="{FF2B5EF4-FFF2-40B4-BE49-F238E27FC236}">
                <a16:creationId xmlns:a16="http://schemas.microsoft.com/office/drawing/2014/main" id="{21D72472-6695-E9FB-12F7-656F6C416189}"/>
              </a:ext>
            </a:extLst>
          </p:cNvPr>
          <p:cNvSpPr>
            <a:spLocks noGrp="1"/>
          </p:cNvSpPr>
          <p:nvPr>
            <p:ph type="title"/>
          </p:nvPr>
        </p:nvSpPr>
        <p:spPr>
          <a:xfrm>
            <a:off x="695327" y="386001"/>
            <a:ext cx="9486898" cy="929259"/>
          </a:xfrm>
        </p:spPr>
        <p:txBody>
          <a:bodyPr/>
          <a:lstStyle/>
          <a:p>
            <a:r>
              <a:rPr lang="en-US" sz="3600" b="1" dirty="0"/>
              <a:t>Scenario 1: Clarify Meanings Before Reuse</a:t>
            </a:r>
            <a:endParaRPr lang="en-NL" sz="3600" b="1" dirty="0"/>
          </a:p>
        </p:txBody>
      </p:sp>
      <p:sp>
        <p:nvSpPr>
          <p:cNvPr id="7" name="Freeform: Shape 6">
            <a:extLst>
              <a:ext uri="{FF2B5EF4-FFF2-40B4-BE49-F238E27FC236}">
                <a16:creationId xmlns:a16="http://schemas.microsoft.com/office/drawing/2014/main" id="{679F8B64-881B-0720-8728-C5C7BC03C535}"/>
              </a:ext>
            </a:extLst>
          </p:cNvPr>
          <p:cNvSpPr/>
          <p:nvPr/>
        </p:nvSpPr>
        <p:spPr>
          <a:xfrm>
            <a:off x="7034190" y="3018630"/>
            <a:ext cx="371214" cy="91440"/>
          </a:xfrm>
          <a:custGeom>
            <a:avLst/>
            <a:gdLst>
              <a:gd name="csX0" fmla="*/ 0 w 371214"/>
              <a:gd name="csY0" fmla="*/ 45720 h 91440"/>
              <a:gd name="csX1" fmla="*/ 371214 w 371214"/>
              <a:gd name="csY1" fmla="*/ 45720 h 91440"/>
            </a:gdLst>
            <a:ahLst/>
            <a:cxnLst>
              <a:cxn ang="0">
                <a:pos x="csX0" y="csY0"/>
              </a:cxn>
              <a:cxn ang="0">
                <a:pos x="csX1" y="csY1"/>
              </a:cxn>
            </a:cxnLst>
            <a:rect l="l" t="t" r="r" b="b"/>
            <a:pathLst>
              <a:path w="371214" h="91440">
                <a:moveTo>
                  <a:pt x="0" y="45720"/>
                </a:moveTo>
                <a:lnTo>
                  <a:pt x="371214" y="45720"/>
                </a:lnTo>
              </a:path>
            </a:pathLst>
          </a:cu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88262" tIns="43711" rIns="188262" bIns="43711" numCol="1" spcCol="1270" anchor="ctr" anchorCtr="0">
            <a:noAutofit/>
          </a:bodyPr>
          <a:lstStyle/>
          <a:p>
            <a:pPr marL="0" lvl="0" indent="0" algn="ctr" defTabSz="222250">
              <a:lnSpc>
                <a:spcPct val="90000"/>
              </a:lnSpc>
              <a:spcBef>
                <a:spcPct val="0"/>
              </a:spcBef>
              <a:spcAft>
                <a:spcPct val="35000"/>
              </a:spcAft>
              <a:buNone/>
            </a:pPr>
            <a:endParaRPr lang="en-NL" sz="500" kern="1200"/>
          </a:p>
        </p:txBody>
      </p:sp>
      <p:sp>
        <p:nvSpPr>
          <p:cNvPr id="10" name="Freeform: Shape 9">
            <a:extLst>
              <a:ext uri="{FF2B5EF4-FFF2-40B4-BE49-F238E27FC236}">
                <a16:creationId xmlns:a16="http://schemas.microsoft.com/office/drawing/2014/main" id="{272C7602-482A-15AE-29DF-EAE30B65B6E7}"/>
              </a:ext>
            </a:extLst>
          </p:cNvPr>
          <p:cNvSpPr/>
          <p:nvPr/>
        </p:nvSpPr>
        <p:spPr>
          <a:xfrm>
            <a:off x="9183022" y="3018630"/>
            <a:ext cx="371214" cy="91440"/>
          </a:xfrm>
          <a:custGeom>
            <a:avLst/>
            <a:gdLst>
              <a:gd name="csX0" fmla="*/ 0 w 371214"/>
              <a:gd name="csY0" fmla="*/ 45720 h 91440"/>
              <a:gd name="csX1" fmla="*/ 371214 w 371214"/>
              <a:gd name="csY1" fmla="*/ 45720 h 91440"/>
            </a:gdLst>
            <a:ahLst/>
            <a:cxnLst>
              <a:cxn ang="0">
                <a:pos x="csX0" y="csY0"/>
              </a:cxn>
              <a:cxn ang="0">
                <a:pos x="csX1" y="csY1"/>
              </a:cxn>
            </a:cxnLst>
            <a:rect l="l" t="t" r="r" b="b"/>
            <a:pathLst>
              <a:path w="371214" h="91440">
                <a:moveTo>
                  <a:pt x="0" y="45720"/>
                </a:moveTo>
                <a:lnTo>
                  <a:pt x="371214" y="45720"/>
                </a:lnTo>
              </a:path>
            </a:pathLst>
          </a:cu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88261" tIns="43711" rIns="188263" bIns="43711" numCol="1" spcCol="1270" anchor="ctr" anchorCtr="0">
            <a:noAutofit/>
          </a:bodyPr>
          <a:lstStyle/>
          <a:p>
            <a:pPr marL="0" lvl="0" indent="0" algn="ctr" defTabSz="222250">
              <a:lnSpc>
                <a:spcPct val="90000"/>
              </a:lnSpc>
              <a:spcBef>
                <a:spcPct val="0"/>
              </a:spcBef>
              <a:spcAft>
                <a:spcPct val="35000"/>
              </a:spcAft>
              <a:buNone/>
            </a:pPr>
            <a:endParaRPr lang="en-NL" sz="500" kern="1200"/>
          </a:p>
        </p:txBody>
      </p:sp>
      <p:sp>
        <p:nvSpPr>
          <p:cNvPr id="11" name="Freeform: Shape 10">
            <a:extLst>
              <a:ext uri="{FF2B5EF4-FFF2-40B4-BE49-F238E27FC236}">
                <a16:creationId xmlns:a16="http://schemas.microsoft.com/office/drawing/2014/main" id="{A0DD16DC-CEDC-FA65-196F-F43488E7C23C}"/>
              </a:ext>
            </a:extLst>
          </p:cNvPr>
          <p:cNvSpPr/>
          <p:nvPr/>
        </p:nvSpPr>
        <p:spPr>
          <a:xfrm>
            <a:off x="7437804" y="2540244"/>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lvl="0" defTabSz="400050">
              <a:lnSpc>
                <a:spcPct val="90000"/>
              </a:lnSpc>
              <a:spcBef>
                <a:spcPct val="0"/>
              </a:spcBef>
              <a:spcAft>
                <a:spcPct val="35000"/>
              </a:spcAft>
            </a:pPr>
            <a:r>
              <a:rPr lang="en-US" sz="900" b="1" dirty="0"/>
              <a:t>Scenario 2: </a:t>
            </a:r>
            <a:r>
              <a:rPr lang="en-US" sz="900" dirty="0"/>
              <a:t>Identify the dataset that represents the right meaning</a:t>
            </a:r>
            <a:endParaRPr lang="en-NL" sz="900" dirty="0"/>
          </a:p>
        </p:txBody>
      </p:sp>
      <p:sp>
        <p:nvSpPr>
          <p:cNvPr id="12" name="Freeform: Shape 11">
            <a:extLst>
              <a:ext uri="{FF2B5EF4-FFF2-40B4-BE49-F238E27FC236}">
                <a16:creationId xmlns:a16="http://schemas.microsoft.com/office/drawing/2014/main" id="{A97D502A-73BA-CD79-614E-B7899D3D2D7A}"/>
              </a:ext>
            </a:extLst>
          </p:cNvPr>
          <p:cNvSpPr/>
          <p:nvPr/>
        </p:nvSpPr>
        <p:spPr>
          <a:xfrm>
            <a:off x="6162481" y="3586655"/>
            <a:ext cx="4297663" cy="371214"/>
          </a:xfrm>
          <a:custGeom>
            <a:avLst/>
            <a:gdLst>
              <a:gd name="csX0" fmla="*/ 4297663 w 4297663"/>
              <a:gd name="csY0" fmla="*/ 0 h 371214"/>
              <a:gd name="csX1" fmla="*/ 4297663 w 4297663"/>
              <a:gd name="csY1" fmla="*/ 202707 h 371214"/>
              <a:gd name="csX2" fmla="*/ 0 w 4297663"/>
              <a:gd name="csY2" fmla="*/ 202707 h 371214"/>
              <a:gd name="csX3" fmla="*/ 0 w 4297663"/>
              <a:gd name="csY3" fmla="*/ 371214 h 371214"/>
            </a:gdLst>
            <a:ahLst/>
            <a:cxnLst>
              <a:cxn ang="0">
                <a:pos x="csX0" y="csY0"/>
              </a:cxn>
              <a:cxn ang="0">
                <a:pos x="csX1" y="csY1"/>
              </a:cxn>
              <a:cxn ang="0">
                <a:pos x="csX2" y="csY2"/>
              </a:cxn>
              <a:cxn ang="0">
                <a:pos x="csX3" y="csY3"/>
              </a:cxn>
            </a:cxnLst>
            <a:rect l="l" t="t" r="r" b="b"/>
            <a:pathLst>
              <a:path w="4297663" h="371214">
                <a:moveTo>
                  <a:pt x="4297663" y="0"/>
                </a:moveTo>
                <a:lnTo>
                  <a:pt x="4297663" y="202707"/>
                </a:lnTo>
                <a:lnTo>
                  <a:pt x="0" y="202707"/>
                </a:lnTo>
                <a:lnTo>
                  <a:pt x="0" y="371214"/>
                </a:lnTo>
              </a:path>
            </a:pathLst>
          </a:cu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2053622" tIns="183598" rIns="2053621" bIns="183598" numCol="1" spcCol="1270" anchor="ctr" anchorCtr="0">
            <a:noAutofit/>
          </a:bodyPr>
          <a:lstStyle/>
          <a:p>
            <a:pPr marL="0" lvl="0" indent="0" algn="ctr" defTabSz="222250">
              <a:lnSpc>
                <a:spcPct val="90000"/>
              </a:lnSpc>
              <a:spcBef>
                <a:spcPct val="0"/>
              </a:spcBef>
              <a:spcAft>
                <a:spcPct val="35000"/>
              </a:spcAft>
              <a:buNone/>
            </a:pPr>
            <a:endParaRPr lang="en-NL" sz="500" kern="1200"/>
          </a:p>
        </p:txBody>
      </p:sp>
      <p:sp>
        <p:nvSpPr>
          <p:cNvPr id="13" name="Freeform: Shape 12">
            <a:extLst>
              <a:ext uri="{FF2B5EF4-FFF2-40B4-BE49-F238E27FC236}">
                <a16:creationId xmlns:a16="http://schemas.microsoft.com/office/drawing/2014/main" id="{EA766ECE-1992-7A45-A465-8D81D2FAE973}"/>
              </a:ext>
            </a:extLst>
          </p:cNvPr>
          <p:cNvSpPr/>
          <p:nvPr/>
        </p:nvSpPr>
        <p:spPr>
          <a:xfrm>
            <a:off x="9586636" y="2540244"/>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marL="0" lvl="0" indent="0" algn="l" defTabSz="400050">
              <a:lnSpc>
                <a:spcPct val="90000"/>
              </a:lnSpc>
              <a:spcBef>
                <a:spcPct val="0"/>
              </a:spcBef>
              <a:spcAft>
                <a:spcPct val="35000"/>
              </a:spcAft>
              <a:buNone/>
            </a:pPr>
            <a:r>
              <a:rPr lang="en-US" sz="900" b="1" u="none" kern="1200" dirty="0"/>
              <a:t>Scenario 3: </a:t>
            </a:r>
            <a:r>
              <a:rPr lang="en-US" sz="900" b="0" u="none" kern="1200" dirty="0"/>
              <a:t>Inspect what a selected column means</a:t>
            </a:r>
            <a:endParaRPr lang="en-NL" sz="900" b="0" u="none" kern="1200" dirty="0"/>
          </a:p>
        </p:txBody>
      </p:sp>
      <p:sp>
        <p:nvSpPr>
          <p:cNvPr id="14" name="Freeform: Shape 13">
            <a:extLst>
              <a:ext uri="{FF2B5EF4-FFF2-40B4-BE49-F238E27FC236}">
                <a16:creationId xmlns:a16="http://schemas.microsoft.com/office/drawing/2014/main" id="{CA073DA4-1083-7573-C923-E25A4863B83C}"/>
              </a:ext>
            </a:extLst>
          </p:cNvPr>
          <p:cNvSpPr/>
          <p:nvPr/>
        </p:nvSpPr>
        <p:spPr>
          <a:xfrm>
            <a:off x="7034190" y="4468654"/>
            <a:ext cx="371214" cy="91440"/>
          </a:xfrm>
          <a:custGeom>
            <a:avLst/>
            <a:gdLst>
              <a:gd name="csX0" fmla="*/ 0 w 371214"/>
              <a:gd name="csY0" fmla="*/ 45720 h 91440"/>
              <a:gd name="csX1" fmla="*/ 371214 w 371214"/>
              <a:gd name="csY1" fmla="*/ 45720 h 91440"/>
            </a:gdLst>
            <a:ahLst/>
            <a:cxnLst>
              <a:cxn ang="0">
                <a:pos x="csX0" y="csY0"/>
              </a:cxn>
              <a:cxn ang="0">
                <a:pos x="csX1" y="csY1"/>
              </a:cxn>
            </a:cxnLst>
            <a:rect l="l" t="t" r="r" b="b"/>
            <a:pathLst>
              <a:path w="371214" h="91440">
                <a:moveTo>
                  <a:pt x="0" y="45720"/>
                </a:moveTo>
                <a:lnTo>
                  <a:pt x="371214" y="45720"/>
                </a:lnTo>
              </a:path>
            </a:pathLst>
          </a:cu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88262" tIns="43711" rIns="188262" bIns="43711" numCol="1" spcCol="1270" anchor="ctr" anchorCtr="0">
            <a:noAutofit/>
          </a:bodyPr>
          <a:lstStyle/>
          <a:p>
            <a:pPr marL="0" lvl="0" indent="0" algn="ctr" defTabSz="222250">
              <a:lnSpc>
                <a:spcPct val="90000"/>
              </a:lnSpc>
              <a:spcBef>
                <a:spcPct val="0"/>
              </a:spcBef>
              <a:spcAft>
                <a:spcPct val="35000"/>
              </a:spcAft>
              <a:buNone/>
            </a:pPr>
            <a:endParaRPr lang="en-NL" sz="500" kern="1200"/>
          </a:p>
        </p:txBody>
      </p:sp>
      <p:sp>
        <p:nvSpPr>
          <p:cNvPr id="15" name="Freeform: Shape 14">
            <a:extLst>
              <a:ext uri="{FF2B5EF4-FFF2-40B4-BE49-F238E27FC236}">
                <a16:creationId xmlns:a16="http://schemas.microsoft.com/office/drawing/2014/main" id="{435671B7-E612-B0C7-073D-49916691908E}"/>
              </a:ext>
            </a:extLst>
          </p:cNvPr>
          <p:cNvSpPr/>
          <p:nvPr/>
        </p:nvSpPr>
        <p:spPr>
          <a:xfrm>
            <a:off x="5288972" y="3990269"/>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marL="0" lvl="0" indent="0" algn="l" defTabSz="400050">
              <a:lnSpc>
                <a:spcPct val="90000"/>
              </a:lnSpc>
              <a:spcBef>
                <a:spcPct val="0"/>
              </a:spcBef>
              <a:spcAft>
                <a:spcPct val="35000"/>
              </a:spcAft>
              <a:buNone/>
            </a:pPr>
            <a:r>
              <a:rPr lang="en-US" sz="900" b="1" u="none" kern="1200" dirty="0"/>
              <a:t>Scenario 4:</a:t>
            </a:r>
            <a:r>
              <a:rPr lang="en-US" sz="900" b="0" u="none" kern="1200" dirty="0"/>
              <a:t> Formalize the semantic relation between two selected columns</a:t>
            </a:r>
            <a:endParaRPr lang="en-NL" sz="900" b="0" u="none" kern="1200" dirty="0"/>
          </a:p>
        </p:txBody>
      </p:sp>
      <p:sp>
        <p:nvSpPr>
          <p:cNvPr id="16" name="Freeform: Shape 15">
            <a:extLst>
              <a:ext uri="{FF2B5EF4-FFF2-40B4-BE49-F238E27FC236}">
                <a16:creationId xmlns:a16="http://schemas.microsoft.com/office/drawing/2014/main" id="{66798B0D-BE18-8B5A-8874-1E7E72395C08}"/>
              </a:ext>
            </a:extLst>
          </p:cNvPr>
          <p:cNvSpPr/>
          <p:nvPr/>
        </p:nvSpPr>
        <p:spPr>
          <a:xfrm>
            <a:off x="9183022" y="4468654"/>
            <a:ext cx="371214" cy="91440"/>
          </a:xfrm>
          <a:custGeom>
            <a:avLst/>
            <a:gdLst>
              <a:gd name="csX0" fmla="*/ 0 w 371214"/>
              <a:gd name="csY0" fmla="*/ 45720 h 91440"/>
              <a:gd name="csX1" fmla="*/ 371214 w 371214"/>
              <a:gd name="csY1" fmla="*/ 45720 h 91440"/>
            </a:gdLst>
            <a:ahLst/>
            <a:cxnLst>
              <a:cxn ang="0">
                <a:pos x="csX0" y="csY0"/>
              </a:cxn>
              <a:cxn ang="0">
                <a:pos x="csX1" y="csY1"/>
              </a:cxn>
            </a:cxnLst>
            <a:rect l="l" t="t" r="r" b="b"/>
            <a:pathLst>
              <a:path w="371214" h="91440">
                <a:moveTo>
                  <a:pt x="0" y="45720"/>
                </a:moveTo>
                <a:lnTo>
                  <a:pt x="371214" y="45720"/>
                </a:lnTo>
              </a:path>
            </a:pathLst>
          </a:cu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88261" tIns="43711" rIns="188263" bIns="43711" numCol="1" spcCol="1270" anchor="ctr" anchorCtr="0">
            <a:noAutofit/>
          </a:bodyPr>
          <a:lstStyle/>
          <a:p>
            <a:pPr marL="0" lvl="0" indent="0" algn="ctr" defTabSz="222250">
              <a:lnSpc>
                <a:spcPct val="90000"/>
              </a:lnSpc>
              <a:spcBef>
                <a:spcPct val="0"/>
              </a:spcBef>
              <a:spcAft>
                <a:spcPct val="35000"/>
              </a:spcAft>
              <a:buNone/>
            </a:pPr>
            <a:endParaRPr lang="en-NL" sz="500" kern="1200"/>
          </a:p>
        </p:txBody>
      </p:sp>
      <p:sp>
        <p:nvSpPr>
          <p:cNvPr id="17" name="Freeform: Shape 16">
            <a:extLst>
              <a:ext uri="{FF2B5EF4-FFF2-40B4-BE49-F238E27FC236}">
                <a16:creationId xmlns:a16="http://schemas.microsoft.com/office/drawing/2014/main" id="{565D8551-9432-CFA7-C55D-8B22E74C64A3}"/>
              </a:ext>
            </a:extLst>
          </p:cNvPr>
          <p:cNvSpPr/>
          <p:nvPr/>
        </p:nvSpPr>
        <p:spPr>
          <a:xfrm>
            <a:off x="7437804" y="3990269"/>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marL="0" lvl="0" indent="0" algn="l" defTabSz="400050">
              <a:lnSpc>
                <a:spcPct val="90000"/>
              </a:lnSpc>
              <a:spcBef>
                <a:spcPct val="0"/>
              </a:spcBef>
              <a:spcAft>
                <a:spcPct val="35000"/>
              </a:spcAft>
              <a:buNone/>
            </a:pPr>
            <a:r>
              <a:rPr lang="en-US" sz="900" b="1" u="none" kern="1200" dirty="0">
                <a:solidFill>
                  <a:schemeClr val="bg1"/>
                </a:solidFill>
              </a:rPr>
              <a:t>Scenario 5:</a:t>
            </a:r>
            <a:r>
              <a:rPr lang="en-US" sz="900" b="0" u="none" kern="1200" dirty="0">
                <a:solidFill>
                  <a:schemeClr val="bg1"/>
                </a:solidFill>
              </a:rPr>
              <a:t> </a:t>
            </a:r>
            <a:r>
              <a:rPr lang="en-US" sz="900" kern="1200" dirty="0">
                <a:solidFill>
                  <a:schemeClr val="bg1"/>
                </a:solidFill>
              </a:rPr>
              <a:t>Assess (re)use options around one selected concept</a:t>
            </a:r>
            <a:endParaRPr lang="en-NL" sz="900" kern="1200" dirty="0">
              <a:solidFill>
                <a:schemeClr val="bg1"/>
              </a:solidFill>
            </a:endParaRPr>
          </a:p>
        </p:txBody>
      </p:sp>
      <p:sp>
        <p:nvSpPr>
          <p:cNvPr id="18" name="Freeform: Shape 17">
            <a:extLst>
              <a:ext uri="{FF2B5EF4-FFF2-40B4-BE49-F238E27FC236}">
                <a16:creationId xmlns:a16="http://schemas.microsoft.com/office/drawing/2014/main" id="{12BA6383-BBE3-545E-7A37-92CD22D1EAD9}"/>
              </a:ext>
            </a:extLst>
          </p:cNvPr>
          <p:cNvSpPr/>
          <p:nvPr/>
        </p:nvSpPr>
        <p:spPr>
          <a:xfrm>
            <a:off x="9586636" y="3990269"/>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a:solidFill>
            <a:schemeClr val="accent3">
              <a:lumMod val="20000"/>
              <a:lumOff val="80000"/>
            </a:schemeClr>
          </a:solidFill>
          <a:ln>
            <a:solidFill>
              <a:schemeClr val="accent1"/>
            </a:solidFill>
          </a:ln>
        </p:spPr>
        <p:style>
          <a:lnRef idx="0">
            <a:scrgbClr r="0" g="0" b="0"/>
          </a:lnRef>
          <a:fillRef idx="3">
            <a:scrgbClr r="0" g="0" b="0"/>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marL="0" lvl="0" indent="0" algn="l" defTabSz="400050">
              <a:lnSpc>
                <a:spcPct val="90000"/>
              </a:lnSpc>
              <a:spcBef>
                <a:spcPct val="0"/>
              </a:spcBef>
              <a:spcAft>
                <a:spcPct val="35000"/>
              </a:spcAft>
              <a:buNone/>
            </a:pPr>
            <a:r>
              <a:rPr lang="en-US" sz="900" b="1" kern="1200" dirty="0">
                <a:solidFill>
                  <a:schemeClr val="accent1"/>
                </a:solidFill>
              </a:rPr>
              <a:t>Result:</a:t>
            </a:r>
            <a:r>
              <a:rPr lang="en-US" sz="900" kern="1200" dirty="0">
                <a:solidFill>
                  <a:schemeClr val="accent1"/>
                </a:solidFill>
              </a:rPr>
              <a:t> Amir could move from label-based guessing to a defensible decision, identifying which variable fits his study and which related concepts align, should be ruled out, or only partially overlap.</a:t>
            </a:r>
            <a:endParaRPr lang="en-NL" sz="900" kern="1200" dirty="0">
              <a:solidFill>
                <a:schemeClr val="accent1"/>
              </a:solidFill>
            </a:endParaRPr>
          </a:p>
        </p:txBody>
      </p:sp>
      <p:sp>
        <p:nvSpPr>
          <p:cNvPr id="4" name="Slide Number Placeholder 3">
            <a:extLst>
              <a:ext uri="{FF2B5EF4-FFF2-40B4-BE49-F238E27FC236}">
                <a16:creationId xmlns:a16="http://schemas.microsoft.com/office/drawing/2014/main" id="{7CE6BC92-88F3-98DF-1AD8-470B7A6A401E}"/>
              </a:ext>
            </a:extLst>
          </p:cNvPr>
          <p:cNvSpPr>
            <a:spLocks noGrp="1"/>
          </p:cNvSpPr>
          <p:nvPr>
            <p:ph type="sldNum" sz="quarter" idx="12"/>
          </p:nvPr>
        </p:nvSpPr>
        <p:spPr/>
        <p:txBody>
          <a:bodyPr/>
          <a:lstStyle/>
          <a:p>
            <a:fld id="{4FAB73BC-B049-4115-A692-8D63A059BFB8}" type="slidenum">
              <a:rPr lang="en-US" smtClean="0"/>
              <a:pPr/>
              <a:t>5</a:t>
            </a:fld>
            <a:endParaRPr lang="en-US" dirty="0"/>
          </a:p>
        </p:txBody>
      </p:sp>
      <p:sp>
        <p:nvSpPr>
          <p:cNvPr id="9" name="Freeform: Shape 8">
            <a:extLst>
              <a:ext uri="{FF2B5EF4-FFF2-40B4-BE49-F238E27FC236}">
                <a16:creationId xmlns:a16="http://schemas.microsoft.com/office/drawing/2014/main" id="{AF1D1398-C7E6-D601-17FE-8B1E895BFCEE}"/>
              </a:ext>
            </a:extLst>
          </p:cNvPr>
          <p:cNvSpPr/>
          <p:nvPr/>
        </p:nvSpPr>
        <p:spPr>
          <a:xfrm>
            <a:off x="5288972" y="2540244"/>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lvl="0" defTabSz="400050">
              <a:lnSpc>
                <a:spcPct val="90000"/>
              </a:lnSpc>
              <a:spcBef>
                <a:spcPct val="0"/>
              </a:spcBef>
              <a:spcAft>
                <a:spcPct val="35000"/>
              </a:spcAft>
            </a:pPr>
            <a:r>
              <a:rPr lang="it-IT" sz="900" b="1" u="none" kern="1200" dirty="0"/>
              <a:t>Scenario 1: </a:t>
            </a:r>
            <a:r>
              <a:rPr lang="en-US" sz="900" dirty="0"/>
              <a:t>Clarify Meanings Before Reuse</a:t>
            </a:r>
            <a:endParaRPr lang="en-NL" sz="900" b="0" u="none" kern="1200" dirty="0"/>
          </a:p>
        </p:txBody>
      </p:sp>
      <p:sp>
        <p:nvSpPr>
          <p:cNvPr id="3" name="TextBox 2">
            <a:extLst>
              <a:ext uri="{FF2B5EF4-FFF2-40B4-BE49-F238E27FC236}">
                <a16:creationId xmlns:a16="http://schemas.microsoft.com/office/drawing/2014/main" id="{3462EA0E-37EF-5F9F-0E96-4D3CCB7CF1B5}"/>
              </a:ext>
            </a:extLst>
          </p:cNvPr>
          <p:cNvSpPr txBox="1"/>
          <p:nvPr/>
        </p:nvSpPr>
        <p:spPr>
          <a:xfrm>
            <a:off x="695326" y="5488285"/>
            <a:ext cx="5398870" cy="461665"/>
          </a:xfrm>
          <a:prstGeom prst="rect">
            <a:avLst/>
          </a:prstGeom>
          <a:solidFill>
            <a:schemeClr val="accent1">
              <a:lumMod val="20000"/>
              <a:lumOff val="80000"/>
            </a:schemeClr>
          </a:solidFill>
          <a:ln>
            <a:noFill/>
          </a:ln>
          <a:effectLst/>
          <a:scene3d>
            <a:camera prst="orthographicFront">
              <a:rot lat="0" lon="0" rev="0"/>
            </a:camera>
            <a:lightRig rig="contrasting" dir="t">
              <a:rot lat="0" lon="0" rev="7800000"/>
            </a:lightRig>
          </a:scene3d>
          <a:sp3d>
            <a:bevelT w="139700" h="139700"/>
          </a:sp3d>
        </p:spPr>
        <p:txBody>
          <a:bodyPr wrap="square" rtlCol="0" anchor="ctr">
            <a:spAutoFit/>
          </a:bodyPr>
          <a:lstStyle/>
          <a:p>
            <a:pPr algn="ctr"/>
            <a:r>
              <a:rPr lang="en-US" sz="2400" b="1" dirty="0">
                <a:solidFill>
                  <a:schemeClr val="accent1">
                    <a:lumMod val="50000"/>
                  </a:schemeClr>
                </a:solidFill>
              </a:rPr>
              <a:t>Dr. Amir Hassan — Researcher</a:t>
            </a:r>
            <a:endParaRPr lang="en-US" sz="2400" dirty="0">
              <a:solidFill>
                <a:schemeClr val="accent1">
                  <a:lumMod val="50000"/>
                </a:schemeClr>
              </a:solidFill>
            </a:endParaRPr>
          </a:p>
        </p:txBody>
      </p:sp>
    </p:spTree>
    <p:extLst>
      <p:ext uri="{BB962C8B-B14F-4D97-AF65-F5344CB8AC3E}">
        <p14:creationId xmlns:p14="http://schemas.microsoft.com/office/powerpoint/2010/main" val="8009514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fill="hold" grpId="0" nodeType="withEffect">
                                  <p:stCondLst>
                                    <p:cond delay="0"/>
                                  </p:stCondLst>
                                  <p:childTnLst>
                                    <p:animScale>
                                      <p:cBhvr>
                                        <p:cTn id="6" dur="1000" fill="hold"/>
                                        <p:tgtEl>
                                          <p:spTgt spid="9"/>
                                        </p:tgtEl>
                                      </p:cBhvr>
                                      <p:by x="150000" y="150000"/>
                                    </p:animScale>
                                  </p:childTnLst>
                                </p:cTn>
                              </p:par>
                              <p:par>
                                <p:cTn id="7" presetID="9" presetClass="emph" presetSubtype="0" grpId="0" nodeType="withEffect">
                                  <p:stCondLst>
                                    <p:cond delay="0"/>
                                  </p:stCondLst>
                                  <p:childTnLst>
                                    <p:set>
                                      <p:cBhvr>
                                        <p:cTn id="8" dur="indefinite"/>
                                        <p:tgtEl>
                                          <p:spTgt spid="11"/>
                                        </p:tgtEl>
                                        <p:attrNameLst>
                                          <p:attrName>style.opacity</p:attrName>
                                        </p:attrNameLst>
                                      </p:cBhvr>
                                      <p:to>
                                        <p:strVal val="0.5"/>
                                      </p:to>
                                    </p:set>
                                    <p:animEffect filter="image" prLst="opacity: 0.5">
                                      <p:cBhvr rctx="IE">
                                        <p:cTn id="9" dur="indefinite"/>
                                        <p:tgtEl>
                                          <p:spTgt spid="11"/>
                                        </p:tgtEl>
                                      </p:cBhvr>
                                    </p:animEffect>
                                  </p:childTnLst>
                                </p:cTn>
                              </p:par>
                              <p:par>
                                <p:cTn id="10" presetID="9" presetClass="emph" presetSubtype="0" grpId="0" nodeType="withEffect">
                                  <p:stCondLst>
                                    <p:cond delay="0"/>
                                  </p:stCondLst>
                                  <p:childTnLst>
                                    <p:set>
                                      <p:cBhvr>
                                        <p:cTn id="11" dur="indefinite"/>
                                        <p:tgtEl>
                                          <p:spTgt spid="13"/>
                                        </p:tgtEl>
                                        <p:attrNameLst>
                                          <p:attrName>style.opacity</p:attrName>
                                        </p:attrNameLst>
                                      </p:cBhvr>
                                      <p:to>
                                        <p:strVal val="0.5"/>
                                      </p:to>
                                    </p:set>
                                    <p:animEffect filter="image" prLst="opacity: 0.5">
                                      <p:cBhvr rctx="IE">
                                        <p:cTn id="12" dur="indefinite"/>
                                        <p:tgtEl>
                                          <p:spTgt spid="13"/>
                                        </p:tgtEl>
                                      </p:cBhvr>
                                    </p:animEffect>
                                  </p:childTnLst>
                                </p:cTn>
                              </p:par>
                              <p:par>
                                <p:cTn id="13" presetID="9" presetClass="emph" presetSubtype="0" grpId="0" nodeType="withEffect">
                                  <p:stCondLst>
                                    <p:cond delay="0"/>
                                  </p:stCondLst>
                                  <p:childTnLst>
                                    <p:set>
                                      <p:cBhvr>
                                        <p:cTn id="14" dur="indefinite"/>
                                        <p:tgtEl>
                                          <p:spTgt spid="18"/>
                                        </p:tgtEl>
                                        <p:attrNameLst>
                                          <p:attrName>style.opacity</p:attrName>
                                        </p:attrNameLst>
                                      </p:cBhvr>
                                      <p:to>
                                        <p:strVal val="0.5"/>
                                      </p:to>
                                    </p:set>
                                    <p:animEffect filter="image" prLst="opacity: 0.5">
                                      <p:cBhvr rctx="IE">
                                        <p:cTn id="15" dur="indefinite"/>
                                        <p:tgtEl>
                                          <p:spTgt spid="18"/>
                                        </p:tgtEl>
                                      </p:cBhvr>
                                    </p:animEffect>
                                  </p:childTnLst>
                                </p:cTn>
                              </p:par>
                              <p:par>
                                <p:cTn id="16" presetID="9" presetClass="emph" presetSubtype="0" grpId="0" nodeType="withEffect">
                                  <p:stCondLst>
                                    <p:cond delay="0"/>
                                  </p:stCondLst>
                                  <p:childTnLst>
                                    <p:set>
                                      <p:cBhvr>
                                        <p:cTn id="17" dur="indefinite"/>
                                        <p:tgtEl>
                                          <p:spTgt spid="17"/>
                                        </p:tgtEl>
                                        <p:attrNameLst>
                                          <p:attrName>style.opacity</p:attrName>
                                        </p:attrNameLst>
                                      </p:cBhvr>
                                      <p:to>
                                        <p:strVal val="0.5"/>
                                      </p:to>
                                    </p:set>
                                    <p:animEffect filter="image" prLst="opacity: 0.5">
                                      <p:cBhvr rctx="IE">
                                        <p:cTn id="18" dur="indefinite"/>
                                        <p:tgtEl>
                                          <p:spTgt spid="17"/>
                                        </p:tgtEl>
                                      </p:cBhvr>
                                    </p:animEffect>
                                  </p:childTnLst>
                                </p:cTn>
                              </p:par>
                              <p:par>
                                <p:cTn id="19" presetID="9" presetClass="emph" presetSubtype="0" grpId="0" nodeType="withEffect">
                                  <p:stCondLst>
                                    <p:cond delay="0"/>
                                  </p:stCondLst>
                                  <p:childTnLst>
                                    <p:set>
                                      <p:cBhvr>
                                        <p:cTn id="20" dur="indefinite"/>
                                        <p:tgtEl>
                                          <p:spTgt spid="15"/>
                                        </p:tgtEl>
                                        <p:attrNameLst>
                                          <p:attrName>style.opacity</p:attrName>
                                        </p:attrNameLst>
                                      </p:cBhvr>
                                      <p:to>
                                        <p:strVal val="0.5"/>
                                      </p:to>
                                    </p:set>
                                    <p:animEffect filter="image" prLst="opacity: 0.5">
                                      <p:cBhvr rctx="IE">
                                        <p:cTn id="21" dur="indefinite"/>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3" grpId="0" animBg="1"/>
      <p:bldP spid="15" grpId="0" animBg="1"/>
      <p:bldP spid="17" grpId="0" animBg="1"/>
      <p:bldP spid="18" grpId="0" animBg="1"/>
      <p:bldP spid="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69AFA945-1893-2559-9413-D30945BF8C03}"/>
              </a:ext>
            </a:extLst>
          </p:cNvPr>
          <p:cNvSpPr/>
          <p:nvPr/>
        </p:nvSpPr>
        <p:spPr>
          <a:xfrm>
            <a:off x="695324" y="1623815"/>
            <a:ext cx="10801350" cy="1404000"/>
          </a:xfrm>
          <a:prstGeom prst="rect">
            <a:avLst/>
          </a:prstGeom>
          <a:solidFill>
            <a:schemeClr val="accent1">
              <a:alpha val="3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NL"/>
          </a:p>
        </p:txBody>
      </p:sp>
      <p:sp>
        <p:nvSpPr>
          <p:cNvPr id="2" name="Title 1">
            <a:extLst>
              <a:ext uri="{FF2B5EF4-FFF2-40B4-BE49-F238E27FC236}">
                <a16:creationId xmlns:a16="http://schemas.microsoft.com/office/drawing/2014/main" id="{76BF8C83-389F-B21A-AFCF-2FEA93CEF33B}"/>
              </a:ext>
            </a:extLst>
          </p:cNvPr>
          <p:cNvSpPr>
            <a:spLocks noGrp="1"/>
          </p:cNvSpPr>
          <p:nvPr>
            <p:ph type="title"/>
          </p:nvPr>
        </p:nvSpPr>
        <p:spPr>
          <a:xfrm>
            <a:off x="695327" y="386001"/>
            <a:ext cx="9631560" cy="929259"/>
          </a:xfrm>
        </p:spPr>
        <p:txBody>
          <a:bodyPr/>
          <a:lstStyle/>
          <a:p>
            <a:r>
              <a:rPr lang="en-US" sz="3600" dirty="0"/>
              <a:t>Available Sex and Gender Variables by Dataset</a:t>
            </a:r>
            <a:endParaRPr lang="en-NL" sz="3600" dirty="0"/>
          </a:p>
        </p:txBody>
      </p:sp>
      <p:graphicFrame>
        <p:nvGraphicFramePr>
          <p:cNvPr id="5" name="Content Placeholder 4">
            <a:extLst>
              <a:ext uri="{FF2B5EF4-FFF2-40B4-BE49-F238E27FC236}">
                <a16:creationId xmlns:a16="http://schemas.microsoft.com/office/drawing/2014/main" id="{7565DBB2-704F-B573-7584-BDDA8045AD7D}"/>
              </a:ext>
            </a:extLst>
          </p:cNvPr>
          <p:cNvGraphicFramePr>
            <a:graphicFrameLocks noGrp="1"/>
          </p:cNvGraphicFramePr>
          <p:nvPr>
            <p:ph idx="1"/>
            <p:extLst>
              <p:ext uri="{D42A27DB-BD31-4B8C-83A1-F6EECF244321}">
                <p14:modId xmlns:p14="http://schemas.microsoft.com/office/powerpoint/2010/main" val="3283705154"/>
              </p:ext>
            </p:extLst>
          </p:nvPr>
        </p:nvGraphicFramePr>
        <p:xfrm>
          <a:off x="911224" y="1671106"/>
          <a:ext cx="5944059" cy="128376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1404382">
                  <a:extLst>
                    <a:ext uri="{9D8B030D-6E8A-4147-A177-3AD203B41FA5}">
                      <a16:colId xmlns:a16="http://schemas.microsoft.com/office/drawing/2014/main" val="979315127"/>
                    </a:ext>
                  </a:extLst>
                </a:gridCol>
                <a:gridCol w="1731677">
                  <a:extLst>
                    <a:ext uri="{9D8B030D-6E8A-4147-A177-3AD203B41FA5}">
                      <a16:colId xmlns:a16="http://schemas.microsoft.com/office/drawing/2014/main" val="2075302567"/>
                    </a:ext>
                  </a:extLst>
                </a:gridCol>
                <a:gridCol w="1404000">
                  <a:extLst>
                    <a:ext uri="{9D8B030D-6E8A-4147-A177-3AD203B41FA5}">
                      <a16:colId xmlns:a16="http://schemas.microsoft.com/office/drawing/2014/main" val="660631070"/>
                    </a:ext>
                  </a:extLst>
                </a:gridCol>
                <a:gridCol w="1404000">
                  <a:extLst>
                    <a:ext uri="{9D8B030D-6E8A-4147-A177-3AD203B41FA5}">
                      <a16:colId xmlns:a16="http://schemas.microsoft.com/office/drawing/2014/main" val="1525013378"/>
                    </a:ext>
                  </a:extLst>
                </a:gridCol>
              </a:tblGrid>
              <a:tr h="360000">
                <a:tc>
                  <a:txBody>
                    <a:bodyPr/>
                    <a:lstStyle/>
                    <a:p>
                      <a:r>
                        <a:rPr lang="en-US" sz="1100" dirty="0" err="1"/>
                        <a:t>patient_id</a:t>
                      </a:r>
                      <a:endParaRPr lang="en-NL" sz="1100" dirty="0"/>
                    </a:p>
                  </a:txBody>
                  <a:tcPr marL="72000" anchor="ctr"/>
                </a:tc>
                <a:tc>
                  <a:txBody>
                    <a:bodyPr/>
                    <a:lstStyle/>
                    <a:p>
                      <a:pPr marL="0" algn="l" defTabSz="914400" rtl="0" eaLnBrk="1" latinLnBrk="0" hangingPunct="1"/>
                      <a:r>
                        <a:rPr lang="en-US" sz="900" b="1" kern="1200" dirty="0" err="1">
                          <a:solidFill>
                            <a:schemeClr val="lt1"/>
                          </a:solidFill>
                          <a:latin typeface="+mn-lt"/>
                          <a:ea typeface="+mn-ea"/>
                          <a:cs typeface="+mn-cs"/>
                        </a:rPr>
                        <a:t>care-sm:Sex</a:t>
                      </a:r>
                      <a:endParaRPr lang="en-US" sz="900" b="1" kern="1200" dirty="0">
                        <a:solidFill>
                          <a:schemeClr val="lt1"/>
                        </a:solidFill>
                        <a:latin typeface="+mn-lt"/>
                        <a:ea typeface="+mn-ea"/>
                        <a:cs typeface="+mn-cs"/>
                      </a:endParaRPr>
                    </a:p>
                    <a:p>
                      <a:pPr marL="0" algn="l" defTabSz="914400" rtl="0" eaLnBrk="1" latinLnBrk="0" hangingPunct="1"/>
                      <a:r>
                        <a:rPr lang="en-US" sz="900" b="1" kern="1200" dirty="0">
                          <a:solidFill>
                            <a:schemeClr val="lt1"/>
                          </a:solidFill>
                          <a:latin typeface="+mn-lt"/>
                          <a:ea typeface="+mn-ea"/>
                          <a:cs typeface="+mn-cs"/>
                        </a:rPr>
                        <a:t>("Biological sex"@</a:t>
                      </a:r>
                      <a:r>
                        <a:rPr lang="en-US" sz="900" b="1" kern="1200" dirty="0" err="1">
                          <a:solidFill>
                            <a:schemeClr val="lt1"/>
                          </a:solidFill>
                          <a:latin typeface="+mn-lt"/>
                          <a:ea typeface="+mn-ea"/>
                          <a:cs typeface="+mn-cs"/>
                        </a:rPr>
                        <a:t>en</a:t>
                      </a:r>
                      <a:r>
                        <a:rPr lang="en-US" sz="900" b="1" kern="1200" dirty="0">
                          <a:solidFill>
                            <a:schemeClr val="lt1"/>
                          </a:solidFill>
                          <a:latin typeface="+mn-lt"/>
                          <a:ea typeface="+mn-ea"/>
                          <a:cs typeface="+mn-cs"/>
                        </a:rPr>
                        <a:t>)</a:t>
                      </a:r>
                    </a:p>
                  </a:txBody>
                  <a:tcPr marL="72000" anchor="ctr"/>
                </a:tc>
                <a:tc>
                  <a:txBody>
                    <a:bodyPr/>
                    <a:lstStyle/>
                    <a:p>
                      <a:r>
                        <a:rPr lang="en-US" sz="1100" dirty="0" err="1"/>
                        <a:t>birth_year</a:t>
                      </a:r>
                      <a:endParaRPr lang="en-NL" sz="1100" dirty="0"/>
                    </a:p>
                  </a:txBody>
                  <a:tcPr marL="72000" anchor="ctr"/>
                </a:tc>
                <a:tc>
                  <a:txBody>
                    <a:bodyPr/>
                    <a:lstStyle/>
                    <a:p>
                      <a:r>
                        <a:rPr lang="en-US" sz="1100" dirty="0" err="1"/>
                        <a:t>residence_code</a:t>
                      </a:r>
                      <a:endParaRPr lang="en-NL" sz="1100" dirty="0"/>
                    </a:p>
                  </a:txBody>
                  <a:tcPr marL="72000" anchor="ctr"/>
                </a:tc>
                <a:extLst>
                  <a:ext uri="{0D108BD9-81ED-4DB2-BD59-A6C34878D82A}">
                    <a16:rowId xmlns:a16="http://schemas.microsoft.com/office/drawing/2014/main" val="3012902903"/>
                  </a:ext>
                </a:extLst>
              </a:tr>
              <a:tr h="306000">
                <a:tc>
                  <a:txBody>
                    <a:bodyPr/>
                    <a:lstStyle/>
                    <a:p>
                      <a:r>
                        <a:rPr lang="en-US" sz="1100" dirty="0"/>
                        <a:t>NPR-001</a:t>
                      </a:r>
                      <a:endParaRPr lang="en-NL" sz="1100" dirty="0"/>
                    </a:p>
                  </a:txBody>
                  <a:tcPr marL="72000" anchor="ctr"/>
                </a:tc>
                <a:tc>
                  <a:txBody>
                    <a:bodyPr/>
                    <a:lstStyle/>
                    <a:p>
                      <a:r>
                        <a:rPr lang="en-US" sz="1100" b="1" dirty="0"/>
                        <a:t>female</a:t>
                      </a:r>
                      <a:endParaRPr lang="en-NL" sz="1100" b="1" dirty="0"/>
                    </a:p>
                  </a:txBody>
                  <a:tcPr marL="72000" anchor="ctr"/>
                </a:tc>
                <a:tc>
                  <a:txBody>
                    <a:bodyPr/>
                    <a:lstStyle/>
                    <a:p>
                      <a:r>
                        <a:rPr lang="en-US" sz="1100" dirty="0"/>
                        <a:t>1987</a:t>
                      </a:r>
                      <a:endParaRPr lang="en-NL" sz="1100" dirty="0"/>
                    </a:p>
                  </a:txBody>
                  <a:tcPr marL="72000" anchor="ctr"/>
                </a:tc>
                <a:tc>
                  <a:txBody>
                    <a:bodyPr/>
                    <a:lstStyle/>
                    <a:p>
                      <a:r>
                        <a:rPr lang="en-US" sz="1100" dirty="0"/>
                        <a:t>0363</a:t>
                      </a:r>
                      <a:endParaRPr lang="en-NL" sz="1100" dirty="0"/>
                    </a:p>
                  </a:txBody>
                  <a:tcPr marL="72000" anchor="ctr"/>
                </a:tc>
                <a:extLst>
                  <a:ext uri="{0D108BD9-81ED-4DB2-BD59-A6C34878D82A}">
                    <a16:rowId xmlns:a16="http://schemas.microsoft.com/office/drawing/2014/main" val="1249708150"/>
                  </a:ext>
                </a:extLst>
              </a:tr>
              <a:tr h="306000">
                <a:tc>
                  <a:txBody>
                    <a:bodyPr/>
                    <a:lstStyle/>
                    <a:p>
                      <a:r>
                        <a:rPr lang="en-US" sz="1100" dirty="0"/>
                        <a:t>NPR-002</a:t>
                      </a:r>
                      <a:endParaRPr lang="en-NL" sz="1100" dirty="0"/>
                    </a:p>
                  </a:txBody>
                  <a:tcPr marL="72000" anchor="ctr"/>
                </a:tc>
                <a:tc>
                  <a:txBody>
                    <a:bodyPr/>
                    <a:lstStyle/>
                    <a:p>
                      <a:r>
                        <a:rPr lang="en-US" sz="1100" b="1" dirty="0"/>
                        <a:t>male</a:t>
                      </a:r>
                      <a:endParaRPr lang="en-NL" sz="1100" b="1" dirty="0"/>
                    </a:p>
                  </a:txBody>
                  <a:tcPr marL="72000" anchor="ctr"/>
                </a:tc>
                <a:tc>
                  <a:txBody>
                    <a:bodyPr/>
                    <a:lstStyle/>
                    <a:p>
                      <a:r>
                        <a:rPr lang="en-US" sz="1100" dirty="0"/>
                        <a:t>1979</a:t>
                      </a:r>
                      <a:endParaRPr lang="en-NL" sz="1100" dirty="0"/>
                    </a:p>
                  </a:txBody>
                  <a:tcPr marL="72000" anchor="ctr"/>
                </a:tc>
                <a:tc>
                  <a:txBody>
                    <a:bodyPr/>
                    <a:lstStyle/>
                    <a:p>
                      <a:r>
                        <a:rPr lang="en-US" sz="1100" dirty="0"/>
                        <a:t>0599</a:t>
                      </a:r>
                      <a:endParaRPr lang="en-NL" sz="1100" dirty="0"/>
                    </a:p>
                  </a:txBody>
                  <a:tcPr marL="72000" anchor="ctr"/>
                </a:tc>
                <a:extLst>
                  <a:ext uri="{0D108BD9-81ED-4DB2-BD59-A6C34878D82A}">
                    <a16:rowId xmlns:a16="http://schemas.microsoft.com/office/drawing/2014/main" val="3850974854"/>
                  </a:ext>
                </a:extLst>
              </a:tr>
              <a:tr h="306000">
                <a:tc>
                  <a:txBody>
                    <a:bodyPr/>
                    <a:lstStyle/>
                    <a:p>
                      <a:r>
                        <a:rPr lang="en-US" sz="1100" dirty="0"/>
                        <a:t>NPR-003</a:t>
                      </a:r>
                      <a:endParaRPr lang="en-NL" sz="1100" dirty="0"/>
                    </a:p>
                  </a:txBody>
                  <a:tcPr marL="72000" anchor="ctr"/>
                </a:tc>
                <a:tc>
                  <a:txBody>
                    <a:bodyPr/>
                    <a:lstStyle/>
                    <a:p>
                      <a:r>
                        <a:rPr lang="en-US" sz="1100" b="1" dirty="0"/>
                        <a:t>female</a:t>
                      </a:r>
                      <a:endParaRPr lang="en-NL" sz="1100" b="1" dirty="0"/>
                    </a:p>
                  </a:txBody>
                  <a:tcPr marL="72000" anchor="ctr"/>
                </a:tc>
                <a:tc>
                  <a:txBody>
                    <a:bodyPr/>
                    <a:lstStyle/>
                    <a:p>
                      <a:r>
                        <a:rPr lang="en-US" sz="1100" dirty="0"/>
                        <a:t>1994</a:t>
                      </a:r>
                      <a:endParaRPr lang="en-NL" sz="1100" dirty="0"/>
                    </a:p>
                  </a:txBody>
                  <a:tcPr marL="72000" anchor="ctr"/>
                </a:tc>
                <a:tc>
                  <a:txBody>
                    <a:bodyPr/>
                    <a:lstStyle/>
                    <a:p>
                      <a:r>
                        <a:rPr lang="en-US" sz="1100" dirty="0"/>
                        <a:t>0518</a:t>
                      </a:r>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4" name="Slide Number Placeholder 3">
            <a:extLst>
              <a:ext uri="{FF2B5EF4-FFF2-40B4-BE49-F238E27FC236}">
                <a16:creationId xmlns:a16="http://schemas.microsoft.com/office/drawing/2014/main" id="{A18E327C-53A7-8E65-1A94-E23FF1988363}"/>
              </a:ext>
            </a:extLst>
          </p:cNvPr>
          <p:cNvSpPr>
            <a:spLocks noGrp="1"/>
          </p:cNvSpPr>
          <p:nvPr>
            <p:ph type="sldNum" sz="quarter" idx="12"/>
          </p:nvPr>
        </p:nvSpPr>
        <p:spPr/>
        <p:txBody>
          <a:bodyPr/>
          <a:lstStyle/>
          <a:p>
            <a:fld id="{4FAB73BC-B049-4115-A692-8D63A059BFB8}" type="slidenum">
              <a:rPr lang="en-US" smtClean="0"/>
              <a:pPr/>
              <a:t>6</a:t>
            </a:fld>
            <a:endParaRPr lang="en-US" dirty="0"/>
          </a:p>
        </p:txBody>
      </p:sp>
      <p:sp>
        <p:nvSpPr>
          <p:cNvPr id="7" name="TextBox 6">
            <a:extLst>
              <a:ext uri="{FF2B5EF4-FFF2-40B4-BE49-F238E27FC236}">
                <a16:creationId xmlns:a16="http://schemas.microsoft.com/office/drawing/2014/main" id="{386B7381-B2DD-59B3-A5C4-48AF7A602B88}"/>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a:t>
            </a:r>
            <a:r>
              <a:rPr lang="en-US" sz="1200" b="1" cap="small" spc="100" dirty="0">
                <a:solidFill>
                  <a:srgbClr val="000000">
                    <a:lumMod val="95000"/>
                    <a:lumOff val="5000"/>
                  </a:srgbClr>
                </a:solidFill>
                <a:latin typeface="Aptos" panose="020B0004020202020204" pitchFamily="34" charset="0"/>
                <a:ea typeface="+mj-ea"/>
                <a:cs typeface="+mj-cs"/>
              </a:rPr>
              <a:t>1</a:t>
            </a:r>
            <a:endParaRPr lang="en-NL" sz="1000" b="1" dirty="0"/>
          </a:p>
        </p:txBody>
      </p:sp>
      <p:sp>
        <p:nvSpPr>
          <p:cNvPr id="12" name="Rectangle 11">
            <a:extLst>
              <a:ext uri="{FF2B5EF4-FFF2-40B4-BE49-F238E27FC236}">
                <a16:creationId xmlns:a16="http://schemas.microsoft.com/office/drawing/2014/main" id="{B99037ED-A18E-FD21-F042-A64ED8B03A54}"/>
              </a:ext>
            </a:extLst>
          </p:cNvPr>
          <p:cNvSpPr/>
          <p:nvPr/>
        </p:nvSpPr>
        <p:spPr>
          <a:xfrm>
            <a:off x="695323" y="3080962"/>
            <a:ext cx="10801350" cy="1404000"/>
          </a:xfrm>
          <a:prstGeom prst="rect">
            <a:avLst/>
          </a:prstGeom>
          <a:solidFill>
            <a:schemeClr val="accent2">
              <a:alpha val="3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NL"/>
          </a:p>
        </p:txBody>
      </p:sp>
      <p:graphicFrame>
        <p:nvGraphicFramePr>
          <p:cNvPr id="8" name="Content Placeholder 4">
            <a:extLst>
              <a:ext uri="{FF2B5EF4-FFF2-40B4-BE49-F238E27FC236}">
                <a16:creationId xmlns:a16="http://schemas.microsoft.com/office/drawing/2014/main" id="{3142EA65-C6D9-C7AD-DECD-9B8E0EEFF4C4}"/>
              </a:ext>
            </a:extLst>
          </p:cNvPr>
          <p:cNvGraphicFramePr>
            <a:graphicFrameLocks/>
          </p:cNvGraphicFramePr>
          <p:nvPr>
            <p:extLst>
              <p:ext uri="{D42A27DB-BD31-4B8C-83A1-F6EECF244321}">
                <p14:modId xmlns:p14="http://schemas.microsoft.com/office/powerpoint/2010/main" val="3365733472"/>
              </p:ext>
            </p:extLst>
          </p:nvPr>
        </p:nvGraphicFramePr>
        <p:xfrm>
          <a:off x="911224" y="3134091"/>
          <a:ext cx="5944059" cy="1272543"/>
        </p:xfrm>
        <a:graphic>
          <a:graphicData uri="http://schemas.openxmlformats.org/drawingml/2006/table">
            <a:tbl>
              <a:tblPr firstRow="1" bandRow="1">
                <a:effectLst>
                  <a:outerShdw blurRad="50800" dist="38100" dir="2700000" algn="tl" rotWithShape="0">
                    <a:prstClr val="black">
                      <a:alpha val="40000"/>
                    </a:prstClr>
                  </a:outerShdw>
                </a:effectLst>
                <a:tableStyleId>{21E4AEA4-8DFA-4A89-87EB-49C32662AFE0}</a:tableStyleId>
              </a:tblPr>
              <a:tblGrid>
                <a:gridCol w="1404382">
                  <a:extLst>
                    <a:ext uri="{9D8B030D-6E8A-4147-A177-3AD203B41FA5}">
                      <a16:colId xmlns:a16="http://schemas.microsoft.com/office/drawing/2014/main" val="979315127"/>
                    </a:ext>
                  </a:extLst>
                </a:gridCol>
                <a:gridCol w="1731677">
                  <a:extLst>
                    <a:ext uri="{9D8B030D-6E8A-4147-A177-3AD203B41FA5}">
                      <a16:colId xmlns:a16="http://schemas.microsoft.com/office/drawing/2014/main" val="2075302567"/>
                    </a:ext>
                  </a:extLst>
                </a:gridCol>
                <a:gridCol w="1404000">
                  <a:extLst>
                    <a:ext uri="{9D8B030D-6E8A-4147-A177-3AD203B41FA5}">
                      <a16:colId xmlns:a16="http://schemas.microsoft.com/office/drawing/2014/main" val="660631070"/>
                    </a:ext>
                  </a:extLst>
                </a:gridCol>
                <a:gridCol w="1404000">
                  <a:extLst>
                    <a:ext uri="{9D8B030D-6E8A-4147-A177-3AD203B41FA5}">
                      <a16:colId xmlns:a16="http://schemas.microsoft.com/office/drawing/2014/main" val="1525013378"/>
                    </a:ext>
                  </a:extLst>
                </a:gridCol>
              </a:tblGrid>
              <a:tr h="360000">
                <a:tc>
                  <a:txBody>
                    <a:bodyPr/>
                    <a:lstStyle/>
                    <a:p>
                      <a:pPr algn="l"/>
                      <a:r>
                        <a:rPr lang="en-US" sz="1100" dirty="0" err="1"/>
                        <a:t>person_id</a:t>
                      </a:r>
                      <a:endParaRPr lang="en-NL" sz="1100" dirty="0"/>
                    </a:p>
                  </a:txBody>
                  <a:tcPr marL="72000" anchor="ctr"/>
                </a:tc>
                <a:tc>
                  <a:txBody>
                    <a:bodyPr/>
                    <a:lstStyle/>
                    <a:p>
                      <a:pPr algn="l"/>
                      <a:r>
                        <a:rPr lang="en-US" sz="900" dirty="0" err="1"/>
                        <a:t>hri-openehr:legal-gender</a:t>
                      </a:r>
                      <a:endParaRPr lang="en-US" sz="900" dirty="0"/>
                    </a:p>
                    <a:p>
                      <a:pPr algn="l"/>
                      <a:r>
                        <a:rPr lang="en-US" sz="900" dirty="0"/>
                        <a:t>("Legal gender"@</a:t>
                      </a:r>
                      <a:r>
                        <a:rPr lang="en-US" sz="900" dirty="0" err="1"/>
                        <a:t>en</a:t>
                      </a:r>
                      <a:r>
                        <a:rPr lang="en-US" sz="900" dirty="0"/>
                        <a:t>)</a:t>
                      </a:r>
                    </a:p>
                  </a:txBody>
                  <a:tcPr marL="72000" marR="18000" marT="0" marB="0" anchor="ctr"/>
                </a:tc>
                <a:tc>
                  <a:txBody>
                    <a:bodyPr/>
                    <a:lstStyle/>
                    <a:p>
                      <a:pPr algn="l"/>
                      <a:r>
                        <a:rPr lang="en-US" sz="1100" dirty="0" err="1"/>
                        <a:t>encounter_id</a:t>
                      </a:r>
                      <a:endParaRPr lang="en-NL" sz="1100" dirty="0"/>
                    </a:p>
                  </a:txBody>
                  <a:tcPr marL="72000" anchor="ctr"/>
                </a:tc>
                <a:tc>
                  <a:txBody>
                    <a:bodyPr/>
                    <a:lstStyle/>
                    <a:p>
                      <a:pPr algn="l"/>
                      <a:r>
                        <a:rPr lang="en-US" sz="1100" dirty="0" err="1"/>
                        <a:t>record_date</a:t>
                      </a:r>
                      <a:endParaRPr lang="en-NL" sz="1100" dirty="0"/>
                    </a:p>
                  </a:txBody>
                  <a:tcPr marL="72000" anchor="ctr"/>
                </a:tc>
                <a:extLst>
                  <a:ext uri="{0D108BD9-81ED-4DB2-BD59-A6C34878D82A}">
                    <a16:rowId xmlns:a16="http://schemas.microsoft.com/office/drawing/2014/main" val="3012902903"/>
                  </a:ext>
                </a:extLst>
              </a:tr>
              <a:tr h="304181">
                <a:tc>
                  <a:txBody>
                    <a:bodyPr/>
                    <a:lstStyle/>
                    <a:p>
                      <a:pPr algn="l"/>
                      <a:r>
                        <a:rPr lang="en-US" sz="1100" dirty="0"/>
                        <a:t>NMC-001</a:t>
                      </a:r>
                      <a:endParaRPr lang="en-NL" sz="1100" dirty="0"/>
                    </a:p>
                  </a:txBody>
                  <a:tcPr marL="72000" anchor="ctr"/>
                </a:tc>
                <a:tc>
                  <a:txBody>
                    <a:bodyPr/>
                    <a:lstStyle/>
                    <a:p>
                      <a:pPr algn="l"/>
                      <a:r>
                        <a:rPr lang="en-US" sz="1100" b="1" dirty="0"/>
                        <a:t>female</a:t>
                      </a:r>
                      <a:endParaRPr lang="en-NL" sz="1100" b="1" dirty="0"/>
                    </a:p>
                  </a:txBody>
                  <a:tcPr marL="72000" anchor="ctr"/>
                </a:tc>
                <a:tc>
                  <a:txBody>
                    <a:bodyPr/>
                    <a:lstStyle/>
                    <a:p>
                      <a:pPr algn="l"/>
                      <a:r>
                        <a:rPr lang="en-US" sz="1100" dirty="0"/>
                        <a:t>ENC-7001</a:t>
                      </a:r>
                      <a:endParaRPr lang="en-NL" sz="1100" dirty="0"/>
                    </a:p>
                  </a:txBody>
                  <a:tcPr marL="72000" anchor="ctr"/>
                </a:tc>
                <a:tc>
                  <a:txBody>
                    <a:bodyPr/>
                    <a:lstStyle/>
                    <a:p>
                      <a:pPr algn="l"/>
                      <a:r>
                        <a:rPr lang="en-NL" sz="1100" dirty="0"/>
                        <a:t>2026-01-14</a:t>
                      </a:r>
                    </a:p>
                  </a:txBody>
                  <a:tcPr marL="72000" anchor="ctr"/>
                </a:tc>
                <a:extLst>
                  <a:ext uri="{0D108BD9-81ED-4DB2-BD59-A6C34878D82A}">
                    <a16:rowId xmlns:a16="http://schemas.microsoft.com/office/drawing/2014/main" val="1249708150"/>
                  </a:ext>
                </a:extLst>
              </a:tr>
              <a:tr h="304181">
                <a:tc>
                  <a:txBody>
                    <a:bodyPr/>
                    <a:lstStyle/>
                    <a:p>
                      <a:pPr algn="l"/>
                      <a:r>
                        <a:rPr lang="en-US" sz="1100" dirty="0"/>
                        <a:t>NMC-002</a:t>
                      </a:r>
                      <a:endParaRPr lang="en-NL" sz="1100" dirty="0"/>
                    </a:p>
                  </a:txBody>
                  <a:tcPr marL="72000" anchor="ctr"/>
                </a:tc>
                <a:tc>
                  <a:txBody>
                    <a:bodyPr/>
                    <a:lstStyle/>
                    <a:p>
                      <a:pPr algn="l"/>
                      <a:r>
                        <a:rPr lang="en-US" sz="1100" b="1" dirty="0"/>
                        <a:t>male</a:t>
                      </a:r>
                      <a:endParaRPr lang="en-NL" sz="1100" b="1" dirty="0"/>
                    </a:p>
                  </a:txBody>
                  <a:tcPr marL="72000" anchor="ctr"/>
                </a:tc>
                <a:tc>
                  <a:txBody>
                    <a:bodyPr/>
                    <a:lstStyle/>
                    <a:p>
                      <a:pPr algn="l"/>
                      <a:r>
                        <a:rPr lang="en-US" sz="1100" dirty="0"/>
                        <a:t>ENC-7002</a:t>
                      </a:r>
                      <a:endParaRPr lang="en-NL" sz="1100" dirty="0"/>
                    </a:p>
                  </a:txBody>
                  <a:tcPr marL="72000" anchor="ctr"/>
                </a:tc>
                <a:tc>
                  <a:txBody>
                    <a:bodyPr/>
                    <a:lstStyle/>
                    <a:p>
                      <a:pPr algn="l"/>
                      <a:r>
                        <a:rPr lang="en-NL" sz="1100" dirty="0"/>
                        <a:t>2026-01-1</a:t>
                      </a:r>
                      <a:r>
                        <a:rPr lang="en-US" sz="1100" dirty="0"/>
                        <a:t>5</a:t>
                      </a:r>
                      <a:endParaRPr lang="en-NL" sz="1100" dirty="0"/>
                    </a:p>
                  </a:txBody>
                  <a:tcPr marL="72000" anchor="ctr"/>
                </a:tc>
                <a:extLst>
                  <a:ext uri="{0D108BD9-81ED-4DB2-BD59-A6C34878D82A}">
                    <a16:rowId xmlns:a16="http://schemas.microsoft.com/office/drawing/2014/main" val="3850974854"/>
                  </a:ext>
                </a:extLst>
              </a:tr>
              <a:tr h="304181">
                <a:tc>
                  <a:txBody>
                    <a:bodyPr/>
                    <a:lstStyle/>
                    <a:p>
                      <a:pPr algn="l"/>
                      <a:r>
                        <a:rPr lang="en-US" sz="1100" dirty="0"/>
                        <a:t>NMC-003</a:t>
                      </a:r>
                      <a:endParaRPr lang="en-NL" sz="1100" dirty="0"/>
                    </a:p>
                  </a:txBody>
                  <a:tcPr marL="72000" anchor="ctr"/>
                </a:tc>
                <a:tc>
                  <a:txBody>
                    <a:bodyPr/>
                    <a:lstStyle/>
                    <a:p>
                      <a:pPr algn="l"/>
                      <a:r>
                        <a:rPr lang="en-US" sz="1100" b="1" dirty="0"/>
                        <a:t>nonbinary</a:t>
                      </a:r>
                      <a:endParaRPr lang="en-NL" sz="1100" b="1" dirty="0"/>
                    </a:p>
                  </a:txBody>
                  <a:tcPr marL="72000" anchor="ctr"/>
                </a:tc>
                <a:tc>
                  <a:txBody>
                    <a:bodyPr/>
                    <a:lstStyle/>
                    <a:p>
                      <a:pPr algn="l"/>
                      <a:r>
                        <a:rPr lang="en-US" sz="1100" dirty="0"/>
                        <a:t>ENC-7003</a:t>
                      </a:r>
                      <a:endParaRPr lang="en-NL" sz="1100" dirty="0"/>
                    </a:p>
                  </a:txBody>
                  <a:tcPr marL="72000" anchor="ctr"/>
                </a:tc>
                <a:tc>
                  <a:txBody>
                    <a:bodyPr/>
                    <a:lstStyle/>
                    <a:p>
                      <a:pPr algn="l"/>
                      <a:r>
                        <a:rPr lang="en-NL" sz="1100" dirty="0"/>
                        <a:t>2026-01-1</a:t>
                      </a:r>
                      <a:r>
                        <a:rPr lang="en-US" sz="1100" dirty="0"/>
                        <a:t>6</a:t>
                      </a:r>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13" name="Rectangle 12">
            <a:extLst>
              <a:ext uri="{FF2B5EF4-FFF2-40B4-BE49-F238E27FC236}">
                <a16:creationId xmlns:a16="http://schemas.microsoft.com/office/drawing/2014/main" id="{8B67CCA4-B58B-C69A-7A44-C9B5EBB864BF}"/>
              </a:ext>
            </a:extLst>
          </p:cNvPr>
          <p:cNvSpPr/>
          <p:nvPr/>
        </p:nvSpPr>
        <p:spPr>
          <a:xfrm>
            <a:off x="695325" y="4538110"/>
            <a:ext cx="10801350" cy="1404000"/>
          </a:xfrm>
          <a:prstGeom prst="rect">
            <a:avLst/>
          </a:prstGeom>
          <a:solidFill>
            <a:schemeClr val="accent3">
              <a:alpha val="3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NL"/>
          </a:p>
        </p:txBody>
      </p:sp>
      <p:graphicFrame>
        <p:nvGraphicFramePr>
          <p:cNvPr id="9" name="Content Placeholder 4">
            <a:extLst>
              <a:ext uri="{FF2B5EF4-FFF2-40B4-BE49-F238E27FC236}">
                <a16:creationId xmlns:a16="http://schemas.microsoft.com/office/drawing/2014/main" id="{CB82BD93-1108-9360-D2C1-7293030D839F}"/>
              </a:ext>
            </a:extLst>
          </p:cNvPr>
          <p:cNvGraphicFramePr>
            <a:graphicFrameLocks/>
          </p:cNvGraphicFramePr>
          <p:nvPr>
            <p:extLst>
              <p:ext uri="{D42A27DB-BD31-4B8C-83A1-F6EECF244321}">
                <p14:modId xmlns:p14="http://schemas.microsoft.com/office/powerpoint/2010/main" val="1827329989"/>
              </p:ext>
            </p:extLst>
          </p:nvPr>
        </p:nvGraphicFramePr>
        <p:xfrm>
          <a:off x="919208" y="4588510"/>
          <a:ext cx="5928090" cy="1278000"/>
        </p:xfrm>
        <a:graphic>
          <a:graphicData uri="http://schemas.openxmlformats.org/drawingml/2006/table">
            <a:tbl>
              <a:tblPr firstRow="1" bandRow="1">
                <a:effectLst>
                  <a:outerShdw blurRad="50800" dist="38100" dir="2700000" algn="tl" rotWithShape="0">
                    <a:prstClr val="black">
                      <a:alpha val="40000"/>
                    </a:prstClr>
                  </a:outerShdw>
                </a:effectLst>
                <a:tableStyleId>{00A15C55-8517-42AA-B614-E9B94910E393}</a:tableStyleId>
              </a:tblPr>
              <a:tblGrid>
                <a:gridCol w="1409844">
                  <a:extLst>
                    <a:ext uri="{9D8B030D-6E8A-4147-A177-3AD203B41FA5}">
                      <a16:colId xmlns:a16="http://schemas.microsoft.com/office/drawing/2014/main" val="979315127"/>
                    </a:ext>
                  </a:extLst>
                </a:gridCol>
                <a:gridCol w="1710246">
                  <a:extLst>
                    <a:ext uri="{9D8B030D-6E8A-4147-A177-3AD203B41FA5}">
                      <a16:colId xmlns:a16="http://schemas.microsoft.com/office/drawing/2014/main" val="2075302567"/>
                    </a:ext>
                  </a:extLst>
                </a:gridCol>
                <a:gridCol w="1404000">
                  <a:extLst>
                    <a:ext uri="{9D8B030D-6E8A-4147-A177-3AD203B41FA5}">
                      <a16:colId xmlns:a16="http://schemas.microsoft.com/office/drawing/2014/main" val="660631070"/>
                    </a:ext>
                  </a:extLst>
                </a:gridCol>
                <a:gridCol w="1404000">
                  <a:extLst>
                    <a:ext uri="{9D8B030D-6E8A-4147-A177-3AD203B41FA5}">
                      <a16:colId xmlns:a16="http://schemas.microsoft.com/office/drawing/2014/main" val="1525013378"/>
                    </a:ext>
                  </a:extLst>
                </a:gridCol>
              </a:tblGrid>
              <a:tr h="360000">
                <a:tc>
                  <a:txBody>
                    <a:bodyPr/>
                    <a:lstStyle/>
                    <a:p>
                      <a:r>
                        <a:rPr lang="en-US" sz="1100" dirty="0" err="1"/>
                        <a:t>intake_id</a:t>
                      </a:r>
                      <a:endParaRPr lang="en-NL" sz="1100" dirty="0"/>
                    </a:p>
                  </a:txBody>
                  <a:tcPr marL="72000" anchor="ctr"/>
                </a:tc>
                <a:tc>
                  <a:txBody>
                    <a:bodyPr/>
                    <a:lstStyle/>
                    <a:p>
                      <a:r>
                        <a:rPr lang="en-US" sz="900" dirty="0"/>
                        <a:t>loinc:107454-1</a:t>
                      </a:r>
                    </a:p>
                    <a:p>
                      <a:r>
                        <a:rPr lang="en-US" sz="900" dirty="0"/>
                        <a:t>("Administrative gender"@</a:t>
                      </a:r>
                      <a:r>
                        <a:rPr lang="en-US" sz="900" dirty="0" err="1"/>
                        <a:t>en</a:t>
                      </a:r>
                      <a:r>
                        <a:rPr lang="en-US" sz="900" dirty="0"/>
                        <a:t>)</a:t>
                      </a:r>
                    </a:p>
                  </a:txBody>
                  <a:tcPr marL="72000" marR="0" marT="0" marB="0" anchor="ctr"/>
                </a:tc>
                <a:tc>
                  <a:txBody>
                    <a:bodyPr/>
                    <a:lstStyle/>
                    <a:p>
                      <a:r>
                        <a:rPr lang="en-US" sz="1100" dirty="0" err="1"/>
                        <a:t>questionnaire_id</a:t>
                      </a:r>
                      <a:endParaRPr lang="en-NL" sz="1100" dirty="0"/>
                    </a:p>
                  </a:txBody>
                  <a:tcPr marL="72000" anchor="ctr"/>
                </a:tc>
                <a:tc>
                  <a:txBody>
                    <a:bodyPr/>
                    <a:lstStyle/>
                    <a:p>
                      <a:r>
                        <a:rPr lang="en-US" sz="1100" dirty="0" err="1"/>
                        <a:t>submitted_date</a:t>
                      </a:r>
                      <a:endParaRPr lang="en-NL" sz="1100" dirty="0"/>
                    </a:p>
                  </a:txBody>
                  <a:tcPr marL="72000" anchor="ctr"/>
                </a:tc>
                <a:extLst>
                  <a:ext uri="{0D108BD9-81ED-4DB2-BD59-A6C34878D82A}">
                    <a16:rowId xmlns:a16="http://schemas.microsoft.com/office/drawing/2014/main" val="3012902903"/>
                  </a:ext>
                </a:extLst>
              </a:tr>
              <a:tr h="306000">
                <a:tc>
                  <a:txBody>
                    <a:bodyPr/>
                    <a:lstStyle/>
                    <a:p>
                      <a:r>
                        <a:rPr lang="en-US" sz="1100" dirty="0"/>
                        <a:t>RPCC-001</a:t>
                      </a:r>
                      <a:endParaRPr lang="en-NL" sz="1100" dirty="0"/>
                    </a:p>
                  </a:txBody>
                  <a:tcPr marL="72000" anchor="ctr"/>
                </a:tc>
                <a:tc>
                  <a:txBody>
                    <a:bodyPr/>
                    <a:lstStyle/>
                    <a:p>
                      <a:r>
                        <a:rPr lang="en-US" sz="1100" b="1" dirty="0"/>
                        <a:t>woman</a:t>
                      </a:r>
                      <a:endParaRPr lang="en-NL" sz="1100" b="1" dirty="0"/>
                    </a:p>
                  </a:txBody>
                  <a:tcPr marL="72000" anchor="ctr"/>
                </a:tc>
                <a:tc>
                  <a:txBody>
                    <a:bodyPr/>
                    <a:lstStyle/>
                    <a:p>
                      <a:r>
                        <a:rPr lang="en-US" sz="1100" dirty="0"/>
                        <a:t>GIQ-001</a:t>
                      </a:r>
                      <a:endParaRPr lang="en-NL" sz="1100" dirty="0"/>
                    </a:p>
                  </a:txBody>
                  <a:tcPr marL="72000" anchor="ctr"/>
                </a:tc>
                <a:tc>
                  <a:txBody>
                    <a:bodyPr/>
                    <a:lstStyle/>
                    <a:p>
                      <a:r>
                        <a:rPr lang="en-NL" sz="1100" dirty="0"/>
                        <a:t>2026-02-03</a:t>
                      </a:r>
                    </a:p>
                  </a:txBody>
                  <a:tcPr marL="72000" anchor="ctr"/>
                </a:tc>
                <a:extLst>
                  <a:ext uri="{0D108BD9-81ED-4DB2-BD59-A6C34878D82A}">
                    <a16:rowId xmlns:a16="http://schemas.microsoft.com/office/drawing/2014/main" val="1249708150"/>
                  </a:ext>
                </a:extLst>
              </a:tr>
              <a:tr h="306000">
                <a:tc>
                  <a:txBody>
                    <a:bodyPr/>
                    <a:lstStyle/>
                    <a:p>
                      <a:r>
                        <a:rPr lang="en-US" sz="1100" dirty="0"/>
                        <a:t>RPCC-002</a:t>
                      </a:r>
                      <a:endParaRPr lang="en-NL" sz="1100" dirty="0"/>
                    </a:p>
                  </a:txBody>
                  <a:tcPr marL="72000" anchor="ctr"/>
                </a:tc>
                <a:tc>
                  <a:txBody>
                    <a:bodyPr/>
                    <a:lstStyle/>
                    <a:p>
                      <a:r>
                        <a:rPr lang="en-US" sz="1100" b="1" dirty="0"/>
                        <a:t>man</a:t>
                      </a:r>
                      <a:endParaRPr lang="en-NL" sz="1100" b="1" dirty="0"/>
                    </a:p>
                  </a:txBody>
                  <a:tcPr marL="72000" anchor="ctr"/>
                </a:tc>
                <a:tc>
                  <a:txBody>
                    <a:bodyPr/>
                    <a:lstStyle/>
                    <a:p>
                      <a:r>
                        <a:rPr lang="en-US" sz="1100" dirty="0"/>
                        <a:t>GIQ-001</a:t>
                      </a:r>
                      <a:endParaRPr lang="en-NL" sz="1100" dirty="0"/>
                    </a:p>
                  </a:txBody>
                  <a:tcPr marL="72000" anchor="ctr"/>
                </a:tc>
                <a:tc>
                  <a:txBody>
                    <a:bodyPr/>
                    <a:lstStyle/>
                    <a:p>
                      <a:r>
                        <a:rPr lang="en-NL" sz="1100" dirty="0"/>
                        <a:t>2026-02-03</a:t>
                      </a:r>
                    </a:p>
                  </a:txBody>
                  <a:tcPr marL="72000" anchor="ctr"/>
                </a:tc>
                <a:extLst>
                  <a:ext uri="{0D108BD9-81ED-4DB2-BD59-A6C34878D82A}">
                    <a16:rowId xmlns:a16="http://schemas.microsoft.com/office/drawing/2014/main" val="3850974854"/>
                  </a:ext>
                </a:extLst>
              </a:tr>
              <a:tr h="306000">
                <a:tc>
                  <a:txBody>
                    <a:bodyPr/>
                    <a:lstStyle/>
                    <a:p>
                      <a:r>
                        <a:rPr lang="en-US" sz="1100" dirty="0"/>
                        <a:t>RPCC-003</a:t>
                      </a:r>
                      <a:endParaRPr lang="en-NL" sz="1100" dirty="0"/>
                    </a:p>
                  </a:txBody>
                  <a:tcPr marL="72000" anchor="ctr"/>
                </a:tc>
                <a:tc>
                  <a:txBody>
                    <a:bodyPr/>
                    <a:lstStyle/>
                    <a:p>
                      <a:r>
                        <a:rPr lang="en-US" sz="1100" b="1" dirty="0"/>
                        <a:t>non-binary</a:t>
                      </a:r>
                      <a:endParaRPr lang="en-NL" sz="1100" b="1" dirty="0"/>
                    </a:p>
                  </a:txBody>
                  <a:tcPr marL="72000" anchor="ctr"/>
                </a:tc>
                <a:tc>
                  <a:txBody>
                    <a:bodyPr/>
                    <a:lstStyle/>
                    <a:p>
                      <a:r>
                        <a:rPr lang="en-US" sz="1100" dirty="0"/>
                        <a:t>GIQ-002</a:t>
                      </a:r>
                      <a:endParaRPr lang="en-NL" sz="1100" dirty="0"/>
                    </a:p>
                  </a:txBody>
                  <a:tcPr marL="72000" anchor="ctr"/>
                </a:tc>
                <a:tc>
                  <a:txBody>
                    <a:bodyPr/>
                    <a:lstStyle/>
                    <a:p>
                      <a:r>
                        <a:rPr lang="en-NL" sz="1100" dirty="0"/>
                        <a:t>2026-02-0</a:t>
                      </a:r>
                      <a:r>
                        <a:rPr lang="en-US" sz="1100" dirty="0"/>
                        <a:t>4</a:t>
                      </a:r>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3" name="Rectangle: Rounded Corners 2">
            <a:extLst>
              <a:ext uri="{FF2B5EF4-FFF2-40B4-BE49-F238E27FC236}">
                <a16:creationId xmlns:a16="http://schemas.microsoft.com/office/drawing/2014/main" id="{0A7F7086-957D-AE4F-6F56-8A130821E8C5}"/>
              </a:ext>
            </a:extLst>
          </p:cNvPr>
          <p:cNvSpPr/>
          <p:nvPr/>
        </p:nvSpPr>
        <p:spPr>
          <a:xfrm>
            <a:off x="2266950" y="1634899"/>
            <a:ext cx="1809749" cy="4330650"/>
          </a:xfrm>
          <a:prstGeom prst="roundRect">
            <a:avLst>
              <a:gd name="adj" fmla="val 6766"/>
            </a:avLst>
          </a:prstGeom>
          <a:noFill/>
          <a:ln w="47625">
            <a:solidFill>
              <a:schemeClr val="accent2"/>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DDF83B9D-42B5-07BF-2B11-A9DE34EC0FFC}"/>
              </a:ext>
            </a:extLst>
          </p:cNvPr>
          <p:cNvSpPr txBox="1"/>
          <p:nvPr/>
        </p:nvSpPr>
        <p:spPr>
          <a:xfrm>
            <a:off x="7123876" y="1623815"/>
            <a:ext cx="3028728" cy="369332"/>
          </a:xfrm>
          <a:prstGeom prst="rect">
            <a:avLst/>
          </a:prstGeom>
          <a:noFill/>
        </p:spPr>
        <p:txBody>
          <a:bodyPr wrap="square">
            <a:spAutoFit/>
          </a:bodyPr>
          <a:lstStyle/>
          <a:p>
            <a:r>
              <a:rPr lang="en-US" b="1" dirty="0">
                <a:solidFill>
                  <a:schemeClr val="accent1"/>
                </a:solidFill>
              </a:rPr>
              <a:t>NPR Demographic Extract</a:t>
            </a:r>
            <a:endParaRPr lang="en-NL" b="1" dirty="0">
              <a:solidFill>
                <a:schemeClr val="accent1"/>
              </a:solidFill>
            </a:endParaRPr>
          </a:p>
        </p:txBody>
      </p:sp>
      <p:pic>
        <p:nvPicPr>
          <p:cNvPr id="2050" name="Picture 2" descr="CARE-SM · GitHub">
            <a:extLst>
              <a:ext uri="{FF2B5EF4-FFF2-40B4-BE49-F238E27FC236}">
                <a16:creationId xmlns:a16="http://schemas.microsoft.com/office/drawing/2014/main" id="{61B65A12-06DA-BC1B-E0A3-0CACA9612D21}"/>
              </a:ext>
            </a:extLst>
          </p:cNvPr>
          <p:cNvPicPr>
            <a:picLocks noChangeAspect="1" noChangeArrowheads="1"/>
          </p:cNvPicPr>
          <p:nvPr/>
        </p:nvPicPr>
        <p:blipFill>
          <a:blip r:embed="rId3"/>
          <a:srcRect/>
          <a:stretch/>
        </p:blipFill>
        <p:spPr bwMode="auto">
          <a:xfrm>
            <a:off x="10258792" y="1737691"/>
            <a:ext cx="1176248" cy="1176248"/>
          </a:xfrm>
          <a:prstGeom prst="rect">
            <a:avLst/>
          </a:prstGeom>
          <a:noFill/>
          <a:extLst>
            <a:ext uri="{909E8E84-426E-40DD-AFC4-6F175D3DCCD1}">
              <a14:hiddenFill xmlns:a14="http://schemas.microsoft.com/office/drawing/2010/main">
                <a:solidFill>
                  <a:srgbClr val="FFFFFF"/>
                </a:solidFill>
              </a14:hiddenFill>
            </a:ext>
          </a:extLst>
        </p:spPr>
      </p:pic>
      <p:cxnSp>
        <p:nvCxnSpPr>
          <p:cNvPr id="28" name="Straight Connector 27">
            <a:extLst>
              <a:ext uri="{FF2B5EF4-FFF2-40B4-BE49-F238E27FC236}">
                <a16:creationId xmlns:a16="http://schemas.microsoft.com/office/drawing/2014/main" id="{BA2D08F2-C334-7916-B84D-834A85A619B4}"/>
              </a:ext>
            </a:extLst>
          </p:cNvPr>
          <p:cNvCxnSpPr>
            <a:cxnSpLocks/>
          </p:cNvCxnSpPr>
          <p:nvPr/>
        </p:nvCxnSpPr>
        <p:spPr>
          <a:xfrm>
            <a:off x="10176373" y="1929815"/>
            <a:ext cx="0" cy="792000"/>
          </a:xfrm>
          <a:prstGeom prst="line">
            <a:avLst/>
          </a:prstGeom>
          <a:ln w="3175">
            <a:solidFill>
              <a:schemeClr val="accent1">
                <a:lumMod val="50000"/>
                <a:alpha val="70000"/>
              </a:schemeClr>
            </a:solidFill>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30731C9C-B50C-C9E5-719E-E1F4481BC868}"/>
              </a:ext>
            </a:extLst>
          </p:cNvPr>
          <p:cNvSpPr txBox="1"/>
          <p:nvPr/>
        </p:nvSpPr>
        <p:spPr>
          <a:xfrm>
            <a:off x="7123876" y="3080962"/>
            <a:ext cx="3731668" cy="369332"/>
          </a:xfrm>
          <a:prstGeom prst="rect">
            <a:avLst/>
          </a:prstGeom>
          <a:noFill/>
        </p:spPr>
        <p:txBody>
          <a:bodyPr wrap="square">
            <a:spAutoFit/>
          </a:bodyPr>
          <a:lstStyle>
            <a:defPPr>
              <a:defRPr lang="en-US"/>
            </a:defPPr>
            <a:lvl1pPr>
              <a:defRPr b="1">
                <a:solidFill>
                  <a:schemeClr val="accent1"/>
                </a:solidFill>
              </a:defRPr>
            </a:lvl1pPr>
          </a:lstStyle>
          <a:p>
            <a:r>
              <a:rPr lang="en-US" dirty="0">
                <a:solidFill>
                  <a:schemeClr val="accent2">
                    <a:lumMod val="50000"/>
                  </a:schemeClr>
                </a:solidFill>
              </a:rPr>
              <a:t>Hospital Registration Extract</a:t>
            </a:r>
            <a:endParaRPr lang="en-NL" dirty="0">
              <a:solidFill>
                <a:schemeClr val="accent2">
                  <a:lumMod val="50000"/>
                </a:schemeClr>
              </a:solidFill>
            </a:endParaRPr>
          </a:p>
        </p:txBody>
      </p:sp>
      <p:pic>
        <p:nvPicPr>
          <p:cNvPr id="2052" name="Picture 4" descr="Logos and trademarks – openehr.org">
            <a:extLst>
              <a:ext uri="{FF2B5EF4-FFF2-40B4-BE49-F238E27FC236}">
                <a16:creationId xmlns:a16="http://schemas.microsoft.com/office/drawing/2014/main" id="{2219C5E0-86CD-1ABB-0627-B0BDD72DA2A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363597" y="3430121"/>
            <a:ext cx="966639" cy="705683"/>
          </a:xfrm>
          <a:prstGeom prst="rect">
            <a:avLst/>
          </a:prstGeom>
          <a:noFill/>
          <a:extLst>
            <a:ext uri="{909E8E84-426E-40DD-AFC4-6F175D3DCCD1}">
              <a14:hiddenFill xmlns:a14="http://schemas.microsoft.com/office/drawing/2010/main">
                <a:solidFill>
                  <a:srgbClr val="FFFFFF"/>
                </a:solidFill>
              </a14:hiddenFill>
            </a:ext>
          </a:extLst>
        </p:spPr>
      </p:pic>
      <p:cxnSp>
        <p:nvCxnSpPr>
          <p:cNvPr id="31" name="Straight Connector 30">
            <a:extLst>
              <a:ext uri="{FF2B5EF4-FFF2-40B4-BE49-F238E27FC236}">
                <a16:creationId xmlns:a16="http://schemas.microsoft.com/office/drawing/2014/main" id="{10ED9FE5-A3D5-6E48-16DD-7E68CF4085A2}"/>
              </a:ext>
            </a:extLst>
          </p:cNvPr>
          <p:cNvCxnSpPr>
            <a:cxnSpLocks/>
          </p:cNvCxnSpPr>
          <p:nvPr/>
        </p:nvCxnSpPr>
        <p:spPr>
          <a:xfrm>
            <a:off x="10176373" y="3386962"/>
            <a:ext cx="0" cy="792000"/>
          </a:xfrm>
          <a:prstGeom prst="line">
            <a:avLst/>
          </a:prstGeom>
          <a:ln w="3175">
            <a:solidFill>
              <a:schemeClr val="accent1">
                <a:lumMod val="50000"/>
                <a:alpha val="70000"/>
              </a:schemeClr>
            </a:solidFill>
          </a:ln>
        </p:spPr>
        <p:style>
          <a:lnRef idx="1">
            <a:schemeClr val="accent1"/>
          </a:lnRef>
          <a:fillRef idx="0">
            <a:schemeClr val="accent1"/>
          </a:fillRef>
          <a:effectRef idx="0">
            <a:schemeClr val="accent1"/>
          </a:effectRef>
          <a:fontRef idx="minor">
            <a:schemeClr val="tx1"/>
          </a:fontRef>
        </p:style>
      </p:cxnSp>
      <p:pic>
        <p:nvPicPr>
          <p:cNvPr id="18" name="Picture 17">
            <a:extLst>
              <a:ext uri="{FF2B5EF4-FFF2-40B4-BE49-F238E27FC236}">
                <a16:creationId xmlns:a16="http://schemas.microsoft.com/office/drawing/2014/main" id="{E7E49627-A452-495B-00CD-6591C5BCF672}"/>
              </a:ext>
            </a:extLst>
          </p:cNvPr>
          <p:cNvPicPr>
            <a:picLocks noChangeAspect="1"/>
          </p:cNvPicPr>
          <p:nvPr/>
        </p:nvPicPr>
        <p:blipFill>
          <a:blip r:embed="rId5">
            <a:extLst>
              <a:ext uri="{BEBA8EAE-BF5A-486C-A8C5-ECC9F3942E4B}">
                <a14:imgProps xmlns:a14="http://schemas.microsoft.com/office/drawing/2010/main">
                  <a14:imgLayer r:embed="rId6">
                    <a14:imgEffect>
                      <a14:sharpenSoften amount="25000"/>
                    </a14:imgEffect>
                    <a14:imgEffect>
                      <a14:brightnessContrast contrast="-40000"/>
                    </a14:imgEffect>
                  </a14:imgLayer>
                </a14:imgProps>
              </a:ext>
            </a:extLst>
          </a:blip>
          <a:srcRect l="22593" t="33818" r="26296" b="42564"/>
          <a:stretch>
            <a:fillRect/>
          </a:stretch>
        </p:blipFill>
        <p:spPr>
          <a:xfrm>
            <a:off x="7123876" y="3559096"/>
            <a:ext cx="2525569" cy="778038"/>
          </a:xfrm>
          <a:prstGeom prst="rect">
            <a:avLst/>
          </a:prstGeom>
        </p:spPr>
      </p:pic>
      <p:pic>
        <p:nvPicPr>
          <p:cNvPr id="22" name="Picture 21">
            <a:extLst>
              <a:ext uri="{FF2B5EF4-FFF2-40B4-BE49-F238E27FC236}">
                <a16:creationId xmlns:a16="http://schemas.microsoft.com/office/drawing/2014/main" id="{0F2BAEEC-E6EF-2170-D6D8-2294A6093503}"/>
              </a:ext>
            </a:extLst>
          </p:cNvPr>
          <p:cNvPicPr>
            <a:picLocks noChangeAspect="1"/>
          </p:cNvPicPr>
          <p:nvPr/>
        </p:nvPicPr>
        <p:blipFill>
          <a:blip r:embed="rId7"/>
          <a:srcRect l="17222" t="33069" r="27186" b="41346"/>
          <a:stretch>
            <a:fillRect/>
          </a:stretch>
        </p:blipFill>
        <p:spPr>
          <a:xfrm>
            <a:off x="7123876" y="2107127"/>
            <a:ext cx="2527200" cy="775393"/>
          </a:xfrm>
          <a:prstGeom prst="rect">
            <a:avLst/>
          </a:prstGeom>
        </p:spPr>
      </p:pic>
      <p:cxnSp>
        <p:nvCxnSpPr>
          <p:cNvPr id="32" name="Straight Connector 31">
            <a:extLst>
              <a:ext uri="{FF2B5EF4-FFF2-40B4-BE49-F238E27FC236}">
                <a16:creationId xmlns:a16="http://schemas.microsoft.com/office/drawing/2014/main" id="{F36A8237-1853-FFD0-A85A-9DFF5925ED2D}"/>
              </a:ext>
            </a:extLst>
          </p:cNvPr>
          <p:cNvCxnSpPr>
            <a:cxnSpLocks/>
          </p:cNvCxnSpPr>
          <p:nvPr/>
        </p:nvCxnSpPr>
        <p:spPr>
          <a:xfrm>
            <a:off x="10176373" y="4844110"/>
            <a:ext cx="0" cy="792000"/>
          </a:xfrm>
          <a:prstGeom prst="line">
            <a:avLst/>
          </a:prstGeom>
          <a:ln w="3175">
            <a:solidFill>
              <a:schemeClr val="accent1">
                <a:lumMod val="50000"/>
                <a:alpha val="70000"/>
              </a:schemeClr>
            </a:solidFill>
          </a:ln>
        </p:spPr>
        <p:style>
          <a:lnRef idx="1">
            <a:schemeClr val="accent1"/>
          </a:lnRef>
          <a:fillRef idx="0">
            <a:schemeClr val="accent1"/>
          </a:fillRef>
          <a:effectRef idx="0">
            <a:schemeClr val="accent1"/>
          </a:effectRef>
          <a:fontRef idx="minor">
            <a:schemeClr val="tx1"/>
          </a:fontRef>
        </p:style>
      </p:cxnSp>
      <p:pic>
        <p:nvPicPr>
          <p:cNvPr id="24" name="Picture 23">
            <a:extLst>
              <a:ext uri="{FF2B5EF4-FFF2-40B4-BE49-F238E27FC236}">
                <a16:creationId xmlns:a16="http://schemas.microsoft.com/office/drawing/2014/main" id="{9437980A-B4F4-4DC8-94C4-C993BCB76742}"/>
              </a:ext>
            </a:extLst>
          </p:cNvPr>
          <p:cNvPicPr>
            <a:picLocks noChangeAspect="1"/>
          </p:cNvPicPr>
          <p:nvPr/>
        </p:nvPicPr>
        <p:blipFill>
          <a:blip r:embed="rId8"/>
          <a:srcRect l="13027" t="27953" r="16204" b="38897"/>
          <a:stretch>
            <a:fillRect/>
          </a:stretch>
        </p:blipFill>
        <p:spPr>
          <a:xfrm>
            <a:off x="7123876" y="5013709"/>
            <a:ext cx="2527200" cy="789212"/>
          </a:xfrm>
          <a:prstGeom prst="rect">
            <a:avLst/>
          </a:prstGeom>
        </p:spPr>
      </p:pic>
      <p:sp>
        <p:nvSpPr>
          <p:cNvPr id="26" name="TextBox 25">
            <a:extLst>
              <a:ext uri="{FF2B5EF4-FFF2-40B4-BE49-F238E27FC236}">
                <a16:creationId xmlns:a16="http://schemas.microsoft.com/office/drawing/2014/main" id="{0695AAD6-E9B1-A264-83C7-17E901042841}"/>
              </a:ext>
            </a:extLst>
          </p:cNvPr>
          <p:cNvSpPr txBox="1"/>
          <p:nvPr/>
        </p:nvSpPr>
        <p:spPr>
          <a:xfrm>
            <a:off x="7123876" y="4538110"/>
            <a:ext cx="3973207" cy="369332"/>
          </a:xfrm>
          <a:prstGeom prst="rect">
            <a:avLst/>
          </a:prstGeom>
          <a:noFill/>
        </p:spPr>
        <p:txBody>
          <a:bodyPr wrap="square">
            <a:spAutoFit/>
          </a:bodyPr>
          <a:lstStyle>
            <a:defPPr>
              <a:defRPr lang="en-US"/>
            </a:defPPr>
            <a:lvl1pPr>
              <a:defRPr b="1">
                <a:solidFill>
                  <a:schemeClr val="accent1"/>
                </a:solidFill>
              </a:defRPr>
            </a:lvl1pPr>
          </a:lstStyle>
          <a:p>
            <a:r>
              <a:rPr lang="en-US" dirty="0">
                <a:solidFill>
                  <a:schemeClr val="accent4">
                    <a:lumMod val="50000"/>
                  </a:schemeClr>
                </a:solidFill>
              </a:rPr>
              <a:t>Administrative Intake Extract</a:t>
            </a:r>
            <a:endParaRPr lang="en-NL" dirty="0">
              <a:solidFill>
                <a:schemeClr val="accent4">
                  <a:lumMod val="50000"/>
                </a:schemeClr>
              </a:solidFill>
            </a:endParaRPr>
          </a:p>
        </p:txBody>
      </p:sp>
      <p:pic>
        <p:nvPicPr>
          <p:cNvPr id="1026" name="Picture 2" descr="Branding guidelines – LOINC">
            <a:extLst>
              <a:ext uri="{FF2B5EF4-FFF2-40B4-BE49-F238E27FC236}">
                <a16:creationId xmlns:a16="http://schemas.microsoft.com/office/drawing/2014/main" id="{4D80DC8A-1991-D127-56B1-4C3523F3D537}"/>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445054" y="4851091"/>
            <a:ext cx="778038" cy="7780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148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42B8BC-20F3-4AF3-7B9A-858B9B16ED8F}"/>
            </a:ext>
          </a:extLst>
        </p:cNvPr>
        <p:cNvGrpSpPr/>
        <p:nvPr/>
      </p:nvGrpSpPr>
      <p:grpSpPr>
        <a:xfrm>
          <a:off x="0" y="0"/>
          <a:ext cx="0" cy="0"/>
          <a:chOff x="0" y="0"/>
          <a:chExt cx="0" cy="0"/>
        </a:xfrm>
      </p:grpSpPr>
      <p:sp>
        <p:nvSpPr>
          <p:cNvPr id="12" name="Rectangle: Rounded Corners 11">
            <a:extLst>
              <a:ext uri="{FF2B5EF4-FFF2-40B4-BE49-F238E27FC236}">
                <a16:creationId xmlns:a16="http://schemas.microsoft.com/office/drawing/2014/main" id="{1347CCD1-483E-8B70-8857-5CB35F368459}"/>
              </a:ext>
            </a:extLst>
          </p:cNvPr>
          <p:cNvSpPr/>
          <p:nvPr/>
        </p:nvSpPr>
        <p:spPr>
          <a:xfrm>
            <a:off x="695327" y="1637270"/>
            <a:ext cx="10801348" cy="4321175"/>
          </a:xfrm>
          <a:prstGeom prst="roundRect">
            <a:avLst>
              <a:gd name="adj" fmla="val 0"/>
            </a:avLst>
          </a:prstGeom>
          <a:solidFill>
            <a:schemeClr val="accent1">
              <a:lumMod val="20000"/>
              <a:lumOff val="80000"/>
            </a:schemeClr>
          </a:solidFill>
          <a:ln w="19050">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NL"/>
          </a:p>
        </p:txBody>
      </p:sp>
      <p:sp>
        <p:nvSpPr>
          <p:cNvPr id="2" name="Title 1">
            <a:extLst>
              <a:ext uri="{FF2B5EF4-FFF2-40B4-BE49-F238E27FC236}">
                <a16:creationId xmlns:a16="http://schemas.microsoft.com/office/drawing/2014/main" id="{3676C3EF-BD48-12AA-7081-D86EFBB89E7B}"/>
              </a:ext>
            </a:extLst>
          </p:cNvPr>
          <p:cNvSpPr>
            <a:spLocks noGrp="1"/>
          </p:cNvSpPr>
          <p:nvPr>
            <p:ph type="title"/>
          </p:nvPr>
        </p:nvSpPr>
        <p:spPr/>
        <p:txBody>
          <a:bodyPr/>
          <a:lstStyle/>
          <a:p>
            <a:r>
              <a:rPr lang="en-US" sz="3600" dirty="0"/>
              <a:t>Amir’s Question and Challenge</a:t>
            </a:r>
            <a:endParaRPr lang="en-NL" dirty="0"/>
          </a:p>
        </p:txBody>
      </p:sp>
      <p:sp>
        <p:nvSpPr>
          <p:cNvPr id="4" name="Slide Number Placeholder 3">
            <a:extLst>
              <a:ext uri="{FF2B5EF4-FFF2-40B4-BE49-F238E27FC236}">
                <a16:creationId xmlns:a16="http://schemas.microsoft.com/office/drawing/2014/main" id="{7D2FF7E2-9050-6985-E792-4C50392A2331}"/>
              </a:ext>
            </a:extLst>
          </p:cNvPr>
          <p:cNvSpPr>
            <a:spLocks noGrp="1"/>
          </p:cNvSpPr>
          <p:nvPr>
            <p:ph type="sldNum" sz="quarter" idx="12"/>
          </p:nvPr>
        </p:nvSpPr>
        <p:spPr/>
        <p:txBody>
          <a:bodyPr/>
          <a:lstStyle/>
          <a:p>
            <a:fld id="{4FAB73BC-B049-4115-A692-8D63A059BFB8}" type="slidenum">
              <a:rPr lang="en-US" smtClean="0"/>
              <a:pPr/>
              <a:t>7</a:t>
            </a:fld>
            <a:endParaRPr lang="en-US" dirty="0"/>
          </a:p>
        </p:txBody>
      </p:sp>
      <p:graphicFrame>
        <p:nvGraphicFramePr>
          <p:cNvPr id="10" name="Content Placeholder 4">
            <a:extLst>
              <a:ext uri="{FF2B5EF4-FFF2-40B4-BE49-F238E27FC236}">
                <a16:creationId xmlns:a16="http://schemas.microsoft.com/office/drawing/2014/main" id="{5506523C-6422-AA0F-2BE1-B307AC047D0C}"/>
              </a:ext>
            </a:extLst>
          </p:cNvPr>
          <p:cNvGraphicFramePr>
            <a:graphicFrameLocks/>
          </p:cNvGraphicFramePr>
          <p:nvPr>
            <p:extLst>
              <p:ext uri="{D42A27DB-BD31-4B8C-83A1-F6EECF244321}">
                <p14:modId xmlns:p14="http://schemas.microsoft.com/office/powerpoint/2010/main" val="3754789781"/>
              </p:ext>
            </p:extLst>
          </p:nvPr>
        </p:nvGraphicFramePr>
        <p:xfrm>
          <a:off x="7878355" y="3118199"/>
          <a:ext cx="2811677" cy="1278051"/>
        </p:xfrm>
        <a:graphic>
          <a:graphicData uri="http://schemas.openxmlformats.org/drawingml/2006/table">
            <a:tbl>
              <a:tblPr firstRow="1" bandRow="1">
                <a:effectLst>
                  <a:outerShdw blurRad="50800" dist="38100" dir="2700000" algn="tl" rotWithShape="0">
                    <a:prstClr val="black">
                      <a:alpha val="40000"/>
                    </a:prstClr>
                  </a:outerShdw>
                </a:effectLst>
                <a:tableStyleId>{21E4AEA4-8DFA-4A89-87EB-49C32662AFE0}</a:tableStyleId>
              </a:tblPr>
              <a:tblGrid>
                <a:gridCol w="360000">
                  <a:extLst>
                    <a:ext uri="{9D8B030D-6E8A-4147-A177-3AD203B41FA5}">
                      <a16:colId xmlns:a16="http://schemas.microsoft.com/office/drawing/2014/main" val="979315127"/>
                    </a:ext>
                  </a:extLst>
                </a:gridCol>
                <a:gridCol w="1731677">
                  <a:extLst>
                    <a:ext uri="{9D8B030D-6E8A-4147-A177-3AD203B41FA5}">
                      <a16:colId xmlns:a16="http://schemas.microsoft.com/office/drawing/2014/main" val="2075302567"/>
                    </a:ext>
                  </a:extLst>
                </a:gridCol>
                <a:gridCol w="360000">
                  <a:extLst>
                    <a:ext uri="{9D8B030D-6E8A-4147-A177-3AD203B41FA5}">
                      <a16:colId xmlns:a16="http://schemas.microsoft.com/office/drawing/2014/main" val="660631070"/>
                    </a:ext>
                  </a:extLst>
                </a:gridCol>
                <a:gridCol w="360000">
                  <a:extLst>
                    <a:ext uri="{9D8B030D-6E8A-4147-A177-3AD203B41FA5}">
                      <a16:colId xmlns:a16="http://schemas.microsoft.com/office/drawing/2014/main" val="1525013378"/>
                    </a:ext>
                  </a:extLst>
                </a:gridCol>
              </a:tblGrid>
              <a:tr h="367200">
                <a:tc>
                  <a:txBody>
                    <a:bodyPr/>
                    <a:lstStyle/>
                    <a:p>
                      <a:pPr algn="l"/>
                      <a:endParaRPr lang="en-NL" sz="1100" dirty="0"/>
                    </a:p>
                  </a:txBody>
                  <a:tcPr marL="72000" anchor="ctr"/>
                </a:tc>
                <a:tc>
                  <a:txBody>
                    <a:bodyPr/>
                    <a:lstStyle/>
                    <a:p>
                      <a:pPr algn="l"/>
                      <a:r>
                        <a:rPr lang="en-US" sz="900" dirty="0" err="1"/>
                        <a:t>hri-openehr:legal-gender</a:t>
                      </a:r>
                      <a:endParaRPr lang="en-US" sz="900" dirty="0"/>
                    </a:p>
                    <a:p>
                      <a:pPr algn="l"/>
                      <a:r>
                        <a:rPr lang="en-US" sz="900" dirty="0"/>
                        <a:t>("Legal gender"@</a:t>
                      </a:r>
                      <a:r>
                        <a:rPr lang="en-US" sz="900" dirty="0" err="1"/>
                        <a:t>en</a:t>
                      </a:r>
                      <a:r>
                        <a:rPr lang="en-US" sz="900" dirty="0"/>
                        <a:t>)</a:t>
                      </a:r>
                      <a:endParaRPr lang="en-US" sz="850" dirty="0"/>
                    </a:p>
                  </a:txBody>
                  <a:tcPr marL="72000" marR="18000" marT="0" marB="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3012902903"/>
                  </a:ext>
                </a:extLst>
              </a:tr>
              <a:tr h="306000">
                <a:tc>
                  <a:txBody>
                    <a:bodyPr/>
                    <a:lstStyle/>
                    <a:p>
                      <a:pPr algn="l"/>
                      <a:endParaRPr lang="en-NL" sz="1100" dirty="0"/>
                    </a:p>
                  </a:txBody>
                  <a:tcPr marL="72000" anchor="ctr"/>
                </a:tc>
                <a:tc>
                  <a:txBody>
                    <a:bodyPr/>
                    <a:lstStyle/>
                    <a:p>
                      <a:pPr algn="l"/>
                      <a:r>
                        <a:rPr lang="en-US" sz="1100" b="1" dirty="0"/>
                        <a:t>female</a:t>
                      </a:r>
                      <a:endParaRPr lang="en-NL" sz="1100" b="1" dirty="0"/>
                    </a:p>
                  </a:txBody>
                  <a:tcPr marL="7200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1249708150"/>
                  </a:ext>
                </a:extLst>
              </a:tr>
              <a:tr h="306000">
                <a:tc>
                  <a:txBody>
                    <a:bodyPr/>
                    <a:lstStyle/>
                    <a:p>
                      <a:pPr algn="l"/>
                      <a:endParaRPr lang="en-NL" sz="1100" dirty="0"/>
                    </a:p>
                  </a:txBody>
                  <a:tcPr marL="72000" anchor="ctr"/>
                </a:tc>
                <a:tc>
                  <a:txBody>
                    <a:bodyPr/>
                    <a:lstStyle/>
                    <a:p>
                      <a:pPr algn="l"/>
                      <a:r>
                        <a:rPr lang="en-US" sz="1100" b="1" dirty="0"/>
                        <a:t>male</a:t>
                      </a:r>
                      <a:endParaRPr lang="en-NL" sz="1100" b="1" dirty="0"/>
                    </a:p>
                  </a:txBody>
                  <a:tcPr marL="7200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3850974854"/>
                  </a:ext>
                </a:extLst>
              </a:tr>
              <a:tr h="298851">
                <a:tc>
                  <a:txBody>
                    <a:bodyPr/>
                    <a:lstStyle/>
                    <a:p>
                      <a:pPr algn="l"/>
                      <a:endParaRPr lang="en-NL" sz="1100" dirty="0"/>
                    </a:p>
                  </a:txBody>
                  <a:tcPr marL="72000" anchor="ctr"/>
                </a:tc>
                <a:tc>
                  <a:txBody>
                    <a:bodyPr/>
                    <a:lstStyle/>
                    <a:p>
                      <a:pPr algn="l"/>
                      <a:r>
                        <a:rPr lang="en-US" sz="1100" b="1" dirty="0"/>
                        <a:t>nonbinary</a:t>
                      </a:r>
                      <a:endParaRPr lang="en-NL" sz="1100" b="1" dirty="0"/>
                    </a:p>
                  </a:txBody>
                  <a:tcPr marL="7200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16" name="Rectangle: Rounded Corners 15">
            <a:extLst>
              <a:ext uri="{FF2B5EF4-FFF2-40B4-BE49-F238E27FC236}">
                <a16:creationId xmlns:a16="http://schemas.microsoft.com/office/drawing/2014/main" id="{A665AAB5-A0ED-8E22-DBDB-363A7DB415E6}"/>
              </a:ext>
            </a:extLst>
          </p:cNvPr>
          <p:cNvSpPr/>
          <p:nvPr/>
        </p:nvSpPr>
        <p:spPr>
          <a:xfrm>
            <a:off x="9580165" y="3764351"/>
            <a:ext cx="1642188" cy="710132"/>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NL"/>
          </a:p>
        </p:txBody>
      </p:sp>
      <p:graphicFrame>
        <p:nvGraphicFramePr>
          <p:cNvPr id="11" name="Content Placeholder 4">
            <a:extLst>
              <a:ext uri="{FF2B5EF4-FFF2-40B4-BE49-F238E27FC236}">
                <a16:creationId xmlns:a16="http://schemas.microsoft.com/office/drawing/2014/main" id="{A90CA7EF-EB56-680E-991B-5D3E61EDCD6E}"/>
              </a:ext>
            </a:extLst>
          </p:cNvPr>
          <p:cNvGraphicFramePr>
            <a:graphicFrameLocks/>
          </p:cNvGraphicFramePr>
          <p:nvPr>
            <p:extLst>
              <p:ext uri="{D42A27DB-BD31-4B8C-83A1-F6EECF244321}">
                <p14:modId xmlns:p14="http://schemas.microsoft.com/office/powerpoint/2010/main" val="3705311687"/>
              </p:ext>
            </p:extLst>
          </p:nvPr>
        </p:nvGraphicFramePr>
        <p:xfrm>
          <a:off x="7878355" y="4538762"/>
          <a:ext cx="2811600" cy="1285200"/>
        </p:xfrm>
        <a:graphic>
          <a:graphicData uri="http://schemas.openxmlformats.org/drawingml/2006/table">
            <a:tbl>
              <a:tblPr firstRow="1" bandRow="1">
                <a:effectLst>
                  <a:outerShdw blurRad="50800" dist="38100" dir="2700000" algn="tl" rotWithShape="0">
                    <a:prstClr val="black">
                      <a:alpha val="40000"/>
                    </a:prstClr>
                  </a:outerShdw>
                </a:effectLst>
                <a:tableStyleId>{00A15C55-8517-42AA-B614-E9B94910E393}</a:tableStyleId>
              </a:tblPr>
              <a:tblGrid>
                <a:gridCol w="360000">
                  <a:extLst>
                    <a:ext uri="{9D8B030D-6E8A-4147-A177-3AD203B41FA5}">
                      <a16:colId xmlns:a16="http://schemas.microsoft.com/office/drawing/2014/main" val="979315127"/>
                    </a:ext>
                  </a:extLst>
                </a:gridCol>
                <a:gridCol w="1731600">
                  <a:extLst>
                    <a:ext uri="{9D8B030D-6E8A-4147-A177-3AD203B41FA5}">
                      <a16:colId xmlns:a16="http://schemas.microsoft.com/office/drawing/2014/main" val="2075302567"/>
                    </a:ext>
                  </a:extLst>
                </a:gridCol>
                <a:gridCol w="360000">
                  <a:extLst>
                    <a:ext uri="{9D8B030D-6E8A-4147-A177-3AD203B41FA5}">
                      <a16:colId xmlns:a16="http://schemas.microsoft.com/office/drawing/2014/main" val="660631070"/>
                    </a:ext>
                  </a:extLst>
                </a:gridCol>
                <a:gridCol w="360000">
                  <a:extLst>
                    <a:ext uri="{9D8B030D-6E8A-4147-A177-3AD203B41FA5}">
                      <a16:colId xmlns:a16="http://schemas.microsoft.com/office/drawing/2014/main" val="1525013378"/>
                    </a:ext>
                  </a:extLst>
                </a:gridCol>
              </a:tblGrid>
              <a:tr h="367200">
                <a:tc>
                  <a:txBody>
                    <a:bodyPr/>
                    <a:lstStyle/>
                    <a:p>
                      <a:endParaRPr lang="en-NL" sz="1100" dirty="0"/>
                    </a:p>
                  </a:txBody>
                  <a:tcPr marL="72000" anchor="ctr"/>
                </a:tc>
                <a:tc>
                  <a:txBody>
                    <a:bodyPr/>
                    <a:lstStyle/>
                    <a:p>
                      <a:r>
                        <a:rPr lang="en-US" sz="900" dirty="0"/>
                        <a:t>loinc:107454-1</a:t>
                      </a:r>
                    </a:p>
                    <a:p>
                      <a:r>
                        <a:rPr lang="en-US" sz="900" dirty="0"/>
                        <a:t>("Administrative gender"@</a:t>
                      </a:r>
                      <a:r>
                        <a:rPr lang="en-US" sz="900" dirty="0" err="1"/>
                        <a:t>en</a:t>
                      </a:r>
                      <a:r>
                        <a:rPr lang="en-US" sz="900" dirty="0"/>
                        <a:t>)</a:t>
                      </a:r>
                      <a:endParaRPr lang="en-NL" sz="900" dirty="0"/>
                    </a:p>
                  </a:txBody>
                  <a:tcPr marL="72000" marR="0" marT="0" marB="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012902903"/>
                  </a:ext>
                </a:extLst>
              </a:tr>
              <a:tr h="306000">
                <a:tc>
                  <a:txBody>
                    <a:bodyPr/>
                    <a:lstStyle/>
                    <a:p>
                      <a:endParaRPr lang="en-NL" sz="1100" dirty="0"/>
                    </a:p>
                  </a:txBody>
                  <a:tcPr marL="72000" anchor="ctr"/>
                </a:tc>
                <a:tc>
                  <a:txBody>
                    <a:bodyPr/>
                    <a:lstStyle/>
                    <a:p>
                      <a:r>
                        <a:rPr lang="en-US" sz="1100" b="1" dirty="0"/>
                        <a:t>woman</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1249708150"/>
                  </a:ext>
                </a:extLst>
              </a:tr>
              <a:tr h="306000">
                <a:tc>
                  <a:txBody>
                    <a:bodyPr/>
                    <a:lstStyle/>
                    <a:p>
                      <a:endParaRPr lang="en-NL" sz="1100" dirty="0"/>
                    </a:p>
                  </a:txBody>
                  <a:tcPr marL="72000" anchor="ctr"/>
                </a:tc>
                <a:tc>
                  <a:txBody>
                    <a:bodyPr/>
                    <a:lstStyle/>
                    <a:p>
                      <a:r>
                        <a:rPr lang="en-US" sz="1100" b="1" dirty="0"/>
                        <a:t>man</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850974854"/>
                  </a:ext>
                </a:extLst>
              </a:tr>
              <a:tr h="306000">
                <a:tc>
                  <a:txBody>
                    <a:bodyPr/>
                    <a:lstStyle/>
                    <a:p>
                      <a:endParaRPr lang="en-NL" sz="1100" dirty="0"/>
                    </a:p>
                  </a:txBody>
                  <a:tcPr marL="72000" anchor="ctr"/>
                </a:tc>
                <a:tc>
                  <a:txBody>
                    <a:bodyPr/>
                    <a:lstStyle/>
                    <a:p>
                      <a:r>
                        <a:rPr lang="en-US" sz="1100" b="1" dirty="0"/>
                        <a:t>non-binary</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21" name="Rectangle: Rounded Corners 20">
            <a:extLst>
              <a:ext uri="{FF2B5EF4-FFF2-40B4-BE49-F238E27FC236}">
                <a16:creationId xmlns:a16="http://schemas.microsoft.com/office/drawing/2014/main" id="{52EC159F-A1E4-AE1F-2EAE-EBCCA931B7D0}"/>
              </a:ext>
            </a:extLst>
          </p:cNvPr>
          <p:cNvSpPr/>
          <p:nvPr/>
        </p:nvSpPr>
        <p:spPr>
          <a:xfrm>
            <a:off x="9580166" y="5182068"/>
            <a:ext cx="1642188" cy="710132"/>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en-NL"/>
          </a:p>
        </p:txBody>
      </p:sp>
      <p:graphicFrame>
        <p:nvGraphicFramePr>
          <p:cNvPr id="27" name="Content Placeholder 4">
            <a:extLst>
              <a:ext uri="{FF2B5EF4-FFF2-40B4-BE49-F238E27FC236}">
                <a16:creationId xmlns:a16="http://schemas.microsoft.com/office/drawing/2014/main" id="{8990248D-BF27-E254-6F07-5803B779C52A}"/>
              </a:ext>
            </a:extLst>
          </p:cNvPr>
          <p:cNvGraphicFramePr>
            <a:graphicFrameLocks/>
          </p:cNvGraphicFramePr>
          <p:nvPr>
            <p:extLst>
              <p:ext uri="{D42A27DB-BD31-4B8C-83A1-F6EECF244321}">
                <p14:modId xmlns:p14="http://schemas.microsoft.com/office/powerpoint/2010/main" val="2324766379"/>
              </p:ext>
            </p:extLst>
          </p:nvPr>
        </p:nvGraphicFramePr>
        <p:xfrm>
          <a:off x="7878355" y="1695020"/>
          <a:ext cx="2811677" cy="128376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360000">
                  <a:extLst>
                    <a:ext uri="{9D8B030D-6E8A-4147-A177-3AD203B41FA5}">
                      <a16:colId xmlns:a16="http://schemas.microsoft.com/office/drawing/2014/main" val="979315127"/>
                    </a:ext>
                  </a:extLst>
                </a:gridCol>
                <a:gridCol w="1731677">
                  <a:extLst>
                    <a:ext uri="{9D8B030D-6E8A-4147-A177-3AD203B41FA5}">
                      <a16:colId xmlns:a16="http://schemas.microsoft.com/office/drawing/2014/main" val="2075302567"/>
                    </a:ext>
                  </a:extLst>
                </a:gridCol>
                <a:gridCol w="360000">
                  <a:extLst>
                    <a:ext uri="{9D8B030D-6E8A-4147-A177-3AD203B41FA5}">
                      <a16:colId xmlns:a16="http://schemas.microsoft.com/office/drawing/2014/main" val="660631070"/>
                    </a:ext>
                  </a:extLst>
                </a:gridCol>
                <a:gridCol w="360000">
                  <a:extLst>
                    <a:ext uri="{9D8B030D-6E8A-4147-A177-3AD203B41FA5}">
                      <a16:colId xmlns:a16="http://schemas.microsoft.com/office/drawing/2014/main" val="1525013378"/>
                    </a:ext>
                  </a:extLst>
                </a:gridCol>
              </a:tblGrid>
              <a:tr h="324000">
                <a:tc>
                  <a:txBody>
                    <a:bodyPr/>
                    <a:lstStyle/>
                    <a:p>
                      <a:endParaRPr lang="en-NL" sz="1100" dirty="0"/>
                    </a:p>
                  </a:txBody>
                  <a:tcPr marL="72000" anchor="ctr"/>
                </a:tc>
                <a:tc>
                  <a:txBody>
                    <a:bodyPr/>
                    <a:lstStyle/>
                    <a:p>
                      <a:r>
                        <a:rPr lang="en-US" sz="900" dirty="0" err="1"/>
                        <a:t>care-sm:Sex</a:t>
                      </a:r>
                      <a:endParaRPr lang="en-US" sz="900" dirty="0"/>
                    </a:p>
                    <a:p>
                      <a:r>
                        <a:rPr lang="en-US" sz="900" dirty="0"/>
                        <a:t>("Biological sex"@</a:t>
                      </a:r>
                      <a:r>
                        <a:rPr lang="en-US" sz="900" dirty="0" err="1"/>
                        <a:t>en</a:t>
                      </a:r>
                      <a:r>
                        <a:rPr lang="en-US" sz="900" dirty="0"/>
                        <a:t>)</a:t>
                      </a:r>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012902903"/>
                  </a:ext>
                </a:extLst>
              </a:tr>
              <a:tr h="306000">
                <a:tc>
                  <a:txBody>
                    <a:bodyPr/>
                    <a:lstStyle/>
                    <a:p>
                      <a:endParaRPr lang="en-NL" sz="1100" dirty="0"/>
                    </a:p>
                  </a:txBody>
                  <a:tcPr marL="72000" anchor="ctr"/>
                </a:tc>
                <a:tc>
                  <a:txBody>
                    <a:bodyPr/>
                    <a:lstStyle/>
                    <a:p>
                      <a:r>
                        <a:rPr lang="en-US" sz="1100" b="1" dirty="0"/>
                        <a:t>female</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1249708150"/>
                  </a:ext>
                </a:extLst>
              </a:tr>
              <a:tr h="306000">
                <a:tc>
                  <a:txBody>
                    <a:bodyPr/>
                    <a:lstStyle/>
                    <a:p>
                      <a:endParaRPr lang="en-NL" sz="1100" dirty="0"/>
                    </a:p>
                  </a:txBody>
                  <a:tcPr marL="72000" anchor="ctr"/>
                </a:tc>
                <a:tc>
                  <a:txBody>
                    <a:bodyPr/>
                    <a:lstStyle/>
                    <a:p>
                      <a:r>
                        <a:rPr lang="en-US" sz="1100" b="1" dirty="0"/>
                        <a:t>male</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850974854"/>
                  </a:ext>
                </a:extLst>
              </a:tr>
              <a:tr h="306000">
                <a:tc>
                  <a:txBody>
                    <a:bodyPr/>
                    <a:lstStyle/>
                    <a:p>
                      <a:endParaRPr lang="en-NL" sz="1100" dirty="0"/>
                    </a:p>
                  </a:txBody>
                  <a:tcPr marL="72000" anchor="ctr"/>
                </a:tc>
                <a:tc>
                  <a:txBody>
                    <a:bodyPr/>
                    <a:lstStyle/>
                    <a:p>
                      <a:r>
                        <a:rPr lang="en-US" sz="1100" b="1" dirty="0"/>
                        <a:t>female</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29" name="Rectangle: Rounded Corners 28">
            <a:extLst>
              <a:ext uri="{FF2B5EF4-FFF2-40B4-BE49-F238E27FC236}">
                <a16:creationId xmlns:a16="http://schemas.microsoft.com/office/drawing/2014/main" id="{F98A27E1-D1C7-E873-62B3-F16894C5A4BA}"/>
              </a:ext>
            </a:extLst>
          </p:cNvPr>
          <p:cNvSpPr/>
          <p:nvPr/>
        </p:nvSpPr>
        <p:spPr>
          <a:xfrm>
            <a:off x="9580165" y="2343789"/>
            <a:ext cx="1642188" cy="710132"/>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NL"/>
          </a:p>
        </p:txBody>
      </p:sp>
      <p:sp>
        <p:nvSpPr>
          <p:cNvPr id="5" name="Freeform: Shape 4">
            <a:extLst>
              <a:ext uri="{FF2B5EF4-FFF2-40B4-BE49-F238E27FC236}">
                <a16:creationId xmlns:a16="http://schemas.microsoft.com/office/drawing/2014/main" id="{AB6477A4-15D5-162F-79D2-7EA2E346B7F0}"/>
              </a:ext>
            </a:extLst>
          </p:cNvPr>
          <p:cNvSpPr/>
          <p:nvPr/>
        </p:nvSpPr>
        <p:spPr>
          <a:xfrm>
            <a:off x="960855" y="1882235"/>
            <a:ext cx="6293737" cy="1261697"/>
          </a:xfrm>
          <a:custGeom>
            <a:avLst/>
            <a:gdLst>
              <a:gd name="csX0" fmla="*/ 0 w 6696074"/>
              <a:gd name="csY0" fmla="*/ 0 h 1612800"/>
              <a:gd name="csX1" fmla="*/ 6696074 w 6696074"/>
              <a:gd name="csY1" fmla="*/ 0 h 1612800"/>
              <a:gd name="csX2" fmla="*/ 6696074 w 6696074"/>
              <a:gd name="csY2" fmla="*/ 1612800 h 1612800"/>
              <a:gd name="csX3" fmla="*/ 0 w 6696074"/>
              <a:gd name="csY3" fmla="*/ 1612800 h 1612800"/>
              <a:gd name="csX4" fmla="*/ 0 w 6696074"/>
              <a:gd name="csY4" fmla="*/ 0 h 1612800"/>
            </a:gdLst>
            <a:ahLst/>
            <a:cxnLst>
              <a:cxn ang="0">
                <a:pos x="csX0" y="csY0"/>
              </a:cxn>
              <a:cxn ang="0">
                <a:pos x="csX1" y="csY1"/>
              </a:cxn>
              <a:cxn ang="0">
                <a:pos x="csX2" y="csY2"/>
              </a:cxn>
              <a:cxn ang="0">
                <a:pos x="csX3" y="csY3"/>
              </a:cxn>
              <a:cxn ang="0">
                <a:pos x="csX4" y="csY4"/>
              </a:cxn>
            </a:cxnLst>
            <a:rect l="l" t="t" r="r" b="b"/>
            <a:pathLst>
              <a:path w="6696074" h="1612800">
                <a:moveTo>
                  <a:pt x="0" y="0"/>
                </a:moveTo>
                <a:lnTo>
                  <a:pt x="6696074" y="0"/>
                </a:lnTo>
                <a:lnTo>
                  <a:pt x="6696074" y="1612800"/>
                </a:lnTo>
                <a:lnTo>
                  <a:pt x="0" y="1612800"/>
                </a:lnTo>
                <a:lnTo>
                  <a:pt x="0" y="0"/>
                </a:lnTo>
                <a:close/>
              </a:path>
            </a:pathLst>
          </a:custGeom>
        </p:spPr>
        <p:style>
          <a:lnRef idx="1">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360000" tIns="360000" rIns="360000" bIns="108000" numCol="1" spcCol="1270" anchor="t" anchorCtr="0">
            <a:noAutofit/>
          </a:bodyPr>
          <a:lstStyle/>
          <a:p>
            <a:pPr marL="171450" lvl="1" indent="-171450" defTabSz="711200">
              <a:lnSpc>
                <a:spcPct val="90000"/>
              </a:lnSpc>
              <a:spcBef>
                <a:spcPct val="0"/>
              </a:spcBef>
              <a:spcAft>
                <a:spcPts val="600"/>
              </a:spcAft>
              <a:buChar char="•"/>
            </a:pPr>
            <a:r>
              <a:rPr lang="en-US" sz="1400" dirty="0"/>
              <a:t>Build a valid cohort for his study</a:t>
            </a:r>
          </a:p>
          <a:p>
            <a:pPr marL="171450" lvl="1" indent="-171450" defTabSz="711200">
              <a:lnSpc>
                <a:spcPct val="90000"/>
              </a:lnSpc>
              <a:spcBef>
                <a:spcPct val="0"/>
              </a:spcBef>
              <a:spcAft>
                <a:spcPts val="600"/>
              </a:spcAft>
              <a:buChar char="•"/>
            </a:pPr>
            <a:r>
              <a:rPr lang="en-US" sz="1400" dirty="0"/>
              <a:t>Use the sex/gender-related variable that fits his research question</a:t>
            </a:r>
          </a:p>
          <a:p>
            <a:pPr marL="171450" lvl="1" indent="-171450" defTabSz="711200">
              <a:lnSpc>
                <a:spcPct val="90000"/>
              </a:lnSpc>
              <a:spcBef>
                <a:spcPct val="0"/>
              </a:spcBef>
              <a:spcAft>
                <a:spcPts val="600"/>
              </a:spcAft>
              <a:buChar char="•"/>
            </a:pPr>
            <a:r>
              <a:rPr lang="en-US" sz="1400" dirty="0"/>
              <a:t>Interpret the available data in a way that supports reliable analysis</a:t>
            </a:r>
            <a:endParaRPr lang="en-NL" sz="1400" kern="1200" dirty="0"/>
          </a:p>
        </p:txBody>
      </p:sp>
      <p:sp>
        <p:nvSpPr>
          <p:cNvPr id="6" name="Freeform: Shape 5">
            <a:extLst>
              <a:ext uri="{FF2B5EF4-FFF2-40B4-BE49-F238E27FC236}">
                <a16:creationId xmlns:a16="http://schemas.microsoft.com/office/drawing/2014/main" id="{1D753A33-360B-A8FD-E3C2-919E710CD4B7}"/>
              </a:ext>
            </a:extLst>
          </p:cNvPr>
          <p:cNvSpPr/>
          <p:nvPr/>
        </p:nvSpPr>
        <p:spPr>
          <a:xfrm>
            <a:off x="1085983" y="1744575"/>
            <a:ext cx="3163443" cy="392715"/>
          </a:xfrm>
          <a:custGeom>
            <a:avLst/>
            <a:gdLst>
              <a:gd name="csX0" fmla="*/ 0 w 4687251"/>
              <a:gd name="csY0" fmla="*/ 157443 h 944640"/>
              <a:gd name="csX1" fmla="*/ 157443 w 4687251"/>
              <a:gd name="csY1" fmla="*/ 0 h 944640"/>
              <a:gd name="csX2" fmla="*/ 4529808 w 4687251"/>
              <a:gd name="csY2" fmla="*/ 0 h 944640"/>
              <a:gd name="csX3" fmla="*/ 4687251 w 4687251"/>
              <a:gd name="csY3" fmla="*/ 157443 h 944640"/>
              <a:gd name="csX4" fmla="*/ 4687251 w 4687251"/>
              <a:gd name="csY4" fmla="*/ 787197 h 944640"/>
              <a:gd name="csX5" fmla="*/ 4529808 w 4687251"/>
              <a:gd name="csY5" fmla="*/ 944640 h 944640"/>
              <a:gd name="csX6" fmla="*/ 157443 w 4687251"/>
              <a:gd name="csY6" fmla="*/ 944640 h 944640"/>
              <a:gd name="csX7" fmla="*/ 0 w 4687251"/>
              <a:gd name="csY7" fmla="*/ 787197 h 944640"/>
              <a:gd name="csX8" fmla="*/ 0 w 4687251"/>
              <a:gd name="csY8" fmla="*/ 157443 h 9446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687251" h="944640">
                <a:moveTo>
                  <a:pt x="0" y="157443"/>
                </a:moveTo>
                <a:cubicBezTo>
                  <a:pt x="0" y="70490"/>
                  <a:pt x="70490" y="0"/>
                  <a:pt x="157443" y="0"/>
                </a:cubicBezTo>
                <a:lnTo>
                  <a:pt x="4529808" y="0"/>
                </a:lnTo>
                <a:cubicBezTo>
                  <a:pt x="4616761" y="0"/>
                  <a:pt x="4687251" y="70490"/>
                  <a:pt x="4687251" y="157443"/>
                </a:cubicBezTo>
                <a:lnTo>
                  <a:pt x="4687251" y="787197"/>
                </a:lnTo>
                <a:cubicBezTo>
                  <a:pt x="4687251" y="874150"/>
                  <a:pt x="4616761" y="944640"/>
                  <a:pt x="4529808" y="944640"/>
                </a:cubicBezTo>
                <a:lnTo>
                  <a:pt x="157443" y="944640"/>
                </a:lnTo>
                <a:cubicBezTo>
                  <a:pt x="70490" y="944640"/>
                  <a:pt x="0" y="874150"/>
                  <a:pt x="0" y="787197"/>
                </a:cubicBezTo>
                <a:lnTo>
                  <a:pt x="0" y="157443"/>
                </a:lnTo>
                <a:close/>
              </a:path>
            </a:pathLst>
          </a:custGeom>
        </p:spPr>
        <p:style>
          <a:lnRef idx="0">
            <a:schemeClr val="lt1">
              <a:hueOff val="0"/>
              <a:satOff val="0"/>
              <a:lumOff val="0"/>
              <a:alphaOff val="0"/>
            </a:schemeClr>
          </a:lnRef>
          <a:fillRef idx="3">
            <a:schemeClr val="accent4">
              <a:hueOff val="0"/>
              <a:satOff val="0"/>
              <a:lumOff val="0"/>
              <a:alphaOff val="0"/>
            </a:schemeClr>
          </a:fillRef>
          <a:effectRef idx="2">
            <a:schemeClr val="accent4">
              <a:hueOff val="0"/>
              <a:satOff val="0"/>
              <a:lumOff val="0"/>
              <a:alphaOff val="0"/>
            </a:schemeClr>
          </a:effectRef>
          <a:fontRef idx="minor">
            <a:schemeClr val="lt1"/>
          </a:fontRef>
        </p:style>
        <p:txBody>
          <a:bodyPr spcFirstLastPara="0" vert="horz" wrap="square" lIns="223281" tIns="46114" rIns="223281" bIns="46114" numCol="1" spcCol="1270" anchor="ctr" anchorCtr="0">
            <a:noAutofit/>
          </a:bodyPr>
          <a:lstStyle/>
          <a:p>
            <a:pPr marL="0" lvl="0" indent="0" algn="l" defTabSz="800100">
              <a:lnSpc>
                <a:spcPct val="90000"/>
              </a:lnSpc>
              <a:spcBef>
                <a:spcPct val="0"/>
              </a:spcBef>
              <a:spcAft>
                <a:spcPct val="35000"/>
              </a:spcAft>
              <a:buNone/>
            </a:pPr>
            <a:r>
              <a:rPr lang="en-US" sz="1800" kern="1200" dirty="0"/>
              <a:t>What Amir wants</a:t>
            </a:r>
            <a:endParaRPr lang="en-NL" sz="1800" kern="1200" dirty="0"/>
          </a:p>
        </p:txBody>
      </p:sp>
      <p:sp>
        <p:nvSpPr>
          <p:cNvPr id="7" name="Freeform: Shape 6">
            <a:extLst>
              <a:ext uri="{FF2B5EF4-FFF2-40B4-BE49-F238E27FC236}">
                <a16:creationId xmlns:a16="http://schemas.microsoft.com/office/drawing/2014/main" id="{EFD77D3F-C558-72FA-D2D7-43DAE1314148}"/>
              </a:ext>
            </a:extLst>
          </p:cNvPr>
          <p:cNvSpPr/>
          <p:nvPr/>
        </p:nvSpPr>
        <p:spPr>
          <a:xfrm>
            <a:off x="960855" y="3449062"/>
            <a:ext cx="6293737" cy="1261697"/>
          </a:xfrm>
          <a:custGeom>
            <a:avLst/>
            <a:gdLst>
              <a:gd name="csX0" fmla="*/ 0 w 6696074"/>
              <a:gd name="csY0" fmla="*/ 0 h 1537199"/>
              <a:gd name="csX1" fmla="*/ 6696074 w 6696074"/>
              <a:gd name="csY1" fmla="*/ 0 h 1537199"/>
              <a:gd name="csX2" fmla="*/ 6696074 w 6696074"/>
              <a:gd name="csY2" fmla="*/ 1537199 h 1537199"/>
              <a:gd name="csX3" fmla="*/ 0 w 6696074"/>
              <a:gd name="csY3" fmla="*/ 1537199 h 1537199"/>
              <a:gd name="csX4" fmla="*/ 0 w 6696074"/>
              <a:gd name="csY4" fmla="*/ 0 h 1537199"/>
            </a:gdLst>
            <a:ahLst/>
            <a:cxnLst>
              <a:cxn ang="0">
                <a:pos x="csX0" y="csY0"/>
              </a:cxn>
              <a:cxn ang="0">
                <a:pos x="csX1" y="csY1"/>
              </a:cxn>
              <a:cxn ang="0">
                <a:pos x="csX2" y="csY2"/>
              </a:cxn>
              <a:cxn ang="0">
                <a:pos x="csX3" y="csY3"/>
              </a:cxn>
              <a:cxn ang="0">
                <a:pos x="csX4" y="csY4"/>
              </a:cxn>
            </a:cxnLst>
            <a:rect l="l" t="t" r="r" b="b"/>
            <a:pathLst>
              <a:path w="6696074" h="1537199">
                <a:moveTo>
                  <a:pt x="0" y="0"/>
                </a:moveTo>
                <a:lnTo>
                  <a:pt x="6696074" y="0"/>
                </a:lnTo>
                <a:lnTo>
                  <a:pt x="6696074" y="1537199"/>
                </a:lnTo>
                <a:lnTo>
                  <a:pt x="0" y="1537199"/>
                </a:lnTo>
                <a:lnTo>
                  <a:pt x="0" y="0"/>
                </a:lnTo>
                <a:close/>
              </a:path>
            </a:pathLst>
          </a:custGeom>
        </p:spPr>
        <p:style>
          <a:lnRef idx="1">
            <a:schemeClr val="accent4">
              <a:hueOff val="-7382464"/>
              <a:satOff val="22475"/>
              <a:lumOff val="33922"/>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360000" tIns="360000" rIns="360000" bIns="108000" numCol="1" spcCol="1270" anchor="t" anchorCtr="0">
            <a:noAutofit/>
          </a:bodyPr>
          <a:lstStyle/>
          <a:p>
            <a:pPr marL="171450" lvl="1" indent="-171450" defTabSz="711200">
              <a:lnSpc>
                <a:spcPct val="90000"/>
              </a:lnSpc>
              <a:spcBef>
                <a:spcPct val="0"/>
              </a:spcBef>
              <a:spcAft>
                <a:spcPts val="600"/>
              </a:spcAft>
              <a:buChar char="•"/>
            </a:pPr>
            <a:r>
              <a:rPr lang="en-US" sz="1400" dirty="0"/>
              <a:t>Different datasets appear to contain comparable sex/gender-related information</a:t>
            </a:r>
          </a:p>
          <a:p>
            <a:pPr marL="171450" lvl="1" indent="-171450" defTabSz="711200">
              <a:lnSpc>
                <a:spcPct val="90000"/>
              </a:lnSpc>
              <a:spcBef>
                <a:spcPct val="0"/>
              </a:spcBef>
              <a:spcAft>
                <a:spcPts val="600"/>
              </a:spcAft>
              <a:buChar char="•"/>
            </a:pPr>
            <a:r>
              <a:rPr lang="en-US" sz="1400" dirty="0"/>
              <a:t>But if those variables do not mean the same thing, using them in the same way could distort his results</a:t>
            </a:r>
            <a:endParaRPr lang="en-NL" sz="1400" kern="1200" dirty="0"/>
          </a:p>
        </p:txBody>
      </p:sp>
      <p:sp>
        <p:nvSpPr>
          <p:cNvPr id="8" name="Freeform: Shape 7">
            <a:extLst>
              <a:ext uri="{FF2B5EF4-FFF2-40B4-BE49-F238E27FC236}">
                <a16:creationId xmlns:a16="http://schemas.microsoft.com/office/drawing/2014/main" id="{E5C60EFC-C3F4-9082-B52D-06191AA2ED2D}"/>
              </a:ext>
            </a:extLst>
          </p:cNvPr>
          <p:cNvSpPr/>
          <p:nvPr/>
        </p:nvSpPr>
        <p:spPr>
          <a:xfrm>
            <a:off x="1085983" y="3281592"/>
            <a:ext cx="3163443" cy="392715"/>
          </a:xfrm>
          <a:custGeom>
            <a:avLst/>
            <a:gdLst>
              <a:gd name="csX0" fmla="*/ 0 w 4687251"/>
              <a:gd name="csY0" fmla="*/ 157443 h 944640"/>
              <a:gd name="csX1" fmla="*/ 157443 w 4687251"/>
              <a:gd name="csY1" fmla="*/ 0 h 944640"/>
              <a:gd name="csX2" fmla="*/ 4529808 w 4687251"/>
              <a:gd name="csY2" fmla="*/ 0 h 944640"/>
              <a:gd name="csX3" fmla="*/ 4687251 w 4687251"/>
              <a:gd name="csY3" fmla="*/ 157443 h 944640"/>
              <a:gd name="csX4" fmla="*/ 4687251 w 4687251"/>
              <a:gd name="csY4" fmla="*/ 787197 h 944640"/>
              <a:gd name="csX5" fmla="*/ 4529808 w 4687251"/>
              <a:gd name="csY5" fmla="*/ 944640 h 944640"/>
              <a:gd name="csX6" fmla="*/ 157443 w 4687251"/>
              <a:gd name="csY6" fmla="*/ 944640 h 944640"/>
              <a:gd name="csX7" fmla="*/ 0 w 4687251"/>
              <a:gd name="csY7" fmla="*/ 787197 h 944640"/>
              <a:gd name="csX8" fmla="*/ 0 w 4687251"/>
              <a:gd name="csY8" fmla="*/ 157443 h 9446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687251" h="944640">
                <a:moveTo>
                  <a:pt x="0" y="157443"/>
                </a:moveTo>
                <a:cubicBezTo>
                  <a:pt x="0" y="70490"/>
                  <a:pt x="70490" y="0"/>
                  <a:pt x="157443" y="0"/>
                </a:cubicBezTo>
                <a:lnTo>
                  <a:pt x="4529808" y="0"/>
                </a:lnTo>
                <a:cubicBezTo>
                  <a:pt x="4616761" y="0"/>
                  <a:pt x="4687251" y="70490"/>
                  <a:pt x="4687251" y="157443"/>
                </a:cubicBezTo>
                <a:lnTo>
                  <a:pt x="4687251" y="787197"/>
                </a:lnTo>
                <a:cubicBezTo>
                  <a:pt x="4687251" y="874150"/>
                  <a:pt x="4616761" y="944640"/>
                  <a:pt x="4529808" y="944640"/>
                </a:cubicBezTo>
                <a:lnTo>
                  <a:pt x="157443" y="944640"/>
                </a:lnTo>
                <a:cubicBezTo>
                  <a:pt x="70490" y="944640"/>
                  <a:pt x="0" y="874150"/>
                  <a:pt x="0" y="787197"/>
                </a:cubicBezTo>
                <a:lnTo>
                  <a:pt x="0" y="157443"/>
                </a:lnTo>
                <a:close/>
              </a:path>
            </a:pathLst>
          </a:custGeom>
        </p:spPr>
        <p:style>
          <a:lnRef idx="0">
            <a:schemeClr val="lt1">
              <a:hueOff val="0"/>
              <a:satOff val="0"/>
              <a:lumOff val="0"/>
              <a:alphaOff val="0"/>
            </a:schemeClr>
          </a:lnRef>
          <a:fillRef idx="3">
            <a:schemeClr val="accent4">
              <a:hueOff val="-7382464"/>
              <a:satOff val="22475"/>
              <a:lumOff val="33922"/>
              <a:alphaOff val="0"/>
            </a:schemeClr>
          </a:fillRef>
          <a:effectRef idx="2">
            <a:schemeClr val="accent4">
              <a:hueOff val="-7382464"/>
              <a:satOff val="22475"/>
              <a:lumOff val="33922"/>
              <a:alphaOff val="0"/>
            </a:schemeClr>
          </a:effectRef>
          <a:fontRef idx="minor">
            <a:schemeClr val="lt1"/>
          </a:fontRef>
        </p:style>
        <p:txBody>
          <a:bodyPr spcFirstLastPara="0" vert="horz" wrap="square" lIns="223281" tIns="46114" rIns="223281" bIns="46114" numCol="1" spcCol="1270" anchor="ctr" anchorCtr="0">
            <a:noAutofit/>
          </a:bodyPr>
          <a:lstStyle/>
          <a:p>
            <a:pPr marL="0" lvl="0" indent="0" algn="l" defTabSz="800100">
              <a:lnSpc>
                <a:spcPct val="90000"/>
              </a:lnSpc>
              <a:spcBef>
                <a:spcPct val="0"/>
              </a:spcBef>
              <a:spcAft>
                <a:spcPct val="35000"/>
              </a:spcAft>
              <a:buNone/>
            </a:pPr>
            <a:r>
              <a:rPr lang="en-US" sz="1800" kern="1200" dirty="0"/>
              <a:t>Amir’s challenge</a:t>
            </a:r>
            <a:endParaRPr lang="en-NL" sz="1800" kern="1200" dirty="0"/>
          </a:p>
        </p:txBody>
      </p:sp>
      <p:sp>
        <p:nvSpPr>
          <p:cNvPr id="9" name="TextBox 8">
            <a:extLst>
              <a:ext uri="{FF2B5EF4-FFF2-40B4-BE49-F238E27FC236}">
                <a16:creationId xmlns:a16="http://schemas.microsoft.com/office/drawing/2014/main" id="{57EDED5B-811F-2AF6-A70C-7B2BF66AE947}"/>
              </a:ext>
            </a:extLst>
          </p:cNvPr>
          <p:cNvSpPr txBox="1"/>
          <p:nvPr/>
        </p:nvSpPr>
        <p:spPr>
          <a:xfrm>
            <a:off x="695325" y="4819088"/>
            <a:ext cx="6908709" cy="917513"/>
          </a:xfrm>
          <a:prstGeom prst="rect">
            <a:avLst/>
          </a:prstGeom>
          <a:noFill/>
        </p:spPr>
        <p:txBody>
          <a:bodyPr wrap="square" lIns="180000" tIns="180000" rIns="180000" bIns="180000" rtlCol="0">
            <a:spAutoFit/>
          </a:bodyPr>
          <a:lstStyle/>
          <a:p>
            <a:pPr algn="ctr"/>
            <a:r>
              <a:rPr lang="en-US" b="1" i="1" dirty="0"/>
              <a:t>“What semantic differences do I need to understand before I can correctly compare and reuse these datasets?”</a:t>
            </a:r>
            <a:endParaRPr lang="en-US" i="1" dirty="0"/>
          </a:p>
        </p:txBody>
      </p:sp>
      <p:sp>
        <p:nvSpPr>
          <p:cNvPr id="14" name="TextBox 13">
            <a:extLst>
              <a:ext uri="{FF2B5EF4-FFF2-40B4-BE49-F238E27FC236}">
                <a16:creationId xmlns:a16="http://schemas.microsoft.com/office/drawing/2014/main" id="{DDE4AC4C-3779-21F0-42AA-61F4D15259D3}"/>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a:t>
            </a:r>
            <a:r>
              <a:rPr lang="en-US" sz="1200" b="1" cap="small" spc="100" dirty="0">
                <a:solidFill>
                  <a:srgbClr val="000000">
                    <a:lumMod val="95000"/>
                    <a:lumOff val="5000"/>
                  </a:srgbClr>
                </a:solidFill>
                <a:latin typeface="Aptos" panose="020B0004020202020204" pitchFamily="34" charset="0"/>
                <a:ea typeface="+mj-ea"/>
                <a:cs typeface="+mj-cs"/>
              </a:rPr>
              <a:t>1</a:t>
            </a:r>
            <a:endParaRPr lang="en-NL" sz="1000" b="1" dirty="0"/>
          </a:p>
        </p:txBody>
      </p:sp>
      <p:pic>
        <p:nvPicPr>
          <p:cNvPr id="48" name="Picture 47">
            <a:extLst>
              <a:ext uri="{FF2B5EF4-FFF2-40B4-BE49-F238E27FC236}">
                <a16:creationId xmlns:a16="http://schemas.microsoft.com/office/drawing/2014/main" id="{4FA5315B-BB13-3923-51CD-AD746DE83898}"/>
              </a:ext>
            </a:extLst>
          </p:cNvPr>
          <p:cNvPicPr>
            <a:picLocks noChangeAspect="1"/>
          </p:cNvPicPr>
          <p:nvPr/>
        </p:nvPicPr>
        <p:blipFill>
          <a:blip r:embed="rId3"/>
          <a:srcRect l="17222" t="33069" r="27186" b="41346"/>
          <a:stretch>
            <a:fillRect/>
          </a:stretch>
        </p:blipFill>
        <p:spPr>
          <a:xfrm>
            <a:off x="9681170" y="2477918"/>
            <a:ext cx="1440178" cy="441874"/>
          </a:xfrm>
          <a:prstGeom prst="rect">
            <a:avLst/>
          </a:prstGeom>
        </p:spPr>
      </p:pic>
      <p:pic>
        <p:nvPicPr>
          <p:cNvPr id="49" name="Picture 48">
            <a:extLst>
              <a:ext uri="{FF2B5EF4-FFF2-40B4-BE49-F238E27FC236}">
                <a16:creationId xmlns:a16="http://schemas.microsoft.com/office/drawing/2014/main" id="{9D4C3A2D-3A3A-F77C-FCB5-3A04D2212B7D}"/>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Effect>
                      <a14:brightnessContrast contrast="-40000"/>
                    </a14:imgEffect>
                  </a14:imgLayer>
                </a14:imgProps>
              </a:ext>
            </a:extLst>
          </a:blip>
          <a:srcRect l="22593" t="33818" r="26296" b="42564"/>
          <a:stretch>
            <a:fillRect/>
          </a:stretch>
        </p:blipFill>
        <p:spPr>
          <a:xfrm>
            <a:off x="9681259" y="3897611"/>
            <a:ext cx="1440000" cy="443613"/>
          </a:xfrm>
          <a:prstGeom prst="rect">
            <a:avLst/>
          </a:prstGeom>
        </p:spPr>
      </p:pic>
      <p:pic>
        <p:nvPicPr>
          <p:cNvPr id="50" name="Picture 49">
            <a:extLst>
              <a:ext uri="{FF2B5EF4-FFF2-40B4-BE49-F238E27FC236}">
                <a16:creationId xmlns:a16="http://schemas.microsoft.com/office/drawing/2014/main" id="{CD76642E-4FF7-5A91-8E0C-51D11D9BF7F8}"/>
              </a:ext>
            </a:extLst>
          </p:cNvPr>
          <p:cNvPicPr>
            <a:picLocks noChangeAspect="1"/>
          </p:cNvPicPr>
          <p:nvPr/>
        </p:nvPicPr>
        <p:blipFill>
          <a:blip r:embed="rId6"/>
          <a:srcRect l="13027" t="27953" r="16204" b="38897"/>
          <a:stretch>
            <a:fillRect/>
          </a:stretch>
        </p:blipFill>
        <p:spPr>
          <a:xfrm>
            <a:off x="9681260" y="5312288"/>
            <a:ext cx="1440000" cy="449693"/>
          </a:xfrm>
          <a:prstGeom prst="rect">
            <a:avLst/>
          </a:prstGeom>
        </p:spPr>
      </p:pic>
    </p:spTree>
    <p:extLst>
      <p:ext uri="{BB962C8B-B14F-4D97-AF65-F5344CB8AC3E}">
        <p14:creationId xmlns:p14="http://schemas.microsoft.com/office/powerpoint/2010/main" val="25985127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3D8ED-EC0F-DB4C-58E9-632104F8D6F5}"/>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26B21B24-9863-A3C8-4C97-5C060CCF85E6}"/>
              </a:ext>
            </a:extLst>
          </p:cNvPr>
          <p:cNvSpPr/>
          <p:nvPr/>
        </p:nvSpPr>
        <p:spPr>
          <a:xfrm>
            <a:off x="695324" y="1623815"/>
            <a:ext cx="10801350" cy="1404000"/>
          </a:xfrm>
          <a:prstGeom prst="rect">
            <a:avLst/>
          </a:prstGeom>
          <a:solidFill>
            <a:schemeClr val="accent1">
              <a:alpha val="3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NL"/>
          </a:p>
        </p:txBody>
      </p:sp>
      <p:graphicFrame>
        <p:nvGraphicFramePr>
          <p:cNvPr id="10" name="Content Placeholder 4">
            <a:extLst>
              <a:ext uri="{FF2B5EF4-FFF2-40B4-BE49-F238E27FC236}">
                <a16:creationId xmlns:a16="http://schemas.microsoft.com/office/drawing/2014/main" id="{805AD92D-305F-4B34-9694-B07435AFB82A}"/>
              </a:ext>
            </a:extLst>
          </p:cNvPr>
          <p:cNvGraphicFramePr>
            <a:graphicFrameLocks noGrp="1"/>
          </p:cNvGraphicFramePr>
          <p:nvPr>
            <p:ph idx="1"/>
            <p:extLst>
              <p:ext uri="{D42A27DB-BD31-4B8C-83A1-F6EECF244321}">
                <p14:modId xmlns:p14="http://schemas.microsoft.com/office/powerpoint/2010/main" val="176431395"/>
              </p:ext>
            </p:extLst>
          </p:nvPr>
        </p:nvGraphicFramePr>
        <p:xfrm>
          <a:off x="911224" y="1671106"/>
          <a:ext cx="5944059" cy="128376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1404382">
                  <a:extLst>
                    <a:ext uri="{9D8B030D-6E8A-4147-A177-3AD203B41FA5}">
                      <a16:colId xmlns:a16="http://schemas.microsoft.com/office/drawing/2014/main" val="979315127"/>
                    </a:ext>
                  </a:extLst>
                </a:gridCol>
                <a:gridCol w="1731677">
                  <a:extLst>
                    <a:ext uri="{9D8B030D-6E8A-4147-A177-3AD203B41FA5}">
                      <a16:colId xmlns:a16="http://schemas.microsoft.com/office/drawing/2014/main" val="2075302567"/>
                    </a:ext>
                  </a:extLst>
                </a:gridCol>
                <a:gridCol w="1404000">
                  <a:extLst>
                    <a:ext uri="{9D8B030D-6E8A-4147-A177-3AD203B41FA5}">
                      <a16:colId xmlns:a16="http://schemas.microsoft.com/office/drawing/2014/main" val="660631070"/>
                    </a:ext>
                  </a:extLst>
                </a:gridCol>
                <a:gridCol w="1404000">
                  <a:extLst>
                    <a:ext uri="{9D8B030D-6E8A-4147-A177-3AD203B41FA5}">
                      <a16:colId xmlns:a16="http://schemas.microsoft.com/office/drawing/2014/main" val="1525013378"/>
                    </a:ext>
                  </a:extLst>
                </a:gridCol>
              </a:tblGrid>
              <a:tr h="360000">
                <a:tc>
                  <a:txBody>
                    <a:bodyPr/>
                    <a:lstStyle/>
                    <a:p>
                      <a:r>
                        <a:rPr lang="en-US" sz="1100" dirty="0" err="1"/>
                        <a:t>patient_id</a:t>
                      </a:r>
                      <a:endParaRPr lang="en-NL" sz="1100" dirty="0"/>
                    </a:p>
                  </a:txBody>
                  <a:tcPr marL="72000" anchor="ctr"/>
                </a:tc>
                <a:tc>
                  <a:txBody>
                    <a:bodyPr/>
                    <a:lstStyle/>
                    <a:p>
                      <a:pPr marL="0" algn="l" defTabSz="914400" rtl="0" eaLnBrk="1" latinLnBrk="0" hangingPunct="1"/>
                      <a:r>
                        <a:rPr lang="en-US" sz="900" b="1" kern="1200" dirty="0" err="1">
                          <a:solidFill>
                            <a:schemeClr val="lt1"/>
                          </a:solidFill>
                          <a:latin typeface="+mn-lt"/>
                          <a:ea typeface="+mn-ea"/>
                          <a:cs typeface="+mn-cs"/>
                        </a:rPr>
                        <a:t>care-sm:Sex</a:t>
                      </a:r>
                      <a:endParaRPr lang="en-US" sz="900" b="1" kern="1200" dirty="0">
                        <a:solidFill>
                          <a:schemeClr val="lt1"/>
                        </a:solidFill>
                        <a:latin typeface="+mn-lt"/>
                        <a:ea typeface="+mn-ea"/>
                        <a:cs typeface="+mn-cs"/>
                      </a:endParaRPr>
                    </a:p>
                    <a:p>
                      <a:pPr marL="0" algn="l" defTabSz="914400" rtl="0" eaLnBrk="1" latinLnBrk="0" hangingPunct="1"/>
                      <a:r>
                        <a:rPr lang="en-US" sz="900" b="1" kern="1200" dirty="0">
                          <a:solidFill>
                            <a:schemeClr val="lt1"/>
                          </a:solidFill>
                          <a:latin typeface="+mn-lt"/>
                          <a:ea typeface="+mn-ea"/>
                          <a:cs typeface="+mn-cs"/>
                        </a:rPr>
                        <a:t>("Biological sex"@</a:t>
                      </a:r>
                      <a:r>
                        <a:rPr lang="en-US" sz="900" b="1" kern="1200" dirty="0" err="1">
                          <a:solidFill>
                            <a:schemeClr val="lt1"/>
                          </a:solidFill>
                          <a:latin typeface="+mn-lt"/>
                          <a:ea typeface="+mn-ea"/>
                          <a:cs typeface="+mn-cs"/>
                        </a:rPr>
                        <a:t>en</a:t>
                      </a:r>
                      <a:r>
                        <a:rPr lang="en-US" sz="900" b="1" kern="1200" dirty="0">
                          <a:solidFill>
                            <a:schemeClr val="lt1"/>
                          </a:solidFill>
                          <a:latin typeface="+mn-lt"/>
                          <a:ea typeface="+mn-ea"/>
                          <a:cs typeface="+mn-cs"/>
                        </a:rPr>
                        <a:t>)</a:t>
                      </a:r>
                    </a:p>
                  </a:txBody>
                  <a:tcPr marL="72000" anchor="ctr"/>
                </a:tc>
                <a:tc>
                  <a:txBody>
                    <a:bodyPr/>
                    <a:lstStyle/>
                    <a:p>
                      <a:r>
                        <a:rPr lang="en-US" sz="1100" dirty="0" err="1"/>
                        <a:t>birth_year</a:t>
                      </a:r>
                      <a:endParaRPr lang="en-NL" sz="1100" dirty="0"/>
                    </a:p>
                  </a:txBody>
                  <a:tcPr marL="72000" anchor="ctr"/>
                </a:tc>
                <a:tc>
                  <a:txBody>
                    <a:bodyPr/>
                    <a:lstStyle/>
                    <a:p>
                      <a:r>
                        <a:rPr lang="en-US" sz="1100" dirty="0" err="1"/>
                        <a:t>residence_code</a:t>
                      </a:r>
                      <a:endParaRPr lang="en-NL" sz="1100" dirty="0"/>
                    </a:p>
                  </a:txBody>
                  <a:tcPr marL="72000" anchor="ctr"/>
                </a:tc>
                <a:extLst>
                  <a:ext uri="{0D108BD9-81ED-4DB2-BD59-A6C34878D82A}">
                    <a16:rowId xmlns:a16="http://schemas.microsoft.com/office/drawing/2014/main" val="3012902903"/>
                  </a:ext>
                </a:extLst>
              </a:tr>
              <a:tr h="306000">
                <a:tc>
                  <a:txBody>
                    <a:bodyPr/>
                    <a:lstStyle/>
                    <a:p>
                      <a:r>
                        <a:rPr lang="en-US" sz="1100" dirty="0"/>
                        <a:t>NPR-001</a:t>
                      </a:r>
                      <a:endParaRPr lang="en-NL" sz="1100" dirty="0"/>
                    </a:p>
                  </a:txBody>
                  <a:tcPr marL="72000" anchor="ctr"/>
                </a:tc>
                <a:tc>
                  <a:txBody>
                    <a:bodyPr/>
                    <a:lstStyle/>
                    <a:p>
                      <a:r>
                        <a:rPr lang="en-US" sz="1100" b="1" dirty="0"/>
                        <a:t>female</a:t>
                      </a:r>
                      <a:endParaRPr lang="en-NL" sz="1100" b="1" dirty="0"/>
                    </a:p>
                  </a:txBody>
                  <a:tcPr marL="72000" anchor="ctr"/>
                </a:tc>
                <a:tc>
                  <a:txBody>
                    <a:bodyPr/>
                    <a:lstStyle/>
                    <a:p>
                      <a:r>
                        <a:rPr lang="en-US" sz="1100" dirty="0"/>
                        <a:t>1987</a:t>
                      </a:r>
                      <a:endParaRPr lang="en-NL" sz="1100" dirty="0"/>
                    </a:p>
                  </a:txBody>
                  <a:tcPr marL="72000" anchor="ctr"/>
                </a:tc>
                <a:tc>
                  <a:txBody>
                    <a:bodyPr/>
                    <a:lstStyle/>
                    <a:p>
                      <a:r>
                        <a:rPr lang="en-US" sz="1100" dirty="0"/>
                        <a:t>0363</a:t>
                      </a:r>
                      <a:endParaRPr lang="en-NL" sz="1100" dirty="0"/>
                    </a:p>
                  </a:txBody>
                  <a:tcPr marL="72000" anchor="ctr"/>
                </a:tc>
                <a:extLst>
                  <a:ext uri="{0D108BD9-81ED-4DB2-BD59-A6C34878D82A}">
                    <a16:rowId xmlns:a16="http://schemas.microsoft.com/office/drawing/2014/main" val="1249708150"/>
                  </a:ext>
                </a:extLst>
              </a:tr>
              <a:tr h="306000">
                <a:tc>
                  <a:txBody>
                    <a:bodyPr/>
                    <a:lstStyle/>
                    <a:p>
                      <a:r>
                        <a:rPr lang="en-US" sz="1100" dirty="0"/>
                        <a:t>NPR-002</a:t>
                      </a:r>
                      <a:endParaRPr lang="en-NL" sz="1100" dirty="0"/>
                    </a:p>
                  </a:txBody>
                  <a:tcPr marL="72000" anchor="ctr"/>
                </a:tc>
                <a:tc>
                  <a:txBody>
                    <a:bodyPr/>
                    <a:lstStyle/>
                    <a:p>
                      <a:r>
                        <a:rPr lang="en-US" sz="1100" b="1" dirty="0"/>
                        <a:t>male</a:t>
                      </a:r>
                      <a:endParaRPr lang="en-NL" sz="1100" b="1" dirty="0"/>
                    </a:p>
                  </a:txBody>
                  <a:tcPr marL="72000" anchor="ctr"/>
                </a:tc>
                <a:tc>
                  <a:txBody>
                    <a:bodyPr/>
                    <a:lstStyle/>
                    <a:p>
                      <a:r>
                        <a:rPr lang="en-US" sz="1100" dirty="0"/>
                        <a:t>1979</a:t>
                      </a:r>
                      <a:endParaRPr lang="en-NL" sz="1100" dirty="0"/>
                    </a:p>
                  </a:txBody>
                  <a:tcPr marL="72000" anchor="ctr"/>
                </a:tc>
                <a:tc>
                  <a:txBody>
                    <a:bodyPr/>
                    <a:lstStyle/>
                    <a:p>
                      <a:r>
                        <a:rPr lang="en-US" sz="1100" dirty="0"/>
                        <a:t>0599</a:t>
                      </a:r>
                      <a:endParaRPr lang="en-NL" sz="1100" dirty="0"/>
                    </a:p>
                  </a:txBody>
                  <a:tcPr marL="72000" anchor="ctr"/>
                </a:tc>
                <a:extLst>
                  <a:ext uri="{0D108BD9-81ED-4DB2-BD59-A6C34878D82A}">
                    <a16:rowId xmlns:a16="http://schemas.microsoft.com/office/drawing/2014/main" val="3850974854"/>
                  </a:ext>
                </a:extLst>
              </a:tr>
              <a:tr h="306000">
                <a:tc>
                  <a:txBody>
                    <a:bodyPr/>
                    <a:lstStyle/>
                    <a:p>
                      <a:r>
                        <a:rPr lang="en-US" sz="1100" dirty="0"/>
                        <a:t>NPR-003</a:t>
                      </a:r>
                      <a:endParaRPr lang="en-NL" sz="1100" dirty="0"/>
                    </a:p>
                  </a:txBody>
                  <a:tcPr marL="72000" anchor="ctr"/>
                </a:tc>
                <a:tc>
                  <a:txBody>
                    <a:bodyPr/>
                    <a:lstStyle/>
                    <a:p>
                      <a:r>
                        <a:rPr lang="en-US" sz="1100" b="1" dirty="0"/>
                        <a:t>female</a:t>
                      </a:r>
                      <a:endParaRPr lang="en-NL" sz="1100" b="1" dirty="0"/>
                    </a:p>
                  </a:txBody>
                  <a:tcPr marL="72000" anchor="ctr"/>
                </a:tc>
                <a:tc>
                  <a:txBody>
                    <a:bodyPr/>
                    <a:lstStyle/>
                    <a:p>
                      <a:r>
                        <a:rPr lang="en-US" sz="1100" dirty="0"/>
                        <a:t>1994</a:t>
                      </a:r>
                      <a:endParaRPr lang="en-NL" sz="1100" dirty="0"/>
                    </a:p>
                  </a:txBody>
                  <a:tcPr marL="72000" anchor="ctr"/>
                </a:tc>
                <a:tc>
                  <a:txBody>
                    <a:bodyPr/>
                    <a:lstStyle/>
                    <a:p>
                      <a:r>
                        <a:rPr lang="en-US" sz="1100" dirty="0"/>
                        <a:t>0518</a:t>
                      </a:r>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14" name="Rectangle 13">
            <a:extLst>
              <a:ext uri="{FF2B5EF4-FFF2-40B4-BE49-F238E27FC236}">
                <a16:creationId xmlns:a16="http://schemas.microsoft.com/office/drawing/2014/main" id="{14C41F9C-89F0-80A3-3594-3E1AF167F24F}"/>
              </a:ext>
            </a:extLst>
          </p:cNvPr>
          <p:cNvSpPr/>
          <p:nvPr/>
        </p:nvSpPr>
        <p:spPr>
          <a:xfrm>
            <a:off x="695323" y="3080962"/>
            <a:ext cx="10801350" cy="1404000"/>
          </a:xfrm>
          <a:prstGeom prst="rect">
            <a:avLst/>
          </a:prstGeom>
          <a:solidFill>
            <a:schemeClr val="accent2">
              <a:alpha val="3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NL"/>
          </a:p>
        </p:txBody>
      </p:sp>
      <p:graphicFrame>
        <p:nvGraphicFramePr>
          <p:cNvPr id="16" name="Content Placeholder 4">
            <a:extLst>
              <a:ext uri="{FF2B5EF4-FFF2-40B4-BE49-F238E27FC236}">
                <a16:creationId xmlns:a16="http://schemas.microsoft.com/office/drawing/2014/main" id="{68883844-6C61-4B65-115E-C8C271E2B8C6}"/>
              </a:ext>
            </a:extLst>
          </p:cNvPr>
          <p:cNvGraphicFramePr>
            <a:graphicFrameLocks/>
          </p:cNvGraphicFramePr>
          <p:nvPr>
            <p:extLst>
              <p:ext uri="{D42A27DB-BD31-4B8C-83A1-F6EECF244321}">
                <p14:modId xmlns:p14="http://schemas.microsoft.com/office/powerpoint/2010/main" val="108973740"/>
              </p:ext>
            </p:extLst>
          </p:nvPr>
        </p:nvGraphicFramePr>
        <p:xfrm>
          <a:off x="911224" y="3134091"/>
          <a:ext cx="5944059" cy="1272543"/>
        </p:xfrm>
        <a:graphic>
          <a:graphicData uri="http://schemas.openxmlformats.org/drawingml/2006/table">
            <a:tbl>
              <a:tblPr firstRow="1" bandRow="1">
                <a:effectLst>
                  <a:outerShdw blurRad="50800" dist="38100" dir="2700000" algn="tl" rotWithShape="0">
                    <a:prstClr val="black">
                      <a:alpha val="40000"/>
                    </a:prstClr>
                  </a:outerShdw>
                </a:effectLst>
                <a:tableStyleId>{21E4AEA4-8DFA-4A89-87EB-49C32662AFE0}</a:tableStyleId>
              </a:tblPr>
              <a:tblGrid>
                <a:gridCol w="1404382">
                  <a:extLst>
                    <a:ext uri="{9D8B030D-6E8A-4147-A177-3AD203B41FA5}">
                      <a16:colId xmlns:a16="http://schemas.microsoft.com/office/drawing/2014/main" val="979315127"/>
                    </a:ext>
                  </a:extLst>
                </a:gridCol>
                <a:gridCol w="1731677">
                  <a:extLst>
                    <a:ext uri="{9D8B030D-6E8A-4147-A177-3AD203B41FA5}">
                      <a16:colId xmlns:a16="http://schemas.microsoft.com/office/drawing/2014/main" val="2075302567"/>
                    </a:ext>
                  </a:extLst>
                </a:gridCol>
                <a:gridCol w="1404000">
                  <a:extLst>
                    <a:ext uri="{9D8B030D-6E8A-4147-A177-3AD203B41FA5}">
                      <a16:colId xmlns:a16="http://schemas.microsoft.com/office/drawing/2014/main" val="660631070"/>
                    </a:ext>
                  </a:extLst>
                </a:gridCol>
                <a:gridCol w="1404000">
                  <a:extLst>
                    <a:ext uri="{9D8B030D-6E8A-4147-A177-3AD203B41FA5}">
                      <a16:colId xmlns:a16="http://schemas.microsoft.com/office/drawing/2014/main" val="1525013378"/>
                    </a:ext>
                  </a:extLst>
                </a:gridCol>
              </a:tblGrid>
              <a:tr h="360000">
                <a:tc>
                  <a:txBody>
                    <a:bodyPr/>
                    <a:lstStyle/>
                    <a:p>
                      <a:pPr algn="l"/>
                      <a:r>
                        <a:rPr lang="en-US" sz="1100" dirty="0" err="1"/>
                        <a:t>person_id</a:t>
                      </a:r>
                      <a:endParaRPr lang="en-NL" sz="1100" dirty="0"/>
                    </a:p>
                  </a:txBody>
                  <a:tcPr marL="72000" anchor="ctr"/>
                </a:tc>
                <a:tc>
                  <a:txBody>
                    <a:bodyPr/>
                    <a:lstStyle/>
                    <a:p>
                      <a:pPr algn="l"/>
                      <a:r>
                        <a:rPr lang="en-US" sz="900" dirty="0" err="1"/>
                        <a:t>hri-openehr:legal-gender</a:t>
                      </a:r>
                      <a:endParaRPr lang="en-US" sz="900" dirty="0"/>
                    </a:p>
                    <a:p>
                      <a:pPr algn="l"/>
                      <a:r>
                        <a:rPr lang="en-US" sz="900" dirty="0"/>
                        <a:t>("Legal gender"@</a:t>
                      </a:r>
                      <a:r>
                        <a:rPr lang="en-US" sz="900" dirty="0" err="1"/>
                        <a:t>en</a:t>
                      </a:r>
                      <a:r>
                        <a:rPr lang="en-US" sz="900" dirty="0"/>
                        <a:t>)</a:t>
                      </a:r>
                    </a:p>
                  </a:txBody>
                  <a:tcPr marL="72000" marR="18000" marT="0" marB="0" anchor="ctr"/>
                </a:tc>
                <a:tc>
                  <a:txBody>
                    <a:bodyPr/>
                    <a:lstStyle/>
                    <a:p>
                      <a:pPr algn="l"/>
                      <a:r>
                        <a:rPr lang="en-US" sz="1100" dirty="0" err="1"/>
                        <a:t>encounter_id</a:t>
                      </a:r>
                      <a:endParaRPr lang="en-NL" sz="1100" dirty="0"/>
                    </a:p>
                  </a:txBody>
                  <a:tcPr marL="72000" anchor="ctr"/>
                </a:tc>
                <a:tc>
                  <a:txBody>
                    <a:bodyPr/>
                    <a:lstStyle/>
                    <a:p>
                      <a:pPr algn="l"/>
                      <a:r>
                        <a:rPr lang="en-US" sz="1100" dirty="0" err="1"/>
                        <a:t>record_date</a:t>
                      </a:r>
                      <a:endParaRPr lang="en-NL" sz="1100" dirty="0"/>
                    </a:p>
                  </a:txBody>
                  <a:tcPr marL="72000" anchor="ctr"/>
                </a:tc>
                <a:extLst>
                  <a:ext uri="{0D108BD9-81ED-4DB2-BD59-A6C34878D82A}">
                    <a16:rowId xmlns:a16="http://schemas.microsoft.com/office/drawing/2014/main" val="3012902903"/>
                  </a:ext>
                </a:extLst>
              </a:tr>
              <a:tr h="304181">
                <a:tc>
                  <a:txBody>
                    <a:bodyPr/>
                    <a:lstStyle/>
                    <a:p>
                      <a:pPr algn="l"/>
                      <a:r>
                        <a:rPr lang="en-US" sz="1100" dirty="0"/>
                        <a:t>NMC-001</a:t>
                      </a:r>
                      <a:endParaRPr lang="en-NL" sz="1100" dirty="0"/>
                    </a:p>
                  </a:txBody>
                  <a:tcPr marL="72000" anchor="ctr"/>
                </a:tc>
                <a:tc>
                  <a:txBody>
                    <a:bodyPr/>
                    <a:lstStyle/>
                    <a:p>
                      <a:pPr algn="l"/>
                      <a:r>
                        <a:rPr lang="en-US" sz="1100" b="1" dirty="0"/>
                        <a:t>female</a:t>
                      </a:r>
                      <a:endParaRPr lang="en-NL" sz="1100" b="1" dirty="0"/>
                    </a:p>
                  </a:txBody>
                  <a:tcPr marL="72000" anchor="ctr"/>
                </a:tc>
                <a:tc>
                  <a:txBody>
                    <a:bodyPr/>
                    <a:lstStyle/>
                    <a:p>
                      <a:pPr algn="l"/>
                      <a:r>
                        <a:rPr lang="en-US" sz="1100" dirty="0"/>
                        <a:t>ENC-7001</a:t>
                      </a:r>
                      <a:endParaRPr lang="en-NL" sz="1100" dirty="0"/>
                    </a:p>
                  </a:txBody>
                  <a:tcPr marL="72000" anchor="ctr"/>
                </a:tc>
                <a:tc>
                  <a:txBody>
                    <a:bodyPr/>
                    <a:lstStyle/>
                    <a:p>
                      <a:pPr algn="l"/>
                      <a:r>
                        <a:rPr lang="en-NL" sz="1100" dirty="0"/>
                        <a:t>2026-01-14</a:t>
                      </a:r>
                    </a:p>
                  </a:txBody>
                  <a:tcPr marL="72000" anchor="ctr"/>
                </a:tc>
                <a:extLst>
                  <a:ext uri="{0D108BD9-81ED-4DB2-BD59-A6C34878D82A}">
                    <a16:rowId xmlns:a16="http://schemas.microsoft.com/office/drawing/2014/main" val="1249708150"/>
                  </a:ext>
                </a:extLst>
              </a:tr>
              <a:tr h="304181">
                <a:tc>
                  <a:txBody>
                    <a:bodyPr/>
                    <a:lstStyle/>
                    <a:p>
                      <a:pPr algn="l"/>
                      <a:r>
                        <a:rPr lang="en-US" sz="1100" dirty="0"/>
                        <a:t>NMC-002</a:t>
                      </a:r>
                      <a:endParaRPr lang="en-NL" sz="1100" dirty="0"/>
                    </a:p>
                  </a:txBody>
                  <a:tcPr marL="72000" anchor="ctr"/>
                </a:tc>
                <a:tc>
                  <a:txBody>
                    <a:bodyPr/>
                    <a:lstStyle/>
                    <a:p>
                      <a:pPr algn="l"/>
                      <a:r>
                        <a:rPr lang="en-US" sz="1100" b="1" dirty="0"/>
                        <a:t>male</a:t>
                      </a:r>
                      <a:endParaRPr lang="en-NL" sz="1100" b="1" dirty="0"/>
                    </a:p>
                  </a:txBody>
                  <a:tcPr marL="72000" anchor="ctr"/>
                </a:tc>
                <a:tc>
                  <a:txBody>
                    <a:bodyPr/>
                    <a:lstStyle/>
                    <a:p>
                      <a:pPr algn="l"/>
                      <a:r>
                        <a:rPr lang="en-US" sz="1100" dirty="0"/>
                        <a:t>ENC-7002</a:t>
                      </a:r>
                      <a:endParaRPr lang="en-NL" sz="1100" dirty="0"/>
                    </a:p>
                  </a:txBody>
                  <a:tcPr marL="72000" anchor="ctr"/>
                </a:tc>
                <a:tc>
                  <a:txBody>
                    <a:bodyPr/>
                    <a:lstStyle/>
                    <a:p>
                      <a:pPr algn="l"/>
                      <a:r>
                        <a:rPr lang="en-NL" sz="1100" dirty="0"/>
                        <a:t>2026-01-1</a:t>
                      </a:r>
                      <a:r>
                        <a:rPr lang="en-US" sz="1100" dirty="0"/>
                        <a:t>5</a:t>
                      </a:r>
                      <a:endParaRPr lang="en-NL" sz="1100" dirty="0"/>
                    </a:p>
                  </a:txBody>
                  <a:tcPr marL="72000" anchor="ctr"/>
                </a:tc>
                <a:extLst>
                  <a:ext uri="{0D108BD9-81ED-4DB2-BD59-A6C34878D82A}">
                    <a16:rowId xmlns:a16="http://schemas.microsoft.com/office/drawing/2014/main" val="3850974854"/>
                  </a:ext>
                </a:extLst>
              </a:tr>
              <a:tr h="304181">
                <a:tc>
                  <a:txBody>
                    <a:bodyPr/>
                    <a:lstStyle/>
                    <a:p>
                      <a:pPr algn="l"/>
                      <a:r>
                        <a:rPr lang="en-US" sz="1100" dirty="0"/>
                        <a:t>NMC-003</a:t>
                      </a:r>
                      <a:endParaRPr lang="en-NL" sz="1100" dirty="0"/>
                    </a:p>
                  </a:txBody>
                  <a:tcPr marL="72000" anchor="ctr"/>
                </a:tc>
                <a:tc>
                  <a:txBody>
                    <a:bodyPr/>
                    <a:lstStyle/>
                    <a:p>
                      <a:pPr algn="l"/>
                      <a:r>
                        <a:rPr lang="en-US" sz="1100" b="1" dirty="0"/>
                        <a:t>nonbinary</a:t>
                      </a:r>
                      <a:endParaRPr lang="en-NL" sz="1100" b="1" dirty="0"/>
                    </a:p>
                  </a:txBody>
                  <a:tcPr marL="72000" anchor="ctr"/>
                </a:tc>
                <a:tc>
                  <a:txBody>
                    <a:bodyPr/>
                    <a:lstStyle/>
                    <a:p>
                      <a:pPr algn="l"/>
                      <a:r>
                        <a:rPr lang="en-US" sz="1100" dirty="0"/>
                        <a:t>ENC-7003</a:t>
                      </a:r>
                      <a:endParaRPr lang="en-NL" sz="1100" dirty="0"/>
                    </a:p>
                  </a:txBody>
                  <a:tcPr marL="72000" anchor="ctr"/>
                </a:tc>
                <a:tc>
                  <a:txBody>
                    <a:bodyPr/>
                    <a:lstStyle/>
                    <a:p>
                      <a:pPr algn="l"/>
                      <a:r>
                        <a:rPr lang="en-NL" sz="1100" dirty="0"/>
                        <a:t>2026-01-1</a:t>
                      </a:r>
                      <a:r>
                        <a:rPr lang="en-US" sz="1100" dirty="0"/>
                        <a:t>6</a:t>
                      </a:r>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22" name="Rectangle 21">
            <a:extLst>
              <a:ext uri="{FF2B5EF4-FFF2-40B4-BE49-F238E27FC236}">
                <a16:creationId xmlns:a16="http://schemas.microsoft.com/office/drawing/2014/main" id="{32DB5AC4-EF42-40DA-D66F-A377945FE71F}"/>
              </a:ext>
            </a:extLst>
          </p:cNvPr>
          <p:cNvSpPr/>
          <p:nvPr/>
        </p:nvSpPr>
        <p:spPr>
          <a:xfrm>
            <a:off x="695325" y="4538110"/>
            <a:ext cx="10801350" cy="1404000"/>
          </a:xfrm>
          <a:prstGeom prst="rect">
            <a:avLst/>
          </a:prstGeom>
          <a:solidFill>
            <a:schemeClr val="accent3">
              <a:alpha val="3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NL"/>
          </a:p>
        </p:txBody>
      </p:sp>
      <p:graphicFrame>
        <p:nvGraphicFramePr>
          <p:cNvPr id="23" name="Content Placeholder 4">
            <a:extLst>
              <a:ext uri="{FF2B5EF4-FFF2-40B4-BE49-F238E27FC236}">
                <a16:creationId xmlns:a16="http://schemas.microsoft.com/office/drawing/2014/main" id="{DA8E9ADD-D996-E2C0-ADA3-6DBFBBDFB1DF}"/>
              </a:ext>
            </a:extLst>
          </p:cNvPr>
          <p:cNvGraphicFramePr>
            <a:graphicFrameLocks/>
          </p:cNvGraphicFramePr>
          <p:nvPr>
            <p:extLst>
              <p:ext uri="{D42A27DB-BD31-4B8C-83A1-F6EECF244321}">
                <p14:modId xmlns:p14="http://schemas.microsoft.com/office/powerpoint/2010/main" val="2960320022"/>
              </p:ext>
            </p:extLst>
          </p:nvPr>
        </p:nvGraphicFramePr>
        <p:xfrm>
          <a:off x="919208" y="4588510"/>
          <a:ext cx="5928090" cy="1278000"/>
        </p:xfrm>
        <a:graphic>
          <a:graphicData uri="http://schemas.openxmlformats.org/drawingml/2006/table">
            <a:tbl>
              <a:tblPr firstRow="1" bandRow="1">
                <a:effectLst>
                  <a:outerShdw blurRad="50800" dist="38100" dir="2700000" algn="tl" rotWithShape="0">
                    <a:prstClr val="black">
                      <a:alpha val="40000"/>
                    </a:prstClr>
                  </a:outerShdw>
                </a:effectLst>
                <a:tableStyleId>{00A15C55-8517-42AA-B614-E9B94910E393}</a:tableStyleId>
              </a:tblPr>
              <a:tblGrid>
                <a:gridCol w="1409844">
                  <a:extLst>
                    <a:ext uri="{9D8B030D-6E8A-4147-A177-3AD203B41FA5}">
                      <a16:colId xmlns:a16="http://schemas.microsoft.com/office/drawing/2014/main" val="979315127"/>
                    </a:ext>
                  </a:extLst>
                </a:gridCol>
                <a:gridCol w="1710246">
                  <a:extLst>
                    <a:ext uri="{9D8B030D-6E8A-4147-A177-3AD203B41FA5}">
                      <a16:colId xmlns:a16="http://schemas.microsoft.com/office/drawing/2014/main" val="2075302567"/>
                    </a:ext>
                  </a:extLst>
                </a:gridCol>
                <a:gridCol w="1404000">
                  <a:extLst>
                    <a:ext uri="{9D8B030D-6E8A-4147-A177-3AD203B41FA5}">
                      <a16:colId xmlns:a16="http://schemas.microsoft.com/office/drawing/2014/main" val="660631070"/>
                    </a:ext>
                  </a:extLst>
                </a:gridCol>
                <a:gridCol w="1404000">
                  <a:extLst>
                    <a:ext uri="{9D8B030D-6E8A-4147-A177-3AD203B41FA5}">
                      <a16:colId xmlns:a16="http://schemas.microsoft.com/office/drawing/2014/main" val="1525013378"/>
                    </a:ext>
                  </a:extLst>
                </a:gridCol>
              </a:tblGrid>
              <a:tr h="360000">
                <a:tc>
                  <a:txBody>
                    <a:bodyPr/>
                    <a:lstStyle/>
                    <a:p>
                      <a:r>
                        <a:rPr lang="en-US" sz="1100" dirty="0" err="1"/>
                        <a:t>intake_id</a:t>
                      </a:r>
                      <a:endParaRPr lang="en-NL" sz="1100" dirty="0"/>
                    </a:p>
                  </a:txBody>
                  <a:tcPr marL="72000" anchor="ctr"/>
                </a:tc>
                <a:tc>
                  <a:txBody>
                    <a:bodyPr/>
                    <a:lstStyle/>
                    <a:p>
                      <a:r>
                        <a:rPr lang="en-US" sz="900" dirty="0"/>
                        <a:t>loinc:107454-1</a:t>
                      </a:r>
                    </a:p>
                    <a:p>
                      <a:r>
                        <a:rPr lang="en-US" sz="900" dirty="0"/>
                        <a:t>("Administrative gender"@</a:t>
                      </a:r>
                      <a:r>
                        <a:rPr lang="en-US" sz="900" dirty="0" err="1"/>
                        <a:t>en</a:t>
                      </a:r>
                      <a:r>
                        <a:rPr lang="en-US" sz="900" dirty="0"/>
                        <a:t>)</a:t>
                      </a:r>
                    </a:p>
                  </a:txBody>
                  <a:tcPr marL="72000" marR="0" marT="0" marB="0" anchor="ctr"/>
                </a:tc>
                <a:tc>
                  <a:txBody>
                    <a:bodyPr/>
                    <a:lstStyle/>
                    <a:p>
                      <a:r>
                        <a:rPr lang="en-US" sz="1100" dirty="0" err="1"/>
                        <a:t>questionnaire_id</a:t>
                      </a:r>
                      <a:endParaRPr lang="en-NL" sz="1100" dirty="0"/>
                    </a:p>
                  </a:txBody>
                  <a:tcPr marL="72000" anchor="ctr"/>
                </a:tc>
                <a:tc>
                  <a:txBody>
                    <a:bodyPr/>
                    <a:lstStyle/>
                    <a:p>
                      <a:r>
                        <a:rPr lang="en-US" sz="1100" dirty="0" err="1"/>
                        <a:t>submitted_date</a:t>
                      </a:r>
                      <a:endParaRPr lang="en-NL" sz="1100" dirty="0"/>
                    </a:p>
                  </a:txBody>
                  <a:tcPr marL="72000" anchor="ctr"/>
                </a:tc>
                <a:extLst>
                  <a:ext uri="{0D108BD9-81ED-4DB2-BD59-A6C34878D82A}">
                    <a16:rowId xmlns:a16="http://schemas.microsoft.com/office/drawing/2014/main" val="3012902903"/>
                  </a:ext>
                </a:extLst>
              </a:tr>
              <a:tr h="306000">
                <a:tc>
                  <a:txBody>
                    <a:bodyPr/>
                    <a:lstStyle/>
                    <a:p>
                      <a:r>
                        <a:rPr lang="en-US" sz="1100" dirty="0"/>
                        <a:t>RPCC-001</a:t>
                      </a:r>
                      <a:endParaRPr lang="en-NL" sz="1100" dirty="0"/>
                    </a:p>
                  </a:txBody>
                  <a:tcPr marL="72000" anchor="ctr"/>
                </a:tc>
                <a:tc>
                  <a:txBody>
                    <a:bodyPr/>
                    <a:lstStyle/>
                    <a:p>
                      <a:r>
                        <a:rPr lang="en-US" sz="1100" b="1" dirty="0"/>
                        <a:t>woman</a:t>
                      </a:r>
                      <a:endParaRPr lang="en-NL" sz="1100" b="1" dirty="0"/>
                    </a:p>
                  </a:txBody>
                  <a:tcPr marL="72000" anchor="ctr"/>
                </a:tc>
                <a:tc>
                  <a:txBody>
                    <a:bodyPr/>
                    <a:lstStyle/>
                    <a:p>
                      <a:r>
                        <a:rPr lang="en-US" sz="1100" dirty="0"/>
                        <a:t>GIQ-001</a:t>
                      </a:r>
                      <a:endParaRPr lang="en-NL" sz="1100" dirty="0"/>
                    </a:p>
                  </a:txBody>
                  <a:tcPr marL="72000" anchor="ctr"/>
                </a:tc>
                <a:tc>
                  <a:txBody>
                    <a:bodyPr/>
                    <a:lstStyle/>
                    <a:p>
                      <a:r>
                        <a:rPr lang="en-NL" sz="1100" dirty="0"/>
                        <a:t>2026-02-03</a:t>
                      </a:r>
                    </a:p>
                  </a:txBody>
                  <a:tcPr marL="72000" anchor="ctr"/>
                </a:tc>
                <a:extLst>
                  <a:ext uri="{0D108BD9-81ED-4DB2-BD59-A6C34878D82A}">
                    <a16:rowId xmlns:a16="http://schemas.microsoft.com/office/drawing/2014/main" val="1249708150"/>
                  </a:ext>
                </a:extLst>
              </a:tr>
              <a:tr h="306000">
                <a:tc>
                  <a:txBody>
                    <a:bodyPr/>
                    <a:lstStyle/>
                    <a:p>
                      <a:r>
                        <a:rPr lang="en-US" sz="1100" dirty="0"/>
                        <a:t>RPCC-002</a:t>
                      </a:r>
                      <a:endParaRPr lang="en-NL" sz="1100" dirty="0"/>
                    </a:p>
                  </a:txBody>
                  <a:tcPr marL="72000" anchor="ctr"/>
                </a:tc>
                <a:tc>
                  <a:txBody>
                    <a:bodyPr/>
                    <a:lstStyle/>
                    <a:p>
                      <a:r>
                        <a:rPr lang="en-US" sz="1100" b="1" dirty="0"/>
                        <a:t>man</a:t>
                      </a:r>
                      <a:endParaRPr lang="en-NL" sz="1100" b="1" dirty="0"/>
                    </a:p>
                  </a:txBody>
                  <a:tcPr marL="72000" anchor="ctr"/>
                </a:tc>
                <a:tc>
                  <a:txBody>
                    <a:bodyPr/>
                    <a:lstStyle/>
                    <a:p>
                      <a:r>
                        <a:rPr lang="en-US" sz="1100" dirty="0"/>
                        <a:t>GIQ-001</a:t>
                      </a:r>
                      <a:endParaRPr lang="en-NL" sz="1100" dirty="0"/>
                    </a:p>
                  </a:txBody>
                  <a:tcPr marL="72000" anchor="ctr"/>
                </a:tc>
                <a:tc>
                  <a:txBody>
                    <a:bodyPr/>
                    <a:lstStyle/>
                    <a:p>
                      <a:r>
                        <a:rPr lang="en-NL" sz="1100" dirty="0"/>
                        <a:t>2026-02-03</a:t>
                      </a:r>
                    </a:p>
                  </a:txBody>
                  <a:tcPr marL="72000" anchor="ctr"/>
                </a:tc>
                <a:extLst>
                  <a:ext uri="{0D108BD9-81ED-4DB2-BD59-A6C34878D82A}">
                    <a16:rowId xmlns:a16="http://schemas.microsoft.com/office/drawing/2014/main" val="3850974854"/>
                  </a:ext>
                </a:extLst>
              </a:tr>
              <a:tr h="306000">
                <a:tc>
                  <a:txBody>
                    <a:bodyPr/>
                    <a:lstStyle/>
                    <a:p>
                      <a:r>
                        <a:rPr lang="en-US" sz="1100" dirty="0"/>
                        <a:t>RPCC-003</a:t>
                      </a:r>
                      <a:endParaRPr lang="en-NL" sz="1100" dirty="0"/>
                    </a:p>
                  </a:txBody>
                  <a:tcPr marL="72000" anchor="ctr"/>
                </a:tc>
                <a:tc>
                  <a:txBody>
                    <a:bodyPr/>
                    <a:lstStyle/>
                    <a:p>
                      <a:r>
                        <a:rPr lang="en-US" sz="1100" b="1" dirty="0"/>
                        <a:t>non-binary</a:t>
                      </a:r>
                      <a:endParaRPr lang="en-NL" sz="1100" b="1" dirty="0"/>
                    </a:p>
                  </a:txBody>
                  <a:tcPr marL="72000" anchor="ctr"/>
                </a:tc>
                <a:tc>
                  <a:txBody>
                    <a:bodyPr/>
                    <a:lstStyle/>
                    <a:p>
                      <a:r>
                        <a:rPr lang="en-US" sz="1100" dirty="0"/>
                        <a:t>GIQ-002</a:t>
                      </a:r>
                      <a:endParaRPr lang="en-NL" sz="1100" dirty="0"/>
                    </a:p>
                  </a:txBody>
                  <a:tcPr marL="72000" anchor="ctr"/>
                </a:tc>
                <a:tc>
                  <a:txBody>
                    <a:bodyPr/>
                    <a:lstStyle/>
                    <a:p>
                      <a:r>
                        <a:rPr lang="en-NL" sz="1100" dirty="0"/>
                        <a:t>2026-02-0</a:t>
                      </a:r>
                      <a:r>
                        <a:rPr lang="en-US" sz="1100" dirty="0"/>
                        <a:t>4</a:t>
                      </a:r>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24" name="TextBox 23">
            <a:extLst>
              <a:ext uri="{FF2B5EF4-FFF2-40B4-BE49-F238E27FC236}">
                <a16:creationId xmlns:a16="http://schemas.microsoft.com/office/drawing/2014/main" id="{5A8101C4-B882-14D1-336D-21A94DA4FAEE}"/>
              </a:ext>
            </a:extLst>
          </p:cNvPr>
          <p:cNvSpPr txBox="1"/>
          <p:nvPr/>
        </p:nvSpPr>
        <p:spPr>
          <a:xfrm>
            <a:off x="7123876" y="1623815"/>
            <a:ext cx="3028728" cy="369332"/>
          </a:xfrm>
          <a:prstGeom prst="rect">
            <a:avLst/>
          </a:prstGeom>
          <a:noFill/>
        </p:spPr>
        <p:txBody>
          <a:bodyPr wrap="square">
            <a:spAutoFit/>
          </a:bodyPr>
          <a:lstStyle/>
          <a:p>
            <a:r>
              <a:rPr lang="en-US" b="1" dirty="0">
                <a:solidFill>
                  <a:schemeClr val="accent1"/>
                </a:solidFill>
              </a:rPr>
              <a:t>NPR Demographic Extract</a:t>
            </a:r>
            <a:endParaRPr lang="en-NL" b="1" dirty="0">
              <a:solidFill>
                <a:schemeClr val="accent1"/>
              </a:solidFill>
            </a:endParaRPr>
          </a:p>
        </p:txBody>
      </p:sp>
      <p:pic>
        <p:nvPicPr>
          <p:cNvPr id="27" name="Picture 2" descr="CARE-SM · GitHub">
            <a:extLst>
              <a:ext uri="{FF2B5EF4-FFF2-40B4-BE49-F238E27FC236}">
                <a16:creationId xmlns:a16="http://schemas.microsoft.com/office/drawing/2014/main" id="{8DB192BF-3145-3402-BFD2-52BE8B8323AA}"/>
              </a:ext>
            </a:extLst>
          </p:cNvPr>
          <p:cNvPicPr>
            <a:picLocks noChangeAspect="1" noChangeArrowheads="1"/>
          </p:cNvPicPr>
          <p:nvPr/>
        </p:nvPicPr>
        <p:blipFill>
          <a:blip r:embed="rId3"/>
          <a:srcRect/>
          <a:stretch/>
        </p:blipFill>
        <p:spPr bwMode="auto">
          <a:xfrm>
            <a:off x="10258792" y="1737691"/>
            <a:ext cx="1176248" cy="1176248"/>
          </a:xfrm>
          <a:prstGeom prst="rect">
            <a:avLst/>
          </a:prstGeom>
          <a:noFill/>
          <a:extLst>
            <a:ext uri="{909E8E84-426E-40DD-AFC4-6F175D3DCCD1}">
              <a14:hiddenFill xmlns:a14="http://schemas.microsoft.com/office/drawing/2010/main">
                <a:solidFill>
                  <a:srgbClr val="FFFFFF"/>
                </a:solidFill>
              </a14:hiddenFill>
            </a:ext>
          </a:extLst>
        </p:spPr>
      </p:pic>
      <p:cxnSp>
        <p:nvCxnSpPr>
          <p:cNvPr id="29" name="Straight Connector 28">
            <a:extLst>
              <a:ext uri="{FF2B5EF4-FFF2-40B4-BE49-F238E27FC236}">
                <a16:creationId xmlns:a16="http://schemas.microsoft.com/office/drawing/2014/main" id="{7063C35A-854E-F0B9-C21F-6841309F9916}"/>
              </a:ext>
            </a:extLst>
          </p:cNvPr>
          <p:cNvCxnSpPr>
            <a:cxnSpLocks/>
          </p:cNvCxnSpPr>
          <p:nvPr/>
        </p:nvCxnSpPr>
        <p:spPr>
          <a:xfrm>
            <a:off x="10176373" y="1929815"/>
            <a:ext cx="0" cy="792000"/>
          </a:xfrm>
          <a:prstGeom prst="line">
            <a:avLst/>
          </a:prstGeom>
          <a:ln w="3175">
            <a:solidFill>
              <a:schemeClr val="accent1">
                <a:lumMod val="50000"/>
                <a:alpha val="70000"/>
              </a:schemeClr>
            </a:solidFill>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6524C0B3-FF29-7F7A-CFFE-AE77FCC5CF05}"/>
              </a:ext>
            </a:extLst>
          </p:cNvPr>
          <p:cNvSpPr txBox="1"/>
          <p:nvPr/>
        </p:nvSpPr>
        <p:spPr>
          <a:xfrm>
            <a:off x="7123876" y="3080962"/>
            <a:ext cx="3731668" cy="369332"/>
          </a:xfrm>
          <a:prstGeom prst="rect">
            <a:avLst/>
          </a:prstGeom>
          <a:noFill/>
        </p:spPr>
        <p:txBody>
          <a:bodyPr wrap="square">
            <a:spAutoFit/>
          </a:bodyPr>
          <a:lstStyle>
            <a:defPPr>
              <a:defRPr lang="en-US"/>
            </a:defPPr>
            <a:lvl1pPr>
              <a:defRPr b="1">
                <a:solidFill>
                  <a:schemeClr val="accent1"/>
                </a:solidFill>
              </a:defRPr>
            </a:lvl1pPr>
          </a:lstStyle>
          <a:p>
            <a:r>
              <a:rPr lang="en-US" dirty="0">
                <a:solidFill>
                  <a:schemeClr val="accent2">
                    <a:lumMod val="50000"/>
                  </a:schemeClr>
                </a:solidFill>
              </a:rPr>
              <a:t>Hospital Registration Extract</a:t>
            </a:r>
            <a:endParaRPr lang="en-NL" dirty="0">
              <a:solidFill>
                <a:schemeClr val="accent2">
                  <a:lumMod val="50000"/>
                </a:schemeClr>
              </a:solidFill>
            </a:endParaRPr>
          </a:p>
        </p:txBody>
      </p:sp>
      <p:pic>
        <p:nvPicPr>
          <p:cNvPr id="33" name="Picture 4" descr="Logos and trademarks – openehr.org">
            <a:extLst>
              <a:ext uri="{FF2B5EF4-FFF2-40B4-BE49-F238E27FC236}">
                <a16:creationId xmlns:a16="http://schemas.microsoft.com/office/drawing/2014/main" id="{FF4EFB68-3702-4040-DC3A-F90C06942F3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363597" y="3430121"/>
            <a:ext cx="966639" cy="705683"/>
          </a:xfrm>
          <a:prstGeom prst="rect">
            <a:avLst/>
          </a:prstGeom>
          <a:noFill/>
          <a:extLst>
            <a:ext uri="{909E8E84-426E-40DD-AFC4-6F175D3DCCD1}">
              <a14:hiddenFill xmlns:a14="http://schemas.microsoft.com/office/drawing/2010/main">
                <a:solidFill>
                  <a:srgbClr val="FFFFFF"/>
                </a:solidFill>
              </a14:hiddenFill>
            </a:ext>
          </a:extLst>
        </p:spPr>
      </p:pic>
      <p:cxnSp>
        <p:nvCxnSpPr>
          <p:cNvPr id="34" name="Straight Connector 33">
            <a:extLst>
              <a:ext uri="{FF2B5EF4-FFF2-40B4-BE49-F238E27FC236}">
                <a16:creationId xmlns:a16="http://schemas.microsoft.com/office/drawing/2014/main" id="{5A36767B-A58E-53B5-3916-507829D5E123}"/>
              </a:ext>
            </a:extLst>
          </p:cNvPr>
          <p:cNvCxnSpPr>
            <a:cxnSpLocks/>
          </p:cNvCxnSpPr>
          <p:nvPr/>
        </p:nvCxnSpPr>
        <p:spPr>
          <a:xfrm>
            <a:off x="10176373" y="3386962"/>
            <a:ext cx="0" cy="792000"/>
          </a:xfrm>
          <a:prstGeom prst="line">
            <a:avLst/>
          </a:prstGeom>
          <a:ln w="3175">
            <a:solidFill>
              <a:schemeClr val="accent1">
                <a:lumMod val="50000"/>
                <a:alpha val="70000"/>
              </a:schemeClr>
            </a:solidFill>
          </a:ln>
        </p:spPr>
        <p:style>
          <a:lnRef idx="1">
            <a:schemeClr val="accent1"/>
          </a:lnRef>
          <a:fillRef idx="0">
            <a:schemeClr val="accent1"/>
          </a:fillRef>
          <a:effectRef idx="0">
            <a:schemeClr val="accent1"/>
          </a:effectRef>
          <a:fontRef idx="minor">
            <a:schemeClr val="tx1"/>
          </a:fontRef>
        </p:style>
      </p:cxnSp>
      <p:pic>
        <p:nvPicPr>
          <p:cNvPr id="35" name="Picture 34">
            <a:extLst>
              <a:ext uri="{FF2B5EF4-FFF2-40B4-BE49-F238E27FC236}">
                <a16:creationId xmlns:a16="http://schemas.microsoft.com/office/drawing/2014/main" id="{FAAF1839-3119-B9E9-C6AA-2D6DE24BA3EE}"/>
              </a:ext>
            </a:extLst>
          </p:cNvPr>
          <p:cNvPicPr>
            <a:picLocks noChangeAspect="1"/>
          </p:cNvPicPr>
          <p:nvPr/>
        </p:nvPicPr>
        <p:blipFill>
          <a:blip r:embed="rId5">
            <a:extLst>
              <a:ext uri="{BEBA8EAE-BF5A-486C-A8C5-ECC9F3942E4B}">
                <a14:imgProps xmlns:a14="http://schemas.microsoft.com/office/drawing/2010/main">
                  <a14:imgLayer r:embed="rId6">
                    <a14:imgEffect>
                      <a14:sharpenSoften amount="25000"/>
                    </a14:imgEffect>
                    <a14:imgEffect>
                      <a14:brightnessContrast contrast="-40000"/>
                    </a14:imgEffect>
                  </a14:imgLayer>
                </a14:imgProps>
              </a:ext>
            </a:extLst>
          </a:blip>
          <a:srcRect l="22593" t="33818" r="26296" b="42564"/>
          <a:stretch>
            <a:fillRect/>
          </a:stretch>
        </p:blipFill>
        <p:spPr>
          <a:xfrm>
            <a:off x="7123876" y="3559096"/>
            <a:ext cx="2525569" cy="778038"/>
          </a:xfrm>
          <a:prstGeom prst="rect">
            <a:avLst/>
          </a:prstGeom>
        </p:spPr>
      </p:pic>
      <p:pic>
        <p:nvPicPr>
          <p:cNvPr id="38" name="Picture 37">
            <a:extLst>
              <a:ext uri="{FF2B5EF4-FFF2-40B4-BE49-F238E27FC236}">
                <a16:creationId xmlns:a16="http://schemas.microsoft.com/office/drawing/2014/main" id="{A1F78CD9-3FE4-E223-BE6D-63188EFADE26}"/>
              </a:ext>
            </a:extLst>
          </p:cNvPr>
          <p:cNvPicPr>
            <a:picLocks noChangeAspect="1"/>
          </p:cNvPicPr>
          <p:nvPr/>
        </p:nvPicPr>
        <p:blipFill>
          <a:blip r:embed="rId7"/>
          <a:srcRect l="17222" t="33069" r="27186" b="41346"/>
          <a:stretch>
            <a:fillRect/>
          </a:stretch>
        </p:blipFill>
        <p:spPr>
          <a:xfrm>
            <a:off x="7123876" y="2107127"/>
            <a:ext cx="2527200" cy="775393"/>
          </a:xfrm>
          <a:prstGeom prst="rect">
            <a:avLst/>
          </a:prstGeom>
        </p:spPr>
      </p:pic>
      <p:cxnSp>
        <p:nvCxnSpPr>
          <p:cNvPr id="40" name="Straight Connector 39">
            <a:extLst>
              <a:ext uri="{FF2B5EF4-FFF2-40B4-BE49-F238E27FC236}">
                <a16:creationId xmlns:a16="http://schemas.microsoft.com/office/drawing/2014/main" id="{A7774229-6931-4447-E3AE-398DC61001F6}"/>
              </a:ext>
            </a:extLst>
          </p:cNvPr>
          <p:cNvCxnSpPr>
            <a:cxnSpLocks/>
          </p:cNvCxnSpPr>
          <p:nvPr/>
        </p:nvCxnSpPr>
        <p:spPr>
          <a:xfrm>
            <a:off x="10176373" y="4844110"/>
            <a:ext cx="0" cy="792000"/>
          </a:xfrm>
          <a:prstGeom prst="line">
            <a:avLst/>
          </a:prstGeom>
          <a:ln w="3175">
            <a:solidFill>
              <a:schemeClr val="accent1">
                <a:lumMod val="50000"/>
                <a:alpha val="70000"/>
              </a:schemeClr>
            </a:solidFill>
          </a:ln>
        </p:spPr>
        <p:style>
          <a:lnRef idx="1">
            <a:schemeClr val="accent1"/>
          </a:lnRef>
          <a:fillRef idx="0">
            <a:schemeClr val="accent1"/>
          </a:fillRef>
          <a:effectRef idx="0">
            <a:schemeClr val="accent1"/>
          </a:effectRef>
          <a:fontRef idx="minor">
            <a:schemeClr val="tx1"/>
          </a:fontRef>
        </p:style>
      </p:cxnSp>
      <p:pic>
        <p:nvPicPr>
          <p:cNvPr id="41" name="Picture 40">
            <a:extLst>
              <a:ext uri="{FF2B5EF4-FFF2-40B4-BE49-F238E27FC236}">
                <a16:creationId xmlns:a16="http://schemas.microsoft.com/office/drawing/2014/main" id="{60405B8D-BA5D-C687-D765-6A932F07AD83}"/>
              </a:ext>
            </a:extLst>
          </p:cNvPr>
          <p:cNvPicPr>
            <a:picLocks noChangeAspect="1"/>
          </p:cNvPicPr>
          <p:nvPr/>
        </p:nvPicPr>
        <p:blipFill>
          <a:blip r:embed="rId8"/>
          <a:srcRect l="13027" t="27953" r="16204" b="38897"/>
          <a:stretch>
            <a:fillRect/>
          </a:stretch>
        </p:blipFill>
        <p:spPr>
          <a:xfrm>
            <a:off x="7123876" y="5013709"/>
            <a:ext cx="2527200" cy="789212"/>
          </a:xfrm>
          <a:prstGeom prst="rect">
            <a:avLst/>
          </a:prstGeom>
        </p:spPr>
      </p:pic>
      <p:sp>
        <p:nvSpPr>
          <p:cNvPr id="42" name="TextBox 41">
            <a:extLst>
              <a:ext uri="{FF2B5EF4-FFF2-40B4-BE49-F238E27FC236}">
                <a16:creationId xmlns:a16="http://schemas.microsoft.com/office/drawing/2014/main" id="{61629B20-4A93-5011-81FF-09AB10108B3F}"/>
              </a:ext>
            </a:extLst>
          </p:cNvPr>
          <p:cNvSpPr txBox="1"/>
          <p:nvPr/>
        </p:nvSpPr>
        <p:spPr>
          <a:xfrm>
            <a:off x="7123876" y="4538110"/>
            <a:ext cx="3973207" cy="369332"/>
          </a:xfrm>
          <a:prstGeom prst="rect">
            <a:avLst/>
          </a:prstGeom>
          <a:noFill/>
        </p:spPr>
        <p:txBody>
          <a:bodyPr wrap="square">
            <a:spAutoFit/>
          </a:bodyPr>
          <a:lstStyle>
            <a:defPPr>
              <a:defRPr lang="en-US"/>
            </a:defPPr>
            <a:lvl1pPr>
              <a:defRPr b="1">
                <a:solidFill>
                  <a:schemeClr val="accent1"/>
                </a:solidFill>
              </a:defRPr>
            </a:lvl1pPr>
          </a:lstStyle>
          <a:p>
            <a:r>
              <a:rPr lang="en-US" dirty="0">
                <a:solidFill>
                  <a:schemeClr val="accent4">
                    <a:lumMod val="50000"/>
                  </a:schemeClr>
                </a:solidFill>
              </a:rPr>
              <a:t>Administrative Intake Extract</a:t>
            </a:r>
            <a:endParaRPr lang="en-NL" dirty="0">
              <a:solidFill>
                <a:schemeClr val="accent4">
                  <a:lumMod val="50000"/>
                </a:schemeClr>
              </a:solidFill>
            </a:endParaRPr>
          </a:p>
        </p:txBody>
      </p:sp>
      <p:pic>
        <p:nvPicPr>
          <p:cNvPr id="43" name="Picture 2" descr="Branding guidelines – LOINC">
            <a:extLst>
              <a:ext uri="{FF2B5EF4-FFF2-40B4-BE49-F238E27FC236}">
                <a16:creationId xmlns:a16="http://schemas.microsoft.com/office/drawing/2014/main" id="{BF086649-7170-8EDD-FEB3-F65F788A956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445054" y="4851091"/>
            <a:ext cx="778038" cy="778038"/>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1C92F7EB-CB5A-2FBE-DEB2-B0511681B183}"/>
              </a:ext>
            </a:extLst>
          </p:cNvPr>
          <p:cNvSpPr>
            <a:spLocks noGrp="1"/>
          </p:cNvSpPr>
          <p:nvPr>
            <p:ph type="title"/>
          </p:nvPr>
        </p:nvSpPr>
        <p:spPr/>
        <p:txBody>
          <a:bodyPr/>
          <a:lstStyle/>
          <a:p>
            <a:r>
              <a:rPr lang="en-US" sz="3600" dirty="0"/>
              <a:t>Labels and their Meanings</a:t>
            </a:r>
            <a:endParaRPr lang="en-NL" sz="4400" dirty="0"/>
          </a:p>
        </p:txBody>
      </p:sp>
      <p:sp>
        <p:nvSpPr>
          <p:cNvPr id="4" name="Slide Number Placeholder 3">
            <a:extLst>
              <a:ext uri="{FF2B5EF4-FFF2-40B4-BE49-F238E27FC236}">
                <a16:creationId xmlns:a16="http://schemas.microsoft.com/office/drawing/2014/main" id="{CE87C7A2-350F-EE6A-0259-FA9FFD8ABC78}"/>
              </a:ext>
            </a:extLst>
          </p:cNvPr>
          <p:cNvSpPr>
            <a:spLocks noGrp="1"/>
          </p:cNvSpPr>
          <p:nvPr>
            <p:ph type="sldNum" sz="quarter" idx="12"/>
          </p:nvPr>
        </p:nvSpPr>
        <p:spPr/>
        <p:txBody>
          <a:bodyPr/>
          <a:lstStyle/>
          <a:p>
            <a:fld id="{4FAB73BC-B049-4115-A692-8D63A059BFB8}" type="slidenum">
              <a:rPr lang="en-US" smtClean="0"/>
              <a:pPr/>
              <a:t>8</a:t>
            </a:fld>
            <a:endParaRPr lang="en-US" dirty="0"/>
          </a:p>
        </p:txBody>
      </p:sp>
      <p:sp>
        <p:nvSpPr>
          <p:cNvPr id="36" name="Rectangle 35">
            <a:extLst>
              <a:ext uri="{FF2B5EF4-FFF2-40B4-BE49-F238E27FC236}">
                <a16:creationId xmlns:a16="http://schemas.microsoft.com/office/drawing/2014/main" id="{38FB5A56-A1E0-4BFD-BAB9-BD8D66BA1C60}"/>
              </a:ext>
            </a:extLst>
          </p:cNvPr>
          <p:cNvSpPr/>
          <p:nvPr/>
        </p:nvSpPr>
        <p:spPr>
          <a:xfrm>
            <a:off x="2328215" y="2042331"/>
            <a:ext cx="1709781" cy="291294"/>
          </a:xfrm>
          <a:prstGeom prst="rect">
            <a:avLst/>
          </a:prstGeom>
          <a:solidFill>
            <a:srgbClr val="FF0000">
              <a:alpha val="5000"/>
            </a:srgbClr>
          </a:solidFill>
          <a:ln w="38100">
            <a:solidFill>
              <a:srgbClr val="FF000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7" name="Rectangle 36">
            <a:extLst>
              <a:ext uri="{FF2B5EF4-FFF2-40B4-BE49-F238E27FC236}">
                <a16:creationId xmlns:a16="http://schemas.microsoft.com/office/drawing/2014/main" id="{72E1B89E-77CD-8DDD-51F6-081715F148D4}"/>
              </a:ext>
            </a:extLst>
          </p:cNvPr>
          <p:cNvSpPr/>
          <p:nvPr/>
        </p:nvSpPr>
        <p:spPr>
          <a:xfrm>
            <a:off x="2328215" y="3489897"/>
            <a:ext cx="1709781" cy="291294"/>
          </a:xfrm>
          <a:prstGeom prst="rect">
            <a:avLst/>
          </a:prstGeom>
          <a:solidFill>
            <a:srgbClr val="FF0000">
              <a:alpha val="5000"/>
            </a:srgbClr>
          </a:solidFill>
          <a:ln w="38100">
            <a:solidFill>
              <a:srgbClr val="FF000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9" name="Connector: Elbow 38">
            <a:extLst>
              <a:ext uri="{FF2B5EF4-FFF2-40B4-BE49-F238E27FC236}">
                <a16:creationId xmlns:a16="http://schemas.microsoft.com/office/drawing/2014/main" id="{0FF369D7-DBD9-6108-C906-985C7F42613D}"/>
              </a:ext>
            </a:extLst>
          </p:cNvPr>
          <p:cNvCxnSpPr>
            <a:cxnSpLocks/>
            <a:stCxn id="36" idx="3"/>
            <a:endCxn id="37" idx="3"/>
          </p:cNvCxnSpPr>
          <p:nvPr/>
        </p:nvCxnSpPr>
        <p:spPr>
          <a:xfrm>
            <a:off x="4037996" y="2187978"/>
            <a:ext cx="12700" cy="1447566"/>
          </a:xfrm>
          <a:prstGeom prst="bentConnector3">
            <a:avLst>
              <a:gd name="adj1" fmla="val 3900000"/>
            </a:avLst>
          </a:prstGeom>
          <a:ln w="34925">
            <a:solidFill>
              <a:srgbClr val="FF0000"/>
            </a:solidFill>
            <a:headEnd type="triangle"/>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50" name="Rectangle 49">
            <a:extLst>
              <a:ext uri="{FF2B5EF4-FFF2-40B4-BE49-F238E27FC236}">
                <a16:creationId xmlns:a16="http://schemas.microsoft.com/office/drawing/2014/main" id="{14625DED-925B-EB3E-6D52-A6CF28D1A34C}"/>
              </a:ext>
            </a:extLst>
          </p:cNvPr>
          <p:cNvSpPr/>
          <p:nvPr/>
        </p:nvSpPr>
        <p:spPr>
          <a:xfrm>
            <a:off x="2321865" y="5264509"/>
            <a:ext cx="1709781" cy="291294"/>
          </a:xfrm>
          <a:prstGeom prst="rect">
            <a:avLst/>
          </a:prstGeom>
          <a:solidFill>
            <a:srgbClr val="FF0000">
              <a:alpha val="5000"/>
            </a:srgbClr>
          </a:solidFill>
          <a:ln w="38100">
            <a:solidFill>
              <a:srgbClr val="FF000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51" name="Rectangle 50">
            <a:extLst>
              <a:ext uri="{FF2B5EF4-FFF2-40B4-BE49-F238E27FC236}">
                <a16:creationId xmlns:a16="http://schemas.microsoft.com/office/drawing/2014/main" id="{5CF400F0-38B4-1629-313F-DF171482EB7D}"/>
              </a:ext>
            </a:extLst>
          </p:cNvPr>
          <p:cNvSpPr/>
          <p:nvPr/>
        </p:nvSpPr>
        <p:spPr>
          <a:xfrm>
            <a:off x="2328215" y="3803804"/>
            <a:ext cx="1709781" cy="291294"/>
          </a:xfrm>
          <a:prstGeom prst="rect">
            <a:avLst/>
          </a:prstGeom>
          <a:solidFill>
            <a:srgbClr val="FF0000">
              <a:alpha val="5000"/>
            </a:srgbClr>
          </a:solidFill>
          <a:ln w="38100">
            <a:solidFill>
              <a:srgbClr val="FF000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56" name="Callout: Line 55">
            <a:extLst>
              <a:ext uri="{FF2B5EF4-FFF2-40B4-BE49-F238E27FC236}">
                <a16:creationId xmlns:a16="http://schemas.microsoft.com/office/drawing/2014/main" id="{671D03B1-26D0-E0D2-9229-EBFD656B1B45}"/>
              </a:ext>
            </a:extLst>
          </p:cNvPr>
          <p:cNvSpPr/>
          <p:nvPr/>
        </p:nvSpPr>
        <p:spPr>
          <a:xfrm>
            <a:off x="5711051" y="1729014"/>
            <a:ext cx="3028728" cy="1122228"/>
          </a:xfrm>
          <a:prstGeom prst="borderCallout1">
            <a:avLst>
              <a:gd name="adj1" fmla="val 18750"/>
              <a:gd name="adj2" fmla="val -8333"/>
              <a:gd name="adj3" fmla="val 98920"/>
              <a:gd name="adj4" fmla="val -36052"/>
            </a:avLst>
          </a:prstGeom>
          <a:solidFill>
            <a:srgbClr val="FF0000"/>
          </a:solidFill>
          <a:ln>
            <a:solidFill>
              <a:srgbClr val="C0000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Same term. Do they share the same meaning?</a:t>
            </a:r>
          </a:p>
        </p:txBody>
      </p:sp>
      <p:cxnSp>
        <p:nvCxnSpPr>
          <p:cNvPr id="57" name="Connector: Elbow 56">
            <a:extLst>
              <a:ext uri="{FF2B5EF4-FFF2-40B4-BE49-F238E27FC236}">
                <a16:creationId xmlns:a16="http://schemas.microsoft.com/office/drawing/2014/main" id="{17EFFAE5-285A-075D-8B17-3FE36B75669B}"/>
              </a:ext>
            </a:extLst>
          </p:cNvPr>
          <p:cNvCxnSpPr>
            <a:cxnSpLocks/>
          </p:cNvCxnSpPr>
          <p:nvPr/>
        </p:nvCxnSpPr>
        <p:spPr>
          <a:xfrm>
            <a:off x="4037996" y="3968501"/>
            <a:ext cx="12700" cy="1476141"/>
          </a:xfrm>
          <a:prstGeom prst="bentConnector3">
            <a:avLst>
              <a:gd name="adj1" fmla="val 3975000"/>
            </a:avLst>
          </a:prstGeom>
          <a:ln w="34925">
            <a:solidFill>
              <a:srgbClr val="FF0000"/>
            </a:solidFill>
            <a:headEnd type="triangle"/>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59" name="Callout: Line 58">
            <a:extLst>
              <a:ext uri="{FF2B5EF4-FFF2-40B4-BE49-F238E27FC236}">
                <a16:creationId xmlns:a16="http://schemas.microsoft.com/office/drawing/2014/main" id="{ED188BBD-20AA-AA7E-5D46-E9B544DF8BF7}"/>
              </a:ext>
            </a:extLst>
          </p:cNvPr>
          <p:cNvSpPr/>
          <p:nvPr/>
        </p:nvSpPr>
        <p:spPr>
          <a:xfrm>
            <a:off x="5711051" y="3227676"/>
            <a:ext cx="3028728" cy="1122228"/>
          </a:xfrm>
          <a:prstGeom prst="borderCallout1">
            <a:avLst>
              <a:gd name="adj1" fmla="val 18750"/>
              <a:gd name="adj2" fmla="val -8333"/>
              <a:gd name="adj3" fmla="val 98920"/>
              <a:gd name="adj4" fmla="val -36052"/>
            </a:avLst>
          </a:prstGeom>
          <a:solidFill>
            <a:srgbClr val="FF0000"/>
          </a:solidFill>
          <a:ln>
            <a:solidFill>
              <a:srgbClr val="C0000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What is the difference between ‘man’ and ‘male’?</a:t>
            </a:r>
          </a:p>
        </p:txBody>
      </p:sp>
      <p:sp>
        <p:nvSpPr>
          <p:cNvPr id="6" name="TextBox 5">
            <a:extLst>
              <a:ext uri="{FF2B5EF4-FFF2-40B4-BE49-F238E27FC236}">
                <a16:creationId xmlns:a16="http://schemas.microsoft.com/office/drawing/2014/main" id="{C076A5A7-8C23-D433-56E1-DE9384E2C9BA}"/>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a:t>
            </a:r>
            <a:r>
              <a:rPr lang="en-US" sz="1200" b="1" cap="small" spc="100" dirty="0">
                <a:solidFill>
                  <a:srgbClr val="000000">
                    <a:lumMod val="95000"/>
                    <a:lumOff val="5000"/>
                  </a:srgbClr>
                </a:solidFill>
                <a:latin typeface="Aptos" panose="020B0004020202020204" pitchFamily="34" charset="0"/>
                <a:ea typeface="+mj-ea"/>
                <a:cs typeface="+mj-cs"/>
              </a:rPr>
              <a:t>1</a:t>
            </a:r>
            <a:endParaRPr lang="en-NL" sz="1000" b="1" dirty="0"/>
          </a:p>
        </p:txBody>
      </p:sp>
    </p:spTree>
    <p:extLst>
      <p:ext uri="{BB962C8B-B14F-4D97-AF65-F5344CB8AC3E}">
        <p14:creationId xmlns:p14="http://schemas.microsoft.com/office/powerpoint/2010/main" val="20982348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552CC3-F334-CF23-21AC-0552553382E7}"/>
              </a:ext>
            </a:extLst>
          </p:cNvPr>
          <p:cNvSpPr>
            <a:spLocks noGrp="1"/>
          </p:cNvSpPr>
          <p:nvPr>
            <p:ph type="title"/>
          </p:nvPr>
        </p:nvSpPr>
        <p:spPr/>
        <p:txBody>
          <a:bodyPr/>
          <a:lstStyle/>
          <a:p>
            <a:r>
              <a:rPr lang="en-US" sz="3600" dirty="0"/>
              <a:t>Similar Labels Can Mislead Reuse</a:t>
            </a:r>
            <a:endParaRPr lang="en-NL" sz="4400" dirty="0"/>
          </a:p>
        </p:txBody>
      </p:sp>
      <p:graphicFrame>
        <p:nvGraphicFramePr>
          <p:cNvPr id="5" name="Content Placeholder 4">
            <a:extLst>
              <a:ext uri="{FF2B5EF4-FFF2-40B4-BE49-F238E27FC236}">
                <a16:creationId xmlns:a16="http://schemas.microsoft.com/office/drawing/2014/main" id="{AF1132C1-D34D-BF57-A9CB-16DC4B879DD6}"/>
              </a:ext>
            </a:extLst>
          </p:cNvPr>
          <p:cNvGraphicFramePr>
            <a:graphicFrameLocks noGrp="1"/>
          </p:cNvGraphicFramePr>
          <p:nvPr>
            <p:ph idx="1"/>
          </p:nvPr>
        </p:nvGraphicFramePr>
        <p:xfrm>
          <a:off x="695325" y="1628775"/>
          <a:ext cx="10801350" cy="43211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Slide Number Placeholder 3">
            <a:extLst>
              <a:ext uri="{FF2B5EF4-FFF2-40B4-BE49-F238E27FC236}">
                <a16:creationId xmlns:a16="http://schemas.microsoft.com/office/drawing/2014/main" id="{2EFE1183-5E9B-2178-7122-3D20FB3A9CB0}"/>
              </a:ext>
            </a:extLst>
          </p:cNvPr>
          <p:cNvSpPr>
            <a:spLocks noGrp="1"/>
          </p:cNvSpPr>
          <p:nvPr>
            <p:ph type="sldNum" sz="quarter" idx="12"/>
          </p:nvPr>
        </p:nvSpPr>
        <p:spPr/>
        <p:txBody>
          <a:bodyPr/>
          <a:lstStyle/>
          <a:p>
            <a:fld id="{4FAB73BC-B049-4115-A692-8D63A059BFB8}" type="slidenum">
              <a:rPr lang="en-US" smtClean="0"/>
              <a:pPr/>
              <a:t>9</a:t>
            </a:fld>
            <a:endParaRPr lang="en-US" dirty="0"/>
          </a:p>
        </p:txBody>
      </p:sp>
      <p:sp>
        <p:nvSpPr>
          <p:cNvPr id="7" name="TextBox 6">
            <a:extLst>
              <a:ext uri="{FF2B5EF4-FFF2-40B4-BE49-F238E27FC236}">
                <a16:creationId xmlns:a16="http://schemas.microsoft.com/office/drawing/2014/main" id="{5AFE7EA2-5769-2A60-0820-A32E89DFB134}"/>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a:t>
            </a:r>
            <a:r>
              <a:rPr lang="en-US" sz="1200" b="1" cap="small" spc="100" dirty="0">
                <a:solidFill>
                  <a:srgbClr val="000000">
                    <a:lumMod val="95000"/>
                    <a:lumOff val="5000"/>
                  </a:srgbClr>
                </a:solidFill>
                <a:latin typeface="Aptos" panose="020B0004020202020204" pitchFamily="34" charset="0"/>
                <a:ea typeface="+mj-ea"/>
                <a:cs typeface="+mj-cs"/>
              </a:rPr>
              <a:t>1</a:t>
            </a:r>
            <a:endParaRPr lang="en-NL" sz="1000" b="1" dirty="0"/>
          </a:p>
        </p:txBody>
      </p:sp>
    </p:spTree>
    <p:extLst>
      <p:ext uri="{BB962C8B-B14F-4D97-AF65-F5344CB8AC3E}">
        <p14:creationId xmlns:p14="http://schemas.microsoft.com/office/powerpoint/2010/main" val="28599056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0AD414-EDDE-777B-F65F-A66015B149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D2E82F-E180-3906-7D51-DE5AB9E3B465}"/>
              </a:ext>
            </a:extLst>
          </p:cNvPr>
          <p:cNvSpPr>
            <a:spLocks noGrp="1"/>
          </p:cNvSpPr>
          <p:nvPr>
            <p:ph type="title"/>
          </p:nvPr>
        </p:nvSpPr>
        <p:spPr/>
        <p:txBody>
          <a:bodyPr/>
          <a:lstStyle/>
          <a:p>
            <a:r>
              <a:rPr lang="en-US" sz="3600" dirty="0"/>
              <a:t>Similar Labels Can Mislead Reuse</a:t>
            </a:r>
            <a:endParaRPr lang="en-NL" sz="4400" dirty="0"/>
          </a:p>
        </p:txBody>
      </p:sp>
      <p:graphicFrame>
        <p:nvGraphicFramePr>
          <p:cNvPr id="5" name="Content Placeholder 4">
            <a:extLst>
              <a:ext uri="{FF2B5EF4-FFF2-40B4-BE49-F238E27FC236}">
                <a16:creationId xmlns:a16="http://schemas.microsoft.com/office/drawing/2014/main" id="{544EA196-A6B9-FA08-3EDD-FA7DF441D674}"/>
              </a:ext>
            </a:extLst>
          </p:cNvPr>
          <p:cNvGraphicFramePr>
            <a:graphicFrameLocks noGrp="1"/>
          </p:cNvGraphicFramePr>
          <p:nvPr>
            <p:ph idx="1"/>
          </p:nvPr>
        </p:nvGraphicFramePr>
        <p:xfrm>
          <a:off x="695324" y="1628775"/>
          <a:ext cx="3653391" cy="43211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Slide Number Placeholder 3">
            <a:extLst>
              <a:ext uri="{FF2B5EF4-FFF2-40B4-BE49-F238E27FC236}">
                <a16:creationId xmlns:a16="http://schemas.microsoft.com/office/drawing/2014/main" id="{97569198-F3EA-D298-1F61-4D5DEC0873F4}"/>
              </a:ext>
            </a:extLst>
          </p:cNvPr>
          <p:cNvSpPr>
            <a:spLocks noGrp="1"/>
          </p:cNvSpPr>
          <p:nvPr>
            <p:ph type="sldNum" sz="quarter" idx="12"/>
          </p:nvPr>
        </p:nvSpPr>
        <p:spPr/>
        <p:txBody>
          <a:bodyPr/>
          <a:lstStyle/>
          <a:p>
            <a:fld id="{4FAB73BC-B049-4115-A692-8D63A059BFB8}" type="slidenum">
              <a:rPr lang="en-US" smtClean="0"/>
              <a:pPr/>
              <a:t>10</a:t>
            </a:fld>
            <a:endParaRPr lang="en-US" dirty="0"/>
          </a:p>
        </p:txBody>
      </p:sp>
      <p:sp>
        <p:nvSpPr>
          <p:cNvPr id="7" name="TextBox 6">
            <a:extLst>
              <a:ext uri="{FF2B5EF4-FFF2-40B4-BE49-F238E27FC236}">
                <a16:creationId xmlns:a16="http://schemas.microsoft.com/office/drawing/2014/main" id="{06464A64-3E8F-331E-907C-12C3FDF7C17B}"/>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a:t>
            </a:r>
            <a:r>
              <a:rPr lang="en-US" sz="1200" b="1" cap="small" spc="100" dirty="0">
                <a:solidFill>
                  <a:srgbClr val="000000">
                    <a:lumMod val="95000"/>
                    <a:lumOff val="5000"/>
                  </a:srgbClr>
                </a:solidFill>
                <a:latin typeface="Aptos" panose="020B0004020202020204" pitchFamily="34" charset="0"/>
                <a:ea typeface="+mj-ea"/>
                <a:cs typeface="+mj-cs"/>
              </a:rPr>
              <a:t>1</a:t>
            </a:r>
            <a:endParaRPr lang="en-NL" sz="1000" b="1" dirty="0"/>
          </a:p>
        </p:txBody>
      </p:sp>
      <p:grpSp>
        <p:nvGrpSpPr>
          <p:cNvPr id="23" name="Group 22">
            <a:extLst>
              <a:ext uri="{FF2B5EF4-FFF2-40B4-BE49-F238E27FC236}">
                <a16:creationId xmlns:a16="http://schemas.microsoft.com/office/drawing/2014/main" id="{C1CE0899-AFFF-D095-D9EB-8C2CF8249943}"/>
              </a:ext>
            </a:extLst>
          </p:cNvPr>
          <p:cNvGrpSpPr/>
          <p:nvPr/>
        </p:nvGrpSpPr>
        <p:grpSpPr>
          <a:xfrm>
            <a:off x="4518836" y="4578950"/>
            <a:ext cx="6977838" cy="1370979"/>
            <a:chOff x="4518836" y="4568317"/>
            <a:chExt cx="6977838" cy="1370979"/>
          </a:xfrm>
        </p:grpSpPr>
        <p:sp>
          <p:nvSpPr>
            <p:cNvPr id="10" name="Rectangle 9">
              <a:extLst>
                <a:ext uri="{FF2B5EF4-FFF2-40B4-BE49-F238E27FC236}">
                  <a16:creationId xmlns:a16="http://schemas.microsoft.com/office/drawing/2014/main" id="{172507A9-3608-2FEC-9809-59919B1C420E}"/>
                </a:ext>
              </a:extLst>
            </p:cNvPr>
            <p:cNvSpPr/>
            <p:nvPr/>
          </p:nvSpPr>
          <p:spPr>
            <a:xfrm>
              <a:off x="4518837" y="4568317"/>
              <a:ext cx="6977837" cy="720000"/>
            </a:xfrm>
            <a:prstGeom prst="rect">
              <a:avLst/>
            </a:prstGeom>
            <a:ln>
              <a:noFill/>
            </a:ln>
            <a:effectLst/>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92456" tIns="92456" rIns="92456" bIns="93600" numCol="1" spcCol="1270" anchor="ctr" anchorCtr="0">
              <a:noAutofit/>
            </a:bodyPr>
            <a:lstStyle/>
            <a:p>
              <a:pPr marL="0" lvl="0" indent="0" algn="ctr" defTabSz="577850">
                <a:lnSpc>
                  <a:spcPct val="90000"/>
                </a:lnSpc>
                <a:spcBef>
                  <a:spcPct val="0"/>
                </a:spcBef>
                <a:spcAft>
                  <a:spcPct val="35000"/>
                </a:spcAft>
                <a:buNone/>
              </a:pPr>
              <a:r>
                <a:rPr lang="en-US" sz="1600" kern="1200" dirty="0"/>
                <a:t>Identify patients with female gender for a study about social gender identity.</a:t>
              </a:r>
              <a:endParaRPr lang="en-NL" sz="1600" kern="1200" dirty="0"/>
            </a:p>
          </p:txBody>
        </p:sp>
        <p:sp>
          <p:nvSpPr>
            <p:cNvPr id="11" name="Freeform: Shape 10">
              <a:extLst>
                <a:ext uri="{FF2B5EF4-FFF2-40B4-BE49-F238E27FC236}">
                  <a16:creationId xmlns:a16="http://schemas.microsoft.com/office/drawing/2014/main" id="{7703EF05-6A97-14D2-CD0A-17370F5EE805}"/>
                </a:ext>
              </a:extLst>
            </p:cNvPr>
            <p:cNvSpPr/>
            <p:nvPr/>
          </p:nvSpPr>
          <p:spPr>
            <a:xfrm>
              <a:off x="4518836" y="5298496"/>
              <a:ext cx="3211032" cy="640800"/>
            </a:xfrm>
            <a:custGeom>
              <a:avLst/>
              <a:gdLst>
                <a:gd name="csX0" fmla="*/ 0 w 3488918"/>
                <a:gd name="csY0" fmla="*/ 0 h 491111"/>
                <a:gd name="csX1" fmla="*/ 3488918 w 3488918"/>
                <a:gd name="csY1" fmla="*/ 0 h 491111"/>
                <a:gd name="csX2" fmla="*/ 3488918 w 3488918"/>
                <a:gd name="csY2" fmla="*/ 491111 h 491111"/>
                <a:gd name="csX3" fmla="*/ 0 w 3488918"/>
                <a:gd name="csY3" fmla="*/ 491111 h 491111"/>
                <a:gd name="csX4" fmla="*/ 0 w 3488918"/>
                <a:gd name="csY4" fmla="*/ 0 h 491111"/>
              </a:gdLst>
              <a:ahLst/>
              <a:cxnLst>
                <a:cxn ang="0">
                  <a:pos x="csX0" y="csY0"/>
                </a:cxn>
                <a:cxn ang="0">
                  <a:pos x="csX1" y="csY1"/>
                </a:cxn>
                <a:cxn ang="0">
                  <a:pos x="csX2" y="csY2"/>
                </a:cxn>
                <a:cxn ang="0">
                  <a:pos x="csX3" y="csY3"/>
                </a:cxn>
                <a:cxn ang="0">
                  <a:pos x="csX4" y="csY4"/>
                </a:cxn>
              </a:cxnLst>
              <a:rect l="l" t="t" r="r" b="b"/>
              <a:pathLst>
                <a:path w="3488918" h="491111">
                  <a:moveTo>
                    <a:pt x="0" y="0"/>
                  </a:moveTo>
                  <a:lnTo>
                    <a:pt x="3488918" y="0"/>
                  </a:lnTo>
                  <a:lnTo>
                    <a:pt x="3488918" y="491111"/>
                  </a:lnTo>
                  <a:lnTo>
                    <a:pt x="0" y="491111"/>
                  </a:lnTo>
                  <a:lnTo>
                    <a:pt x="0" y="0"/>
                  </a:lnTo>
                  <a:close/>
                </a:path>
              </a:pathLst>
            </a:custGeom>
            <a:ln>
              <a:noFill/>
            </a:ln>
            <a:effectLst/>
          </p:spPr>
          <p:style>
            <a:lnRef idx="2">
              <a:schemeClr val="accent4">
                <a:tint val="40000"/>
                <a:alpha val="90000"/>
                <a:hueOff val="0"/>
                <a:satOff val="0"/>
                <a:lumOff val="0"/>
                <a:alphaOff val="0"/>
              </a:schemeClr>
            </a:lnRef>
            <a:fillRef idx="1">
              <a:schemeClr val="accent4">
                <a:tint val="40000"/>
                <a:alpha val="90000"/>
                <a:hueOff val="0"/>
                <a:satOff val="0"/>
                <a:lumOff val="0"/>
                <a:alphaOff val="0"/>
              </a:schemeClr>
            </a:fillRef>
            <a:effectRef idx="0">
              <a:schemeClr val="accent4">
                <a:tint val="40000"/>
                <a:alpha val="90000"/>
                <a:hueOff val="0"/>
                <a:satOff val="0"/>
                <a:lumOff val="0"/>
                <a:alphaOff val="0"/>
              </a:schemeClr>
            </a:effectRef>
            <a:fontRef idx="minor">
              <a:schemeClr val="dk1">
                <a:hueOff val="0"/>
                <a:satOff val="0"/>
                <a:lumOff val="0"/>
                <a:alphaOff val="0"/>
              </a:schemeClr>
            </a:fontRef>
          </p:style>
          <p:txBody>
            <a:bodyPr spcFirstLastPara="0" vert="horz" wrap="square" lIns="78232" tIns="13970" rIns="78232" bIns="13970" numCol="1" spcCol="1270" anchor="ctr" anchorCtr="0">
              <a:noAutofit/>
            </a:bodyPr>
            <a:lstStyle/>
            <a:p>
              <a:pPr marL="0" lvl="0" indent="0" defTabSz="488950">
                <a:lnSpc>
                  <a:spcPct val="90000"/>
                </a:lnSpc>
                <a:spcBef>
                  <a:spcPct val="0"/>
                </a:spcBef>
                <a:spcAft>
                  <a:spcPct val="35000"/>
                </a:spcAft>
                <a:buNone/>
              </a:pPr>
              <a:r>
                <a:rPr lang="en-US" sz="1400" kern="1200" dirty="0"/>
                <a:t>Retrieve patients where Sex = Female.</a:t>
              </a:r>
              <a:endParaRPr lang="en-NL" sz="1400" kern="1200" dirty="0"/>
            </a:p>
          </p:txBody>
        </p:sp>
        <p:sp>
          <p:nvSpPr>
            <p:cNvPr id="12" name="Freeform: Shape 11">
              <a:extLst>
                <a:ext uri="{FF2B5EF4-FFF2-40B4-BE49-F238E27FC236}">
                  <a16:creationId xmlns:a16="http://schemas.microsoft.com/office/drawing/2014/main" id="{36CDA080-C0A8-E3F8-D5D3-D43A79020D06}"/>
                </a:ext>
              </a:extLst>
            </p:cNvPr>
            <p:cNvSpPr/>
            <p:nvPr/>
          </p:nvSpPr>
          <p:spPr>
            <a:xfrm>
              <a:off x="7729868" y="5298496"/>
              <a:ext cx="3766804" cy="640800"/>
            </a:xfrm>
            <a:custGeom>
              <a:avLst/>
              <a:gdLst>
                <a:gd name="csX0" fmla="*/ 0 w 3488918"/>
                <a:gd name="csY0" fmla="*/ 0 h 491111"/>
                <a:gd name="csX1" fmla="*/ 3488918 w 3488918"/>
                <a:gd name="csY1" fmla="*/ 0 h 491111"/>
                <a:gd name="csX2" fmla="*/ 3488918 w 3488918"/>
                <a:gd name="csY2" fmla="*/ 491111 h 491111"/>
                <a:gd name="csX3" fmla="*/ 0 w 3488918"/>
                <a:gd name="csY3" fmla="*/ 491111 h 491111"/>
                <a:gd name="csX4" fmla="*/ 0 w 3488918"/>
                <a:gd name="csY4" fmla="*/ 0 h 491111"/>
              </a:gdLst>
              <a:ahLst/>
              <a:cxnLst>
                <a:cxn ang="0">
                  <a:pos x="csX0" y="csY0"/>
                </a:cxn>
                <a:cxn ang="0">
                  <a:pos x="csX1" y="csY1"/>
                </a:cxn>
                <a:cxn ang="0">
                  <a:pos x="csX2" y="csY2"/>
                </a:cxn>
                <a:cxn ang="0">
                  <a:pos x="csX3" y="csY3"/>
                </a:cxn>
                <a:cxn ang="0">
                  <a:pos x="csX4" y="csY4"/>
                </a:cxn>
              </a:cxnLst>
              <a:rect l="l" t="t" r="r" b="b"/>
              <a:pathLst>
                <a:path w="3488918" h="491111">
                  <a:moveTo>
                    <a:pt x="0" y="0"/>
                  </a:moveTo>
                  <a:lnTo>
                    <a:pt x="3488918" y="0"/>
                  </a:lnTo>
                  <a:lnTo>
                    <a:pt x="3488918" y="491111"/>
                  </a:lnTo>
                  <a:lnTo>
                    <a:pt x="0" y="491111"/>
                  </a:lnTo>
                  <a:lnTo>
                    <a:pt x="0" y="0"/>
                  </a:lnTo>
                  <a:close/>
                </a:path>
              </a:pathLst>
            </a:custGeom>
            <a:solidFill>
              <a:schemeClr val="accent4">
                <a:tint val="40000"/>
                <a:hueOff val="-1459126"/>
                <a:satOff val="9968"/>
                <a:lumOff val="1493"/>
                <a:alpha val="95000"/>
              </a:schemeClr>
            </a:solidFill>
            <a:ln>
              <a:noFill/>
            </a:ln>
            <a:effectLst/>
          </p:spPr>
          <p:style>
            <a:lnRef idx="2">
              <a:schemeClr val="accent4">
                <a:tint val="40000"/>
                <a:alpha val="90000"/>
                <a:hueOff val="-1459126"/>
                <a:satOff val="9968"/>
                <a:lumOff val="1493"/>
                <a:alphaOff val="0"/>
              </a:schemeClr>
            </a:lnRef>
            <a:fillRef idx="1">
              <a:schemeClr val="accent4">
                <a:tint val="40000"/>
                <a:alpha val="90000"/>
                <a:hueOff val="-1459126"/>
                <a:satOff val="9968"/>
                <a:lumOff val="1493"/>
                <a:alphaOff val="0"/>
              </a:schemeClr>
            </a:fillRef>
            <a:effectRef idx="0">
              <a:schemeClr val="accent4">
                <a:tint val="40000"/>
                <a:alpha val="90000"/>
                <a:hueOff val="-1459126"/>
                <a:satOff val="9968"/>
                <a:lumOff val="1493"/>
                <a:alphaOff val="0"/>
              </a:schemeClr>
            </a:effectRef>
            <a:fontRef idx="minor">
              <a:schemeClr val="dk1">
                <a:hueOff val="0"/>
                <a:satOff val="0"/>
                <a:lumOff val="0"/>
                <a:alphaOff val="0"/>
              </a:schemeClr>
            </a:fontRef>
          </p:style>
          <p:txBody>
            <a:bodyPr spcFirstLastPara="0" vert="horz" wrap="square" lIns="78232" tIns="13970" rIns="78232" bIns="13970" numCol="1" spcCol="1270" anchor="ctr" anchorCtr="0">
              <a:noAutofit/>
            </a:bodyPr>
            <a:lstStyle/>
            <a:p>
              <a:pPr marL="0" lvl="0" indent="0" defTabSz="488950">
                <a:lnSpc>
                  <a:spcPct val="90000"/>
                </a:lnSpc>
                <a:spcBef>
                  <a:spcPct val="0"/>
                </a:spcBef>
                <a:spcAft>
                  <a:spcPct val="35000"/>
                </a:spcAft>
                <a:buNone/>
              </a:pPr>
              <a:r>
                <a:rPr lang="en-US" sz="1200" kern="1200" dirty="0"/>
                <a:t>Returns Patient-003 only, incorrectly missing Patient-002, whose gender is female.</a:t>
              </a:r>
              <a:endParaRPr lang="en-NL" sz="1200" kern="1200" dirty="0"/>
            </a:p>
          </p:txBody>
        </p:sp>
      </p:grpSp>
      <p:grpSp>
        <p:nvGrpSpPr>
          <p:cNvPr id="24" name="Group 23">
            <a:extLst>
              <a:ext uri="{FF2B5EF4-FFF2-40B4-BE49-F238E27FC236}">
                <a16:creationId xmlns:a16="http://schemas.microsoft.com/office/drawing/2014/main" id="{F81B5771-8565-F87D-304F-7AC8FD89139B}"/>
              </a:ext>
            </a:extLst>
          </p:cNvPr>
          <p:cNvGrpSpPr/>
          <p:nvPr/>
        </p:nvGrpSpPr>
        <p:grpSpPr>
          <a:xfrm>
            <a:off x="4518837" y="3106117"/>
            <a:ext cx="6977837" cy="1374973"/>
            <a:chOff x="4518837" y="3100801"/>
            <a:chExt cx="6977837" cy="1374973"/>
          </a:xfrm>
        </p:grpSpPr>
        <p:sp>
          <p:nvSpPr>
            <p:cNvPr id="13" name="Rectangle 12">
              <a:extLst>
                <a:ext uri="{FF2B5EF4-FFF2-40B4-BE49-F238E27FC236}">
                  <a16:creationId xmlns:a16="http://schemas.microsoft.com/office/drawing/2014/main" id="{3C38AF87-2942-398A-B322-8A48769D4D51}"/>
                </a:ext>
              </a:extLst>
            </p:cNvPr>
            <p:cNvSpPr/>
            <p:nvPr/>
          </p:nvSpPr>
          <p:spPr>
            <a:xfrm>
              <a:off x="4518837" y="3100801"/>
              <a:ext cx="6977837" cy="720000"/>
            </a:xfrm>
            <a:prstGeom prst="rect">
              <a:avLst/>
            </a:prstGeom>
            <a:ln>
              <a:noFill/>
            </a:ln>
            <a:effectLst/>
          </p:spPr>
          <p:style>
            <a:lnRef idx="2">
              <a:schemeClr val="lt1">
                <a:hueOff val="0"/>
                <a:satOff val="0"/>
                <a:lumOff val="0"/>
                <a:alphaOff val="0"/>
              </a:schemeClr>
            </a:lnRef>
            <a:fillRef idx="1">
              <a:schemeClr val="accent4">
                <a:hueOff val="-3691232"/>
                <a:satOff val="11237"/>
                <a:lumOff val="16961"/>
                <a:alphaOff val="0"/>
              </a:schemeClr>
            </a:fillRef>
            <a:effectRef idx="0">
              <a:schemeClr val="accent4">
                <a:hueOff val="-3691232"/>
                <a:satOff val="11237"/>
                <a:lumOff val="16961"/>
                <a:alphaOff val="0"/>
              </a:schemeClr>
            </a:effectRef>
            <a:fontRef idx="minor">
              <a:schemeClr val="lt1"/>
            </a:fontRef>
          </p:style>
          <p:txBody>
            <a:bodyPr spcFirstLastPara="0" vert="horz" wrap="square" lIns="92456" tIns="92456" rIns="92456" bIns="93600" numCol="1" spcCol="1270" anchor="ctr" anchorCtr="0">
              <a:noAutofit/>
            </a:bodyPr>
            <a:lstStyle/>
            <a:p>
              <a:pPr marL="0" lvl="0" indent="0" algn="ctr" defTabSz="577850">
                <a:lnSpc>
                  <a:spcPct val="90000"/>
                </a:lnSpc>
                <a:spcBef>
                  <a:spcPct val="0"/>
                </a:spcBef>
                <a:spcAft>
                  <a:spcPct val="35000"/>
                </a:spcAft>
                <a:buNone/>
              </a:pPr>
              <a:r>
                <a:rPr lang="en-US" sz="1600" kern="1200" dirty="0"/>
                <a:t>Identify patients who socially identify as male for gender-based analysis.	</a:t>
              </a:r>
              <a:endParaRPr lang="en-NL" sz="1600" kern="1200" dirty="0"/>
            </a:p>
          </p:txBody>
        </p:sp>
        <p:sp>
          <p:nvSpPr>
            <p:cNvPr id="14" name="Freeform: Shape 13">
              <a:extLst>
                <a:ext uri="{FF2B5EF4-FFF2-40B4-BE49-F238E27FC236}">
                  <a16:creationId xmlns:a16="http://schemas.microsoft.com/office/drawing/2014/main" id="{AB9A359A-339D-B627-6C78-D4FFB62FAFF5}"/>
                </a:ext>
              </a:extLst>
            </p:cNvPr>
            <p:cNvSpPr/>
            <p:nvPr/>
          </p:nvSpPr>
          <p:spPr>
            <a:xfrm>
              <a:off x="4518838" y="3834974"/>
              <a:ext cx="3211032" cy="640800"/>
            </a:xfrm>
            <a:custGeom>
              <a:avLst/>
              <a:gdLst>
                <a:gd name="csX0" fmla="*/ 0 w 3488918"/>
                <a:gd name="csY0" fmla="*/ 0 h 490964"/>
                <a:gd name="csX1" fmla="*/ 3488918 w 3488918"/>
                <a:gd name="csY1" fmla="*/ 0 h 490964"/>
                <a:gd name="csX2" fmla="*/ 3488918 w 3488918"/>
                <a:gd name="csY2" fmla="*/ 490964 h 490964"/>
                <a:gd name="csX3" fmla="*/ 0 w 3488918"/>
                <a:gd name="csY3" fmla="*/ 490964 h 490964"/>
                <a:gd name="csX4" fmla="*/ 0 w 3488918"/>
                <a:gd name="csY4" fmla="*/ 0 h 490964"/>
              </a:gdLst>
              <a:ahLst/>
              <a:cxnLst>
                <a:cxn ang="0">
                  <a:pos x="csX0" y="csY0"/>
                </a:cxn>
                <a:cxn ang="0">
                  <a:pos x="csX1" y="csY1"/>
                </a:cxn>
                <a:cxn ang="0">
                  <a:pos x="csX2" y="csY2"/>
                </a:cxn>
                <a:cxn ang="0">
                  <a:pos x="csX3" y="csY3"/>
                </a:cxn>
                <a:cxn ang="0">
                  <a:pos x="csX4" y="csY4"/>
                </a:cxn>
              </a:cxnLst>
              <a:rect l="l" t="t" r="r" b="b"/>
              <a:pathLst>
                <a:path w="3488918" h="490964">
                  <a:moveTo>
                    <a:pt x="0" y="0"/>
                  </a:moveTo>
                  <a:lnTo>
                    <a:pt x="3488918" y="0"/>
                  </a:lnTo>
                  <a:lnTo>
                    <a:pt x="3488918" y="490964"/>
                  </a:lnTo>
                  <a:lnTo>
                    <a:pt x="0" y="490964"/>
                  </a:lnTo>
                  <a:lnTo>
                    <a:pt x="0" y="0"/>
                  </a:lnTo>
                  <a:close/>
                </a:path>
              </a:pathLst>
            </a:custGeom>
            <a:ln>
              <a:noFill/>
            </a:ln>
            <a:effectLst/>
          </p:spPr>
          <p:style>
            <a:lnRef idx="2">
              <a:schemeClr val="accent4">
                <a:tint val="40000"/>
                <a:alpha val="90000"/>
                <a:hueOff val="-2918253"/>
                <a:satOff val="19936"/>
                <a:lumOff val="2986"/>
                <a:alphaOff val="0"/>
              </a:schemeClr>
            </a:lnRef>
            <a:fillRef idx="1">
              <a:schemeClr val="accent4">
                <a:tint val="40000"/>
                <a:alpha val="90000"/>
                <a:hueOff val="-2918253"/>
                <a:satOff val="19936"/>
                <a:lumOff val="2986"/>
                <a:alphaOff val="0"/>
              </a:schemeClr>
            </a:fillRef>
            <a:effectRef idx="0">
              <a:schemeClr val="accent4">
                <a:tint val="40000"/>
                <a:alpha val="90000"/>
                <a:hueOff val="-2918253"/>
                <a:satOff val="19936"/>
                <a:lumOff val="2986"/>
                <a:alphaOff val="0"/>
              </a:schemeClr>
            </a:effectRef>
            <a:fontRef idx="minor">
              <a:schemeClr val="dk1">
                <a:hueOff val="0"/>
                <a:satOff val="0"/>
                <a:lumOff val="0"/>
                <a:alphaOff val="0"/>
              </a:schemeClr>
            </a:fontRef>
          </p:style>
          <p:txBody>
            <a:bodyPr spcFirstLastPara="0" vert="horz" wrap="square" lIns="78232" tIns="13970" rIns="78232" bIns="13970" numCol="1" spcCol="1270" anchor="ctr" anchorCtr="0">
              <a:noAutofit/>
            </a:bodyPr>
            <a:lstStyle/>
            <a:p>
              <a:pPr marL="0" lvl="0" indent="0" defTabSz="488950">
                <a:lnSpc>
                  <a:spcPct val="90000"/>
                </a:lnSpc>
                <a:spcBef>
                  <a:spcPct val="0"/>
                </a:spcBef>
                <a:spcAft>
                  <a:spcPct val="35000"/>
                </a:spcAft>
                <a:buNone/>
              </a:pPr>
              <a:r>
                <a:rPr lang="en-US" sz="1400" kern="1200" dirty="0"/>
                <a:t>Retrieve patients where Sex = Male.</a:t>
              </a:r>
              <a:endParaRPr lang="en-NL" sz="1400" kern="1200" dirty="0"/>
            </a:p>
          </p:txBody>
        </p:sp>
        <p:sp>
          <p:nvSpPr>
            <p:cNvPr id="15" name="Freeform: Shape 14">
              <a:extLst>
                <a:ext uri="{FF2B5EF4-FFF2-40B4-BE49-F238E27FC236}">
                  <a16:creationId xmlns:a16="http://schemas.microsoft.com/office/drawing/2014/main" id="{572E9857-68CF-0F71-E779-3FC6DE27D9FA}"/>
                </a:ext>
              </a:extLst>
            </p:cNvPr>
            <p:cNvSpPr/>
            <p:nvPr/>
          </p:nvSpPr>
          <p:spPr>
            <a:xfrm>
              <a:off x="7729868" y="3834974"/>
              <a:ext cx="3766806" cy="640800"/>
            </a:xfrm>
            <a:custGeom>
              <a:avLst/>
              <a:gdLst>
                <a:gd name="csX0" fmla="*/ 0 w 3488918"/>
                <a:gd name="csY0" fmla="*/ 0 h 490964"/>
                <a:gd name="csX1" fmla="*/ 3488918 w 3488918"/>
                <a:gd name="csY1" fmla="*/ 0 h 490964"/>
                <a:gd name="csX2" fmla="*/ 3488918 w 3488918"/>
                <a:gd name="csY2" fmla="*/ 490964 h 490964"/>
                <a:gd name="csX3" fmla="*/ 0 w 3488918"/>
                <a:gd name="csY3" fmla="*/ 490964 h 490964"/>
                <a:gd name="csX4" fmla="*/ 0 w 3488918"/>
                <a:gd name="csY4" fmla="*/ 0 h 490964"/>
              </a:gdLst>
              <a:ahLst/>
              <a:cxnLst>
                <a:cxn ang="0">
                  <a:pos x="csX0" y="csY0"/>
                </a:cxn>
                <a:cxn ang="0">
                  <a:pos x="csX1" y="csY1"/>
                </a:cxn>
                <a:cxn ang="0">
                  <a:pos x="csX2" y="csY2"/>
                </a:cxn>
                <a:cxn ang="0">
                  <a:pos x="csX3" y="csY3"/>
                </a:cxn>
                <a:cxn ang="0">
                  <a:pos x="csX4" y="csY4"/>
                </a:cxn>
              </a:cxnLst>
              <a:rect l="l" t="t" r="r" b="b"/>
              <a:pathLst>
                <a:path w="3488918" h="490964">
                  <a:moveTo>
                    <a:pt x="0" y="0"/>
                  </a:moveTo>
                  <a:lnTo>
                    <a:pt x="3488918" y="0"/>
                  </a:lnTo>
                  <a:lnTo>
                    <a:pt x="3488918" y="490964"/>
                  </a:lnTo>
                  <a:lnTo>
                    <a:pt x="0" y="490964"/>
                  </a:lnTo>
                  <a:lnTo>
                    <a:pt x="0" y="0"/>
                  </a:lnTo>
                  <a:close/>
                </a:path>
              </a:pathLst>
            </a:custGeom>
            <a:solidFill>
              <a:schemeClr val="accent4">
                <a:tint val="40000"/>
                <a:hueOff val="-4377379"/>
                <a:satOff val="29904"/>
                <a:lumOff val="4480"/>
                <a:alpha val="95000"/>
              </a:schemeClr>
            </a:solidFill>
            <a:ln>
              <a:noFill/>
            </a:ln>
            <a:effectLst/>
          </p:spPr>
          <p:style>
            <a:lnRef idx="2">
              <a:schemeClr val="accent4">
                <a:tint val="40000"/>
                <a:alpha val="90000"/>
                <a:hueOff val="-4377379"/>
                <a:satOff val="29904"/>
                <a:lumOff val="4480"/>
                <a:alphaOff val="0"/>
              </a:schemeClr>
            </a:lnRef>
            <a:fillRef idx="1">
              <a:schemeClr val="accent4">
                <a:tint val="40000"/>
                <a:alpha val="90000"/>
                <a:hueOff val="-4377379"/>
                <a:satOff val="29904"/>
                <a:lumOff val="4480"/>
                <a:alphaOff val="0"/>
              </a:schemeClr>
            </a:fillRef>
            <a:effectRef idx="0">
              <a:schemeClr val="accent4">
                <a:tint val="40000"/>
                <a:alpha val="90000"/>
                <a:hueOff val="-4377379"/>
                <a:satOff val="29904"/>
                <a:lumOff val="4480"/>
                <a:alphaOff val="0"/>
              </a:schemeClr>
            </a:effectRef>
            <a:fontRef idx="minor">
              <a:schemeClr val="dk1">
                <a:hueOff val="0"/>
                <a:satOff val="0"/>
                <a:lumOff val="0"/>
                <a:alphaOff val="0"/>
              </a:schemeClr>
            </a:fontRef>
          </p:style>
          <p:txBody>
            <a:bodyPr spcFirstLastPara="0" vert="horz" wrap="square" lIns="78232" tIns="13970" rIns="78232" bIns="13970" numCol="1" spcCol="1270" anchor="ctr" anchorCtr="0">
              <a:noAutofit/>
            </a:bodyPr>
            <a:lstStyle/>
            <a:p>
              <a:pPr marL="0" lvl="0" indent="0" defTabSz="488950">
                <a:lnSpc>
                  <a:spcPct val="90000"/>
                </a:lnSpc>
                <a:spcBef>
                  <a:spcPct val="0"/>
                </a:spcBef>
                <a:spcAft>
                  <a:spcPct val="35000"/>
                </a:spcAft>
                <a:buNone/>
              </a:pPr>
              <a:r>
                <a:rPr lang="en-US" sz="1200" kern="1200" dirty="0"/>
                <a:t>Returns Patient-001 and Patient-002, incorrectly including Patient-002, whose gender is female/trans.</a:t>
              </a:r>
              <a:endParaRPr lang="en-NL" sz="1200" kern="1200" dirty="0"/>
            </a:p>
          </p:txBody>
        </p:sp>
      </p:grpSp>
      <p:grpSp>
        <p:nvGrpSpPr>
          <p:cNvPr id="25" name="Group 24">
            <a:extLst>
              <a:ext uri="{FF2B5EF4-FFF2-40B4-BE49-F238E27FC236}">
                <a16:creationId xmlns:a16="http://schemas.microsoft.com/office/drawing/2014/main" id="{F76D9A99-476F-1841-9AFF-2F3396D70FCD}"/>
              </a:ext>
            </a:extLst>
          </p:cNvPr>
          <p:cNvGrpSpPr/>
          <p:nvPr/>
        </p:nvGrpSpPr>
        <p:grpSpPr>
          <a:xfrm>
            <a:off x="4518837" y="1639415"/>
            <a:ext cx="6977837" cy="1368843"/>
            <a:chOff x="4518837" y="1650048"/>
            <a:chExt cx="6977837" cy="1368843"/>
          </a:xfrm>
        </p:grpSpPr>
        <p:sp>
          <p:nvSpPr>
            <p:cNvPr id="16" name="Rectangle 15">
              <a:extLst>
                <a:ext uri="{FF2B5EF4-FFF2-40B4-BE49-F238E27FC236}">
                  <a16:creationId xmlns:a16="http://schemas.microsoft.com/office/drawing/2014/main" id="{C13B47D1-E2E8-0120-2B9C-CA90003D7421}"/>
                </a:ext>
              </a:extLst>
            </p:cNvPr>
            <p:cNvSpPr/>
            <p:nvPr/>
          </p:nvSpPr>
          <p:spPr>
            <a:xfrm>
              <a:off x="4518837" y="1650048"/>
              <a:ext cx="6977837" cy="720000"/>
            </a:xfrm>
            <a:prstGeom prst="rect">
              <a:avLst/>
            </a:prstGeom>
            <a:ln>
              <a:noFill/>
            </a:ln>
            <a:effectLst/>
          </p:spPr>
          <p:style>
            <a:lnRef idx="2">
              <a:schemeClr val="lt1">
                <a:hueOff val="0"/>
                <a:satOff val="0"/>
                <a:lumOff val="0"/>
                <a:alphaOff val="0"/>
              </a:schemeClr>
            </a:lnRef>
            <a:fillRef idx="1">
              <a:schemeClr val="accent4">
                <a:hueOff val="-7382464"/>
                <a:satOff val="22475"/>
                <a:lumOff val="33922"/>
                <a:alphaOff val="0"/>
              </a:schemeClr>
            </a:fillRef>
            <a:effectRef idx="0">
              <a:schemeClr val="accent4">
                <a:hueOff val="-7382464"/>
                <a:satOff val="22475"/>
                <a:lumOff val="33922"/>
                <a:alphaOff val="0"/>
              </a:schemeClr>
            </a:effectRef>
            <a:fontRef idx="minor">
              <a:schemeClr val="lt1"/>
            </a:fontRef>
          </p:style>
          <p:txBody>
            <a:bodyPr spcFirstLastPara="0" vert="horz" wrap="square" lIns="92456" tIns="92457" rIns="92456" bIns="93600" numCol="1" spcCol="1270" anchor="ctr" anchorCtr="0">
              <a:noAutofit/>
            </a:bodyPr>
            <a:lstStyle/>
            <a:p>
              <a:pPr marL="0" lvl="0" indent="0" algn="ctr" defTabSz="577850">
                <a:lnSpc>
                  <a:spcPct val="90000"/>
                </a:lnSpc>
                <a:spcBef>
                  <a:spcPct val="0"/>
                </a:spcBef>
                <a:spcAft>
                  <a:spcPct val="35000"/>
                </a:spcAft>
                <a:buNone/>
              </a:pPr>
              <a:r>
                <a:rPr lang="en-US" sz="1600" kern="1200" dirty="0"/>
                <a:t>Identify patients with male biological sex for a study where biological sex is the intended criterion.</a:t>
              </a:r>
              <a:endParaRPr lang="en-NL" sz="1600" kern="1200" dirty="0"/>
            </a:p>
          </p:txBody>
        </p:sp>
        <p:sp>
          <p:nvSpPr>
            <p:cNvPr id="17" name="Freeform: Shape 16">
              <a:extLst>
                <a:ext uri="{FF2B5EF4-FFF2-40B4-BE49-F238E27FC236}">
                  <a16:creationId xmlns:a16="http://schemas.microsoft.com/office/drawing/2014/main" id="{9479FE16-49A0-18E5-DD1B-42FA176CBD72}"/>
                </a:ext>
              </a:extLst>
            </p:cNvPr>
            <p:cNvSpPr/>
            <p:nvPr/>
          </p:nvSpPr>
          <p:spPr>
            <a:xfrm>
              <a:off x="4518837" y="2380030"/>
              <a:ext cx="3211033" cy="638861"/>
            </a:xfrm>
            <a:custGeom>
              <a:avLst/>
              <a:gdLst>
                <a:gd name="csX0" fmla="*/ 0 w 3488918"/>
                <a:gd name="csY0" fmla="*/ 0 h 490964"/>
                <a:gd name="csX1" fmla="*/ 3488918 w 3488918"/>
                <a:gd name="csY1" fmla="*/ 0 h 490964"/>
                <a:gd name="csX2" fmla="*/ 3488918 w 3488918"/>
                <a:gd name="csY2" fmla="*/ 490964 h 490964"/>
                <a:gd name="csX3" fmla="*/ 0 w 3488918"/>
                <a:gd name="csY3" fmla="*/ 490964 h 490964"/>
                <a:gd name="csX4" fmla="*/ 0 w 3488918"/>
                <a:gd name="csY4" fmla="*/ 0 h 490964"/>
              </a:gdLst>
              <a:ahLst/>
              <a:cxnLst>
                <a:cxn ang="0">
                  <a:pos x="csX0" y="csY0"/>
                </a:cxn>
                <a:cxn ang="0">
                  <a:pos x="csX1" y="csY1"/>
                </a:cxn>
                <a:cxn ang="0">
                  <a:pos x="csX2" y="csY2"/>
                </a:cxn>
                <a:cxn ang="0">
                  <a:pos x="csX3" y="csY3"/>
                </a:cxn>
                <a:cxn ang="0">
                  <a:pos x="csX4" y="csY4"/>
                </a:cxn>
              </a:cxnLst>
              <a:rect l="l" t="t" r="r" b="b"/>
              <a:pathLst>
                <a:path w="3488918" h="490964">
                  <a:moveTo>
                    <a:pt x="0" y="0"/>
                  </a:moveTo>
                  <a:lnTo>
                    <a:pt x="3488918" y="0"/>
                  </a:lnTo>
                  <a:lnTo>
                    <a:pt x="3488918" y="490964"/>
                  </a:lnTo>
                  <a:lnTo>
                    <a:pt x="0" y="490964"/>
                  </a:lnTo>
                  <a:lnTo>
                    <a:pt x="0" y="0"/>
                  </a:lnTo>
                  <a:close/>
                </a:path>
              </a:pathLst>
            </a:custGeom>
            <a:ln>
              <a:noFill/>
            </a:ln>
            <a:effectLst/>
          </p:spPr>
          <p:style>
            <a:lnRef idx="2">
              <a:schemeClr val="accent4">
                <a:tint val="40000"/>
                <a:alpha val="90000"/>
                <a:hueOff val="-5836506"/>
                <a:satOff val="39872"/>
                <a:lumOff val="5973"/>
                <a:alphaOff val="0"/>
              </a:schemeClr>
            </a:lnRef>
            <a:fillRef idx="1">
              <a:schemeClr val="accent4">
                <a:tint val="40000"/>
                <a:alpha val="90000"/>
                <a:hueOff val="-5836506"/>
                <a:satOff val="39872"/>
                <a:lumOff val="5973"/>
                <a:alphaOff val="0"/>
              </a:schemeClr>
            </a:fillRef>
            <a:effectRef idx="0">
              <a:schemeClr val="accent4">
                <a:tint val="40000"/>
                <a:alpha val="90000"/>
                <a:hueOff val="-5836506"/>
                <a:satOff val="39872"/>
                <a:lumOff val="5973"/>
                <a:alphaOff val="0"/>
              </a:schemeClr>
            </a:effectRef>
            <a:fontRef idx="minor">
              <a:schemeClr val="dk1">
                <a:hueOff val="0"/>
                <a:satOff val="0"/>
                <a:lumOff val="0"/>
                <a:alphaOff val="0"/>
              </a:schemeClr>
            </a:fontRef>
          </p:style>
          <p:txBody>
            <a:bodyPr spcFirstLastPara="0" vert="horz" wrap="square" lIns="78232" tIns="13970" rIns="78232" bIns="13970" numCol="1" spcCol="1270" anchor="ctr" anchorCtr="0">
              <a:noAutofit/>
            </a:bodyPr>
            <a:lstStyle/>
            <a:p>
              <a:pPr marL="0" lvl="0" indent="0" defTabSz="488950">
                <a:lnSpc>
                  <a:spcPct val="90000"/>
                </a:lnSpc>
                <a:spcBef>
                  <a:spcPct val="0"/>
                </a:spcBef>
                <a:spcAft>
                  <a:spcPct val="35000"/>
                </a:spcAft>
                <a:buNone/>
              </a:pPr>
              <a:r>
                <a:rPr lang="en-US" sz="1400" kern="1200" dirty="0"/>
                <a:t>Retrieve patients where Gender = Male.</a:t>
              </a:r>
              <a:endParaRPr lang="en-NL" sz="1400" kern="1200" dirty="0"/>
            </a:p>
          </p:txBody>
        </p:sp>
        <p:sp>
          <p:nvSpPr>
            <p:cNvPr id="18" name="Freeform: Shape 17">
              <a:extLst>
                <a:ext uri="{FF2B5EF4-FFF2-40B4-BE49-F238E27FC236}">
                  <a16:creationId xmlns:a16="http://schemas.microsoft.com/office/drawing/2014/main" id="{6FF671D5-A559-F53B-0F68-109E89F8B8A7}"/>
                </a:ext>
              </a:extLst>
            </p:cNvPr>
            <p:cNvSpPr/>
            <p:nvPr/>
          </p:nvSpPr>
          <p:spPr>
            <a:xfrm>
              <a:off x="7729868" y="2380030"/>
              <a:ext cx="3766805" cy="638861"/>
            </a:xfrm>
            <a:custGeom>
              <a:avLst/>
              <a:gdLst>
                <a:gd name="csX0" fmla="*/ 0 w 3488918"/>
                <a:gd name="csY0" fmla="*/ 0 h 490964"/>
                <a:gd name="csX1" fmla="*/ 3488918 w 3488918"/>
                <a:gd name="csY1" fmla="*/ 0 h 490964"/>
                <a:gd name="csX2" fmla="*/ 3488918 w 3488918"/>
                <a:gd name="csY2" fmla="*/ 490964 h 490964"/>
                <a:gd name="csX3" fmla="*/ 0 w 3488918"/>
                <a:gd name="csY3" fmla="*/ 490964 h 490964"/>
                <a:gd name="csX4" fmla="*/ 0 w 3488918"/>
                <a:gd name="csY4" fmla="*/ 0 h 490964"/>
              </a:gdLst>
              <a:ahLst/>
              <a:cxnLst>
                <a:cxn ang="0">
                  <a:pos x="csX0" y="csY0"/>
                </a:cxn>
                <a:cxn ang="0">
                  <a:pos x="csX1" y="csY1"/>
                </a:cxn>
                <a:cxn ang="0">
                  <a:pos x="csX2" y="csY2"/>
                </a:cxn>
                <a:cxn ang="0">
                  <a:pos x="csX3" y="csY3"/>
                </a:cxn>
                <a:cxn ang="0">
                  <a:pos x="csX4" y="csY4"/>
                </a:cxn>
              </a:cxnLst>
              <a:rect l="l" t="t" r="r" b="b"/>
              <a:pathLst>
                <a:path w="3488918" h="490964">
                  <a:moveTo>
                    <a:pt x="0" y="0"/>
                  </a:moveTo>
                  <a:lnTo>
                    <a:pt x="3488918" y="0"/>
                  </a:lnTo>
                  <a:lnTo>
                    <a:pt x="3488918" y="490964"/>
                  </a:lnTo>
                  <a:lnTo>
                    <a:pt x="0" y="490964"/>
                  </a:lnTo>
                  <a:lnTo>
                    <a:pt x="0" y="0"/>
                  </a:lnTo>
                  <a:close/>
                </a:path>
              </a:pathLst>
            </a:custGeom>
            <a:solidFill>
              <a:schemeClr val="accent4">
                <a:tint val="40000"/>
                <a:hueOff val="-7295632"/>
                <a:satOff val="49840"/>
                <a:lumOff val="7466"/>
                <a:alpha val="95000"/>
              </a:schemeClr>
            </a:solidFill>
            <a:ln>
              <a:noFill/>
            </a:ln>
            <a:effectLst/>
          </p:spPr>
          <p:style>
            <a:lnRef idx="2">
              <a:schemeClr val="accent4">
                <a:tint val="40000"/>
                <a:alpha val="90000"/>
                <a:hueOff val="-7295632"/>
                <a:satOff val="49840"/>
                <a:lumOff val="7466"/>
                <a:alphaOff val="0"/>
              </a:schemeClr>
            </a:lnRef>
            <a:fillRef idx="1">
              <a:schemeClr val="accent4">
                <a:tint val="40000"/>
                <a:alpha val="90000"/>
                <a:hueOff val="-7295632"/>
                <a:satOff val="49840"/>
                <a:lumOff val="7466"/>
                <a:alphaOff val="0"/>
              </a:schemeClr>
            </a:fillRef>
            <a:effectRef idx="0">
              <a:schemeClr val="accent4">
                <a:tint val="40000"/>
                <a:alpha val="90000"/>
                <a:hueOff val="-7295632"/>
                <a:satOff val="49840"/>
                <a:lumOff val="7466"/>
                <a:alphaOff val="0"/>
              </a:schemeClr>
            </a:effectRef>
            <a:fontRef idx="minor">
              <a:schemeClr val="dk1">
                <a:hueOff val="0"/>
                <a:satOff val="0"/>
                <a:lumOff val="0"/>
                <a:alphaOff val="0"/>
              </a:schemeClr>
            </a:fontRef>
          </p:style>
          <p:txBody>
            <a:bodyPr spcFirstLastPara="0" vert="horz" wrap="square" lIns="78232" tIns="13970" rIns="78232" bIns="13970" numCol="1" spcCol="1270" anchor="ctr" anchorCtr="0">
              <a:noAutofit/>
            </a:bodyPr>
            <a:lstStyle/>
            <a:p>
              <a:pPr marL="0" lvl="0" indent="0" defTabSz="488950">
                <a:lnSpc>
                  <a:spcPct val="90000"/>
                </a:lnSpc>
                <a:spcBef>
                  <a:spcPct val="0"/>
                </a:spcBef>
                <a:spcAft>
                  <a:spcPct val="35000"/>
                </a:spcAft>
                <a:buNone/>
              </a:pPr>
              <a:r>
                <a:rPr lang="en-US" sz="1200" kern="1200" dirty="0"/>
                <a:t>Returns Patient-001 only, incorrectly missing Patient-002, whose biological sex is male but gender is female/trans.</a:t>
              </a:r>
              <a:endParaRPr lang="en-NL" sz="1200" kern="1200" dirty="0"/>
            </a:p>
          </p:txBody>
        </p:sp>
      </p:grpSp>
    </p:spTree>
    <p:extLst>
      <p:ext uri="{BB962C8B-B14F-4D97-AF65-F5344CB8AC3E}">
        <p14:creationId xmlns:p14="http://schemas.microsoft.com/office/powerpoint/2010/main" val="6678442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C4ABBB-EAAE-511C-4C8C-ADF254A0CC06}"/>
              </a:ext>
            </a:extLst>
          </p:cNvPr>
          <p:cNvSpPr>
            <a:spLocks noGrp="1"/>
          </p:cNvSpPr>
          <p:nvPr>
            <p:ph type="title"/>
          </p:nvPr>
        </p:nvSpPr>
        <p:spPr/>
        <p:txBody>
          <a:bodyPr/>
          <a:lstStyle/>
          <a:p>
            <a:r>
              <a:rPr lang="en-US" sz="3600" dirty="0"/>
              <a:t>Distinct Concepts Within Sex and Gender</a:t>
            </a:r>
            <a:endParaRPr lang="en-NL" sz="3600" dirty="0"/>
          </a:p>
        </p:txBody>
      </p:sp>
      <p:sp>
        <p:nvSpPr>
          <p:cNvPr id="8" name="Freeform: Shape 7">
            <a:extLst>
              <a:ext uri="{FF2B5EF4-FFF2-40B4-BE49-F238E27FC236}">
                <a16:creationId xmlns:a16="http://schemas.microsoft.com/office/drawing/2014/main" id="{3C8B9758-DB70-14E9-CF89-BDDE49A853E3}"/>
              </a:ext>
            </a:extLst>
          </p:cNvPr>
          <p:cNvSpPr/>
          <p:nvPr/>
        </p:nvSpPr>
        <p:spPr>
          <a:xfrm>
            <a:off x="9299834" y="3198997"/>
            <a:ext cx="1552918" cy="269514"/>
          </a:xfrm>
          <a:custGeom>
            <a:avLst/>
            <a:gdLst/>
            <a:ahLst/>
            <a:cxnLst/>
            <a:rect l="0" t="0" r="0" b="0"/>
            <a:pathLst>
              <a:path>
                <a:moveTo>
                  <a:pt x="0" y="0"/>
                </a:moveTo>
                <a:lnTo>
                  <a:pt x="0" y="134757"/>
                </a:lnTo>
                <a:lnTo>
                  <a:pt x="1552918" y="134757"/>
                </a:lnTo>
                <a:lnTo>
                  <a:pt x="1552918" y="269514"/>
                </a:lnTo>
              </a:path>
            </a:pathLst>
          </a:custGeom>
          <a:noFill/>
        </p:spPr>
        <p:style>
          <a:lnRef idx="1">
            <a:schemeClr val="accent5">
              <a:hueOff val="0"/>
              <a:satOff val="0"/>
              <a:lumOff val="0"/>
              <a:alphaOff val="0"/>
            </a:schemeClr>
          </a:lnRef>
          <a:fillRef idx="0">
            <a:scrgbClr r="0" g="0" b="0"/>
          </a:fillRef>
          <a:effectRef idx="0">
            <a:schemeClr val="accent2">
              <a:tint val="70000"/>
              <a:hueOff val="0"/>
              <a:satOff val="0"/>
              <a:lumOff val="0"/>
              <a:alphaOff val="0"/>
            </a:schemeClr>
          </a:effectRef>
          <a:fontRef idx="minor">
            <a:schemeClr val="tx1">
              <a:hueOff val="0"/>
              <a:satOff val="0"/>
              <a:lumOff val="0"/>
              <a:alphaOff val="0"/>
            </a:schemeClr>
          </a:fontRef>
        </p:style>
        <p:txBody>
          <a:bodyPr/>
          <a:lstStyle/>
          <a:p>
            <a:endParaRPr lang="en-NL"/>
          </a:p>
        </p:txBody>
      </p:sp>
      <p:sp>
        <p:nvSpPr>
          <p:cNvPr id="9" name="Freeform: Shape 8">
            <a:extLst>
              <a:ext uri="{FF2B5EF4-FFF2-40B4-BE49-F238E27FC236}">
                <a16:creationId xmlns:a16="http://schemas.microsoft.com/office/drawing/2014/main" id="{8DEC1282-C38C-0962-6162-6D80EE529DEE}"/>
              </a:ext>
            </a:extLst>
          </p:cNvPr>
          <p:cNvSpPr/>
          <p:nvPr/>
        </p:nvSpPr>
        <p:spPr>
          <a:xfrm>
            <a:off x="8786472" y="4110214"/>
            <a:ext cx="192510" cy="590365"/>
          </a:xfrm>
          <a:custGeom>
            <a:avLst/>
            <a:gdLst/>
            <a:ahLst/>
            <a:cxnLst/>
            <a:rect l="0" t="0" r="0" b="0"/>
            <a:pathLst>
              <a:path>
                <a:moveTo>
                  <a:pt x="0" y="0"/>
                </a:moveTo>
                <a:lnTo>
                  <a:pt x="0" y="590365"/>
                </a:lnTo>
                <a:lnTo>
                  <a:pt x="192510" y="590365"/>
                </a:lnTo>
              </a:path>
            </a:pathLst>
          </a:custGeom>
          <a:noFill/>
        </p:spPr>
        <p:style>
          <a:lnRef idx="1">
            <a:schemeClr val="accent6">
              <a:hueOff val="0"/>
              <a:satOff val="0"/>
              <a:lumOff val="0"/>
              <a:alphaOff val="0"/>
            </a:schemeClr>
          </a:lnRef>
          <a:fillRef idx="0">
            <a:scrgbClr r="0" g="0" b="0"/>
          </a:fillRef>
          <a:effectRef idx="0">
            <a:schemeClr val="accent6">
              <a:tint val="50000"/>
              <a:hueOff val="0"/>
              <a:satOff val="0"/>
              <a:lumOff val="0"/>
              <a:alphaOff val="0"/>
            </a:schemeClr>
          </a:effectRef>
          <a:fontRef idx="minor">
            <a:schemeClr val="tx1">
              <a:hueOff val="0"/>
              <a:satOff val="0"/>
              <a:lumOff val="0"/>
              <a:alphaOff val="0"/>
            </a:schemeClr>
          </a:fontRef>
        </p:style>
        <p:txBody>
          <a:bodyPr/>
          <a:lstStyle/>
          <a:p>
            <a:endParaRPr lang="en-NL"/>
          </a:p>
        </p:txBody>
      </p:sp>
      <p:sp>
        <p:nvSpPr>
          <p:cNvPr id="10" name="Freeform: Shape 9">
            <a:extLst>
              <a:ext uri="{FF2B5EF4-FFF2-40B4-BE49-F238E27FC236}">
                <a16:creationId xmlns:a16="http://schemas.microsoft.com/office/drawing/2014/main" id="{9E7C2385-D85B-E043-FD42-44A34C8BB421}"/>
              </a:ext>
            </a:extLst>
          </p:cNvPr>
          <p:cNvSpPr/>
          <p:nvPr/>
        </p:nvSpPr>
        <p:spPr>
          <a:xfrm>
            <a:off x="9254114" y="3198997"/>
            <a:ext cx="91440" cy="269514"/>
          </a:xfrm>
          <a:custGeom>
            <a:avLst/>
            <a:gdLst/>
            <a:ahLst/>
            <a:cxnLst/>
            <a:rect l="0" t="0" r="0" b="0"/>
            <a:pathLst>
              <a:path>
                <a:moveTo>
                  <a:pt x="45720" y="0"/>
                </a:moveTo>
                <a:lnTo>
                  <a:pt x="45720" y="269514"/>
                </a:lnTo>
              </a:path>
            </a:pathLst>
          </a:custGeom>
          <a:noFill/>
        </p:spPr>
        <p:style>
          <a:lnRef idx="1">
            <a:schemeClr val="accent5">
              <a:hueOff val="0"/>
              <a:satOff val="0"/>
              <a:lumOff val="0"/>
              <a:alphaOff val="0"/>
            </a:schemeClr>
          </a:lnRef>
          <a:fillRef idx="0">
            <a:scrgbClr r="0" g="0" b="0"/>
          </a:fillRef>
          <a:effectRef idx="0">
            <a:schemeClr val="accent2">
              <a:tint val="70000"/>
              <a:hueOff val="0"/>
              <a:satOff val="0"/>
              <a:lumOff val="0"/>
              <a:alphaOff val="0"/>
            </a:schemeClr>
          </a:effectRef>
          <a:fontRef idx="minor">
            <a:schemeClr val="tx1">
              <a:hueOff val="0"/>
              <a:satOff val="0"/>
              <a:lumOff val="0"/>
              <a:alphaOff val="0"/>
            </a:schemeClr>
          </a:fontRef>
        </p:style>
        <p:txBody>
          <a:bodyPr/>
          <a:lstStyle/>
          <a:p>
            <a:endParaRPr lang="en-NL"/>
          </a:p>
        </p:txBody>
      </p:sp>
      <p:sp>
        <p:nvSpPr>
          <p:cNvPr id="11" name="Freeform: Shape 10">
            <a:extLst>
              <a:ext uri="{FF2B5EF4-FFF2-40B4-BE49-F238E27FC236}">
                <a16:creationId xmlns:a16="http://schemas.microsoft.com/office/drawing/2014/main" id="{2F19D8EB-38F5-AC7E-D018-1E805C848F20}"/>
              </a:ext>
            </a:extLst>
          </p:cNvPr>
          <p:cNvSpPr/>
          <p:nvPr/>
        </p:nvSpPr>
        <p:spPr>
          <a:xfrm>
            <a:off x="7746915" y="3198997"/>
            <a:ext cx="1552918" cy="269514"/>
          </a:xfrm>
          <a:custGeom>
            <a:avLst/>
            <a:gdLst/>
            <a:ahLst/>
            <a:cxnLst/>
            <a:rect l="0" t="0" r="0" b="0"/>
            <a:pathLst>
              <a:path>
                <a:moveTo>
                  <a:pt x="1552918" y="0"/>
                </a:moveTo>
                <a:lnTo>
                  <a:pt x="1552918" y="134757"/>
                </a:lnTo>
                <a:lnTo>
                  <a:pt x="0" y="134757"/>
                </a:lnTo>
                <a:lnTo>
                  <a:pt x="0" y="269514"/>
                </a:lnTo>
              </a:path>
            </a:pathLst>
          </a:custGeom>
          <a:noFill/>
        </p:spPr>
        <p:style>
          <a:lnRef idx="1">
            <a:schemeClr val="accent5">
              <a:hueOff val="0"/>
              <a:satOff val="0"/>
              <a:lumOff val="0"/>
              <a:alphaOff val="0"/>
            </a:schemeClr>
          </a:lnRef>
          <a:fillRef idx="0">
            <a:scrgbClr r="0" g="0" b="0"/>
          </a:fillRef>
          <a:effectRef idx="0">
            <a:schemeClr val="accent2">
              <a:tint val="70000"/>
              <a:hueOff val="0"/>
              <a:satOff val="0"/>
              <a:lumOff val="0"/>
              <a:alphaOff val="0"/>
            </a:schemeClr>
          </a:effectRef>
          <a:fontRef idx="minor">
            <a:schemeClr val="tx1">
              <a:hueOff val="0"/>
              <a:satOff val="0"/>
              <a:lumOff val="0"/>
              <a:alphaOff val="0"/>
            </a:schemeClr>
          </a:fontRef>
        </p:style>
        <p:txBody>
          <a:bodyPr/>
          <a:lstStyle/>
          <a:p>
            <a:endParaRPr lang="en-NL"/>
          </a:p>
        </p:txBody>
      </p:sp>
      <p:sp>
        <p:nvSpPr>
          <p:cNvPr id="12" name="Freeform: Shape 11">
            <a:extLst>
              <a:ext uri="{FF2B5EF4-FFF2-40B4-BE49-F238E27FC236}">
                <a16:creationId xmlns:a16="http://schemas.microsoft.com/office/drawing/2014/main" id="{F55AE05E-CCE1-91FB-8A09-08862A8942F9}"/>
              </a:ext>
            </a:extLst>
          </p:cNvPr>
          <p:cNvSpPr/>
          <p:nvPr/>
        </p:nvSpPr>
        <p:spPr>
          <a:xfrm>
            <a:off x="7586490" y="2287780"/>
            <a:ext cx="1713344" cy="269514"/>
          </a:xfrm>
          <a:custGeom>
            <a:avLst/>
            <a:gdLst/>
            <a:ahLst/>
            <a:cxnLst/>
            <a:rect l="0" t="0" r="0" b="0"/>
            <a:pathLst>
              <a:path>
                <a:moveTo>
                  <a:pt x="0" y="0"/>
                </a:moveTo>
                <a:lnTo>
                  <a:pt x="0" y="134757"/>
                </a:lnTo>
                <a:lnTo>
                  <a:pt x="1713344" y="134757"/>
                </a:lnTo>
                <a:lnTo>
                  <a:pt x="1713344" y="269514"/>
                </a:lnTo>
              </a:path>
            </a:pathLst>
          </a:custGeom>
          <a:noFill/>
        </p:spPr>
        <p:style>
          <a:lnRef idx="1">
            <a:schemeClr val="accent4">
              <a:hueOff val="0"/>
              <a:satOff val="0"/>
              <a:lumOff val="0"/>
              <a:alphaOff val="0"/>
            </a:schemeClr>
          </a:lnRef>
          <a:fillRef idx="0">
            <a:scrgbClr r="0" g="0" b="0"/>
          </a:fillRef>
          <a:effectRef idx="0">
            <a:schemeClr val="accent2">
              <a:tint val="90000"/>
              <a:hueOff val="0"/>
              <a:satOff val="0"/>
              <a:lumOff val="0"/>
              <a:alphaOff val="0"/>
            </a:schemeClr>
          </a:effectRef>
          <a:fontRef idx="minor">
            <a:schemeClr val="tx1">
              <a:hueOff val="0"/>
              <a:satOff val="0"/>
              <a:lumOff val="0"/>
              <a:alphaOff val="0"/>
            </a:schemeClr>
          </a:fontRef>
        </p:style>
        <p:txBody>
          <a:bodyPr/>
          <a:lstStyle/>
          <a:p>
            <a:endParaRPr lang="en-NL"/>
          </a:p>
        </p:txBody>
      </p:sp>
      <p:sp>
        <p:nvSpPr>
          <p:cNvPr id="13" name="Freeform: Shape 12">
            <a:extLst>
              <a:ext uri="{FF2B5EF4-FFF2-40B4-BE49-F238E27FC236}">
                <a16:creationId xmlns:a16="http://schemas.microsoft.com/office/drawing/2014/main" id="{487C212E-FB0B-51A7-D36E-AA0D0DEE1359}"/>
              </a:ext>
            </a:extLst>
          </p:cNvPr>
          <p:cNvSpPr/>
          <p:nvPr/>
        </p:nvSpPr>
        <p:spPr>
          <a:xfrm>
            <a:off x="5359784" y="3198997"/>
            <a:ext cx="192510" cy="2412799"/>
          </a:xfrm>
          <a:custGeom>
            <a:avLst/>
            <a:gdLst/>
            <a:ahLst/>
            <a:cxnLst/>
            <a:rect l="0" t="0" r="0" b="0"/>
            <a:pathLst>
              <a:path>
                <a:moveTo>
                  <a:pt x="0" y="0"/>
                </a:moveTo>
                <a:lnTo>
                  <a:pt x="0" y="2412799"/>
                </a:lnTo>
                <a:lnTo>
                  <a:pt x="192510" y="2412799"/>
                </a:lnTo>
              </a:path>
            </a:pathLst>
          </a:custGeom>
          <a:noFill/>
        </p:spPr>
        <p:style>
          <a:lnRef idx="1">
            <a:schemeClr val="accent5">
              <a:hueOff val="0"/>
              <a:satOff val="0"/>
              <a:lumOff val="0"/>
              <a:alphaOff val="0"/>
            </a:schemeClr>
          </a:lnRef>
          <a:fillRef idx="0">
            <a:scrgbClr r="0" g="0" b="0"/>
          </a:fillRef>
          <a:effectRef idx="0">
            <a:schemeClr val="accent2">
              <a:tint val="70000"/>
              <a:hueOff val="0"/>
              <a:satOff val="0"/>
              <a:lumOff val="0"/>
              <a:alphaOff val="0"/>
            </a:schemeClr>
          </a:effectRef>
          <a:fontRef idx="minor">
            <a:schemeClr val="tx1">
              <a:hueOff val="0"/>
              <a:satOff val="0"/>
              <a:lumOff val="0"/>
              <a:alphaOff val="0"/>
            </a:schemeClr>
          </a:fontRef>
        </p:style>
        <p:txBody>
          <a:bodyPr/>
          <a:lstStyle/>
          <a:p>
            <a:endParaRPr lang="en-NL"/>
          </a:p>
        </p:txBody>
      </p:sp>
      <p:sp>
        <p:nvSpPr>
          <p:cNvPr id="14" name="Freeform: Shape 13">
            <a:extLst>
              <a:ext uri="{FF2B5EF4-FFF2-40B4-BE49-F238E27FC236}">
                <a16:creationId xmlns:a16="http://schemas.microsoft.com/office/drawing/2014/main" id="{36CBA531-2965-7F09-D53C-DE1F42C2373B}"/>
              </a:ext>
            </a:extLst>
          </p:cNvPr>
          <p:cNvSpPr/>
          <p:nvPr/>
        </p:nvSpPr>
        <p:spPr>
          <a:xfrm>
            <a:off x="5359784" y="3198997"/>
            <a:ext cx="192510" cy="1501582"/>
          </a:xfrm>
          <a:custGeom>
            <a:avLst/>
            <a:gdLst/>
            <a:ahLst/>
            <a:cxnLst/>
            <a:rect l="0" t="0" r="0" b="0"/>
            <a:pathLst>
              <a:path>
                <a:moveTo>
                  <a:pt x="0" y="0"/>
                </a:moveTo>
                <a:lnTo>
                  <a:pt x="0" y="1501582"/>
                </a:lnTo>
                <a:lnTo>
                  <a:pt x="192510" y="1501582"/>
                </a:lnTo>
              </a:path>
            </a:pathLst>
          </a:custGeom>
          <a:noFill/>
        </p:spPr>
        <p:style>
          <a:lnRef idx="1">
            <a:schemeClr val="accent5">
              <a:hueOff val="0"/>
              <a:satOff val="0"/>
              <a:lumOff val="0"/>
              <a:alphaOff val="0"/>
            </a:schemeClr>
          </a:lnRef>
          <a:fillRef idx="0">
            <a:scrgbClr r="0" g="0" b="0"/>
          </a:fillRef>
          <a:effectRef idx="0">
            <a:schemeClr val="accent2">
              <a:tint val="70000"/>
              <a:hueOff val="0"/>
              <a:satOff val="0"/>
              <a:lumOff val="0"/>
              <a:alphaOff val="0"/>
            </a:schemeClr>
          </a:effectRef>
          <a:fontRef idx="minor">
            <a:schemeClr val="tx1">
              <a:hueOff val="0"/>
              <a:satOff val="0"/>
              <a:lumOff val="0"/>
              <a:alphaOff val="0"/>
            </a:schemeClr>
          </a:fontRef>
        </p:style>
        <p:txBody>
          <a:bodyPr/>
          <a:lstStyle/>
          <a:p>
            <a:endParaRPr lang="en-NL"/>
          </a:p>
        </p:txBody>
      </p:sp>
      <p:sp>
        <p:nvSpPr>
          <p:cNvPr id="15" name="Freeform: Shape 14">
            <a:extLst>
              <a:ext uri="{FF2B5EF4-FFF2-40B4-BE49-F238E27FC236}">
                <a16:creationId xmlns:a16="http://schemas.microsoft.com/office/drawing/2014/main" id="{D33D5ED4-09E0-FA8E-8D21-20994F02EEFA}"/>
              </a:ext>
            </a:extLst>
          </p:cNvPr>
          <p:cNvSpPr/>
          <p:nvPr/>
        </p:nvSpPr>
        <p:spPr>
          <a:xfrm>
            <a:off x="5359784" y="3198997"/>
            <a:ext cx="192510" cy="590365"/>
          </a:xfrm>
          <a:custGeom>
            <a:avLst/>
            <a:gdLst/>
            <a:ahLst/>
            <a:cxnLst/>
            <a:rect l="0" t="0" r="0" b="0"/>
            <a:pathLst>
              <a:path>
                <a:moveTo>
                  <a:pt x="0" y="0"/>
                </a:moveTo>
                <a:lnTo>
                  <a:pt x="0" y="590365"/>
                </a:lnTo>
                <a:lnTo>
                  <a:pt x="192510" y="590365"/>
                </a:lnTo>
              </a:path>
            </a:pathLst>
          </a:custGeom>
          <a:noFill/>
        </p:spPr>
        <p:style>
          <a:lnRef idx="1">
            <a:schemeClr val="accent5">
              <a:hueOff val="0"/>
              <a:satOff val="0"/>
              <a:lumOff val="0"/>
              <a:alphaOff val="0"/>
            </a:schemeClr>
          </a:lnRef>
          <a:fillRef idx="0">
            <a:scrgbClr r="0" g="0" b="0"/>
          </a:fillRef>
          <a:effectRef idx="0">
            <a:schemeClr val="accent2">
              <a:tint val="70000"/>
              <a:hueOff val="0"/>
              <a:satOff val="0"/>
              <a:lumOff val="0"/>
              <a:alphaOff val="0"/>
            </a:schemeClr>
          </a:effectRef>
          <a:fontRef idx="minor">
            <a:schemeClr val="tx1">
              <a:hueOff val="0"/>
              <a:satOff val="0"/>
              <a:lumOff val="0"/>
              <a:alphaOff val="0"/>
            </a:schemeClr>
          </a:fontRef>
        </p:style>
        <p:txBody>
          <a:bodyPr/>
          <a:lstStyle/>
          <a:p>
            <a:endParaRPr lang="en-NL"/>
          </a:p>
        </p:txBody>
      </p:sp>
      <p:sp>
        <p:nvSpPr>
          <p:cNvPr id="16" name="Freeform: Shape 15">
            <a:extLst>
              <a:ext uri="{FF2B5EF4-FFF2-40B4-BE49-F238E27FC236}">
                <a16:creationId xmlns:a16="http://schemas.microsoft.com/office/drawing/2014/main" id="{9A00B541-FCD4-08F8-B97A-6D9E6C0CD9B3}"/>
              </a:ext>
            </a:extLst>
          </p:cNvPr>
          <p:cNvSpPr/>
          <p:nvPr/>
        </p:nvSpPr>
        <p:spPr>
          <a:xfrm>
            <a:off x="5873145" y="2287780"/>
            <a:ext cx="1713344" cy="269514"/>
          </a:xfrm>
          <a:custGeom>
            <a:avLst/>
            <a:gdLst/>
            <a:ahLst/>
            <a:cxnLst/>
            <a:rect l="0" t="0" r="0" b="0"/>
            <a:pathLst>
              <a:path>
                <a:moveTo>
                  <a:pt x="1713344" y="0"/>
                </a:moveTo>
                <a:lnTo>
                  <a:pt x="1713344" y="134757"/>
                </a:lnTo>
                <a:lnTo>
                  <a:pt x="0" y="134757"/>
                </a:lnTo>
                <a:lnTo>
                  <a:pt x="0" y="269514"/>
                </a:lnTo>
              </a:path>
            </a:pathLst>
          </a:custGeom>
          <a:noFill/>
        </p:spPr>
        <p:style>
          <a:lnRef idx="1">
            <a:schemeClr val="accent4">
              <a:hueOff val="0"/>
              <a:satOff val="0"/>
              <a:lumOff val="0"/>
              <a:alphaOff val="0"/>
            </a:schemeClr>
          </a:lnRef>
          <a:fillRef idx="0">
            <a:scrgbClr r="0" g="0" b="0"/>
          </a:fillRef>
          <a:effectRef idx="0">
            <a:schemeClr val="accent2">
              <a:tint val="90000"/>
              <a:hueOff val="0"/>
              <a:satOff val="0"/>
              <a:lumOff val="0"/>
              <a:alphaOff val="0"/>
            </a:schemeClr>
          </a:effectRef>
          <a:fontRef idx="minor">
            <a:schemeClr val="tx1">
              <a:hueOff val="0"/>
              <a:satOff val="0"/>
              <a:lumOff val="0"/>
              <a:alphaOff val="0"/>
            </a:schemeClr>
          </a:fontRef>
        </p:style>
        <p:txBody>
          <a:bodyPr/>
          <a:lstStyle/>
          <a:p>
            <a:endParaRPr lang="en-NL"/>
          </a:p>
        </p:txBody>
      </p:sp>
      <p:sp>
        <p:nvSpPr>
          <p:cNvPr id="17" name="Freeform: Shape 16">
            <a:extLst>
              <a:ext uri="{FF2B5EF4-FFF2-40B4-BE49-F238E27FC236}">
                <a16:creationId xmlns:a16="http://schemas.microsoft.com/office/drawing/2014/main" id="{A71D2C96-0414-2199-C88D-477F0F92E74A}"/>
              </a:ext>
            </a:extLst>
          </p:cNvPr>
          <p:cNvSpPr/>
          <p:nvPr/>
        </p:nvSpPr>
        <p:spPr>
          <a:xfrm>
            <a:off x="6944788" y="1646078"/>
            <a:ext cx="1283404" cy="641702"/>
          </a:xfrm>
          <a:custGeom>
            <a:avLst/>
            <a:gdLst>
              <a:gd name="csX0" fmla="*/ 0 w 1283404"/>
              <a:gd name="csY0" fmla="*/ 0 h 641702"/>
              <a:gd name="csX1" fmla="*/ 1283404 w 1283404"/>
              <a:gd name="csY1" fmla="*/ 0 h 641702"/>
              <a:gd name="csX2" fmla="*/ 1283404 w 1283404"/>
              <a:gd name="csY2" fmla="*/ 641702 h 641702"/>
              <a:gd name="csX3" fmla="*/ 0 w 1283404"/>
              <a:gd name="csY3" fmla="*/ 641702 h 641702"/>
              <a:gd name="csX4" fmla="*/ 0 w 1283404"/>
              <a:gd name="csY4" fmla="*/ 0 h 641702"/>
            </a:gdLst>
            <a:ahLst/>
            <a:cxnLst>
              <a:cxn ang="0">
                <a:pos x="csX0" y="csY0"/>
              </a:cxn>
              <a:cxn ang="0">
                <a:pos x="csX1" y="csY1"/>
              </a:cxn>
              <a:cxn ang="0">
                <a:pos x="csX2" y="csY2"/>
              </a:cxn>
              <a:cxn ang="0">
                <a:pos x="csX3" y="csY3"/>
              </a:cxn>
              <a:cxn ang="0">
                <a:pos x="csX4" y="csY4"/>
              </a:cxn>
            </a:cxnLst>
            <a:rect l="l" t="t" r="r" b="b"/>
            <a:pathLst>
              <a:path w="1283404" h="641702">
                <a:moveTo>
                  <a:pt x="0" y="0"/>
                </a:moveTo>
                <a:lnTo>
                  <a:pt x="1283404" y="0"/>
                </a:lnTo>
                <a:lnTo>
                  <a:pt x="1283404" y="641702"/>
                </a:lnTo>
                <a:lnTo>
                  <a:pt x="0" y="641702"/>
                </a:lnTo>
                <a:lnTo>
                  <a:pt x="0" y="0"/>
                </a:lnTo>
                <a:close/>
              </a:path>
            </a:pathLst>
          </a:custGeom>
        </p:spPr>
        <p:style>
          <a:lnRef idx="0">
            <a:schemeClr val="lt1">
              <a:hueOff val="0"/>
              <a:satOff val="0"/>
              <a:lumOff val="0"/>
              <a:alphaOff val="0"/>
            </a:schemeClr>
          </a:lnRef>
          <a:fillRef idx="3">
            <a:schemeClr val="accent2">
              <a:hueOff val="0"/>
              <a:satOff val="0"/>
              <a:lumOff val="0"/>
              <a:alphaOff val="0"/>
            </a:schemeClr>
          </a:fillRef>
          <a:effectRef idx="2">
            <a:schemeClr val="accent2">
              <a:hueOff val="0"/>
              <a:satOff val="0"/>
              <a:lumOff val="0"/>
              <a:alphaOff val="0"/>
            </a:schemeClr>
          </a:effectRef>
          <a:fontRef idx="minor">
            <a:schemeClr val="lt1"/>
          </a:fontRef>
        </p:style>
        <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a:t>Sex/Gender</a:t>
            </a:r>
            <a:endParaRPr lang="en-NL" sz="1600" kern="1200"/>
          </a:p>
        </p:txBody>
      </p:sp>
      <p:sp>
        <p:nvSpPr>
          <p:cNvPr id="18" name="Freeform: Shape 17">
            <a:extLst>
              <a:ext uri="{FF2B5EF4-FFF2-40B4-BE49-F238E27FC236}">
                <a16:creationId xmlns:a16="http://schemas.microsoft.com/office/drawing/2014/main" id="{F0A1C329-1B43-0EFF-05BE-170794BFD015}"/>
              </a:ext>
            </a:extLst>
          </p:cNvPr>
          <p:cNvSpPr/>
          <p:nvPr/>
        </p:nvSpPr>
        <p:spPr>
          <a:xfrm>
            <a:off x="5231443" y="2557295"/>
            <a:ext cx="1283404" cy="641702"/>
          </a:xfrm>
          <a:custGeom>
            <a:avLst/>
            <a:gdLst>
              <a:gd name="csX0" fmla="*/ 0 w 1283404"/>
              <a:gd name="csY0" fmla="*/ 0 h 641702"/>
              <a:gd name="csX1" fmla="*/ 1283404 w 1283404"/>
              <a:gd name="csY1" fmla="*/ 0 h 641702"/>
              <a:gd name="csX2" fmla="*/ 1283404 w 1283404"/>
              <a:gd name="csY2" fmla="*/ 641702 h 641702"/>
              <a:gd name="csX3" fmla="*/ 0 w 1283404"/>
              <a:gd name="csY3" fmla="*/ 641702 h 641702"/>
              <a:gd name="csX4" fmla="*/ 0 w 1283404"/>
              <a:gd name="csY4" fmla="*/ 0 h 641702"/>
            </a:gdLst>
            <a:ahLst/>
            <a:cxnLst>
              <a:cxn ang="0">
                <a:pos x="csX0" y="csY0"/>
              </a:cxn>
              <a:cxn ang="0">
                <a:pos x="csX1" y="csY1"/>
              </a:cxn>
              <a:cxn ang="0">
                <a:pos x="csX2" y="csY2"/>
              </a:cxn>
              <a:cxn ang="0">
                <a:pos x="csX3" y="csY3"/>
              </a:cxn>
              <a:cxn ang="0">
                <a:pos x="csX4" y="csY4"/>
              </a:cxn>
            </a:cxnLst>
            <a:rect l="l" t="t" r="r" b="b"/>
            <a:pathLst>
              <a:path w="1283404" h="641702">
                <a:moveTo>
                  <a:pt x="0" y="0"/>
                </a:moveTo>
                <a:lnTo>
                  <a:pt x="1283404" y="0"/>
                </a:lnTo>
                <a:lnTo>
                  <a:pt x="1283404" y="641702"/>
                </a:lnTo>
                <a:lnTo>
                  <a:pt x="0" y="641702"/>
                </a:lnTo>
                <a:lnTo>
                  <a:pt x="0" y="0"/>
                </a:lnTo>
                <a:close/>
              </a:path>
            </a:pathLst>
          </a:custGeom>
        </p:spPr>
        <p:style>
          <a:lnRef idx="0">
            <a:schemeClr val="lt1">
              <a:hueOff val="0"/>
              <a:satOff val="0"/>
              <a:lumOff val="0"/>
              <a:alphaOff val="0"/>
            </a:schemeClr>
          </a:lnRef>
          <a:fillRef idx="3">
            <a:schemeClr val="accent4">
              <a:hueOff val="0"/>
              <a:satOff val="0"/>
              <a:lumOff val="0"/>
              <a:alphaOff val="0"/>
            </a:schemeClr>
          </a:fillRef>
          <a:effectRef idx="2">
            <a:schemeClr val="accent4">
              <a:hueOff val="0"/>
              <a:satOff val="0"/>
              <a:lumOff val="0"/>
              <a:alphaOff val="0"/>
            </a:schemeClr>
          </a:effectRef>
          <a:fontRef idx="minor">
            <a:schemeClr val="lt1"/>
          </a:fontRef>
        </p:style>
        <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(Biological) Sex</a:t>
            </a:r>
            <a:endParaRPr lang="en-NL" sz="1600" kern="1200" dirty="0"/>
          </a:p>
        </p:txBody>
      </p:sp>
      <p:sp>
        <p:nvSpPr>
          <p:cNvPr id="19" name="Freeform: Shape 18">
            <a:extLst>
              <a:ext uri="{FF2B5EF4-FFF2-40B4-BE49-F238E27FC236}">
                <a16:creationId xmlns:a16="http://schemas.microsoft.com/office/drawing/2014/main" id="{94E88F13-EDEE-9E34-3BB0-8CA87A83EC3D}"/>
              </a:ext>
            </a:extLst>
          </p:cNvPr>
          <p:cNvSpPr/>
          <p:nvPr/>
        </p:nvSpPr>
        <p:spPr>
          <a:xfrm>
            <a:off x="5552294" y="3468511"/>
            <a:ext cx="1283404" cy="641702"/>
          </a:xfrm>
          <a:custGeom>
            <a:avLst/>
            <a:gdLst>
              <a:gd name="csX0" fmla="*/ 0 w 1283404"/>
              <a:gd name="csY0" fmla="*/ 0 h 641702"/>
              <a:gd name="csX1" fmla="*/ 1283404 w 1283404"/>
              <a:gd name="csY1" fmla="*/ 0 h 641702"/>
              <a:gd name="csX2" fmla="*/ 1283404 w 1283404"/>
              <a:gd name="csY2" fmla="*/ 641702 h 641702"/>
              <a:gd name="csX3" fmla="*/ 0 w 1283404"/>
              <a:gd name="csY3" fmla="*/ 641702 h 641702"/>
              <a:gd name="csX4" fmla="*/ 0 w 1283404"/>
              <a:gd name="csY4" fmla="*/ 0 h 641702"/>
            </a:gdLst>
            <a:ahLst/>
            <a:cxnLst>
              <a:cxn ang="0">
                <a:pos x="csX0" y="csY0"/>
              </a:cxn>
              <a:cxn ang="0">
                <a:pos x="csX1" y="csY1"/>
              </a:cxn>
              <a:cxn ang="0">
                <a:pos x="csX2" y="csY2"/>
              </a:cxn>
              <a:cxn ang="0">
                <a:pos x="csX3" y="csY3"/>
              </a:cxn>
              <a:cxn ang="0">
                <a:pos x="csX4" y="csY4"/>
              </a:cxn>
            </a:cxnLst>
            <a:rect l="l" t="t" r="r" b="b"/>
            <a:pathLst>
              <a:path w="1283404" h="641702">
                <a:moveTo>
                  <a:pt x="0" y="0"/>
                </a:moveTo>
                <a:lnTo>
                  <a:pt x="1283404" y="0"/>
                </a:lnTo>
                <a:lnTo>
                  <a:pt x="1283404" y="641702"/>
                </a:lnTo>
                <a:lnTo>
                  <a:pt x="0" y="641702"/>
                </a:lnTo>
                <a:lnTo>
                  <a:pt x="0" y="0"/>
                </a:lnTo>
                <a:close/>
              </a:path>
            </a:pathLst>
          </a:custGeom>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Sex at Birth</a:t>
            </a:r>
            <a:endParaRPr lang="en-NL" sz="1600" kern="1200" dirty="0"/>
          </a:p>
        </p:txBody>
      </p:sp>
      <p:sp>
        <p:nvSpPr>
          <p:cNvPr id="20" name="Freeform: Shape 19">
            <a:extLst>
              <a:ext uri="{FF2B5EF4-FFF2-40B4-BE49-F238E27FC236}">
                <a16:creationId xmlns:a16="http://schemas.microsoft.com/office/drawing/2014/main" id="{A15B4B08-6ACA-7E41-990C-988B6ACBAE16}"/>
              </a:ext>
            </a:extLst>
          </p:cNvPr>
          <p:cNvSpPr/>
          <p:nvPr/>
        </p:nvSpPr>
        <p:spPr>
          <a:xfrm>
            <a:off x="5552294" y="4379728"/>
            <a:ext cx="1283404" cy="641702"/>
          </a:xfrm>
          <a:custGeom>
            <a:avLst/>
            <a:gdLst>
              <a:gd name="csX0" fmla="*/ 0 w 1283404"/>
              <a:gd name="csY0" fmla="*/ 0 h 641702"/>
              <a:gd name="csX1" fmla="*/ 1283404 w 1283404"/>
              <a:gd name="csY1" fmla="*/ 0 h 641702"/>
              <a:gd name="csX2" fmla="*/ 1283404 w 1283404"/>
              <a:gd name="csY2" fmla="*/ 641702 h 641702"/>
              <a:gd name="csX3" fmla="*/ 0 w 1283404"/>
              <a:gd name="csY3" fmla="*/ 641702 h 641702"/>
              <a:gd name="csX4" fmla="*/ 0 w 1283404"/>
              <a:gd name="csY4" fmla="*/ 0 h 641702"/>
            </a:gdLst>
            <a:ahLst/>
            <a:cxnLst>
              <a:cxn ang="0">
                <a:pos x="csX0" y="csY0"/>
              </a:cxn>
              <a:cxn ang="0">
                <a:pos x="csX1" y="csY1"/>
              </a:cxn>
              <a:cxn ang="0">
                <a:pos x="csX2" y="csY2"/>
              </a:cxn>
              <a:cxn ang="0">
                <a:pos x="csX3" y="csY3"/>
              </a:cxn>
              <a:cxn ang="0">
                <a:pos x="csX4" y="csY4"/>
              </a:cxn>
            </a:cxnLst>
            <a:rect l="l" t="t" r="r" b="b"/>
            <a:pathLst>
              <a:path w="1283404" h="641702">
                <a:moveTo>
                  <a:pt x="0" y="0"/>
                </a:moveTo>
                <a:lnTo>
                  <a:pt x="1283404" y="0"/>
                </a:lnTo>
                <a:lnTo>
                  <a:pt x="1283404" y="641702"/>
                </a:lnTo>
                <a:lnTo>
                  <a:pt x="0" y="641702"/>
                </a:lnTo>
                <a:lnTo>
                  <a:pt x="0" y="0"/>
                </a:lnTo>
                <a:close/>
              </a:path>
            </a:pathLst>
          </a:custGeom>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Karyotypical Sex</a:t>
            </a:r>
            <a:endParaRPr lang="en-NL" sz="1600" kern="1200" dirty="0"/>
          </a:p>
        </p:txBody>
      </p:sp>
      <p:sp>
        <p:nvSpPr>
          <p:cNvPr id="21" name="Freeform: Shape 20">
            <a:extLst>
              <a:ext uri="{FF2B5EF4-FFF2-40B4-BE49-F238E27FC236}">
                <a16:creationId xmlns:a16="http://schemas.microsoft.com/office/drawing/2014/main" id="{C1F194EE-84EA-CAE9-867B-C024B69D84EA}"/>
              </a:ext>
            </a:extLst>
          </p:cNvPr>
          <p:cNvSpPr/>
          <p:nvPr/>
        </p:nvSpPr>
        <p:spPr>
          <a:xfrm>
            <a:off x="5552294" y="5290945"/>
            <a:ext cx="1283404" cy="641702"/>
          </a:xfrm>
          <a:custGeom>
            <a:avLst/>
            <a:gdLst>
              <a:gd name="csX0" fmla="*/ 0 w 1283404"/>
              <a:gd name="csY0" fmla="*/ 0 h 641702"/>
              <a:gd name="csX1" fmla="*/ 1283404 w 1283404"/>
              <a:gd name="csY1" fmla="*/ 0 h 641702"/>
              <a:gd name="csX2" fmla="*/ 1283404 w 1283404"/>
              <a:gd name="csY2" fmla="*/ 641702 h 641702"/>
              <a:gd name="csX3" fmla="*/ 0 w 1283404"/>
              <a:gd name="csY3" fmla="*/ 641702 h 641702"/>
              <a:gd name="csX4" fmla="*/ 0 w 1283404"/>
              <a:gd name="csY4" fmla="*/ 0 h 641702"/>
            </a:gdLst>
            <a:ahLst/>
            <a:cxnLst>
              <a:cxn ang="0">
                <a:pos x="csX0" y="csY0"/>
              </a:cxn>
              <a:cxn ang="0">
                <a:pos x="csX1" y="csY1"/>
              </a:cxn>
              <a:cxn ang="0">
                <a:pos x="csX2" y="csY2"/>
              </a:cxn>
              <a:cxn ang="0">
                <a:pos x="csX3" y="csY3"/>
              </a:cxn>
              <a:cxn ang="0">
                <a:pos x="csX4" y="csY4"/>
              </a:cxn>
            </a:cxnLst>
            <a:rect l="l" t="t" r="r" b="b"/>
            <a:pathLst>
              <a:path w="1283404" h="641702">
                <a:moveTo>
                  <a:pt x="0" y="0"/>
                </a:moveTo>
                <a:lnTo>
                  <a:pt x="1283404" y="0"/>
                </a:lnTo>
                <a:lnTo>
                  <a:pt x="1283404" y="641702"/>
                </a:lnTo>
                <a:lnTo>
                  <a:pt x="0" y="641702"/>
                </a:lnTo>
                <a:lnTo>
                  <a:pt x="0" y="0"/>
                </a:lnTo>
                <a:close/>
              </a:path>
            </a:pathLst>
          </a:custGeom>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a:t>
            </a:r>
            <a:endParaRPr lang="en-NL" sz="1600" kern="1200" dirty="0"/>
          </a:p>
        </p:txBody>
      </p:sp>
      <p:sp>
        <p:nvSpPr>
          <p:cNvPr id="22" name="Freeform: Shape 21">
            <a:extLst>
              <a:ext uri="{FF2B5EF4-FFF2-40B4-BE49-F238E27FC236}">
                <a16:creationId xmlns:a16="http://schemas.microsoft.com/office/drawing/2014/main" id="{F486B0EE-9FE3-C55E-8566-967522160058}"/>
              </a:ext>
            </a:extLst>
          </p:cNvPr>
          <p:cNvSpPr/>
          <p:nvPr/>
        </p:nvSpPr>
        <p:spPr>
          <a:xfrm>
            <a:off x="8658132" y="2557295"/>
            <a:ext cx="1283404" cy="641702"/>
          </a:xfrm>
          <a:custGeom>
            <a:avLst/>
            <a:gdLst>
              <a:gd name="csX0" fmla="*/ 0 w 1283404"/>
              <a:gd name="csY0" fmla="*/ 0 h 641702"/>
              <a:gd name="csX1" fmla="*/ 1283404 w 1283404"/>
              <a:gd name="csY1" fmla="*/ 0 h 641702"/>
              <a:gd name="csX2" fmla="*/ 1283404 w 1283404"/>
              <a:gd name="csY2" fmla="*/ 641702 h 641702"/>
              <a:gd name="csX3" fmla="*/ 0 w 1283404"/>
              <a:gd name="csY3" fmla="*/ 641702 h 641702"/>
              <a:gd name="csX4" fmla="*/ 0 w 1283404"/>
              <a:gd name="csY4" fmla="*/ 0 h 641702"/>
            </a:gdLst>
            <a:ahLst/>
            <a:cxnLst>
              <a:cxn ang="0">
                <a:pos x="csX0" y="csY0"/>
              </a:cxn>
              <a:cxn ang="0">
                <a:pos x="csX1" y="csY1"/>
              </a:cxn>
              <a:cxn ang="0">
                <a:pos x="csX2" y="csY2"/>
              </a:cxn>
              <a:cxn ang="0">
                <a:pos x="csX3" y="csY3"/>
              </a:cxn>
              <a:cxn ang="0">
                <a:pos x="csX4" y="csY4"/>
              </a:cxn>
            </a:cxnLst>
            <a:rect l="l" t="t" r="r" b="b"/>
            <a:pathLst>
              <a:path w="1283404" h="641702">
                <a:moveTo>
                  <a:pt x="0" y="0"/>
                </a:moveTo>
                <a:lnTo>
                  <a:pt x="1283404" y="0"/>
                </a:lnTo>
                <a:lnTo>
                  <a:pt x="1283404" y="641702"/>
                </a:lnTo>
                <a:lnTo>
                  <a:pt x="0" y="641702"/>
                </a:lnTo>
                <a:lnTo>
                  <a:pt x="0" y="0"/>
                </a:lnTo>
                <a:close/>
              </a:path>
            </a:pathLst>
          </a:custGeom>
        </p:spPr>
        <p:style>
          <a:lnRef idx="0">
            <a:schemeClr val="lt1">
              <a:hueOff val="0"/>
              <a:satOff val="0"/>
              <a:lumOff val="0"/>
              <a:alphaOff val="0"/>
            </a:schemeClr>
          </a:lnRef>
          <a:fillRef idx="3">
            <a:schemeClr val="accent4">
              <a:hueOff val="0"/>
              <a:satOff val="0"/>
              <a:lumOff val="0"/>
              <a:alphaOff val="0"/>
            </a:schemeClr>
          </a:fillRef>
          <a:effectRef idx="2">
            <a:schemeClr val="accent4">
              <a:hueOff val="0"/>
              <a:satOff val="0"/>
              <a:lumOff val="0"/>
              <a:alphaOff val="0"/>
            </a:schemeClr>
          </a:effectRef>
          <a:fontRef idx="minor">
            <a:schemeClr val="lt1"/>
          </a:fontRef>
        </p:style>
        <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(Social) Gender</a:t>
            </a:r>
            <a:endParaRPr lang="en-NL" sz="1600" kern="1200" dirty="0"/>
          </a:p>
        </p:txBody>
      </p:sp>
      <p:sp>
        <p:nvSpPr>
          <p:cNvPr id="23" name="Freeform: Shape 22">
            <a:extLst>
              <a:ext uri="{FF2B5EF4-FFF2-40B4-BE49-F238E27FC236}">
                <a16:creationId xmlns:a16="http://schemas.microsoft.com/office/drawing/2014/main" id="{26096047-5AB2-A47C-3EE1-E61DE894E2B1}"/>
              </a:ext>
            </a:extLst>
          </p:cNvPr>
          <p:cNvSpPr/>
          <p:nvPr/>
        </p:nvSpPr>
        <p:spPr>
          <a:xfrm>
            <a:off x="7105213" y="3468511"/>
            <a:ext cx="1283404" cy="641702"/>
          </a:xfrm>
          <a:custGeom>
            <a:avLst/>
            <a:gdLst>
              <a:gd name="csX0" fmla="*/ 0 w 1283404"/>
              <a:gd name="csY0" fmla="*/ 0 h 641702"/>
              <a:gd name="csX1" fmla="*/ 1283404 w 1283404"/>
              <a:gd name="csY1" fmla="*/ 0 h 641702"/>
              <a:gd name="csX2" fmla="*/ 1283404 w 1283404"/>
              <a:gd name="csY2" fmla="*/ 641702 h 641702"/>
              <a:gd name="csX3" fmla="*/ 0 w 1283404"/>
              <a:gd name="csY3" fmla="*/ 641702 h 641702"/>
              <a:gd name="csX4" fmla="*/ 0 w 1283404"/>
              <a:gd name="csY4" fmla="*/ 0 h 641702"/>
            </a:gdLst>
            <a:ahLst/>
            <a:cxnLst>
              <a:cxn ang="0">
                <a:pos x="csX0" y="csY0"/>
              </a:cxn>
              <a:cxn ang="0">
                <a:pos x="csX1" y="csY1"/>
              </a:cxn>
              <a:cxn ang="0">
                <a:pos x="csX2" y="csY2"/>
              </a:cxn>
              <a:cxn ang="0">
                <a:pos x="csX3" y="csY3"/>
              </a:cxn>
              <a:cxn ang="0">
                <a:pos x="csX4" y="csY4"/>
              </a:cxn>
            </a:cxnLst>
            <a:rect l="l" t="t" r="r" b="b"/>
            <a:pathLst>
              <a:path w="1283404" h="641702">
                <a:moveTo>
                  <a:pt x="0" y="0"/>
                </a:moveTo>
                <a:lnTo>
                  <a:pt x="1283404" y="0"/>
                </a:lnTo>
                <a:lnTo>
                  <a:pt x="1283404" y="641702"/>
                </a:lnTo>
                <a:lnTo>
                  <a:pt x="0" y="641702"/>
                </a:lnTo>
                <a:lnTo>
                  <a:pt x="0" y="0"/>
                </a:lnTo>
                <a:close/>
              </a:path>
            </a:pathLst>
          </a:custGeom>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Self-Identified Gender</a:t>
            </a:r>
            <a:endParaRPr lang="en-NL" sz="1600" kern="1200" dirty="0"/>
          </a:p>
        </p:txBody>
      </p:sp>
      <p:sp>
        <p:nvSpPr>
          <p:cNvPr id="24" name="Freeform: Shape 23">
            <a:extLst>
              <a:ext uri="{FF2B5EF4-FFF2-40B4-BE49-F238E27FC236}">
                <a16:creationId xmlns:a16="http://schemas.microsoft.com/office/drawing/2014/main" id="{F5500823-906A-479D-0D9D-4DF3B6C9ED1E}"/>
              </a:ext>
            </a:extLst>
          </p:cNvPr>
          <p:cNvSpPr/>
          <p:nvPr/>
        </p:nvSpPr>
        <p:spPr>
          <a:xfrm>
            <a:off x="8658132" y="3468511"/>
            <a:ext cx="1283404" cy="641702"/>
          </a:xfrm>
          <a:custGeom>
            <a:avLst/>
            <a:gdLst>
              <a:gd name="csX0" fmla="*/ 0 w 1283404"/>
              <a:gd name="csY0" fmla="*/ 0 h 641702"/>
              <a:gd name="csX1" fmla="*/ 1283404 w 1283404"/>
              <a:gd name="csY1" fmla="*/ 0 h 641702"/>
              <a:gd name="csX2" fmla="*/ 1283404 w 1283404"/>
              <a:gd name="csY2" fmla="*/ 641702 h 641702"/>
              <a:gd name="csX3" fmla="*/ 0 w 1283404"/>
              <a:gd name="csY3" fmla="*/ 641702 h 641702"/>
              <a:gd name="csX4" fmla="*/ 0 w 1283404"/>
              <a:gd name="csY4" fmla="*/ 0 h 641702"/>
            </a:gdLst>
            <a:ahLst/>
            <a:cxnLst>
              <a:cxn ang="0">
                <a:pos x="csX0" y="csY0"/>
              </a:cxn>
              <a:cxn ang="0">
                <a:pos x="csX1" y="csY1"/>
              </a:cxn>
              <a:cxn ang="0">
                <a:pos x="csX2" y="csY2"/>
              </a:cxn>
              <a:cxn ang="0">
                <a:pos x="csX3" y="csY3"/>
              </a:cxn>
              <a:cxn ang="0">
                <a:pos x="csX4" y="csY4"/>
              </a:cxn>
            </a:cxnLst>
            <a:rect l="l" t="t" r="r" b="b"/>
            <a:pathLst>
              <a:path w="1283404" h="641702">
                <a:moveTo>
                  <a:pt x="0" y="0"/>
                </a:moveTo>
                <a:lnTo>
                  <a:pt x="1283404" y="0"/>
                </a:lnTo>
                <a:lnTo>
                  <a:pt x="1283404" y="641702"/>
                </a:lnTo>
                <a:lnTo>
                  <a:pt x="0" y="641702"/>
                </a:lnTo>
                <a:lnTo>
                  <a:pt x="0" y="0"/>
                </a:lnTo>
                <a:close/>
              </a:path>
            </a:pathLst>
          </a:custGeom>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Administrative Gender</a:t>
            </a:r>
            <a:endParaRPr lang="en-NL" sz="1600" kern="1200" dirty="0"/>
          </a:p>
        </p:txBody>
      </p:sp>
      <p:sp>
        <p:nvSpPr>
          <p:cNvPr id="25" name="Freeform: Shape 24">
            <a:extLst>
              <a:ext uri="{FF2B5EF4-FFF2-40B4-BE49-F238E27FC236}">
                <a16:creationId xmlns:a16="http://schemas.microsoft.com/office/drawing/2014/main" id="{3B6D2050-4FFC-4978-A4A1-D65A84E9FD87}"/>
              </a:ext>
            </a:extLst>
          </p:cNvPr>
          <p:cNvSpPr/>
          <p:nvPr/>
        </p:nvSpPr>
        <p:spPr>
          <a:xfrm>
            <a:off x="8978983" y="4379728"/>
            <a:ext cx="1283404" cy="641702"/>
          </a:xfrm>
          <a:custGeom>
            <a:avLst/>
            <a:gdLst>
              <a:gd name="csX0" fmla="*/ 0 w 1283404"/>
              <a:gd name="csY0" fmla="*/ 0 h 641702"/>
              <a:gd name="csX1" fmla="*/ 1283404 w 1283404"/>
              <a:gd name="csY1" fmla="*/ 0 h 641702"/>
              <a:gd name="csX2" fmla="*/ 1283404 w 1283404"/>
              <a:gd name="csY2" fmla="*/ 641702 h 641702"/>
              <a:gd name="csX3" fmla="*/ 0 w 1283404"/>
              <a:gd name="csY3" fmla="*/ 641702 h 641702"/>
              <a:gd name="csX4" fmla="*/ 0 w 1283404"/>
              <a:gd name="csY4" fmla="*/ 0 h 641702"/>
            </a:gdLst>
            <a:ahLst/>
            <a:cxnLst>
              <a:cxn ang="0">
                <a:pos x="csX0" y="csY0"/>
              </a:cxn>
              <a:cxn ang="0">
                <a:pos x="csX1" y="csY1"/>
              </a:cxn>
              <a:cxn ang="0">
                <a:pos x="csX2" y="csY2"/>
              </a:cxn>
              <a:cxn ang="0">
                <a:pos x="csX3" y="csY3"/>
              </a:cxn>
              <a:cxn ang="0">
                <a:pos x="csX4" y="csY4"/>
              </a:cxn>
            </a:cxnLst>
            <a:rect l="l" t="t" r="r" b="b"/>
            <a:pathLst>
              <a:path w="1283404" h="641702">
                <a:moveTo>
                  <a:pt x="0" y="0"/>
                </a:moveTo>
                <a:lnTo>
                  <a:pt x="1283404" y="0"/>
                </a:lnTo>
                <a:lnTo>
                  <a:pt x="1283404" y="641702"/>
                </a:lnTo>
                <a:lnTo>
                  <a:pt x="0" y="641702"/>
                </a:lnTo>
                <a:lnTo>
                  <a:pt x="0" y="0"/>
                </a:lnTo>
                <a:close/>
              </a:path>
            </a:pathLst>
          </a:custGeom>
        </p:spPr>
        <p:style>
          <a:lnRef idx="0">
            <a:schemeClr val="lt1">
              <a:hueOff val="0"/>
              <a:satOff val="0"/>
              <a:lumOff val="0"/>
              <a:alphaOff val="0"/>
            </a:schemeClr>
          </a:lnRef>
          <a:fillRef idx="3">
            <a:schemeClr val="accent6">
              <a:hueOff val="0"/>
              <a:satOff val="0"/>
              <a:lumOff val="0"/>
              <a:alphaOff val="0"/>
            </a:schemeClr>
          </a:fillRef>
          <a:effectRef idx="2">
            <a:schemeClr val="accent6">
              <a:hueOff val="0"/>
              <a:satOff val="0"/>
              <a:lumOff val="0"/>
              <a:alphaOff val="0"/>
            </a:schemeClr>
          </a:effectRef>
          <a:fontRef idx="minor">
            <a:schemeClr val="lt1"/>
          </a:fontRef>
        </p:style>
        <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Legal Gender</a:t>
            </a:r>
            <a:endParaRPr lang="en-NL" sz="1600" kern="1200" dirty="0"/>
          </a:p>
        </p:txBody>
      </p:sp>
      <p:sp>
        <p:nvSpPr>
          <p:cNvPr id="26" name="Freeform: Shape 25">
            <a:extLst>
              <a:ext uri="{FF2B5EF4-FFF2-40B4-BE49-F238E27FC236}">
                <a16:creationId xmlns:a16="http://schemas.microsoft.com/office/drawing/2014/main" id="{C74EA158-CD50-331D-CF7B-12272D1D8344}"/>
              </a:ext>
            </a:extLst>
          </p:cNvPr>
          <p:cNvSpPr/>
          <p:nvPr/>
        </p:nvSpPr>
        <p:spPr>
          <a:xfrm>
            <a:off x="10211051" y="3468511"/>
            <a:ext cx="1283404" cy="641702"/>
          </a:xfrm>
          <a:custGeom>
            <a:avLst/>
            <a:gdLst>
              <a:gd name="csX0" fmla="*/ 0 w 1283404"/>
              <a:gd name="csY0" fmla="*/ 0 h 641702"/>
              <a:gd name="csX1" fmla="*/ 1283404 w 1283404"/>
              <a:gd name="csY1" fmla="*/ 0 h 641702"/>
              <a:gd name="csX2" fmla="*/ 1283404 w 1283404"/>
              <a:gd name="csY2" fmla="*/ 641702 h 641702"/>
              <a:gd name="csX3" fmla="*/ 0 w 1283404"/>
              <a:gd name="csY3" fmla="*/ 641702 h 641702"/>
              <a:gd name="csX4" fmla="*/ 0 w 1283404"/>
              <a:gd name="csY4" fmla="*/ 0 h 641702"/>
            </a:gdLst>
            <a:ahLst/>
            <a:cxnLst>
              <a:cxn ang="0">
                <a:pos x="csX0" y="csY0"/>
              </a:cxn>
              <a:cxn ang="0">
                <a:pos x="csX1" y="csY1"/>
              </a:cxn>
              <a:cxn ang="0">
                <a:pos x="csX2" y="csY2"/>
              </a:cxn>
              <a:cxn ang="0">
                <a:pos x="csX3" y="csY3"/>
              </a:cxn>
              <a:cxn ang="0">
                <a:pos x="csX4" y="csY4"/>
              </a:cxn>
            </a:cxnLst>
            <a:rect l="l" t="t" r="r" b="b"/>
            <a:pathLst>
              <a:path w="1283404" h="641702">
                <a:moveTo>
                  <a:pt x="0" y="0"/>
                </a:moveTo>
                <a:lnTo>
                  <a:pt x="1283404" y="0"/>
                </a:lnTo>
                <a:lnTo>
                  <a:pt x="1283404" y="641702"/>
                </a:lnTo>
                <a:lnTo>
                  <a:pt x="0" y="641702"/>
                </a:lnTo>
                <a:lnTo>
                  <a:pt x="0" y="0"/>
                </a:lnTo>
                <a:close/>
              </a:path>
            </a:pathLst>
          </a:custGeom>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a:t>
            </a:r>
            <a:endParaRPr lang="en-NL" sz="1600" kern="1200" dirty="0"/>
          </a:p>
        </p:txBody>
      </p:sp>
      <p:sp>
        <p:nvSpPr>
          <p:cNvPr id="4" name="Slide Number Placeholder 3">
            <a:extLst>
              <a:ext uri="{FF2B5EF4-FFF2-40B4-BE49-F238E27FC236}">
                <a16:creationId xmlns:a16="http://schemas.microsoft.com/office/drawing/2014/main" id="{986881E5-227B-5340-4484-0AD6195CAE39}"/>
              </a:ext>
            </a:extLst>
          </p:cNvPr>
          <p:cNvSpPr>
            <a:spLocks noGrp="1"/>
          </p:cNvSpPr>
          <p:nvPr>
            <p:ph type="sldNum" sz="quarter" idx="12"/>
          </p:nvPr>
        </p:nvSpPr>
        <p:spPr/>
        <p:txBody>
          <a:bodyPr/>
          <a:lstStyle/>
          <a:p>
            <a:fld id="{4FAB73BC-B049-4115-A692-8D63A059BFB8}" type="slidenum">
              <a:rPr lang="en-US" smtClean="0"/>
              <a:pPr/>
              <a:t>11</a:t>
            </a:fld>
            <a:endParaRPr lang="en-US" dirty="0"/>
          </a:p>
        </p:txBody>
      </p:sp>
      <p:sp>
        <p:nvSpPr>
          <p:cNvPr id="6" name="Content Placeholder 2">
            <a:extLst>
              <a:ext uri="{FF2B5EF4-FFF2-40B4-BE49-F238E27FC236}">
                <a16:creationId xmlns:a16="http://schemas.microsoft.com/office/drawing/2014/main" id="{3F168FFB-0632-A9C5-38BB-25E0106FBE21}"/>
              </a:ext>
            </a:extLst>
          </p:cNvPr>
          <p:cNvSpPr txBox="1">
            <a:spLocks/>
          </p:cNvSpPr>
          <p:nvPr/>
        </p:nvSpPr>
        <p:spPr>
          <a:xfrm>
            <a:off x="695326" y="1628776"/>
            <a:ext cx="3733800" cy="4321174"/>
          </a:xfrm>
          <a:prstGeom prst="rect">
            <a:avLst/>
          </a:prstGeom>
        </p:spPr>
        <p:txBody>
          <a:bodyPr vert="horz" lIns="45720" tIns="45720" rIns="45720" bIns="45720" rtlCol="0">
            <a:normAutofit/>
          </a:bodyPr>
          <a:lstStyle>
            <a:lvl1pPr marL="91440" indent="360000" algn="l" defTabSz="914400" rtl="0" eaLnBrk="1" latinLnBrk="0" hangingPunct="1">
              <a:lnSpc>
                <a:spcPct val="105000"/>
              </a:lnSpc>
              <a:spcBef>
                <a:spcPts val="600"/>
              </a:spcBef>
              <a:spcAft>
                <a:spcPts val="600"/>
              </a:spcAft>
              <a:buClr>
                <a:schemeClr val="tx1"/>
              </a:buClr>
              <a:buSzPct val="115000"/>
              <a:buFont typeface="Arial" panose="020B0604020202020204" pitchFamily="34" charset="0"/>
              <a:buChar char="•"/>
              <a:defRPr sz="2400" kern="1200">
                <a:solidFill>
                  <a:schemeClr val="tx1"/>
                </a:solidFill>
                <a:latin typeface="Aptos" panose="020B0004020202020204" pitchFamily="34" charset="0"/>
                <a:ea typeface="+mn-ea"/>
                <a:cs typeface="+mn-cs"/>
              </a:defRPr>
            </a:lvl1pPr>
            <a:lvl2pPr marL="265176" indent="360000" algn="l" defTabSz="914400" rtl="0" eaLnBrk="1" latinLnBrk="0" hangingPunct="1">
              <a:lnSpc>
                <a:spcPct val="105000"/>
              </a:lnSpc>
              <a:spcBef>
                <a:spcPts val="600"/>
              </a:spcBef>
              <a:spcAft>
                <a:spcPts val="600"/>
              </a:spcAft>
              <a:buClr>
                <a:schemeClr val="tx1"/>
              </a:buClr>
              <a:buSzPct val="115000"/>
              <a:buFont typeface="Arial" panose="020B0604020202020204" pitchFamily="34" charset="0"/>
              <a:buChar char="•"/>
              <a:defRPr sz="2000" kern="1200">
                <a:solidFill>
                  <a:schemeClr val="tx1"/>
                </a:solidFill>
                <a:latin typeface="Aptos" panose="020B0004020202020204" pitchFamily="34" charset="0"/>
                <a:ea typeface="+mn-ea"/>
                <a:cs typeface="+mn-cs"/>
              </a:defRPr>
            </a:lvl2pPr>
            <a:lvl3pPr marL="448056" indent="360000" algn="l" defTabSz="914400" rtl="0" eaLnBrk="1" latinLnBrk="0" hangingPunct="1">
              <a:lnSpc>
                <a:spcPct val="105000"/>
              </a:lnSpc>
              <a:spcBef>
                <a:spcPts val="600"/>
              </a:spcBef>
              <a:spcAft>
                <a:spcPts val="600"/>
              </a:spcAft>
              <a:buClr>
                <a:schemeClr val="tx1"/>
              </a:buClr>
              <a:buSzPct val="115000"/>
              <a:buFont typeface="Arial" panose="020B0604020202020204" pitchFamily="34" charset="0"/>
              <a:buChar char="•"/>
              <a:defRPr sz="1600" kern="1200">
                <a:solidFill>
                  <a:schemeClr val="tx1"/>
                </a:solidFill>
                <a:latin typeface="Aptos" panose="020B0004020202020204" pitchFamily="34" charset="0"/>
                <a:ea typeface="+mn-ea"/>
                <a:cs typeface="+mn-cs"/>
              </a:defRPr>
            </a:lvl3pPr>
            <a:lvl4pPr marL="594360" indent="360000" algn="l" defTabSz="914400" rtl="0" eaLnBrk="1" latinLnBrk="0" hangingPunct="1">
              <a:lnSpc>
                <a:spcPct val="105000"/>
              </a:lnSpc>
              <a:spcBef>
                <a:spcPts val="600"/>
              </a:spcBef>
              <a:spcAft>
                <a:spcPts val="600"/>
              </a:spcAft>
              <a:buClr>
                <a:schemeClr val="tx1"/>
              </a:buClr>
              <a:buSzPct val="115000"/>
              <a:buFont typeface="Arial" panose="020B0604020202020204" pitchFamily="34" charset="0"/>
              <a:buChar char="•"/>
              <a:defRPr sz="1600" kern="1200">
                <a:solidFill>
                  <a:schemeClr val="tx1"/>
                </a:solidFill>
                <a:latin typeface="Aptos" panose="020B0004020202020204" pitchFamily="34" charset="0"/>
                <a:ea typeface="+mn-ea"/>
                <a:cs typeface="+mn-cs"/>
              </a:defRPr>
            </a:lvl4pPr>
            <a:lvl5pPr marL="777240" indent="360000" algn="l" defTabSz="914400" rtl="0" eaLnBrk="1" latinLnBrk="0" hangingPunct="1">
              <a:lnSpc>
                <a:spcPct val="105000"/>
              </a:lnSpc>
              <a:spcBef>
                <a:spcPts val="600"/>
              </a:spcBef>
              <a:spcAft>
                <a:spcPts val="0"/>
              </a:spcAft>
              <a:buClr>
                <a:schemeClr val="tx1"/>
              </a:buClr>
              <a:buSzPct val="115000"/>
              <a:buFont typeface="Arial" panose="020B0604020202020204" pitchFamily="34" charset="0"/>
              <a:buChar char="•"/>
              <a:defRPr sz="1600" kern="1200">
                <a:solidFill>
                  <a:schemeClr val="tx1"/>
                </a:solidFill>
                <a:latin typeface="Aptos" panose="020B0004020202020204" pitchFamily="34" charset="0"/>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sz="2000" dirty="0"/>
              <a:t>Sex and Gender are not single, uniform meanings; each branches into multiple interpretations/specializations.</a:t>
            </a:r>
          </a:p>
          <a:p>
            <a:r>
              <a:rPr lang="en-US" sz="2000" dirty="0"/>
              <a:t>Before comparing dataset variables, we must distinguish which specialization a concept actually refers to.</a:t>
            </a:r>
            <a:endParaRPr lang="en-NL" sz="2000" dirty="0"/>
          </a:p>
        </p:txBody>
      </p:sp>
      <p:grpSp>
        <p:nvGrpSpPr>
          <p:cNvPr id="37" name="Group 36">
            <a:extLst>
              <a:ext uri="{FF2B5EF4-FFF2-40B4-BE49-F238E27FC236}">
                <a16:creationId xmlns:a16="http://schemas.microsoft.com/office/drawing/2014/main" id="{F8DB9E58-D495-C009-3F1E-1CB6B001DA6F}"/>
              </a:ext>
            </a:extLst>
          </p:cNvPr>
          <p:cNvGrpSpPr/>
          <p:nvPr/>
        </p:nvGrpSpPr>
        <p:grpSpPr>
          <a:xfrm>
            <a:off x="5111999" y="2100997"/>
            <a:ext cx="1551600" cy="1152000"/>
            <a:chOff x="5143498" y="2009366"/>
            <a:chExt cx="1551600" cy="1152000"/>
          </a:xfrm>
        </p:grpSpPr>
        <p:sp>
          <p:nvSpPr>
            <p:cNvPr id="28" name="Rectangle 27">
              <a:extLst>
                <a:ext uri="{FF2B5EF4-FFF2-40B4-BE49-F238E27FC236}">
                  <a16:creationId xmlns:a16="http://schemas.microsoft.com/office/drawing/2014/main" id="{CBB7A0DB-4B74-08CF-6FF9-BD5302671E95}"/>
                </a:ext>
              </a:extLst>
            </p:cNvPr>
            <p:cNvSpPr/>
            <p:nvPr/>
          </p:nvSpPr>
          <p:spPr>
            <a:xfrm>
              <a:off x="5143498" y="2009366"/>
              <a:ext cx="1551600" cy="1152000"/>
            </a:xfrm>
            <a:prstGeom prst="rect">
              <a:avLst/>
            </a:prstGeom>
            <a:noFill/>
            <a:ln w="412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9" name="Rectangle 28">
              <a:extLst>
                <a:ext uri="{FF2B5EF4-FFF2-40B4-BE49-F238E27FC236}">
                  <a16:creationId xmlns:a16="http://schemas.microsoft.com/office/drawing/2014/main" id="{2CB8052D-75EE-F7D2-1761-D8D12E13CFB4}"/>
                </a:ext>
              </a:extLst>
            </p:cNvPr>
            <p:cNvSpPr/>
            <p:nvPr/>
          </p:nvSpPr>
          <p:spPr>
            <a:xfrm>
              <a:off x="5143498" y="2014112"/>
              <a:ext cx="1551600" cy="398897"/>
            </a:xfrm>
            <a:prstGeom prst="rect">
              <a:avLst/>
            </a:prstGeom>
            <a:solidFill>
              <a:schemeClr val="accent1">
                <a:lumMod val="20000"/>
                <a:lumOff val="80000"/>
              </a:schemeClr>
            </a:solidFill>
            <a:ln w="412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b="1" dirty="0" err="1">
                  <a:solidFill>
                    <a:schemeClr val="tx1"/>
                  </a:solidFill>
                </a:rPr>
                <a:t>care-sm:Sex</a:t>
              </a:r>
              <a:endParaRPr lang="en-NL" sz="1000" dirty="0">
                <a:solidFill>
                  <a:schemeClr val="tx1"/>
                </a:solidFill>
              </a:endParaRPr>
            </a:p>
            <a:p>
              <a:r>
                <a:rPr lang="en-US" sz="1000" b="1" dirty="0">
                  <a:solidFill>
                    <a:schemeClr val="tx1"/>
                  </a:solidFill>
                </a:rPr>
                <a:t>("Biological sex"@</a:t>
              </a:r>
              <a:r>
                <a:rPr lang="en-US" sz="1000" b="1" dirty="0" err="1">
                  <a:solidFill>
                    <a:schemeClr val="tx1"/>
                  </a:solidFill>
                </a:rPr>
                <a:t>en</a:t>
              </a:r>
              <a:r>
                <a:rPr lang="en-US" sz="1000" b="1" dirty="0">
                  <a:solidFill>
                    <a:schemeClr val="tx1"/>
                  </a:solidFill>
                </a:rPr>
                <a:t>)</a:t>
              </a:r>
              <a:endParaRPr lang="en-NL" sz="1000" dirty="0">
                <a:solidFill>
                  <a:schemeClr val="tx1"/>
                </a:solidFill>
                <a:effectLst/>
              </a:endParaRPr>
            </a:p>
          </p:txBody>
        </p:sp>
      </p:grpSp>
      <p:grpSp>
        <p:nvGrpSpPr>
          <p:cNvPr id="39" name="Group 38">
            <a:extLst>
              <a:ext uri="{FF2B5EF4-FFF2-40B4-BE49-F238E27FC236}">
                <a16:creationId xmlns:a16="http://schemas.microsoft.com/office/drawing/2014/main" id="{0A955DB8-1DD7-13D5-31F0-A91FB41F8C00}"/>
              </a:ext>
            </a:extLst>
          </p:cNvPr>
          <p:cNvGrpSpPr/>
          <p:nvPr/>
        </p:nvGrpSpPr>
        <p:grpSpPr>
          <a:xfrm>
            <a:off x="8556802" y="3024915"/>
            <a:ext cx="1552918" cy="1152000"/>
            <a:chOff x="8585377" y="2996340"/>
            <a:chExt cx="1552918" cy="1152000"/>
          </a:xfrm>
        </p:grpSpPr>
        <p:sp>
          <p:nvSpPr>
            <p:cNvPr id="31" name="Rectangle 30">
              <a:extLst>
                <a:ext uri="{FF2B5EF4-FFF2-40B4-BE49-F238E27FC236}">
                  <a16:creationId xmlns:a16="http://schemas.microsoft.com/office/drawing/2014/main" id="{73F8E7AA-60D4-87CE-6031-F6C6271EF98A}"/>
                </a:ext>
              </a:extLst>
            </p:cNvPr>
            <p:cNvSpPr/>
            <p:nvPr/>
          </p:nvSpPr>
          <p:spPr>
            <a:xfrm>
              <a:off x="8585377" y="2996340"/>
              <a:ext cx="1552918" cy="1152000"/>
            </a:xfrm>
            <a:prstGeom prst="rect">
              <a:avLst/>
            </a:prstGeom>
            <a:noFill/>
            <a:ln w="412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2" name="Rectangle 31">
              <a:extLst>
                <a:ext uri="{FF2B5EF4-FFF2-40B4-BE49-F238E27FC236}">
                  <a16:creationId xmlns:a16="http://schemas.microsoft.com/office/drawing/2014/main" id="{F356F813-89E9-718B-782F-3F9EFFF53110}"/>
                </a:ext>
              </a:extLst>
            </p:cNvPr>
            <p:cNvSpPr/>
            <p:nvPr/>
          </p:nvSpPr>
          <p:spPr>
            <a:xfrm>
              <a:off x="8585377" y="2996340"/>
              <a:ext cx="1552918" cy="398897"/>
            </a:xfrm>
            <a:prstGeom prst="rect">
              <a:avLst/>
            </a:prstGeom>
            <a:solidFill>
              <a:schemeClr val="accent2">
                <a:lumMod val="20000"/>
                <a:lumOff val="80000"/>
              </a:schemeClr>
            </a:solidFill>
            <a:ln w="412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r>
                <a:rPr lang="en-US" sz="900" b="1" dirty="0">
                  <a:solidFill>
                    <a:schemeClr val="tx1"/>
                  </a:solidFill>
                </a:rPr>
                <a:t>  loinc:107454-1</a:t>
              </a:r>
              <a:endParaRPr lang="en-NL" sz="900" dirty="0">
                <a:solidFill>
                  <a:schemeClr val="tx1"/>
                </a:solidFill>
              </a:endParaRPr>
            </a:p>
            <a:p>
              <a:r>
                <a:rPr lang="en-US" sz="900" b="1" dirty="0">
                  <a:solidFill>
                    <a:schemeClr val="tx1"/>
                  </a:solidFill>
                </a:rPr>
                <a:t>("Administrative gender"@</a:t>
              </a:r>
              <a:r>
                <a:rPr lang="en-US" sz="900" b="1" dirty="0" err="1">
                  <a:solidFill>
                    <a:schemeClr val="tx1"/>
                  </a:solidFill>
                </a:rPr>
                <a:t>en</a:t>
              </a:r>
              <a:r>
                <a:rPr lang="en-US" sz="900" b="1" dirty="0">
                  <a:solidFill>
                    <a:schemeClr val="tx1"/>
                  </a:solidFill>
                </a:rPr>
                <a:t>)</a:t>
              </a:r>
              <a:endParaRPr lang="en-NL" sz="900" dirty="0">
                <a:solidFill>
                  <a:schemeClr val="tx1"/>
                </a:solidFill>
                <a:effectLst/>
              </a:endParaRPr>
            </a:p>
          </p:txBody>
        </p:sp>
      </p:grpSp>
      <p:sp>
        <p:nvSpPr>
          <p:cNvPr id="33" name="Freeform: Shape 32">
            <a:extLst>
              <a:ext uri="{FF2B5EF4-FFF2-40B4-BE49-F238E27FC236}">
                <a16:creationId xmlns:a16="http://schemas.microsoft.com/office/drawing/2014/main" id="{2AFBF8BF-F5BC-18EF-7CB7-AFBEC6E7CCA1}"/>
              </a:ext>
            </a:extLst>
          </p:cNvPr>
          <p:cNvSpPr/>
          <p:nvPr/>
        </p:nvSpPr>
        <p:spPr>
          <a:xfrm>
            <a:off x="9460875" y="4128026"/>
            <a:ext cx="91440" cy="269514"/>
          </a:xfrm>
          <a:custGeom>
            <a:avLst/>
            <a:gdLst/>
            <a:ahLst/>
            <a:cxnLst/>
            <a:rect l="0" t="0" r="0" b="0"/>
            <a:pathLst>
              <a:path>
                <a:moveTo>
                  <a:pt x="45720" y="0"/>
                </a:moveTo>
                <a:lnTo>
                  <a:pt x="45720" y="269514"/>
                </a:lnTo>
              </a:path>
            </a:pathLst>
          </a:custGeom>
          <a:noFill/>
        </p:spPr>
        <p:style>
          <a:lnRef idx="1">
            <a:schemeClr val="accent5">
              <a:hueOff val="0"/>
              <a:satOff val="0"/>
              <a:lumOff val="0"/>
              <a:alphaOff val="0"/>
            </a:schemeClr>
          </a:lnRef>
          <a:fillRef idx="0">
            <a:scrgbClr r="0" g="0" b="0"/>
          </a:fillRef>
          <a:effectRef idx="0">
            <a:schemeClr val="accent2">
              <a:tint val="70000"/>
              <a:hueOff val="0"/>
              <a:satOff val="0"/>
              <a:lumOff val="0"/>
              <a:alphaOff val="0"/>
            </a:schemeClr>
          </a:effectRef>
          <a:fontRef idx="minor">
            <a:schemeClr val="tx1">
              <a:hueOff val="0"/>
              <a:satOff val="0"/>
              <a:lumOff val="0"/>
              <a:alphaOff val="0"/>
            </a:schemeClr>
          </a:fontRef>
        </p:style>
        <p:txBody>
          <a:bodyPr/>
          <a:lstStyle/>
          <a:p>
            <a:endParaRPr lang="en-NL"/>
          </a:p>
        </p:txBody>
      </p:sp>
      <p:grpSp>
        <p:nvGrpSpPr>
          <p:cNvPr id="38" name="Group 37">
            <a:extLst>
              <a:ext uri="{FF2B5EF4-FFF2-40B4-BE49-F238E27FC236}">
                <a16:creationId xmlns:a16="http://schemas.microsoft.com/office/drawing/2014/main" id="{37E8FCA7-0DEE-707A-183B-CB048EE35972}"/>
              </a:ext>
            </a:extLst>
          </p:cNvPr>
          <p:cNvGrpSpPr/>
          <p:nvPr/>
        </p:nvGrpSpPr>
        <p:grpSpPr>
          <a:xfrm>
            <a:off x="8849287" y="3934893"/>
            <a:ext cx="1551600" cy="1152000"/>
            <a:chOff x="7038287" y="2996339"/>
            <a:chExt cx="1551600" cy="1152000"/>
          </a:xfrm>
        </p:grpSpPr>
        <p:sp>
          <p:nvSpPr>
            <p:cNvPr id="35" name="Rectangle 34">
              <a:extLst>
                <a:ext uri="{FF2B5EF4-FFF2-40B4-BE49-F238E27FC236}">
                  <a16:creationId xmlns:a16="http://schemas.microsoft.com/office/drawing/2014/main" id="{AE87E5D4-DABC-00F0-C0C5-7692DA92CCEA}"/>
                </a:ext>
              </a:extLst>
            </p:cNvPr>
            <p:cNvSpPr/>
            <p:nvPr/>
          </p:nvSpPr>
          <p:spPr>
            <a:xfrm>
              <a:off x="7038287" y="2996339"/>
              <a:ext cx="1551600" cy="1152000"/>
            </a:xfrm>
            <a:prstGeom prst="rect">
              <a:avLst/>
            </a:prstGeom>
            <a:noFill/>
            <a:ln w="41275">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Rectangle 35">
              <a:extLst>
                <a:ext uri="{FF2B5EF4-FFF2-40B4-BE49-F238E27FC236}">
                  <a16:creationId xmlns:a16="http://schemas.microsoft.com/office/drawing/2014/main" id="{C7ACF39D-93CA-E983-96EF-5ACB96BB750D}"/>
                </a:ext>
              </a:extLst>
            </p:cNvPr>
            <p:cNvSpPr/>
            <p:nvPr/>
          </p:nvSpPr>
          <p:spPr>
            <a:xfrm>
              <a:off x="7038287" y="2996340"/>
              <a:ext cx="1551600" cy="398897"/>
            </a:xfrm>
            <a:prstGeom prst="rect">
              <a:avLst/>
            </a:prstGeom>
            <a:solidFill>
              <a:schemeClr val="accent4">
                <a:lumMod val="20000"/>
                <a:lumOff val="80000"/>
              </a:schemeClr>
            </a:solidFill>
            <a:ln w="41275">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b="1" dirty="0" err="1">
                  <a:solidFill>
                    <a:schemeClr val="tx1"/>
                  </a:solidFill>
                </a:rPr>
                <a:t>openehr:legal-gender</a:t>
              </a:r>
              <a:endParaRPr lang="en-NL" sz="1000" dirty="0">
                <a:solidFill>
                  <a:schemeClr val="tx1"/>
                </a:solidFill>
              </a:endParaRPr>
            </a:p>
            <a:p>
              <a:r>
                <a:rPr lang="en-US" sz="1000" b="1" dirty="0">
                  <a:solidFill>
                    <a:schemeClr val="tx1"/>
                  </a:solidFill>
                </a:rPr>
                <a:t>("Legal gender"@</a:t>
              </a:r>
              <a:r>
                <a:rPr lang="en-US" sz="1000" b="1" dirty="0" err="1">
                  <a:solidFill>
                    <a:schemeClr val="tx1"/>
                  </a:solidFill>
                </a:rPr>
                <a:t>en</a:t>
              </a:r>
              <a:r>
                <a:rPr lang="en-US" sz="1000" b="1" dirty="0">
                  <a:solidFill>
                    <a:schemeClr val="tx1"/>
                  </a:solidFill>
                </a:rPr>
                <a:t>)</a:t>
              </a:r>
              <a:endParaRPr lang="en-NL" sz="1000" dirty="0">
                <a:solidFill>
                  <a:schemeClr val="tx1"/>
                </a:solidFill>
              </a:endParaRPr>
            </a:p>
          </p:txBody>
        </p:sp>
      </p:grpSp>
      <p:sp>
        <p:nvSpPr>
          <p:cNvPr id="5" name="TextBox 4">
            <a:extLst>
              <a:ext uri="{FF2B5EF4-FFF2-40B4-BE49-F238E27FC236}">
                <a16:creationId xmlns:a16="http://schemas.microsoft.com/office/drawing/2014/main" id="{1F3F3376-F747-5E5F-A0E2-E3242D0E9BC6}"/>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a:t>
            </a:r>
            <a:r>
              <a:rPr lang="en-US" sz="1200" b="1" cap="small" spc="100" dirty="0">
                <a:solidFill>
                  <a:srgbClr val="000000">
                    <a:lumMod val="95000"/>
                    <a:lumOff val="5000"/>
                  </a:srgbClr>
                </a:solidFill>
                <a:latin typeface="Aptos" panose="020B0004020202020204" pitchFamily="34" charset="0"/>
                <a:ea typeface="+mj-ea"/>
                <a:cs typeface="+mj-cs"/>
              </a:rPr>
              <a:t>1</a:t>
            </a:r>
            <a:endParaRPr lang="en-NL" sz="1000" b="1" dirty="0"/>
          </a:p>
        </p:txBody>
      </p:sp>
    </p:spTree>
    <p:extLst>
      <p:ext uri="{BB962C8B-B14F-4D97-AF65-F5344CB8AC3E}">
        <p14:creationId xmlns:p14="http://schemas.microsoft.com/office/powerpoint/2010/main" val="7890284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00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500"/>
                                        <p:tgtEl>
                                          <p:spTgt spid="37"/>
                                        </p:tgtEl>
                                      </p:cBhvr>
                                    </p:animEffect>
                                  </p:childTnLst>
                                </p:cTn>
                              </p:par>
                            </p:childTnLst>
                          </p:cTn>
                        </p:par>
                        <p:par>
                          <p:cTn id="8" fill="hold">
                            <p:stCondLst>
                              <p:cond delay="2500"/>
                            </p:stCondLst>
                            <p:childTnLst>
                              <p:par>
                                <p:cTn id="9" presetID="10" presetClass="entr" presetSubtype="0" fill="hold" nodeType="afterEffect">
                                  <p:stCondLst>
                                    <p:cond delay="0"/>
                                  </p:stCondLst>
                                  <p:childTnLst>
                                    <p:set>
                                      <p:cBhvr>
                                        <p:cTn id="10" dur="1" fill="hold">
                                          <p:stCondLst>
                                            <p:cond delay="0"/>
                                          </p:stCondLst>
                                        </p:cTn>
                                        <p:tgtEl>
                                          <p:spTgt spid="38"/>
                                        </p:tgtEl>
                                        <p:attrNameLst>
                                          <p:attrName>style.visibility</p:attrName>
                                        </p:attrNameLst>
                                      </p:cBhvr>
                                      <p:to>
                                        <p:strVal val="visible"/>
                                      </p:to>
                                    </p:set>
                                    <p:animEffect transition="in" filter="fade">
                                      <p:cBhvr>
                                        <p:cTn id="11" dur="500"/>
                                        <p:tgtEl>
                                          <p:spTgt spid="38"/>
                                        </p:tgtEl>
                                      </p:cBhvr>
                                    </p:animEffect>
                                  </p:childTnLst>
                                </p:cTn>
                              </p:par>
                            </p:childTnLst>
                          </p:cTn>
                        </p:par>
                        <p:par>
                          <p:cTn id="12" fill="hold">
                            <p:stCondLst>
                              <p:cond delay="3000"/>
                            </p:stCondLst>
                            <p:childTnLst>
                              <p:par>
                                <p:cTn id="13" presetID="10" presetClass="entr" presetSubtype="0" fill="hold" nodeType="afterEffect">
                                  <p:stCondLst>
                                    <p:cond delay="0"/>
                                  </p:stCondLst>
                                  <p:childTnLst>
                                    <p:set>
                                      <p:cBhvr>
                                        <p:cTn id="14" dur="1" fill="hold">
                                          <p:stCondLst>
                                            <p:cond delay="0"/>
                                          </p:stCondLst>
                                        </p:cTn>
                                        <p:tgtEl>
                                          <p:spTgt spid="39"/>
                                        </p:tgtEl>
                                        <p:attrNameLst>
                                          <p:attrName>style.visibility</p:attrName>
                                        </p:attrNameLst>
                                      </p:cBhvr>
                                      <p:to>
                                        <p:strVal val="visible"/>
                                      </p:to>
                                    </p:set>
                                    <p:animEffect transition="in" filter="fade">
                                      <p:cBhvr>
                                        <p:cTn id="15"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310D6357-FEDA-07C4-2E79-87293B89911C}"/>
              </a:ext>
            </a:extLst>
          </p:cNvPr>
          <p:cNvSpPr/>
          <p:nvPr/>
        </p:nvSpPr>
        <p:spPr>
          <a:xfrm>
            <a:off x="695325" y="2320417"/>
            <a:ext cx="10801348" cy="3633279"/>
          </a:xfrm>
          <a:prstGeom prst="rect">
            <a:avLst/>
          </a:prstGeom>
          <a:solidFill>
            <a:schemeClr val="bg1">
              <a:lumMod val="95000"/>
            </a:schemeClr>
          </a:solidFill>
        </p:spPr>
        <p:style>
          <a:lnRef idx="2">
            <a:schemeClr val="lt1">
              <a:hueOff val="0"/>
              <a:satOff val="0"/>
              <a:lumOff val="0"/>
              <a:alphaOff val="0"/>
            </a:schemeClr>
          </a:lnRef>
          <a:fillRef idx="1">
            <a:schemeClr val="accent1">
              <a:tint val="50000"/>
              <a:hueOff val="0"/>
              <a:satOff val="0"/>
              <a:lumOff val="0"/>
              <a:alphaOff val="0"/>
            </a:schemeClr>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NL"/>
          </a:p>
        </p:txBody>
      </p:sp>
      <p:sp>
        <p:nvSpPr>
          <p:cNvPr id="4" name="Slide Number Placeholder 3">
            <a:extLst>
              <a:ext uri="{FF2B5EF4-FFF2-40B4-BE49-F238E27FC236}">
                <a16:creationId xmlns:a16="http://schemas.microsoft.com/office/drawing/2014/main" id="{3266A207-478C-85D4-AE06-3A4DA77082F9}"/>
              </a:ext>
            </a:extLst>
          </p:cNvPr>
          <p:cNvSpPr>
            <a:spLocks noGrp="1"/>
          </p:cNvSpPr>
          <p:nvPr>
            <p:ph type="sldNum" sz="quarter" idx="12"/>
          </p:nvPr>
        </p:nvSpPr>
        <p:spPr/>
        <p:txBody>
          <a:bodyPr/>
          <a:lstStyle/>
          <a:p>
            <a:fld id="{4FAB73BC-B049-4115-A692-8D63A059BFB8}" type="slidenum">
              <a:rPr lang="en-US" smtClean="0"/>
              <a:pPr/>
              <a:t>12</a:t>
            </a:fld>
            <a:endParaRPr lang="en-US" dirty="0"/>
          </a:p>
        </p:txBody>
      </p:sp>
      <p:sp>
        <p:nvSpPr>
          <p:cNvPr id="31" name="Freeform: Shape 30">
            <a:extLst>
              <a:ext uri="{FF2B5EF4-FFF2-40B4-BE49-F238E27FC236}">
                <a16:creationId xmlns:a16="http://schemas.microsoft.com/office/drawing/2014/main" id="{43B1D888-2C0A-2891-438B-A84D3B4E488D}"/>
              </a:ext>
            </a:extLst>
          </p:cNvPr>
          <p:cNvSpPr/>
          <p:nvPr/>
        </p:nvSpPr>
        <p:spPr>
          <a:xfrm>
            <a:off x="695325" y="1627628"/>
            <a:ext cx="10801349" cy="625636"/>
          </a:xfrm>
          <a:custGeom>
            <a:avLst/>
            <a:gdLst>
              <a:gd name="csX0" fmla="*/ 0 w 4438051"/>
              <a:gd name="csY0" fmla="*/ 0 h 647514"/>
              <a:gd name="csX1" fmla="*/ 4438051 w 4438051"/>
              <a:gd name="csY1" fmla="*/ 0 h 647514"/>
              <a:gd name="csX2" fmla="*/ 4438051 w 4438051"/>
              <a:gd name="csY2" fmla="*/ 647514 h 647514"/>
              <a:gd name="csX3" fmla="*/ 0 w 4438051"/>
              <a:gd name="csY3" fmla="*/ 647514 h 647514"/>
              <a:gd name="csX4" fmla="*/ 0 w 4438051"/>
              <a:gd name="csY4" fmla="*/ 0 h 647514"/>
            </a:gdLst>
            <a:ahLst/>
            <a:cxnLst>
              <a:cxn ang="0">
                <a:pos x="csX0" y="csY0"/>
              </a:cxn>
              <a:cxn ang="0">
                <a:pos x="csX1" y="csY1"/>
              </a:cxn>
              <a:cxn ang="0">
                <a:pos x="csX2" y="csY2"/>
              </a:cxn>
              <a:cxn ang="0">
                <a:pos x="csX3" y="csY3"/>
              </a:cxn>
              <a:cxn ang="0">
                <a:pos x="csX4" y="csY4"/>
              </a:cxn>
            </a:cxnLst>
            <a:rect l="l" t="t" r="r" b="b"/>
            <a:pathLst>
              <a:path w="4438051" h="647514">
                <a:moveTo>
                  <a:pt x="0" y="0"/>
                </a:moveTo>
                <a:lnTo>
                  <a:pt x="4438051" y="0"/>
                </a:lnTo>
                <a:lnTo>
                  <a:pt x="4438051" y="647514"/>
                </a:lnTo>
                <a:lnTo>
                  <a:pt x="0" y="647514"/>
                </a:lnTo>
                <a:lnTo>
                  <a:pt x="0" y="0"/>
                </a:lnTo>
                <a:close/>
              </a:path>
            </a:pathLst>
          </a:cu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2000" b="1" kern="1200" dirty="0">
                <a:solidFill>
                  <a:schemeClr val="accent1"/>
                </a:solidFill>
              </a:rPr>
              <a:t>The Health-RI Semantic Interoperability Initiative</a:t>
            </a:r>
            <a:endParaRPr lang="en-NL" sz="2000" b="1" kern="1200" dirty="0"/>
          </a:p>
        </p:txBody>
      </p:sp>
      <p:sp>
        <p:nvSpPr>
          <p:cNvPr id="5" name="Callout: Bent Line with Border and Accent Bar 4">
            <a:extLst>
              <a:ext uri="{FF2B5EF4-FFF2-40B4-BE49-F238E27FC236}">
                <a16:creationId xmlns:a16="http://schemas.microsoft.com/office/drawing/2014/main" id="{26BE1A22-1967-E8D6-6B43-503E4587FA22}"/>
              </a:ext>
            </a:extLst>
          </p:cNvPr>
          <p:cNvSpPr/>
          <p:nvPr/>
        </p:nvSpPr>
        <p:spPr>
          <a:xfrm flipH="1">
            <a:off x="2390284" y="2613062"/>
            <a:ext cx="1884698" cy="1089388"/>
          </a:xfrm>
          <a:prstGeom prst="accentBorderCallout2">
            <a:avLst>
              <a:gd name="adj1" fmla="val 18750"/>
              <a:gd name="adj2" fmla="val -8333"/>
              <a:gd name="adj3" fmla="val 18750"/>
              <a:gd name="adj4" fmla="val -16667"/>
              <a:gd name="adj5" fmla="val 69622"/>
              <a:gd name="adj6" fmla="val -52586"/>
            </a:avLst>
          </a:prstGeom>
          <a:solidFill>
            <a:schemeClr val="bg1">
              <a:lumMod val="95000"/>
            </a:schemeClr>
          </a:solidFill>
          <a:ln w="19050">
            <a:solidFill>
              <a:schemeClr val="bg1">
                <a:lumMod val="50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en-NL"/>
          </a:p>
        </p:txBody>
      </p:sp>
      <p:sp>
        <p:nvSpPr>
          <p:cNvPr id="6" name="Callout: Bent Line with Border and Accent Bar 5">
            <a:extLst>
              <a:ext uri="{FF2B5EF4-FFF2-40B4-BE49-F238E27FC236}">
                <a16:creationId xmlns:a16="http://schemas.microsoft.com/office/drawing/2014/main" id="{05B9FEC4-4F20-6DC7-8A86-99BA8947A418}"/>
              </a:ext>
            </a:extLst>
          </p:cNvPr>
          <p:cNvSpPr/>
          <p:nvPr/>
        </p:nvSpPr>
        <p:spPr>
          <a:xfrm>
            <a:off x="7887488" y="4655497"/>
            <a:ext cx="1884699" cy="1089388"/>
          </a:xfrm>
          <a:prstGeom prst="accentBorderCallout2">
            <a:avLst>
              <a:gd name="adj1" fmla="val 84593"/>
              <a:gd name="adj2" fmla="val -7926"/>
              <a:gd name="adj3" fmla="val 84381"/>
              <a:gd name="adj4" fmla="val -21082"/>
              <a:gd name="adj5" fmla="val 32889"/>
              <a:gd name="adj6" fmla="val -54287"/>
            </a:avLst>
          </a:prstGeom>
          <a:solidFill>
            <a:schemeClr val="bg1">
              <a:lumMod val="95000"/>
            </a:schemeClr>
          </a:solidFill>
          <a:ln w="19050">
            <a:solidFill>
              <a:schemeClr val="bg1">
                <a:lumMod val="50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en-NL"/>
          </a:p>
        </p:txBody>
      </p:sp>
      <p:sp>
        <p:nvSpPr>
          <p:cNvPr id="7" name="Callout: Bent Line with Border and Accent Bar 6">
            <a:extLst>
              <a:ext uri="{FF2B5EF4-FFF2-40B4-BE49-F238E27FC236}">
                <a16:creationId xmlns:a16="http://schemas.microsoft.com/office/drawing/2014/main" id="{DD177AD9-4A5F-D1CB-EB39-FA383430951D}"/>
              </a:ext>
            </a:extLst>
          </p:cNvPr>
          <p:cNvSpPr/>
          <p:nvPr/>
        </p:nvSpPr>
        <p:spPr>
          <a:xfrm>
            <a:off x="7887488" y="2617427"/>
            <a:ext cx="1884698" cy="1089388"/>
          </a:xfrm>
          <a:prstGeom prst="accentBorderCallout2">
            <a:avLst>
              <a:gd name="adj1" fmla="val 18750"/>
              <a:gd name="adj2" fmla="val -8333"/>
              <a:gd name="adj3" fmla="val 18750"/>
              <a:gd name="adj4" fmla="val -16667"/>
              <a:gd name="adj5" fmla="val 69622"/>
              <a:gd name="adj6" fmla="val -52586"/>
            </a:avLst>
          </a:prstGeom>
          <a:solidFill>
            <a:schemeClr val="bg1">
              <a:lumMod val="95000"/>
            </a:schemeClr>
          </a:solidFill>
          <a:ln w="19050">
            <a:solidFill>
              <a:schemeClr val="bg1">
                <a:lumMod val="50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en-NL"/>
          </a:p>
        </p:txBody>
      </p:sp>
      <p:sp>
        <p:nvSpPr>
          <p:cNvPr id="9" name="Freeform: Shape 8">
            <a:extLst>
              <a:ext uri="{FF2B5EF4-FFF2-40B4-BE49-F238E27FC236}">
                <a16:creationId xmlns:a16="http://schemas.microsoft.com/office/drawing/2014/main" id="{96A1B8A6-4BBD-C71A-D1B8-289D428CD592}"/>
              </a:ext>
            </a:extLst>
          </p:cNvPr>
          <p:cNvSpPr/>
          <p:nvPr/>
        </p:nvSpPr>
        <p:spPr>
          <a:xfrm>
            <a:off x="4941618" y="2936040"/>
            <a:ext cx="2380471" cy="2380471"/>
          </a:xfrm>
          <a:custGeom>
            <a:avLst/>
            <a:gdLst>
              <a:gd name="connsiteX0" fmla="*/ 1920240 w 3840480"/>
              <a:gd name="connsiteY0" fmla="*/ 0 h 3840480"/>
              <a:gd name="connsiteX1" fmla="*/ 3583217 w 3840480"/>
              <a:gd name="connsiteY1" fmla="*/ 960120 h 3840480"/>
              <a:gd name="connsiteX2" fmla="*/ 3583217 w 3840480"/>
              <a:gd name="connsiteY2" fmla="*/ 2880360 h 3840480"/>
              <a:gd name="connsiteX3" fmla="*/ 1920240 w 3840480"/>
              <a:gd name="connsiteY3" fmla="*/ 1920240 h 3840480"/>
              <a:gd name="connsiteX4" fmla="*/ 1920240 w 3840480"/>
              <a:gd name="connsiteY4" fmla="*/ 0 h 3840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40480" h="3840480">
                <a:moveTo>
                  <a:pt x="1920240" y="0"/>
                </a:moveTo>
                <a:cubicBezTo>
                  <a:pt x="2606276" y="0"/>
                  <a:pt x="3240199" y="365996"/>
                  <a:pt x="3583217" y="960120"/>
                </a:cubicBezTo>
                <a:cubicBezTo>
                  <a:pt x="3926235" y="1554244"/>
                  <a:pt x="3926235" y="2286236"/>
                  <a:pt x="3583217" y="2880360"/>
                </a:cubicBezTo>
                <a:lnTo>
                  <a:pt x="1920240" y="1920240"/>
                </a:lnTo>
                <a:lnTo>
                  <a:pt x="1920240" y="0"/>
                </a:lnTo>
                <a:close/>
              </a:path>
            </a:pathLst>
          </a:cu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2054505" tIns="844296" rIns="475335" bIns="1914144" numCol="1" spcCol="1270" anchor="ctr" anchorCtr="0">
            <a:noAutofit/>
          </a:bodyPr>
          <a:lstStyle/>
          <a:p>
            <a:pPr marL="0" lvl="0" indent="0" algn="ctr" defTabSz="1066800">
              <a:lnSpc>
                <a:spcPct val="90000"/>
              </a:lnSpc>
              <a:spcBef>
                <a:spcPct val="0"/>
              </a:spcBef>
              <a:spcAft>
                <a:spcPct val="35000"/>
              </a:spcAft>
              <a:buNone/>
            </a:pPr>
            <a:endParaRPr lang="en-US" sz="2800" b="1" kern="1200" dirty="0">
              <a:latin typeface="Neue Haas Grotesk Text Pro Blac" panose="020B0504020202020204" pitchFamily="34" charset="0"/>
            </a:endParaRPr>
          </a:p>
        </p:txBody>
      </p:sp>
      <p:sp>
        <p:nvSpPr>
          <p:cNvPr id="10" name="Freeform: Shape 9">
            <a:extLst>
              <a:ext uri="{FF2B5EF4-FFF2-40B4-BE49-F238E27FC236}">
                <a16:creationId xmlns:a16="http://schemas.microsoft.com/office/drawing/2014/main" id="{F1D024A3-7C4F-C7A7-8F0D-810BAE72C75C}"/>
              </a:ext>
            </a:extLst>
          </p:cNvPr>
          <p:cNvSpPr/>
          <p:nvPr/>
        </p:nvSpPr>
        <p:spPr>
          <a:xfrm>
            <a:off x="4895541" y="3015941"/>
            <a:ext cx="2380471" cy="2380471"/>
          </a:xfrm>
          <a:custGeom>
            <a:avLst/>
            <a:gdLst>
              <a:gd name="connsiteX0" fmla="*/ 3583217 w 3840480"/>
              <a:gd name="connsiteY0" fmla="*/ 2880360 h 3840480"/>
              <a:gd name="connsiteX1" fmla="*/ 1920240 w 3840480"/>
              <a:gd name="connsiteY1" fmla="*/ 3840480 h 3840480"/>
              <a:gd name="connsiteX2" fmla="*/ 257263 w 3840480"/>
              <a:gd name="connsiteY2" fmla="*/ 2880360 h 3840480"/>
              <a:gd name="connsiteX3" fmla="*/ 1920240 w 3840480"/>
              <a:gd name="connsiteY3" fmla="*/ 1920240 h 3840480"/>
              <a:gd name="connsiteX4" fmla="*/ 3583217 w 3840480"/>
              <a:gd name="connsiteY4" fmla="*/ 2880360 h 3840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40480" h="3840480">
                <a:moveTo>
                  <a:pt x="3583217" y="2880360"/>
                </a:moveTo>
                <a:cubicBezTo>
                  <a:pt x="3240199" y="3474484"/>
                  <a:pt x="2606276" y="3840480"/>
                  <a:pt x="1920240" y="3840480"/>
                </a:cubicBezTo>
                <a:cubicBezTo>
                  <a:pt x="1234204" y="3840480"/>
                  <a:pt x="600281" y="3474484"/>
                  <a:pt x="257263" y="2880360"/>
                </a:cubicBezTo>
                <a:lnTo>
                  <a:pt x="1920240" y="1920240"/>
                </a:lnTo>
                <a:lnTo>
                  <a:pt x="3583217" y="2880360"/>
                </a:lnTo>
                <a:close/>
              </a:path>
            </a:pathLst>
          </a:custGeom>
          <a:solidFill>
            <a:srgbClr val="00B0F0"/>
          </a:solidFill>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944880" tIns="2522221" rIns="899160" bIns="373379" numCol="1" spcCol="1270" anchor="t" anchorCtr="0">
            <a:noAutofit/>
          </a:bodyPr>
          <a:lstStyle/>
          <a:p>
            <a:pPr marL="0" lvl="0" indent="0" algn="ctr" defTabSz="1066800">
              <a:lnSpc>
                <a:spcPct val="90000"/>
              </a:lnSpc>
              <a:spcBef>
                <a:spcPct val="0"/>
              </a:spcBef>
              <a:spcAft>
                <a:spcPct val="35000"/>
              </a:spcAft>
              <a:buNone/>
            </a:pPr>
            <a:endParaRPr lang="en-NL" sz="2800" b="1" kern="1200" dirty="0">
              <a:latin typeface="Neue Haas Grotesk Text Pro Blac" panose="020B0504020202020204" pitchFamily="34" charset="0"/>
            </a:endParaRPr>
          </a:p>
        </p:txBody>
      </p:sp>
      <p:sp>
        <p:nvSpPr>
          <p:cNvPr id="11" name="Freeform: Shape 10">
            <a:extLst>
              <a:ext uri="{FF2B5EF4-FFF2-40B4-BE49-F238E27FC236}">
                <a16:creationId xmlns:a16="http://schemas.microsoft.com/office/drawing/2014/main" id="{4EB73CF1-81AD-5F91-32A2-C13D0444C6E3}"/>
              </a:ext>
            </a:extLst>
          </p:cNvPr>
          <p:cNvSpPr/>
          <p:nvPr/>
        </p:nvSpPr>
        <p:spPr>
          <a:xfrm>
            <a:off x="4849464" y="2936040"/>
            <a:ext cx="2380471" cy="2380471"/>
          </a:xfrm>
          <a:custGeom>
            <a:avLst/>
            <a:gdLst>
              <a:gd name="connsiteX0" fmla="*/ 257263 w 3840480"/>
              <a:gd name="connsiteY0" fmla="*/ 2880360 h 3840480"/>
              <a:gd name="connsiteX1" fmla="*/ 257263 w 3840480"/>
              <a:gd name="connsiteY1" fmla="*/ 960120 h 3840480"/>
              <a:gd name="connsiteX2" fmla="*/ 1920240 w 3840480"/>
              <a:gd name="connsiteY2" fmla="*/ 0 h 3840480"/>
              <a:gd name="connsiteX3" fmla="*/ 1920240 w 3840480"/>
              <a:gd name="connsiteY3" fmla="*/ 1920240 h 3840480"/>
              <a:gd name="connsiteX4" fmla="*/ 257263 w 3840480"/>
              <a:gd name="connsiteY4" fmla="*/ 2880360 h 3840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40480" h="3840480">
                <a:moveTo>
                  <a:pt x="257263" y="2880360"/>
                </a:moveTo>
                <a:cubicBezTo>
                  <a:pt x="-85755" y="2286236"/>
                  <a:pt x="-85755" y="1554244"/>
                  <a:pt x="257263" y="960120"/>
                </a:cubicBezTo>
                <a:cubicBezTo>
                  <a:pt x="600281" y="365996"/>
                  <a:pt x="1234204" y="0"/>
                  <a:pt x="1920240" y="0"/>
                </a:cubicBezTo>
                <a:lnTo>
                  <a:pt x="1920240" y="1920240"/>
                </a:lnTo>
                <a:lnTo>
                  <a:pt x="257263" y="2880360"/>
                </a:lnTo>
                <a:close/>
              </a:path>
            </a:pathLst>
          </a:custGeom>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475336" tIns="844296" rIns="2054504" bIns="1914144" numCol="1" spcCol="1270" anchor="ctr" anchorCtr="0">
            <a:noAutofit/>
          </a:bodyPr>
          <a:lstStyle/>
          <a:p>
            <a:pPr marL="0" lvl="0" indent="0" algn="ctr" defTabSz="1066800">
              <a:lnSpc>
                <a:spcPct val="90000"/>
              </a:lnSpc>
              <a:spcBef>
                <a:spcPct val="0"/>
              </a:spcBef>
              <a:spcAft>
                <a:spcPct val="35000"/>
              </a:spcAft>
              <a:buNone/>
            </a:pPr>
            <a:endParaRPr lang="en-NL" sz="2400" kern="1200" dirty="0"/>
          </a:p>
        </p:txBody>
      </p:sp>
      <p:sp>
        <p:nvSpPr>
          <p:cNvPr id="12" name="Arrow: Circular 11">
            <a:extLst>
              <a:ext uri="{FF2B5EF4-FFF2-40B4-BE49-F238E27FC236}">
                <a16:creationId xmlns:a16="http://schemas.microsoft.com/office/drawing/2014/main" id="{CFF18533-F490-BA5B-2FC2-6442476DFD8D}"/>
              </a:ext>
            </a:extLst>
          </p:cNvPr>
          <p:cNvSpPr/>
          <p:nvPr/>
        </p:nvSpPr>
        <p:spPr>
          <a:xfrm>
            <a:off x="4789899" y="2793218"/>
            <a:ext cx="2675196" cy="2675196"/>
          </a:xfrm>
          <a:prstGeom prst="circularArrow">
            <a:avLst>
              <a:gd name="adj1" fmla="val 5085"/>
              <a:gd name="adj2" fmla="val 327528"/>
              <a:gd name="adj3" fmla="val 1472472"/>
              <a:gd name="adj4" fmla="val 16199432"/>
              <a:gd name="adj5" fmla="val 5932"/>
            </a:avLst>
          </a:prstGeom>
          <a:solidFill>
            <a:schemeClr val="accent2">
              <a:lumMod val="50000"/>
            </a:schemeClr>
          </a:solidFill>
        </p:spPr>
        <p:style>
          <a:lnRef idx="0">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hueOff val="0"/>
              <a:satOff val="0"/>
              <a:lumOff val="0"/>
              <a:alphaOff val="0"/>
            </a:schemeClr>
          </a:fontRef>
        </p:style>
        <p:txBody>
          <a:bodyPr/>
          <a:lstStyle/>
          <a:p>
            <a:endParaRPr lang="en-NL"/>
          </a:p>
        </p:txBody>
      </p:sp>
      <p:sp>
        <p:nvSpPr>
          <p:cNvPr id="13" name="Arrow: Circular 12">
            <a:extLst>
              <a:ext uri="{FF2B5EF4-FFF2-40B4-BE49-F238E27FC236}">
                <a16:creationId xmlns:a16="http://schemas.microsoft.com/office/drawing/2014/main" id="{5E17471C-3480-BC6A-A9CA-2BA22227753A}"/>
              </a:ext>
            </a:extLst>
          </p:cNvPr>
          <p:cNvSpPr/>
          <p:nvPr/>
        </p:nvSpPr>
        <p:spPr>
          <a:xfrm>
            <a:off x="4743638" y="2872979"/>
            <a:ext cx="2675196" cy="2675196"/>
          </a:xfrm>
          <a:prstGeom prst="circularArrow">
            <a:avLst>
              <a:gd name="adj1" fmla="val 5085"/>
              <a:gd name="adj2" fmla="val 327528"/>
              <a:gd name="adj3" fmla="val 8671970"/>
              <a:gd name="adj4" fmla="val 1800502"/>
              <a:gd name="adj5" fmla="val 5932"/>
            </a:avLst>
          </a:prstGeom>
          <a:solidFill>
            <a:srgbClr val="0070C0"/>
          </a:solidFill>
        </p:spPr>
        <p:style>
          <a:lnRef idx="0">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hueOff val="0"/>
              <a:satOff val="0"/>
              <a:lumOff val="0"/>
              <a:alphaOff val="0"/>
            </a:schemeClr>
          </a:fontRef>
        </p:style>
        <p:txBody>
          <a:bodyPr/>
          <a:lstStyle/>
          <a:p>
            <a:endParaRPr lang="en-NL"/>
          </a:p>
        </p:txBody>
      </p:sp>
      <p:sp>
        <p:nvSpPr>
          <p:cNvPr id="14" name="Arrow: Circular 13">
            <a:extLst>
              <a:ext uri="{FF2B5EF4-FFF2-40B4-BE49-F238E27FC236}">
                <a16:creationId xmlns:a16="http://schemas.microsoft.com/office/drawing/2014/main" id="{759CD8B9-B8DC-9494-4989-36C8DAB6D504}"/>
              </a:ext>
            </a:extLst>
          </p:cNvPr>
          <p:cNvSpPr/>
          <p:nvPr/>
        </p:nvSpPr>
        <p:spPr>
          <a:xfrm>
            <a:off x="4697376" y="2793218"/>
            <a:ext cx="2675196" cy="2675196"/>
          </a:xfrm>
          <a:prstGeom prst="circularArrow">
            <a:avLst>
              <a:gd name="adj1" fmla="val 5085"/>
              <a:gd name="adj2" fmla="val 327528"/>
              <a:gd name="adj3" fmla="val 15873039"/>
              <a:gd name="adj4" fmla="val 9000000"/>
              <a:gd name="adj5" fmla="val 5932"/>
            </a:avLst>
          </a:prstGeom>
          <a:solidFill>
            <a:schemeClr val="accent4">
              <a:lumMod val="50000"/>
            </a:schemeClr>
          </a:solidFill>
          <a:ln w="38100">
            <a:noFill/>
            <a:prstDash val="solid"/>
          </a:ln>
        </p:spPr>
        <p: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hueOff val="0"/>
              <a:satOff val="0"/>
              <a:lumOff val="0"/>
              <a:alphaOff val="0"/>
            </a:schemeClr>
          </a:fontRef>
        </p:style>
        <p:txBody>
          <a:bodyPr/>
          <a:lstStyle/>
          <a:p>
            <a:endParaRPr lang="en-NL"/>
          </a:p>
        </p:txBody>
      </p:sp>
      <p:pic>
        <p:nvPicPr>
          <p:cNvPr id="15" name="Picture 2" descr="Logo vertical | OntoUML Community Portal">
            <a:extLst>
              <a:ext uri="{FF2B5EF4-FFF2-40B4-BE49-F238E27FC236}">
                <a16:creationId xmlns:a16="http://schemas.microsoft.com/office/drawing/2014/main" id="{77B10B39-596F-1C5D-BBDF-1C8502B4AB9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70367" y="2833440"/>
            <a:ext cx="1718941" cy="657360"/>
          </a:xfrm>
          <a:prstGeom prst="rect">
            <a:avLst/>
          </a:prstGeom>
          <a:noFill/>
          <a:extLst>
            <a:ext uri="{909E8E84-426E-40DD-AFC4-6F175D3DCCD1}">
              <a14:hiddenFill xmlns:a14="http://schemas.microsoft.com/office/drawing/2010/main">
                <a:solidFill>
                  <a:srgbClr val="FFFFFF"/>
                </a:solidFill>
              </a14:hiddenFill>
            </a:ext>
          </a:extLst>
        </p:spPr>
      </p:pic>
      <p:grpSp>
        <p:nvGrpSpPr>
          <p:cNvPr id="16" name="Group 15">
            <a:extLst>
              <a:ext uri="{FF2B5EF4-FFF2-40B4-BE49-F238E27FC236}">
                <a16:creationId xmlns:a16="http://schemas.microsoft.com/office/drawing/2014/main" id="{DC9C0B3E-B5E0-EB32-90D9-7578FE532C98}"/>
              </a:ext>
            </a:extLst>
          </p:cNvPr>
          <p:cNvGrpSpPr/>
          <p:nvPr/>
        </p:nvGrpSpPr>
        <p:grpSpPr>
          <a:xfrm>
            <a:off x="8107224" y="4789911"/>
            <a:ext cx="1445229" cy="820560"/>
            <a:chOff x="6119493" y="4341725"/>
            <a:chExt cx="2393775" cy="1359120"/>
          </a:xfrm>
        </p:grpSpPr>
        <p:pic>
          <p:nvPicPr>
            <p:cNvPr id="17" name="Picture 12" descr="What is the Semantic Web? - Jean Delahousse">
              <a:extLst>
                <a:ext uri="{FF2B5EF4-FFF2-40B4-BE49-F238E27FC236}">
                  <a16:creationId xmlns:a16="http://schemas.microsoft.com/office/drawing/2014/main" id="{0DF450C7-C628-56F8-3267-DBB3A911FD56}"/>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119493" y="4434598"/>
              <a:ext cx="1168843" cy="1266247"/>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4" descr="What is the Semantic Web? - Jean Delahousse">
              <a:extLst>
                <a:ext uri="{FF2B5EF4-FFF2-40B4-BE49-F238E27FC236}">
                  <a16:creationId xmlns:a16="http://schemas.microsoft.com/office/drawing/2014/main" id="{2CB2E743-9E5A-8933-9A83-5E52ABABA0A9}"/>
                </a:ext>
              </a:extLst>
            </p:cNvPr>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344425" y="4341725"/>
              <a:ext cx="1168843" cy="1359120"/>
            </a:xfrm>
            <a:prstGeom prst="rect">
              <a:avLst/>
            </a:prstGeom>
            <a:noFill/>
            <a:extLst>
              <a:ext uri="{909E8E84-426E-40DD-AFC4-6F175D3DCCD1}">
                <a14:hiddenFill xmlns:a14="http://schemas.microsoft.com/office/drawing/2010/main">
                  <a:solidFill>
                    <a:srgbClr val="FFFFFF"/>
                  </a:solidFill>
                </a14:hiddenFill>
              </a:ext>
            </a:extLst>
          </p:spPr>
        </p:pic>
      </p:grpSp>
      <p:pic>
        <p:nvPicPr>
          <p:cNvPr id="19" name="Picture 2" descr="GitHub - mapping-commons/sssom: Simple Standard for Sharing Ontology  Mappings">
            <a:extLst>
              <a:ext uri="{FF2B5EF4-FFF2-40B4-BE49-F238E27FC236}">
                <a16:creationId xmlns:a16="http://schemas.microsoft.com/office/drawing/2014/main" id="{433E4544-21C9-034A-AA55-A1C09263D704}"/>
              </a:ext>
            </a:extLst>
          </p:cNvPr>
          <p:cNvPicPr>
            <a:picLocks noChangeAspect="1" noChangeArrowheads="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276707" y="2718885"/>
            <a:ext cx="2111854" cy="877740"/>
          </a:xfrm>
          <a:prstGeom prst="rect">
            <a:avLst/>
          </a:prstGeom>
          <a:noFill/>
          <a:extLst>
            <a:ext uri="{909E8E84-426E-40DD-AFC4-6F175D3DCCD1}">
              <a14:hiddenFill xmlns:a14="http://schemas.microsoft.com/office/drawing/2010/main">
                <a:solidFill>
                  <a:srgbClr val="FFFFFF"/>
                </a:solidFill>
              </a14:hiddenFill>
            </a:ext>
          </a:extLst>
        </p:spPr>
      </p:pic>
      <p:sp>
        <p:nvSpPr>
          <p:cNvPr id="20" name="TextBox 19">
            <a:extLst>
              <a:ext uri="{FF2B5EF4-FFF2-40B4-BE49-F238E27FC236}">
                <a16:creationId xmlns:a16="http://schemas.microsoft.com/office/drawing/2014/main" id="{E71B71A2-37B9-F925-E873-8394DA8C33DC}"/>
              </a:ext>
            </a:extLst>
          </p:cNvPr>
          <p:cNvSpPr txBox="1"/>
          <p:nvPr/>
        </p:nvSpPr>
        <p:spPr>
          <a:xfrm>
            <a:off x="5468718" y="4500304"/>
            <a:ext cx="1239827" cy="553998"/>
          </a:xfrm>
          <a:prstGeom prst="rect">
            <a:avLst/>
          </a:prstGeom>
          <a:noFill/>
        </p:spPr>
        <p:txBody>
          <a:bodyPr wrap="none" rtlCol="0">
            <a:spAutoFit/>
          </a:bodyPr>
          <a:lstStyle/>
          <a:p>
            <a:pPr algn="ctr"/>
            <a:r>
              <a:rPr lang="en-US" b="1" dirty="0">
                <a:ln>
                  <a:solidFill>
                    <a:schemeClr val="tx1">
                      <a:lumMod val="50000"/>
                      <a:lumOff val="50000"/>
                    </a:schemeClr>
                  </a:solidFill>
                </a:ln>
                <a:solidFill>
                  <a:schemeClr val="bg1"/>
                </a:solidFill>
                <a:latin typeface="Neue Haas Grotesk Text Pro Blac" panose="020B0504020202020204" pitchFamily="34" charset="0"/>
              </a:rPr>
              <a:t>HRIO</a:t>
            </a:r>
          </a:p>
          <a:p>
            <a:pPr algn="ctr"/>
            <a:r>
              <a:rPr lang="en-US" sz="1200" b="1" dirty="0">
                <a:ln>
                  <a:solidFill>
                    <a:schemeClr val="tx1">
                      <a:lumMod val="50000"/>
                      <a:lumOff val="50000"/>
                    </a:schemeClr>
                  </a:solidFill>
                </a:ln>
                <a:solidFill>
                  <a:schemeClr val="bg1"/>
                </a:solidFill>
              </a:rPr>
              <a:t>Computational</a:t>
            </a:r>
            <a:endParaRPr lang="en-NL" sz="1200" b="1" dirty="0">
              <a:ln>
                <a:solidFill>
                  <a:schemeClr val="tx1">
                    <a:lumMod val="50000"/>
                    <a:lumOff val="50000"/>
                  </a:schemeClr>
                </a:solidFill>
              </a:ln>
              <a:solidFill>
                <a:schemeClr val="bg1"/>
              </a:solidFill>
            </a:endParaRPr>
          </a:p>
        </p:txBody>
      </p:sp>
      <p:sp>
        <p:nvSpPr>
          <p:cNvPr id="21" name="TextBox 20">
            <a:extLst>
              <a:ext uri="{FF2B5EF4-FFF2-40B4-BE49-F238E27FC236}">
                <a16:creationId xmlns:a16="http://schemas.microsoft.com/office/drawing/2014/main" id="{1CEB764B-3E99-82C0-487E-6B4B7620A006}"/>
              </a:ext>
            </a:extLst>
          </p:cNvPr>
          <p:cNvSpPr txBox="1"/>
          <p:nvPr/>
        </p:nvSpPr>
        <p:spPr>
          <a:xfrm>
            <a:off x="6146123" y="3505364"/>
            <a:ext cx="1005404" cy="553998"/>
          </a:xfrm>
          <a:prstGeom prst="rect">
            <a:avLst/>
          </a:prstGeom>
          <a:noFill/>
          <a:ln>
            <a:noFill/>
          </a:ln>
        </p:spPr>
        <p:txBody>
          <a:bodyPr wrap="none" rtlCol="0">
            <a:spAutoFit/>
          </a:bodyPr>
          <a:lstStyle/>
          <a:p>
            <a:pPr algn="ctr"/>
            <a:r>
              <a:rPr lang="en-US" b="1" dirty="0">
                <a:solidFill>
                  <a:schemeClr val="bg1"/>
                </a:solidFill>
                <a:latin typeface="Neue Haas Grotesk Text Pro Blac" panose="020B0504020202020204" pitchFamily="34" charset="0"/>
              </a:rPr>
              <a:t>HRIO</a:t>
            </a:r>
          </a:p>
          <a:p>
            <a:pPr algn="ctr"/>
            <a:r>
              <a:rPr lang="en-US" sz="1200" b="1" dirty="0">
                <a:solidFill>
                  <a:schemeClr val="bg1"/>
                </a:solidFill>
              </a:rPr>
              <a:t>Conceptual</a:t>
            </a:r>
            <a:endParaRPr lang="en-NL" sz="1200" b="1" dirty="0">
              <a:solidFill>
                <a:schemeClr val="bg1"/>
              </a:solidFill>
            </a:endParaRPr>
          </a:p>
        </p:txBody>
      </p:sp>
      <p:sp>
        <p:nvSpPr>
          <p:cNvPr id="22" name="TextBox 21">
            <a:extLst>
              <a:ext uri="{FF2B5EF4-FFF2-40B4-BE49-F238E27FC236}">
                <a16:creationId xmlns:a16="http://schemas.microsoft.com/office/drawing/2014/main" id="{4733BBD1-C909-EC80-ABD3-15DDC055B582}"/>
              </a:ext>
            </a:extLst>
          </p:cNvPr>
          <p:cNvSpPr txBox="1"/>
          <p:nvPr/>
        </p:nvSpPr>
        <p:spPr>
          <a:xfrm>
            <a:off x="4968721" y="3505364"/>
            <a:ext cx="1048684" cy="553998"/>
          </a:xfrm>
          <a:prstGeom prst="rect">
            <a:avLst/>
          </a:prstGeom>
          <a:noFill/>
        </p:spPr>
        <p:txBody>
          <a:bodyPr wrap="none" rtlCol="0">
            <a:spAutoFit/>
          </a:bodyPr>
          <a:lstStyle/>
          <a:p>
            <a:pPr algn="ctr"/>
            <a:r>
              <a:rPr lang="en-US" b="1" dirty="0">
                <a:ln>
                  <a:solidFill>
                    <a:schemeClr val="tx1">
                      <a:lumMod val="50000"/>
                      <a:lumOff val="50000"/>
                    </a:schemeClr>
                  </a:solidFill>
                </a:ln>
                <a:solidFill>
                  <a:schemeClr val="bg1"/>
                </a:solidFill>
                <a:latin typeface="Neue Haas Grotesk Text Pro Blac" panose="020B0504020202020204" pitchFamily="34" charset="0"/>
              </a:rPr>
              <a:t>HRIM</a:t>
            </a:r>
          </a:p>
          <a:p>
            <a:pPr algn="ctr"/>
            <a:r>
              <a:rPr lang="en-US" sz="1200" b="1" dirty="0">
                <a:ln>
                  <a:solidFill>
                    <a:schemeClr val="tx1">
                      <a:lumMod val="50000"/>
                      <a:lumOff val="50000"/>
                    </a:schemeClr>
                  </a:solidFill>
                </a:ln>
                <a:solidFill>
                  <a:schemeClr val="bg1"/>
                </a:solidFill>
              </a:rPr>
              <a:t>Mapping Set</a:t>
            </a:r>
            <a:endParaRPr lang="en-NL" sz="1200" b="1" dirty="0">
              <a:ln>
                <a:solidFill>
                  <a:schemeClr val="tx1">
                    <a:lumMod val="50000"/>
                    <a:lumOff val="50000"/>
                  </a:schemeClr>
                </a:solidFill>
              </a:ln>
              <a:solidFill>
                <a:schemeClr val="bg1"/>
              </a:solidFill>
            </a:endParaRPr>
          </a:p>
        </p:txBody>
      </p:sp>
      <p:sp>
        <p:nvSpPr>
          <p:cNvPr id="24" name="Freeform: Shape 23">
            <a:extLst>
              <a:ext uri="{FF2B5EF4-FFF2-40B4-BE49-F238E27FC236}">
                <a16:creationId xmlns:a16="http://schemas.microsoft.com/office/drawing/2014/main" id="{034FD3B9-871B-7454-A9D3-764ADF54E0ED}"/>
              </a:ext>
            </a:extLst>
          </p:cNvPr>
          <p:cNvSpPr/>
          <p:nvPr/>
        </p:nvSpPr>
        <p:spPr>
          <a:xfrm>
            <a:off x="2347254" y="2393736"/>
            <a:ext cx="7568037" cy="3548277"/>
          </a:xfrm>
          <a:custGeom>
            <a:avLst/>
            <a:gdLst>
              <a:gd name="csX0" fmla="*/ 2791330 w 5967667"/>
              <a:gd name="csY0" fmla="*/ 57752 h 2598821"/>
              <a:gd name="csX1" fmla="*/ 221385 w 5967667"/>
              <a:gd name="csY1" fmla="*/ 67377 h 2598821"/>
              <a:gd name="csX2" fmla="*/ 19254 w 5967667"/>
              <a:gd name="csY2" fmla="*/ 86628 h 2598821"/>
              <a:gd name="csX3" fmla="*/ 19254 w 5967667"/>
              <a:gd name="csY3" fmla="*/ 500514 h 2598821"/>
              <a:gd name="csX4" fmla="*/ 57756 w 5967667"/>
              <a:gd name="csY4" fmla="*/ 606392 h 2598821"/>
              <a:gd name="csX5" fmla="*/ 67381 w 5967667"/>
              <a:gd name="csY5" fmla="*/ 693019 h 2598821"/>
              <a:gd name="csX6" fmla="*/ 77006 w 5967667"/>
              <a:gd name="csY6" fmla="*/ 981777 h 2598821"/>
              <a:gd name="csX7" fmla="*/ 105882 w 5967667"/>
              <a:gd name="csY7" fmla="*/ 1049154 h 2598821"/>
              <a:gd name="csX8" fmla="*/ 134758 w 5967667"/>
              <a:gd name="csY8" fmla="*/ 1126156 h 2598821"/>
              <a:gd name="csX9" fmla="*/ 231010 w 5967667"/>
              <a:gd name="csY9" fmla="*/ 1232034 h 2598821"/>
              <a:gd name="csX10" fmla="*/ 279137 w 5967667"/>
              <a:gd name="csY10" fmla="*/ 1251284 h 2598821"/>
              <a:gd name="csX11" fmla="*/ 914404 w 5967667"/>
              <a:gd name="csY11" fmla="*/ 1270535 h 2598821"/>
              <a:gd name="csX12" fmla="*/ 1164661 w 5967667"/>
              <a:gd name="csY12" fmla="*/ 1578543 h 2598821"/>
              <a:gd name="csX13" fmla="*/ 1212787 w 5967667"/>
              <a:gd name="csY13" fmla="*/ 1665171 h 2598821"/>
              <a:gd name="csX14" fmla="*/ 1280164 w 5967667"/>
              <a:gd name="csY14" fmla="*/ 1761423 h 2598821"/>
              <a:gd name="csX15" fmla="*/ 1337916 w 5967667"/>
              <a:gd name="csY15" fmla="*/ 1867301 h 2598821"/>
              <a:gd name="csX16" fmla="*/ 1607423 w 5967667"/>
              <a:gd name="csY16" fmla="*/ 2146434 h 2598821"/>
              <a:gd name="csX17" fmla="*/ 1896181 w 5967667"/>
              <a:gd name="csY17" fmla="*/ 2300438 h 2598821"/>
              <a:gd name="csX18" fmla="*/ 1992433 w 5967667"/>
              <a:gd name="csY18" fmla="*/ 2338939 h 2598821"/>
              <a:gd name="csX19" fmla="*/ 2252316 w 5967667"/>
              <a:gd name="csY19" fmla="*/ 2387066 h 2598821"/>
              <a:gd name="csX20" fmla="*/ 2839457 w 5967667"/>
              <a:gd name="csY20" fmla="*/ 2464068 h 2598821"/>
              <a:gd name="csX21" fmla="*/ 3157090 w 5967667"/>
              <a:gd name="csY21" fmla="*/ 2502569 h 2598821"/>
              <a:gd name="csX22" fmla="*/ 3696105 w 5967667"/>
              <a:gd name="csY22" fmla="*/ 2521819 h 2598821"/>
              <a:gd name="csX23" fmla="*/ 4081116 w 5967667"/>
              <a:gd name="csY23" fmla="*/ 2560320 h 2598821"/>
              <a:gd name="csX24" fmla="*/ 4475751 w 5967667"/>
              <a:gd name="csY24" fmla="*/ 2569946 h 2598821"/>
              <a:gd name="csX25" fmla="*/ 4957014 w 5967667"/>
              <a:gd name="csY25" fmla="*/ 2598821 h 2598821"/>
              <a:gd name="csX26" fmla="*/ 5852164 w 5967667"/>
              <a:gd name="csY26" fmla="*/ 2569946 h 2598821"/>
              <a:gd name="csX27" fmla="*/ 5929166 w 5967667"/>
              <a:gd name="csY27" fmla="*/ 2483318 h 2598821"/>
              <a:gd name="csX28" fmla="*/ 5948417 w 5967667"/>
              <a:gd name="csY28" fmla="*/ 2300438 h 2598821"/>
              <a:gd name="csX29" fmla="*/ 5967667 w 5967667"/>
              <a:gd name="csY29" fmla="*/ 2030931 h 2598821"/>
              <a:gd name="csX30" fmla="*/ 5938791 w 5967667"/>
              <a:gd name="csY30" fmla="*/ 1366788 h 2598821"/>
              <a:gd name="csX31" fmla="*/ 5881040 w 5967667"/>
              <a:gd name="csY31" fmla="*/ 1328287 h 2598821"/>
              <a:gd name="csX32" fmla="*/ 5784787 w 5967667"/>
              <a:gd name="csY32" fmla="*/ 1309036 h 2598821"/>
              <a:gd name="csX33" fmla="*/ 5582657 w 5967667"/>
              <a:gd name="csY33" fmla="*/ 1289786 h 2598821"/>
              <a:gd name="csX34" fmla="*/ 4764509 w 5967667"/>
              <a:gd name="csY34" fmla="*/ 1309036 h 2598821"/>
              <a:gd name="csX35" fmla="*/ 4600880 w 5967667"/>
              <a:gd name="csY35" fmla="*/ 1357162 h 2598821"/>
              <a:gd name="csX36" fmla="*/ 4514252 w 5967667"/>
              <a:gd name="csY36" fmla="*/ 1386038 h 2598821"/>
              <a:gd name="csX37" fmla="*/ 4379499 w 5967667"/>
              <a:gd name="csY37" fmla="*/ 1443790 h 2598821"/>
              <a:gd name="csX38" fmla="*/ 4292871 w 5967667"/>
              <a:gd name="csY38" fmla="*/ 1501541 h 2598821"/>
              <a:gd name="csX39" fmla="*/ 4196619 w 5967667"/>
              <a:gd name="csY39" fmla="*/ 1549668 h 2598821"/>
              <a:gd name="csX40" fmla="*/ 4042614 w 5967667"/>
              <a:gd name="csY40" fmla="*/ 1645920 h 2598821"/>
              <a:gd name="csX41" fmla="*/ 3994488 w 5967667"/>
              <a:gd name="csY41" fmla="*/ 1674796 h 2598821"/>
              <a:gd name="csX42" fmla="*/ 3946362 w 5967667"/>
              <a:gd name="csY42" fmla="*/ 1713297 h 2598821"/>
              <a:gd name="csX43" fmla="*/ 3888610 w 5967667"/>
              <a:gd name="csY43" fmla="*/ 1742173 h 2598821"/>
              <a:gd name="csX44" fmla="*/ 3840484 w 5967667"/>
              <a:gd name="csY44" fmla="*/ 1780674 h 2598821"/>
              <a:gd name="csX45" fmla="*/ 3763482 w 5967667"/>
              <a:gd name="csY45" fmla="*/ 1819175 h 2598821"/>
              <a:gd name="csX46" fmla="*/ 3657604 w 5967667"/>
              <a:gd name="csY46" fmla="*/ 1790299 h 2598821"/>
              <a:gd name="csX47" fmla="*/ 3619103 w 5967667"/>
              <a:gd name="csY47" fmla="*/ 1761423 h 2598821"/>
              <a:gd name="csX48" fmla="*/ 3561351 w 5967667"/>
              <a:gd name="csY48" fmla="*/ 1713297 h 2598821"/>
              <a:gd name="csX49" fmla="*/ 3522850 w 5967667"/>
              <a:gd name="csY49" fmla="*/ 1665171 h 2598821"/>
              <a:gd name="csX50" fmla="*/ 3493974 w 5967667"/>
              <a:gd name="csY50" fmla="*/ 1645920 h 2598821"/>
              <a:gd name="csX51" fmla="*/ 3426598 w 5967667"/>
              <a:gd name="csY51" fmla="*/ 1588169 h 2598821"/>
              <a:gd name="csX52" fmla="*/ 3397722 w 5967667"/>
              <a:gd name="csY52" fmla="*/ 1578543 h 2598821"/>
              <a:gd name="csX53" fmla="*/ 3320720 w 5967667"/>
              <a:gd name="csY53" fmla="*/ 1511167 h 2598821"/>
              <a:gd name="csX54" fmla="*/ 3253343 w 5967667"/>
              <a:gd name="csY54" fmla="*/ 1472666 h 2598821"/>
              <a:gd name="csX55" fmla="*/ 3205217 w 5967667"/>
              <a:gd name="csY55" fmla="*/ 1443790 h 2598821"/>
              <a:gd name="csX56" fmla="*/ 3137840 w 5967667"/>
              <a:gd name="csY56" fmla="*/ 1386038 h 2598821"/>
              <a:gd name="csX57" fmla="*/ 3080088 w 5967667"/>
              <a:gd name="csY57" fmla="*/ 1366788 h 2598821"/>
              <a:gd name="csX58" fmla="*/ 3031962 w 5967667"/>
              <a:gd name="csY58" fmla="*/ 1347537 h 2598821"/>
              <a:gd name="csX59" fmla="*/ 2954960 w 5967667"/>
              <a:gd name="csY59" fmla="*/ 1299411 h 2598821"/>
              <a:gd name="csX60" fmla="*/ 2897208 w 5967667"/>
              <a:gd name="csY60" fmla="*/ 1212783 h 2598821"/>
              <a:gd name="csX61" fmla="*/ 2926084 w 5967667"/>
              <a:gd name="csY61" fmla="*/ 577516 h 2598821"/>
              <a:gd name="csX62" fmla="*/ 2916459 w 5967667"/>
              <a:gd name="csY62" fmla="*/ 308009 h 2598821"/>
              <a:gd name="csX63" fmla="*/ 2897208 w 5967667"/>
              <a:gd name="csY63" fmla="*/ 192506 h 2598821"/>
              <a:gd name="csX64" fmla="*/ 2877958 w 5967667"/>
              <a:gd name="csY64" fmla="*/ 144379 h 2598821"/>
              <a:gd name="csX65" fmla="*/ 2820206 w 5967667"/>
              <a:gd name="csY65" fmla="*/ 77002 h 2598821"/>
              <a:gd name="csX66" fmla="*/ 2791330 w 5967667"/>
              <a:gd name="csY66" fmla="*/ 38501 h 2598821"/>
              <a:gd name="csX67" fmla="*/ 2733579 w 5967667"/>
              <a:gd name="csY67" fmla="*/ 0 h 2598821"/>
              <a:gd name="csX0" fmla="*/ 2791330 w 5967667"/>
              <a:gd name="csY0" fmla="*/ 57752 h 2598821"/>
              <a:gd name="csX1" fmla="*/ 221385 w 5967667"/>
              <a:gd name="csY1" fmla="*/ 67377 h 2598821"/>
              <a:gd name="csX2" fmla="*/ 19254 w 5967667"/>
              <a:gd name="csY2" fmla="*/ 86628 h 2598821"/>
              <a:gd name="csX3" fmla="*/ 19254 w 5967667"/>
              <a:gd name="csY3" fmla="*/ 500514 h 2598821"/>
              <a:gd name="csX4" fmla="*/ 57756 w 5967667"/>
              <a:gd name="csY4" fmla="*/ 606392 h 2598821"/>
              <a:gd name="csX5" fmla="*/ 67381 w 5967667"/>
              <a:gd name="csY5" fmla="*/ 693019 h 2598821"/>
              <a:gd name="csX6" fmla="*/ 77006 w 5967667"/>
              <a:gd name="csY6" fmla="*/ 981777 h 2598821"/>
              <a:gd name="csX7" fmla="*/ 105882 w 5967667"/>
              <a:gd name="csY7" fmla="*/ 1049154 h 2598821"/>
              <a:gd name="csX8" fmla="*/ 134758 w 5967667"/>
              <a:gd name="csY8" fmla="*/ 1126156 h 2598821"/>
              <a:gd name="csX9" fmla="*/ 231010 w 5967667"/>
              <a:gd name="csY9" fmla="*/ 1232034 h 2598821"/>
              <a:gd name="csX10" fmla="*/ 279137 w 5967667"/>
              <a:gd name="csY10" fmla="*/ 1251284 h 2598821"/>
              <a:gd name="csX11" fmla="*/ 914404 w 5967667"/>
              <a:gd name="csY11" fmla="*/ 1270535 h 2598821"/>
              <a:gd name="csX12" fmla="*/ 1164661 w 5967667"/>
              <a:gd name="csY12" fmla="*/ 1578543 h 2598821"/>
              <a:gd name="csX13" fmla="*/ 1212787 w 5967667"/>
              <a:gd name="csY13" fmla="*/ 1665171 h 2598821"/>
              <a:gd name="csX14" fmla="*/ 1280164 w 5967667"/>
              <a:gd name="csY14" fmla="*/ 1761423 h 2598821"/>
              <a:gd name="csX15" fmla="*/ 1337916 w 5967667"/>
              <a:gd name="csY15" fmla="*/ 1867301 h 2598821"/>
              <a:gd name="csX16" fmla="*/ 1607423 w 5967667"/>
              <a:gd name="csY16" fmla="*/ 2146434 h 2598821"/>
              <a:gd name="csX17" fmla="*/ 1896181 w 5967667"/>
              <a:gd name="csY17" fmla="*/ 2300438 h 2598821"/>
              <a:gd name="csX18" fmla="*/ 1992433 w 5967667"/>
              <a:gd name="csY18" fmla="*/ 2338939 h 2598821"/>
              <a:gd name="csX19" fmla="*/ 2252316 w 5967667"/>
              <a:gd name="csY19" fmla="*/ 2387066 h 2598821"/>
              <a:gd name="csX20" fmla="*/ 2839457 w 5967667"/>
              <a:gd name="csY20" fmla="*/ 2464068 h 2598821"/>
              <a:gd name="csX21" fmla="*/ 3157090 w 5967667"/>
              <a:gd name="csY21" fmla="*/ 2502569 h 2598821"/>
              <a:gd name="csX22" fmla="*/ 3696105 w 5967667"/>
              <a:gd name="csY22" fmla="*/ 2521819 h 2598821"/>
              <a:gd name="csX23" fmla="*/ 4081116 w 5967667"/>
              <a:gd name="csY23" fmla="*/ 2560320 h 2598821"/>
              <a:gd name="csX24" fmla="*/ 4475751 w 5967667"/>
              <a:gd name="csY24" fmla="*/ 2569946 h 2598821"/>
              <a:gd name="csX25" fmla="*/ 4957014 w 5967667"/>
              <a:gd name="csY25" fmla="*/ 2598821 h 2598821"/>
              <a:gd name="csX26" fmla="*/ 5852164 w 5967667"/>
              <a:gd name="csY26" fmla="*/ 2569946 h 2598821"/>
              <a:gd name="csX27" fmla="*/ 5929166 w 5967667"/>
              <a:gd name="csY27" fmla="*/ 2483318 h 2598821"/>
              <a:gd name="csX28" fmla="*/ 5948417 w 5967667"/>
              <a:gd name="csY28" fmla="*/ 2300438 h 2598821"/>
              <a:gd name="csX29" fmla="*/ 5967667 w 5967667"/>
              <a:gd name="csY29" fmla="*/ 2030931 h 2598821"/>
              <a:gd name="csX30" fmla="*/ 5938791 w 5967667"/>
              <a:gd name="csY30" fmla="*/ 1366788 h 2598821"/>
              <a:gd name="csX31" fmla="*/ 5881040 w 5967667"/>
              <a:gd name="csY31" fmla="*/ 1328287 h 2598821"/>
              <a:gd name="csX32" fmla="*/ 5784787 w 5967667"/>
              <a:gd name="csY32" fmla="*/ 1309036 h 2598821"/>
              <a:gd name="csX33" fmla="*/ 5582657 w 5967667"/>
              <a:gd name="csY33" fmla="*/ 1289786 h 2598821"/>
              <a:gd name="csX34" fmla="*/ 4764509 w 5967667"/>
              <a:gd name="csY34" fmla="*/ 1309036 h 2598821"/>
              <a:gd name="csX35" fmla="*/ 4600880 w 5967667"/>
              <a:gd name="csY35" fmla="*/ 1357162 h 2598821"/>
              <a:gd name="csX36" fmla="*/ 4514252 w 5967667"/>
              <a:gd name="csY36" fmla="*/ 1386038 h 2598821"/>
              <a:gd name="csX37" fmla="*/ 4379499 w 5967667"/>
              <a:gd name="csY37" fmla="*/ 1443790 h 2598821"/>
              <a:gd name="csX38" fmla="*/ 4292871 w 5967667"/>
              <a:gd name="csY38" fmla="*/ 1501541 h 2598821"/>
              <a:gd name="csX39" fmla="*/ 4196619 w 5967667"/>
              <a:gd name="csY39" fmla="*/ 1549668 h 2598821"/>
              <a:gd name="csX40" fmla="*/ 4042614 w 5967667"/>
              <a:gd name="csY40" fmla="*/ 1645920 h 2598821"/>
              <a:gd name="csX41" fmla="*/ 3994488 w 5967667"/>
              <a:gd name="csY41" fmla="*/ 1674796 h 2598821"/>
              <a:gd name="csX42" fmla="*/ 3946362 w 5967667"/>
              <a:gd name="csY42" fmla="*/ 1713297 h 2598821"/>
              <a:gd name="csX43" fmla="*/ 3888610 w 5967667"/>
              <a:gd name="csY43" fmla="*/ 1742173 h 2598821"/>
              <a:gd name="csX44" fmla="*/ 3840484 w 5967667"/>
              <a:gd name="csY44" fmla="*/ 1780674 h 2598821"/>
              <a:gd name="csX45" fmla="*/ 3763482 w 5967667"/>
              <a:gd name="csY45" fmla="*/ 1819175 h 2598821"/>
              <a:gd name="csX46" fmla="*/ 3657604 w 5967667"/>
              <a:gd name="csY46" fmla="*/ 1790299 h 2598821"/>
              <a:gd name="csX47" fmla="*/ 3638153 w 5967667"/>
              <a:gd name="csY47" fmla="*/ 1709036 h 2598821"/>
              <a:gd name="csX48" fmla="*/ 3561351 w 5967667"/>
              <a:gd name="csY48" fmla="*/ 1713297 h 2598821"/>
              <a:gd name="csX49" fmla="*/ 3522850 w 5967667"/>
              <a:gd name="csY49" fmla="*/ 1665171 h 2598821"/>
              <a:gd name="csX50" fmla="*/ 3493974 w 5967667"/>
              <a:gd name="csY50" fmla="*/ 1645920 h 2598821"/>
              <a:gd name="csX51" fmla="*/ 3426598 w 5967667"/>
              <a:gd name="csY51" fmla="*/ 1588169 h 2598821"/>
              <a:gd name="csX52" fmla="*/ 3397722 w 5967667"/>
              <a:gd name="csY52" fmla="*/ 1578543 h 2598821"/>
              <a:gd name="csX53" fmla="*/ 3320720 w 5967667"/>
              <a:gd name="csY53" fmla="*/ 1511167 h 2598821"/>
              <a:gd name="csX54" fmla="*/ 3253343 w 5967667"/>
              <a:gd name="csY54" fmla="*/ 1472666 h 2598821"/>
              <a:gd name="csX55" fmla="*/ 3205217 w 5967667"/>
              <a:gd name="csY55" fmla="*/ 1443790 h 2598821"/>
              <a:gd name="csX56" fmla="*/ 3137840 w 5967667"/>
              <a:gd name="csY56" fmla="*/ 1386038 h 2598821"/>
              <a:gd name="csX57" fmla="*/ 3080088 w 5967667"/>
              <a:gd name="csY57" fmla="*/ 1366788 h 2598821"/>
              <a:gd name="csX58" fmla="*/ 3031962 w 5967667"/>
              <a:gd name="csY58" fmla="*/ 1347537 h 2598821"/>
              <a:gd name="csX59" fmla="*/ 2954960 w 5967667"/>
              <a:gd name="csY59" fmla="*/ 1299411 h 2598821"/>
              <a:gd name="csX60" fmla="*/ 2897208 w 5967667"/>
              <a:gd name="csY60" fmla="*/ 1212783 h 2598821"/>
              <a:gd name="csX61" fmla="*/ 2926084 w 5967667"/>
              <a:gd name="csY61" fmla="*/ 577516 h 2598821"/>
              <a:gd name="csX62" fmla="*/ 2916459 w 5967667"/>
              <a:gd name="csY62" fmla="*/ 308009 h 2598821"/>
              <a:gd name="csX63" fmla="*/ 2897208 w 5967667"/>
              <a:gd name="csY63" fmla="*/ 192506 h 2598821"/>
              <a:gd name="csX64" fmla="*/ 2877958 w 5967667"/>
              <a:gd name="csY64" fmla="*/ 144379 h 2598821"/>
              <a:gd name="csX65" fmla="*/ 2820206 w 5967667"/>
              <a:gd name="csY65" fmla="*/ 77002 h 2598821"/>
              <a:gd name="csX66" fmla="*/ 2791330 w 5967667"/>
              <a:gd name="csY66" fmla="*/ 38501 h 2598821"/>
              <a:gd name="csX67" fmla="*/ 2733579 w 5967667"/>
              <a:gd name="csY67" fmla="*/ 0 h 2598821"/>
              <a:gd name="csX0" fmla="*/ 2791330 w 5967667"/>
              <a:gd name="csY0" fmla="*/ 57752 h 2598821"/>
              <a:gd name="csX1" fmla="*/ 221385 w 5967667"/>
              <a:gd name="csY1" fmla="*/ 67377 h 2598821"/>
              <a:gd name="csX2" fmla="*/ 19254 w 5967667"/>
              <a:gd name="csY2" fmla="*/ 86628 h 2598821"/>
              <a:gd name="csX3" fmla="*/ 19254 w 5967667"/>
              <a:gd name="csY3" fmla="*/ 500514 h 2598821"/>
              <a:gd name="csX4" fmla="*/ 57756 w 5967667"/>
              <a:gd name="csY4" fmla="*/ 606392 h 2598821"/>
              <a:gd name="csX5" fmla="*/ 67381 w 5967667"/>
              <a:gd name="csY5" fmla="*/ 693019 h 2598821"/>
              <a:gd name="csX6" fmla="*/ 77006 w 5967667"/>
              <a:gd name="csY6" fmla="*/ 981777 h 2598821"/>
              <a:gd name="csX7" fmla="*/ 105882 w 5967667"/>
              <a:gd name="csY7" fmla="*/ 1049154 h 2598821"/>
              <a:gd name="csX8" fmla="*/ 134758 w 5967667"/>
              <a:gd name="csY8" fmla="*/ 1126156 h 2598821"/>
              <a:gd name="csX9" fmla="*/ 231010 w 5967667"/>
              <a:gd name="csY9" fmla="*/ 1232034 h 2598821"/>
              <a:gd name="csX10" fmla="*/ 279137 w 5967667"/>
              <a:gd name="csY10" fmla="*/ 1251284 h 2598821"/>
              <a:gd name="csX11" fmla="*/ 914404 w 5967667"/>
              <a:gd name="csY11" fmla="*/ 1270535 h 2598821"/>
              <a:gd name="csX12" fmla="*/ 1164661 w 5967667"/>
              <a:gd name="csY12" fmla="*/ 1578543 h 2598821"/>
              <a:gd name="csX13" fmla="*/ 1212787 w 5967667"/>
              <a:gd name="csY13" fmla="*/ 1665171 h 2598821"/>
              <a:gd name="csX14" fmla="*/ 1280164 w 5967667"/>
              <a:gd name="csY14" fmla="*/ 1761423 h 2598821"/>
              <a:gd name="csX15" fmla="*/ 1337916 w 5967667"/>
              <a:gd name="csY15" fmla="*/ 1867301 h 2598821"/>
              <a:gd name="csX16" fmla="*/ 1607423 w 5967667"/>
              <a:gd name="csY16" fmla="*/ 2146434 h 2598821"/>
              <a:gd name="csX17" fmla="*/ 1896181 w 5967667"/>
              <a:gd name="csY17" fmla="*/ 2300438 h 2598821"/>
              <a:gd name="csX18" fmla="*/ 1992433 w 5967667"/>
              <a:gd name="csY18" fmla="*/ 2338939 h 2598821"/>
              <a:gd name="csX19" fmla="*/ 2252316 w 5967667"/>
              <a:gd name="csY19" fmla="*/ 2387066 h 2598821"/>
              <a:gd name="csX20" fmla="*/ 2839457 w 5967667"/>
              <a:gd name="csY20" fmla="*/ 2464068 h 2598821"/>
              <a:gd name="csX21" fmla="*/ 3157090 w 5967667"/>
              <a:gd name="csY21" fmla="*/ 2502569 h 2598821"/>
              <a:gd name="csX22" fmla="*/ 3696105 w 5967667"/>
              <a:gd name="csY22" fmla="*/ 2521819 h 2598821"/>
              <a:gd name="csX23" fmla="*/ 4081116 w 5967667"/>
              <a:gd name="csY23" fmla="*/ 2560320 h 2598821"/>
              <a:gd name="csX24" fmla="*/ 4475751 w 5967667"/>
              <a:gd name="csY24" fmla="*/ 2569946 h 2598821"/>
              <a:gd name="csX25" fmla="*/ 4957014 w 5967667"/>
              <a:gd name="csY25" fmla="*/ 2598821 h 2598821"/>
              <a:gd name="csX26" fmla="*/ 5852164 w 5967667"/>
              <a:gd name="csY26" fmla="*/ 2569946 h 2598821"/>
              <a:gd name="csX27" fmla="*/ 5929166 w 5967667"/>
              <a:gd name="csY27" fmla="*/ 2483318 h 2598821"/>
              <a:gd name="csX28" fmla="*/ 5948417 w 5967667"/>
              <a:gd name="csY28" fmla="*/ 2300438 h 2598821"/>
              <a:gd name="csX29" fmla="*/ 5967667 w 5967667"/>
              <a:gd name="csY29" fmla="*/ 2030931 h 2598821"/>
              <a:gd name="csX30" fmla="*/ 5938791 w 5967667"/>
              <a:gd name="csY30" fmla="*/ 1366788 h 2598821"/>
              <a:gd name="csX31" fmla="*/ 5881040 w 5967667"/>
              <a:gd name="csY31" fmla="*/ 1328287 h 2598821"/>
              <a:gd name="csX32" fmla="*/ 5784787 w 5967667"/>
              <a:gd name="csY32" fmla="*/ 1309036 h 2598821"/>
              <a:gd name="csX33" fmla="*/ 5582657 w 5967667"/>
              <a:gd name="csY33" fmla="*/ 1289786 h 2598821"/>
              <a:gd name="csX34" fmla="*/ 4764509 w 5967667"/>
              <a:gd name="csY34" fmla="*/ 1309036 h 2598821"/>
              <a:gd name="csX35" fmla="*/ 4600880 w 5967667"/>
              <a:gd name="csY35" fmla="*/ 1357162 h 2598821"/>
              <a:gd name="csX36" fmla="*/ 4514252 w 5967667"/>
              <a:gd name="csY36" fmla="*/ 1386038 h 2598821"/>
              <a:gd name="csX37" fmla="*/ 4379499 w 5967667"/>
              <a:gd name="csY37" fmla="*/ 1443790 h 2598821"/>
              <a:gd name="csX38" fmla="*/ 4292871 w 5967667"/>
              <a:gd name="csY38" fmla="*/ 1501541 h 2598821"/>
              <a:gd name="csX39" fmla="*/ 4196619 w 5967667"/>
              <a:gd name="csY39" fmla="*/ 1549668 h 2598821"/>
              <a:gd name="csX40" fmla="*/ 4042614 w 5967667"/>
              <a:gd name="csY40" fmla="*/ 1645920 h 2598821"/>
              <a:gd name="csX41" fmla="*/ 3994488 w 5967667"/>
              <a:gd name="csY41" fmla="*/ 1674796 h 2598821"/>
              <a:gd name="csX42" fmla="*/ 3946362 w 5967667"/>
              <a:gd name="csY42" fmla="*/ 1713297 h 2598821"/>
              <a:gd name="csX43" fmla="*/ 3888610 w 5967667"/>
              <a:gd name="csY43" fmla="*/ 1742173 h 2598821"/>
              <a:gd name="csX44" fmla="*/ 3840484 w 5967667"/>
              <a:gd name="csY44" fmla="*/ 1780674 h 2598821"/>
              <a:gd name="csX45" fmla="*/ 3763482 w 5967667"/>
              <a:gd name="csY45" fmla="*/ 1819175 h 2598821"/>
              <a:gd name="csX46" fmla="*/ 3702848 w 5967667"/>
              <a:gd name="csY46" fmla="*/ 1756962 h 2598821"/>
              <a:gd name="csX47" fmla="*/ 3638153 w 5967667"/>
              <a:gd name="csY47" fmla="*/ 1709036 h 2598821"/>
              <a:gd name="csX48" fmla="*/ 3561351 w 5967667"/>
              <a:gd name="csY48" fmla="*/ 1713297 h 2598821"/>
              <a:gd name="csX49" fmla="*/ 3522850 w 5967667"/>
              <a:gd name="csY49" fmla="*/ 1665171 h 2598821"/>
              <a:gd name="csX50" fmla="*/ 3493974 w 5967667"/>
              <a:gd name="csY50" fmla="*/ 1645920 h 2598821"/>
              <a:gd name="csX51" fmla="*/ 3426598 w 5967667"/>
              <a:gd name="csY51" fmla="*/ 1588169 h 2598821"/>
              <a:gd name="csX52" fmla="*/ 3397722 w 5967667"/>
              <a:gd name="csY52" fmla="*/ 1578543 h 2598821"/>
              <a:gd name="csX53" fmla="*/ 3320720 w 5967667"/>
              <a:gd name="csY53" fmla="*/ 1511167 h 2598821"/>
              <a:gd name="csX54" fmla="*/ 3253343 w 5967667"/>
              <a:gd name="csY54" fmla="*/ 1472666 h 2598821"/>
              <a:gd name="csX55" fmla="*/ 3205217 w 5967667"/>
              <a:gd name="csY55" fmla="*/ 1443790 h 2598821"/>
              <a:gd name="csX56" fmla="*/ 3137840 w 5967667"/>
              <a:gd name="csY56" fmla="*/ 1386038 h 2598821"/>
              <a:gd name="csX57" fmla="*/ 3080088 w 5967667"/>
              <a:gd name="csY57" fmla="*/ 1366788 h 2598821"/>
              <a:gd name="csX58" fmla="*/ 3031962 w 5967667"/>
              <a:gd name="csY58" fmla="*/ 1347537 h 2598821"/>
              <a:gd name="csX59" fmla="*/ 2954960 w 5967667"/>
              <a:gd name="csY59" fmla="*/ 1299411 h 2598821"/>
              <a:gd name="csX60" fmla="*/ 2897208 w 5967667"/>
              <a:gd name="csY60" fmla="*/ 1212783 h 2598821"/>
              <a:gd name="csX61" fmla="*/ 2926084 w 5967667"/>
              <a:gd name="csY61" fmla="*/ 577516 h 2598821"/>
              <a:gd name="csX62" fmla="*/ 2916459 w 5967667"/>
              <a:gd name="csY62" fmla="*/ 308009 h 2598821"/>
              <a:gd name="csX63" fmla="*/ 2897208 w 5967667"/>
              <a:gd name="csY63" fmla="*/ 192506 h 2598821"/>
              <a:gd name="csX64" fmla="*/ 2877958 w 5967667"/>
              <a:gd name="csY64" fmla="*/ 144379 h 2598821"/>
              <a:gd name="csX65" fmla="*/ 2820206 w 5967667"/>
              <a:gd name="csY65" fmla="*/ 77002 h 2598821"/>
              <a:gd name="csX66" fmla="*/ 2791330 w 5967667"/>
              <a:gd name="csY66" fmla="*/ 38501 h 2598821"/>
              <a:gd name="csX67" fmla="*/ 2733579 w 5967667"/>
              <a:gd name="csY67" fmla="*/ 0 h 2598821"/>
              <a:gd name="csX0" fmla="*/ 2791330 w 5967667"/>
              <a:gd name="csY0" fmla="*/ 57752 h 2598821"/>
              <a:gd name="csX1" fmla="*/ 221385 w 5967667"/>
              <a:gd name="csY1" fmla="*/ 67377 h 2598821"/>
              <a:gd name="csX2" fmla="*/ 19254 w 5967667"/>
              <a:gd name="csY2" fmla="*/ 86628 h 2598821"/>
              <a:gd name="csX3" fmla="*/ 19254 w 5967667"/>
              <a:gd name="csY3" fmla="*/ 500514 h 2598821"/>
              <a:gd name="csX4" fmla="*/ 57756 w 5967667"/>
              <a:gd name="csY4" fmla="*/ 606392 h 2598821"/>
              <a:gd name="csX5" fmla="*/ 67381 w 5967667"/>
              <a:gd name="csY5" fmla="*/ 693019 h 2598821"/>
              <a:gd name="csX6" fmla="*/ 77006 w 5967667"/>
              <a:gd name="csY6" fmla="*/ 981777 h 2598821"/>
              <a:gd name="csX7" fmla="*/ 105882 w 5967667"/>
              <a:gd name="csY7" fmla="*/ 1049154 h 2598821"/>
              <a:gd name="csX8" fmla="*/ 134758 w 5967667"/>
              <a:gd name="csY8" fmla="*/ 1126156 h 2598821"/>
              <a:gd name="csX9" fmla="*/ 231010 w 5967667"/>
              <a:gd name="csY9" fmla="*/ 1232034 h 2598821"/>
              <a:gd name="csX10" fmla="*/ 279137 w 5967667"/>
              <a:gd name="csY10" fmla="*/ 1251284 h 2598821"/>
              <a:gd name="csX11" fmla="*/ 914404 w 5967667"/>
              <a:gd name="csY11" fmla="*/ 1270535 h 2598821"/>
              <a:gd name="csX12" fmla="*/ 1164661 w 5967667"/>
              <a:gd name="csY12" fmla="*/ 1578543 h 2598821"/>
              <a:gd name="csX13" fmla="*/ 1212787 w 5967667"/>
              <a:gd name="csY13" fmla="*/ 1665171 h 2598821"/>
              <a:gd name="csX14" fmla="*/ 1280164 w 5967667"/>
              <a:gd name="csY14" fmla="*/ 1761423 h 2598821"/>
              <a:gd name="csX15" fmla="*/ 1337916 w 5967667"/>
              <a:gd name="csY15" fmla="*/ 1867301 h 2598821"/>
              <a:gd name="csX16" fmla="*/ 1607423 w 5967667"/>
              <a:gd name="csY16" fmla="*/ 2146434 h 2598821"/>
              <a:gd name="csX17" fmla="*/ 1896181 w 5967667"/>
              <a:gd name="csY17" fmla="*/ 2300438 h 2598821"/>
              <a:gd name="csX18" fmla="*/ 1992433 w 5967667"/>
              <a:gd name="csY18" fmla="*/ 2338939 h 2598821"/>
              <a:gd name="csX19" fmla="*/ 2252316 w 5967667"/>
              <a:gd name="csY19" fmla="*/ 2387066 h 2598821"/>
              <a:gd name="csX20" fmla="*/ 2839457 w 5967667"/>
              <a:gd name="csY20" fmla="*/ 2464068 h 2598821"/>
              <a:gd name="csX21" fmla="*/ 3157090 w 5967667"/>
              <a:gd name="csY21" fmla="*/ 2502569 h 2598821"/>
              <a:gd name="csX22" fmla="*/ 3696105 w 5967667"/>
              <a:gd name="csY22" fmla="*/ 2521819 h 2598821"/>
              <a:gd name="csX23" fmla="*/ 4081116 w 5967667"/>
              <a:gd name="csY23" fmla="*/ 2560320 h 2598821"/>
              <a:gd name="csX24" fmla="*/ 4475751 w 5967667"/>
              <a:gd name="csY24" fmla="*/ 2569946 h 2598821"/>
              <a:gd name="csX25" fmla="*/ 4957014 w 5967667"/>
              <a:gd name="csY25" fmla="*/ 2598821 h 2598821"/>
              <a:gd name="csX26" fmla="*/ 5852164 w 5967667"/>
              <a:gd name="csY26" fmla="*/ 2569946 h 2598821"/>
              <a:gd name="csX27" fmla="*/ 5929166 w 5967667"/>
              <a:gd name="csY27" fmla="*/ 2483318 h 2598821"/>
              <a:gd name="csX28" fmla="*/ 5948417 w 5967667"/>
              <a:gd name="csY28" fmla="*/ 2300438 h 2598821"/>
              <a:gd name="csX29" fmla="*/ 5967667 w 5967667"/>
              <a:gd name="csY29" fmla="*/ 2030931 h 2598821"/>
              <a:gd name="csX30" fmla="*/ 5938791 w 5967667"/>
              <a:gd name="csY30" fmla="*/ 1366788 h 2598821"/>
              <a:gd name="csX31" fmla="*/ 5881040 w 5967667"/>
              <a:gd name="csY31" fmla="*/ 1328287 h 2598821"/>
              <a:gd name="csX32" fmla="*/ 5784787 w 5967667"/>
              <a:gd name="csY32" fmla="*/ 1309036 h 2598821"/>
              <a:gd name="csX33" fmla="*/ 5582657 w 5967667"/>
              <a:gd name="csY33" fmla="*/ 1289786 h 2598821"/>
              <a:gd name="csX34" fmla="*/ 4764509 w 5967667"/>
              <a:gd name="csY34" fmla="*/ 1309036 h 2598821"/>
              <a:gd name="csX35" fmla="*/ 4600880 w 5967667"/>
              <a:gd name="csY35" fmla="*/ 1357162 h 2598821"/>
              <a:gd name="csX36" fmla="*/ 4514252 w 5967667"/>
              <a:gd name="csY36" fmla="*/ 1386038 h 2598821"/>
              <a:gd name="csX37" fmla="*/ 4379499 w 5967667"/>
              <a:gd name="csY37" fmla="*/ 1443790 h 2598821"/>
              <a:gd name="csX38" fmla="*/ 4292871 w 5967667"/>
              <a:gd name="csY38" fmla="*/ 1501541 h 2598821"/>
              <a:gd name="csX39" fmla="*/ 4196619 w 5967667"/>
              <a:gd name="csY39" fmla="*/ 1549668 h 2598821"/>
              <a:gd name="csX40" fmla="*/ 4042614 w 5967667"/>
              <a:gd name="csY40" fmla="*/ 1645920 h 2598821"/>
              <a:gd name="csX41" fmla="*/ 3994488 w 5967667"/>
              <a:gd name="csY41" fmla="*/ 1674796 h 2598821"/>
              <a:gd name="csX42" fmla="*/ 3946362 w 5967667"/>
              <a:gd name="csY42" fmla="*/ 1713297 h 2598821"/>
              <a:gd name="csX43" fmla="*/ 3888610 w 5967667"/>
              <a:gd name="csY43" fmla="*/ 1742173 h 2598821"/>
              <a:gd name="csX44" fmla="*/ 3840484 w 5967667"/>
              <a:gd name="csY44" fmla="*/ 1780674 h 2598821"/>
              <a:gd name="csX45" fmla="*/ 3763482 w 5967667"/>
              <a:gd name="csY45" fmla="*/ 1819175 h 2598821"/>
              <a:gd name="csX46" fmla="*/ 3702848 w 5967667"/>
              <a:gd name="csY46" fmla="*/ 1756962 h 2598821"/>
              <a:gd name="csX47" fmla="*/ 3638153 w 5967667"/>
              <a:gd name="csY47" fmla="*/ 1709036 h 2598821"/>
              <a:gd name="csX48" fmla="*/ 3578020 w 5967667"/>
              <a:gd name="csY48" fmla="*/ 1684722 h 2598821"/>
              <a:gd name="csX49" fmla="*/ 3522850 w 5967667"/>
              <a:gd name="csY49" fmla="*/ 1665171 h 2598821"/>
              <a:gd name="csX50" fmla="*/ 3493974 w 5967667"/>
              <a:gd name="csY50" fmla="*/ 1645920 h 2598821"/>
              <a:gd name="csX51" fmla="*/ 3426598 w 5967667"/>
              <a:gd name="csY51" fmla="*/ 1588169 h 2598821"/>
              <a:gd name="csX52" fmla="*/ 3397722 w 5967667"/>
              <a:gd name="csY52" fmla="*/ 1578543 h 2598821"/>
              <a:gd name="csX53" fmla="*/ 3320720 w 5967667"/>
              <a:gd name="csY53" fmla="*/ 1511167 h 2598821"/>
              <a:gd name="csX54" fmla="*/ 3253343 w 5967667"/>
              <a:gd name="csY54" fmla="*/ 1472666 h 2598821"/>
              <a:gd name="csX55" fmla="*/ 3205217 w 5967667"/>
              <a:gd name="csY55" fmla="*/ 1443790 h 2598821"/>
              <a:gd name="csX56" fmla="*/ 3137840 w 5967667"/>
              <a:gd name="csY56" fmla="*/ 1386038 h 2598821"/>
              <a:gd name="csX57" fmla="*/ 3080088 w 5967667"/>
              <a:gd name="csY57" fmla="*/ 1366788 h 2598821"/>
              <a:gd name="csX58" fmla="*/ 3031962 w 5967667"/>
              <a:gd name="csY58" fmla="*/ 1347537 h 2598821"/>
              <a:gd name="csX59" fmla="*/ 2954960 w 5967667"/>
              <a:gd name="csY59" fmla="*/ 1299411 h 2598821"/>
              <a:gd name="csX60" fmla="*/ 2897208 w 5967667"/>
              <a:gd name="csY60" fmla="*/ 1212783 h 2598821"/>
              <a:gd name="csX61" fmla="*/ 2926084 w 5967667"/>
              <a:gd name="csY61" fmla="*/ 577516 h 2598821"/>
              <a:gd name="csX62" fmla="*/ 2916459 w 5967667"/>
              <a:gd name="csY62" fmla="*/ 308009 h 2598821"/>
              <a:gd name="csX63" fmla="*/ 2897208 w 5967667"/>
              <a:gd name="csY63" fmla="*/ 192506 h 2598821"/>
              <a:gd name="csX64" fmla="*/ 2877958 w 5967667"/>
              <a:gd name="csY64" fmla="*/ 144379 h 2598821"/>
              <a:gd name="csX65" fmla="*/ 2820206 w 5967667"/>
              <a:gd name="csY65" fmla="*/ 77002 h 2598821"/>
              <a:gd name="csX66" fmla="*/ 2791330 w 5967667"/>
              <a:gd name="csY66" fmla="*/ 38501 h 2598821"/>
              <a:gd name="csX67" fmla="*/ 2733579 w 5967667"/>
              <a:gd name="csY67" fmla="*/ 0 h 2598821"/>
              <a:gd name="csX0" fmla="*/ 2791330 w 5967667"/>
              <a:gd name="csY0" fmla="*/ 57752 h 2598821"/>
              <a:gd name="csX1" fmla="*/ 221385 w 5967667"/>
              <a:gd name="csY1" fmla="*/ 67377 h 2598821"/>
              <a:gd name="csX2" fmla="*/ 19254 w 5967667"/>
              <a:gd name="csY2" fmla="*/ 86628 h 2598821"/>
              <a:gd name="csX3" fmla="*/ 19254 w 5967667"/>
              <a:gd name="csY3" fmla="*/ 500514 h 2598821"/>
              <a:gd name="csX4" fmla="*/ 57756 w 5967667"/>
              <a:gd name="csY4" fmla="*/ 606392 h 2598821"/>
              <a:gd name="csX5" fmla="*/ 67381 w 5967667"/>
              <a:gd name="csY5" fmla="*/ 693019 h 2598821"/>
              <a:gd name="csX6" fmla="*/ 77006 w 5967667"/>
              <a:gd name="csY6" fmla="*/ 981777 h 2598821"/>
              <a:gd name="csX7" fmla="*/ 105882 w 5967667"/>
              <a:gd name="csY7" fmla="*/ 1049154 h 2598821"/>
              <a:gd name="csX8" fmla="*/ 134758 w 5967667"/>
              <a:gd name="csY8" fmla="*/ 1126156 h 2598821"/>
              <a:gd name="csX9" fmla="*/ 231010 w 5967667"/>
              <a:gd name="csY9" fmla="*/ 1232034 h 2598821"/>
              <a:gd name="csX10" fmla="*/ 279137 w 5967667"/>
              <a:gd name="csY10" fmla="*/ 1251284 h 2598821"/>
              <a:gd name="csX11" fmla="*/ 914404 w 5967667"/>
              <a:gd name="csY11" fmla="*/ 1270535 h 2598821"/>
              <a:gd name="csX12" fmla="*/ 1164661 w 5967667"/>
              <a:gd name="csY12" fmla="*/ 1578543 h 2598821"/>
              <a:gd name="csX13" fmla="*/ 1212787 w 5967667"/>
              <a:gd name="csY13" fmla="*/ 1665171 h 2598821"/>
              <a:gd name="csX14" fmla="*/ 1280164 w 5967667"/>
              <a:gd name="csY14" fmla="*/ 1761423 h 2598821"/>
              <a:gd name="csX15" fmla="*/ 1337916 w 5967667"/>
              <a:gd name="csY15" fmla="*/ 1867301 h 2598821"/>
              <a:gd name="csX16" fmla="*/ 1607423 w 5967667"/>
              <a:gd name="csY16" fmla="*/ 2146434 h 2598821"/>
              <a:gd name="csX17" fmla="*/ 1896181 w 5967667"/>
              <a:gd name="csY17" fmla="*/ 2300438 h 2598821"/>
              <a:gd name="csX18" fmla="*/ 1992433 w 5967667"/>
              <a:gd name="csY18" fmla="*/ 2338939 h 2598821"/>
              <a:gd name="csX19" fmla="*/ 2252316 w 5967667"/>
              <a:gd name="csY19" fmla="*/ 2387066 h 2598821"/>
              <a:gd name="csX20" fmla="*/ 2839457 w 5967667"/>
              <a:gd name="csY20" fmla="*/ 2464068 h 2598821"/>
              <a:gd name="csX21" fmla="*/ 3157090 w 5967667"/>
              <a:gd name="csY21" fmla="*/ 2502569 h 2598821"/>
              <a:gd name="csX22" fmla="*/ 3696105 w 5967667"/>
              <a:gd name="csY22" fmla="*/ 2521819 h 2598821"/>
              <a:gd name="csX23" fmla="*/ 4081116 w 5967667"/>
              <a:gd name="csY23" fmla="*/ 2560320 h 2598821"/>
              <a:gd name="csX24" fmla="*/ 4475751 w 5967667"/>
              <a:gd name="csY24" fmla="*/ 2569946 h 2598821"/>
              <a:gd name="csX25" fmla="*/ 4957014 w 5967667"/>
              <a:gd name="csY25" fmla="*/ 2598821 h 2598821"/>
              <a:gd name="csX26" fmla="*/ 5852164 w 5967667"/>
              <a:gd name="csY26" fmla="*/ 2569946 h 2598821"/>
              <a:gd name="csX27" fmla="*/ 5929166 w 5967667"/>
              <a:gd name="csY27" fmla="*/ 2483318 h 2598821"/>
              <a:gd name="csX28" fmla="*/ 5948417 w 5967667"/>
              <a:gd name="csY28" fmla="*/ 2300438 h 2598821"/>
              <a:gd name="csX29" fmla="*/ 5967667 w 5967667"/>
              <a:gd name="csY29" fmla="*/ 2030931 h 2598821"/>
              <a:gd name="csX30" fmla="*/ 5938791 w 5967667"/>
              <a:gd name="csY30" fmla="*/ 1366788 h 2598821"/>
              <a:gd name="csX31" fmla="*/ 5881040 w 5967667"/>
              <a:gd name="csY31" fmla="*/ 1328287 h 2598821"/>
              <a:gd name="csX32" fmla="*/ 5784787 w 5967667"/>
              <a:gd name="csY32" fmla="*/ 1309036 h 2598821"/>
              <a:gd name="csX33" fmla="*/ 5582657 w 5967667"/>
              <a:gd name="csY33" fmla="*/ 1289786 h 2598821"/>
              <a:gd name="csX34" fmla="*/ 4764509 w 5967667"/>
              <a:gd name="csY34" fmla="*/ 1309036 h 2598821"/>
              <a:gd name="csX35" fmla="*/ 4600880 w 5967667"/>
              <a:gd name="csY35" fmla="*/ 1357162 h 2598821"/>
              <a:gd name="csX36" fmla="*/ 4514252 w 5967667"/>
              <a:gd name="csY36" fmla="*/ 1386038 h 2598821"/>
              <a:gd name="csX37" fmla="*/ 4379499 w 5967667"/>
              <a:gd name="csY37" fmla="*/ 1443790 h 2598821"/>
              <a:gd name="csX38" fmla="*/ 4292871 w 5967667"/>
              <a:gd name="csY38" fmla="*/ 1501541 h 2598821"/>
              <a:gd name="csX39" fmla="*/ 4196619 w 5967667"/>
              <a:gd name="csY39" fmla="*/ 1549668 h 2598821"/>
              <a:gd name="csX40" fmla="*/ 4042614 w 5967667"/>
              <a:gd name="csY40" fmla="*/ 1645920 h 2598821"/>
              <a:gd name="csX41" fmla="*/ 3994488 w 5967667"/>
              <a:gd name="csY41" fmla="*/ 1674796 h 2598821"/>
              <a:gd name="csX42" fmla="*/ 3946362 w 5967667"/>
              <a:gd name="csY42" fmla="*/ 1713297 h 2598821"/>
              <a:gd name="csX43" fmla="*/ 3888610 w 5967667"/>
              <a:gd name="csY43" fmla="*/ 1742173 h 2598821"/>
              <a:gd name="csX44" fmla="*/ 3840484 w 5967667"/>
              <a:gd name="csY44" fmla="*/ 1780674 h 2598821"/>
              <a:gd name="csX45" fmla="*/ 3763482 w 5967667"/>
              <a:gd name="csY45" fmla="*/ 1819175 h 2598821"/>
              <a:gd name="csX46" fmla="*/ 3702848 w 5967667"/>
              <a:gd name="csY46" fmla="*/ 1756962 h 2598821"/>
              <a:gd name="csX47" fmla="*/ 3638153 w 5967667"/>
              <a:gd name="csY47" fmla="*/ 1709036 h 2598821"/>
              <a:gd name="csX48" fmla="*/ 3578020 w 5967667"/>
              <a:gd name="csY48" fmla="*/ 1684722 h 2598821"/>
              <a:gd name="csX49" fmla="*/ 3522850 w 5967667"/>
              <a:gd name="csY49" fmla="*/ 1665171 h 2598821"/>
              <a:gd name="csX50" fmla="*/ 3493974 w 5967667"/>
              <a:gd name="csY50" fmla="*/ 1645920 h 2598821"/>
              <a:gd name="csX51" fmla="*/ 3426598 w 5967667"/>
              <a:gd name="csY51" fmla="*/ 1588169 h 2598821"/>
              <a:gd name="csX52" fmla="*/ 3397722 w 5967667"/>
              <a:gd name="csY52" fmla="*/ 1578543 h 2598821"/>
              <a:gd name="csX53" fmla="*/ 3320720 w 5967667"/>
              <a:gd name="csY53" fmla="*/ 1511167 h 2598821"/>
              <a:gd name="csX54" fmla="*/ 3253343 w 5967667"/>
              <a:gd name="csY54" fmla="*/ 1472666 h 2598821"/>
              <a:gd name="csX55" fmla="*/ 3205217 w 5967667"/>
              <a:gd name="csY55" fmla="*/ 1443790 h 2598821"/>
              <a:gd name="csX56" fmla="*/ 3135459 w 5967667"/>
              <a:gd name="csY56" fmla="*/ 1412232 h 2598821"/>
              <a:gd name="csX57" fmla="*/ 3080088 w 5967667"/>
              <a:gd name="csY57" fmla="*/ 1366788 h 2598821"/>
              <a:gd name="csX58" fmla="*/ 3031962 w 5967667"/>
              <a:gd name="csY58" fmla="*/ 1347537 h 2598821"/>
              <a:gd name="csX59" fmla="*/ 2954960 w 5967667"/>
              <a:gd name="csY59" fmla="*/ 1299411 h 2598821"/>
              <a:gd name="csX60" fmla="*/ 2897208 w 5967667"/>
              <a:gd name="csY60" fmla="*/ 1212783 h 2598821"/>
              <a:gd name="csX61" fmla="*/ 2926084 w 5967667"/>
              <a:gd name="csY61" fmla="*/ 577516 h 2598821"/>
              <a:gd name="csX62" fmla="*/ 2916459 w 5967667"/>
              <a:gd name="csY62" fmla="*/ 308009 h 2598821"/>
              <a:gd name="csX63" fmla="*/ 2897208 w 5967667"/>
              <a:gd name="csY63" fmla="*/ 192506 h 2598821"/>
              <a:gd name="csX64" fmla="*/ 2877958 w 5967667"/>
              <a:gd name="csY64" fmla="*/ 144379 h 2598821"/>
              <a:gd name="csX65" fmla="*/ 2820206 w 5967667"/>
              <a:gd name="csY65" fmla="*/ 77002 h 2598821"/>
              <a:gd name="csX66" fmla="*/ 2791330 w 5967667"/>
              <a:gd name="csY66" fmla="*/ 38501 h 2598821"/>
              <a:gd name="csX67" fmla="*/ 2733579 w 5967667"/>
              <a:gd name="csY67" fmla="*/ 0 h 2598821"/>
              <a:gd name="csX0" fmla="*/ 2776992 w 5953329"/>
              <a:gd name="csY0" fmla="*/ 57752 h 2598821"/>
              <a:gd name="csX1" fmla="*/ 207047 w 5953329"/>
              <a:gd name="csY1" fmla="*/ 67377 h 2598821"/>
              <a:gd name="csX2" fmla="*/ 162078 w 5953329"/>
              <a:gd name="csY2" fmla="*/ 131872 h 2598821"/>
              <a:gd name="csX3" fmla="*/ 4916 w 5953329"/>
              <a:gd name="csY3" fmla="*/ 500514 h 2598821"/>
              <a:gd name="csX4" fmla="*/ 43418 w 5953329"/>
              <a:gd name="csY4" fmla="*/ 606392 h 2598821"/>
              <a:gd name="csX5" fmla="*/ 53043 w 5953329"/>
              <a:gd name="csY5" fmla="*/ 693019 h 2598821"/>
              <a:gd name="csX6" fmla="*/ 62668 w 5953329"/>
              <a:gd name="csY6" fmla="*/ 981777 h 2598821"/>
              <a:gd name="csX7" fmla="*/ 91544 w 5953329"/>
              <a:gd name="csY7" fmla="*/ 1049154 h 2598821"/>
              <a:gd name="csX8" fmla="*/ 120420 w 5953329"/>
              <a:gd name="csY8" fmla="*/ 1126156 h 2598821"/>
              <a:gd name="csX9" fmla="*/ 216672 w 5953329"/>
              <a:gd name="csY9" fmla="*/ 1232034 h 2598821"/>
              <a:gd name="csX10" fmla="*/ 264799 w 5953329"/>
              <a:gd name="csY10" fmla="*/ 1251284 h 2598821"/>
              <a:gd name="csX11" fmla="*/ 900066 w 5953329"/>
              <a:gd name="csY11" fmla="*/ 1270535 h 2598821"/>
              <a:gd name="csX12" fmla="*/ 1150323 w 5953329"/>
              <a:gd name="csY12" fmla="*/ 1578543 h 2598821"/>
              <a:gd name="csX13" fmla="*/ 1198449 w 5953329"/>
              <a:gd name="csY13" fmla="*/ 1665171 h 2598821"/>
              <a:gd name="csX14" fmla="*/ 1265826 w 5953329"/>
              <a:gd name="csY14" fmla="*/ 1761423 h 2598821"/>
              <a:gd name="csX15" fmla="*/ 1323578 w 5953329"/>
              <a:gd name="csY15" fmla="*/ 1867301 h 2598821"/>
              <a:gd name="csX16" fmla="*/ 1593085 w 5953329"/>
              <a:gd name="csY16" fmla="*/ 2146434 h 2598821"/>
              <a:gd name="csX17" fmla="*/ 1881843 w 5953329"/>
              <a:gd name="csY17" fmla="*/ 2300438 h 2598821"/>
              <a:gd name="csX18" fmla="*/ 1978095 w 5953329"/>
              <a:gd name="csY18" fmla="*/ 2338939 h 2598821"/>
              <a:gd name="csX19" fmla="*/ 2237978 w 5953329"/>
              <a:gd name="csY19" fmla="*/ 2387066 h 2598821"/>
              <a:gd name="csX20" fmla="*/ 2825119 w 5953329"/>
              <a:gd name="csY20" fmla="*/ 2464068 h 2598821"/>
              <a:gd name="csX21" fmla="*/ 3142752 w 5953329"/>
              <a:gd name="csY21" fmla="*/ 2502569 h 2598821"/>
              <a:gd name="csX22" fmla="*/ 3681767 w 5953329"/>
              <a:gd name="csY22" fmla="*/ 2521819 h 2598821"/>
              <a:gd name="csX23" fmla="*/ 4066778 w 5953329"/>
              <a:gd name="csY23" fmla="*/ 2560320 h 2598821"/>
              <a:gd name="csX24" fmla="*/ 4461413 w 5953329"/>
              <a:gd name="csY24" fmla="*/ 2569946 h 2598821"/>
              <a:gd name="csX25" fmla="*/ 4942676 w 5953329"/>
              <a:gd name="csY25" fmla="*/ 2598821 h 2598821"/>
              <a:gd name="csX26" fmla="*/ 5837826 w 5953329"/>
              <a:gd name="csY26" fmla="*/ 2569946 h 2598821"/>
              <a:gd name="csX27" fmla="*/ 5914828 w 5953329"/>
              <a:gd name="csY27" fmla="*/ 2483318 h 2598821"/>
              <a:gd name="csX28" fmla="*/ 5934079 w 5953329"/>
              <a:gd name="csY28" fmla="*/ 2300438 h 2598821"/>
              <a:gd name="csX29" fmla="*/ 5953329 w 5953329"/>
              <a:gd name="csY29" fmla="*/ 2030931 h 2598821"/>
              <a:gd name="csX30" fmla="*/ 5924453 w 5953329"/>
              <a:gd name="csY30" fmla="*/ 1366788 h 2598821"/>
              <a:gd name="csX31" fmla="*/ 5866702 w 5953329"/>
              <a:gd name="csY31" fmla="*/ 1328287 h 2598821"/>
              <a:gd name="csX32" fmla="*/ 5770449 w 5953329"/>
              <a:gd name="csY32" fmla="*/ 1309036 h 2598821"/>
              <a:gd name="csX33" fmla="*/ 5568319 w 5953329"/>
              <a:gd name="csY33" fmla="*/ 1289786 h 2598821"/>
              <a:gd name="csX34" fmla="*/ 4750171 w 5953329"/>
              <a:gd name="csY34" fmla="*/ 1309036 h 2598821"/>
              <a:gd name="csX35" fmla="*/ 4586542 w 5953329"/>
              <a:gd name="csY35" fmla="*/ 1357162 h 2598821"/>
              <a:gd name="csX36" fmla="*/ 4499914 w 5953329"/>
              <a:gd name="csY36" fmla="*/ 1386038 h 2598821"/>
              <a:gd name="csX37" fmla="*/ 4365161 w 5953329"/>
              <a:gd name="csY37" fmla="*/ 1443790 h 2598821"/>
              <a:gd name="csX38" fmla="*/ 4278533 w 5953329"/>
              <a:gd name="csY38" fmla="*/ 1501541 h 2598821"/>
              <a:gd name="csX39" fmla="*/ 4182281 w 5953329"/>
              <a:gd name="csY39" fmla="*/ 1549668 h 2598821"/>
              <a:gd name="csX40" fmla="*/ 4028276 w 5953329"/>
              <a:gd name="csY40" fmla="*/ 1645920 h 2598821"/>
              <a:gd name="csX41" fmla="*/ 3980150 w 5953329"/>
              <a:gd name="csY41" fmla="*/ 1674796 h 2598821"/>
              <a:gd name="csX42" fmla="*/ 3932024 w 5953329"/>
              <a:gd name="csY42" fmla="*/ 1713297 h 2598821"/>
              <a:gd name="csX43" fmla="*/ 3874272 w 5953329"/>
              <a:gd name="csY43" fmla="*/ 1742173 h 2598821"/>
              <a:gd name="csX44" fmla="*/ 3826146 w 5953329"/>
              <a:gd name="csY44" fmla="*/ 1780674 h 2598821"/>
              <a:gd name="csX45" fmla="*/ 3749144 w 5953329"/>
              <a:gd name="csY45" fmla="*/ 1819175 h 2598821"/>
              <a:gd name="csX46" fmla="*/ 3688510 w 5953329"/>
              <a:gd name="csY46" fmla="*/ 1756962 h 2598821"/>
              <a:gd name="csX47" fmla="*/ 3623815 w 5953329"/>
              <a:gd name="csY47" fmla="*/ 1709036 h 2598821"/>
              <a:gd name="csX48" fmla="*/ 3563682 w 5953329"/>
              <a:gd name="csY48" fmla="*/ 1684722 h 2598821"/>
              <a:gd name="csX49" fmla="*/ 3508512 w 5953329"/>
              <a:gd name="csY49" fmla="*/ 1665171 h 2598821"/>
              <a:gd name="csX50" fmla="*/ 3479636 w 5953329"/>
              <a:gd name="csY50" fmla="*/ 1645920 h 2598821"/>
              <a:gd name="csX51" fmla="*/ 3412260 w 5953329"/>
              <a:gd name="csY51" fmla="*/ 1588169 h 2598821"/>
              <a:gd name="csX52" fmla="*/ 3383384 w 5953329"/>
              <a:gd name="csY52" fmla="*/ 1578543 h 2598821"/>
              <a:gd name="csX53" fmla="*/ 3306382 w 5953329"/>
              <a:gd name="csY53" fmla="*/ 1511167 h 2598821"/>
              <a:gd name="csX54" fmla="*/ 3239005 w 5953329"/>
              <a:gd name="csY54" fmla="*/ 1472666 h 2598821"/>
              <a:gd name="csX55" fmla="*/ 3190879 w 5953329"/>
              <a:gd name="csY55" fmla="*/ 1443790 h 2598821"/>
              <a:gd name="csX56" fmla="*/ 3121121 w 5953329"/>
              <a:gd name="csY56" fmla="*/ 1412232 h 2598821"/>
              <a:gd name="csX57" fmla="*/ 3065750 w 5953329"/>
              <a:gd name="csY57" fmla="*/ 1366788 h 2598821"/>
              <a:gd name="csX58" fmla="*/ 3017624 w 5953329"/>
              <a:gd name="csY58" fmla="*/ 1347537 h 2598821"/>
              <a:gd name="csX59" fmla="*/ 2940622 w 5953329"/>
              <a:gd name="csY59" fmla="*/ 1299411 h 2598821"/>
              <a:gd name="csX60" fmla="*/ 2882870 w 5953329"/>
              <a:gd name="csY60" fmla="*/ 1212783 h 2598821"/>
              <a:gd name="csX61" fmla="*/ 2911746 w 5953329"/>
              <a:gd name="csY61" fmla="*/ 577516 h 2598821"/>
              <a:gd name="csX62" fmla="*/ 2902121 w 5953329"/>
              <a:gd name="csY62" fmla="*/ 308009 h 2598821"/>
              <a:gd name="csX63" fmla="*/ 2882870 w 5953329"/>
              <a:gd name="csY63" fmla="*/ 192506 h 2598821"/>
              <a:gd name="csX64" fmla="*/ 2863620 w 5953329"/>
              <a:gd name="csY64" fmla="*/ 144379 h 2598821"/>
              <a:gd name="csX65" fmla="*/ 2805868 w 5953329"/>
              <a:gd name="csY65" fmla="*/ 77002 h 2598821"/>
              <a:gd name="csX66" fmla="*/ 2776992 w 5953329"/>
              <a:gd name="csY66" fmla="*/ 38501 h 2598821"/>
              <a:gd name="csX67" fmla="*/ 2719241 w 5953329"/>
              <a:gd name="csY67" fmla="*/ 0 h 2598821"/>
              <a:gd name="csX0" fmla="*/ 2734685 w 5911022"/>
              <a:gd name="csY0" fmla="*/ 57752 h 2598821"/>
              <a:gd name="csX1" fmla="*/ 164740 w 5911022"/>
              <a:gd name="csY1" fmla="*/ 67377 h 2598821"/>
              <a:gd name="csX2" fmla="*/ 119771 w 5911022"/>
              <a:gd name="csY2" fmla="*/ 131872 h 2598821"/>
              <a:gd name="csX3" fmla="*/ 110246 w 5911022"/>
              <a:gd name="csY3" fmla="*/ 543376 h 2598821"/>
              <a:gd name="csX4" fmla="*/ 1111 w 5911022"/>
              <a:gd name="csY4" fmla="*/ 606392 h 2598821"/>
              <a:gd name="csX5" fmla="*/ 10736 w 5911022"/>
              <a:gd name="csY5" fmla="*/ 693019 h 2598821"/>
              <a:gd name="csX6" fmla="*/ 20361 w 5911022"/>
              <a:gd name="csY6" fmla="*/ 981777 h 2598821"/>
              <a:gd name="csX7" fmla="*/ 49237 w 5911022"/>
              <a:gd name="csY7" fmla="*/ 1049154 h 2598821"/>
              <a:gd name="csX8" fmla="*/ 78113 w 5911022"/>
              <a:gd name="csY8" fmla="*/ 1126156 h 2598821"/>
              <a:gd name="csX9" fmla="*/ 174365 w 5911022"/>
              <a:gd name="csY9" fmla="*/ 1232034 h 2598821"/>
              <a:gd name="csX10" fmla="*/ 222492 w 5911022"/>
              <a:gd name="csY10" fmla="*/ 1251284 h 2598821"/>
              <a:gd name="csX11" fmla="*/ 857759 w 5911022"/>
              <a:gd name="csY11" fmla="*/ 1270535 h 2598821"/>
              <a:gd name="csX12" fmla="*/ 1108016 w 5911022"/>
              <a:gd name="csY12" fmla="*/ 1578543 h 2598821"/>
              <a:gd name="csX13" fmla="*/ 1156142 w 5911022"/>
              <a:gd name="csY13" fmla="*/ 1665171 h 2598821"/>
              <a:gd name="csX14" fmla="*/ 1223519 w 5911022"/>
              <a:gd name="csY14" fmla="*/ 1761423 h 2598821"/>
              <a:gd name="csX15" fmla="*/ 1281271 w 5911022"/>
              <a:gd name="csY15" fmla="*/ 1867301 h 2598821"/>
              <a:gd name="csX16" fmla="*/ 1550778 w 5911022"/>
              <a:gd name="csY16" fmla="*/ 2146434 h 2598821"/>
              <a:gd name="csX17" fmla="*/ 1839536 w 5911022"/>
              <a:gd name="csY17" fmla="*/ 2300438 h 2598821"/>
              <a:gd name="csX18" fmla="*/ 1935788 w 5911022"/>
              <a:gd name="csY18" fmla="*/ 2338939 h 2598821"/>
              <a:gd name="csX19" fmla="*/ 2195671 w 5911022"/>
              <a:gd name="csY19" fmla="*/ 2387066 h 2598821"/>
              <a:gd name="csX20" fmla="*/ 2782812 w 5911022"/>
              <a:gd name="csY20" fmla="*/ 2464068 h 2598821"/>
              <a:gd name="csX21" fmla="*/ 3100445 w 5911022"/>
              <a:gd name="csY21" fmla="*/ 2502569 h 2598821"/>
              <a:gd name="csX22" fmla="*/ 3639460 w 5911022"/>
              <a:gd name="csY22" fmla="*/ 2521819 h 2598821"/>
              <a:gd name="csX23" fmla="*/ 4024471 w 5911022"/>
              <a:gd name="csY23" fmla="*/ 2560320 h 2598821"/>
              <a:gd name="csX24" fmla="*/ 4419106 w 5911022"/>
              <a:gd name="csY24" fmla="*/ 2569946 h 2598821"/>
              <a:gd name="csX25" fmla="*/ 4900369 w 5911022"/>
              <a:gd name="csY25" fmla="*/ 2598821 h 2598821"/>
              <a:gd name="csX26" fmla="*/ 5795519 w 5911022"/>
              <a:gd name="csY26" fmla="*/ 2569946 h 2598821"/>
              <a:gd name="csX27" fmla="*/ 5872521 w 5911022"/>
              <a:gd name="csY27" fmla="*/ 2483318 h 2598821"/>
              <a:gd name="csX28" fmla="*/ 5891772 w 5911022"/>
              <a:gd name="csY28" fmla="*/ 2300438 h 2598821"/>
              <a:gd name="csX29" fmla="*/ 5911022 w 5911022"/>
              <a:gd name="csY29" fmla="*/ 2030931 h 2598821"/>
              <a:gd name="csX30" fmla="*/ 5882146 w 5911022"/>
              <a:gd name="csY30" fmla="*/ 1366788 h 2598821"/>
              <a:gd name="csX31" fmla="*/ 5824395 w 5911022"/>
              <a:gd name="csY31" fmla="*/ 1328287 h 2598821"/>
              <a:gd name="csX32" fmla="*/ 5728142 w 5911022"/>
              <a:gd name="csY32" fmla="*/ 1309036 h 2598821"/>
              <a:gd name="csX33" fmla="*/ 5526012 w 5911022"/>
              <a:gd name="csY33" fmla="*/ 1289786 h 2598821"/>
              <a:gd name="csX34" fmla="*/ 4707864 w 5911022"/>
              <a:gd name="csY34" fmla="*/ 1309036 h 2598821"/>
              <a:gd name="csX35" fmla="*/ 4544235 w 5911022"/>
              <a:gd name="csY35" fmla="*/ 1357162 h 2598821"/>
              <a:gd name="csX36" fmla="*/ 4457607 w 5911022"/>
              <a:gd name="csY36" fmla="*/ 1386038 h 2598821"/>
              <a:gd name="csX37" fmla="*/ 4322854 w 5911022"/>
              <a:gd name="csY37" fmla="*/ 1443790 h 2598821"/>
              <a:gd name="csX38" fmla="*/ 4236226 w 5911022"/>
              <a:gd name="csY38" fmla="*/ 1501541 h 2598821"/>
              <a:gd name="csX39" fmla="*/ 4139974 w 5911022"/>
              <a:gd name="csY39" fmla="*/ 1549668 h 2598821"/>
              <a:gd name="csX40" fmla="*/ 3985969 w 5911022"/>
              <a:gd name="csY40" fmla="*/ 1645920 h 2598821"/>
              <a:gd name="csX41" fmla="*/ 3937843 w 5911022"/>
              <a:gd name="csY41" fmla="*/ 1674796 h 2598821"/>
              <a:gd name="csX42" fmla="*/ 3889717 w 5911022"/>
              <a:gd name="csY42" fmla="*/ 1713297 h 2598821"/>
              <a:gd name="csX43" fmla="*/ 3831965 w 5911022"/>
              <a:gd name="csY43" fmla="*/ 1742173 h 2598821"/>
              <a:gd name="csX44" fmla="*/ 3783839 w 5911022"/>
              <a:gd name="csY44" fmla="*/ 1780674 h 2598821"/>
              <a:gd name="csX45" fmla="*/ 3706837 w 5911022"/>
              <a:gd name="csY45" fmla="*/ 1819175 h 2598821"/>
              <a:gd name="csX46" fmla="*/ 3646203 w 5911022"/>
              <a:gd name="csY46" fmla="*/ 1756962 h 2598821"/>
              <a:gd name="csX47" fmla="*/ 3581508 w 5911022"/>
              <a:gd name="csY47" fmla="*/ 1709036 h 2598821"/>
              <a:gd name="csX48" fmla="*/ 3521375 w 5911022"/>
              <a:gd name="csY48" fmla="*/ 1684722 h 2598821"/>
              <a:gd name="csX49" fmla="*/ 3466205 w 5911022"/>
              <a:gd name="csY49" fmla="*/ 1665171 h 2598821"/>
              <a:gd name="csX50" fmla="*/ 3437329 w 5911022"/>
              <a:gd name="csY50" fmla="*/ 1645920 h 2598821"/>
              <a:gd name="csX51" fmla="*/ 3369953 w 5911022"/>
              <a:gd name="csY51" fmla="*/ 1588169 h 2598821"/>
              <a:gd name="csX52" fmla="*/ 3341077 w 5911022"/>
              <a:gd name="csY52" fmla="*/ 1578543 h 2598821"/>
              <a:gd name="csX53" fmla="*/ 3264075 w 5911022"/>
              <a:gd name="csY53" fmla="*/ 1511167 h 2598821"/>
              <a:gd name="csX54" fmla="*/ 3196698 w 5911022"/>
              <a:gd name="csY54" fmla="*/ 1472666 h 2598821"/>
              <a:gd name="csX55" fmla="*/ 3148572 w 5911022"/>
              <a:gd name="csY55" fmla="*/ 1443790 h 2598821"/>
              <a:gd name="csX56" fmla="*/ 3078814 w 5911022"/>
              <a:gd name="csY56" fmla="*/ 1412232 h 2598821"/>
              <a:gd name="csX57" fmla="*/ 3023443 w 5911022"/>
              <a:gd name="csY57" fmla="*/ 1366788 h 2598821"/>
              <a:gd name="csX58" fmla="*/ 2975317 w 5911022"/>
              <a:gd name="csY58" fmla="*/ 1347537 h 2598821"/>
              <a:gd name="csX59" fmla="*/ 2898315 w 5911022"/>
              <a:gd name="csY59" fmla="*/ 1299411 h 2598821"/>
              <a:gd name="csX60" fmla="*/ 2840563 w 5911022"/>
              <a:gd name="csY60" fmla="*/ 1212783 h 2598821"/>
              <a:gd name="csX61" fmla="*/ 2869439 w 5911022"/>
              <a:gd name="csY61" fmla="*/ 577516 h 2598821"/>
              <a:gd name="csX62" fmla="*/ 2859814 w 5911022"/>
              <a:gd name="csY62" fmla="*/ 308009 h 2598821"/>
              <a:gd name="csX63" fmla="*/ 2840563 w 5911022"/>
              <a:gd name="csY63" fmla="*/ 192506 h 2598821"/>
              <a:gd name="csX64" fmla="*/ 2821313 w 5911022"/>
              <a:gd name="csY64" fmla="*/ 144379 h 2598821"/>
              <a:gd name="csX65" fmla="*/ 2763561 w 5911022"/>
              <a:gd name="csY65" fmla="*/ 77002 h 2598821"/>
              <a:gd name="csX66" fmla="*/ 2734685 w 5911022"/>
              <a:gd name="csY66" fmla="*/ 38501 h 2598821"/>
              <a:gd name="csX67" fmla="*/ 2676934 w 5911022"/>
              <a:gd name="csY67" fmla="*/ 0 h 2598821"/>
              <a:gd name="csX0" fmla="*/ 2731877 w 5908214"/>
              <a:gd name="csY0" fmla="*/ 57752 h 2598821"/>
              <a:gd name="csX1" fmla="*/ 161932 w 5908214"/>
              <a:gd name="csY1" fmla="*/ 67377 h 2598821"/>
              <a:gd name="csX2" fmla="*/ 116963 w 5908214"/>
              <a:gd name="csY2" fmla="*/ 131872 h 2598821"/>
              <a:gd name="csX3" fmla="*/ 107438 w 5908214"/>
              <a:gd name="csY3" fmla="*/ 543376 h 2598821"/>
              <a:gd name="csX4" fmla="*/ 126890 w 5908214"/>
              <a:gd name="csY4" fmla="*/ 1101692 h 2598821"/>
              <a:gd name="csX5" fmla="*/ 7928 w 5908214"/>
              <a:gd name="csY5" fmla="*/ 693019 h 2598821"/>
              <a:gd name="csX6" fmla="*/ 17553 w 5908214"/>
              <a:gd name="csY6" fmla="*/ 981777 h 2598821"/>
              <a:gd name="csX7" fmla="*/ 46429 w 5908214"/>
              <a:gd name="csY7" fmla="*/ 1049154 h 2598821"/>
              <a:gd name="csX8" fmla="*/ 75305 w 5908214"/>
              <a:gd name="csY8" fmla="*/ 1126156 h 2598821"/>
              <a:gd name="csX9" fmla="*/ 171557 w 5908214"/>
              <a:gd name="csY9" fmla="*/ 1232034 h 2598821"/>
              <a:gd name="csX10" fmla="*/ 219684 w 5908214"/>
              <a:gd name="csY10" fmla="*/ 1251284 h 2598821"/>
              <a:gd name="csX11" fmla="*/ 854951 w 5908214"/>
              <a:gd name="csY11" fmla="*/ 1270535 h 2598821"/>
              <a:gd name="csX12" fmla="*/ 1105208 w 5908214"/>
              <a:gd name="csY12" fmla="*/ 1578543 h 2598821"/>
              <a:gd name="csX13" fmla="*/ 1153334 w 5908214"/>
              <a:gd name="csY13" fmla="*/ 1665171 h 2598821"/>
              <a:gd name="csX14" fmla="*/ 1220711 w 5908214"/>
              <a:gd name="csY14" fmla="*/ 1761423 h 2598821"/>
              <a:gd name="csX15" fmla="*/ 1278463 w 5908214"/>
              <a:gd name="csY15" fmla="*/ 1867301 h 2598821"/>
              <a:gd name="csX16" fmla="*/ 1547970 w 5908214"/>
              <a:gd name="csY16" fmla="*/ 2146434 h 2598821"/>
              <a:gd name="csX17" fmla="*/ 1836728 w 5908214"/>
              <a:gd name="csY17" fmla="*/ 2300438 h 2598821"/>
              <a:gd name="csX18" fmla="*/ 1932980 w 5908214"/>
              <a:gd name="csY18" fmla="*/ 2338939 h 2598821"/>
              <a:gd name="csX19" fmla="*/ 2192863 w 5908214"/>
              <a:gd name="csY19" fmla="*/ 2387066 h 2598821"/>
              <a:gd name="csX20" fmla="*/ 2780004 w 5908214"/>
              <a:gd name="csY20" fmla="*/ 2464068 h 2598821"/>
              <a:gd name="csX21" fmla="*/ 3097637 w 5908214"/>
              <a:gd name="csY21" fmla="*/ 2502569 h 2598821"/>
              <a:gd name="csX22" fmla="*/ 3636652 w 5908214"/>
              <a:gd name="csY22" fmla="*/ 2521819 h 2598821"/>
              <a:gd name="csX23" fmla="*/ 4021663 w 5908214"/>
              <a:gd name="csY23" fmla="*/ 2560320 h 2598821"/>
              <a:gd name="csX24" fmla="*/ 4416298 w 5908214"/>
              <a:gd name="csY24" fmla="*/ 2569946 h 2598821"/>
              <a:gd name="csX25" fmla="*/ 4897561 w 5908214"/>
              <a:gd name="csY25" fmla="*/ 2598821 h 2598821"/>
              <a:gd name="csX26" fmla="*/ 5792711 w 5908214"/>
              <a:gd name="csY26" fmla="*/ 2569946 h 2598821"/>
              <a:gd name="csX27" fmla="*/ 5869713 w 5908214"/>
              <a:gd name="csY27" fmla="*/ 2483318 h 2598821"/>
              <a:gd name="csX28" fmla="*/ 5888964 w 5908214"/>
              <a:gd name="csY28" fmla="*/ 2300438 h 2598821"/>
              <a:gd name="csX29" fmla="*/ 5908214 w 5908214"/>
              <a:gd name="csY29" fmla="*/ 2030931 h 2598821"/>
              <a:gd name="csX30" fmla="*/ 5879338 w 5908214"/>
              <a:gd name="csY30" fmla="*/ 1366788 h 2598821"/>
              <a:gd name="csX31" fmla="*/ 5821587 w 5908214"/>
              <a:gd name="csY31" fmla="*/ 1328287 h 2598821"/>
              <a:gd name="csX32" fmla="*/ 5725334 w 5908214"/>
              <a:gd name="csY32" fmla="*/ 1309036 h 2598821"/>
              <a:gd name="csX33" fmla="*/ 5523204 w 5908214"/>
              <a:gd name="csY33" fmla="*/ 1289786 h 2598821"/>
              <a:gd name="csX34" fmla="*/ 4705056 w 5908214"/>
              <a:gd name="csY34" fmla="*/ 1309036 h 2598821"/>
              <a:gd name="csX35" fmla="*/ 4541427 w 5908214"/>
              <a:gd name="csY35" fmla="*/ 1357162 h 2598821"/>
              <a:gd name="csX36" fmla="*/ 4454799 w 5908214"/>
              <a:gd name="csY36" fmla="*/ 1386038 h 2598821"/>
              <a:gd name="csX37" fmla="*/ 4320046 w 5908214"/>
              <a:gd name="csY37" fmla="*/ 1443790 h 2598821"/>
              <a:gd name="csX38" fmla="*/ 4233418 w 5908214"/>
              <a:gd name="csY38" fmla="*/ 1501541 h 2598821"/>
              <a:gd name="csX39" fmla="*/ 4137166 w 5908214"/>
              <a:gd name="csY39" fmla="*/ 1549668 h 2598821"/>
              <a:gd name="csX40" fmla="*/ 3983161 w 5908214"/>
              <a:gd name="csY40" fmla="*/ 1645920 h 2598821"/>
              <a:gd name="csX41" fmla="*/ 3935035 w 5908214"/>
              <a:gd name="csY41" fmla="*/ 1674796 h 2598821"/>
              <a:gd name="csX42" fmla="*/ 3886909 w 5908214"/>
              <a:gd name="csY42" fmla="*/ 1713297 h 2598821"/>
              <a:gd name="csX43" fmla="*/ 3829157 w 5908214"/>
              <a:gd name="csY43" fmla="*/ 1742173 h 2598821"/>
              <a:gd name="csX44" fmla="*/ 3781031 w 5908214"/>
              <a:gd name="csY44" fmla="*/ 1780674 h 2598821"/>
              <a:gd name="csX45" fmla="*/ 3704029 w 5908214"/>
              <a:gd name="csY45" fmla="*/ 1819175 h 2598821"/>
              <a:gd name="csX46" fmla="*/ 3643395 w 5908214"/>
              <a:gd name="csY46" fmla="*/ 1756962 h 2598821"/>
              <a:gd name="csX47" fmla="*/ 3578700 w 5908214"/>
              <a:gd name="csY47" fmla="*/ 1709036 h 2598821"/>
              <a:gd name="csX48" fmla="*/ 3518567 w 5908214"/>
              <a:gd name="csY48" fmla="*/ 1684722 h 2598821"/>
              <a:gd name="csX49" fmla="*/ 3463397 w 5908214"/>
              <a:gd name="csY49" fmla="*/ 1665171 h 2598821"/>
              <a:gd name="csX50" fmla="*/ 3434521 w 5908214"/>
              <a:gd name="csY50" fmla="*/ 1645920 h 2598821"/>
              <a:gd name="csX51" fmla="*/ 3367145 w 5908214"/>
              <a:gd name="csY51" fmla="*/ 1588169 h 2598821"/>
              <a:gd name="csX52" fmla="*/ 3338269 w 5908214"/>
              <a:gd name="csY52" fmla="*/ 1578543 h 2598821"/>
              <a:gd name="csX53" fmla="*/ 3261267 w 5908214"/>
              <a:gd name="csY53" fmla="*/ 1511167 h 2598821"/>
              <a:gd name="csX54" fmla="*/ 3193890 w 5908214"/>
              <a:gd name="csY54" fmla="*/ 1472666 h 2598821"/>
              <a:gd name="csX55" fmla="*/ 3145764 w 5908214"/>
              <a:gd name="csY55" fmla="*/ 1443790 h 2598821"/>
              <a:gd name="csX56" fmla="*/ 3076006 w 5908214"/>
              <a:gd name="csY56" fmla="*/ 1412232 h 2598821"/>
              <a:gd name="csX57" fmla="*/ 3020635 w 5908214"/>
              <a:gd name="csY57" fmla="*/ 1366788 h 2598821"/>
              <a:gd name="csX58" fmla="*/ 2972509 w 5908214"/>
              <a:gd name="csY58" fmla="*/ 1347537 h 2598821"/>
              <a:gd name="csX59" fmla="*/ 2895507 w 5908214"/>
              <a:gd name="csY59" fmla="*/ 1299411 h 2598821"/>
              <a:gd name="csX60" fmla="*/ 2837755 w 5908214"/>
              <a:gd name="csY60" fmla="*/ 1212783 h 2598821"/>
              <a:gd name="csX61" fmla="*/ 2866631 w 5908214"/>
              <a:gd name="csY61" fmla="*/ 577516 h 2598821"/>
              <a:gd name="csX62" fmla="*/ 2857006 w 5908214"/>
              <a:gd name="csY62" fmla="*/ 308009 h 2598821"/>
              <a:gd name="csX63" fmla="*/ 2837755 w 5908214"/>
              <a:gd name="csY63" fmla="*/ 192506 h 2598821"/>
              <a:gd name="csX64" fmla="*/ 2818505 w 5908214"/>
              <a:gd name="csY64" fmla="*/ 144379 h 2598821"/>
              <a:gd name="csX65" fmla="*/ 2760753 w 5908214"/>
              <a:gd name="csY65" fmla="*/ 77002 h 2598821"/>
              <a:gd name="csX66" fmla="*/ 2731877 w 5908214"/>
              <a:gd name="csY66" fmla="*/ 38501 h 2598821"/>
              <a:gd name="csX67" fmla="*/ 2674126 w 5908214"/>
              <a:gd name="csY67" fmla="*/ 0 h 2598821"/>
              <a:gd name="csX0" fmla="*/ 2719192 w 5895529"/>
              <a:gd name="csY0" fmla="*/ 57752 h 2598821"/>
              <a:gd name="csX1" fmla="*/ 149247 w 5895529"/>
              <a:gd name="csY1" fmla="*/ 67377 h 2598821"/>
              <a:gd name="csX2" fmla="*/ 104278 w 5895529"/>
              <a:gd name="csY2" fmla="*/ 131872 h 2598821"/>
              <a:gd name="csX3" fmla="*/ 94753 w 5895529"/>
              <a:gd name="csY3" fmla="*/ 543376 h 2598821"/>
              <a:gd name="csX4" fmla="*/ 114205 w 5895529"/>
              <a:gd name="csY4" fmla="*/ 1101692 h 2598821"/>
              <a:gd name="csX5" fmla="*/ 142881 w 5895529"/>
              <a:gd name="csY5" fmla="*/ 1214512 h 2598821"/>
              <a:gd name="csX6" fmla="*/ 4868 w 5895529"/>
              <a:gd name="csY6" fmla="*/ 981777 h 2598821"/>
              <a:gd name="csX7" fmla="*/ 33744 w 5895529"/>
              <a:gd name="csY7" fmla="*/ 1049154 h 2598821"/>
              <a:gd name="csX8" fmla="*/ 62620 w 5895529"/>
              <a:gd name="csY8" fmla="*/ 1126156 h 2598821"/>
              <a:gd name="csX9" fmla="*/ 158872 w 5895529"/>
              <a:gd name="csY9" fmla="*/ 1232034 h 2598821"/>
              <a:gd name="csX10" fmla="*/ 206999 w 5895529"/>
              <a:gd name="csY10" fmla="*/ 1251284 h 2598821"/>
              <a:gd name="csX11" fmla="*/ 842266 w 5895529"/>
              <a:gd name="csY11" fmla="*/ 1270535 h 2598821"/>
              <a:gd name="csX12" fmla="*/ 1092523 w 5895529"/>
              <a:gd name="csY12" fmla="*/ 1578543 h 2598821"/>
              <a:gd name="csX13" fmla="*/ 1140649 w 5895529"/>
              <a:gd name="csY13" fmla="*/ 1665171 h 2598821"/>
              <a:gd name="csX14" fmla="*/ 1208026 w 5895529"/>
              <a:gd name="csY14" fmla="*/ 1761423 h 2598821"/>
              <a:gd name="csX15" fmla="*/ 1265778 w 5895529"/>
              <a:gd name="csY15" fmla="*/ 1867301 h 2598821"/>
              <a:gd name="csX16" fmla="*/ 1535285 w 5895529"/>
              <a:gd name="csY16" fmla="*/ 2146434 h 2598821"/>
              <a:gd name="csX17" fmla="*/ 1824043 w 5895529"/>
              <a:gd name="csY17" fmla="*/ 2300438 h 2598821"/>
              <a:gd name="csX18" fmla="*/ 1920295 w 5895529"/>
              <a:gd name="csY18" fmla="*/ 2338939 h 2598821"/>
              <a:gd name="csX19" fmla="*/ 2180178 w 5895529"/>
              <a:gd name="csY19" fmla="*/ 2387066 h 2598821"/>
              <a:gd name="csX20" fmla="*/ 2767319 w 5895529"/>
              <a:gd name="csY20" fmla="*/ 2464068 h 2598821"/>
              <a:gd name="csX21" fmla="*/ 3084952 w 5895529"/>
              <a:gd name="csY21" fmla="*/ 2502569 h 2598821"/>
              <a:gd name="csX22" fmla="*/ 3623967 w 5895529"/>
              <a:gd name="csY22" fmla="*/ 2521819 h 2598821"/>
              <a:gd name="csX23" fmla="*/ 4008978 w 5895529"/>
              <a:gd name="csY23" fmla="*/ 2560320 h 2598821"/>
              <a:gd name="csX24" fmla="*/ 4403613 w 5895529"/>
              <a:gd name="csY24" fmla="*/ 2569946 h 2598821"/>
              <a:gd name="csX25" fmla="*/ 4884876 w 5895529"/>
              <a:gd name="csY25" fmla="*/ 2598821 h 2598821"/>
              <a:gd name="csX26" fmla="*/ 5780026 w 5895529"/>
              <a:gd name="csY26" fmla="*/ 2569946 h 2598821"/>
              <a:gd name="csX27" fmla="*/ 5857028 w 5895529"/>
              <a:gd name="csY27" fmla="*/ 2483318 h 2598821"/>
              <a:gd name="csX28" fmla="*/ 5876279 w 5895529"/>
              <a:gd name="csY28" fmla="*/ 2300438 h 2598821"/>
              <a:gd name="csX29" fmla="*/ 5895529 w 5895529"/>
              <a:gd name="csY29" fmla="*/ 2030931 h 2598821"/>
              <a:gd name="csX30" fmla="*/ 5866653 w 5895529"/>
              <a:gd name="csY30" fmla="*/ 1366788 h 2598821"/>
              <a:gd name="csX31" fmla="*/ 5808902 w 5895529"/>
              <a:gd name="csY31" fmla="*/ 1328287 h 2598821"/>
              <a:gd name="csX32" fmla="*/ 5712649 w 5895529"/>
              <a:gd name="csY32" fmla="*/ 1309036 h 2598821"/>
              <a:gd name="csX33" fmla="*/ 5510519 w 5895529"/>
              <a:gd name="csY33" fmla="*/ 1289786 h 2598821"/>
              <a:gd name="csX34" fmla="*/ 4692371 w 5895529"/>
              <a:gd name="csY34" fmla="*/ 1309036 h 2598821"/>
              <a:gd name="csX35" fmla="*/ 4528742 w 5895529"/>
              <a:gd name="csY35" fmla="*/ 1357162 h 2598821"/>
              <a:gd name="csX36" fmla="*/ 4442114 w 5895529"/>
              <a:gd name="csY36" fmla="*/ 1386038 h 2598821"/>
              <a:gd name="csX37" fmla="*/ 4307361 w 5895529"/>
              <a:gd name="csY37" fmla="*/ 1443790 h 2598821"/>
              <a:gd name="csX38" fmla="*/ 4220733 w 5895529"/>
              <a:gd name="csY38" fmla="*/ 1501541 h 2598821"/>
              <a:gd name="csX39" fmla="*/ 4124481 w 5895529"/>
              <a:gd name="csY39" fmla="*/ 1549668 h 2598821"/>
              <a:gd name="csX40" fmla="*/ 3970476 w 5895529"/>
              <a:gd name="csY40" fmla="*/ 1645920 h 2598821"/>
              <a:gd name="csX41" fmla="*/ 3922350 w 5895529"/>
              <a:gd name="csY41" fmla="*/ 1674796 h 2598821"/>
              <a:gd name="csX42" fmla="*/ 3874224 w 5895529"/>
              <a:gd name="csY42" fmla="*/ 1713297 h 2598821"/>
              <a:gd name="csX43" fmla="*/ 3816472 w 5895529"/>
              <a:gd name="csY43" fmla="*/ 1742173 h 2598821"/>
              <a:gd name="csX44" fmla="*/ 3768346 w 5895529"/>
              <a:gd name="csY44" fmla="*/ 1780674 h 2598821"/>
              <a:gd name="csX45" fmla="*/ 3691344 w 5895529"/>
              <a:gd name="csY45" fmla="*/ 1819175 h 2598821"/>
              <a:gd name="csX46" fmla="*/ 3630710 w 5895529"/>
              <a:gd name="csY46" fmla="*/ 1756962 h 2598821"/>
              <a:gd name="csX47" fmla="*/ 3566015 w 5895529"/>
              <a:gd name="csY47" fmla="*/ 1709036 h 2598821"/>
              <a:gd name="csX48" fmla="*/ 3505882 w 5895529"/>
              <a:gd name="csY48" fmla="*/ 1684722 h 2598821"/>
              <a:gd name="csX49" fmla="*/ 3450712 w 5895529"/>
              <a:gd name="csY49" fmla="*/ 1665171 h 2598821"/>
              <a:gd name="csX50" fmla="*/ 3421836 w 5895529"/>
              <a:gd name="csY50" fmla="*/ 1645920 h 2598821"/>
              <a:gd name="csX51" fmla="*/ 3354460 w 5895529"/>
              <a:gd name="csY51" fmla="*/ 1588169 h 2598821"/>
              <a:gd name="csX52" fmla="*/ 3325584 w 5895529"/>
              <a:gd name="csY52" fmla="*/ 1578543 h 2598821"/>
              <a:gd name="csX53" fmla="*/ 3248582 w 5895529"/>
              <a:gd name="csY53" fmla="*/ 1511167 h 2598821"/>
              <a:gd name="csX54" fmla="*/ 3181205 w 5895529"/>
              <a:gd name="csY54" fmla="*/ 1472666 h 2598821"/>
              <a:gd name="csX55" fmla="*/ 3133079 w 5895529"/>
              <a:gd name="csY55" fmla="*/ 1443790 h 2598821"/>
              <a:gd name="csX56" fmla="*/ 3063321 w 5895529"/>
              <a:gd name="csY56" fmla="*/ 1412232 h 2598821"/>
              <a:gd name="csX57" fmla="*/ 3007950 w 5895529"/>
              <a:gd name="csY57" fmla="*/ 1366788 h 2598821"/>
              <a:gd name="csX58" fmla="*/ 2959824 w 5895529"/>
              <a:gd name="csY58" fmla="*/ 1347537 h 2598821"/>
              <a:gd name="csX59" fmla="*/ 2882822 w 5895529"/>
              <a:gd name="csY59" fmla="*/ 1299411 h 2598821"/>
              <a:gd name="csX60" fmla="*/ 2825070 w 5895529"/>
              <a:gd name="csY60" fmla="*/ 1212783 h 2598821"/>
              <a:gd name="csX61" fmla="*/ 2853946 w 5895529"/>
              <a:gd name="csY61" fmla="*/ 577516 h 2598821"/>
              <a:gd name="csX62" fmla="*/ 2844321 w 5895529"/>
              <a:gd name="csY62" fmla="*/ 308009 h 2598821"/>
              <a:gd name="csX63" fmla="*/ 2825070 w 5895529"/>
              <a:gd name="csY63" fmla="*/ 192506 h 2598821"/>
              <a:gd name="csX64" fmla="*/ 2805820 w 5895529"/>
              <a:gd name="csY64" fmla="*/ 144379 h 2598821"/>
              <a:gd name="csX65" fmla="*/ 2748068 w 5895529"/>
              <a:gd name="csY65" fmla="*/ 77002 h 2598821"/>
              <a:gd name="csX66" fmla="*/ 2719192 w 5895529"/>
              <a:gd name="csY66" fmla="*/ 38501 h 2598821"/>
              <a:gd name="csX67" fmla="*/ 2661441 w 5895529"/>
              <a:gd name="csY67" fmla="*/ 0 h 2598821"/>
              <a:gd name="csX0" fmla="*/ 2689962 w 5866299"/>
              <a:gd name="csY0" fmla="*/ 57752 h 2598821"/>
              <a:gd name="csX1" fmla="*/ 120017 w 5866299"/>
              <a:gd name="csY1" fmla="*/ 67377 h 2598821"/>
              <a:gd name="csX2" fmla="*/ 75048 w 5866299"/>
              <a:gd name="csY2" fmla="*/ 131872 h 2598821"/>
              <a:gd name="csX3" fmla="*/ 65523 w 5866299"/>
              <a:gd name="csY3" fmla="*/ 543376 h 2598821"/>
              <a:gd name="csX4" fmla="*/ 84975 w 5866299"/>
              <a:gd name="csY4" fmla="*/ 1101692 h 2598821"/>
              <a:gd name="csX5" fmla="*/ 113651 w 5866299"/>
              <a:gd name="csY5" fmla="*/ 1214512 h 2598821"/>
              <a:gd name="csX6" fmla="*/ 130419 w 5866299"/>
              <a:gd name="csY6" fmla="*/ 1222283 h 2598821"/>
              <a:gd name="csX7" fmla="*/ 4514 w 5866299"/>
              <a:gd name="csY7" fmla="*/ 1049154 h 2598821"/>
              <a:gd name="csX8" fmla="*/ 33390 w 5866299"/>
              <a:gd name="csY8" fmla="*/ 1126156 h 2598821"/>
              <a:gd name="csX9" fmla="*/ 129642 w 5866299"/>
              <a:gd name="csY9" fmla="*/ 1232034 h 2598821"/>
              <a:gd name="csX10" fmla="*/ 177769 w 5866299"/>
              <a:gd name="csY10" fmla="*/ 1251284 h 2598821"/>
              <a:gd name="csX11" fmla="*/ 813036 w 5866299"/>
              <a:gd name="csY11" fmla="*/ 1270535 h 2598821"/>
              <a:gd name="csX12" fmla="*/ 1063293 w 5866299"/>
              <a:gd name="csY12" fmla="*/ 1578543 h 2598821"/>
              <a:gd name="csX13" fmla="*/ 1111419 w 5866299"/>
              <a:gd name="csY13" fmla="*/ 1665171 h 2598821"/>
              <a:gd name="csX14" fmla="*/ 1178796 w 5866299"/>
              <a:gd name="csY14" fmla="*/ 1761423 h 2598821"/>
              <a:gd name="csX15" fmla="*/ 1236548 w 5866299"/>
              <a:gd name="csY15" fmla="*/ 1867301 h 2598821"/>
              <a:gd name="csX16" fmla="*/ 1506055 w 5866299"/>
              <a:gd name="csY16" fmla="*/ 2146434 h 2598821"/>
              <a:gd name="csX17" fmla="*/ 1794813 w 5866299"/>
              <a:gd name="csY17" fmla="*/ 2300438 h 2598821"/>
              <a:gd name="csX18" fmla="*/ 1891065 w 5866299"/>
              <a:gd name="csY18" fmla="*/ 2338939 h 2598821"/>
              <a:gd name="csX19" fmla="*/ 2150948 w 5866299"/>
              <a:gd name="csY19" fmla="*/ 2387066 h 2598821"/>
              <a:gd name="csX20" fmla="*/ 2738089 w 5866299"/>
              <a:gd name="csY20" fmla="*/ 2464068 h 2598821"/>
              <a:gd name="csX21" fmla="*/ 3055722 w 5866299"/>
              <a:gd name="csY21" fmla="*/ 2502569 h 2598821"/>
              <a:gd name="csX22" fmla="*/ 3594737 w 5866299"/>
              <a:gd name="csY22" fmla="*/ 2521819 h 2598821"/>
              <a:gd name="csX23" fmla="*/ 3979748 w 5866299"/>
              <a:gd name="csY23" fmla="*/ 2560320 h 2598821"/>
              <a:gd name="csX24" fmla="*/ 4374383 w 5866299"/>
              <a:gd name="csY24" fmla="*/ 2569946 h 2598821"/>
              <a:gd name="csX25" fmla="*/ 4855646 w 5866299"/>
              <a:gd name="csY25" fmla="*/ 2598821 h 2598821"/>
              <a:gd name="csX26" fmla="*/ 5750796 w 5866299"/>
              <a:gd name="csY26" fmla="*/ 2569946 h 2598821"/>
              <a:gd name="csX27" fmla="*/ 5827798 w 5866299"/>
              <a:gd name="csY27" fmla="*/ 2483318 h 2598821"/>
              <a:gd name="csX28" fmla="*/ 5847049 w 5866299"/>
              <a:gd name="csY28" fmla="*/ 2300438 h 2598821"/>
              <a:gd name="csX29" fmla="*/ 5866299 w 5866299"/>
              <a:gd name="csY29" fmla="*/ 2030931 h 2598821"/>
              <a:gd name="csX30" fmla="*/ 5837423 w 5866299"/>
              <a:gd name="csY30" fmla="*/ 1366788 h 2598821"/>
              <a:gd name="csX31" fmla="*/ 5779672 w 5866299"/>
              <a:gd name="csY31" fmla="*/ 1328287 h 2598821"/>
              <a:gd name="csX32" fmla="*/ 5683419 w 5866299"/>
              <a:gd name="csY32" fmla="*/ 1309036 h 2598821"/>
              <a:gd name="csX33" fmla="*/ 5481289 w 5866299"/>
              <a:gd name="csY33" fmla="*/ 1289786 h 2598821"/>
              <a:gd name="csX34" fmla="*/ 4663141 w 5866299"/>
              <a:gd name="csY34" fmla="*/ 1309036 h 2598821"/>
              <a:gd name="csX35" fmla="*/ 4499512 w 5866299"/>
              <a:gd name="csY35" fmla="*/ 1357162 h 2598821"/>
              <a:gd name="csX36" fmla="*/ 4412884 w 5866299"/>
              <a:gd name="csY36" fmla="*/ 1386038 h 2598821"/>
              <a:gd name="csX37" fmla="*/ 4278131 w 5866299"/>
              <a:gd name="csY37" fmla="*/ 1443790 h 2598821"/>
              <a:gd name="csX38" fmla="*/ 4191503 w 5866299"/>
              <a:gd name="csY38" fmla="*/ 1501541 h 2598821"/>
              <a:gd name="csX39" fmla="*/ 4095251 w 5866299"/>
              <a:gd name="csY39" fmla="*/ 1549668 h 2598821"/>
              <a:gd name="csX40" fmla="*/ 3941246 w 5866299"/>
              <a:gd name="csY40" fmla="*/ 1645920 h 2598821"/>
              <a:gd name="csX41" fmla="*/ 3893120 w 5866299"/>
              <a:gd name="csY41" fmla="*/ 1674796 h 2598821"/>
              <a:gd name="csX42" fmla="*/ 3844994 w 5866299"/>
              <a:gd name="csY42" fmla="*/ 1713297 h 2598821"/>
              <a:gd name="csX43" fmla="*/ 3787242 w 5866299"/>
              <a:gd name="csY43" fmla="*/ 1742173 h 2598821"/>
              <a:gd name="csX44" fmla="*/ 3739116 w 5866299"/>
              <a:gd name="csY44" fmla="*/ 1780674 h 2598821"/>
              <a:gd name="csX45" fmla="*/ 3662114 w 5866299"/>
              <a:gd name="csY45" fmla="*/ 1819175 h 2598821"/>
              <a:gd name="csX46" fmla="*/ 3601480 w 5866299"/>
              <a:gd name="csY46" fmla="*/ 1756962 h 2598821"/>
              <a:gd name="csX47" fmla="*/ 3536785 w 5866299"/>
              <a:gd name="csY47" fmla="*/ 1709036 h 2598821"/>
              <a:gd name="csX48" fmla="*/ 3476652 w 5866299"/>
              <a:gd name="csY48" fmla="*/ 1684722 h 2598821"/>
              <a:gd name="csX49" fmla="*/ 3421482 w 5866299"/>
              <a:gd name="csY49" fmla="*/ 1665171 h 2598821"/>
              <a:gd name="csX50" fmla="*/ 3392606 w 5866299"/>
              <a:gd name="csY50" fmla="*/ 1645920 h 2598821"/>
              <a:gd name="csX51" fmla="*/ 3325230 w 5866299"/>
              <a:gd name="csY51" fmla="*/ 1588169 h 2598821"/>
              <a:gd name="csX52" fmla="*/ 3296354 w 5866299"/>
              <a:gd name="csY52" fmla="*/ 1578543 h 2598821"/>
              <a:gd name="csX53" fmla="*/ 3219352 w 5866299"/>
              <a:gd name="csY53" fmla="*/ 1511167 h 2598821"/>
              <a:gd name="csX54" fmla="*/ 3151975 w 5866299"/>
              <a:gd name="csY54" fmla="*/ 1472666 h 2598821"/>
              <a:gd name="csX55" fmla="*/ 3103849 w 5866299"/>
              <a:gd name="csY55" fmla="*/ 1443790 h 2598821"/>
              <a:gd name="csX56" fmla="*/ 3034091 w 5866299"/>
              <a:gd name="csY56" fmla="*/ 1412232 h 2598821"/>
              <a:gd name="csX57" fmla="*/ 2978720 w 5866299"/>
              <a:gd name="csY57" fmla="*/ 1366788 h 2598821"/>
              <a:gd name="csX58" fmla="*/ 2930594 w 5866299"/>
              <a:gd name="csY58" fmla="*/ 1347537 h 2598821"/>
              <a:gd name="csX59" fmla="*/ 2853592 w 5866299"/>
              <a:gd name="csY59" fmla="*/ 1299411 h 2598821"/>
              <a:gd name="csX60" fmla="*/ 2795840 w 5866299"/>
              <a:gd name="csY60" fmla="*/ 1212783 h 2598821"/>
              <a:gd name="csX61" fmla="*/ 2824716 w 5866299"/>
              <a:gd name="csY61" fmla="*/ 577516 h 2598821"/>
              <a:gd name="csX62" fmla="*/ 2815091 w 5866299"/>
              <a:gd name="csY62" fmla="*/ 308009 h 2598821"/>
              <a:gd name="csX63" fmla="*/ 2795840 w 5866299"/>
              <a:gd name="csY63" fmla="*/ 192506 h 2598821"/>
              <a:gd name="csX64" fmla="*/ 2776590 w 5866299"/>
              <a:gd name="csY64" fmla="*/ 144379 h 2598821"/>
              <a:gd name="csX65" fmla="*/ 2718838 w 5866299"/>
              <a:gd name="csY65" fmla="*/ 77002 h 2598821"/>
              <a:gd name="csX66" fmla="*/ 2689962 w 5866299"/>
              <a:gd name="csY66" fmla="*/ 38501 h 2598821"/>
              <a:gd name="csX67" fmla="*/ 2632211 w 5866299"/>
              <a:gd name="csY67" fmla="*/ 0 h 2598821"/>
              <a:gd name="csX0" fmla="*/ 2656576 w 5832913"/>
              <a:gd name="csY0" fmla="*/ 57752 h 2598821"/>
              <a:gd name="csX1" fmla="*/ 86631 w 5832913"/>
              <a:gd name="csY1" fmla="*/ 67377 h 2598821"/>
              <a:gd name="csX2" fmla="*/ 41662 w 5832913"/>
              <a:gd name="csY2" fmla="*/ 131872 h 2598821"/>
              <a:gd name="csX3" fmla="*/ 32137 w 5832913"/>
              <a:gd name="csY3" fmla="*/ 543376 h 2598821"/>
              <a:gd name="csX4" fmla="*/ 51589 w 5832913"/>
              <a:gd name="csY4" fmla="*/ 1101692 h 2598821"/>
              <a:gd name="csX5" fmla="*/ 80265 w 5832913"/>
              <a:gd name="csY5" fmla="*/ 1214512 h 2598821"/>
              <a:gd name="csX6" fmla="*/ 97033 w 5832913"/>
              <a:gd name="csY6" fmla="*/ 1222283 h 2598821"/>
              <a:gd name="csX7" fmla="*/ 99715 w 5832913"/>
              <a:gd name="csY7" fmla="*/ 1218222 h 2598821"/>
              <a:gd name="csX8" fmla="*/ 4 w 5832913"/>
              <a:gd name="csY8" fmla="*/ 1126156 h 2598821"/>
              <a:gd name="csX9" fmla="*/ 96256 w 5832913"/>
              <a:gd name="csY9" fmla="*/ 1232034 h 2598821"/>
              <a:gd name="csX10" fmla="*/ 144383 w 5832913"/>
              <a:gd name="csY10" fmla="*/ 1251284 h 2598821"/>
              <a:gd name="csX11" fmla="*/ 779650 w 5832913"/>
              <a:gd name="csY11" fmla="*/ 1270535 h 2598821"/>
              <a:gd name="csX12" fmla="*/ 1029907 w 5832913"/>
              <a:gd name="csY12" fmla="*/ 1578543 h 2598821"/>
              <a:gd name="csX13" fmla="*/ 1078033 w 5832913"/>
              <a:gd name="csY13" fmla="*/ 1665171 h 2598821"/>
              <a:gd name="csX14" fmla="*/ 1145410 w 5832913"/>
              <a:gd name="csY14" fmla="*/ 1761423 h 2598821"/>
              <a:gd name="csX15" fmla="*/ 1203162 w 5832913"/>
              <a:gd name="csY15" fmla="*/ 1867301 h 2598821"/>
              <a:gd name="csX16" fmla="*/ 1472669 w 5832913"/>
              <a:gd name="csY16" fmla="*/ 2146434 h 2598821"/>
              <a:gd name="csX17" fmla="*/ 1761427 w 5832913"/>
              <a:gd name="csY17" fmla="*/ 2300438 h 2598821"/>
              <a:gd name="csX18" fmla="*/ 1857679 w 5832913"/>
              <a:gd name="csY18" fmla="*/ 2338939 h 2598821"/>
              <a:gd name="csX19" fmla="*/ 2117562 w 5832913"/>
              <a:gd name="csY19" fmla="*/ 2387066 h 2598821"/>
              <a:gd name="csX20" fmla="*/ 2704703 w 5832913"/>
              <a:gd name="csY20" fmla="*/ 2464068 h 2598821"/>
              <a:gd name="csX21" fmla="*/ 3022336 w 5832913"/>
              <a:gd name="csY21" fmla="*/ 2502569 h 2598821"/>
              <a:gd name="csX22" fmla="*/ 3561351 w 5832913"/>
              <a:gd name="csY22" fmla="*/ 2521819 h 2598821"/>
              <a:gd name="csX23" fmla="*/ 3946362 w 5832913"/>
              <a:gd name="csY23" fmla="*/ 2560320 h 2598821"/>
              <a:gd name="csX24" fmla="*/ 4340997 w 5832913"/>
              <a:gd name="csY24" fmla="*/ 2569946 h 2598821"/>
              <a:gd name="csX25" fmla="*/ 4822260 w 5832913"/>
              <a:gd name="csY25" fmla="*/ 2598821 h 2598821"/>
              <a:gd name="csX26" fmla="*/ 5717410 w 5832913"/>
              <a:gd name="csY26" fmla="*/ 2569946 h 2598821"/>
              <a:gd name="csX27" fmla="*/ 5794412 w 5832913"/>
              <a:gd name="csY27" fmla="*/ 2483318 h 2598821"/>
              <a:gd name="csX28" fmla="*/ 5813663 w 5832913"/>
              <a:gd name="csY28" fmla="*/ 2300438 h 2598821"/>
              <a:gd name="csX29" fmla="*/ 5832913 w 5832913"/>
              <a:gd name="csY29" fmla="*/ 2030931 h 2598821"/>
              <a:gd name="csX30" fmla="*/ 5804037 w 5832913"/>
              <a:gd name="csY30" fmla="*/ 1366788 h 2598821"/>
              <a:gd name="csX31" fmla="*/ 5746286 w 5832913"/>
              <a:gd name="csY31" fmla="*/ 1328287 h 2598821"/>
              <a:gd name="csX32" fmla="*/ 5650033 w 5832913"/>
              <a:gd name="csY32" fmla="*/ 1309036 h 2598821"/>
              <a:gd name="csX33" fmla="*/ 5447903 w 5832913"/>
              <a:gd name="csY33" fmla="*/ 1289786 h 2598821"/>
              <a:gd name="csX34" fmla="*/ 4629755 w 5832913"/>
              <a:gd name="csY34" fmla="*/ 1309036 h 2598821"/>
              <a:gd name="csX35" fmla="*/ 4466126 w 5832913"/>
              <a:gd name="csY35" fmla="*/ 1357162 h 2598821"/>
              <a:gd name="csX36" fmla="*/ 4379498 w 5832913"/>
              <a:gd name="csY36" fmla="*/ 1386038 h 2598821"/>
              <a:gd name="csX37" fmla="*/ 4244745 w 5832913"/>
              <a:gd name="csY37" fmla="*/ 1443790 h 2598821"/>
              <a:gd name="csX38" fmla="*/ 4158117 w 5832913"/>
              <a:gd name="csY38" fmla="*/ 1501541 h 2598821"/>
              <a:gd name="csX39" fmla="*/ 4061865 w 5832913"/>
              <a:gd name="csY39" fmla="*/ 1549668 h 2598821"/>
              <a:gd name="csX40" fmla="*/ 3907860 w 5832913"/>
              <a:gd name="csY40" fmla="*/ 1645920 h 2598821"/>
              <a:gd name="csX41" fmla="*/ 3859734 w 5832913"/>
              <a:gd name="csY41" fmla="*/ 1674796 h 2598821"/>
              <a:gd name="csX42" fmla="*/ 3811608 w 5832913"/>
              <a:gd name="csY42" fmla="*/ 1713297 h 2598821"/>
              <a:gd name="csX43" fmla="*/ 3753856 w 5832913"/>
              <a:gd name="csY43" fmla="*/ 1742173 h 2598821"/>
              <a:gd name="csX44" fmla="*/ 3705730 w 5832913"/>
              <a:gd name="csY44" fmla="*/ 1780674 h 2598821"/>
              <a:gd name="csX45" fmla="*/ 3628728 w 5832913"/>
              <a:gd name="csY45" fmla="*/ 1819175 h 2598821"/>
              <a:gd name="csX46" fmla="*/ 3568094 w 5832913"/>
              <a:gd name="csY46" fmla="*/ 1756962 h 2598821"/>
              <a:gd name="csX47" fmla="*/ 3503399 w 5832913"/>
              <a:gd name="csY47" fmla="*/ 1709036 h 2598821"/>
              <a:gd name="csX48" fmla="*/ 3443266 w 5832913"/>
              <a:gd name="csY48" fmla="*/ 1684722 h 2598821"/>
              <a:gd name="csX49" fmla="*/ 3388096 w 5832913"/>
              <a:gd name="csY49" fmla="*/ 1665171 h 2598821"/>
              <a:gd name="csX50" fmla="*/ 3359220 w 5832913"/>
              <a:gd name="csY50" fmla="*/ 1645920 h 2598821"/>
              <a:gd name="csX51" fmla="*/ 3291844 w 5832913"/>
              <a:gd name="csY51" fmla="*/ 1588169 h 2598821"/>
              <a:gd name="csX52" fmla="*/ 3262968 w 5832913"/>
              <a:gd name="csY52" fmla="*/ 1578543 h 2598821"/>
              <a:gd name="csX53" fmla="*/ 3185966 w 5832913"/>
              <a:gd name="csY53" fmla="*/ 1511167 h 2598821"/>
              <a:gd name="csX54" fmla="*/ 3118589 w 5832913"/>
              <a:gd name="csY54" fmla="*/ 1472666 h 2598821"/>
              <a:gd name="csX55" fmla="*/ 3070463 w 5832913"/>
              <a:gd name="csY55" fmla="*/ 1443790 h 2598821"/>
              <a:gd name="csX56" fmla="*/ 3000705 w 5832913"/>
              <a:gd name="csY56" fmla="*/ 1412232 h 2598821"/>
              <a:gd name="csX57" fmla="*/ 2945334 w 5832913"/>
              <a:gd name="csY57" fmla="*/ 1366788 h 2598821"/>
              <a:gd name="csX58" fmla="*/ 2897208 w 5832913"/>
              <a:gd name="csY58" fmla="*/ 1347537 h 2598821"/>
              <a:gd name="csX59" fmla="*/ 2820206 w 5832913"/>
              <a:gd name="csY59" fmla="*/ 1299411 h 2598821"/>
              <a:gd name="csX60" fmla="*/ 2762454 w 5832913"/>
              <a:gd name="csY60" fmla="*/ 1212783 h 2598821"/>
              <a:gd name="csX61" fmla="*/ 2791330 w 5832913"/>
              <a:gd name="csY61" fmla="*/ 577516 h 2598821"/>
              <a:gd name="csX62" fmla="*/ 2781705 w 5832913"/>
              <a:gd name="csY62" fmla="*/ 308009 h 2598821"/>
              <a:gd name="csX63" fmla="*/ 2762454 w 5832913"/>
              <a:gd name="csY63" fmla="*/ 192506 h 2598821"/>
              <a:gd name="csX64" fmla="*/ 2743204 w 5832913"/>
              <a:gd name="csY64" fmla="*/ 144379 h 2598821"/>
              <a:gd name="csX65" fmla="*/ 2685452 w 5832913"/>
              <a:gd name="csY65" fmla="*/ 77002 h 2598821"/>
              <a:gd name="csX66" fmla="*/ 2656576 w 5832913"/>
              <a:gd name="csY66" fmla="*/ 38501 h 2598821"/>
              <a:gd name="csX67" fmla="*/ 2598825 w 5832913"/>
              <a:gd name="csY67" fmla="*/ 0 h 2598821"/>
              <a:gd name="csX0" fmla="*/ 2625809 w 5802146"/>
              <a:gd name="csY0" fmla="*/ 57752 h 2598821"/>
              <a:gd name="csX1" fmla="*/ 55864 w 5802146"/>
              <a:gd name="csY1" fmla="*/ 67377 h 2598821"/>
              <a:gd name="csX2" fmla="*/ 10895 w 5802146"/>
              <a:gd name="csY2" fmla="*/ 131872 h 2598821"/>
              <a:gd name="csX3" fmla="*/ 1370 w 5802146"/>
              <a:gd name="csY3" fmla="*/ 543376 h 2598821"/>
              <a:gd name="csX4" fmla="*/ 20822 w 5802146"/>
              <a:gd name="csY4" fmla="*/ 1101692 h 2598821"/>
              <a:gd name="csX5" fmla="*/ 49498 w 5802146"/>
              <a:gd name="csY5" fmla="*/ 1214512 h 2598821"/>
              <a:gd name="csX6" fmla="*/ 66266 w 5802146"/>
              <a:gd name="csY6" fmla="*/ 1222283 h 2598821"/>
              <a:gd name="csX7" fmla="*/ 68948 w 5802146"/>
              <a:gd name="csY7" fmla="*/ 1218222 h 2598821"/>
              <a:gd name="csX8" fmla="*/ 85918 w 5802146"/>
              <a:gd name="csY8" fmla="*/ 1202356 h 2598821"/>
              <a:gd name="csX9" fmla="*/ 65489 w 5802146"/>
              <a:gd name="csY9" fmla="*/ 1232034 h 2598821"/>
              <a:gd name="csX10" fmla="*/ 113616 w 5802146"/>
              <a:gd name="csY10" fmla="*/ 1251284 h 2598821"/>
              <a:gd name="csX11" fmla="*/ 748883 w 5802146"/>
              <a:gd name="csY11" fmla="*/ 1270535 h 2598821"/>
              <a:gd name="csX12" fmla="*/ 999140 w 5802146"/>
              <a:gd name="csY12" fmla="*/ 1578543 h 2598821"/>
              <a:gd name="csX13" fmla="*/ 1047266 w 5802146"/>
              <a:gd name="csY13" fmla="*/ 1665171 h 2598821"/>
              <a:gd name="csX14" fmla="*/ 1114643 w 5802146"/>
              <a:gd name="csY14" fmla="*/ 1761423 h 2598821"/>
              <a:gd name="csX15" fmla="*/ 1172395 w 5802146"/>
              <a:gd name="csY15" fmla="*/ 1867301 h 2598821"/>
              <a:gd name="csX16" fmla="*/ 1441902 w 5802146"/>
              <a:gd name="csY16" fmla="*/ 2146434 h 2598821"/>
              <a:gd name="csX17" fmla="*/ 1730660 w 5802146"/>
              <a:gd name="csY17" fmla="*/ 2300438 h 2598821"/>
              <a:gd name="csX18" fmla="*/ 1826912 w 5802146"/>
              <a:gd name="csY18" fmla="*/ 2338939 h 2598821"/>
              <a:gd name="csX19" fmla="*/ 2086795 w 5802146"/>
              <a:gd name="csY19" fmla="*/ 2387066 h 2598821"/>
              <a:gd name="csX20" fmla="*/ 2673936 w 5802146"/>
              <a:gd name="csY20" fmla="*/ 2464068 h 2598821"/>
              <a:gd name="csX21" fmla="*/ 2991569 w 5802146"/>
              <a:gd name="csY21" fmla="*/ 2502569 h 2598821"/>
              <a:gd name="csX22" fmla="*/ 3530584 w 5802146"/>
              <a:gd name="csY22" fmla="*/ 2521819 h 2598821"/>
              <a:gd name="csX23" fmla="*/ 3915595 w 5802146"/>
              <a:gd name="csY23" fmla="*/ 2560320 h 2598821"/>
              <a:gd name="csX24" fmla="*/ 4310230 w 5802146"/>
              <a:gd name="csY24" fmla="*/ 2569946 h 2598821"/>
              <a:gd name="csX25" fmla="*/ 4791493 w 5802146"/>
              <a:gd name="csY25" fmla="*/ 2598821 h 2598821"/>
              <a:gd name="csX26" fmla="*/ 5686643 w 5802146"/>
              <a:gd name="csY26" fmla="*/ 2569946 h 2598821"/>
              <a:gd name="csX27" fmla="*/ 5763645 w 5802146"/>
              <a:gd name="csY27" fmla="*/ 2483318 h 2598821"/>
              <a:gd name="csX28" fmla="*/ 5782896 w 5802146"/>
              <a:gd name="csY28" fmla="*/ 2300438 h 2598821"/>
              <a:gd name="csX29" fmla="*/ 5802146 w 5802146"/>
              <a:gd name="csY29" fmla="*/ 2030931 h 2598821"/>
              <a:gd name="csX30" fmla="*/ 5773270 w 5802146"/>
              <a:gd name="csY30" fmla="*/ 1366788 h 2598821"/>
              <a:gd name="csX31" fmla="*/ 5715519 w 5802146"/>
              <a:gd name="csY31" fmla="*/ 1328287 h 2598821"/>
              <a:gd name="csX32" fmla="*/ 5619266 w 5802146"/>
              <a:gd name="csY32" fmla="*/ 1309036 h 2598821"/>
              <a:gd name="csX33" fmla="*/ 5417136 w 5802146"/>
              <a:gd name="csY33" fmla="*/ 1289786 h 2598821"/>
              <a:gd name="csX34" fmla="*/ 4598988 w 5802146"/>
              <a:gd name="csY34" fmla="*/ 1309036 h 2598821"/>
              <a:gd name="csX35" fmla="*/ 4435359 w 5802146"/>
              <a:gd name="csY35" fmla="*/ 1357162 h 2598821"/>
              <a:gd name="csX36" fmla="*/ 4348731 w 5802146"/>
              <a:gd name="csY36" fmla="*/ 1386038 h 2598821"/>
              <a:gd name="csX37" fmla="*/ 4213978 w 5802146"/>
              <a:gd name="csY37" fmla="*/ 1443790 h 2598821"/>
              <a:gd name="csX38" fmla="*/ 4127350 w 5802146"/>
              <a:gd name="csY38" fmla="*/ 1501541 h 2598821"/>
              <a:gd name="csX39" fmla="*/ 4031098 w 5802146"/>
              <a:gd name="csY39" fmla="*/ 1549668 h 2598821"/>
              <a:gd name="csX40" fmla="*/ 3877093 w 5802146"/>
              <a:gd name="csY40" fmla="*/ 1645920 h 2598821"/>
              <a:gd name="csX41" fmla="*/ 3828967 w 5802146"/>
              <a:gd name="csY41" fmla="*/ 1674796 h 2598821"/>
              <a:gd name="csX42" fmla="*/ 3780841 w 5802146"/>
              <a:gd name="csY42" fmla="*/ 1713297 h 2598821"/>
              <a:gd name="csX43" fmla="*/ 3723089 w 5802146"/>
              <a:gd name="csY43" fmla="*/ 1742173 h 2598821"/>
              <a:gd name="csX44" fmla="*/ 3674963 w 5802146"/>
              <a:gd name="csY44" fmla="*/ 1780674 h 2598821"/>
              <a:gd name="csX45" fmla="*/ 3597961 w 5802146"/>
              <a:gd name="csY45" fmla="*/ 1819175 h 2598821"/>
              <a:gd name="csX46" fmla="*/ 3537327 w 5802146"/>
              <a:gd name="csY46" fmla="*/ 1756962 h 2598821"/>
              <a:gd name="csX47" fmla="*/ 3472632 w 5802146"/>
              <a:gd name="csY47" fmla="*/ 1709036 h 2598821"/>
              <a:gd name="csX48" fmla="*/ 3412499 w 5802146"/>
              <a:gd name="csY48" fmla="*/ 1684722 h 2598821"/>
              <a:gd name="csX49" fmla="*/ 3357329 w 5802146"/>
              <a:gd name="csY49" fmla="*/ 1665171 h 2598821"/>
              <a:gd name="csX50" fmla="*/ 3328453 w 5802146"/>
              <a:gd name="csY50" fmla="*/ 1645920 h 2598821"/>
              <a:gd name="csX51" fmla="*/ 3261077 w 5802146"/>
              <a:gd name="csY51" fmla="*/ 1588169 h 2598821"/>
              <a:gd name="csX52" fmla="*/ 3232201 w 5802146"/>
              <a:gd name="csY52" fmla="*/ 1578543 h 2598821"/>
              <a:gd name="csX53" fmla="*/ 3155199 w 5802146"/>
              <a:gd name="csY53" fmla="*/ 1511167 h 2598821"/>
              <a:gd name="csX54" fmla="*/ 3087822 w 5802146"/>
              <a:gd name="csY54" fmla="*/ 1472666 h 2598821"/>
              <a:gd name="csX55" fmla="*/ 3039696 w 5802146"/>
              <a:gd name="csY55" fmla="*/ 1443790 h 2598821"/>
              <a:gd name="csX56" fmla="*/ 2969938 w 5802146"/>
              <a:gd name="csY56" fmla="*/ 1412232 h 2598821"/>
              <a:gd name="csX57" fmla="*/ 2914567 w 5802146"/>
              <a:gd name="csY57" fmla="*/ 1366788 h 2598821"/>
              <a:gd name="csX58" fmla="*/ 2866441 w 5802146"/>
              <a:gd name="csY58" fmla="*/ 1347537 h 2598821"/>
              <a:gd name="csX59" fmla="*/ 2789439 w 5802146"/>
              <a:gd name="csY59" fmla="*/ 1299411 h 2598821"/>
              <a:gd name="csX60" fmla="*/ 2731687 w 5802146"/>
              <a:gd name="csY60" fmla="*/ 1212783 h 2598821"/>
              <a:gd name="csX61" fmla="*/ 2760563 w 5802146"/>
              <a:gd name="csY61" fmla="*/ 577516 h 2598821"/>
              <a:gd name="csX62" fmla="*/ 2750938 w 5802146"/>
              <a:gd name="csY62" fmla="*/ 308009 h 2598821"/>
              <a:gd name="csX63" fmla="*/ 2731687 w 5802146"/>
              <a:gd name="csY63" fmla="*/ 192506 h 2598821"/>
              <a:gd name="csX64" fmla="*/ 2712437 w 5802146"/>
              <a:gd name="csY64" fmla="*/ 144379 h 2598821"/>
              <a:gd name="csX65" fmla="*/ 2654685 w 5802146"/>
              <a:gd name="csY65" fmla="*/ 77002 h 2598821"/>
              <a:gd name="csX66" fmla="*/ 2625809 w 5802146"/>
              <a:gd name="csY66" fmla="*/ 38501 h 2598821"/>
              <a:gd name="csX67" fmla="*/ 2568058 w 5802146"/>
              <a:gd name="csY67" fmla="*/ 0 h 2598821"/>
              <a:gd name="csX0" fmla="*/ 2625809 w 5802146"/>
              <a:gd name="csY0" fmla="*/ 57752 h 2598821"/>
              <a:gd name="csX1" fmla="*/ 55864 w 5802146"/>
              <a:gd name="csY1" fmla="*/ 67377 h 2598821"/>
              <a:gd name="csX2" fmla="*/ 10895 w 5802146"/>
              <a:gd name="csY2" fmla="*/ 131872 h 2598821"/>
              <a:gd name="csX3" fmla="*/ 1370 w 5802146"/>
              <a:gd name="csY3" fmla="*/ 543376 h 2598821"/>
              <a:gd name="csX4" fmla="*/ 20822 w 5802146"/>
              <a:gd name="csY4" fmla="*/ 1101692 h 2598821"/>
              <a:gd name="csX5" fmla="*/ 49498 w 5802146"/>
              <a:gd name="csY5" fmla="*/ 1214512 h 2598821"/>
              <a:gd name="csX6" fmla="*/ 66266 w 5802146"/>
              <a:gd name="csY6" fmla="*/ 1222283 h 2598821"/>
              <a:gd name="csX7" fmla="*/ 68948 w 5802146"/>
              <a:gd name="csY7" fmla="*/ 1218222 h 2598821"/>
              <a:gd name="csX8" fmla="*/ 85918 w 5802146"/>
              <a:gd name="csY8" fmla="*/ 1202356 h 2598821"/>
              <a:gd name="csX9" fmla="*/ 65489 w 5802146"/>
              <a:gd name="csY9" fmla="*/ 1232034 h 2598821"/>
              <a:gd name="csX10" fmla="*/ 113616 w 5802146"/>
              <a:gd name="csY10" fmla="*/ 1251284 h 2598821"/>
              <a:gd name="csX11" fmla="*/ 748883 w 5802146"/>
              <a:gd name="csY11" fmla="*/ 1270535 h 2598821"/>
              <a:gd name="csX12" fmla="*/ 999140 w 5802146"/>
              <a:gd name="csY12" fmla="*/ 1578543 h 2598821"/>
              <a:gd name="csX13" fmla="*/ 1047266 w 5802146"/>
              <a:gd name="csY13" fmla="*/ 1665171 h 2598821"/>
              <a:gd name="csX14" fmla="*/ 1114643 w 5802146"/>
              <a:gd name="csY14" fmla="*/ 1761423 h 2598821"/>
              <a:gd name="csX15" fmla="*/ 1172395 w 5802146"/>
              <a:gd name="csY15" fmla="*/ 1867301 h 2598821"/>
              <a:gd name="csX16" fmla="*/ 1441902 w 5802146"/>
              <a:gd name="csY16" fmla="*/ 2146434 h 2598821"/>
              <a:gd name="csX17" fmla="*/ 1730660 w 5802146"/>
              <a:gd name="csY17" fmla="*/ 2300438 h 2598821"/>
              <a:gd name="csX18" fmla="*/ 1826912 w 5802146"/>
              <a:gd name="csY18" fmla="*/ 2338939 h 2598821"/>
              <a:gd name="csX19" fmla="*/ 2086795 w 5802146"/>
              <a:gd name="csY19" fmla="*/ 2387066 h 2598821"/>
              <a:gd name="csX20" fmla="*/ 2673936 w 5802146"/>
              <a:gd name="csY20" fmla="*/ 2464068 h 2598821"/>
              <a:gd name="csX21" fmla="*/ 2991569 w 5802146"/>
              <a:gd name="csY21" fmla="*/ 2502569 h 2598821"/>
              <a:gd name="csX22" fmla="*/ 3530584 w 5802146"/>
              <a:gd name="csY22" fmla="*/ 2521819 h 2598821"/>
              <a:gd name="csX23" fmla="*/ 3915595 w 5802146"/>
              <a:gd name="csY23" fmla="*/ 2560320 h 2598821"/>
              <a:gd name="csX24" fmla="*/ 4310230 w 5802146"/>
              <a:gd name="csY24" fmla="*/ 2569946 h 2598821"/>
              <a:gd name="csX25" fmla="*/ 4791493 w 5802146"/>
              <a:gd name="csY25" fmla="*/ 2598821 h 2598821"/>
              <a:gd name="csX26" fmla="*/ 5686643 w 5802146"/>
              <a:gd name="csY26" fmla="*/ 2569946 h 2598821"/>
              <a:gd name="csX27" fmla="*/ 5763645 w 5802146"/>
              <a:gd name="csY27" fmla="*/ 2483318 h 2598821"/>
              <a:gd name="csX28" fmla="*/ 5782896 w 5802146"/>
              <a:gd name="csY28" fmla="*/ 2300438 h 2598821"/>
              <a:gd name="csX29" fmla="*/ 5802146 w 5802146"/>
              <a:gd name="csY29" fmla="*/ 2030931 h 2598821"/>
              <a:gd name="csX30" fmla="*/ 5773270 w 5802146"/>
              <a:gd name="csY30" fmla="*/ 1366788 h 2598821"/>
              <a:gd name="csX31" fmla="*/ 5715519 w 5802146"/>
              <a:gd name="csY31" fmla="*/ 1328287 h 2598821"/>
              <a:gd name="csX32" fmla="*/ 5619266 w 5802146"/>
              <a:gd name="csY32" fmla="*/ 1309036 h 2598821"/>
              <a:gd name="csX33" fmla="*/ 5417136 w 5802146"/>
              <a:gd name="csY33" fmla="*/ 1289786 h 2598821"/>
              <a:gd name="csX34" fmla="*/ 4598988 w 5802146"/>
              <a:gd name="csY34" fmla="*/ 1309036 h 2598821"/>
              <a:gd name="csX35" fmla="*/ 4435359 w 5802146"/>
              <a:gd name="csY35" fmla="*/ 1357162 h 2598821"/>
              <a:gd name="csX36" fmla="*/ 4348731 w 5802146"/>
              <a:gd name="csY36" fmla="*/ 1386038 h 2598821"/>
              <a:gd name="csX37" fmla="*/ 4213978 w 5802146"/>
              <a:gd name="csY37" fmla="*/ 1443790 h 2598821"/>
              <a:gd name="csX38" fmla="*/ 4127350 w 5802146"/>
              <a:gd name="csY38" fmla="*/ 1501541 h 2598821"/>
              <a:gd name="csX39" fmla="*/ 4031098 w 5802146"/>
              <a:gd name="csY39" fmla="*/ 1549668 h 2598821"/>
              <a:gd name="csX40" fmla="*/ 3877093 w 5802146"/>
              <a:gd name="csY40" fmla="*/ 1645920 h 2598821"/>
              <a:gd name="csX41" fmla="*/ 3828967 w 5802146"/>
              <a:gd name="csY41" fmla="*/ 1674796 h 2598821"/>
              <a:gd name="csX42" fmla="*/ 3780841 w 5802146"/>
              <a:gd name="csY42" fmla="*/ 1713297 h 2598821"/>
              <a:gd name="csX43" fmla="*/ 3723089 w 5802146"/>
              <a:gd name="csY43" fmla="*/ 1742173 h 2598821"/>
              <a:gd name="csX44" fmla="*/ 3674963 w 5802146"/>
              <a:gd name="csY44" fmla="*/ 1780674 h 2598821"/>
              <a:gd name="csX45" fmla="*/ 3597961 w 5802146"/>
              <a:gd name="csY45" fmla="*/ 1819175 h 2598821"/>
              <a:gd name="csX46" fmla="*/ 3537327 w 5802146"/>
              <a:gd name="csY46" fmla="*/ 1756962 h 2598821"/>
              <a:gd name="csX47" fmla="*/ 3472632 w 5802146"/>
              <a:gd name="csY47" fmla="*/ 1709036 h 2598821"/>
              <a:gd name="csX48" fmla="*/ 3412499 w 5802146"/>
              <a:gd name="csY48" fmla="*/ 1684722 h 2598821"/>
              <a:gd name="csX49" fmla="*/ 3357329 w 5802146"/>
              <a:gd name="csY49" fmla="*/ 1665171 h 2598821"/>
              <a:gd name="csX50" fmla="*/ 3328453 w 5802146"/>
              <a:gd name="csY50" fmla="*/ 1645920 h 2598821"/>
              <a:gd name="csX51" fmla="*/ 3261077 w 5802146"/>
              <a:gd name="csY51" fmla="*/ 1588169 h 2598821"/>
              <a:gd name="csX52" fmla="*/ 3232201 w 5802146"/>
              <a:gd name="csY52" fmla="*/ 1578543 h 2598821"/>
              <a:gd name="csX53" fmla="*/ 3155199 w 5802146"/>
              <a:gd name="csY53" fmla="*/ 1511167 h 2598821"/>
              <a:gd name="csX54" fmla="*/ 3087822 w 5802146"/>
              <a:gd name="csY54" fmla="*/ 1472666 h 2598821"/>
              <a:gd name="csX55" fmla="*/ 3039696 w 5802146"/>
              <a:gd name="csY55" fmla="*/ 1443790 h 2598821"/>
              <a:gd name="csX56" fmla="*/ 2969938 w 5802146"/>
              <a:gd name="csY56" fmla="*/ 1412232 h 2598821"/>
              <a:gd name="csX57" fmla="*/ 2914567 w 5802146"/>
              <a:gd name="csY57" fmla="*/ 1366788 h 2598821"/>
              <a:gd name="csX58" fmla="*/ 2866441 w 5802146"/>
              <a:gd name="csY58" fmla="*/ 1347537 h 2598821"/>
              <a:gd name="csX59" fmla="*/ 2789439 w 5802146"/>
              <a:gd name="csY59" fmla="*/ 1299411 h 2598821"/>
              <a:gd name="csX60" fmla="*/ 2731687 w 5802146"/>
              <a:gd name="csY60" fmla="*/ 1212783 h 2598821"/>
              <a:gd name="csX61" fmla="*/ 2760563 w 5802146"/>
              <a:gd name="csY61" fmla="*/ 577516 h 2598821"/>
              <a:gd name="csX62" fmla="*/ 2750938 w 5802146"/>
              <a:gd name="csY62" fmla="*/ 308009 h 2598821"/>
              <a:gd name="csX63" fmla="*/ 2731687 w 5802146"/>
              <a:gd name="csY63" fmla="*/ 192506 h 2598821"/>
              <a:gd name="csX64" fmla="*/ 2712437 w 5802146"/>
              <a:gd name="csY64" fmla="*/ 144379 h 2598821"/>
              <a:gd name="csX65" fmla="*/ 2654685 w 5802146"/>
              <a:gd name="csY65" fmla="*/ 77002 h 2598821"/>
              <a:gd name="csX66" fmla="*/ 2625809 w 5802146"/>
              <a:gd name="csY66" fmla="*/ 38501 h 2598821"/>
              <a:gd name="csX67" fmla="*/ 2568058 w 5802146"/>
              <a:gd name="csY67" fmla="*/ 0 h 2598821"/>
              <a:gd name="csX68" fmla="*/ 2625809 w 5802146"/>
              <a:gd name="csY68" fmla="*/ 57752 h 2598821"/>
              <a:gd name="csX0" fmla="*/ 2625809 w 5802146"/>
              <a:gd name="csY0" fmla="*/ 57752 h 2598821"/>
              <a:gd name="csX1" fmla="*/ 55864 w 5802146"/>
              <a:gd name="csY1" fmla="*/ 67377 h 2598821"/>
              <a:gd name="csX2" fmla="*/ 10895 w 5802146"/>
              <a:gd name="csY2" fmla="*/ 131872 h 2598821"/>
              <a:gd name="csX3" fmla="*/ 1370 w 5802146"/>
              <a:gd name="csY3" fmla="*/ 543376 h 2598821"/>
              <a:gd name="csX4" fmla="*/ 20822 w 5802146"/>
              <a:gd name="csY4" fmla="*/ 1101692 h 2598821"/>
              <a:gd name="csX5" fmla="*/ 49498 w 5802146"/>
              <a:gd name="csY5" fmla="*/ 1214512 h 2598821"/>
              <a:gd name="csX6" fmla="*/ 66266 w 5802146"/>
              <a:gd name="csY6" fmla="*/ 1222283 h 2598821"/>
              <a:gd name="csX7" fmla="*/ 68948 w 5802146"/>
              <a:gd name="csY7" fmla="*/ 1218222 h 2598821"/>
              <a:gd name="csX8" fmla="*/ 85918 w 5802146"/>
              <a:gd name="csY8" fmla="*/ 1202356 h 2598821"/>
              <a:gd name="csX9" fmla="*/ 65489 w 5802146"/>
              <a:gd name="csY9" fmla="*/ 1232034 h 2598821"/>
              <a:gd name="csX10" fmla="*/ 113616 w 5802146"/>
              <a:gd name="csY10" fmla="*/ 1251284 h 2598821"/>
              <a:gd name="csX11" fmla="*/ 748883 w 5802146"/>
              <a:gd name="csY11" fmla="*/ 1270535 h 2598821"/>
              <a:gd name="csX12" fmla="*/ 999140 w 5802146"/>
              <a:gd name="csY12" fmla="*/ 1578543 h 2598821"/>
              <a:gd name="csX13" fmla="*/ 1047266 w 5802146"/>
              <a:gd name="csY13" fmla="*/ 1665171 h 2598821"/>
              <a:gd name="csX14" fmla="*/ 1114643 w 5802146"/>
              <a:gd name="csY14" fmla="*/ 1761423 h 2598821"/>
              <a:gd name="csX15" fmla="*/ 1172395 w 5802146"/>
              <a:gd name="csY15" fmla="*/ 1867301 h 2598821"/>
              <a:gd name="csX16" fmla="*/ 1441902 w 5802146"/>
              <a:gd name="csY16" fmla="*/ 2146434 h 2598821"/>
              <a:gd name="csX17" fmla="*/ 1730660 w 5802146"/>
              <a:gd name="csY17" fmla="*/ 2300438 h 2598821"/>
              <a:gd name="csX18" fmla="*/ 1826912 w 5802146"/>
              <a:gd name="csY18" fmla="*/ 2338939 h 2598821"/>
              <a:gd name="csX19" fmla="*/ 2086795 w 5802146"/>
              <a:gd name="csY19" fmla="*/ 2387066 h 2598821"/>
              <a:gd name="csX20" fmla="*/ 2673936 w 5802146"/>
              <a:gd name="csY20" fmla="*/ 2464068 h 2598821"/>
              <a:gd name="csX21" fmla="*/ 2991569 w 5802146"/>
              <a:gd name="csY21" fmla="*/ 2502569 h 2598821"/>
              <a:gd name="csX22" fmla="*/ 3530584 w 5802146"/>
              <a:gd name="csY22" fmla="*/ 2521819 h 2598821"/>
              <a:gd name="csX23" fmla="*/ 3915595 w 5802146"/>
              <a:gd name="csY23" fmla="*/ 2560320 h 2598821"/>
              <a:gd name="csX24" fmla="*/ 4310230 w 5802146"/>
              <a:gd name="csY24" fmla="*/ 2569946 h 2598821"/>
              <a:gd name="csX25" fmla="*/ 4791493 w 5802146"/>
              <a:gd name="csY25" fmla="*/ 2598821 h 2598821"/>
              <a:gd name="csX26" fmla="*/ 5686643 w 5802146"/>
              <a:gd name="csY26" fmla="*/ 2569946 h 2598821"/>
              <a:gd name="csX27" fmla="*/ 5763645 w 5802146"/>
              <a:gd name="csY27" fmla="*/ 2483318 h 2598821"/>
              <a:gd name="csX28" fmla="*/ 5782896 w 5802146"/>
              <a:gd name="csY28" fmla="*/ 2300438 h 2598821"/>
              <a:gd name="csX29" fmla="*/ 5802146 w 5802146"/>
              <a:gd name="csY29" fmla="*/ 2030931 h 2598821"/>
              <a:gd name="csX30" fmla="*/ 5773270 w 5802146"/>
              <a:gd name="csY30" fmla="*/ 1366788 h 2598821"/>
              <a:gd name="csX31" fmla="*/ 5715519 w 5802146"/>
              <a:gd name="csY31" fmla="*/ 1328287 h 2598821"/>
              <a:gd name="csX32" fmla="*/ 5619266 w 5802146"/>
              <a:gd name="csY32" fmla="*/ 1309036 h 2598821"/>
              <a:gd name="csX33" fmla="*/ 5417136 w 5802146"/>
              <a:gd name="csY33" fmla="*/ 1289786 h 2598821"/>
              <a:gd name="csX34" fmla="*/ 4598988 w 5802146"/>
              <a:gd name="csY34" fmla="*/ 1309036 h 2598821"/>
              <a:gd name="csX35" fmla="*/ 4435359 w 5802146"/>
              <a:gd name="csY35" fmla="*/ 1357162 h 2598821"/>
              <a:gd name="csX36" fmla="*/ 4348731 w 5802146"/>
              <a:gd name="csY36" fmla="*/ 1386038 h 2598821"/>
              <a:gd name="csX37" fmla="*/ 4213978 w 5802146"/>
              <a:gd name="csY37" fmla="*/ 1443790 h 2598821"/>
              <a:gd name="csX38" fmla="*/ 4127350 w 5802146"/>
              <a:gd name="csY38" fmla="*/ 1501541 h 2598821"/>
              <a:gd name="csX39" fmla="*/ 4031098 w 5802146"/>
              <a:gd name="csY39" fmla="*/ 1549668 h 2598821"/>
              <a:gd name="csX40" fmla="*/ 3877093 w 5802146"/>
              <a:gd name="csY40" fmla="*/ 1645920 h 2598821"/>
              <a:gd name="csX41" fmla="*/ 3828967 w 5802146"/>
              <a:gd name="csY41" fmla="*/ 1674796 h 2598821"/>
              <a:gd name="csX42" fmla="*/ 3780841 w 5802146"/>
              <a:gd name="csY42" fmla="*/ 1713297 h 2598821"/>
              <a:gd name="csX43" fmla="*/ 3723089 w 5802146"/>
              <a:gd name="csY43" fmla="*/ 1742173 h 2598821"/>
              <a:gd name="csX44" fmla="*/ 3674963 w 5802146"/>
              <a:gd name="csY44" fmla="*/ 1780674 h 2598821"/>
              <a:gd name="csX45" fmla="*/ 3597961 w 5802146"/>
              <a:gd name="csY45" fmla="*/ 1819175 h 2598821"/>
              <a:gd name="csX46" fmla="*/ 3537327 w 5802146"/>
              <a:gd name="csY46" fmla="*/ 1756962 h 2598821"/>
              <a:gd name="csX47" fmla="*/ 3472632 w 5802146"/>
              <a:gd name="csY47" fmla="*/ 1709036 h 2598821"/>
              <a:gd name="csX48" fmla="*/ 3412499 w 5802146"/>
              <a:gd name="csY48" fmla="*/ 1684722 h 2598821"/>
              <a:gd name="csX49" fmla="*/ 3357329 w 5802146"/>
              <a:gd name="csY49" fmla="*/ 1665171 h 2598821"/>
              <a:gd name="csX50" fmla="*/ 3328453 w 5802146"/>
              <a:gd name="csY50" fmla="*/ 1645920 h 2598821"/>
              <a:gd name="csX51" fmla="*/ 3261077 w 5802146"/>
              <a:gd name="csY51" fmla="*/ 1588169 h 2598821"/>
              <a:gd name="csX52" fmla="*/ 3232201 w 5802146"/>
              <a:gd name="csY52" fmla="*/ 1578543 h 2598821"/>
              <a:gd name="csX53" fmla="*/ 3155199 w 5802146"/>
              <a:gd name="csY53" fmla="*/ 1511167 h 2598821"/>
              <a:gd name="csX54" fmla="*/ 3087822 w 5802146"/>
              <a:gd name="csY54" fmla="*/ 1472666 h 2598821"/>
              <a:gd name="csX55" fmla="*/ 3039696 w 5802146"/>
              <a:gd name="csY55" fmla="*/ 1443790 h 2598821"/>
              <a:gd name="csX56" fmla="*/ 2969938 w 5802146"/>
              <a:gd name="csY56" fmla="*/ 1412232 h 2598821"/>
              <a:gd name="csX57" fmla="*/ 2914567 w 5802146"/>
              <a:gd name="csY57" fmla="*/ 1366788 h 2598821"/>
              <a:gd name="csX58" fmla="*/ 2866441 w 5802146"/>
              <a:gd name="csY58" fmla="*/ 1347537 h 2598821"/>
              <a:gd name="csX59" fmla="*/ 2789439 w 5802146"/>
              <a:gd name="csY59" fmla="*/ 1299411 h 2598821"/>
              <a:gd name="csX60" fmla="*/ 2731687 w 5802146"/>
              <a:gd name="csY60" fmla="*/ 1212783 h 2598821"/>
              <a:gd name="csX61" fmla="*/ 2760563 w 5802146"/>
              <a:gd name="csY61" fmla="*/ 577516 h 2598821"/>
              <a:gd name="csX62" fmla="*/ 2750938 w 5802146"/>
              <a:gd name="csY62" fmla="*/ 308009 h 2598821"/>
              <a:gd name="csX63" fmla="*/ 2731687 w 5802146"/>
              <a:gd name="csY63" fmla="*/ 192506 h 2598821"/>
              <a:gd name="csX64" fmla="*/ 2712437 w 5802146"/>
              <a:gd name="csY64" fmla="*/ 144379 h 2598821"/>
              <a:gd name="csX65" fmla="*/ 2654685 w 5802146"/>
              <a:gd name="csY65" fmla="*/ 77002 h 2598821"/>
              <a:gd name="csX66" fmla="*/ 2625809 w 5802146"/>
              <a:gd name="csY66" fmla="*/ 38501 h 2598821"/>
              <a:gd name="csX67" fmla="*/ 2568058 w 5802146"/>
              <a:gd name="csY67" fmla="*/ 0 h 2598821"/>
              <a:gd name="csX68" fmla="*/ 2625809 w 5802146"/>
              <a:gd name="csY68" fmla="*/ 57752 h 2598821"/>
              <a:gd name="csX0" fmla="*/ 2625809 w 5802146"/>
              <a:gd name="csY0" fmla="*/ 57752 h 2598821"/>
              <a:gd name="csX1" fmla="*/ 55864 w 5802146"/>
              <a:gd name="csY1" fmla="*/ 67377 h 2598821"/>
              <a:gd name="csX2" fmla="*/ 10895 w 5802146"/>
              <a:gd name="csY2" fmla="*/ 131872 h 2598821"/>
              <a:gd name="csX3" fmla="*/ 1370 w 5802146"/>
              <a:gd name="csY3" fmla="*/ 543376 h 2598821"/>
              <a:gd name="csX4" fmla="*/ 20822 w 5802146"/>
              <a:gd name="csY4" fmla="*/ 1101692 h 2598821"/>
              <a:gd name="csX5" fmla="*/ 49498 w 5802146"/>
              <a:gd name="csY5" fmla="*/ 1214512 h 2598821"/>
              <a:gd name="csX6" fmla="*/ 66266 w 5802146"/>
              <a:gd name="csY6" fmla="*/ 1222283 h 2598821"/>
              <a:gd name="csX7" fmla="*/ 68948 w 5802146"/>
              <a:gd name="csY7" fmla="*/ 1218222 h 2598821"/>
              <a:gd name="csX8" fmla="*/ 85918 w 5802146"/>
              <a:gd name="csY8" fmla="*/ 1202356 h 2598821"/>
              <a:gd name="csX9" fmla="*/ 65489 w 5802146"/>
              <a:gd name="csY9" fmla="*/ 1232034 h 2598821"/>
              <a:gd name="csX10" fmla="*/ 113616 w 5802146"/>
              <a:gd name="csY10" fmla="*/ 1251284 h 2598821"/>
              <a:gd name="csX11" fmla="*/ 748883 w 5802146"/>
              <a:gd name="csY11" fmla="*/ 1270535 h 2598821"/>
              <a:gd name="csX12" fmla="*/ 999140 w 5802146"/>
              <a:gd name="csY12" fmla="*/ 1578543 h 2598821"/>
              <a:gd name="csX13" fmla="*/ 1047266 w 5802146"/>
              <a:gd name="csY13" fmla="*/ 1665171 h 2598821"/>
              <a:gd name="csX14" fmla="*/ 1114643 w 5802146"/>
              <a:gd name="csY14" fmla="*/ 1761423 h 2598821"/>
              <a:gd name="csX15" fmla="*/ 1172395 w 5802146"/>
              <a:gd name="csY15" fmla="*/ 1867301 h 2598821"/>
              <a:gd name="csX16" fmla="*/ 1441902 w 5802146"/>
              <a:gd name="csY16" fmla="*/ 2146434 h 2598821"/>
              <a:gd name="csX17" fmla="*/ 1730660 w 5802146"/>
              <a:gd name="csY17" fmla="*/ 2300438 h 2598821"/>
              <a:gd name="csX18" fmla="*/ 1826912 w 5802146"/>
              <a:gd name="csY18" fmla="*/ 2338939 h 2598821"/>
              <a:gd name="csX19" fmla="*/ 2086795 w 5802146"/>
              <a:gd name="csY19" fmla="*/ 2387066 h 2598821"/>
              <a:gd name="csX20" fmla="*/ 2673936 w 5802146"/>
              <a:gd name="csY20" fmla="*/ 2464068 h 2598821"/>
              <a:gd name="csX21" fmla="*/ 2991569 w 5802146"/>
              <a:gd name="csY21" fmla="*/ 2502569 h 2598821"/>
              <a:gd name="csX22" fmla="*/ 3530584 w 5802146"/>
              <a:gd name="csY22" fmla="*/ 2521819 h 2598821"/>
              <a:gd name="csX23" fmla="*/ 3915595 w 5802146"/>
              <a:gd name="csY23" fmla="*/ 2560320 h 2598821"/>
              <a:gd name="csX24" fmla="*/ 4310230 w 5802146"/>
              <a:gd name="csY24" fmla="*/ 2569946 h 2598821"/>
              <a:gd name="csX25" fmla="*/ 4791493 w 5802146"/>
              <a:gd name="csY25" fmla="*/ 2598821 h 2598821"/>
              <a:gd name="csX26" fmla="*/ 5686643 w 5802146"/>
              <a:gd name="csY26" fmla="*/ 2569946 h 2598821"/>
              <a:gd name="csX27" fmla="*/ 5763645 w 5802146"/>
              <a:gd name="csY27" fmla="*/ 2483318 h 2598821"/>
              <a:gd name="csX28" fmla="*/ 5782896 w 5802146"/>
              <a:gd name="csY28" fmla="*/ 2300438 h 2598821"/>
              <a:gd name="csX29" fmla="*/ 5802146 w 5802146"/>
              <a:gd name="csY29" fmla="*/ 2030931 h 2598821"/>
              <a:gd name="csX30" fmla="*/ 5773270 w 5802146"/>
              <a:gd name="csY30" fmla="*/ 1366788 h 2598821"/>
              <a:gd name="csX31" fmla="*/ 5715519 w 5802146"/>
              <a:gd name="csY31" fmla="*/ 1328287 h 2598821"/>
              <a:gd name="csX32" fmla="*/ 5619266 w 5802146"/>
              <a:gd name="csY32" fmla="*/ 1309036 h 2598821"/>
              <a:gd name="csX33" fmla="*/ 5417136 w 5802146"/>
              <a:gd name="csY33" fmla="*/ 1289786 h 2598821"/>
              <a:gd name="csX34" fmla="*/ 4598988 w 5802146"/>
              <a:gd name="csY34" fmla="*/ 1309036 h 2598821"/>
              <a:gd name="csX35" fmla="*/ 4435359 w 5802146"/>
              <a:gd name="csY35" fmla="*/ 1357162 h 2598821"/>
              <a:gd name="csX36" fmla="*/ 4348731 w 5802146"/>
              <a:gd name="csY36" fmla="*/ 1386038 h 2598821"/>
              <a:gd name="csX37" fmla="*/ 4213978 w 5802146"/>
              <a:gd name="csY37" fmla="*/ 1443790 h 2598821"/>
              <a:gd name="csX38" fmla="*/ 4127350 w 5802146"/>
              <a:gd name="csY38" fmla="*/ 1501541 h 2598821"/>
              <a:gd name="csX39" fmla="*/ 4031098 w 5802146"/>
              <a:gd name="csY39" fmla="*/ 1549668 h 2598821"/>
              <a:gd name="csX40" fmla="*/ 3877093 w 5802146"/>
              <a:gd name="csY40" fmla="*/ 1645920 h 2598821"/>
              <a:gd name="csX41" fmla="*/ 3828967 w 5802146"/>
              <a:gd name="csY41" fmla="*/ 1674796 h 2598821"/>
              <a:gd name="csX42" fmla="*/ 3780841 w 5802146"/>
              <a:gd name="csY42" fmla="*/ 1713297 h 2598821"/>
              <a:gd name="csX43" fmla="*/ 3723089 w 5802146"/>
              <a:gd name="csY43" fmla="*/ 1742173 h 2598821"/>
              <a:gd name="csX44" fmla="*/ 3674963 w 5802146"/>
              <a:gd name="csY44" fmla="*/ 1780674 h 2598821"/>
              <a:gd name="csX45" fmla="*/ 3597961 w 5802146"/>
              <a:gd name="csY45" fmla="*/ 1819175 h 2598821"/>
              <a:gd name="csX46" fmla="*/ 3537327 w 5802146"/>
              <a:gd name="csY46" fmla="*/ 1756962 h 2598821"/>
              <a:gd name="csX47" fmla="*/ 3472632 w 5802146"/>
              <a:gd name="csY47" fmla="*/ 1709036 h 2598821"/>
              <a:gd name="csX48" fmla="*/ 3412499 w 5802146"/>
              <a:gd name="csY48" fmla="*/ 1684722 h 2598821"/>
              <a:gd name="csX49" fmla="*/ 3357329 w 5802146"/>
              <a:gd name="csY49" fmla="*/ 1665171 h 2598821"/>
              <a:gd name="csX50" fmla="*/ 3328453 w 5802146"/>
              <a:gd name="csY50" fmla="*/ 1645920 h 2598821"/>
              <a:gd name="csX51" fmla="*/ 3261077 w 5802146"/>
              <a:gd name="csY51" fmla="*/ 1588169 h 2598821"/>
              <a:gd name="csX52" fmla="*/ 3232201 w 5802146"/>
              <a:gd name="csY52" fmla="*/ 1578543 h 2598821"/>
              <a:gd name="csX53" fmla="*/ 3155199 w 5802146"/>
              <a:gd name="csY53" fmla="*/ 1511167 h 2598821"/>
              <a:gd name="csX54" fmla="*/ 3087822 w 5802146"/>
              <a:gd name="csY54" fmla="*/ 1472666 h 2598821"/>
              <a:gd name="csX55" fmla="*/ 3039696 w 5802146"/>
              <a:gd name="csY55" fmla="*/ 1443790 h 2598821"/>
              <a:gd name="csX56" fmla="*/ 2969938 w 5802146"/>
              <a:gd name="csY56" fmla="*/ 1412232 h 2598821"/>
              <a:gd name="csX57" fmla="*/ 2914567 w 5802146"/>
              <a:gd name="csY57" fmla="*/ 1366788 h 2598821"/>
              <a:gd name="csX58" fmla="*/ 2866441 w 5802146"/>
              <a:gd name="csY58" fmla="*/ 1347537 h 2598821"/>
              <a:gd name="csX59" fmla="*/ 2789439 w 5802146"/>
              <a:gd name="csY59" fmla="*/ 1299411 h 2598821"/>
              <a:gd name="csX60" fmla="*/ 2731687 w 5802146"/>
              <a:gd name="csY60" fmla="*/ 1212783 h 2598821"/>
              <a:gd name="csX61" fmla="*/ 2760563 w 5802146"/>
              <a:gd name="csY61" fmla="*/ 577516 h 2598821"/>
              <a:gd name="csX62" fmla="*/ 2750938 w 5802146"/>
              <a:gd name="csY62" fmla="*/ 308009 h 2598821"/>
              <a:gd name="csX63" fmla="*/ 2731687 w 5802146"/>
              <a:gd name="csY63" fmla="*/ 192506 h 2598821"/>
              <a:gd name="csX64" fmla="*/ 2712437 w 5802146"/>
              <a:gd name="csY64" fmla="*/ 144379 h 2598821"/>
              <a:gd name="csX65" fmla="*/ 2654685 w 5802146"/>
              <a:gd name="csY65" fmla="*/ 77002 h 2598821"/>
              <a:gd name="csX66" fmla="*/ 2625809 w 5802146"/>
              <a:gd name="csY66" fmla="*/ 38501 h 2598821"/>
              <a:gd name="csX67" fmla="*/ 2568058 w 5802146"/>
              <a:gd name="csY67" fmla="*/ 0 h 2598821"/>
              <a:gd name="csX68" fmla="*/ 2625809 w 5802146"/>
              <a:gd name="csY68" fmla="*/ 57752 h 2598821"/>
              <a:gd name="csX0" fmla="*/ 2625809 w 5802146"/>
              <a:gd name="csY0" fmla="*/ 57752 h 2598821"/>
              <a:gd name="csX1" fmla="*/ 55864 w 5802146"/>
              <a:gd name="csY1" fmla="*/ 67377 h 2598821"/>
              <a:gd name="csX2" fmla="*/ 10895 w 5802146"/>
              <a:gd name="csY2" fmla="*/ 131872 h 2598821"/>
              <a:gd name="csX3" fmla="*/ 1370 w 5802146"/>
              <a:gd name="csY3" fmla="*/ 543376 h 2598821"/>
              <a:gd name="csX4" fmla="*/ 20822 w 5802146"/>
              <a:gd name="csY4" fmla="*/ 1101692 h 2598821"/>
              <a:gd name="csX5" fmla="*/ 49498 w 5802146"/>
              <a:gd name="csY5" fmla="*/ 1214512 h 2598821"/>
              <a:gd name="csX6" fmla="*/ 66266 w 5802146"/>
              <a:gd name="csY6" fmla="*/ 1222283 h 2598821"/>
              <a:gd name="csX7" fmla="*/ 68948 w 5802146"/>
              <a:gd name="csY7" fmla="*/ 1218222 h 2598821"/>
              <a:gd name="csX8" fmla="*/ 85918 w 5802146"/>
              <a:gd name="csY8" fmla="*/ 1202356 h 2598821"/>
              <a:gd name="csX9" fmla="*/ 165501 w 5802146"/>
              <a:gd name="csY9" fmla="*/ 1134403 h 2598821"/>
              <a:gd name="csX10" fmla="*/ 113616 w 5802146"/>
              <a:gd name="csY10" fmla="*/ 1251284 h 2598821"/>
              <a:gd name="csX11" fmla="*/ 748883 w 5802146"/>
              <a:gd name="csY11" fmla="*/ 1270535 h 2598821"/>
              <a:gd name="csX12" fmla="*/ 999140 w 5802146"/>
              <a:gd name="csY12" fmla="*/ 1578543 h 2598821"/>
              <a:gd name="csX13" fmla="*/ 1047266 w 5802146"/>
              <a:gd name="csY13" fmla="*/ 1665171 h 2598821"/>
              <a:gd name="csX14" fmla="*/ 1114643 w 5802146"/>
              <a:gd name="csY14" fmla="*/ 1761423 h 2598821"/>
              <a:gd name="csX15" fmla="*/ 1172395 w 5802146"/>
              <a:gd name="csY15" fmla="*/ 1867301 h 2598821"/>
              <a:gd name="csX16" fmla="*/ 1441902 w 5802146"/>
              <a:gd name="csY16" fmla="*/ 2146434 h 2598821"/>
              <a:gd name="csX17" fmla="*/ 1730660 w 5802146"/>
              <a:gd name="csY17" fmla="*/ 2300438 h 2598821"/>
              <a:gd name="csX18" fmla="*/ 1826912 w 5802146"/>
              <a:gd name="csY18" fmla="*/ 2338939 h 2598821"/>
              <a:gd name="csX19" fmla="*/ 2086795 w 5802146"/>
              <a:gd name="csY19" fmla="*/ 2387066 h 2598821"/>
              <a:gd name="csX20" fmla="*/ 2673936 w 5802146"/>
              <a:gd name="csY20" fmla="*/ 2464068 h 2598821"/>
              <a:gd name="csX21" fmla="*/ 2991569 w 5802146"/>
              <a:gd name="csY21" fmla="*/ 2502569 h 2598821"/>
              <a:gd name="csX22" fmla="*/ 3530584 w 5802146"/>
              <a:gd name="csY22" fmla="*/ 2521819 h 2598821"/>
              <a:gd name="csX23" fmla="*/ 3915595 w 5802146"/>
              <a:gd name="csY23" fmla="*/ 2560320 h 2598821"/>
              <a:gd name="csX24" fmla="*/ 4310230 w 5802146"/>
              <a:gd name="csY24" fmla="*/ 2569946 h 2598821"/>
              <a:gd name="csX25" fmla="*/ 4791493 w 5802146"/>
              <a:gd name="csY25" fmla="*/ 2598821 h 2598821"/>
              <a:gd name="csX26" fmla="*/ 5686643 w 5802146"/>
              <a:gd name="csY26" fmla="*/ 2569946 h 2598821"/>
              <a:gd name="csX27" fmla="*/ 5763645 w 5802146"/>
              <a:gd name="csY27" fmla="*/ 2483318 h 2598821"/>
              <a:gd name="csX28" fmla="*/ 5782896 w 5802146"/>
              <a:gd name="csY28" fmla="*/ 2300438 h 2598821"/>
              <a:gd name="csX29" fmla="*/ 5802146 w 5802146"/>
              <a:gd name="csY29" fmla="*/ 2030931 h 2598821"/>
              <a:gd name="csX30" fmla="*/ 5773270 w 5802146"/>
              <a:gd name="csY30" fmla="*/ 1366788 h 2598821"/>
              <a:gd name="csX31" fmla="*/ 5715519 w 5802146"/>
              <a:gd name="csY31" fmla="*/ 1328287 h 2598821"/>
              <a:gd name="csX32" fmla="*/ 5619266 w 5802146"/>
              <a:gd name="csY32" fmla="*/ 1309036 h 2598821"/>
              <a:gd name="csX33" fmla="*/ 5417136 w 5802146"/>
              <a:gd name="csY33" fmla="*/ 1289786 h 2598821"/>
              <a:gd name="csX34" fmla="*/ 4598988 w 5802146"/>
              <a:gd name="csY34" fmla="*/ 1309036 h 2598821"/>
              <a:gd name="csX35" fmla="*/ 4435359 w 5802146"/>
              <a:gd name="csY35" fmla="*/ 1357162 h 2598821"/>
              <a:gd name="csX36" fmla="*/ 4348731 w 5802146"/>
              <a:gd name="csY36" fmla="*/ 1386038 h 2598821"/>
              <a:gd name="csX37" fmla="*/ 4213978 w 5802146"/>
              <a:gd name="csY37" fmla="*/ 1443790 h 2598821"/>
              <a:gd name="csX38" fmla="*/ 4127350 w 5802146"/>
              <a:gd name="csY38" fmla="*/ 1501541 h 2598821"/>
              <a:gd name="csX39" fmla="*/ 4031098 w 5802146"/>
              <a:gd name="csY39" fmla="*/ 1549668 h 2598821"/>
              <a:gd name="csX40" fmla="*/ 3877093 w 5802146"/>
              <a:gd name="csY40" fmla="*/ 1645920 h 2598821"/>
              <a:gd name="csX41" fmla="*/ 3828967 w 5802146"/>
              <a:gd name="csY41" fmla="*/ 1674796 h 2598821"/>
              <a:gd name="csX42" fmla="*/ 3780841 w 5802146"/>
              <a:gd name="csY42" fmla="*/ 1713297 h 2598821"/>
              <a:gd name="csX43" fmla="*/ 3723089 w 5802146"/>
              <a:gd name="csY43" fmla="*/ 1742173 h 2598821"/>
              <a:gd name="csX44" fmla="*/ 3674963 w 5802146"/>
              <a:gd name="csY44" fmla="*/ 1780674 h 2598821"/>
              <a:gd name="csX45" fmla="*/ 3597961 w 5802146"/>
              <a:gd name="csY45" fmla="*/ 1819175 h 2598821"/>
              <a:gd name="csX46" fmla="*/ 3537327 w 5802146"/>
              <a:gd name="csY46" fmla="*/ 1756962 h 2598821"/>
              <a:gd name="csX47" fmla="*/ 3472632 w 5802146"/>
              <a:gd name="csY47" fmla="*/ 1709036 h 2598821"/>
              <a:gd name="csX48" fmla="*/ 3412499 w 5802146"/>
              <a:gd name="csY48" fmla="*/ 1684722 h 2598821"/>
              <a:gd name="csX49" fmla="*/ 3357329 w 5802146"/>
              <a:gd name="csY49" fmla="*/ 1665171 h 2598821"/>
              <a:gd name="csX50" fmla="*/ 3328453 w 5802146"/>
              <a:gd name="csY50" fmla="*/ 1645920 h 2598821"/>
              <a:gd name="csX51" fmla="*/ 3261077 w 5802146"/>
              <a:gd name="csY51" fmla="*/ 1588169 h 2598821"/>
              <a:gd name="csX52" fmla="*/ 3232201 w 5802146"/>
              <a:gd name="csY52" fmla="*/ 1578543 h 2598821"/>
              <a:gd name="csX53" fmla="*/ 3155199 w 5802146"/>
              <a:gd name="csY53" fmla="*/ 1511167 h 2598821"/>
              <a:gd name="csX54" fmla="*/ 3087822 w 5802146"/>
              <a:gd name="csY54" fmla="*/ 1472666 h 2598821"/>
              <a:gd name="csX55" fmla="*/ 3039696 w 5802146"/>
              <a:gd name="csY55" fmla="*/ 1443790 h 2598821"/>
              <a:gd name="csX56" fmla="*/ 2969938 w 5802146"/>
              <a:gd name="csY56" fmla="*/ 1412232 h 2598821"/>
              <a:gd name="csX57" fmla="*/ 2914567 w 5802146"/>
              <a:gd name="csY57" fmla="*/ 1366788 h 2598821"/>
              <a:gd name="csX58" fmla="*/ 2866441 w 5802146"/>
              <a:gd name="csY58" fmla="*/ 1347537 h 2598821"/>
              <a:gd name="csX59" fmla="*/ 2789439 w 5802146"/>
              <a:gd name="csY59" fmla="*/ 1299411 h 2598821"/>
              <a:gd name="csX60" fmla="*/ 2731687 w 5802146"/>
              <a:gd name="csY60" fmla="*/ 1212783 h 2598821"/>
              <a:gd name="csX61" fmla="*/ 2760563 w 5802146"/>
              <a:gd name="csY61" fmla="*/ 577516 h 2598821"/>
              <a:gd name="csX62" fmla="*/ 2750938 w 5802146"/>
              <a:gd name="csY62" fmla="*/ 308009 h 2598821"/>
              <a:gd name="csX63" fmla="*/ 2731687 w 5802146"/>
              <a:gd name="csY63" fmla="*/ 192506 h 2598821"/>
              <a:gd name="csX64" fmla="*/ 2712437 w 5802146"/>
              <a:gd name="csY64" fmla="*/ 144379 h 2598821"/>
              <a:gd name="csX65" fmla="*/ 2654685 w 5802146"/>
              <a:gd name="csY65" fmla="*/ 77002 h 2598821"/>
              <a:gd name="csX66" fmla="*/ 2625809 w 5802146"/>
              <a:gd name="csY66" fmla="*/ 38501 h 2598821"/>
              <a:gd name="csX67" fmla="*/ 2568058 w 5802146"/>
              <a:gd name="csY67" fmla="*/ 0 h 2598821"/>
              <a:gd name="csX68" fmla="*/ 2625809 w 5802146"/>
              <a:gd name="csY68" fmla="*/ 57752 h 2598821"/>
              <a:gd name="csX0" fmla="*/ 2625809 w 5806976"/>
              <a:gd name="csY0" fmla="*/ 57752 h 2598821"/>
              <a:gd name="csX1" fmla="*/ 55864 w 5806976"/>
              <a:gd name="csY1" fmla="*/ 67377 h 2598821"/>
              <a:gd name="csX2" fmla="*/ 10895 w 5806976"/>
              <a:gd name="csY2" fmla="*/ 131872 h 2598821"/>
              <a:gd name="csX3" fmla="*/ 1370 w 5806976"/>
              <a:gd name="csY3" fmla="*/ 543376 h 2598821"/>
              <a:gd name="csX4" fmla="*/ 20822 w 5806976"/>
              <a:gd name="csY4" fmla="*/ 1101692 h 2598821"/>
              <a:gd name="csX5" fmla="*/ 49498 w 5806976"/>
              <a:gd name="csY5" fmla="*/ 1214512 h 2598821"/>
              <a:gd name="csX6" fmla="*/ 66266 w 5806976"/>
              <a:gd name="csY6" fmla="*/ 1222283 h 2598821"/>
              <a:gd name="csX7" fmla="*/ 68948 w 5806976"/>
              <a:gd name="csY7" fmla="*/ 1218222 h 2598821"/>
              <a:gd name="csX8" fmla="*/ 85918 w 5806976"/>
              <a:gd name="csY8" fmla="*/ 1202356 h 2598821"/>
              <a:gd name="csX9" fmla="*/ 165501 w 5806976"/>
              <a:gd name="csY9" fmla="*/ 1134403 h 2598821"/>
              <a:gd name="csX10" fmla="*/ 113616 w 5806976"/>
              <a:gd name="csY10" fmla="*/ 1251284 h 2598821"/>
              <a:gd name="csX11" fmla="*/ 748883 w 5806976"/>
              <a:gd name="csY11" fmla="*/ 1270535 h 2598821"/>
              <a:gd name="csX12" fmla="*/ 999140 w 5806976"/>
              <a:gd name="csY12" fmla="*/ 1578543 h 2598821"/>
              <a:gd name="csX13" fmla="*/ 1047266 w 5806976"/>
              <a:gd name="csY13" fmla="*/ 1665171 h 2598821"/>
              <a:gd name="csX14" fmla="*/ 1114643 w 5806976"/>
              <a:gd name="csY14" fmla="*/ 1761423 h 2598821"/>
              <a:gd name="csX15" fmla="*/ 1172395 w 5806976"/>
              <a:gd name="csY15" fmla="*/ 1867301 h 2598821"/>
              <a:gd name="csX16" fmla="*/ 1441902 w 5806976"/>
              <a:gd name="csY16" fmla="*/ 2146434 h 2598821"/>
              <a:gd name="csX17" fmla="*/ 1730660 w 5806976"/>
              <a:gd name="csY17" fmla="*/ 2300438 h 2598821"/>
              <a:gd name="csX18" fmla="*/ 1826912 w 5806976"/>
              <a:gd name="csY18" fmla="*/ 2338939 h 2598821"/>
              <a:gd name="csX19" fmla="*/ 2086795 w 5806976"/>
              <a:gd name="csY19" fmla="*/ 2387066 h 2598821"/>
              <a:gd name="csX20" fmla="*/ 2673936 w 5806976"/>
              <a:gd name="csY20" fmla="*/ 2464068 h 2598821"/>
              <a:gd name="csX21" fmla="*/ 2991569 w 5806976"/>
              <a:gd name="csY21" fmla="*/ 2502569 h 2598821"/>
              <a:gd name="csX22" fmla="*/ 3530584 w 5806976"/>
              <a:gd name="csY22" fmla="*/ 2521819 h 2598821"/>
              <a:gd name="csX23" fmla="*/ 3915595 w 5806976"/>
              <a:gd name="csY23" fmla="*/ 2560320 h 2598821"/>
              <a:gd name="csX24" fmla="*/ 4310230 w 5806976"/>
              <a:gd name="csY24" fmla="*/ 2569946 h 2598821"/>
              <a:gd name="csX25" fmla="*/ 4791493 w 5806976"/>
              <a:gd name="csY25" fmla="*/ 2598821 h 2598821"/>
              <a:gd name="csX26" fmla="*/ 5686643 w 5806976"/>
              <a:gd name="csY26" fmla="*/ 2569946 h 2598821"/>
              <a:gd name="csX27" fmla="*/ 5537426 w 5806976"/>
              <a:gd name="csY27" fmla="*/ 2330918 h 2598821"/>
              <a:gd name="csX28" fmla="*/ 5782896 w 5806976"/>
              <a:gd name="csY28" fmla="*/ 2300438 h 2598821"/>
              <a:gd name="csX29" fmla="*/ 5802146 w 5806976"/>
              <a:gd name="csY29" fmla="*/ 2030931 h 2598821"/>
              <a:gd name="csX30" fmla="*/ 5773270 w 5806976"/>
              <a:gd name="csY30" fmla="*/ 1366788 h 2598821"/>
              <a:gd name="csX31" fmla="*/ 5715519 w 5806976"/>
              <a:gd name="csY31" fmla="*/ 1328287 h 2598821"/>
              <a:gd name="csX32" fmla="*/ 5619266 w 5806976"/>
              <a:gd name="csY32" fmla="*/ 1309036 h 2598821"/>
              <a:gd name="csX33" fmla="*/ 5417136 w 5806976"/>
              <a:gd name="csY33" fmla="*/ 1289786 h 2598821"/>
              <a:gd name="csX34" fmla="*/ 4598988 w 5806976"/>
              <a:gd name="csY34" fmla="*/ 1309036 h 2598821"/>
              <a:gd name="csX35" fmla="*/ 4435359 w 5806976"/>
              <a:gd name="csY35" fmla="*/ 1357162 h 2598821"/>
              <a:gd name="csX36" fmla="*/ 4348731 w 5806976"/>
              <a:gd name="csY36" fmla="*/ 1386038 h 2598821"/>
              <a:gd name="csX37" fmla="*/ 4213978 w 5806976"/>
              <a:gd name="csY37" fmla="*/ 1443790 h 2598821"/>
              <a:gd name="csX38" fmla="*/ 4127350 w 5806976"/>
              <a:gd name="csY38" fmla="*/ 1501541 h 2598821"/>
              <a:gd name="csX39" fmla="*/ 4031098 w 5806976"/>
              <a:gd name="csY39" fmla="*/ 1549668 h 2598821"/>
              <a:gd name="csX40" fmla="*/ 3877093 w 5806976"/>
              <a:gd name="csY40" fmla="*/ 1645920 h 2598821"/>
              <a:gd name="csX41" fmla="*/ 3828967 w 5806976"/>
              <a:gd name="csY41" fmla="*/ 1674796 h 2598821"/>
              <a:gd name="csX42" fmla="*/ 3780841 w 5806976"/>
              <a:gd name="csY42" fmla="*/ 1713297 h 2598821"/>
              <a:gd name="csX43" fmla="*/ 3723089 w 5806976"/>
              <a:gd name="csY43" fmla="*/ 1742173 h 2598821"/>
              <a:gd name="csX44" fmla="*/ 3674963 w 5806976"/>
              <a:gd name="csY44" fmla="*/ 1780674 h 2598821"/>
              <a:gd name="csX45" fmla="*/ 3597961 w 5806976"/>
              <a:gd name="csY45" fmla="*/ 1819175 h 2598821"/>
              <a:gd name="csX46" fmla="*/ 3537327 w 5806976"/>
              <a:gd name="csY46" fmla="*/ 1756962 h 2598821"/>
              <a:gd name="csX47" fmla="*/ 3472632 w 5806976"/>
              <a:gd name="csY47" fmla="*/ 1709036 h 2598821"/>
              <a:gd name="csX48" fmla="*/ 3412499 w 5806976"/>
              <a:gd name="csY48" fmla="*/ 1684722 h 2598821"/>
              <a:gd name="csX49" fmla="*/ 3357329 w 5806976"/>
              <a:gd name="csY49" fmla="*/ 1665171 h 2598821"/>
              <a:gd name="csX50" fmla="*/ 3328453 w 5806976"/>
              <a:gd name="csY50" fmla="*/ 1645920 h 2598821"/>
              <a:gd name="csX51" fmla="*/ 3261077 w 5806976"/>
              <a:gd name="csY51" fmla="*/ 1588169 h 2598821"/>
              <a:gd name="csX52" fmla="*/ 3232201 w 5806976"/>
              <a:gd name="csY52" fmla="*/ 1578543 h 2598821"/>
              <a:gd name="csX53" fmla="*/ 3155199 w 5806976"/>
              <a:gd name="csY53" fmla="*/ 1511167 h 2598821"/>
              <a:gd name="csX54" fmla="*/ 3087822 w 5806976"/>
              <a:gd name="csY54" fmla="*/ 1472666 h 2598821"/>
              <a:gd name="csX55" fmla="*/ 3039696 w 5806976"/>
              <a:gd name="csY55" fmla="*/ 1443790 h 2598821"/>
              <a:gd name="csX56" fmla="*/ 2969938 w 5806976"/>
              <a:gd name="csY56" fmla="*/ 1412232 h 2598821"/>
              <a:gd name="csX57" fmla="*/ 2914567 w 5806976"/>
              <a:gd name="csY57" fmla="*/ 1366788 h 2598821"/>
              <a:gd name="csX58" fmla="*/ 2866441 w 5806976"/>
              <a:gd name="csY58" fmla="*/ 1347537 h 2598821"/>
              <a:gd name="csX59" fmla="*/ 2789439 w 5806976"/>
              <a:gd name="csY59" fmla="*/ 1299411 h 2598821"/>
              <a:gd name="csX60" fmla="*/ 2731687 w 5806976"/>
              <a:gd name="csY60" fmla="*/ 1212783 h 2598821"/>
              <a:gd name="csX61" fmla="*/ 2760563 w 5806976"/>
              <a:gd name="csY61" fmla="*/ 577516 h 2598821"/>
              <a:gd name="csX62" fmla="*/ 2750938 w 5806976"/>
              <a:gd name="csY62" fmla="*/ 308009 h 2598821"/>
              <a:gd name="csX63" fmla="*/ 2731687 w 5806976"/>
              <a:gd name="csY63" fmla="*/ 192506 h 2598821"/>
              <a:gd name="csX64" fmla="*/ 2712437 w 5806976"/>
              <a:gd name="csY64" fmla="*/ 144379 h 2598821"/>
              <a:gd name="csX65" fmla="*/ 2654685 w 5806976"/>
              <a:gd name="csY65" fmla="*/ 77002 h 2598821"/>
              <a:gd name="csX66" fmla="*/ 2625809 w 5806976"/>
              <a:gd name="csY66" fmla="*/ 38501 h 2598821"/>
              <a:gd name="csX67" fmla="*/ 2568058 w 5806976"/>
              <a:gd name="csY67" fmla="*/ 0 h 2598821"/>
              <a:gd name="csX68" fmla="*/ 2625809 w 5806976"/>
              <a:gd name="csY68" fmla="*/ 57752 h 2598821"/>
              <a:gd name="csX0" fmla="*/ 2625809 w 5806976"/>
              <a:gd name="csY0" fmla="*/ 57752 h 2598821"/>
              <a:gd name="csX1" fmla="*/ 55864 w 5806976"/>
              <a:gd name="csY1" fmla="*/ 67377 h 2598821"/>
              <a:gd name="csX2" fmla="*/ 10895 w 5806976"/>
              <a:gd name="csY2" fmla="*/ 131872 h 2598821"/>
              <a:gd name="csX3" fmla="*/ 1370 w 5806976"/>
              <a:gd name="csY3" fmla="*/ 543376 h 2598821"/>
              <a:gd name="csX4" fmla="*/ 20822 w 5806976"/>
              <a:gd name="csY4" fmla="*/ 1101692 h 2598821"/>
              <a:gd name="csX5" fmla="*/ 49498 w 5806976"/>
              <a:gd name="csY5" fmla="*/ 1214512 h 2598821"/>
              <a:gd name="csX6" fmla="*/ 66266 w 5806976"/>
              <a:gd name="csY6" fmla="*/ 1222283 h 2598821"/>
              <a:gd name="csX7" fmla="*/ 68948 w 5806976"/>
              <a:gd name="csY7" fmla="*/ 1218222 h 2598821"/>
              <a:gd name="csX8" fmla="*/ 85918 w 5806976"/>
              <a:gd name="csY8" fmla="*/ 1202356 h 2598821"/>
              <a:gd name="csX9" fmla="*/ 165501 w 5806976"/>
              <a:gd name="csY9" fmla="*/ 1134403 h 2598821"/>
              <a:gd name="csX10" fmla="*/ 113616 w 5806976"/>
              <a:gd name="csY10" fmla="*/ 1251284 h 2598821"/>
              <a:gd name="csX11" fmla="*/ 748883 w 5806976"/>
              <a:gd name="csY11" fmla="*/ 1270535 h 2598821"/>
              <a:gd name="csX12" fmla="*/ 999140 w 5806976"/>
              <a:gd name="csY12" fmla="*/ 1578543 h 2598821"/>
              <a:gd name="csX13" fmla="*/ 1047266 w 5806976"/>
              <a:gd name="csY13" fmla="*/ 1665171 h 2598821"/>
              <a:gd name="csX14" fmla="*/ 1114643 w 5806976"/>
              <a:gd name="csY14" fmla="*/ 1761423 h 2598821"/>
              <a:gd name="csX15" fmla="*/ 1172395 w 5806976"/>
              <a:gd name="csY15" fmla="*/ 1867301 h 2598821"/>
              <a:gd name="csX16" fmla="*/ 1441902 w 5806976"/>
              <a:gd name="csY16" fmla="*/ 2146434 h 2598821"/>
              <a:gd name="csX17" fmla="*/ 1730660 w 5806976"/>
              <a:gd name="csY17" fmla="*/ 2300438 h 2598821"/>
              <a:gd name="csX18" fmla="*/ 1826912 w 5806976"/>
              <a:gd name="csY18" fmla="*/ 2338939 h 2598821"/>
              <a:gd name="csX19" fmla="*/ 2086795 w 5806976"/>
              <a:gd name="csY19" fmla="*/ 2387066 h 2598821"/>
              <a:gd name="csX20" fmla="*/ 2673936 w 5806976"/>
              <a:gd name="csY20" fmla="*/ 2464068 h 2598821"/>
              <a:gd name="csX21" fmla="*/ 2991569 w 5806976"/>
              <a:gd name="csY21" fmla="*/ 2502569 h 2598821"/>
              <a:gd name="csX22" fmla="*/ 3530584 w 5806976"/>
              <a:gd name="csY22" fmla="*/ 2521819 h 2598821"/>
              <a:gd name="csX23" fmla="*/ 3915595 w 5806976"/>
              <a:gd name="csY23" fmla="*/ 2560320 h 2598821"/>
              <a:gd name="csX24" fmla="*/ 4310230 w 5806976"/>
              <a:gd name="csY24" fmla="*/ 2569946 h 2598821"/>
              <a:gd name="csX25" fmla="*/ 4791493 w 5806976"/>
              <a:gd name="csY25" fmla="*/ 2598821 h 2598821"/>
              <a:gd name="csX26" fmla="*/ 5405655 w 5806976"/>
              <a:gd name="csY26" fmla="*/ 2527084 h 2598821"/>
              <a:gd name="csX27" fmla="*/ 5537426 w 5806976"/>
              <a:gd name="csY27" fmla="*/ 2330918 h 2598821"/>
              <a:gd name="csX28" fmla="*/ 5782896 w 5806976"/>
              <a:gd name="csY28" fmla="*/ 2300438 h 2598821"/>
              <a:gd name="csX29" fmla="*/ 5802146 w 5806976"/>
              <a:gd name="csY29" fmla="*/ 2030931 h 2598821"/>
              <a:gd name="csX30" fmla="*/ 5773270 w 5806976"/>
              <a:gd name="csY30" fmla="*/ 1366788 h 2598821"/>
              <a:gd name="csX31" fmla="*/ 5715519 w 5806976"/>
              <a:gd name="csY31" fmla="*/ 1328287 h 2598821"/>
              <a:gd name="csX32" fmla="*/ 5619266 w 5806976"/>
              <a:gd name="csY32" fmla="*/ 1309036 h 2598821"/>
              <a:gd name="csX33" fmla="*/ 5417136 w 5806976"/>
              <a:gd name="csY33" fmla="*/ 1289786 h 2598821"/>
              <a:gd name="csX34" fmla="*/ 4598988 w 5806976"/>
              <a:gd name="csY34" fmla="*/ 1309036 h 2598821"/>
              <a:gd name="csX35" fmla="*/ 4435359 w 5806976"/>
              <a:gd name="csY35" fmla="*/ 1357162 h 2598821"/>
              <a:gd name="csX36" fmla="*/ 4348731 w 5806976"/>
              <a:gd name="csY36" fmla="*/ 1386038 h 2598821"/>
              <a:gd name="csX37" fmla="*/ 4213978 w 5806976"/>
              <a:gd name="csY37" fmla="*/ 1443790 h 2598821"/>
              <a:gd name="csX38" fmla="*/ 4127350 w 5806976"/>
              <a:gd name="csY38" fmla="*/ 1501541 h 2598821"/>
              <a:gd name="csX39" fmla="*/ 4031098 w 5806976"/>
              <a:gd name="csY39" fmla="*/ 1549668 h 2598821"/>
              <a:gd name="csX40" fmla="*/ 3877093 w 5806976"/>
              <a:gd name="csY40" fmla="*/ 1645920 h 2598821"/>
              <a:gd name="csX41" fmla="*/ 3828967 w 5806976"/>
              <a:gd name="csY41" fmla="*/ 1674796 h 2598821"/>
              <a:gd name="csX42" fmla="*/ 3780841 w 5806976"/>
              <a:gd name="csY42" fmla="*/ 1713297 h 2598821"/>
              <a:gd name="csX43" fmla="*/ 3723089 w 5806976"/>
              <a:gd name="csY43" fmla="*/ 1742173 h 2598821"/>
              <a:gd name="csX44" fmla="*/ 3674963 w 5806976"/>
              <a:gd name="csY44" fmla="*/ 1780674 h 2598821"/>
              <a:gd name="csX45" fmla="*/ 3597961 w 5806976"/>
              <a:gd name="csY45" fmla="*/ 1819175 h 2598821"/>
              <a:gd name="csX46" fmla="*/ 3537327 w 5806976"/>
              <a:gd name="csY46" fmla="*/ 1756962 h 2598821"/>
              <a:gd name="csX47" fmla="*/ 3472632 w 5806976"/>
              <a:gd name="csY47" fmla="*/ 1709036 h 2598821"/>
              <a:gd name="csX48" fmla="*/ 3412499 w 5806976"/>
              <a:gd name="csY48" fmla="*/ 1684722 h 2598821"/>
              <a:gd name="csX49" fmla="*/ 3357329 w 5806976"/>
              <a:gd name="csY49" fmla="*/ 1665171 h 2598821"/>
              <a:gd name="csX50" fmla="*/ 3328453 w 5806976"/>
              <a:gd name="csY50" fmla="*/ 1645920 h 2598821"/>
              <a:gd name="csX51" fmla="*/ 3261077 w 5806976"/>
              <a:gd name="csY51" fmla="*/ 1588169 h 2598821"/>
              <a:gd name="csX52" fmla="*/ 3232201 w 5806976"/>
              <a:gd name="csY52" fmla="*/ 1578543 h 2598821"/>
              <a:gd name="csX53" fmla="*/ 3155199 w 5806976"/>
              <a:gd name="csY53" fmla="*/ 1511167 h 2598821"/>
              <a:gd name="csX54" fmla="*/ 3087822 w 5806976"/>
              <a:gd name="csY54" fmla="*/ 1472666 h 2598821"/>
              <a:gd name="csX55" fmla="*/ 3039696 w 5806976"/>
              <a:gd name="csY55" fmla="*/ 1443790 h 2598821"/>
              <a:gd name="csX56" fmla="*/ 2969938 w 5806976"/>
              <a:gd name="csY56" fmla="*/ 1412232 h 2598821"/>
              <a:gd name="csX57" fmla="*/ 2914567 w 5806976"/>
              <a:gd name="csY57" fmla="*/ 1366788 h 2598821"/>
              <a:gd name="csX58" fmla="*/ 2866441 w 5806976"/>
              <a:gd name="csY58" fmla="*/ 1347537 h 2598821"/>
              <a:gd name="csX59" fmla="*/ 2789439 w 5806976"/>
              <a:gd name="csY59" fmla="*/ 1299411 h 2598821"/>
              <a:gd name="csX60" fmla="*/ 2731687 w 5806976"/>
              <a:gd name="csY60" fmla="*/ 1212783 h 2598821"/>
              <a:gd name="csX61" fmla="*/ 2760563 w 5806976"/>
              <a:gd name="csY61" fmla="*/ 577516 h 2598821"/>
              <a:gd name="csX62" fmla="*/ 2750938 w 5806976"/>
              <a:gd name="csY62" fmla="*/ 308009 h 2598821"/>
              <a:gd name="csX63" fmla="*/ 2731687 w 5806976"/>
              <a:gd name="csY63" fmla="*/ 192506 h 2598821"/>
              <a:gd name="csX64" fmla="*/ 2712437 w 5806976"/>
              <a:gd name="csY64" fmla="*/ 144379 h 2598821"/>
              <a:gd name="csX65" fmla="*/ 2654685 w 5806976"/>
              <a:gd name="csY65" fmla="*/ 77002 h 2598821"/>
              <a:gd name="csX66" fmla="*/ 2625809 w 5806976"/>
              <a:gd name="csY66" fmla="*/ 38501 h 2598821"/>
              <a:gd name="csX67" fmla="*/ 2568058 w 5806976"/>
              <a:gd name="csY67" fmla="*/ 0 h 2598821"/>
              <a:gd name="csX68" fmla="*/ 2625809 w 5806976"/>
              <a:gd name="csY68" fmla="*/ 57752 h 2598821"/>
              <a:gd name="csX0" fmla="*/ 2625809 w 5802146"/>
              <a:gd name="csY0" fmla="*/ 57752 h 2598821"/>
              <a:gd name="csX1" fmla="*/ 55864 w 5802146"/>
              <a:gd name="csY1" fmla="*/ 67377 h 2598821"/>
              <a:gd name="csX2" fmla="*/ 10895 w 5802146"/>
              <a:gd name="csY2" fmla="*/ 131872 h 2598821"/>
              <a:gd name="csX3" fmla="*/ 1370 w 5802146"/>
              <a:gd name="csY3" fmla="*/ 543376 h 2598821"/>
              <a:gd name="csX4" fmla="*/ 20822 w 5802146"/>
              <a:gd name="csY4" fmla="*/ 1101692 h 2598821"/>
              <a:gd name="csX5" fmla="*/ 49498 w 5802146"/>
              <a:gd name="csY5" fmla="*/ 1214512 h 2598821"/>
              <a:gd name="csX6" fmla="*/ 66266 w 5802146"/>
              <a:gd name="csY6" fmla="*/ 1222283 h 2598821"/>
              <a:gd name="csX7" fmla="*/ 68948 w 5802146"/>
              <a:gd name="csY7" fmla="*/ 1218222 h 2598821"/>
              <a:gd name="csX8" fmla="*/ 85918 w 5802146"/>
              <a:gd name="csY8" fmla="*/ 1202356 h 2598821"/>
              <a:gd name="csX9" fmla="*/ 165501 w 5802146"/>
              <a:gd name="csY9" fmla="*/ 1134403 h 2598821"/>
              <a:gd name="csX10" fmla="*/ 113616 w 5802146"/>
              <a:gd name="csY10" fmla="*/ 1251284 h 2598821"/>
              <a:gd name="csX11" fmla="*/ 748883 w 5802146"/>
              <a:gd name="csY11" fmla="*/ 1270535 h 2598821"/>
              <a:gd name="csX12" fmla="*/ 999140 w 5802146"/>
              <a:gd name="csY12" fmla="*/ 1578543 h 2598821"/>
              <a:gd name="csX13" fmla="*/ 1047266 w 5802146"/>
              <a:gd name="csY13" fmla="*/ 1665171 h 2598821"/>
              <a:gd name="csX14" fmla="*/ 1114643 w 5802146"/>
              <a:gd name="csY14" fmla="*/ 1761423 h 2598821"/>
              <a:gd name="csX15" fmla="*/ 1172395 w 5802146"/>
              <a:gd name="csY15" fmla="*/ 1867301 h 2598821"/>
              <a:gd name="csX16" fmla="*/ 1441902 w 5802146"/>
              <a:gd name="csY16" fmla="*/ 2146434 h 2598821"/>
              <a:gd name="csX17" fmla="*/ 1730660 w 5802146"/>
              <a:gd name="csY17" fmla="*/ 2300438 h 2598821"/>
              <a:gd name="csX18" fmla="*/ 1826912 w 5802146"/>
              <a:gd name="csY18" fmla="*/ 2338939 h 2598821"/>
              <a:gd name="csX19" fmla="*/ 2086795 w 5802146"/>
              <a:gd name="csY19" fmla="*/ 2387066 h 2598821"/>
              <a:gd name="csX20" fmla="*/ 2673936 w 5802146"/>
              <a:gd name="csY20" fmla="*/ 2464068 h 2598821"/>
              <a:gd name="csX21" fmla="*/ 2991569 w 5802146"/>
              <a:gd name="csY21" fmla="*/ 2502569 h 2598821"/>
              <a:gd name="csX22" fmla="*/ 3530584 w 5802146"/>
              <a:gd name="csY22" fmla="*/ 2521819 h 2598821"/>
              <a:gd name="csX23" fmla="*/ 3915595 w 5802146"/>
              <a:gd name="csY23" fmla="*/ 2560320 h 2598821"/>
              <a:gd name="csX24" fmla="*/ 4310230 w 5802146"/>
              <a:gd name="csY24" fmla="*/ 2569946 h 2598821"/>
              <a:gd name="csX25" fmla="*/ 4791493 w 5802146"/>
              <a:gd name="csY25" fmla="*/ 2598821 h 2598821"/>
              <a:gd name="csX26" fmla="*/ 5405655 w 5802146"/>
              <a:gd name="csY26" fmla="*/ 2527084 h 2598821"/>
              <a:gd name="csX27" fmla="*/ 5537426 w 5802146"/>
              <a:gd name="csY27" fmla="*/ 2330918 h 2598821"/>
              <a:gd name="csX28" fmla="*/ 5518577 w 5802146"/>
              <a:gd name="csY28" fmla="*/ 1967063 h 2598821"/>
              <a:gd name="csX29" fmla="*/ 5802146 w 5802146"/>
              <a:gd name="csY29" fmla="*/ 2030931 h 2598821"/>
              <a:gd name="csX30" fmla="*/ 5773270 w 5802146"/>
              <a:gd name="csY30" fmla="*/ 1366788 h 2598821"/>
              <a:gd name="csX31" fmla="*/ 5715519 w 5802146"/>
              <a:gd name="csY31" fmla="*/ 1328287 h 2598821"/>
              <a:gd name="csX32" fmla="*/ 5619266 w 5802146"/>
              <a:gd name="csY32" fmla="*/ 1309036 h 2598821"/>
              <a:gd name="csX33" fmla="*/ 5417136 w 5802146"/>
              <a:gd name="csY33" fmla="*/ 1289786 h 2598821"/>
              <a:gd name="csX34" fmla="*/ 4598988 w 5802146"/>
              <a:gd name="csY34" fmla="*/ 1309036 h 2598821"/>
              <a:gd name="csX35" fmla="*/ 4435359 w 5802146"/>
              <a:gd name="csY35" fmla="*/ 1357162 h 2598821"/>
              <a:gd name="csX36" fmla="*/ 4348731 w 5802146"/>
              <a:gd name="csY36" fmla="*/ 1386038 h 2598821"/>
              <a:gd name="csX37" fmla="*/ 4213978 w 5802146"/>
              <a:gd name="csY37" fmla="*/ 1443790 h 2598821"/>
              <a:gd name="csX38" fmla="*/ 4127350 w 5802146"/>
              <a:gd name="csY38" fmla="*/ 1501541 h 2598821"/>
              <a:gd name="csX39" fmla="*/ 4031098 w 5802146"/>
              <a:gd name="csY39" fmla="*/ 1549668 h 2598821"/>
              <a:gd name="csX40" fmla="*/ 3877093 w 5802146"/>
              <a:gd name="csY40" fmla="*/ 1645920 h 2598821"/>
              <a:gd name="csX41" fmla="*/ 3828967 w 5802146"/>
              <a:gd name="csY41" fmla="*/ 1674796 h 2598821"/>
              <a:gd name="csX42" fmla="*/ 3780841 w 5802146"/>
              <a:gd name="csY42" fmla="*/ 1713297 h 2598821"/>
              <a:gd name="csX43" fmla="*/ 3723089 w 5802146"/>
              <a:gd name="csY43" fmla="*/ 1742173 h 2598821"/>
              <a:gd name="csX44" fmla="*/ 3674963 w 5802146"/>
              <a:gd name="csY44" fmla="*/ 1780674 h 2598821"/>
              <a:gd name="csX45" fmla="*/ 3597961 w 5802146"/>
              <a:gd name="csY45" fmla="*/ 1819175 h 2598821"/>
              <a:gd name="csX46" fmla="*/ 3537327 w 5802146"/>
              <a:gd name="csY46" fmla="*/ 1756962 h 2598821"/>
              <a:gd name="csX47" fmla="*/ 3472632 w 5802146"/>
              <a:gd name="csY47" fmla="*/ 1709036 h 2598821"/>
              <a:gd name="csX48" fmla="*/ 3412499 w 5802146"/>
              <a:gd name="csY48" fmla="*/ 1684722 h 2598821"/>
              <a:gd name="csX49" fmla="*/ 3357329 w 5802146"/>
              <a:gd name="csY49" fmla="*/ 1665171 h 2598821"/>
              <a:gd name="csX50" fmla="*/ 3328453 w 5802146"/>
              <a:gd name="csY50" fmla="*/ 1645920 h 2598821"/>
              <a:gd name="csX51" fmla="*/ 3261077 w 5802146"/>
              <a:gd name="csY51" fmla="*/ 1588169 h 2598821"/>
              <a:gd name="csX52" fmla="*/ 3232201 w 5802146"/>
              <a:gd name="csY52" fmla="*/ 1578543 h 2598821"/>
              <a:gd name="csX53" fmla="*/ 3155199 w 5802146"/>
              <a:gd name="csY53" fmla="*/ 1511167 h 2598821"/>
              <a:gd name="csX54" fmla="*/ 3087822 w 5802146"/>
              <a:gd name="csY54" fmla="*/ 1472666 h 2598821"/>
              <a:gd name="csX55" fmla="*/ 3039696 w 5802146"/>
              <a:gd name="csY55" fmla="*/ 1443790 h 2598821"/>
              <a:gd name="csX56" fmla="*/ 2969938 w 5802146"/>
              <a:gd name="csY56" fmla="*/ 1412232 h 2598821"/>
              <a:gd name="csX57" fmla="*/ 2914567 w 5802146"/>
              <a:gd name="csY57" fmla="*/ 1366788 h 2598821"/>
              <a:gd name="csX58" fmla="*/ 2866441 w 5802146"/>
              <a:gd name="csY58" fmla="*/ 1347537 h 2598821"/>
              <a:gd name="csX59" fmla="*/ 2789439 w 5802146"/>
              <a:gd name="csY59" fmla="*/ 1299411 h 2598821"/>
              <a:gd name="csX60" fmla="*/ 2731687 w 5802146"/>
              <a:gd name="csY60" fmla="*/ 1212783 h 2598821"/>
              <a:gd name="csX61" fmla="*/ 2760563 w 5802146"/>
              <a:gd name="csY61" fmla="*/ 577516 h 2598821"/>
              <a:gd name="csX62" fmla="*/ 2750938 w 5802146"/>
              <a:gd name="csY62" fmla="*/ 308009 h 2598821"/>
              <a:gd name="csX63" fmla="*/ 2731687 w 5802146"/>
              <a:gd name="csY63" fmla="*/ 192506 h 2598821"/>
              <a:gd name="csX64" fmla="*/ 2712437 w 5802146"/>
              <a:gd name="csY64" fmla="*/ 144379 h 2598821"/>
              <a:gd name="csX65" fmla="*/ 2654685 w 5802146"/>
              <a:gd name="csY65" fmla="*/ 77002 h 2598821"/>
              <a:gd name="csX66" fmla="*/ 2625809 w 5802146"/>
              <a:gd name="csY66" fmla="*/ 38501 h 2598821"/>
              <a:gd name="csX67" fmla="*/ 2568058 w 5802146"/>
              <a:gd name="csY67" fmla="*/ 0 h 2598821"/>
              <a:gd name="csX68" fmla="*/ 2625809 w 5802146"/>
              <a:gd name="csY68" fmla="*/ 57752 h 2598821"/>
              <a:gd name="csX0" fmla="*/ 2625809 w 5781826"/>
              <a:gd name="csY0" fmla="*/ 57752 h 2598821"/>
              <a:gd name="csX1" fmla="*/ 55864 w 5781826"/>
              <a:gd name="csY1" fmla="*/ 67377 h 2598821"/>
              <a:gd name="csX2" fmla="*/ 10895 w 5781826"/>
              <a:gd name="csY2" fmla="*/ 131872 h 2598821"/>
              <a:gd name="csX3" fmla="*/ 1370 w 5781826"/>
              <a:gd name="csY3" fmla="*/ 543376 h 2598821"/>
              <a:gd name="csX4" fmla="*/ 20822 w 5781826"/>
              <a:gd name="csY4" fmla="*/ 1101692 h 2598821"/>
              <a:gd name="csX5" fmla="*/ 49498 w 5781826"/>
              <a:gd name="csY5" fmla="*/ 1214512 h 2598821"/>
              <a:gd name="csX6" fmla="*/ 66266 w 5781826"/>
              <a:gd name="csY6" fmla="*/ 1222283 h 2598821"/>
              <a:gd name="csX7" fmla="*/ 68948 w 5781826"/>
              <a:gd name="csY7" fmla="*/ 1218222 h 2598821"/>
              <a:gd name="csX8" fmla="*/ 85918 w 5781826"/>
              <a:gd name="csY8" fmla="*/ 1202356 h 2598821"/>
              <a:gd name="csX9" fmla="*/ 165501 w 5781826"/>
              <a:gd name="csY9" fmla="*/ 1134403 h 2598821"/>
              <a:gd name="csX10" fmla="*/ 113616 w 5781826"/>
              <a:gd name="csY10" fmla="*/ 1251284 h 2598821"/>
              <a:gd name="csX11" fmla="*/ 748883 w 5781826"/>
              <a:gd name="csY11" fmla="*/ 1270535 h 2598821"/>
              <a:gd name="csX12" fmla="*/ 999140 w 5781826"/>
              <a:gd name="csY12" fmla="*/ 1578543 h 2598821"/>
              <a:gd name="csX13" fmla="*/ 1047266 w 5781826"/>
              <a:gd name="csY13" fmla="*/ 1665171 h 2598821"/>
              <a:gd name="csX14" fmla="*/ 1114643 w 5781826"/>
              <a:gd name="csY14" fmla="*/ 1761423 h 2598821"/>
              <a:gd name="csX15" fmla="*/ 1172395 w 5781826"/>
              <a:gd name="csY15" fmla="*/ 1867301 h 2598821"/>
              <a:gd name="csX16" fmla="*/ 1441902 w 5781826"/>
              <a:gd name="csY16" fmla="*/ 2146434 h 2598821"/>
              <a:gd name="csX17" fmla="*/ 1730660 w 5781826"/>
              <a:gd name="csY17" fmla="*/ 2300438 h 2598821"/>
              <a:gd name="csX18" fmla="*/ 1826912 w 5781826"/>
              <a:gd name="csY18" fmla="*/ 2338939 h 2598821"/>
              <a:gd name="csX19" fmla="*/ 2086795 w 5781826"/>
              <a:gd name="csY19" fmla="*/ 2387066 h 2598821"/>
              <a:gd name="csX20" fmla="*/ 2673936 w 5781826"/>
              <a:gd name="csY20" fmla="*/ 2464068 h 2598821"/>
              <a:gd name="csX21" fmla="*/ 2991569 w 5781826"/>
              <a:gd name="csY21" fmla="*/ 2502569 h 2598821"/>
              <a:gd name="csX22" fmla="*/ 3530584 w 5781826"/>
              <a:gd name="csY22" fmla="*/ 2521819 h 2598821"/>
              <a:gd name="csX23" fmla="*/ 3915595 w 5781826"/>
              <a:gd name="csY23" fmla="*/ 2560320 h 2598821"/>
              <a:gd name="csX24" fmla="*/ 4310230 w 5781826"/>
              <a:gd name="csY24" fmla="*/ 2569946 h 2598821"/>
              <a:gd name="csX25" fmla="*/ 4791493 w 5781826"/>
              <a:gd name="csY25" fmla="*/ 2598821 h 2598821"/>
              <a:gd name="csX26" fmla="*/ 5405655 w 5781826"/>
              <a:gd name="csY26" fmla="*/ 2527084 h 2598821"/>
              <a:gd name="csX27" fmla="*/ 5537426 w 5781826"/>
              <a:gd name="csY27" fmla="*/ 2330918 h 2598821"/>
              <a:gd name="csX28" fmla="*/ 5518577 w 5781826"/>
              <a:gd name="csY28" fmla="*/ 1967063 h 2598821"/>
              <a:gd name="csX29" fmla="*/ 5521158 w 5781826"/>
              <a:gd name="csY29" fmla="*/ 1640406 h 2598821"/>
              <a:gd name="csX30" fmla="*/ 5773270 w 5781826"/>
              <a:gd name="csY30" fmla="*/ 1366788 h 2598821"/>
              <a:gd name="csX31" fmla="*/ 5715519 w 5781826"/>
              <a:gd name="csY31" fmla="*/ 1328287 h 2598821"/>
              <a:gd name="csX32" fmla="*/ 5619266 w 5781826"/>
              <a:gd name="csY32" fmla="*/ 1309036 h 2598821"/>
              <a:gd name="csX33" fmla="*/ 5417136 w 5781826"/>
              <a:gd name="csY33" fmla="*/ 1289786 h 2598821"/>
              <a:gd name="csX34" fmla="*/ 4598988 w 5781826"/>
              <a:gd name="csY34" fmla="*/ 1309036 h 2598821"/>
              <a:gd name="csX35" fmla="*/ 4435359 w 5781826"/>
              <a:gd name="csY35" fmla="*/ 1357162 h 2598821"/>
              <a:gd name="csX36" fmla="*/ 4348731 w 5781826"/>
              <a:gd name="csY36" fmla="*/ 1386038 h 2598821"/>
              <a:gd name="csX37" fmla="*/ 4213978 w 5781826"/>
              <a:gd name="csY37" fmla="*/ 1443790 h 2598821"/>
              <a:gd name="csX38" fmla="*/ 4127350 w 5781826"/>
              <a:gd name="csY38" fmla="*/ 1501541 h 2598821"/>
              <a:gd name="csX39" fmla="*/ 4031098 w 5781826"/>
              <a:gd name="csY39" fmla="*/ 1549668 h 2598821"/>
              <a:gd name="csX40" fmla="*/ 3877093 w 5781826"/>
              <a:gd name="csY40" fmla="*/ 1645920 h 2598821"/>
              <a:gd name="csX41" fmla="*/ 3828967 w 5781826"/>
              <a:gd name="csY41" fmla="*/ 1674796 h 2598821"/>
              <a:gd name="csX42" fmla="*/ 3780841 w 5781826"/>
              <a:gd name="csY42" fmla="*/ 1713297 h 2598821"/>
              <a:gd name="csX43" fmla="*/ 3723089 w 5781826"/>
              <a:gd name="csY43" fmla="*/ 1742173 h 2598821"/>
              <a:gd name="csX44" fmla="*/ 3674963 w 5781826"/>
              <a:gd name="csY44" fmla="*/ 1780674 h 2598821"/>
              <a:gd name="csX45" fmla="*/ 3597961 w 5781826"/>
              <a:gd name="csY45" fmla="*/ 1819175 h 2598821"/>
              <a:gd name="csX46" fmla="*/ 3537327 w 5781826"/>
              <a:gd name="csY46" fmla="*/ 1756962 h 2598821"/>
              <a:gd name="csX47" fmla="*/ 3472632 w 5781826"/>
              <a:gd name="csY47" fmla="*/ 1709036 h 2598821"/>
              <a:gd name="csX48" fmla="*/ 3412499 w 5781826"/>
              <a:gd name="csY48" fmla="*/ 1684722 h 2598821"/>
              <a:gd name="csX49" fmla="*/ 3357329 w 5781826"/>
              <a:gd name="csY49" fmla="*/ 1665171 h 2598821"/>
              <a:gd name="csX50" fmla="*/ 3328453 w 5781826"/>
              <a:gd name="csY50" fmla="*/ 1645920 h 2598821"/>
              <a:gd name="csX51" fmla="*/ 3261077 w 5781826"/>
              <a:gd name="csY51" fmla="*/ 1588169 h 2598821"/>
              <a:gd name="csX52" fmla="*/ 3232201 w 5781826"/>
              <a:gd name="csY52" fmla="*/ 1578543 h 2598821"/>
              <a:gd name="csX53" fmla="*/ 3155199 w 5781826"/>
              <a:gd name="csY53" fmla="*/ 1511167 h 2598821"/>
              <a:gd name="csX54" fmla="*/ 3087822 w 5781826"/>
              <a:gd name="csY54" fmla="*/ 1472666 h 2598821"/>
              <a:gd name="csX55" fmla="*/ 3039696 w 5781826"/>
              <a:gd name="csY55" fmla="*/ 1443790 h 2598821"/>
              <a:gd name="csX56" fmla="*/ 2969938 w 5781826"/>
              <a:gd name="csY56" fmla="*/ 1412232 h 2598821"/>
              <a:gd name="csX57" fmla="*/ 2914567 w 5781826"/>
              <a:gd name="csY57" fmla="*/ 1366788 h 2598821"/>
              <a:gd name="csX58" fmla="*/ 2866441 w 5781826"/>
              <a:gd name="csY58" fmla="*/ 1347537 h 2598821"/>
              <a:gd name="csX59" fmla="*/ 2789439 w 5781826"/>
              <a:gd name="csY59" fmla="*/ 1299411 h 2598821"/>
              <a:gd name="csX60" fmla="*/ 2731687 w 5781826"/>
              <a:gd name="csY60" fmla="*/ 1212783 h 2598821"/>
              <a:gd name="csX61" fmla="*/ 2760563 w 5781826"/>
              <a:gd name="csY61" fmla="*/ 577516 h 2598821"/>
              <a:gd name="csX62" fmla="*/ 2750938 w 5781826"/>
              <a:gd name="csY62" fmla="*/ 308009 h 2598821"/>
              <a:gd name="csX63" fmla="*/ 2731687 w 5781826"/>
              <a:gd name="csY63" fmla="*/ 192506 h 2598821"/>
              <a:gd name="csX64" fmla="*/ 2712437 w 5781826"/>
              <a:gd name="csY64" fmla="*/ 144379 h 2598821"/>
              <a:gd name="csX65" fmla="*/ 2654685 w 5781826"/>
              <a:gd name="csY65" fmla="*/ 77002 h 2598821"/>
              <a:gd name="csX66" fmla="*/ 2625809 w 5781826"/>
              <a:gd name="csY66" fmla="*/ 38501 h 2598821"/>
              <a:gd name="csX67" fmla="*/ 2568058 w 5781826"/>
              <a:gd name="csY67" fmla="*/ 0 h 2598821"/>
              <a:gd name="csX68" fmla="*/ 2625809 w 5781826"/>
              <a:gd name="csY68" fmla="*/ 57752 h 2598821"/>
              <a:gd name="csX0" fmla="*/ 2625809 w 5726675"/>
              <a:gd name="csY0" fmla="*/ 57752 h 2598821"/>
              <a:gd name="csX1" fmla="*/ 55864 w 5726675"/>
              <a:gd name="csY1" fmla="*/ 67377 h 2598821"/>
              <a:gd name="csX2" fmla="*/ 10895 w 5726675"/>
              <a:gd name="csY2" fmla="*/ 131872 h 2598821"/>
              <a:gd name="csX3" fmla="*/ 1370 w 5726675"/>
              <a:gd name="csY3" fmla="*/ 543376 h 2598821"/>
              <a:gd name="csX4" fmla="*/ 20822 w 5726675"/>
              <a:gd name="csY4" fmla="*/ 1101692 h 2598821"/>
              <a:gd name="csX5" fmla="*/ 49498 w 5726675"/>
              <a:gd name="csY5" fmla="*/ 1214512 h 2598821"/>
              <a:gd name="csX6" fmla="*/ 66266 w 5726675"/>
              <a:gd name="csY6" fmla="*/ 1222283 h 2598821"/>
              <a:gd name="csX7" fmla="*/ 68948 w 5726675"/>
              <a:gd name="csY7" fmla="*/ 1218222 h 2598821"/>
              <a:gd name="csX8" fmla="*/ 85918 w 5726675"/>
              <a:gd name="csY8" fmla="*/ 1202356 h 2598821"/>
              <a:gd name="csX9" fmla="*/ 165501 w 5726675"/>
              <a:gd name="csY9" fmla="*/ 1134403 h 2598821"/>
              <a:gd name="csX10" fmla="*/ 113616 w 5726675"/>
              <a:gd name="csY10" fmla="*/ 1251284 h 2598821"/>
              <a:gd name="csX11" fmla="*/ 748883 w 5726675"/>
              <a:gd name="csY11" fmla="*/ 1270535 h 2598821"/>
              <a:gd name="csX12" fmla="*/ 999140 w 5726675"/>
              <a:gd name="csY12" fmla="*/ 1578543 h 2598821"/>
              <a:gd name="csX13" fmla="*/ 1047266 w 5726675"/>
              <a:gd name="csY13" fmla="*/ 1665171 h 2598821"/>
              <a:gd name="csX14" fmla="*/ 1114643 w 5726675"/>
              <a:gd name="csY14" fmla="*/ 1761423 h 2598821"/>
              <a:gd name="csX15" fmla="*/ 1172395 w 5726675"/>
              <a:gd name="csY15" fmla="*/ 1867301 h 2598821"/>
              <a:gd name="csX16" fmla="*/ 1441902 w 5726675"/>
              <a:gd name="csY16" fmla="*/ 2146434 h 2598821"/>
              <a:gd name="csX17" fmla="*/ 1730660 w 5726675"/>
              <a:gd name="csY17" fmla="*/ 2300438 h 2598821"/>
              <a:gd name="csX18" fmla="*/ 1826912 w 5726675"/>
              <a:gd name="csY18" fmla="*/ 2338939 h 2598821"/>
              <a:gd name="csX19" fmla="*/ 2086795 w 5726675"/>
              <a:gd name="csY19" fmla="*/ 2387066 h 2598821"/>
              <a:gd name="csX20" fmla="*/ 2673936 w 5726675"/>
              <a:gd name="csY20" fmla="*/ 2464068 h 2598821"/>
              <a:gd name="csX21" fmla="*/ 2991569 w 5726675"/>
              <a:gd name="csY21" fmla="*/ 2502569 h 2598821"/>
              <a:gd name="csX22" fmla="*/ 3530584 w 5726675"/>
              <a:gd name="csY22" fmla="*/ 2521819 h 2598821"/>
              <a:gd name="csX23" fmla="*/ 3915595 w 5726675"/>
              <a:gd name="csY23" fmla="*/ 2560320 h 2598821"/>
              <a:gd name="csX24" fmla="*/ 4310230 w 5726675"/>
              <a:gd name="csY24" fmla="*/ 2569946 h 2598821"/>
              <a:gd name="csX25" fmla="*/ 4791493 w 5726675"/>
              <a:gd name="csY25" fmla="*/ 2598821 h 2598821"/>
              <a:gd name="csX26" fmla="*/ 5405655 w 5726675"/>
              <a:gd name="csY26" fmla="*/ 2527084 h 2598821"/>
              <a:gd name="csX27" fmla="*/ 5537426 w 5726675"/>
              <a:gd name="csY27" fmla="*/ 2330918 h 2598821"/>
              <a:gd name="csX28" fmla="*/ 5518577 w 5726675"/>
              <a:gd name="csY28" fmla="*/ 1967063 h 2598821"/>
              <a:gd name="csX29" fmla="*/ 5521158 w 5726675"/>
              <a:gd name="csY29" fmla="*/ 1640406 h 2598821"/>
              <a:gd name="csX30" fmla="*/ 5342264 w 5726675"/>
              <a:gd name="csY30" fmla="*/ 1466800 h 2598821"/>
              <a:gd name="csX31" fmla="*/ 5715519 w 5726675"/>
              <a:gd name="csY31" fmla="*/ 1328287 h 2598821"/>
              <a:gd name="csX32" fmla="*/ 5619266 w 5726675"/>
              <a:gd name="csY32" fmla="*/ 1309036 h 2598821"/>
              <a:gd name="csX33" fmla="*/ 5417136 w 5726675"/>
              <a:gd name="csY33" fmla="*/ 1289786 h 2598821"/>
              <a:gd name="csX34" fmla="*/ 4598988 w 5726675"/>
              <a:gd name="csY34" fmla="*/ 1309036 h 2598821"/>
              <a:gd name="csX35" fmla="*/ 4435359 w 5726675"/>
              <a:gd name="csY35" fmla="*/ 1357162 h 2598821"/>
              <a:gd name="csX36" fmla="*/ 4348731 w 5726675"/>
              <a:gd name="csY36" fmla="*/ 1386038 h 2598821"/>
              <a:gd name="csX37" fmla="*/ 4213978 w 5726675"/>
              <a:gd name="csY37" fmla="*/ 1443790 h 2598821"/>
              <a:gd name="csX38" fmla="*/ 4127350 w 5726675"/>
              <a:gd name="csY38" fmla="*/ 1501541 h 2598821"/>
              <a:gd name="csX39" fmla="*/ 4031098 w 5726675"/>
              <a:gd name="csY39" fmla="*/ 1549668 h 2598821"/>
              <a:gd name="csX40" fmla="*/ 3877093 w 5726675"/>
              <a:gd name="csY40" fmla="*/ 1645920 h 2598821"/>
              <a:gd name="csX41" fmla="*/ 3828967 w 5726675"/>
              <a:gd name="csY41" fmla="*/ 1674796 h 2598821"/>
              <a:gd name="csX42" fmla="*/ 3780841 w 5726675"/>
              <a:gd name="csY42" fmla="*/ 1713297 h 2598821"/>
              <a:gd name="csX43" fmla="*/ 3723089 w 5726675"/>
              <a:gd name="csY43" fmla="*/ 1742173 h 2598821"/>
              <a:gd name="csX44" fmla="*/ 3674963 w 5726675"/>
              <a:gd name="csY44" fmla="*/ 1780674 h 2598821"/>
              <a:gd name="csX45" fmla="*/ 3597961 w 5726675"/>
              <a:gd name="csY45" fmla="*/ 1819175 h 2598821"/>
              <a:gd name="csX46" fmla="*/ 3537327 w 5726675"/>
              <a:gd name="csY46" fmla="*/ 1756962 h 2598821"/>
              <a:gd name="csX47" fmla="*/ 3472632 w 5726675"/>
              <a:gd name="csY47" fmla="*/ 1709036 h 2598821"/>
              <a:gd name="csX48" fmla="*/ 3412499 w 5726675"/>
              <a:gd name="csY48" fmla="*/ 1684722 h 2598821"/>
              <a:gd name="csX49" fmla="*/ 3357329 w 5726675"/>
              <a:gd name="csY49" fmla="*/ 1665171 h 2598821"/>
              <a:gd name="csX50" fmla="*/ 3328453 w 5726675"/>
              <a:gd name="csY50" fmla="*/ 1645920 h 2598821"/>
              <a:gd name="csX51" fmla="*/ 3261077 w 5726675"/>
              <a:gd name="csY51" fmla="*/ 1588169 h 2598821"/>
              <a:gd name="csX52" fmla="*/ 3232201 w 5726675"/>
              <a:gd name="csY52" fmla="*/ 1578543 h 2598821"/>
              <a:gd name="csX53" fmla="*/ 3155199 w 5726675"/>
              <a:gd name="csY53" fmla="*/ 1511167 h 2598821"/>
              <a:gd name="csX54" fmla="*/ 3087822 w 5726675"/>
              <a:gd name="csY54" fmla="*/ 1472666 h 2598821"/>
              <a:gd name="csX55" fmla="*/ 3039696 w 5726675"/>
              <a:gd name="csY55" fmla="*/ 1443790 h 2598821"/>
              <a:gd name="csX56" fmla="*/ 2969938 w 5726675"/>
              <a:gd name="csY56" fmla="*/ 1412232 h 2598821"/>
              <a:gd name="csX57" fmla="*/ 2914567 w 5726675"/>
              <a:gd name="csY57" fmla="*/ 1366788 h 2598821"/>
              <a:gd name="csX58" fmla="*/ 2866441 w 5726675"/>
              <a:gd name="csY58" fmla="*/ 1347537 h 2598821"/>
              <a:gd name="csX59" fmla="*/ 2789439 w 5726675"/>
              <a:gd name="csY59" fmla="*/ 1299411 h 2598821"/>
              <a:gd name="csX60" fmla="*/ 2731687 w 5726675"/>
              <a:gd name="csY60" fmla="*/ 1212783 h 2598821"/>
              <a:gd name="csX61" fmla="*/ 2760563 w 5726675"/>
              <a:gd name="csY61" fmla="*/ 577516 h 2598821"/>
              <a:gd name="csX62" fmla="*/ 2750938 w 5726675"/>
              <a:gd name="csY62" fmla="*/ 308009 h 2598821"/>
              <a:gd name="csX63" fmla="*/ 2731687 w 5726675"/>
              <a:gd name="csY63" fmla="*/ 192506 h 2598821"/>
              <a:gd name="csX64" fmla="*/ 2712437 w 5726675"/>
              <a:gd name="csY64" fmla="*/ 144379 h 2598821"/>
              <a:gd name="csX65" fmla="*/ 2654685 w 5726675"/>
              <a:gd name="csY65" fmla="*/ 77002 h 2598821"/>
              <a:gd name="csX66" fmla="*/ 2625809 w 5726675"/>
              <a:gd name="csY66" fmla="*/ 38501 h 2598821"/>
              <a:gd name="csX67" fmla="*/ 2568058 w 5726675"/>
              <a:gd name="csY67" fmla="*/ 0 h 2598821"/>
              <a:gd name="csX68" fmla="*/ 2625809 w 5726675"/>
              <a:gd name="csY68" fmla="*/ 57752 h 2598821"/>
              <a:gd name="csX0" fmla="*/ 2625809 w 5717603"/>
              <a:gd name="csY0" fmla="*/ 57752 h 2598821"/>
              <a:gd name="csX1" fmla="*/ 55864 w 5717603"/>
              <a:gd name="csY1" fmla="*/ 67377 h 2598821"/>
              <a:gd name="csX2" fmla="*/ 10895 w 5717603"/>
              <a:gd name="csY2" fmla="*/ 131872 h 2598821"/>
              <a:gd name="csX3" fmla="*/ 1370 w 5717603"/>
              <a:gd name="csY3" fmla="*/ 543376 h 2598821"/>
              <a:gd name="csX4" fmla="*/ 20822 w 5717603"/>
              <a:gd name="csY4" fmla="*/ 1101692 h 2598821"/>
              <a:gd name="csX5" fmla="*/ 49498 w 5717603"/>
              <a:gd name="csY5" fmla="*/ 1214512 h 2598821"/>
              <a:gd name="csX6" fmla="*/ 66266 w 5717603"/>
              <a:gd name="csY6" fmla="*/ 1222283 h 2598821"/>
              <a:gd name="csX7" fmla="*/ 68948 w 5717603"/>
              <a:gd name="csY7" fmla="*/ 1218222 h 2598821"/>
              <a:gd name="csX8" fmla="*/ 85918 w 5717603"/>
              <a:gd name="csY8" fmla="*/ 1202356 h 2598821"/>
              <a:gd name="csX9" fmla="*/ 165501 w 5717603"/>
              <a:gd name="csY9" fmla="*/ 1134403 h 2598821"/>
              <a:gd name="csX10" fmla="*/ 113616 w 5717603"/>
              <a:gd name="csY10" fmla="*/ 1251284 h 2598821"/>
              <a:gd name="csX11" fmla="*/ 748883 w 5717603"/>
              <a:gd name="csY11" fmla="*/ 1270535 h 2598821"/>
              <a:gd name="csX12" fmla="*/ 999140 w 5717603"/>
              <a:gd name="csY12" fmla="*/ 1578543 h 2598821"/>
              <a:gd name="csX13" fmla="*/ 1047266 w 5717603"/>
              <a:gd name="csY13" fmla="*/ 1665171 h 2598821"/>
              <a:gd name="csX14" fmla="*/ 1114643 w 5717603"/>
              <a:gd name="csY14" fmla="*/ 1761423 h 2598821"/>
              <a:gd name="csX15" fmla="*/ 1172395 w 5717603"/>
              <a:gd name="csY15" fmla="*/ 1867301 h 2598821"/>
              <a:gd name="csX16" fmla="*/ 1441902 w 5717603"/>
              <a:gd name="csY16" fmla="*/ 2146434 h 2598821"/>
              <a:gd name="csX17" fmla="*/ 1730660 w 5717603"/>
              <a:gd name="csY17" fmla="*/ 2300438 h 2598821"/>
              <a:gd name="csX18" fmla="*/ 1826912 w 5717603"/>
              <a:gd name="csY18" fmla="*/ 2338939 h 2598821"/>
              <a:gd name="csX19" fmla="*/ 2086795 w 5717603"/>
              <a:gd name="csY19" fmla="*/ 2387066 h 2598821"/>
              <a:gd name="csX20" fmla="*/ 2673936 w 5717603"/>
              <a:gd name="csY20" fmla="*/ 2464068 h 2598821"/>
              <a:gd name="csX21" fmla="*/ 2991569 w 5717603"/>
              <a:gd name="csY21" fmla="*/ 2502569 h 2598821"/>
              <a:gd name="csX22" fmla="*/ 3530584 w 5717603"/>
              <a:gd name="csY22" fmla="*/ 2521819 h 2598821"/>
              <a:gd name="csX23" fmla="*/ 3915595 w 5717603"/>
              <a:gd name="csY23" fmla="*/ 2560320 h 2598821"/>
              <a:gd name="csX24" fmla="*/ 4310230 w 5717603"/>
              <a:gd name="csY24" fmla="*/ 2569946 h 2598821"/>
              <a:gd name="csX25" fmla="*/ 4791493 w 5717603"/>
              <a:gd name="csY25" fmla="*/ 2598821 h 2598821"/>
              <a:gd name="csX26" fmla="*/ 5405655 w 5717603"/>
              <a:gd name="csY26" fmla="*/ 2527084 h 2598821"/>
              <a:gd name="csX27" fmla="*/ 5537426 w 5717603"/>
              <a:gd name="csY27" fmla="*/ 2330918 h 2598821"/>
              <a:gd name="csX28" fmla="*/ 5518577 w 5717603"/>
              <a:gd name="csY28" fmla="*/ 1967063 h 2598821"/>
              <a:gd name="csX29" fmla="*/ 5521158 w 5717603"/>
              <a:gd name="csY29" fmla="*/ 1640406 h 2598821"/>
              <a:gd name="csX30" fmla="*/ 5342264 w 5717603"/>
              <a:gd name="csY30" fmla="*/ 1466800 h 2598821"/>
              <a:gd name="csX31" fmla="*/ 5715519 w 5717603"/>
              <a:gd name="csY31" fmla="*/ 1328287 h 2598821"/>
              <a:gd name="csX32" fmla="*/ 5143016 w 5717603"/>
              <a:gd name="csY32" fmla="*/ 1370949 h 2598821"/>
              <a:gd name="csX33" fmla="*/ 5417136 w 5717603"/>
              <a:gd name="csY33" fmla="*/ 1289786 h 2598821"/>
              <a:gd name="csX34" fmla="*/ 4598988 w 5717603"/>
              <a:gd name="csY34" fmla="*/ 1309036 h 2598821"/>
              <a:gd name="csX35" fmla="*/ 4435359 w 5717603"/>
              <a:gd name="csY35" fmla="*/ 1357162 h 2598821"/>
              <a:gd name="csX36" fmla="*/ 4348731 w 5717603"/>
              <a:gd name="csY36" fmla="*/ 1386038 h 2598821"/>
              <a:gd name="csX37" fmla="*/ 4213978 w 5717603"/>
              <a:gd name="csY37" fmla="*/ 1443790 h 2598821"/>
              <a:gd name="csX38" fmla="*/ 4127350 w 5717603"/>
              <a:gd name="csY38" fmla="*/ 1501541 h 2598821"/>
              <a:gd name="csX39" fmla="*/ 4031098 w 5717603"/>
              <a:gd name="csY39" fmla="*/ 1549668 h 2598821"/>
              <a:gd name="csX40" fmla="*/ 3877093 w 5717603"/>
              <a:gd name="csY40" fmla="*/ 1645920 h 2598821"/>
              <a:gd name="csX41" fmla="*/ 3828967 w 5717603"/>
              <a:gd name="csY41" fmla="*/ 1674796 h 2598821"/>
              <a:gd name="csX42" fmla="*/ 3780841 w 5717603"/>
              <a:gd name="csY42" fmla="*/ 1713297 h 2598821"/>
              <a:gd name="csX43" fmla="*/ 3723089 w 5717603"/>
              <a:gd name="csY43" fmla="*/ 1742173 h 2598821"/>
              <a:gd name="csX44" fmla="*/ 3674963 w 5717603"/>
              <a:gd name="csY44" fmla="*/ 1780674 h 2598821"/>
              <a:gd name="csX45" fmla="*/ 3597961 w 5717603"/>
              <a:gd name="csY45" fmla="*/ 1819175 h 2598821"/>
              <a:gd name="csX46" fmla="*/ 3537327 w 5717603"/>
              <a:gd name="csY46" fmla="*/ 1756962 h 2598821"/>
              <a:gd name="csX47" fmla="*/ 3472632 w 5717603"/>
              <a:gd name="csY47" fmla="*/ 1709036 h 2598821"/>
              <a:gd name="csX48" fmla="*/ 3412499 w 5717603"/>
              <a:gd name="csY48" fmla="*/ 1684722 h 2598821"/>
              <a:gd name="csX49" fmla="*/ 3357329 w 5717603"/>
              <a:gd name="csY49" fmla="*/ 1665171 h 2598821"/>
              <a:gd name="csX50" fmla="*/ 3328453 w 5717603"/>
              <a:gd name="csY50" fmla="*/ 1645920 h 2598821"/>
              <a:gd name="csX51" fmla="*/ 3261077 w 5717603"/>
              <a:gd name="csY51" fmla="*/ 1588169 h 2598821"/>
              <a:gd name="csX52" fmla="*/ 3232201 w 5717603"/>
              <a:gd name="csY52" fmla="*/ 1578543 h 2598821"/>
              <a:gd name="csX53" fmla="*/ 3155199 w 5717603"/>
              <a:gd name="csY53" fmla="*/ 1511167 h 2598821"/>
              <a:gd name="csX54" fmla="*/ 3087822 w 5717603"/>
              <a:gd name="csY54" fmla="*/ 1472666 h 2598821"/>
              <a:gd name="csX55" fmla="*/ 3039696 w 5717603"/>
              <a:gd name="csY55" fmla="*/ 1443790 h 2598821"/>
              <a:gd name="csX56" fmla="*/ 2969938 w 5717603"/>
              <a:gd name="csY56" fmla="*/ 1412232 h 2598821"/>
              <a:gd name="csX57" fmla="*/ 2914567 w 5717603"/>
              <a:gd name="csY57" fmla="*/ 1366788 h 2598821"/>
              <a:gd name="csX58" fmla="*/ 2866441 w 5717603"/>
              <a:gd name="csY58" fmla="*/ 1347537 h 2598821"/>
              <a:gd name="csX59" fmla="*/ 2789439 w 5717603"/>
              <a:gd name="csY59" fmla="*/ 1299411 h 2598821"/>
              <a:gd name="csX60" fmla="*/ 2731687 w 5717603"/>
              <a:gd name="csY60" fmla="*/ 1212783 h 2598821"/>
              <a:gd name="csX61" fmla="*/ 2760563 w 5717603"/>
              <a:gd name="csY61" fmla="*/ 577516 h 2598821"/>
              <a:gd name="csX62" fmla="*/ 2750938 w 5717603"/>
              <a:gd name="csY62" fmla="*/ 308009 h 2598821"/>
              <a:gd name="csX63" fmla="*/ 2731687 w 5717603"/>
              <a:gd name="csY63" fmla="*/ 192506 h 2598821"/>
              <a:gd name="csX64" fmla="*/ 2712437 w 5717603"/>
              <a:gd name="csY64" fmla="*/ 144379 h 2598821"/>
              <a:gd name="csX65" fmla="*/ 2654685 w 5717603"/>
              <a:gd name="csY65" fmla="*/ 77002 h 2598821"/>
              <a:gd name="csX66" fmla="*/ 2625809 w 5717603"/>
              <a:gd name="csY66" fmla="*/ 38501 h 2598821"/>
              <a:gd name="csX67" fmla="*/ 2568058 w 5717603"/>
              <a:gd name="csY67" fmla="*/ 0 h 2598821"/>
              <a:gd name="csX68" fmla="*/ 2625809 w 5717603"/>
              <a:gd name="csY68" fmla="*/ 57752 h 2598821"/>
              <a:gd name="csX0" fmla="*/ 2625809 w 5542964"/>
              <a:gd name="csY0" fmla="*/ 57752 h 2598821"/>
              <a:gd name="csX1" fmla="*/ 55864 w 5542964"/>
              <a:gd name="csY1" fmla="*/ 67377 h 2598821"/>
              <a:gd name="csX2" fmla="*/ 10895 w 5542964"/>
              <a:gd name="csY2" fmla="*/ 131872 h 2598821"/>
              <a:gd name="csX3" fmla="*/ 1370 w 5542964"/>
              <a:gd name="csY3" fmla="*/ 543376 h 2598821"/>
              <a:gd name="csX4" fmla="*/ 20822 w 5542964"/>
              <a:gd name="csY4" fmla="*/ 1101692 h 2598821"/>
              <a:gd name="csX5" fmla="*/ 49498 w 5542964"/>
              <a:gd name="csY5" fmla="*/ 1214512 h 2598821"/>
              <a:gd name="csX6" fmla="*/ 66266 w 5542964"/>
              <a:gd name="csY6" fmla="*/ 1222283 h 2598821"/>
              <a:gd name="csX7" fmla="*/ 68948 w 5542964"/>
              <a:gd name="csY7" fmla="*/ 1218222 h 2598821"/>
              <a:gd name="csX8" fmla="*/ 85918 w 5542964"/>
              <a:gd name="csY8" fmla="*/ 1202356 h 2598821"/>
              <a:gd name="csX9" fmla="*/ 165501 w 5542964"/>
              <a:gd name="csY9" fmla="*/ 1134403 h 2598821"/>
              <a:gd name="csX10" fmla="*/ 113616 w 5542964"/>
              <a:gd name="csY10" fmla="*/ 1251284 h 2598821"/>
              <a:gd name="csX11" fmla="*/ 748883 w 5542964"/>
              <a:gd name="csY11" fmla="*/ 1270535 h 2598821"/>
              <a:gd name="csX12" fmla="*/ 999140 w 5542964"/>
              <a:gd name="csY12" fmla="*/ 1578543 h 2598821"/>
              <a:gd name="csX13" fmla="*/ 1047266 w 5542964"/>
              <a:gd name="csY13" fmla="*/ 1665171 h 2598821"/>
              <a:gd name="csX14" fmla="*/ 1114643 w 5542964"/>
              <a:gd name="csY14" fmla="*/ 1761423 h 2598821"/>
              <a:gd name="csX15" fmla="*/ 1172395 w 5542964"/>
              <a:gd name="csY15" fmla="*/ 1867301 h 2598821"/>
              <a:gd name="csX16" fmla="*/ 1441902 w 5542964"/>
              <a:gd name="csY16" fmla="*/ 2146434 h 2598821"/>
              <a:gd name="csX17" fmla="*/ 1730660 w 5542964"/>
              <a:gd name="csY17" fmla="*/ 2300438 h 2598821"/>
              <a:gd name="csX18" fmla="*/ 1826912 w 5542964"/>
              <a:gd name="csY18" fmla="*/ 2338939 h 2598821"/>
              <a:gd name="csX19" fmla="*/ 2086795 w 5542964"/>
              <a:gd name="csY19" fmla="*/ 2387066 h 2598821"/>
              <a:gd name="csX20" fmla="*/ 2673936 w 5542964"/>
              <a:gd name="csY20" fmla="*/ 2464068 h 2598821"/>
              <a:gd name="csX21" fmla="*/ 2991569 w 5542964"/>
              <a:gd name="csY21" fmla="*/ 2502569 h 2598821"/>
              <a:gd name="csX22" fmla="*/ 3530584 w 5542964"/>
              <a:gd name="csY22" fmla="*/ 2521819 h 2598821"/>
              <a:gd name="csX23" fmla="*/ 3915595 w 5542964"/>
              <a:gd name="csY23" fmla="*/ 2560320 h 2598821"/>
              <a:gd name="csX24" fmla="*/ 4310230 w 5542964"/>
              <a:gd name="csY24" fmla="*/ 2569946 h 2598821"/>
              <a:gd name="csX25" fmla="*/ 4791493 w 5542964"/>
              <a:gd name="csY25" fmla="*/ 2598821 h 2598821"/>
              <a:gd name="csX26" fmla="*/ 5405655 w 5542964"/>
              <a:gd name="csY26" fmla="*/ 2527084 h 2598821"/>
              <a:gd name="csX27" fmla="*/ 5537426 w 5542964"/>
              <a:gd name="csY27" fmla="*/ 2330918 h 2598821"/>
              <a:gd name="csX28" fmla="*/ 5518577 w 5542964"/>
              <a:gd name="csY28" fmla="*/ 1967063 h 2598821"/>
              <a:gd name="csX29" fmla="*/ 5521158 w 5542964"/>
              <a:gd name="csY29" fmla="*/ 1640406 h 2598821"/>
              <a:gd name="csX30" fmla="*/ 5342264 w 5542964"/>
              <a:gd name="csY30" fmla="*/ 1466800 h 2598821"/>
              <a:gd name="csX31" fmla="*/ 5274987 w 5542964"/>
              <a:gd name="csY31" fmla="*/ 1418774 h 2598821"/>
              <a:gd name="csX32" fmla="*/ 5143016 w 5542964"/>
              <a:gd name="csY32" fmla="*/ 1370949 h 2598821"/>
              <a:gd name="csX33" fmla="*/ 5417136 w 5542964"/>
              <a:gd name="csY33" fmla="*/ 1289786 h 2598821"/>
              <a:gd name="csX34" fmla="*/ 4598988 w 5542964"/>
              <a:gd name="csY34" fmla="*/ 1309036 h 2598821"/>
              <a:gd name="csX35" fmla="*/ 4435359 w 5542964"/>
              <a:gd name="csY35" fmla="*/ 1357162 h 2598821"/>
              <a:gd name="csX36" fmla="*/ 4348731 w 5542964"/>
              <a:gd name="csY36" fmla="*/ 1386038 h 2598821"/>
              <a:gd name="csX37" fmla="*/ 4213978 w 5542964"/>
              <a:gd name="csY37" fmla="*/ 1443790 h 2598821"/>
              <a:gd name="csX38" fmla="*/ 4127350 w 5542964"/>
              <a:gd name="csY38" fmla="*/ 1501541 h 2598821"/>
              <a:gd name="csX39" fmla="*/ 4031098 w 5542964"/>
              <a:gd name="csY39" fmla="*/ 1549668 h 2598821"/>
              <a:gd name="csX40" fmla="*/ 3877093 w 5542964"/>
              <a:gd name="csY40" fmla="*/ 1645920 h 2598821"/>
              <a:gd name="csX41" fmla="*/ 3828967 w 5542964"/>
              <a:gd name="csY41" fmla="*/ 1674796 h 2598821"/>
              <a:gd name="csX42" fmla="*/ 3780841 w 5542964"/>
              <a:gd name="csY42" fmla="*/ 1713297 h 2598821"/>
              <a:gd name="csX43" fmla="*/ 3723089 w 5542964"/>
              <a:gd name="csY43" fmla="*/ 1742173 h 2598821"/>
              <a:gd name="csX44" fmla="*/ 3674963 w 5542964"/>
              <a:gd name="csY44" fmla="*/ 1780674 h 2598821"/>
              <a:gd name="csX45" fmla="*/ 3597961 w 5542964"/>
              <a:gd name="csY45" fmla="*/ 1819175 h 2598821"/>
              <a:gd name="csX46" fmla="*/ 3537327 w 5542964"/>
              <a:gd name="csY46" fmla="*/ 1756962 h 2598821"/>
              <a:gd name="csX47" fmla="*/ 3472632 w 5542964"/>
              <a:gd name="csY47" fmla="*/ 1709036 h 2598821"/>
              <a:gd name="csX48" fmla="*/ 3412499 w 5542964"/>
              <a:gd name="csY48" fmla="*/ 1684722 h 2598821"/>
              <a:gd name="csX49" fmla="*/ 3357329 w 5542964"/>
              <a:gd name="csY49" fmla="*/ 1665171 h 2598821"/>
              <a:gd name="csX50" fmla="*/ 3328453 w 5542964"/>
              <a:gd name="csY50" fmla="*/ 1645920 h 2598821"/>
              <a:gd name="csX51" fmla="*/ 3261077 w 5542964"/>
              <a:gd name="csY51" fmla="*/ 1588169 h 2598821"/>
              <a:gd name="csX52" fmla="*/ 3232201 w 5542964"/>
              <a:gd name="csY52" fmla="*/ 1578543 h 2598821"/>
              <a:gd name="csX53" fmla="*/ 3155199 w 5542964"/>
              <a:gd name="csY53" fmla="*/ 1511167 h 2598821"/>
              <a:gd name="csX54" fmla="*/ 3087822 w 5542964"/>
              <a:gd name="csY54" fmla="*/ 1472666 h 2598821"/>
              <a:gd name="csX55" fmla="*/ 3039696 w 5542964"/>
              <a:gd name="csY55" fmla="*/ 1443790 h 2598821"/>
              <a:gd name="csX56" fmla="*/ 2969938 w 5542964"/>
              <a:gd name="csY56" fmla="*/ 1412232 h 2598821"/>
              <a:gd name="csX57" fmla="*/ 2914567 w 5542964"/>
              <a:gd name="csY57" fmla="*/ 1366788 h 2598821"/>
              <a:gd name="csX58" fmla="*/ 2866441 w 5542964"/>
              <a:gd name="csY58" fmla="*/ 1347537 h 2598821"/>
              <a:gd name="csX59" fmla="*/ 2789439 w 5542964"/>
              <a:gd name="csY59" fmla="*/ 1299411 h 2598821"/>
              <a:gd name="csX60" fmla="*/ 2731687 w 5542964"/>
              <a:gd name="csY60" fmla="*/ 1212783 h 2598821"/>
              <a:gd name="csX61" fmla="*/ 2760563 w 5542964"/>
              <a:gd name="csY61" fmla="*/ 577516 h 2598821"/>
              <a:gd name="csX62" fmla="*/ 2750938 w 5542964"/>
              <a:gd name="csY62" fmla="*/ 308009 h 2598821"/>
              <a:gd name="csX63" fmla="*/ 2731687 w 5542964"/>
              <a:gd name="csY63" fmla="*/ 192506 h 2598821"/>
              <a:gd name="csX64" fmla="*/ 2712437 w 5542964"/>
              <a:gd name="csY64" fmla="*/ 144379 h 2598821"/>
              <a:gd name="csX65" fmla="*/ 2654685 w 5542964"/>
              <a:gd name="csY65" fmla="*/ 77002 h 2598821"/>
              <a:gd name="csX66" fmla="*/ 2625809 w 5542964"/>
              <a:gd name="csY66" fmla="*/ 38501 h 2598821"/>
              <a:gd name="csX67" fmla="*/ 2568058 w 5542964"/>
              <a:gd name="csY67" fmla="*/ 0 h 2598821"/>
              <a:gd name="csX68" fmla="*/ 2625809 w 5542964"/>
              <a:gd name="csY68" fmla="*/ 57752 h 2598821"/>
              <a:gd name="csX0" fmla="*/ 2625809 w 5542964"/>
              <a:gd name="csY0" fmla="*/ 57752 h 2598821"/>
              <a:gd name="csX1" fmla="*/ 55864 w 5542964"/>
              <a:gd name="csY1" fmla="*/ 67377 h 2598821"/>
              <a:gd name="csX2" fmla="*/ 10895 w 5542964"/>
              <a:gd name="csY2" fmla="*/ 131872 h 2598821"/>
              <a:gd name="csX3" fmla="*/ 1370 w 5542964"/>
              <a:gd name="csY3" fmla="*/ 543376 h 2598821"/>
              <a:gd name="csX4" fmla="*/ 20822 w 5542964"/>
              <a:gd name="csY4" fmla="*/ 1101692 h 2598821"/>
              <a:gd name="csX5" fmla="*/ 49498 w 5542964"/>
              <a:gd name="csY5" fmla="*/ 1214512 h 2598821"/>
              <a:gd name="csX6" fmla="*/ 66266 w 5542964"/>
              <a:gd name="csY6" fmla="*/ 1222283 h 2598821"/>
              <a:gd name="csX7" fmla="*/ 68948 w 5542964"/>
              <a:gd name="csY7" fmla="*/ 1218222 h 2598821"/>
              <a:gd name="csX8" fmla="*/ 85918 w 5542964"/>
              <a:gd name="csY8" fmla="*/ 1202356 h 2598821"/>
              <a:gd name="csX9" fmla="*/ 165501 w 5542964"/>
              <a:gd name="csY9" fmla="*/ 1134403 h 2598821"/>
              <a:gd name="csX10" fmla="*/ 113616 w 5542964"/>
              <a:gd name="csY10" fmla="*/ 1251284 h 2598821"/>
              <a:gd name="csX11" fmla="*/ 748883 w 5542964"/>
              <a:gd name="csY11" fmla="*/ 1270535 h 2598821"/>
              <a:gd name="csX12" fmla="*/ 999140 w 5542964"/>
              <a:gd name="csY12" fmla="*/ 1578543 h 2598821"/>
              <a:gd name="csX13" fmla="*/ 1047266 w 5542964"/>
              <a:gd name="csY13" fmla="*/ 1665171 h 2598821"/>
              <a:gd name="csX14" fmla="*/ 1114643 w 5542964"/>
              <a:gd name="csY14" fmla="*/ 1761423 h 2598821"/>
              <a:gd name="csX15" fmla="*/ 1172395 w 5542964"/>
              <a:gd name="csY15" fmla="*/ 1867301 h 2598821"/>
              <a:gd name="csX16" fmla="*/ 1441902 w 5542964"/>
              <a:gd name="csY16" fmla="*/ 2146434 h 2598821"/>
              <a:gd name="csX17" fmla="*/ 1730660 w 5542964"/>
              <a:gd name="csY17" fmla="*/ 2300438 h 2598821"/>
              <a:gd name="csX18" fmla="*/ 1826912 w 5542964"/>
              <a:gd name="csY18" fmla="*/ 2338939 h 2598821"/>
              <a:gd name="csX19" fmla="*/ 2086795 w 5542964"/>
              <a:gd name="csY19" fmla="*/ 2387066 h 2598821"/>
              <a:gd name="csX20" fmla="*/ 2673936 w 5542964"/>
              <a:gd name="csY20" fmla="*/ 2464068 h 2598821"/>
              <a:gd name="csX21" fmla="*/ 2991569 w 5542964"/>
              <a:gd name="csY21" fmla="*/ 2502569 h 2598821"/>
              <a:gd name="csX22" fmla="*/ 3530584 w 5542964"/>
              <a:gd name="csY22" fmla="*/ 2521819 h 2598821"/>
              <a:gd name="csX23" fmla="*/ 3915595 w 5542964"/>
              <a:gd name="csY23" fmla="*/ 2560320 h 2598821"/>
              <a:gd name="csX24" fmla="*/ 4310230 w 5542964"/>
              <a:gd name="csY24" fmla="*/ 2569946 h 2598821"/>
              <a:gd name="csX25" fmla="*/ 4791493 w 5542964"/>
              <a:gd name="csY25" fmla="*/ 2598821 h 2598821"/>
              <a:gd name="csX26" fmla="*/ 5405655 w 5542964"/>
              <a:gd name="csY26" fmla="*/ 2527084 h 2598821"/>
              <a:gd name="csX27" fmla="*/ 5537426 w 5542964"/>
              <a:gd name="csY27" fmla="*/ 2330918 h 2598821"/>
              <a:gd name="csX28" fmla="*/ 5518577 w 5542964"/>
              <a:gd name="csY28" fmla="*/ 1967063 h 2598821"/>
              <a:gd name="csX29" fmla="*/ 5521158 w 5542964"/>
              <a:gd name="csY29" fmla="*/ 1640406 h 2598821"/>
              <a:gd name="csX30" fmla="*/ 5342264 w 5542964"/>
              <a:gd name="csY30" fmla="*/ 1466800 h 2598821"/>
              <a:gd name="csX31" fmla="*/ 5274987 w 5542964"/>
              <a:gd name="csY31" fmla="*/ 1418774 h 2598821"/>
              <a:gd name="csX32" fmla="*/ 5143016 w 5542964"/>
              <a:gd name="csY32" fmla="*/ 1370949 h 2598821"/>
              <a:gd name="csX33" fmla="*/ 4957555 w 5542964"/>
              <a:gd name="csY33" fmla="*/ 1325505 h 2598821"/>
              <a:gd name="csX34" fmla="*/ 4598988 w 5542964"/>
              <a:gd name="csY34" fmla="*/ 1309036 h 2598821"/>
              <a:gd name="csX35" fmla="*/ 4435359 w 5542964"/>
              <a:gd name="csY35" fmla="*/ 1357162 h 2598821"/>
              <a:gd name="csX36" fmla="*/ 4348731 w 5542964"/>
              <a:gd name="csY36" fmla="*/ 1386038 h 2598821"/>
              <a:gd name="csX37" fmla="*/ 4213978 w 5542964"/>
              <a:gd name="csY37" fmla="*/ 1443790 h 2598821"/>
              <a:gd name="csX38" fmla="*/ 4127350 w 5542964"/>
              <a:gd name="csY38" fmla="*/ 1501541 h 2598821"/>
              <a:gd name="csX39" fmla="*/ 4031098 w 5542964"/>
              <a:gd name="csY39" fmla="*/ 1549668 h 2598821"/>
              <a:gd name="csX40" fmla="*/ 3877093 w 5542964"/>
              <a:gd name="csY40" fmla="*/ 1645920 h 2598821"/>
              <a:gd name="csX41" fmla="*/ 3828967 w 5542964"/>
              <a:gd name="csY41" fmla="*/ 1674796 h 2598821"/>
              <a:gd name="csX42" fmla="*/ 3780841 w 5542964"/>
              <a:gd name="csY42" fmla="*/ 1713297 h 2598821"/>
              <a:gd name="csX43" fmla="*/ 3723089 w 5542964"/>
              <a:gd name="csY43" fmla="*/ 1742173 h 2598821"/>
              <a:gd name="csX44" fmla="*/ 3674963 w 5542964"/>
              <a:gd name="csY44" fmla="*/ 1780674 h 2598821"/>
              <a:gd name="csX45" fmla="*/ 3597961 w 5542964"/>
              <a:gd name="csY45" fmla="*/ 1819175 h 2598821"/>
              <a:gd name="csX46" fmla="*/ 3537327 w 5542964"/>
              <a:gd name="csY46" fmla="*/ 1756962 h 2598821"/>
              <a:gd name="csX47" fmla="*/ 3472632 w 5542964"/>
              <a:gd name="csY47" fmla="*/ 1709036 h 2598821"/>
              <a:gd name="csX48" fmla="*/ 3412499 w 5542964"/>
              <a:gd name="csY48" fmla="*/ 1684722 h 2598821"/>
              <a:gd name="csX49" fmla="*/ 3357329 w 5542964"/>
              <a:gd name="csY49" fmla="*/ 1665171 h 2598821"/>
              <a:gd name="csX50" fmla="*/ 3328453 w 5542964"/>
              <a:gd name="csY50" fmla="*/ 1645920 h 2598821"/>
              <a:gd name="csX51" fmla="*/ 3261077 w 5542964"/>
              <a:gd name="csY51" fmla="*/ 1588169 h 2598821"/>
              <a:gd name="csX52" fmla="*/ 3232201 w 5542964"/>
              <a:gd name="csY52" fmla="*/ 1578543 h 2598821"/>
              <a:gd name="csX53" fmla="*/ 3155199 w 5542964"/>
              <a:gd name="csY53" fmla="*/ 1511167 h 2598821"/>
              <a:gd name="csX54" fmla="*/ 3087822 w 5542964"/>
              <a:gd name="csY54" fmla="*/ 1472666 h 2598821"/>
              <a:gd name="csX55" fmla="*/ 3039696 w 5542964"/>
              <a:gd name="csY55" fmla="*/ 1443790 h 2598821"/>
              <a:gd name="csX56" fmla="*/ 2969938 w 5542964"/>
              <a:gd name="csY56" fmla="*/ 1412232 h 2598821"/>
              <a:gd name="csX57" fmla="*/ 2914567 w 5542964"/>
              <a:gd name="csY57" fmla="*/ 1366788 h 2598821"/>
              <a:gd name="csX58" fmla="*/ 2866441 w 5542964"/>
              <a:gd name="csY58" fmla="*/ 1347537 h 2598821"/>
              <a:gd name="csX59" fmla="*/ 2789439 w 5542964"/>
              <a:gd name="csY59" fmla="*/ 1299411 h 2598821"/>
              <a:gd name="csX60" fmla="*/ 2731687 w 5542964"/>
              <a:gd name="csY60" fmla="*/ 1212783 h 2598821"/>
              <a:gd name="csX61" fmla="*/ 2760563 w 5542964"/>
              <a:gd name="csY61" fmla="*/ 577516 h 2598821"/>
              <a:gd name="csX62" fmla="*/ 2750938 w 5542964"/>
              <a:gd name="csY62" fmla="*/ 308009 h 2598821"/>
              <a:gd name="csX63" fmla="*/ 2731687 w 5542964"/>
              <a:gd name="csY63" fmla="*/ 192506 h 2598821"/>
              <a:gd name="csX64" fmla="*/ 2712437 w 5542964"/>
              <a:gd name="csY64" fmla="*/ 144379 h 2598821"/>
              <a:gd name="csX65" fmla="*/ 2654685 w 5542964"/>
              <a:gd name="csY65" fmla="*/ 77002 h 2598821"/>
              <a:gd name="csX66" fmla="*/ 2625809 w 5542964"/>
              <a:gd name="csY66" fmla="*/ 38501 h 2598821"/>
              <a:gd name="csX67" fmla="*/ 2568058 w 5542964"/>
              <a:gd name="csY67" fmla="*/ 0 h 2598821"/>
              <a:gd name="csX68" fmla="*/ 2625809 w 5542964"/>
              <a:gd name="csY68" fmla="*/ 57752 h 259882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Lst>
            <a:rect l="l" t="t" r="r" b="b"/>
            <a:pathLst>
              <a:path w="5542964" h="2598821">
                <a:moveTo>
                  <a:pt x="2625809" y="57752"/>
                </a:moveTo>
                <a:lnTo>
                  <a:pt x="55864" y="67377"/>
                </a:lnTo>
                <a:cubicBezTo>
                  <a:pt x="-83285" y="68357"/>
                  <a:pt x="93278" y="111275"/>
                  <a:pt x="10895" y="131872"/>
                </a:cubicBezTo>
                <a:cubicBezTo>
                  <a:pt x="-2972" y="312149"/>
                  <a:pt x="-284" y="381739"/>
                  <a:pt x="1370" y="543376"/>
                </a:cubicBezTo>
                <a:cubicBezTo>
                  <a:pt x="3025" y="705013"/>
                  <a:pt x="7988" y="1066399"/>
                  <a:pt x="20822" y="1101692"/>
                </a:cubicBezTo>
                <a:cubicBezTo>
                  <a:pt x="24030" y="1130568"/>
                  <a:pt x="41924" y="1194414"/>
                  <a:pt x="49498" y="1214512"/>
                </a:cubicBezTo>
                <a:cubicBezTo>
                  <a:pt x="57072" y="1234610"/>
                  <a:pt x="63024" y="1221665"/>
                  <a:pt x="66266" y="1222283"/>
                </a:cubicBezTo>
                <a:cubicBezTo>
                  <a:pt x="69508" y="1222901"/>
                  <a:pt x="65673" y="1221543"/>
                  <a:pt x="68948" y="1218222"/>
                </a:cubicBezTo>
                <a:cubicBezTo>
                  <a:pt x="72223" y="1214901"/>
                  <a:pt x="69826" y="1216326"/>
                  <a:pt x="85918" y="1202356"/>
                </a:cubicBezTo>
                <a:cubicBezTo>
                  <a:pt x="102010" y="1188386"/>
                  <a:pt x="160885" y="1126248"/>
                  <a:pt x="165501" y="1134403"/>
                </a:cubicBezTo>
                <a:cubicBezTo>
                  <a:pt x="170117" y="1142558"/>
                  <a:pt x="97574" y="1244867"/>
                  <a:pt x="113616" y="1251284"/>
                </a:cubicBezTo>
                <a:cubicBezTo>
                  <a:pt x="341655" y="1229216"/>
                  <a:pt x="521103" y="1188147"/>
                  <a:pt x="748883" y="1270535"/>
                </a:cubicBezTo>
                <a:cubicBezTo>
                  <a:pt x="816428" y="1294966"/>
                  <a:pt x="981829" y="1552120"/>
                  <a:pt x="999140" y="1578543"/>
                </a:cubicBezTo>
                <a:cubicBezTo>
                  <a:pt x="1017243" y="1606174"/>
                  <a:pt x="1029627" y="1637242"/>
                  <a:pt x="1047266" y="1665171"/>
                </a:cubicBezTo>
                <a:cubicBezTo>
                  <a:pt x="1068179" y="1698283"/>
                  <a:pt x="1094029" y="1728124"/>
                  <a:pt x="1114643" y="1761423"/>
                </a:cubicBezTo>
                <a:cubicBezTo>
                  <a:pt x="1135803" y="1795605"/>
                  <a:pt x="1149341" y="1834367"/>
                  <a:pt x="1172395" y="1867301"/>
                </a:cubicBezTo>
                <a:cubicBezTo>
                  <a:pt x="1259562" y="1991826"/>
                  <a:pt x="1316066" y="2070347"/>
                  <a:pt x="1441902" y="2146434"/>
                </a:cubicBezTo>
                <a:cubicBezTo>
                  <a:pt x="1535251" y="2202877"/>
                  <a:pt x="1629376" y="2259924"/>
                  <a:pt x="1730660" y="2300438"/>
                </a:cubicBezTo>
                <a:cubicBezTo>
                  <a:pt x="1762744" y="2313272"/>
                  <a:pt x="1793336" y="2330772"/>
                  <a:pt x="1826912" y="2338939"/>
                </a:cubicBezTo>
                <a:cubicBezTo>
                  <a:pt x="1912516" y="2359762"/>
                  <a:pt x="2000035" y="2371755"/>
                  <a:pt x="2086795" y="2387066"/>
                </a:cubicBezTo>
                <a:cubicBezTo>
                  <a:pt x="2408758" y="2443883"/>
                  <a:pt x="2281215" y="2419186"/>
                  <a:pt x="2673936" y="2464068"/>
                </a:cubicBezTo>
                <a:cubicBezTo>
                  <a:pt x="2779899" y="2476178"/>
                  <a:pt x="2885310" y="2493409"/>
                  <a:pt x="2991569" y="2502569"/>
                </a:cubicBezTo>
                <a:cubicBezTo>
                  <a:pt x="3040368" y="2506776"/>
                  <a:pt x="3513036" y="2521253"/>
                  <a:pt x="3530584" y="2521819"/>
                </a:cubicBezTo>
                <a:cubicBezTo>
                  <a:pt x="3658921" y="2534653"/>
                  <a:pt x="3786863" y="2552373"/>
                  <a:pt x="3915595" y="2560320"/>
                </a:cubicBezTo>
                <a:cubicBezTo>
                  <a:pt x="4046929" y="2568427"/>
                  <a:pt x="4178773" y="2564168"/>
                  <a:pt x="4310230" y="2569946"/>
                </a:cubicBezTo>
                <a:cubicBezTo>
                  <a:pt x="4470784" y="2577003"/>
                  <a:pt x="4631072" y="2589196"/>
                  <a:pt x="4791493" y="2598821"/>
                </a:cubicBezTo>
                <a:cubicBezTo>
                  <a:pt x="5089876" y="2589196"/>
                  <a:pt x="5281333" y="2571734"/>
                  <a:pt x="5405655" y="2527084"/>
                </a:cubicBezTo>
                <a:cubicBezTo>
                  <a:pt x="5529977" y="2482434"/>
                  <a:pt x="5518606" y="2424255"/>
                  <a:pt x="5537426" y="2330918"/>
                </a:cubicBezTo>
                <a:cubicBezTo>
                  <a:pt x="5556246" y="2237581"/>
                  <a:pt x="5521288" y="2082148"/>
                  <a:pt x="5518577" y="1967063"/>
                </a:cubicBezTo>
                <a:cubicBezTo>
                  <a:pt x="5515866" y="1851978"/>
                  <a:pt x="5514741" y="1730242"/>
                  <a:pt x="5521158" y="1640406"/>
                </a:cubicBezTo>
                <a:cubicBezTo>
                  <a:pt x="5511533" y="1419025"/>
                  <a:pt x="5383292" y="1503739"/>
                  <a:pt x="5342264" y="1466800"/>
                </a:cubicBezTo>
                <a:cubicBezTo>
                  <a:pt x="5301236" y="1429861"/>
                  <a:pt x="5308195" y="1434749"/>
                  <a:pt x="5274987" y="1418774"/>
                </a:cubicBezTo>
                <a:cubicBezTo>
                  <a:pt x="5241779" y="1402799"/>
                  <a:pt x="5195921" y="1386494"/>
                  <a:pt x="5143016" y="1370949"/>
                </a:cubicBezTo>
                <a:cubicBezTo>
                  <a:pt x="5090111" y="1355404"/>
                  <a:pt x="5024932" y="1331922"/>
                  <a:pt x="4957555" y="1325505"/>
                </a:cubicBezTo>
                <a:cubicBezTo>
                  <a:pt x="4684839" y="1331922"/>
                  <a:pt x="4686021" y="1303760"/>
                  <a:pt x="4598988" y="1309036"/>
                </a:cubicBezTo>
                <a:cubicBezTo>
                  <a:pt x="4511955" y="1314312"/>
                  <a:pt x="4494853" y="1335914"/>
                  <a:pt x="4435359" y="1357162"/>
                </a:cubicBezTo>
                <a:cubicBezTo>
                  <a:pt x="4406694" y="1367399"/>
                  <a:pt x="4377076" y="1374946"/>
                  <a:pt x="4348731" y="1386038"/>
                </a:cubicBezTo>
                <a:cubicBezTo>
                  <a:pt x="4303222" y="1403846"/>
                  <a:pt x="4213978" y="1443790"/>
                  <a:pt x="4213978" y="1443790"/>
                </a:cubicBezTo>
                <a:cubicBezTo>
                  <a:pt x="4141416" y="1516352"/>
                  <a:pt x="4213123" y="1454756"/>
                  <a:pt x="4127350" y="1501541"/>
                </a:cubicBezTo>
                <a:cubicBezTo>
                  <a:pt x="4030379" y="1554434"/>
                  <a:pt x="4108176" y="1530397"/>
                  <a:pt x="4031098" y="1549668"/>
                </a:cubicBezTo>
                <a:cubicBezTo>
                  <a:pt x="3906726" y="1620737"/>
                  <a:pt x="4021284" y="1553226"/>
                  <a:pt x="3877093" y="1645920"/>
                </a:cubicBezTo>
                <a:cubicBezTo>
                  <a:pt x="3861356" y="1656036"/>
                  <a:pt x="3843576" y="1663109"/>
                  <a:pt x="3828967" y="1674796"/>
                </a:cubicBezTo>
                <a:cubicBezTo>
                  <a:pt x="3812925" y="1687630"/>
                  <a:pt x="3798173" y="1702268"/>
                  <a:pt x="3780841" y="1713297"/>
                </a:cubicBezTo>
                <a:cubicBezTo>
                  <a:pt x="3762683" y="1724852"/>
                  <a:pt x="3741247" y="1730618"/>
                  <a:pt x="3723089" y="1742173"/>
                </a:cubicBezTo>
                <a:cubicBezTo>
                  <a:pt x="3705757" y="1753202"/>
                  <a:pt x="3692459" y="1769907"/>
                  <a:pt x="3674963" y="1780674"/>
                </a:cubicBezTo>
                <a:cubicBezTo>
                  <a:pt x="3650523" y="1795714"/>
                  <a:pt x="3620900" y="1823127"/>
                  <a:pt x="3597961" y="1819175"/>
                </a:cubicBezTo>
                <a:cubicBezTo>
                  <a:pt x="3575022" y="1815223"/>
                  <a:pt x="3558215" y="1775318"/>
                  <a:pt x="3537327" y="1756962"/>
                </a:cubicBezTo>
                <a:cubicBezTo>
                  <a:pt x="3516439" y="1738606"/>
                  <a:pt x="3493437" y="1721076"/>
                  <a:pt x="3472632" y="1709036"/>
                </a:cubicBezTo>
                <a:cubicBezTo>
                  <a:pt x="3451827" y="1696996"/>
                  <a:pt x="3431716" y="1692033"/>
                  <a:pt x="3412499" y="1684722"/>
                </a:cubicBezTo>
                <a:cubicBezTo>
                  <a:pt x="3393282" y="1677411"/>
                  <a:pt x="3371337" y="1671638"/>
                  <a:pt x="3357329" y="1665171"/>
                </a:cubicBezTo>
                <a:cubicBezTo>
                  <a:pt x="3343321" y="1658704"/>
                  <a:pt x="3337340" y="1653326"/>
                  <a:pt x="3328453" y="1645920"/>
                </a:cubicBezTo>
                <a:cubicBezTo>
                  <a:pt x="3291211" y="1614884"/>
                  <a:pt x="3306960" y="1614388"/>
                  <a:pt x="3261077" y="1588169"/>
                </a:cubicBezTo>
                <a:cubicBezTo>
                  <a:pt x="3252268" y="1583135"/>
                  <a:pt x="3241826" y="1581752"/>
                  <a:pt x="3232201" y="1578543"/>
                </a:cubicBezTo>
                <a:cubicBezTo>
                  <a:pt x="3120453" y="1494734"/>
                  <a:pt x="3271486" y="1610842"/>
                  <a:pt x="3155199" y="1511167"/>
                </a:cubicBezTo>
                <a:cubicBezTo>
                  <a:pt x="3132904" y="1492057"/>
                  <a:pt x="3113699" y="1487042"/>
                  <a:pt x="3087822" y="1472666"/>
                </a:cubicBezTo>
                <a:cubicBezTo>
                  <a:pt x="3071468" y="1463581"/>
                  <a:pt x="3059343" y="1453862"/>
                  <a:pt x="3039696" y="1443790"/>
                </a:cubicBezTo>
                <a:cubicBezTo>
                  <a:pt x="3020049" y="1433718"/>
                  <a:pt x="2995130" y="1427735"/>
                  <a:pt x="2969938" y="1412232"/>
                </a:cubicBezTo>
                <a:cubicBezTo>
                  <a:pt x="2952656" y="1401597"/>
                  <a:pt x="2931816" y="1377570"/>
                  <a:pt x="2914567" y="1366788"/>
                </a:cubicBezTo>
                <a:cubicBezTo>
                  <a:pt x="2897318" y="1356006"/>
                  <a:pt x="2881654" y="1355728"/>
                  <a:pt x="2866441" y="1347537"/>
                </a:cubicBezTo>
                <a:cubicBezTo>
                  <a:pt x="2839791" y="1333187"/>
                  <a:pt x="2789439" y="1299411"/>
                  <a:pt x="2789439" y="1299411"/>
                </a:cubicBezTo>
                <a:cubicBezTo>
                  <a:pt x="2770188" y="1270535"/>
                  <a:pt x="2730111" y="1247452"/>
                  <a:pt x="2731687" y="1212783"/>
                </a:cubicBezTo>
                <a:lnTo>
                  <a:pt x="2760563" y="577516"/>
                </a:lnTo>
                <a:cubicBezTo>
                  <a:pt x="2757355" y="487680"/>
                  <a:pt x="2755924" y="397764"/>
                  <a:pt x="2750938" y="308009"/>
                </a:cubicBezTo>
                <a:cubicBezTo>
                  <a:pt x="2749255" y="277722"/>
                  <a:pt x="2742684" y="225498"/>
                  <a:pt x="2731687" y="192506"/>
                </a:cubicBezTo>
                <a:cubicBezTo>
                  <a:pt x="2726223" y="176115"/>
                  <a:pt x="2722021" y="158755"/>
                  <a:pt x="2712437" y="144379"/>
                </a:cubicBezTo>
                <a:cubicBezTo>
                  <a:pt x="2696029" y="119767"/>
                  <a:pt x="2673416" y="99896"/>
                  <a:pt x="2654685" y="77002"/>
                </a:cubicBezTo>
                <a:cubicBezTo>
                  <a:pt x="2644526" y="64586"/>
                  <a:pt x="2638643" y="48126"/>
                  <a:pt x="2625809" y="38501"/>
                </a:cubicBezTo>
                <a:cubicBezTo>
                  <a:pt x="2555683" y="-14093"/>
                  <a:pt x="2591779" y="47444"/>
                  <a:pt x="2568058" y="0"/>
                </a:cubicBezTo>
                <a:lnTo>
                  <a:pt x="2625809" y="57752"/>
                </a:lnTo>
                <a:close/>
              </a:path>
            </a:pathLst>
          </a:custGeom>
          <a:solidFill>
            <a:srgbClr val="F2F2F2">
              <a:alpha val="9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dirty="0"/>
          </a:p>
        </p:txBody>
      </p:sp>
      <p:grpSp>
        <p:nvGrpSpPr>
          <p:cNvPr id="40" name="Group 39">
            <a:extLst>
              <a:ext uri="{FF2B5EF4-FFF2-40B4-BE49-F238E27FC236}">
                <a16:creationId xmlns:a16="http://schemas.microsoft.com/office/drawing/2014/main" id="{5D0CEAB0-61C5-E5FF-36F3-375C1B3076D5}"/>
              </a:ext>
            </a:extLst>
          </p:cNvPr>
          <p:cNvGrpSpPr/>
          <p:nvPr/>
        </p:nvGrpSpPr>
        <p:grpSpPr>
          <a:xfrm>
            <a:off x="785972" y="2418387"/>
            <a:ext cx="5026151" cy="1224496"/>
            <a:chOff x="1089807" y="2723025"/>
            <a:chExt cx="5026151" cy="1224496"/>
          </a:xfrm>
        </p:grpSpPr>
        <p:sp>
          <p:nvSpPr>
            <p:cNvPr id="41" name="TextBox 40">
              <a:extLst>
                <a:ext uri="{FF2B5EF4-FFF2-40B4-BE49-F238E27FC236}">
                  <a16:creationId xmlns:a16="http://schemas.microsoft.com/office/drawing/2014/main" id="{F8305D8A-4F30-B066-A4BD-BEBD767B307F}"/>
                </a:ext>
              </a:extLst>
            </p:cNvPr>
            <p:cNvSpPr txBox="1"/>
            <p:nvPr/>
          </p:nvSpPr>
          <p:spPr>
            <a:xfrm>
              <a:off x="2264967" y="2981330"/>
              <a:ext cx="3850991" cy="707886"/>
            </a:xfrm>
            <a:prstGeom prst="rect">
              <a:avLst/>
            </a:prstGeom>
            <a:noFill/>
          </p:spPr>
          <p:txBody>
            <a:bodyPr wrap="none" rtlCol="0">
              <a:spAutoFit/>
            </a:bodyPr>
            <a:lstStyle/>
            <a:p>
              <a:r>
                <a:rPr lang="en-US" sz="2000" b="1" dirty="0">
                  <a:solidFill>
                    <a:srgbClr val="00B050"/>
                  </a:solidFill>
                </a:rPr>
                <a:t>Conceptual clarification:</a:t>
              </a:r>
            </a:p>
            <a:p>
              <a:r>
                <a:rPr lang="en-US" sz="2000" dirty="0">
                  <a:solidFill>
                    <a:srgbClr val="00B050"/>
                  </a:solidFill>
                </a:rPr>
                <a:t>Meanings are precise and explicit</a:t>
              </a:r>
            </a:p>
          </p:txBody>
        </p:sp>
        <p:grpSp>
          <p:nvGrpSpPr>
            <p:cNvPr id="42" name="Group 41">
              <a:extLst>
                <a:ext uri="{FF2B5EF4-FFF2-40B4-BE49-F238E27FC236}">
                  <a16:creationId xmlns:a16="http://schemas.microsoft.com/office/drawing/2014/main" id="{EA522D65-EFD1-7D9E-BB93-52C79470EDC7}"/>
                </a:ext>
              </a:extLst>
            </p:cNvPr>
            <p:cNvGrpSpPr/>
            <p:nvPr/>
          </p:nvGrpSpPr>
          <p:grpSpPr>
            <a:xfrm>
              <a:off x="1089807" y="2723025"/>
              <a:ext cx="1224496" cy="1224496"/>
              <a:chOff x="1089807" y="2723025"/>
              <a:chExt cx="1224496" cy="1224496"/>
            </a:xfrm>
          </p:grpSpPr>
          <p:pic>
            <p:nvPicPr>
              <p:cNvPr id="43" name="Graphic 42" descr="Excellent with solid fill">
                <a:extLst>
                  <a:ext uri="{FF2B5EF4-FFF2-40B4-BE49-F238E27FC236}">
                    <a16:creationId xmlns:a16="http://schemas.microsoft.com/office/drawing/2014/main" id="{9C889803-521A-9AA1-7719-572C2016FF12}"/>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89807" y="2723025"/>
                <a:ext cx="1224496" cy="1224496"/>
              </a:xfrm>
              <a:prstGeom prst="rect">
                <a:avLst/>
              </a:prstGeom>
            </p:spPr>
          </p:pic>
          <p:sp>
            <p:nvSpPr>
              <p:cNvPr id="44" name="TextBox 43">
                <a:extLst>
                  <a:ext uri="{FF2B5EF4-FFF2-40B4-BE49-F238E27FC236}">
                    <a16:creationId xmlns:a16="http://schemas.microsoft.com/office/drawing/2014/main" id="{977B760C-FCDC-B7D1-12BD-9F2533E0E08C}"/>
                  </a:ext>
                </a:extLst>
              </p:cNvPr>
              <p:cNvSpPr txBox="1"/>
              <p:nvPr/>
            </p:nvSpPr>
            <p:spPr>
              <a:xfrm>
                <a:off x="1527167" y="3104441"/>
                <a:ext cx="349776" cy="461665"/>
              </a:xfrm>
              <a:prstGeom prst="rect">
                <a:avLst/>
              </a:prstGeom>
              <a:noFill/>
            </p:spPr>
            <p:txBody>
              <a:bodyPr wrap="none" rtlCol="0">
                <a:spAutoFit/>
              </a:bodyPr>
              <a:lstStyle/>
              <a:p>
                <a:r>
                  <a:rPr lang="en-US" sz="2400" b="1" dirty="0">
                    <a:solidFill>
                      <a:schemeClr val="bg1"/>
                    </a:solidFill>
                  </a:rPr>
                  <a:t>1</a:t>
                </a:r>
                <a:endParaRPr lang="en-NL" sz="2400" b="1" dirty="0">
                  <a:solidFill>
                    <a:schemeClr val="bg1"/>
                  </a:solidFill>
                </a:endParaRPr>
              </a:p>
            </p:txBody>
          </p:sp>
        </p:grpSp>
      </p:grpSp>
      <p:sp>
        <p:nvSpPr>
          <p:cNvPr id="8" name="TextBox 7">
            <a:extLst>
              <a:ext uri="{FF2B5EF4-FFF2-40B4-BE49-F238E27FC236}">
                <a16:creationId xmlns:a16="http://schemas.microsoft.com/office/drawing/2014/main" id="{886C3E9D-871D-0B66-722F-C62F0FBD5D73}"/>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a:t>
            </a:r>
            <a:r>
              <a:rPr lang="en-US" sz="1200" b="1" cap="small" spc="100" dirty="0">
                <a:solidFill>
                  <a:srgbClr val="000000">
                    <a:lumMod val="95000"/>
                    <a:lumOff val="5000"/>
                  </a:srgbClr>
                </a:solidFill>
                <a:latin typeface="Aptos" panose="020B0004020202020204" pitchFamily="34" charset="0"/>
                <a:ea typeface="+mj-ea"/>
                <a:cs typeface="+mj-cs"/>
              </a:rPr>
              <a:t>1</a:t>
            </a:r>
            <a:endParaRPr lang="en-NL" sz="1000" b="1" dirty="0"/>
          </a:p>
        </p:txBody>
      </p:sp>
      <p:sp>
        <p:nvSpPr>
          <p:cNvPr id="26" name="Title 1">
            <a:extLst>
              <a:ext uri="{FF2B5EF4-FFF2-40B4-BE49-F238E27FC236}">
                <a16:creationId xmlns:a16="http://schemas.microsoft.com/office/drawing/2014/main" id="{9603FB29-44CE-0D74-5657-6927B710F6B1}"/>
              </a:ext>
            </a:extLst>
          </p:cNvPr>
          <p:cNvSpPr>
            <a:spLocks noGrp="1"/>
          </p:cNvSpPr>
          <p:nvPr>
            <p:ph type="title"/>
          </p:nvPr>
        </p:nvSpPr>
        <p:spPr>
          <a:xfrm>
            <a:off x="695325" y="385763"/>
            <a:ext cx="9153525" cy="930275"/>
          </a:xfrm>
        </p:spPr>
        <p:txBody>
          <a:bodyPr/>
          <a:lstStyle/>
          <a:p>
            <a:r>
              <a:rPr lang="en-US" sz="3600" dirty="0"/>
              <a:t>The Health-RI Conceptual Ontology</a:t>
            </a:r>
            <a:endParaRPr lang="en-NL" sz="3600" dirty="0"/>
          </a:p>
        </p:txBody>
      </p:sp>
    </p:spTree>
    <p:extLst>
      <p:ext uri="{BB962C8B-B14F-4D97-AF65-F5344CB8AC3E}">
        <p14:creationId xmlns:p14="http://schemas.microsoft.com/office/powerpoint/2010/main" val="4047995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fade">
                                      <p:cBhvr>
                                        <p:cTn id="7"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997992-E229-6AC7-07E2-2E26C5B65B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14062B-17CE-297C-493C-D77EEB321988}"/>
              </a:ext>
            </a:extLst>
          </p:cNvPr>
          <p:cNvSpPr>
            <a:spLocks noGrp="1"/>
          </p:cNvSpPr>
          <p:nvPr>
            <p:ph type="title"/>
          </p:nvPr>
        </p:nvSpPr>
        <p:spPr/>
        <p:txBody>
          <a:bodyPr/>
          <a:lstStyle/>
          <a:p>
            <a:r>
              <a:rPr lang="en-US" sz="3600" dirty="0"/>
              <a:t>HRIO Taxonomies for Sex and Gender</a:t>
            </a:r>
            <a:endParaRPr lang="en-NL" sz="3600" dirty="0"/>
          </a:p>
        </p:txBody>
      </p:sp>
      <p:sp>
        <p:nvSpPr>
          <p:cNvPr id="4" name="Slide Number Placeholder 3">
            <a:extLst>
              <a:ext uri="{FF2B5EF4-FFF2-40B4-BE49-F238E27FC236}">
                <a16:creationId xmlns:a16="http://schemas.microsoft.com/office/drawing/2014/main" id="{D40CEB31-3681-926B-116B-7D857604F7C6}"/>
              </a:ext>
            </a:extLst>
          </p:cNvPr>
          <p:cNvSpPr>
            <a:spLocks noGrp="1"/>
          </p:cNvSpPr>
          <p:nvPr>
            <p:ph type="sldNum" sz="quarter" idx="12"/>
          </p:nvPr>
        </p:nvSpPr>
        <p:spPr/>
        <p:txBody>
          <a:bodyPr/>
          <a:lstStyle/>
          <a:p>
            <a:fld id="{4FAB73BC-B049-4115-A692-8D63A059BFB8}" type="slidenum">
              <a:rPr lang="en-US" smtClean="0"/>
              <a:pPr/>
              <a:t>13</a:t>
            </a:fld>
            <a:endParaRPr lang="en-US" dirty="0"/>
          </a:p>
        </p:txBody>
      </p:sp>
      <p:grpSp>
        <p:nvGrpSpPr>
          <p:cNvPr id="66" name="Group 65">
            <a:extLst>
              <a:ext uri="{FF2B5EF4-FFF2-40B4-BE49-F238E27FC236}">
                <a16:creationId xmlns:a16="http://schemas.microsoft.com/office/drawing/2014/main" id="{D6A4639C-C10A-1890-4BF5-11488496F8EE}"/>
              </a:ext>
            </a:extLst>
          </p:cNvPr>
          <p:cNvGrpSpPr/>
          <p:nvPr/>
        </p:nvGrpSpPr>
        <p:grpSpPr>
          <a:xfrm>
            <a:off x="805760" y="1704976"/>
            <a:ext cx="10587698" cy="4200524"/>
            <a:chOff x="1560542" y="1629620"/>
            <a:chExt cx="9070915" cy="3598761"/>
          </a:xfrm>
        </p:grpSpPr>
        <p:grpSp>
          <p:nvGrpSpPr>
            <p:cNvPr id="64" name="Group 63">
              <a:extLst>
                <a:ext uri="{FF2B5EF4-FFF2-40B4-BE49-F238E27FC236}">
                  <a16:creationId xmlns:a16="http://schemas.microsoft.com/office/drawing/2014/main" id="{86BE0B36-A016-5628-5BD2-9B16BC9DF600}"/>
                </a:ext>
              </a:extLst>
            </p:cNvPr>
            <p:cNvGrpSpPr/>
            <p:nvPr/>
          </p:nvGrpSpPr>
          <p:grpSpPr>
            <a:xfrm>
              <a:off x="1560542" y="1629620"/>
              <a:ext cx="4319483" cy="3598761"/>
              <a:chOff x="1560542" y="1629620"/>
              <a:chExt cx="4319483" cy="3598761"/>
            </a:xfrm>
          </p:grpSpPr>
          <p:sp>
            <p:nvSpPr>
              <p:cNvPr id="60" name="Rectangle 59">
                <a:extLst>
                  <a:ext uri="{FF2B5EF4-FFF2-40B4-BE49-F238E27FC236}">
                    <a16:creationId xmlns:a16="http://schemas.microsoft.com/office/drawing/2014/main" id="{F3D3ACD7-6147-E07D-D763-9911B8E5892B}"/>
                  </a:ext>
                </a:extLst>
              </p:cNvPr>
              <p:cNvSpPr/>
              <p:nvPr/>
            </p:nvSpPr>
            <p:spPr>
              <a:xfrm>
                <a:off x="1560542" y="1629620"/>
                <a:ext cx="4319483" cy="3455587"/>
              </a:xfrm>
              <a:prstGeom prst="rect">
                <a:avLst/>
              </a:prstGeom>
              <a:blipFill dpi="0" rotWithShape="1">
                <a:blip r:embed="rId3"/>
                <a:srcRect/>
                <a:stretch>
                  <a:fillRect l="3945" t="12959" r="3945" b="12959"/>
                </a:stretch>
              </a:blipFill>
              <a:ln>
                <a:solidFill>
                  <a:schemeClr val="accent2"/>
                </a:solidFill>
              </a:ln>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NL"/>
              </a:p>
            </p:txBody>
          </p:sp>
          <p:sp>
            <p:nvSpPr>
              <p:cNvPr id="61" name="Freeform: Shape 60">
                <a:extLst>
                  <a:ext uri="{FF2B5EF4-FFF2-40B4-BE49-F238E27FC236}">
                    <a16:creationId xmlns:a16="http://schemas.microsoft.com/office/drawing/2014/main" id="{3313BAAD-1300-DA7A-45CE-EBE2EAB073E6}"/>
                  </a:ext>
                </a:extLst>
              </p:cNvPr>
              <p:cNvSpPr/>
              <p:nvPr/>
            </p:nvSpPr>
            <p:spPr>
              <a:xfrm>
                <a:off x="1949295" y="4739649"/>
                <a:ext cx="3844340" cy="488732"/>
              </a:xfrm>
              <a:custGeom>
                <a:avLst/>
                <a:gdLst>
                  <a:gd name="csX0" fmla="*/ 0 w 3844340"/>
                  <a:gd name="csY0" fmla="*/ 0 h 1209455"/>
                  <a:gd name="csX1" fmla="*/ 2242532 w 3844340"/>
                  <a:gd name="csY1" fmla="*/ 0 h 1209455"/>
                  <a:gd name="csX2" fmla="*/ 2700649 w 3844340"/>
                  <a:gd name="csY2" fmla="*/ -129412 h 1209455"/>
                  <a:gd name="csX3" fmla="*/ 3203617 w 3844340"/>
                  <a:gd name="csY3" fmla="*/ 0 h 1209455"/>
                  <a:gd name="csX4" fmla="*/ 3844340 w 3844340"/>
                  <a:gd name="csY4" fmla="*/ 0 h 1209455"/>
                  <a:gd name="csX5" fmla="*/ 3844340 w 3844340"/>
                  <a:gd name="csY5" fmla="*/ 201576 h 1209455"/>
                  <a:gd name="csX6" fmla="*/ 3844340 w 3844340"/>
                  <a:gd name="csY6" fmla="*/ 201576 h 1209455"/>
                  <a:gd name="csX7" fmla="*/ 3844340 w 3844340"/>
                  <a:gd name="csY7" fmla="*/ 503940 h 1209455"/>
                  <a:gd name="csX8" fmla="*/ 3844340 w 3844340"/>
                  <a:gd name="csY8" fmla="*/ 1209455 h 1209455"/>
                  <a:gd name="csX9" fmla="*/ 3203617 w 3844340"/>
                  <a:gd name="csY9" fmla="*/ 1209455 h 1209455"/>
                  <a:gd name="csX10" fmla="*/ 2242532 w 3844340"/>
                  <a:gd name="csY10" fmla="*/ 1209455 h 1209455"/>
                  <a:gd name="csX11" fmla="*/ 2242532 w 3844340"/>
                  <a:gd name="csY11" fmla="*/ 1209455 h 1209455"/>
                  <a:gd name="csX12" fmla="*/ 0 w 3844340"/>
                  <a:gd name="csY12" fmla="*/ 1209455 h 1209455"/>
                  <a:gd name="csX13" fmla="*/ 0 w 3844340"/>
                  <a:gd name="csY13" fmla="*/ 503940 h 1209455"/>
                  <a:gd name="csX14" fmla="*/ 0 w 3844340"/>
                  <a:gd name="csY14" fmla="*/ 201576 h 1209455"/>
                  <a:gd name="csX15" fmla="*/ 0 w 3844340"/>
                  <a:gd name="csY15" fmla="*/ 201576 h 1209455"/>
                  <a:gd name="csX16" fmla="*/ 0 w 3844340"/>
                  <a:gd name="csY16" fmla="*/ 0 h 120945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3844340" h="1209455">
                    <a:moveTo>
                      <a:pt x="0" y="0"/>
                    </a:moveTo>
                    <a:lnTo>
                      <a:pt x="2242532" y="0"/>
                    </a:lnTo>
                    <a:lnTo>
                      <a:pt x="2700649" y="-129412"/>
                    </a:lnTo>
                    <a:lnTo>
                      <a:pt x="3203617" y="0"/>
                    </a:lnTo>
                    <a:lnTo>
                      <a:pt x="3844340" y="0"/>
                    </a:lnTo>
                    <a:lnTo>
                      <a:pt x="3844340" y="201576"/>
                    </a:lnTo>
                    <a:lnTo>
                      <a:pt x="3844340" y="201576"/>
                    </a:lnTo>
                    <a:lnTo>
                      <a:pt x="3844340" y="503940"/>
                    </a:lnTo>
                    <a:lnTo>
                      <a:pt x="3844340" y="1209455"/>
                    </a:lnTo>
                    <a:lnTo>
                      <a:pt x="3203617" y="1209455"/>
                    </a:lnTo>
                    <a:lnTo>
                      <a:pt x="2242532" y="1209455"/>
                    </a:lnTo>
                    <a:lnTo>
                      <a:pt x="2242532" y="1209455"/>
                    </a:lnTo>
                    <a:lnTo>
                      <a:pt x="0" y="1209455"/>
                    </a:lnTo>
                    <a:lnTo>
                      <a:pt x="0" y="503940"/>
                    </a:lnTo>
                    <a:lnTo>
                      <a:pt x="0" y="201576"/>
                    </a:lnTo>
                    <a:lnTo>
                      <a:pt x="0" y="201576"/>
                    </a:lnTo>
                    <a:lnTo>
                      <a:pt x="0" y="0"/>
                    </a:lnTo>
                    <a:close/>
                  </a:path>
                </a:pathLst>
              </a:custGeom>
              <a:solidFill>
                <a:schemeClr val="accent2"/>
              </a:solidFill>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209550" tIns="209550" rIns="209550" bIns="209550" numCol="1" spcCol="1270" anchor="ctr" anchorCtr="0">
                <a:noAutofit/>
              </a:bodyPr>
              <a:lstStyle/>
              <a:p>
                <a:pPr marL="0" lvl="0" indent="0" algn="ctr" defTabSz="2444750">
                  <a:lnSpc>
                    <a:spcPct val="90000"/>
                  </a:lnSpc>
                  <a:spcBef>
                    <a:spcPct val="0"/>
                  </a:spcBef>
                  <a:spcAft>
                    <a:spcPct val="35000"/>
                  </a:spcAft>
                  <a:buNone/>
                </a:pPr>
                <a:r>
                  <a:rPr lang="en-US" sz="3200" kern="1200" dirty="0"/>
                  <a:t>Sex</a:t>
                </a:r>
                <a:endParaRPr lang="en-NL" sz="3200" kern="1200" dirty="0"/>
              </a:p>
            </p:txBody>
          </p:sp>
        </p:grpSp>
        <p:grpSp>
          <p:nvGrpSpPr>
            <p:cNvPr id="65" name="Group 64">
              <a:extLst>
                <a:ext uri="{FF2B5EF4-FFF2-40B4-BE49-F238E27FC236}">
                  <a16:creationId xmlns:a16="http://schemas.microsoft.com/office/drawing/2014/main" id="{164917BD-8983-9693-E178-384CE58508EC}"/>
                </a:ext>
              </a:extLst>
            </p:cNvPr>
            <p:cNvGrpSpPr/>
            <p:nvPr/>
          </p:nvGrpSpPr>
          <p:grpSpPr>
            <a:xfrm>
              <a:off x="6311974" y="1629620"/>
              <a:ext cx="4319483" cy="3598761"/>
              <a:chOff x="6311974" y="1629620"/>
              <a:chExt cx="4319483" cy="3598761"/>
            </a:xfrm>
          </p:grpSpPr>
          <p:sp>
            <p:nvSpPr>
              <p:cNvPr id="62" name="Rectangle 61">
                <a:extLst>
                  <a:ext uri="{FF2B5EF4-FFF2-40B4-BE49-F238E27FC236}">
                    <a16:creationId xmlns:a16="http://schemas.microsoft.com/office/drawing/2014/main" id="{1896E40E-71D7-1675-47C8-EA61C49FC090}"/>
                  </a:ext>
                </a:extLst>
              </p:cNvPr>
              <p:cNvSpPr/>
              <p:nvPr/>
            </p:nvSpPr>
            <p:spPr>
              <a:xfrm>
                <a:off x="6311974" y="1629620"/>
                <a:ext cx="4319483" cy="3455587"/>
              </a:xfrm>
              <a:prstGeom prst="rect">
                <a:avLst/>
              </a:prstGeom>
              <a:blipFill dpi="0" rotWithShape="1">
                <a:blip r:embed="rId4"/>
                <a:srcRect/>
                <a:stretch>
                  <a:fillRect l="2517" t="11175" r="2517" b="11175"/>
                </a:stretch>
              </a:blipFill>
              <a:ln>
                <a:solidFill>
                  <a:schemeClr val="accent1"/>
                </a:solidFill>
              </a:ln>
            </p:spPr>
            <p:style>
              <a:lnRef idx="2">
                <a:schemeClr val="lt1">
                  <a:hueOff val="0"/>
                  <a:satOff val="0"/>
                  <a:lumOff val="0"/>
                  <a:alphaOff val="0"/>
                </a:schemeClr>
              </a:lnRef>
              <a:fillRef idx="1">
                <a:scrgbClr r="0" g="0" b="0"/>
              </a:fillRef>
              <a:effectRef idx="0">
                <a:schemeClr val="accent1">
                  <a:tint val="50000"/>
                  <a:hueOff val="-11648130"/>
                  <a:satOff val="76319"/>
                  <a:lumOff val="18296"/>
                  <a:alphaOff val="0"/>
                </a:schemeClr>
              </a:effectRef>
              <a:fontRef idx="minor">
                <a:schemeClr val="lt1">
                  <a:hueOff val="0"/>
                  <a:satOff val="0"/>
                  <a:lumOff val="0"/>
                  <a:alphaOff val="0"/>
                </a:schemeClr>
              </a:fontRef>
            </p:style>
            <p:txBody>
              <a:bodyPr/>
              <a:lstStyle/>
              <a:p>
                <a:endParaRPr lang="en-NL"/>
              </a:p>
            </p:txBody>
          </p:sp>
          <p:sp>
            <p:nvSpPr>
              <p:cNvPr id="63" name="Freeform: Shape 62">
                <a:extLst>
                  <a:ext uri="{FF2B5EF4-FFF2-40B4-BE49-F238E27FC236}">
                    <a16:creationId xmlns:a16="http://schemas.microsoft.com/office/drawing/2014/main" id="{70D1F94D-2946-D618-8A25-E61DFFF00E78}"/>
                  </a:ext>
                </a:extLst>
              </p:cNvPr>
              <p:cNvSpPr/>
              <p:nvPr/>
            </p:nvSpPr>
            <p:spPr>
              <a:xfrm>
                <a:off x="6700728" y="4739649"/>
                <a:ext cx="3844340" cy="488732"/>
              </a:xfrm>
              <a:custGeom>
                <a:avLst/>
                <a:gdLst>
                  <a:gd name="csX0" fmla="*/ 0 w 3844340"/>
                  <a:gd name="csY0" fmla="*/ 0 h 1209455"/>
                  <a:gd name="csX1" fmla="*/ 2242532 w 3844340"/>
                  <a:gd name="csY1" fmla="*/ 0 h 1209455"/>
                  <a:gd name="csX2" fmla="*/ 2700649 w 3844340"/>
                  <a:gd name="csY2" fmla="*/ -129412 h 1209455"/>
                  <a:gd name="csX3" fmla="*/ 3203617 w 3844340"/>
                  <a:gd name="csY3" fmla="*/ 0 h 1209455"/>
                  <a:gd name="csX4" fmla="*/ 3844340 w 3844340"/>
                  <a:gd name="csY4" fmla="*/ 0 h 1209455"/>
                  <a:gd name="csX5" fmla="*/ 3844340 w 3844340"/>
                  <a:gd name="csY5" fmla="*/ 201576 h 1209455"/>
                  <a:gd name="csX6" fmla="*/ 3844340 w 3844340"/>
                  <a:gd name="csY6" fmla="*/ 201576 h 1209455"/>
                  <a:gd name="csX7" fmla="*/ 3844340 w 3844340"/>
                  <a:gd name="csY7" fmla="*/ 503940 h 1209455"/>
                  <a:gd name="csX8" fmla="*/ 3844340 w 3844340"/>
                  <a:gd name="csY8" fmla="*/ 1209455 h 1209455"/>
                  <a:gd name="csX9" fmla="*/ 3203617 w 3844340"/>
                  <a:gd name="csY9" fmla="*/ 1209455 h 1209455"/>
                  <a:gd name="csX10" fmla="*/ 2242532 w 3844340"/>
                  <a:gd name="csY10" fmla="*/ 1209455 h 1209455"/>
                  <a:gd name="csX11" fmla="*/ 2242532 w 3844340"/>
                  <a:gd name="csY11" fmla="*/ 1209455 h 1209455"/>
                  <a:gd name="csX12" fmla="*/ 0 w 3844340"/>
                  <a:gd name="csY12" fmla="*/ 1209455 h 1209455"/>
                  <a:gd name="csX13" fmla="*/ 0 w 3844340"/>
                  <a:gd name="csY13" fmla="*/ 503940 h 1209455"/>
                  <a:gd name="csX14" fmla="*/ 0 w 3844340"/>
                  <a:gd name="csY14" fmla="*/ 201576 h 1209455"/>
                  <a:gd name="csX15" fmla="*/ 0 w 3844340"/>
                  <a:gd name="csY15" fmla="*/ 201576 h 1209455"/>
                  <a:gd name="csX16" fmla="*/ 0 w 3844340"/>
                  <a:gd name="csY16" fmla="*/ 0 h 120945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3844340" h="1209455">
                    <a:moveTo>
                      <a:pt x="0" y="0"/>
                    </a:moveTo>
                    <a:lnTo>
                      <a:pt x="2242532" y="0"/>
                    </a:lnTo>
                    <a:lnTo>
                      <a:pt x="2700649" y="-129412"/>
                    </a:lnTo>
                    <a:lnTo>
                      <a:pt x="3203617" y="0"/>
                    </a:lnTo>
                    <a:lnTo>
                      <a:pt x="3844340" y="0"/>
                    </a:lnTo>
                    <a:lnTo>
                      <a:pt x="3844340" y="201576"/>
                    </a:lnTo>
                    <a:lnTo>
                      <a:pt x="3844340" y="201576"/>
                    </a:lnTo>
                    <a:lnTo>
                      <a:pt x="3844340" y="503940"/>
                    </a:lnTo>
                    <a:lnTo>
                      <a:pt x="3844340" y="1209455"/>
                    </a:lnTo>
                    <a:lnTo>
                      <a:pt x="3203617" y="1209455"/>
                    </a:lnTo>
                    <a:lnTo>
                      <a:pt x="2242532" y="1209455"/>
                    </a:lnTo>
                    <a:lnTo>
                      <a:pt x="2242532" y="1209455"/>
                    </a:lnTo>
                    <a:lnTo>
                      <a:pt x="0" y="1209455"/>
                    </a:lnTo>
                    <a:lnTo>
                      <a:pt x="0" y="503940"/>
                    </a:lnTo>
                    <a:lnTo>
                      <a:pt x="0" y="201576"/>
                    </a:lnTo>
                    <a:lnTo>
                      <a:pt x="0" y="201576"/>
                    </a:lnTo>
                    <a:lnTo>
                      <a:pt x="0" y="0"/>
                    </a:lnTo>
                    <a:close/>
                  </a:path>
                </a:pathLst>
              </a:custGeom>
              <a:solidFill>
                <a:schemeClr val="accent1"/>
              </a:solidFill>
              <a:ln>
                <a:solidFill>
                  <a:schemeClr val="accent1"/>
                </a:solid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209550" tIns="209550" rIns="209550" bIns="209550" numCol="1" spcCol="1270" anchor="ctr" anchorCtr="0">
                <a:noAutofit/>
              </a:bodyPr>
              <a:lstStyle/>
              <a:p>
                <a:pPr marL="0" lvl="0" indent="0" algn="ctr" defTabSz="2444750">
                  <a:lnSpc>
                    <a:spcPct val="90000"/>
                  </a:lnSpc>
                  <a:spcBef>
                    <a:spcPct val="0"/>
                  </a:spcBef>
                  <a:spcAft>
                    <a:spcPct val="35000"/>
                  </a:spcAft>
                  <a:buNone/>
                </a:pPr>
                <a:r>
                  <a:rPr lang="en-US" sz="3200" kern="1200" dirty="0"/>
                  <a:t>Gender</a:t>
                </a:r>
                <a:endParaRPr lang="en-NL" sz="3200" kern="1200" dirty="0"/>
              </a:p>
            </p:txBody>
          </p:sp>
        </p:grpSp>
      </p:grpSp>
      <p:sp>
        <p:nvSpPr>
          <p:cNvPr id="67" name="Rectangle 66">
            <a:extLst>
              <a:ext uri="{FF2B5EF4-FFF2-40B4-BE49-F238E27FC236}">
                <a16:creationId xmlns:a16="http://schemas.microsoft.com/office/drawing/2014/main" id="{8F02E293-835B-02C1-A970-19655D9AB547}"/>
              </a:ext>
            </a:extLst>
          </p:cNvPr>
          <p:cNvSpPr/>
          <p:nvPr/>
        </p:nvSpPr>
        <p:spPr>
          <a:xfrm>
            <a:off x="894660" y="2097087"/>
            <a:ext cx="1746940" cy="39052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68" name="Rectangle 67">
            <a:extLst>
              <a:ext uri="{FF2B5EF4-FFF2-40B4-BE49-F238E27FC236}">
                <a16:creationId xmlns:a16="http://schemas.microsoft.com/office/drawing/2014/main" id="{4E63156A-A2BD-1BBA-02F0-3C000D3C54EE}"/>
              </a:ext>
            </a:extLst>
          </p:cNvPr>
          <p:cNvSpPr/>
          <p:nvPr/>
        </p:nvSpPr>
        <p:spPr>
          <a:xfrm>
            <a:off x="6451600" y="2006600"/>
            <a:ext cx="1501775" cy="2857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7" name="TextBox 6">
            <a:extLst>
              <a:ext uri="{FF2B5EF4-FFF2-40B4-BE49-F238E27FC236}">
                <a16:creationId xmlns:a16="http://schemas.microsoft.com/office/drawing/2014/main" id="{58801D53-3884-8EEF-34D8-8DFA4520E2F6}"/>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a:t>
            </a:r>
            <a:r>
              <a:rPr lang="en-US" sz="1200" b="1" cap="small" spc="100" dirty="0">
                <a:solidFill>
                  <a:srgbClr val="000000">
                    <a:lumMod val="95000"/>
                    <a:lumOff val="5000"/>
                  </a:srgbClr>
                </a:solidFill>
                <a:latin typeface="Aptos" panose="020B0004020202020204" pitchFamily="34" charset="0"/>
                <a:ea typeface="+mj-ea"/>
                <a:cs typeface="+mj-cs"/>
              </a:rPr>
              <a:t>1</a:t>
            </a:r>
            <a:endParaRPr lang="en-NL" sz="1000" b="1" dirty="0"/>
          </a:p>
        </p:txBody>
      </p:sp>
    </p:spTree>
    <p:extLst>
      <p:ext uri="{BB962C8B-B14F-4D97-AF65-F5344CB8AC3E}">
        <p14:creationId xmlns:p14="http://schemas.microsoft.com/office/powerpoint/2010/main" val="10468643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468DA7-F56B-90E6-8C37-FCE93DDEF90C}"/>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45AB9760-91F1-673F-7F8F-A09A57A99B44}"/>
              </a:ext>
            </a:extLst>
          </p:cNvPr>
          <p:cNvPicPr>
            <a:picLocks noChangeAspect="1"/>
          </p:cNvPicPr>
          <p:nvPr/>
        </p:nvPicPr>
        <p:blipFill>
          <a:blip r:embed="rId3"/>
          <a:stretch>
            <a:fillRect/>
          </a:stretch>
        </p:blipFill>
        <p:spPr>
          <a:xfrm>
            <a:off x="695324" y="1567515"/>
            <a:ext cx="10801351" cy="3602108"/>
          </a:xfrm>
          <a:prstGeom prst="rect">
            <a:avLst/>
          </a:prstGeom>
        </p:spPr>
      </p:pic>
      <p:sp>
        <p:nvSpPr>
          <p:cNvPr id="2" name="Title 1">
            <a:extLst>
              <a:ext uri="{FF2B5EF4-FFF2-40B4-BE49-F238E27FC236}">
                <a16:creationId xmlns:a16="http://schemas.microsoft.com/office/drawing/2014/main" id="{415820E4-A608-E26C-EC56-E5127EF84DE0}"/>
              </a:ext>
            </a:extLst>
          </p:cNvPr>
          <p:cNvSpPr>
            <a:spLocks noGrp="1"/>
          </p:cNvSpPr>
          <p:nvPr>
            <p:ph type="title"/>
          </p:nvPr>
        </p:nvSpPr>
        <p:spPr>
          <a:xfrm>
            <a:off x="695327" y="386001"/>
            <a:ext cx="9288461" cy="929259"/>
          </a:xfrm>
        </p:spPr>
        <p:txBody>
          <a:bodyPr/>
          <a:lstStyle/>
          <a:p>
            <a:r>
              <a:rPr lang="en-US" sz="3600" dirty="0"/>
              <a:t>Variables Map to Distinct Meanings</a:t>
            </a:r>
            <a:endParaRPr lang="en-NL" sz="4400" dirty="0"/>
          </a:p>
        </p:txBody>
      </p:sp>
      <p:sp>
        <p:nvSpPr>
          <p:cNvPr id="4" name="Slide Number Placeholder 3">
            <a:extLst>
              <a:ext uri="{FF2B5EF4-FFF2-40B4-BE49-F238E27FC236}">
                <a16:creationId xmlns:a16="http://schemas.microsoft.com/office/drawing/2014/main" id="{5E76FF41-5EB3-17BA-3C8B-9A59746D4571}"/>
              </a:ext>
            </a:extLst>
          </p:cNvPr>
          <p:cNvSpPr>
            <a:spLocks noGrp="1"/>
          </p:cNvSpPr>
          <p:nvPr>
            <p:ph type="sldNum" sz="quarter" idx="12"/>
          </p:nvPr>
        </p:nvSpPr>
        <p:spPr/>
        <p:txBody>
          <a:bodyPr/>
          <a:lstStyle/>
          <a:p>
            <a:fld id="{4FAB73BC-B049-4115-A692-8D63A059BFB8}" type="slidenum">
              <a:rPr lang="en-US" smtClean="0"/>
              <a:pPr/>
              <a:t>14</a:t>
            </a:fld>
            <a:endParaRPr lang="en-US" dirty="0"/>
          </a:p>
        </p:txBody>
      </p:sp>
      <p:grpSp>
        <p:nvGrpSpPr>
          <p:cNvPr id="8" name="Group 7">
            <a:extLst>
              <a:ext uri="{FF2B5EF4-FFF2-40B4-BE49-F238E27FC236}">
                <a16:creationId xmlns:a16="http://schemas.microsoft.com/office/drawing/2014/main" id="{3AA39D5E-3313-2E69-EC55-2832ED504DE5}"/>
              </a:ext>
            </a:extLst>
          </p:cNvPr>
          <p:cNvGrpSpPr/>
          <p:nvPr/>
        </p:nvGrpSpPr>
        <p:grpSpPr>
          <a:xfrm>
            <a:off x="888191" y="4016010"/>
            <a:ext cx="3291520" cy="1838518"/>
            <a:chOff x="888191" y="4016010"/>
            <a:chExt cx="3291520" cy="1838518"/>
          </a:xfrm>
        </p:grpSpPr>
        <p:sp>
          <p:nvSpPr>
            <p:cNvPr id="18" name="Freeform: Shape 17">
              <a:extLst>
                <a:ext uri="{FF2B5EF4-FFF2-40B4-BE49-F238E27FC236}">
                  <a16:creationId xmlns:a16="http://schemas.microsoft.com/office/drawing/2014/main" id="{B5DA3D58-6A72-A25F-4D46-25F7351FF8D4}"/>
                </a:ext>
              </a:extLst>
            </p:cNvPr>
            <p:cNvSpPr/>
            <p:nvPr/>
          </p:nvSpPr>
          <p:spPr>
            <a:xfrm>
              <a:off x="888191" y="4016010"/>
              <a:ext cx="3291520" cy="822880"/>
            </a:xfrm>
            <a:custGeom>
              <a:avLst/>
              <a:gdLst>
                <a:gd name="csX0" fmla="*/ 0 w 3291520"/>
                <a:gd name="csY0" fmla="*/ 82288 h 822880"/>
                <a:gd name="csX1" fmla="*/ 82288 w 3291520"/>
                <a:gd name="csY1" fmla="*/ 0 h 822880"/>
                <a:gd name="csX2" fmla="*/ 3209232 w 3291520"/>
                <a:gd name="csY2" fmla="*/ 0 h 822880"/>
                <a:gd name="csX3" fmla="*/ 3291520 w 3291520"/>
                <a:gd name="csY3" fmla="*/ 82288 h 822880"/>
                <a:gd name="csX4" fmla="*/ 3291520 w 3291520"/>
                <a:gd name="csY4" fmla="*/ 740592 h 822880"/>
                <a:gd name="csX5" fmla="*/ 3209232 w 3291520"/>
                <a:gd name="csY5" fmla="*/ 822880 h 822880"/>
                <a:gd name="csX6" fmla="*/ 82288 w 3291520"/>
                <a:gd name="csY6" fmla="*/ 822880 h 822880"/>
                <a:gd name="csX7" fmla="*/ 0 w 3291520"/>
                <a:gd name="csY7" fmla="*/ 740592 h 822880"/>
                <a:gd name="csX8" fmla="*/ 0 w 3291520"/>
                <a:gd name="csY8" fmla="*/ 82288 h 8228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291520" h="822880">
                  <a:moveTo>
                    <a:pt x="0" y="82288"/>
                  </a:moveTo>
                  <a:cubicBezTo>
                    <a:pt x="0" y="36842"/>
                    <a:pt x="36842" y="0"/>
                    <a:pt x="82288" y="0"/>
                  </a:cubicBezTo>
                  <a:lnTo>
                    <a:pt x="3209232" y="0"/>
                  </a:lnTo>
                  <a:cubicBezTo>
                    <a:pt x="3254678" y="0"/>
                    <a:pt x="3291520" y="36842"/>
                    <a:pt x="3291520" y="82288"/>
                  </a:cubicBezTo>
                  <a:lnTo>
                    <a:pt x="3291520" y="740592"/>
                  </a:lnTo>
                  <a:cubicBezTo>
                    <a:pt x="3291520" y="786038"/>
                    <a:pt x="3254678" y="822880"/>
                    <a:pt x="3209232" y="822880"/>
                  </a:cubicBezTo>
                  <a:lnTo>
                    <a:pt x="82288" y="822880"/>
                  </a:lnTo>
                  <a:cubicBezTo>
                    <a:pt x="36842" y="822880"/>
                    <a:pt x="0" y="786038"/>
                    <a:pt x="0" y="740592"/>
                  </a:cubicBezTo>
                  <a:lnTo>
                    <a:pt x="0" y="82288"/>
                  </a:lnTo>
                  <a:close/>
                </a:path>
              </a:pathLst>
            </a:cu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0" tIns="41881" rIns="0" bIns="41881" numCol="1" spcCol="1270" anchor="ctr" anchorCtr="0">
              <a:noAutofit/>
            </a:bodyPr>
            <a:lstStyle/>
            <a:p>
              <a:pPr algn="ctr" defTabSz="622300">
                <a:spcBef>
                  <a:spcPts val="600"/>
                </a:spcBef>
              </a:pPr>
              <a:r>
                <a:rPr lang="en-US" sz="1600" b="1" dirty="0" err="1">
                  <a:latin typeface="Courier New" panose="02070309020205020404" pitchFamily="49" charset="0"/>
                  <a:cs typeface="Courier New" panose="02070309020205020404" pitchFamily="49" charset="0"/>
                </a:rPr>
                <a:t>care-sm:Sex</a:t>
              </a:r>
              <a:endParaRPr lang="en-NL" sz="1600" b="1" dirty="0">
                <a:latin typeface="Courier New" panose="02070309020205020404" pitchFamily="49" charset="0"/>
                <a:cs typeface="Courier New" panose="02070309020205020404" pitchFamily="49" charset="0"/>
              </a:endParaRPr>
            </a:p>
            <a:p>
              <a:pPr algn="ctr" defTabSz="622300">
                <a:spcBef>
                  <a:spcPts val="600"/>
                </a:spcBef>
              </a:pPr>
              <a:r>
                <a:rPr lang="en-US" sz="1600" dirty="0">
                  <a:latin typeface="Courier New" panose="02070309020205020404" pitchFamily="49" charset="0"/>
                  <a:cs typeface="Courier New" panose="02070309020205020404" pitchFamily="49" charset="0"/>
                </a:rPr>
                <a:t>“Biological sex”@</a:t>
              </a:r>
              <a:r>
                <a:rPr lang="en-US" sz="1600" dirty="0" err="1">
                  <a:latin typeface="Courier New" panose="02070309020205020404" pitchFamily="49" charset="0"/>
                  <a:cs typeface="Courier New" panose="02070309020205020404" pitchFamily="49" charset="0"/>
                </a:rPr>
                <a:t>en</a:t>
              </a:r>
              <a:endParaRPr lang="en-NL" sz="1600" dirty="0">
                <a:latin typeface="Courier New" panose="02070309020205020404" pitchFamily="49" charset="0"/>
                <a:cs typeface="Courier New" panose="02070309020205020404" pitchFamily="49" charset="0"/>
              </a:endParaRPr>
            </a:p>
          </p:txBody>
        </p:sp>
        <p:sp>
          <p:nvSpPr>
            <p:cNvPr id="20" name="Freeform: Shape 19">
              <a:extLst>
                <a:ext uri="{FF2B5EF4-FFF2-40B4-BE49-F238E27FC236}">
                  <a16:creationId xmlns:a16="http://schemas.microsoft.com/office/drawing/2014/main" id="{7216D57E-3BE3-44C3-4F24-54FC4540B99F}"/>
                </a:ext>
              </a:extLst>
            </p:cNvPr>
            <p:cNvSpPr/>
            <p:nvPr/>
          </p:nvSpPr>
          <p:spPr>
            <a:xfrm>
              <a:off x="888191" y="5031648"/>
              <a:ext cx="3291520" cy="822880"/>
            </a:xfrm>
            <a:custGeom>
              <a:avLst/>
              <a:gdLst>
                <a:gd name="csX0" fmla="*/ 0 w 3291520"/>
                <a:gd name="csY0" fmla="*/ 82288 h 822880"/>
                <a:gd name="csX1" fmla="*/ 82288 w 3291520"/>
                <a:gd name="csY1" fmla="*/ 0 h 822880"/>
                <a:gd name="csX2" fmla="*/ 3209232 w 3291520"/>
                <a:gd name="csY2" fmla="*/ 0 h 822880"/>
                <a:gd name="csX3" fmla="*/ 3291520 w 3291520"/>
                <a:gd name="csY3" fmla="*/ 82288 h 822880"/>
                <a:gd name="csX4" fmla="*/ 3291520 w 3291520"/>
                <a:gd name="csY4" fmla="*/ 740592 h 822880"/>
                <a:gd name="csX5" fmla="*/ 3209232 w 3291520"/>
                <a:gd name="csY5" fmla="*/ 822880 h 822880"/>
                <a:gd name="csX6" fmla="*/ 82288 w 3291520"/>
                <a:gd name="csY6" fmla="*/ 822880 h 822880"/>
                <a:gd name="csX7" fmla="*/ 0 w 3291520"/>
                <a:gd name="csY7" fmla="*/ 740592 h 822880"/>
                <a:gd name="csX8" fmla="*/ 0 w 3291520"/>
                <a:gd name="csY8" fmla="*/ 82288 h 8228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291520" h="822880">
                  <a:moveTo>
                    <a:pt x="0" y="82288"/>
                  </a:moveTo>
                  <a:cubicBezTo>
                    <a:pt x="0" y="36842"/>
                    <a:pt x="36842" y="0"/>
                    <a:pt x="82288" y="0"/>
                  </a:cubicBezTo>
                  <a:lnTo>
                    <a:pt x="3209232" y="0"/>
                  </a:lnTo>
                  <a:cubicBezTo>
                    <a:pt x="3254678" y="0"/>
                    <a:pt x="3291520" y="36842"/>
                    <a:pt x="3291520" y="82288"/>
                  </a:cubicBezTo>
                  <a:lnTo>
                    <a:pt x="3291520" y="740592"/>
                  </a:lnTo>
                  <a:cubicBezTo>
                    <a:pt x="3291520" y="786038"/>
                    <a:pt x="3254678" y="822880"/>
                    <a:pt x="3209232" y="822880"/>
                  </a:cubicBezTo>
                  <a:lnTo>
                    <a:pt x="82288" y="822880"/>
                  </a:lnTo>
                  <a:cubicBezTo>
                    <a:pt x="36842" y="822880"/>
                    <a:pt x="0" y="786038"/>
                    <a:pt x="0" y="740592"/>
                  </a:cubicBezTo>
                  <a:lnTo>
                    <a:pt x="0" y="82288"/>
                  </a:lnTo>
                  <a:close/>
                </a:path>
              </a:pathLst>
            </a:custGeom>
            <a:ln>
              <a:noFill/>
            </a:ln>
            <a:effectLst>
              <a:outerShdw blurRad="50800" dist="38100" dir="8100000" algn="tr" rotWithShape="0">
                <a:prstClr val="black">
                  <a:alpha val="40000"/>
                </a:prstClr>
              </a:outerShdw>
            </a:effectLst>
            <a:scene3d>
              <a:camera prst="orthographicFront">
                <a:rot lat="0" lon="0" rev="0"/>
              </a:camera>
              <a:lightRig rig="balanced" dir="t">
                <a:rot lat="0" lon="0" rev="8700000"/>
              </a:lightRig>
            </a:scene3d>
            <a:sp3d>
              <a:bevelT w="190500" h="38100"/>
            </a:sp3d>
          </p:spPr>
          <p:style>
            <a:lnRef idx="2">
              <a:schemeClr val="accent2">
                <a:shade val="15000"/>
              </a:schemeClr>
            </a:lnRef>
            <a:fillRef idx="1">
              <a:schemeClr val="accent2"/>
            </a:fillRef>
            <a:effectRef idx="0">
              <a:schemeClr val="accent2"/>
            </a:effectRef>
            <a:fontRef idx="minor">
              <a:schemeClr val="lt1"/>
            </a:fontRef>
          </p:style>
          <p:txBody>
            <a:bodyPr spcFirstLastPara="0" vert="horz" wrap="square" lIns="46961" tIns="46961" rIns="46961" bIns="46961" numCol="1" spcCol="1270" anchor="ctr" anchorCtr="0">
              <a:noAutofit/>
            </a:bodyPr>
            <a:lstStyle/>
            <a:p>
              <a:pPr marL="0" lvl="0" indent="0" algn="ctr" defTabSz="800100">
                <a:lnSpc>
                  <a:spcPct val="90000"/>
                </a:lnSpc>
                <a:spcBef>
                  <a:spcPts val="600"/>
                </a:spcBef>
                <a:buNone/>
              </a:pPr>
              <a:r>
                <a:rPr lang="en-US" sz="1600" b="1" kern="1200" dirty="0">
                  <a:latin typeface="Courier New" panose="02070309020205020404" pitchFamily="49" charset="0"/>
                  <a:cs typeface="Courier New" panose="02070309020205020404" pitchFamily="49" charset="0"/>
                </a:rPr>
                <a:t>HRIO’s Sex</a:t>
              </a:r>
              <a:endParaRPr lang="en-NL" sz="1600" b="1" kern="1200" dirty="0">
                <a:latin typeface="Courier New" panose="02070309020205020404" pitchFamily="49" charset="0"/>
                <a:cs typeface="Courier New" panose="02070309020205020404" pitchFamily="49" charset="0"/>
              </a:endParaRPr>
            </a:p>
          </p:txBody>
        </p:sp>
        <p:sp>
          <p:nvSpPr>
            <p:cNvPr id="19" name="Arrow: Right 18">
              <a:extLst>
                <a:ext uri="{FF2B5EF4-FFF2-40B4-BE49-F238E27FC236}">
                  <a16:creationId xmlns:a16="http://schemas.microsoft.com/office/drawing/2014/main" id="{399CBB2C-29D0-28D1-3F2C-8C84D2D66FC4}"/>
                </a:ext>
              </a:extLst>
            </p:cNvPr>
            <p:cNvSpPr/>
            <p:nvPr/>
          </p:nvSpPr>
          <p:spPr>
            <a:xfrm rot="5400000">
              <a:off x="2353951" y="4736515"/>
              <a:ext cx="360000" cy="432000"/>
            </a:xfrm>
            <a:prstGeom prst="rightArrow">
              <a:avLst>
                <a:gd name="adj1" fmla="val 66700"/>
                <a:gd name="adj2" fmla="val 50000"/>
              </a:avLst>
            </a:prstGeom>
            <a:solidFill>
              <a:schemeClr val="accent5">
                <a:lumMod val="75000"/>
              </a:schemeClr>
            </a:solidFill>
          </p:spPr>
          <p:style>
            <a:lnRef idx="0">
              <a:schemeClr val="accent5">
                <a:tint val="60000"/>
                <a:hueOff val="0"/>
                <a:satOff val="0"/>
                <a:lumOff val="0"/>
                <a:alphaOff val="0"/>
              </a:schemeClr>
            </a:lnRef>
            <a:fillRef idx="3">
              <a:schemeClr val="accent5">
                <a:tint val="60000"/>
                <a:hueOff val="0"/>
                <a:satOff val="0"/>
                <a:lumOff val="0"/>
                <a:alphaOff val="0"/>
              </a:schemeClr>
            </a:fillRef>
            <a:effectRef idx="2">
              <a:schemeClr val="accent5">
                <a:tint val="60000"/>
                <a:hueOff val="0"/>
                <a:satOff val="0"/>
                <a:lumOff val="0"/>
                <a:alphaOff val="0"/>
              </a:schemeClr>
            </a:effectRef>
            <a:fontRef idx="minor">
              <a:schemeClr val="lt1"/>
            </a:fontRef>
          </p:style>
          <p:txBody>
            <a:bodyPr/>
            <a:lstStyle/>
            <a:p>
              <a:endParaRPr lang="en-NL"/>
            </a:p>
          </p:txBody>
        </p:sp>
      </p:grpSp>
      <p:grpSp>
        <p:nvGrpSpPr>
          <p:cNvPr id="9" name="Group 8">
            <a:extLst>
              <a:ext uri="{FF2B5EF4-FFF2-40B4-BE49-F238E27FC236}">
                <a16:creationId xmlns:a16="http://schemas.microsoft.com/office/drawing/2014/main" id="{20E439BB-B96F-4D9D-1358-A257A5E0F2D5}"/>
              </a:ext>
            </a:extLst>
          </p:cNvPr>
          <p:cNvGrpSpPr/>
          <p:nvPr/>
        </p:nvGrpSpPr>
        <p:grpSpPr>
          <a:xfrm>
            <a:off x="4456374" y="4016010"/>
            <a:ext cx="3291520" cy="1838518"/>
            <a:chOff x="4450023" y="4016010"/>
            <a:chExt cx="3291520" cy="1838518"/>
          </a:xfrm>
        </p:grpSpPr>
        <p:sp>
          <p:nvSpPr>
            <p:cNvPr id="21" name="Freeform: Shape 20">
              <a:extLst>
                <a:ext uri="{FF2B5EF4-FFF2-40B4-BE49-F238E27FC236}">
                  <a16:creationId xmlns:a16="http://schemas.microsoft.com/office/drawing/2014/main" id="{C446BDDC-F3C0-F811-5E90-B2B98F839891}"/>
                </a:ext>
              </a:extLst>
            </p:cNvPr>
            <p:cNvSpPr/>
            <p:nvPr/>
          </p:nvSpPr>
          <p:spPr>
            <a:xfrm>
              <a:off x="4450023" y="4016010"/>
              <a:ext cx="3291520" cy="822880"/>
            </a:xfrm>
            <a:custGeom>
              <a:avLst/>
              <a:gdLst>
                <a:gd name="csX0" fmla="*/ 0 w 3291520"/>
                <a:gd name="csY0" fmla="*/ 82288 h 822880"/>
                <a:gd name="csX1" fmla="*/ 82288 w 3291520"/>
                <a:gd name="csY1" fmla="*/ 0 h 822880"/>
                <a:gd name="csX2" fmla="*/ 3209232 w 3291520"/>
                <a:gd name="csY2" fmla="*/ 0 h 822880"/>
                <a:gd name="csX3" fmla="*/ 3291520 w 3291520"/>
                <a:gd name="csY3" fmla="*/ 82288 h 822880"/>
                <a:gd name="csX4" fmla="*/ 3291520 w 3291520"/>
                <a:gd name="csY4" fmla="*/ 740592 h 822880"/>
                <a:gd name="csX5" fmla="*/ 3209232 w 3291520"/>
                <a:gd name="csY5" fmla="*/ 822880 h 822880"/>
                <a:gd name="csX6" fmla="*/ 82288 w 3291520"/>
                <a:gd name="csY6" fmla="*/ 822880 h 822880"/>
                <a:gd name="csX7" fmla="*/ 0 w 3291520"/>
                <a:gd name="csY7" fmla="*/ 740592 h 822880"/>
                <a:gd name="csX8" fmla="*/ 0 w 3291520"/>
                <a:gd name="csY8" fmla="*/ 82288 h 8228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291520" h="822880">
                  <a:moveTo>
                    <a:pt x="0" y="82288"/>
                  </a:moveTo>
                  <a:cubicBezTo>
                    <a:pt x="0" y="36842"/>
                    <a:pt x="36842" y="0"/>
                    <a:pt x="82288" y="0"/>
                  </a:cubicBezTo>
                  <a:lnTo>
                    <a:pt x="3209232" y="0"/>
                  </a:lnTo>
                  <a:cubicBezTo>
                    <a:pt x="3254678" y="0"/>
                    <a:pt x="3291520" y="36842"/>
                    <a:pt x="3291520" y="82288"/>
                  </a:cubicBezTo>
                  <a:lnTo>
                    <a:pt x="3291520" y="740592"/>
                  </a:lnTo>
                  <a:cubicBezTo>
                    <a:pt x="3291520" y="786038"/>
                    <a:pt x="3254678" y="822880"/>
                    <a:pt x="3209232" y="822880"/>
                  </a:cubicBezTo>
                  <a:lnTo>
                    <a:pt x="82288" y="822880"/>
                  </a:lnTo>
                  <a:cubicBezTo>
                    <a:pt x="36842" y="822880"/>
                    <a:pt x="0" y="786038"/>
                    <a:pt x="0" y="740592"/>
                  </a:cubicBezTo>
                  <a:lnTo>
                    <a:pt x="0" y="82288"/>
                  </a:lnTo>
                  <a:close/>
                </a:path>
              </a:pathLst>
            </a:cu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0" tIns="41881" rIns="0" bIns="41881" numCol="1" spcCol="1270" anchor="ctr" anchorCtr="0">
              <a:noAutofit/>
            </a:bodyPr>
            <a:lstStyle/>
            <a:p>
              <a:pPr algn="ctr" defTabSz="622300">
                <a:spcBef>
                  <a:spcPts val="600"/>
                </a:spcBef>
              </a:pPr>
              <a:r>
                <a:rPr lang="en-US" sz="1600" b="1" dirty="0" err="1">
                  <a:latin typeface="Courier New" panose="02070309020205020404" pitchFamily="49" charset="0"/>
                  <a:cs typeface="Courier New" panose="02070309020205020404" pitchFamily="49" charset="0"/>
                </a:rPr>
                <a:t>hri-openehr:legal-gender</a:t>
              </a:r>
              <a:endParaRPr lang="en-NL" sz="1600" b="1" dirty="0">
                <a:latin typeface="Courier New" panose="02070309020205020404" pitchFamily="49" charset="0"/>
                <a:cs typeface="Courier New" panose="02070309020205020404" pitchFamily="49" charset="0"/>
              </a:endParaRPr>
            </a:p>
            <a:p>
              <a:pPr algn="ctr" defTabSz="622300">
                <a:spcBef>
                  <a:spcPts val="600"/>
                </a:spcBef>
              </a:pPr>
              <a:r>
                <a:rPr lang="en-US" sz="1600" dirty="0">
                  <a:latin typeface="Courier New" panose="02070309020205020404" pitchFamily="49" charset="0"/>
                  <a:cs typeface="Courier New" panose="02070309020205020404" pitchFamily="49" charset="0"/>
                </a:rPr>
                <a:t>“Legal gender”@</a:t>
              </a:r>
              <a:r>
                <a:rPr lang="en-US" sz="1600" dirty="0" err="1">
                  <a:latin typeface="Courier New" panose="02070309020205020404" pitchFamily="49" charset="0"/>
                  <a:cs typeface="Courier New" panose="02070309020205020404" pitchFamily="49" charset="0"/>
                </a:rPr>
                <a:t>en</a:t>
              </a:r>
              <a:endParaRPr lang="en-NL" sz="1600" dirty="0">
                <a:latin typeface="Courier New" panose="02070309020205020404" pitchFamily="49" charset="0"/>
                <a:cs typeface="Courier New" panose="02070309020205020404" pitchFamily="49" charset="0"/>
              </a:endParaRPr>
            </a:p>
          </p:txBody>
        </p:sp>
        <p:sp>
          <p:nvSpPr>
            <p:cNvPr id="23" name="Freeform: Shape 22">
              <a:extLst>
                <a:ext uri="{FF2B5EF4-FFF2-40B4-BE49-F238E27FC236}">
                  <a16:creationId xmlns:a16="http://schemas.microsoft.com/office/drawing/2014/main" id="{1B5243F9-3C79-26EB-5ACC-8DD536A33D87}"/>
                </a:ext>
              </a:extLst>
            </p:cNvPr>
            <p:cNvSpPr/>
            <p:nvPr/>
          </p:nvSpPr>
          <p:spPr>
            <a:xfrm>
              <a:off x="4450023" y="5031648"/>
              <a:ext cx="3291520" cy="822880"/>
            </a:xfrm>
            <a:custGeom>
              <a:avLst/>
              <a:gdLst>
                <a:gd name="csX0" fmla="*/ 0 w 3291520"/>
                <a:gd name="csY0" fmla="*/ 82288 h 822880"/>
                <a:gd name="csX1" fmla="*/ 82288 w 3291520"/>
                <a:gd name="csY1" fmla="*/ 0 h 822880"/>
                <a:gd name="csX2" fmla="*/ 3209232 w 3291520"/>
                <a:gd name="csY2" fmla="*/ 0 h 822880"/>
                <a:gd name="csX3" fmla="*/ 3291520 w 3291520"/>
                <a:gd name="csY3" fmla="*/ 82288 h 822880"/>
                <a:gd name="csX4" fmla="*/ 3291520 w 3291520"/>
                <a:gd name="csY4" fmla="*/ 740592 h 822880"/>
                <a:gd name="csX5" fmla="*/ 3209232 w 3291520"/>
                <a:gd name="csY5" fmla="*/ 822880 h 822880"/>
                <a:gd name="csX6" fmla="*/ 82288 w 3291520"/>
                <a:gd name="csY6" fmla="*/ 822880 h 822880"/>
                <a:gd name="csX7" fmla="*/ 0 w 3291520"/>
                <a:gd name="csY7" fmla="*/ 740592 h 822880"/>
                <a:gd name="csX8" fmla="*/ 0 w 3291520"/>
                <a:gd name="csY8" fmla="*/ 82288 h 8228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291520" h="822880">
                  <a:moveTo>
                    <a:pt x="0" y="82288"/>
                  </a:moveTo>
                  <a:cubicBezTo>
                    <a:pt x="0" y="36842"/>
                    <a:pt x="36842" y="0"/>
                    <a:pt x="82288" y="0"/>
                  </a:cubicBezTo>
                  <a:lnTo>
                    <a:pt x="3209232" y="0"/>
                  </a:lnTo>
                  <a:cubicBezTo>
                    <a:pt x="3254678" y="0"/>
                    <a:pt x="3291520" y="36842"/>
                    <a:pt x="3291520" y="82288"/>
                  </a:cubicBezTo>
                  <a:lnTo>
                    <a:pt x="3291520" y="740592"/>
                  </a:lnTo>
                  <a:cubicBezTo>
                    <a:pt x="3291520" y="786038"/>
                    <a:pt x="3254678" y="822880"/>
                    <a:pt x="3209232" y="822880"/>
                  </a:cubicBezTo>
                  <a:lnTo>
                    <a:pt x="82288" y="822880"/>
                  </a:lnTo>
                  <a:cubicBezTo>
                    <a:pt x="36842" y="822880"/>
                    <a:pt x="0" y="786038"/>
                    <a:pt x="0" y="740592"/>
                  </a:cubicBezTo>
                  <a:lnTo>
                    <a:pt x="0" y="82288"/>
                  </a:lnTo>
                  <a:close/>
                </a:path>
              </a:pathLst>
            </a:cu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2">
                <a:shade val="15000"/>
              </a:schemeClr>
            </a:lnRef>
            <a:fillRef idx="1">
              <a:schemeClr val="accent2"/>
            </a:fillRef>
            <a:effectRef idx="0">
              <a:schemeClr val="accent2"/>
            </a:effectRef>
            <a:fontRef idx="minor">
              <a:schemeClr val="lt1"/>
            </a:fontRef>
          </p:style>
          <p:txBody>
            <a:bodyPr spcFirstLastPara="0" vert="horz" wrap="square" lIns="46961" tIns="46961" rIns="46961" bIns="46961" numCol="1" spcCol="1270" anchor="ctr" anchorCtr="0">
              <a:noAutofit/>
            </a:bodyPr>
            <a:lstStyle/>
            <a:p>
              <a:pPr marL="0" lvl="0" indent="0" algn="ctr" defTabSz="800100">
                <a:lnSpc>
                  <a:spcPct val="90000"/>
                </a:lnSpc>
                <a:spcBef>
                  <a:spcPts val="0"/>
                </a:spcBef>
                <a:spcAft>
                  <a:spcPts val="600"/>
                </a:spcAft>
                <a:buNone/>
              </a:pPr>
              <a:r>
                <a:rPr lang="en-US" sz="1600" b="1" kern="1200" dirty="0">
                  <a:latin typeface="Courier New" panose="02070309020205020404" pitchFamily="49" charset="0"/>
                  <a:cs typeface="Courier New" panose="02070309020205020404" pitchFamily="49" charset="0"/>
                </a:rPr>
                <a:t>HRIO’s Legal Gender</a:t>
              </a:r>
              <a:endParaRPr lang="en-NL" sz="1600" b="1" kern="1200" dirty="0">
                <a:latin typeface="Courier New" panose="02070309020205020404" pitchFamily="49" charset="0"/>
                <a:cs typeface="Courier New" panose="02070309020205020404" pitchFamily="49" charset="0"/>
              </a:endParaRPr>
            </a:p>
          </p:txBody>
        </p:sp>
        <p:sp>
          <p:nvSpPr>
            <p:cNvPr id="22" name="Arrow: Right 21">
              <a:extLst>
                <a:ext uri="{FF2B5EF4-FFF2-40B4-BE49-F238E27FC236}">
                  <a16:creationId xmlns:a16="http://schemas.microsoft.com/office/drawing/2014/main" id="{C4A881DA-D55F-432A-C087-2841428580AB}"/>
                </a:ext>
              </a:extLst>
            </p:cNvPr>
            <p:cNvSpPr/>
            <p:nvPr/>
          </p:nvSpPr>
          <p:spPr>
            <a:xfrm rot="5400000">
              <a:off x="5930086" y="4736515"/>
              <a:ext cx="360000" cy="432000"/>
            </a:xfrm>
            <a:prstGeom prst="rightArrow">
              <a:avLst>
                <a:gd name="adj1" fmla="val 66700"/>
                <a:gd name="adj2" fmla="val 50000"/>
              </a:avLst>
            </a:prstGeom>
            <a:solidFill>
              <a:schemeClr val="accent5">
                <a:lumMod val="75000"/>
              </a:schemeClr>
            </a:solidFill>
          </p:spPr>
          <p:style>
            <a:lnRef idx="0">
              <a:schemeClr val="accent5">
                <a:tint val="60000"/>
                <a:hueOff val="0"/>
                <a:satOff val="0"/>
                <a:lumOff val="0"/>
                <a:alphaOff val="0"/>
              </a:schemeClr>
            </a:lnRef>
            <a:fillRef idx="3">
              <a:schemeClr val="accent5">
                <a:tint val="60000"/>
                <a:hueOff val="0"/>
                <a:satOff val="0"/>
                <a:lumOff val="0"/>
                <a:alphaOff val="0"/>
              </a:schemeClr>
            </a:fillRef>
            <a:effectRef idx="2">
              <a:schemeClr val="accent5">
                <a:tint val="60000"/>
                <a:hueOff val="0"/>
                <a:satOff val="0"/>
                <a:lumOff val="0"/>
                <a:alphaOff val="0"/>
              </a:schemeClr>
            </a:effectRef>
            <a:fontRef idx="minor">
              <a:schemeClr val="lt1"/>
            </a:fontRef>
          </p:style>
          <p:txBody>
            <a:bodyPr/>
            <a:lstStyle/>
            <a:p>
              <a:endParaRPr lang="en-NL"/>
            </a:p>
          </p:txBody>
        </p:sp>
      </p:grpSp>
      <p:grpSp>
        <p:nvGrpSpPr>
          <p:cNvPr id="10" name="Group 9">
            <a:extLst>
              <a:ext uri="{FF2B5EF4-FFF2-40B4-BE49-F238E27FC236}">
                <a16:creationId xmlns:a16="http://schemas.microsoft.com/office/drawing/2014/main" id="{BAD5496C-B1EE-A72F-BDF3-74B04BE79E33}"/>
              </a:ext>
            </a:extLst>
          </p:cNvPr>
          <p:cNvGrpSpPr/>
          <p:nvPr/>
        </p:nvGrpSpPr>
        <p:grpSpPr>
          <a:xfrm>
            <a:off x="8024556" y="4016010"/>
            <a:ext cx="3291520" cy="1838518"/>
            <a:chOff x="8024556" y="4016010"/>
            <a:chExt cx="3291520" cy="1838518"/>
          </a:xfrm>
        </p:grpSpPr>
        <p:sp>
          <p:nvSpPr>
            <p:cNvPr id="24" name="Freeform: Shape 23">
              <a:extLst>
                <a:ext uri="{FF2B5EF4-FFF2-40B4-BE49-F238E27FC236}">
                  <a16:creationId xmlns:a16="http://schemas.microsoft.com/office/drawing/2014/main" id="{4C5DCE7D-9E3A-26D3-8859-426BF5A97925}"/>
                </a:ext>
              </a:extLst>
            </p:cNvPr>
            <p:cNvSpPr/>
            <p:nvPr/>
          </p:nvSpPr>
          <p:spPr>
            <a:xfrm>
              <a:off x="8024556" y="4016010"/>
              <a:ext cx="3291520" cy="822880"/>
            </a:xfrm>
            <a:custGeom>
              <a:avLst/>
              <a:gdLst>
                <a:gd name="csX0" fmla="*/ 0 w 3291520"/>
                <a:gd name="csY0" fmla="*/ 82288 h 822880"/>
                <a:gd name="csX1" fmla="*/ 82288 w 3291520"/>
                <a:gd name="csY1" fmla="*/ 0 h 822880"/>
                <a:gd name="csX2" fmla="*/ 3209232 w 3291520"/>
                <a:gd name="csY2" fmla="*/ 0 h 822880"/>
                <a:gd name="csX3" fmla="*/ 3291520 w 3291520"/>
                <a:gd name="csY3" fmla="*/ 82288 h 822880"/>
                <a:gd name="csX4" fmla="*/ 3291520 w 3291520"/>
                <a:gd name="csY4" fmla="*/ 740592 h 822880"/>
                <a:gd name="csX5" fmla="*/ 3209232 w 3291520"/>
                <a:gd name="csY5" fmla="*/ 822880 h 822880"/>
                <a:gd name="csX6" fmla="*/ 82288 w 3291520"/>
                <a:gd name="csY6" fmla="*/ 822880 h 822880"/>
                <a:gd name="csX7" fmla="*/ 0 w 3291520"/>
                <a:gd name="csY7" fmla="*/ 740592 h 822880"/>
                <a:gd name="csX8" fmla="*/ 0 w 3291520"/>
                <a:gd name="csY8" fmla="*/ 82288 h 8228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291520" h="822880">
                  <a:moveTo>
                    <a:pt x="0" y="82288"/>
                  </a:moveTo>
                  <a:cubicBezTo>
                    <a:pt x="0" y="36842"/>
                    <a:pt x="36842" y="0"/>
                    <a:pt x="82288" y="0"/>
                  </a:cubicBezTo>
                  <a:lnTo>
                    <a:pt x="3209232" y="0"/>
                  </a:lnTo>
                  <a:cubicBezTo>
                    <a:pt x="3254678" y="0"/>
                    <a:pt x="3291520" y="36842"/>
                    <a:pt x="3291520" y="82288"/>
                  </a:cubicBezTo>
                  <a:lnTo>
                    <a:pt x="3291520" y="740592"/>
                  </a:lnTo>
                  <a:cubicBezTo>
                    <a:pt x="3291520" y="786038"/>
                    <a:pt x="3254678" y="822880"/>
                    <a:pt x="3209232" y="822880"/>
                  </a:cubicBezTo>
                  <a:lnTo>
                    <a:pt x="82288" y="822880"/>
                  </a:lnTo>
                  <a:cubicBezTo>
                    <a:pt x="36842" y="822880"/>
                    <a:pt x="0" y="786038"/>
                    <a:pt x="0" y="740592"/>
                  </a:cubicBezTo>
                  <a:lnTo>
                    <a:pt x="0" y="82288"/>
                  </a:lnTo>
                  <a:close/>
                </a:path>
              </a:pathLst>
            </a:cu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0" tIns="41881" rIns="0" bIns="41881" numCol="1" spcCol="1270" anchor="ctr" anchorCtr="0">
              <a:noAutofit/>
            </a:bodyPr>
            <a:lstStyle/>
            <a:p>
              <a:pPr lvl="0" algn="ctr" defTabSz="622300">
                <a:spcBef>
                  <a:spcPts val="600"/>
                </a:spcBef>
              </a:pPr>
              <a:r>
                <a:rPr lang="en-US" sz="1600" b="1" dirty="0">
                  <a:latin typeface="Courier New" panose="02070309020205020404" pitchFamily="49" charset="0"/>
                  <a:cs typeface="Courier New" panose="02070309020205020404" pitchFamily="49" charset="0"/>
                </a:rPr>
                <a:t>loinc:107454-1</a:t>
              </a:r>
            </a:p>
            <a:p>
              <a:pPr lvl="0" algn="ctr" defTabSz="622300">
                <a:spcBef>
                  <a:spcPts val="600"/>
                </a:spcBef>
              </a:pPr>
              <a:r>
                <a:rPr lang="en-US" sz="1600" dirty="0">
                  <a:latin typeface="Courier New" panose="02070309020205020404" pitchFamily="49" charset="0"/>
                  <a:cs typeface="Courier New" panose="02070309020205020404" pitchFamily="49" charset="0"/>
                </a:rPr>
                <a:t>“Administrative gender”@</a:t>
              </a:r>
              <a:r>
                <a:rPr lang="en-US" sz="1600" dirty="0" err="1">
                  <a:latin typeface="Courier New" panose="02070309020205020404" pitchFamily="49" charset="0"/>
                  <a:cs typeface="Courier New" panose="02070309020205020404" pitchFamily="49" charset="0"/>
                </a:rPr>
                <a:t>en</a:t>
              </a:r>
              <a:endParaRPr lang="en-US" sz="1600" dirty="0">
                <a:latin typeface="Courier New" panose="02070309020205020404" pitchFamily="49" charset="0"/>
                <a:cs typeface="Courier New" panose="02070309020205020404" pitchFamily="49" charset="0"/>
              </a:endParaRPr>
            </a:p>
          </p:txBody>
        </p:sp>
        <p:sp>
          <p:nvSpPr>
            <p:cNvPr id="26" name="Freeform: Shape 25">
              <a:extLst>
                <a:ext uri="{FF2B5EF4-FFF2-40B4-BE49-F238E27FC236}">
                  <a16:creationId xmlns:a16="http://schemas.microsoft.com/office/drawing/2014/main" id="{0320FB1C-10D6-354F-AD29-D596FBA8E345}"/>
                </a:ext>
              </a:extLst>
            </p:cNvPr>
            <p:cNvSpPr/>
            <p:nvPr/>
          </p:nvSpPr>
          <p:spPr>
            <a:xfrm>
              <a:off x="8024556" y="5031648"/>
              <a:ext cx="3291520" cy="822880"/>
            </a:xfrm>
            <a:custGeom>
              <a:avLst/>
              <a:gdLst>
                <a:gd name="csX0" fmla="*/ 0 w 3291520"/>
                <a:gd name="csY0" fmla="*/ 82288 h 822880"/>
                <a:gd name="csX1" fmla="*/ 82288 w 3291520"/>
                <a:gd name="csY1" fmla="*/ 0 h 822880"/>
                <a:gd name="csX2" fmla="*/ 3209232 w 3291520"/>
                <a:gd name="csY2" fmla="*/ 0 h 822880"/>
                <a:gd name="csX3" fmla="*/ 3291520 w 3291520"/>
                <a:gd name="csY3" fmla="*/ 82288 h 822880"/>
                <a:gd name="csX4" fmla="*/ 3291520 w 3291520"/>
                <a:gd name="csY4" fmla="*/ 740592 h 822880"/>
                <a:gd name="csX5" fmla="*/ 3209232 w 3291520"/>
                <a:gd name="csY5" fmla="*/ 822880 h 822880"/>
                <a:gd name="csX6" fmla="*/ 82288 w 3291520"/>
                <a:gd name="csY6" fmla="*/ 822880 h 822880"/>
                <a:gd name="csX7" fmla="*/ 0 w 3291520"/>
                <a:gd name="csY7" fmla="*/ 740592 h 822880"/>
                <a:gd name="csX8" fmla="*/ 0 w 3291520"/>
                <a:gd name="csY8" fmla="*/ 82288 h 8228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291520" h="822880">
                  <a:moveTo>
                    <a:pt x="0" y="82288"/>
                  </a:moveTo>
                  <a:cubicBezTo>
                    <a:pt x="0" y="36842"/>
                    <a:pt x="36842" y="0"/>
                    <a:pt x="82288" y="0"/>
                  </a:cubicBezTo>
                  <a:lnTo>
                    <a:pt x="3209232" y="0"/>
                  </a:lnTo>
                  <a:cubicBezTo>
                    <a:pt x="3254678" y="0"/>
                    <a:pt x="3291520" y="36842"/>
                    <a:pt x="3291520" y="82288"/>
                  </a:cubicBezTo>
                  <a:lnTo>
                    <a:pt x="3291520" y="740592"/>
                  </a:lnTo>
                  <a:cubicBezTo>
                    <a:pt x="3291520" y="786038"/>
                    <a:pt x="3254678" y="822880"/>
                    <a:pt x="3209232" y="822880"/>
                  </a:cubicBezTo>
                  <a:lnTo>
                    <a:pt x="82288" y="822880"/>
                  </a:lnTo>
                  <a:cubicBezTo>
                    <a:pt x="36842" y="822880"/>
                    <a:pt x="0" y="786038"/>
                    <a:pt x="0" y="740592"/>
                  </a:cubicBezTo>
                  <a:lnTo>
                    <a:pt x="0" y="82288"/>
                  </a:lnTo>
                  <a:close/>
                </a:path>
              </a:pathLst>
            </a:cu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2">
                <a:shade val="15000"/>
              </a:schemeClr>
            </a:lnRef>
            <a:fillRef idx="1">
              <a:schemeClr val="accent2"/>
            </a:fillRef>
            <a:effectRef idx="0">
              <a:schemeClr val="accent2"/>
            </a:effectRef>
            <a:fontRef idx="minor">
              <a:schemeClr val="lt1"/>
            </a:fontRef>
          </p:style>
          <p:txBody>
            <a:bodyPr spcFirstLastPara="0" vert="horz" wrap="square" lIns="46961" tIns="46961" rIns="46961" bIns="46961" numCol="1" spcCol="1270" anchor="ctr" anchorCtr="0">
              <a:noAutofit/>
            </a:bodyPr>
            <a:lstStyle/>
            <a:p>
              <a:pPr marL="0" lvl="0" indent="0" algn="ctr" defTabSz="800100">
                <a:lnSpc>
                  <a:spcPct val="90000"/>
                </a:lnSpc>
                <a:spcBef>
                  <a:spcPts val="0"/>
                </a:spcBef>
                <a:spcAft>
                  <a:spcPts val="600"/>
                </a:spcAft>
                <a:buNone/>
              </a:pPr>
              <a:r>
                <a:rPr lang="en-US" sz="1600" b="1" kern="1200" dirty="0">
                  <a:latin typeface="Courier New" panose="02070309020205020404" pitchFamily="49" charset="0"/>
                  <a:cs typeface="Courier New" panose="02070309020205020404" pitchFamily="49" charset="0"/>
                </a:rPr>
                <a:t>HRIO’s Administrative Gender</a:t>
              </a:r>
              <a:endParaRPr lang="en-NL" sz="1600" b="1" kern="1200" dirty="0">
                <a:latin typeface="Courier New" panose="02070309020205020404" pitchFamily="49" charset="0"/>
                <a:cs typeface="Courier New" panose="02070309020205020404" pitchFamily="49" charset="0"/>
              </a:endParaRPr>
            </a:p>
          </p:txBody>
        </p:sp>
        <p:sp>
          <p:nvSpPr>
            <p:cNvPr id="25" name="Arrow: Right 24">
              <a:extLst>
                <a:ext uri="{FF2B5EF4-FFF2-40B4-BE49-F238E27FC236}">
                  <a16:creationId xmlns:a16="http://schemas.microsoft.com/office/drawing/2014/main" id="{226D901C-0DDD-18D2-B0A8-2326CD33E155}"/>
                </a:ext>
              </a:extLst>
            </p:cNvPr>
            <p:cNvSpPr/>
            <p:nvPr/>
          </p:nvSpPr>
          <p:spPr>
            <a:xfrm rot="5400000">
              <a:off x="9518924" y="4736515"/>
              <a:ext cx="360000" cy="432000"/>
            </a:xfrm>
            <a:prstGeom prst="rightArrow">
              <a:avLst>
                <a:gd name="adj1" fmla="val 66700"/>
                <a:gd name="adj2" fmla="val 50000"/>
              </a:avLst>
            </a:prstGeom>
            <a:solidFill>
              <a:schemeClr val="accent5">
                <a:lumMod val="75000"/>
              </a:schemeClr>
            </a:solidFill>
          </p:spPr>
          <p:style>
            <a:lnRef idx="0">
              <a:schemeClr val="accent5">
                <a:tint val="60000"/>
                <a:hueOff val="0"/>
                <a:satOff val="0"/>
                <a:lumOff val="0"/>
                <a:alphaOff val="0"/>
              </a:schemeClr>
            </a:lnRef>
            <a:fillRef idx="3">
              <a:schemeClr val="accent5">
                <a:tint val="60000"/>
                <a:hueOff val="0"/>
                <a:satOff val="0"/>
                <a:lumOff val="0"/>
                <a:alphaOff val="0"/>
              </a:schemeClr>
            </a:fillRef>
            <a:effectRef idx="2">
              <a:schemeClr val="accent5">
                <a:tint val="60000"/>
                <a:hueOff val="0"/>
                <a:satOff val="0"/>
                <a:lumOff val="0"/>
                <a:alphaOff val="0"/>
              </a:schemeClr>
            </a:effectRef>
            <a:fontRef idx="minor">
              <a:schemeClr val="lt1"/>
            </a:fontRef>
          </p:style>
          <p:txBody>
            <a:bodyPr/>
            <a:lstStyle/>
            <a:p>
              <a:endParaRPr lang="en-NL"/>
            </a:p>
          </p:txBody>
        </p:sp>
      </p:grpSp>
      <p:sp>
        <p:nvSpPr>
          <p:cNvPr id="5" name="TextBox 4">
            <a:extLst>
              <a:ext uri="{FF2B5EF4-FFF2-40B4-BE49-F238E27FC236}">
                <a16:creationId xmlns:a16="http://schemas.microsoft.com/office/drawing/2014/main" id="{512B64B0-3D4D-BCC7-92C8-173B320D7758}"/>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a:t>
            </a:r>
            <a:r>
              <a:rPr lang="en-US" sz="1200" b="1" cap="small" spc="100" dirty="0">
                <a:solidFill>
                  <a:srgbClr val="000000">
                    <a:lumMod val="95000"/>
                    <a:lumOff val="5000"/>
                  </a:srgbClr>
                </a:solidFill>
                <a:latin typeface="Aptos" panose="020B0004020202020204" pitchFamily="34" charset="0"/>
                <a:ea typeface="+mj-ea"/>
                <a:cs typeface="+mj-cs"/>
              </a:rPr>
              <a:t>1</a:t>
            </a:r>
            <a:endParaRPr lang="en-NL" sz="1000" b="1" dirty="0"/>
          </a:p>
        </p:txBody>
      </p:sp>
    </p:spTree>
    <p:extLst>
      <p:ext uri="{BB962C8B-B14F-4D97-AF65-F5344CB8AC3E}">
        <p14:creationId xmlns:p14="http://schemas.microsoft.com/office/powerpoint/2010/main" val="4732731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31EFCC-225A-A07D-5F9E-307C838D810D}"/>
            </a:ext>
          </a:extLst>
        </p:cNvPr>
        <p:cNvGrpSpPr/>
        <p:nvPr/>
      </p:nvGrpSpPr>
      <p:grpSpPr>
        <a:xfrm>
          <a:off x="0" y="0"/>
          <a:ext cx="0" cy="0"/>
          <a:chOff x="0" y="0"/>
          <a:chExt cx="0" cy="0"/>
        </a:xfrm>
      </p:grpSpPr>
      <p:graphicFrame>
        <p:nvGraphicFramePr>
          <p:cNvPr id="57" name="Content Placeholder 4">
            <a:extLst>
              <a:ext uri="{FF2B5EF4-FFF2-40B4-BE49-F238E27FC236}">
                <a16:creationId xmlns:a16="http://schemas.microsoft.com/office/drawing/2014/main" id="{DF5E1460-AFF6-B0E6-CEC9-A75F9114814B}"/>
              </a:ext>
            </a:extLst>
          </p:cNvPr>
          <p:cNvGraphicFramePr>
            <a:graphicFrameLocks/>
          </p:cNvGraphicFramePr>
          <p:nvPr>
            <p:extLst>
              <p:ext uri="{D42A27DB-BD31-4B8C-83A1-F6EECF244321}">
                <p14:modId xmlns:p14="http://schemas.microsoft.com/office/powerpoint/2010/main" val="302257295"/>
              </p:ext>
            </p:extLst>
          </p:nvPr>
        </p:nvGraphicFramePr>
        <p:xfrm>
          <a:off x="8040280" y="3118199"/>
          <a:ext cx="2811677" cy="1278051"/>
        </p:xfrm>
        <a:graphic>
          <a:graphicData uri="http://schemas.openxmlformats.org/drawingml/2006/table">
            <a:tbl>
              <a:tblPr firstRow="1" bandRow="1">
                <a:effectLst>
                  <a:outerShdw blurRad="50800" dist="38100" dir="2700000" algn="tl" rotWithShape="0">
                    <a:prstClr val="black">
                      <a:alpha val="40000"/>
                    </a:prstClr>
                  </a:outerShdw>
                </a:effectLst>
                <a:tableStyleId>{21E4AEA4-8DFA-4A89-87EB-49C32662AFE0}</a:tableStyleId>
              </a:tblPr>
              <a:tblGrid>
                <a:gridCol w="360000">
                  <a:extLst>
                    <a:ext uri="{9D8B030D-6E8A-4147-A177-3AD203B41FA5}">
                      <a16:colId xmlns:a16="http://schemas.microsoft.com/office/drawing/2014/main" val="979315127"/>
                    </a:ext>
                  </a:extLst>
                </a:gridCol>
                <a:gridCol w="1731677">
                  <a:extLst>
                    <a:ext uri="{9D8B030D-6E8A-4147-A177-3AD203B41FA5}">
                      <a16:colId xmlns:a16="http://schemas.microsoft.com/office/drawing/2014/main" val="2075302567"/>
                    </a:ext>
                  </a:extLst>
                </a:gridCol>
                <a:gridCol w="360000">
                  <a:extLst>
                    <a:ext uri="{9D8B030D-6E8A-4147-A177-3AD203B41FA5}">
                      <a16:colId xmlns:a16="http://schemas.microsoft.com/office/drawing/2014/main" val="660631070"/>
                    </a:ext>
                  </a:extLst>
                </a:gridCol>
                <a:gridCol w="360000">
                  <a:extLst>
                    <a:ext uri="{9D8B030D-6E8A-4147-A177-3AD203B41FA5}">
                      <a16:colId xmlns:a16="http://schemas.microsoft.com/office/drawing/2014/main" val="1525013378"/>
                    </a:ext>
                  </a:extLst>
                </a:gridCol>
              </a:tblGrid>
              <a:tr h="367200">
                <a:tc>
                  <a:txBody>
                    <a:bodyPr/>
                    <a:lstStyle/>
                    <a:p>
                      <a:pPr algn="l"/>
                      <a:endParaRPr lang="en-NL" sz="1100" dirty="0"/>
                    </a:p>
                  </a:txBody>
                  <a:tcPr marL="72000" anchor="ctr"/>
                </a:tc>
                <a:tc>
                  <a:txBody>
                    <a:bodyPr/>
                    <a:lstStyle/>
                    <a:p>
                      <a:pPr algn="l"/>
                      <a:r>
                        <a:rPr lang="en-US" sz="900" dirty="0" err="1"/>
                        <a:t>hri-openehr:legal-gender</a:t>
                      </a:r>
                      <a:endParaRPr lang="en-US" sz="900" dirty="0"/>
                    </a:p>
                    <a:p>
                      <a:pPr algn="l"/>
                      <a:r>
                        <a:rPr lang="en-US" sz="900" dirty="0"/>
                        <a:t>("Legal gender"@</a:t>
                      </a:r>
                      <a:r>
                        <a:rPr lang="en-US" sz="900" dirty="0" err="1"/>
                        <a:t>en</a:t>
                      </a:r>
                      <a:r>
                        <a:rPr lang="en-US" sz="900" dirty="0"/>
                        <a:t>)</a:t>
                      </a:r>
                      <a:endParaRPr lang="en-US" sz="850" dirty="0"/>
                    </a:p>
                  </a:txBody>
                  <a:tcPr marL="72000" marR="18000" marT="0" marB="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3012902903"/>
                  </a:ext>
                </a:extLst>
              </a:tr>
              <a:tr h="306000">
                <a:tc>
                  <a:txBody>
                    <a:bodyPr/>
                    <a:lstStyle/>
                    <a:p>
                      <a:pPr algn="l"/>
                      <a:endParaRPr lang="en-NL" sz="1100" dirty="0"/>
                    </a:p>
                  </a:txBody>
                  <a:tcPr marL="72000" anchor="ctr"/>
                </a:tc>
                <a:tc>
                  <a:txBody>
                    <a:bodyPr/>
                    <a:lstStyle/>
                    <a:p>
                      <a:pPr algn="l"/>
                      <a:r>
                        <a:rPr lang="en-US" sz="1100" b="1" dirty="0"/>
                        <a:t>female</a:t>
                      </a:r>
                      <a:endParaRPr lang="en-NL" sz="1100" b="1" dirty="0"/>
                    </a:p>
                  </a:txBody>
                  <a:tcPr marL="7200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1249708150"/>
                  </a:ext>
                </a:extLst>
              </a:tr>
              <a:tr h="306000">
                <a:tc>
                  <a:txBody>
                    <a:bodyPr/>
                    <a:lstStyle/>
                    <a:p>
                      <a:pPr algn="l"/>
                      <a:endParaRPr lang="en-NL" sz="1100" dirty="0"/>
                    </a:p>
                  </a:txBody>
                  <a:tcPr marL="72000" anchor="ctr"/>
                </a:tc>
                <a:tc>
                  <a:txBody>
                    <a:bodyPr/>
                    <a:lstStyle/>
                    <a:p>
                      <a:pPr algn="l"/>
                      <a:r>
                        <a:rPr lang="en-US" sz="1100" b="1" dirty="0"/>
                        <a:t>male</a:t>
                      </a:r>
                      <a:endParaRPr lang="en-NL" sz="1100" b="1" dirty="0"/>
                    </a:p>
                  </a:txBody>
                  <a:tcPr marL="7200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3850974854"/>
                  </a:ext>
                </a:extLst>
              </a:tr>
              <a:tr h="298851">
                <a:tc>
                  <a:txBody>
                    <a:bodyPr/>
                    <a:lstStyle/>
                    <a:p>
                      <a:pPr algn="l"/>
                      <a:endParaRPr lang="en-NL" sz="1100" dirty="0"/>
                    </a:p>
                  </a:txBody>
                  <a:tcPr marL="72000" anchor="ctr"/>
                </a:tc>
                <a:tc>
                  <a:txBody>
                    <a:bodyPr/>
                    <a:lstStyle/>
                    <a:p>
                      <a:pPr algn="l"/>
                      <a:r>
                        <a:rPr lang="en-US" sz="1100" b="1" dirty="0"/>
                        <a:t>nonbinary</a:t>
                      </a:r>
                      <a:endParaRPr lang="en-NL" sz="1100" b="1" dirty="0"/>
                    </a:p>
                  </a:txBody>
                  <a:tcPr marL="7200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58" name="Rectangle: Rounded Corners 57">
            <a:extLst>
              <a:ext uri="{FF2B5EF4-FFF2-40B4-BE49-F238E27FC236}">
                <a16:creationId xmlns:a16="http://schemas.microsoft.com/office/drawing/2014/main" id="{340785FF-9467-0E30-1E57-7988A43BCCC6}"/>
              </a:ext>
            </a:extLst>
          </p:cNvPr>
          <p:cNvSpPr/>
          <p:nvPr/>
        </p:nvSpPr>
        <p:spPr>
          <a:xfrm>
            <a:off x="9742090" y="3764351"/>
            <a:ext cx="1642188" cy="710132"/>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NL"/>
          </a:p>
        </p:txBody>
      </p:sp>
      <p:graphicFrame>
        <p:nvGraphicFramePr>
          <p:cNvPr id="59" name="Content Placeholder 4">
            <a:extLst>
              <a:ext uri="{FF2B5EF4-FFF2-40B4-BE49-F238E27FC236}">
                <a16:creationId xmlns:a16="http://schemas.microsoft.com/office/drawing/2014/main" id="{B5FA0AE0-D4D0-B55D-F058-DACD6DB79A02}"/>
              </a:ext>
            </a:extLst>
          </p:cNvPr>
          <p:cNvGraphicFramePr>
            <a:graphicFrameLocks/>
          </p:cNvGraphicFramePr>
          <p:nvPr>
            <p:extLst>
              <p:ext uri="{D42A27DB-BD31-4B8C-83A1-F6EECF244321}">
                <p14:modId xmlns:p14="http://schemas.microsoft.com/office/powerpoint/2010/main" val="3331900790"/>
              </p:ext>
            </p:extLst>
          </p:nvPr>
        </p:nvGraphicFramePr>
        <p:xfrm>
          <a:off x="8040280" y="4538762"/>
          <a:ext cx="2811600" cy="1285200"/>
        </p:xfrm>
        <a:graphic>
          <a:graphicData uri="http://schemas.openxmlformats.org/drawingml/2006/table">
            <a:tbl>
              <a:tblPr firstRow="1" bandRow="1">
                <a:effectLst>
                  <a:outerShdw blurRad="50800" dist="38100" dir="2700000" algn="tl" rotWithShape="0">
                    <a:prstClr val="black">
                      <a:alpha val="40000"/>
                    </a:prstClr>
                  </a:outerShdw>
                </a:effectLst>
                <a:tableStyleId>{00A15C55-8517-42AA-B614-E9B94910E393}</a:tableStyleId>
              </a:tblPr>
              <a:tblGrid>
                <a:gridCol w="360000">
                  <a:extLst>
                    <a:ext uri="{9D8B030D-6E8A-4147-A177-3AD203B41FA5}">
                      <a16:colId xmlns:a16="http://schemas.microsoft.com/office/drawing/2014/main" val="979315127"/>
                    </a:ext>
                  </a:extLst>
                </a:gridCol>
                <a:gridCol w="1731600">
                  <a:extLst>
                    <a:ext uri="{9D8B030D-6E8A-4147-A177-3AD203B41FA5}">
                      <a16:colId xmlns:a16="http://schemas.microsoft.com/office/drawing/2014/main" val="2075302567"/>
                    </a:ext>
                  </a:extLst>
                </a:gridCol>
                <a:gridCol w="360000">
                  <a:extLst>
                    <a:ext uri="{9D8B030D-6E8A-4147-A177-3AD203B41FA5}">
                      <a16:colId xmlns:a16="http://schemas.microsoft.com/office/drawing/2014/main" val="660631070"/>
                    </a:ext>
                  </a:extLst>
                </a:gridCol>
                <a:gridCol w="360000">
                  <a:extLst>
                    <a:ext uri="{9D8B030D-6E8A-4147-A177-3AD203B41FA5}">
                      <a16:colId xmlns:a16="http://schemas.microsoft.com/office/drawing/2014/main" val="1525013378"/>
                    </a:ext>
                  </a:extLst>
                </a:gridCol>
              </a:tblGrid>
              <a:tr h="367200">
                <a:tc>
                  <a:txBody>
                    <a:bodyPr/>
                    <a:lstStyle/>
                    <a:p>
                      <a:endParaRPr lang="en-NL" sz="1100" dirty="0"/>
                    </a:p>
                  </a:txBody>
                  <a:tcPr marL="72000" anchor="ctr"/>
                </a:tc>
                <a:tc>
                  <a:txBody>
                    <a:bodyPr/>
                    <a:lstStyle/>
                    <a:p>
                      <a:r>
                        <a:rPr lang="en-US" sz="900" dirty="0"/>
                        <a:t>loinc:107454-1</a:t>
                      </a:r>
                    </a:p>
                    <a:p>
                      <a:r>
                        <a:rPr lang="en-US" sz="900" dirty="0"/>
                        <a:t>("Administrative gender"@</a:t>
                      </a:r>
                      <a:r>
                        <a:rPr lang="en-US" sz="900" dirty="0" err="1"/>
                        <a:t>en</a:t>
                      </a:r>
                      <a:r>
                        <a:rPr lang="en-US" sz="900" dirty="0"/>
                        <a:t>)</a:t>
                      </a:r>
                      <a:endParaRPr lang="en-NL" sz="900" dirty="0"/>
                    </a:p>
                  </a:txBody>
                  <a:tcPr marL="72000" marR="0" marT="0" marB="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012902903"/>
                  </a:ext>
                </a:extLst>
              </a:tr>
              <a:tr h="306000">
                <a:tc>
                  <a:txBody>
                    <a:bodyPr/>
                    <a:lstStyle/>
                    <a:p>
                      <a:endParaRPr lang="en-NL" sz="1100" dirty="0"/>
                    </a:p>
                  </a:txBody>
                  <a:tcPr marL="72000" anchor="ctr"/>
                </a:tc>
                <a:tc>
                  <a:txBody>
                    <a:bodyPr/>
                    <a:lstStyle/>
                    <a:p>
                      <a:r>
                        <a:rPr lang="en-US" sz="1100" b="1" dirty="0"/>
                        <a:t>woman</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1249708150"/>
                  </a:ext>
                </a:extLst>
              </a:tr>
              <a:tr h="306000">
                <a:tc>
                  <a:txBody>
                    <a:bodyPr/>
                    <a:lstStyle/>
                    <a:p>
                      <a:endParaRPr lang="en-NL" sz="1100" dirty="0"/>
                    </a:p>
                  </a:txBody>
                  <a:tcPr marL="72000" anchor="ctr"/>
                </a:tc>
                <a:tc>
                  <a:txBody>
                    <a:bodyPr/>
                    <a:lstStyle/>
                    <a:p>
                      <a:r>
                        <a:rPr lang="en-US" sz="1100" b="1" dirty="0"/>
                        <a:t>man</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850974854"/>
                  </a:ext>
                </a:extLst>
              </a:tr>
              <a:tr h="306000">
                <a:tc>
                  <a:txBody>
                    <a:bodyPr/>
                    <a:lstStyle/>
                    <a:p>
                      <a:endParaRPr lang="en-NL" sz="1100" dirty="0"/>
                    </a:p>
                  </a:txBody>
                  <a:tcPr marL="72000" anchor="ctr"/>
                </a:tc>
                <a:tc>
                  <a:txBody>
                    <a:bodyPr/>
                    <a:lstStyle/>
                    <a:p>
                      <a:r>
                        <a:rPr lang="en-US" sz="1100" b="1" dirty="0"/>
                        <a:t>non-binary</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60" name="Rectangle: Rounded Corners 59">
            <a:extLst>
              <a:ext uri="{FF2B5EF4-FFF2-40B4-BE49-F238E27FC236}">
                <a16:creationId xmlns:a16="http://schemas.microsoft.com/office/drawing/2014/main" id="{A74250FB-8B50-789F-B4AA-9170EC062CF6}"/>
              </a:ext>
            </a:extLst>
          </p:cNvPr>
          <p:cNvSpPr/>
          <p:nvPr/>
        </p:nvSpPr>
        <p:spPr>
          <a:xfrm>
            <a:off x="9742091" y="5182068"/>
            <a:ext cx="1642188" cy="710132"/>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en-NL"/>
          </a:p>
        </p:txBody>
      </p:sp>
      <p:graphicFrame>
        <p:nvGraphicFramePr>
          <p:cNvPr id="61" name="Content Placeholder 4">
            <a:extLst>
              <a:ext uri="{FF2B5EF4-FFF2-40B4-BE49-F238E27FC236}">
                <a16:creationId xmlns:a16="http://schemas.microsoft.com/office/drawing/2014/main" id="{3AD2F0E7-27EA-2BD3-2376-204BCAA6B3C4}"/>
              </a:ext>
            </a:extLst>
          </p:cNvPr>
          <p:cNvGraphicFramePr>
            <a:graphicFrameLocks/>
          </p:cNvGraphicFramePr>
          <p:nvPr>
            <p:extLst>
              <p:ext uri="{D42A27DB-BD31-4B8C-83A1-F6EECF244321}">
                <p14:modId xmlns:p14="http://schemas.microsoft.com/office/powerpoint/2010/main" val="2766951376"/>
              </p:ext>
            </p:extLst>
          </p:nvPr>
        </p:nvGraphicFramePr>
        <p:xfrm>
          <a:off x="8040280" y="1695020"/>
          <a:ext cx="2811677" cy="128376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360000">
                  <a:extLst>
                    <a:ext uri="{9D8B030D-6E8A-4147-A177-3AD203B41FA5}">
                      <a16:colId xmlns:a16="http://schemas.microsoft.com/office/drawing/2014/main" val="979315127"/>
                    </a:ext>
                  </a:extLst>
                </a:gridCol>
                <a:gridCol w="1731677">
                  <a:extLst>
                    <a:ext uri="{9D8B030D-6E8A-4147-A177-3AD203B41FA5}">
                      <a16:colId xmlns:a16="http://schemas.microsoft.com/office/drawing/2014/main" val="2075302567"/>
                    </a:ext>
                  </a:extLst>
                </a:gridCol>
                <a:gridCol w="360000">
                  <a:extLst>
                    <a:ext uri="{9D8B030D-6E8A-4147-A177-3AD203B41FA5}">
                      <a16:colId xmlns:a16="http://schemas.microsoft.com/office/drawing/2014/main" val="660631070"/>
                    </a:ext>
                  </a:extLst>
                </a:gridCol>
                <a:gridCol w="360000">
                  <a:extLst>
                    <a:ext uri="{9D8B030D-6E8A-4147-A177-3AD203B41FA5}">
                      <a16:colId xmlns:a16="http://schemas.microsoft.com/office/drawing/2014/main" val="1525013378"/>
                    </a:ext>
                  </a:extLst>
                </a:gridCol>
              </a:tblGrid>
              <a:tr h="324000">
                <a:tc>
                  <a:txBody>
                    <a:bodyPr/>
                    <a:lstStyle/>
                    <a:p>
                      <a:endParaRPr lang="en-NL" sz="1100" dirty="0"/>
                    </a:p>
                  </a:txBody>
                  <a:tcPr marL="72000" anchor="ctr"/>
                </a:tc>
                <a:tc>
                  <a:txBody>
                    <a:bodyPr/>
                    <a:lstStyle/>
                    <a:p>
                      <a:r>
                        <a:rPr lang="en-US" sz="900" dirty="0" err="1"/>
                        <a:t>care-sm:Sex</a:t>
                      </a:r>
                      <a:endParaRPr lang="en-US" sz="900" dirty="0"/>
                    </a:p>
                    <a:p>
                      <a:r>
                        <a:rPr lang="en-US" sz="900" dirty="0"/>
                        <a:t>("Biological sex"@</a:t>
                      </a:r>
                      <a:r>
                        <a:rPr lang="en-US" sz="900" dirty="0" err="1"/>
                        <a:t>en</a:t>
                      </a:r>
                      <a:r>
                        <a:rPr lang="en-US" sz="900" dirty="0"/>
                        <a:t>)</a:t>
                      </a:r>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012902903"/>
                  </a:ext>
                </a:extLst>
              </a:tr>
              <a:tr h="306000">
                <a:tc>
                  <a:txBody>
                    <a:bodyPr/>
                    <a:lstStyle/>
                    <a:p>
                      <a:endParaRPr lang="en-NL" sz="1100" dirty="0"/>
                    </a:p>
                  </a:txBody>
                  <a:tcPr marL="72000" anchor="ctr"/>
                </a:tc>
                <a:tc>
                  <a:txBody>
                    <a:bodyPr/>
                    <a:lstStyle/>
                    <a:p>
                      <a:r>
                        <a:rPr lang="en-US" sz="1100" b="1" dirty="0"/>
                        <a:t>female</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1249708150"/>
                  </a:ext>
                </a:extLst>
              </a:tr>
              <a:tr h="306000">
                <a:tc>
                  <a:txBody>
                    <a:bodyPr/>
                    <a:lstStyle/>
                    <a:p>
                      <a:endParaRPr lang="en-NL" sz="1100" dirty="0"/>
                    </a:p>
                  </a:txBody>
                  <a:tcPr marL="72000" anchor="ctr"/>
                </a:tc>
                <a:tc>
                  <a:txBody>
                    <a:bodyPr/>
                    <a:lstStyle/>
                    <a:p>
                      <a:r>
                        <a:rPr lang="en-US" sz="1100" b="1" dirty="0"/>
                        <a:t>male</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850974854"/>
                  </a:ext>
                </a:extLst>
              </a:tr>
              <a:tr h="306000">
                <a:tc>
                  <a:txBody>
                    <a:bodyPr/>
                    <a:lstStyle/>
                    <a:p>
                      <a:endParaRPr lang="en-NL" sz="1100" dirty="0"/>
                    </a:p>
                  </a:txBody>
                  <a:tcPr marL="72000" anchor="ctr"/>
                </a:tc>
                <a:tc>
                  <a:txBody>
                    <a:bodyPr/>
                    <a:lstStyle/>
                    <a:p>
                      <a:r>
                        <a:rPr lang="en-US" sz="1100" b="1" dirty="0"/>
                        <a:t>female</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62" name="Rectangle: Rounded Corners 61">
            <a:extLst>
              <a:ext uri="{FF2B5EF4-FFF2-40B4-BE49-F238E27FC236}">
                <a16:creationId xmlns:a16="http://schemas.microsoft.com/office/drawing/2014/main" id="{2D5D23A7-240F-CD85-EDC1-D330E538B8A2}"/>
              </a:ext>
            </a:extLst>
          </p:cNvPr>
          <p:cNvSpPr/>
          <p:nvPr/>
        </p:nvSpPr>
        <p:spPr>
          <a:xfrm>
            <a:off x="9742090" y="2343789"/>
            <a:ext cx="1642188" cy="710132"/>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NL"/>
          </a:p>
        </p:txBody>
      </p:sp>
      <p:pic>
        <p:nvPicPr>
          <p:cNvPr id="63" name="Picture 62">
            <a:extLst>
              <a:ext uri="{FF2B5EF4-FFF2-40B4-BE49-F238E27FC236}">
                <a16:creationId xmlns:a16="http://schemas.microsoft.com/office/drawing/2014/main" id="{0A7D41A3-2FD9-D54B-C671-256469C887A5}"/>
              </a:ext>
            </a:extLst>
          </p:cNvPr>
          <p:cNvPicPr>
            <a:picLocks noChangeAspect="1"/>
          </p:cNvPicPr>
          <p:nvPr/>
        </p:nvPicPr>
        <p:blipFill>
          <a:blip r:embed="rId3"/>
          <a:srcRect l="17222" t="33069" r="27186" b="41346"/>
          <a:stretch>
            <a:fillRect/>
          </a:stretch>
        </p:blipFill>
        <p:spPr>
          <a:xfrm>
            <a:off x="9843095" y="2477918"/>
            <a:ext cx="1440178" cy="441874"/>
          </a:xfrm>
          <a:prstGeom prst="rect">
            <a:avLst/>
          </a:prstGeom>
        </p:spPr>
      </p:pic>
      <p:pic>
        <p:nvPicPr>
          <p:cNvPr id="64" name="Picture 63">
            <a:extLst>
              <a:ext uri="{FF2B5EF4-FFF2-40B4-BE49-F238E27FC236}">
                <a16:creationId xmlns:a16="http://schemas.microsoft.com/office/drawing/2014/main" id="{458FD06D-82CA-D203-E490-AB944AA0D3BE}"/>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Effect>
                      <a14:brightnessContrast contrast="-40000"/>
                    </a14:imgEffect>
                  </a14:imgLayer>
                </a14:imgProps>
              </a:ext>
            </a:extLst>
          </a:blip>
          <a:srcRect l="22593" t="33818" r="26296" b="42564"/>
          <a:stretch>
            <a:fillRect/>
          </a:stretch>
        </p:blipFill>
        <p:spPr>
          <a:xfrm>
            <a:off x="9843184" y="3897611"/>
            <a:ext cx="1440000" cy="443613"/>
          </a:xfrm>
          <a:prstGeom prst="rect">
            <a:avLst/>
          </a:prstGeom>
        </p:spPr>
      </p:pic>
      <p:pic>
        <p:nvPicPr>
          <p:cNvPr id="65" name="Picture 64">
            <a:extLst>
              <a:ext uri="{FF2B5EF4-FFF2-40B4-BE49-F238E27FC236}">
                <a16:creationId xmlns:a16="http://schemas.microsoft.com/office/drawing/2014/main" id="{EACF379D-820D-1A10-96F9-260F30C08D21}"/>
              </a:ext>
            </a:extLst>
          </p:cNvPr>
          <p:cNvPicPr>
            <a:picLocks noChangeAspect="1"/>
          </p:cNvPicPr>
          <p:nvPr/>
        </p:nvPicPr>
        <p:blipFill>
          <a:blip r:embed="rId6"/>
          <a:srcRect l="13027" t="27953" r="16204" b="38897"/>
          <a:stretch>
            <a:fillRect/>
          </a:stretch>
        </p:blipFill>
        <p:spPr>
          <a:xfrm>
            <a:off x="9843185" y="5312288"/>
            <a:ext cx="1440000" cy="449693"/>
          </a:xfrm>
          <a:prstGeom prst="rect">
            <a:avLst/>
          </a:prstGeom>
        </p:spPr>
      </p:pic>
      <p:grpSp>
        <p:nvGrpSpPr>
          <p:cNvPr id="15" name="Group 14">
            <a:extLst>
              <a:ext uri="{FF2B5EF4-FFF2-40B4-BE49-F238E27FC236}">
                <a16:creationId xmlns:a16="http://schemas.microsoft.com/office/drawing/2014/main" id="{99D026FE-6686-C839-080A-7C6E970FC345}"/>
              </a:ext>
            </a:extLst>
          </p:cNvPr>
          <p:cNvGrpSpPr/>
          <p:nvPr/>
        </p:nvGrpSpPr>
        <p:grpSpPr>
          <a:xfrm>
            <a:off x="695327" y="1641474"/>
            <a:ext cx="7099934" cy="4321175"/>
            <a:chOff x="695327" y="1641474"/>
            <a:chExt cx="10801348" cy="4321175"/>
          </a:xfrm>
        </p:grpSpPr>
        <p:pic>
          <p:nvPicPr>
            <p:cNvPr id="13" name="Picture 12">
              <a:extLst>
                <a:ext uri="{FF2B5EF4-FFF2-40B4-BE49-F238E27FC236}">
                  <a16:creationId xmlns:a16="http://schemas.microsoft.com/office/drawing/2014/main" id="{D953E169-E1CA-4112-0C1B-8141A616B0A3}"/>
                </a:ext>
              </a:extLst>
            </p:cNvPr>
            <p:cNvPicPr>
              <a:picLocks noChangeAspect="1"/>
            </p:cNvPicPr>
            <p:nvPr/>
          </p:nvPicPr>
          <p:blipFill>
            <a:blip r:embed="rId7"/>
            <a:stretch>
              <a:fillRect/>
            </a:stretch>
          </p:blipFill>
          <p:spPr>
            <a:xfrm>
              <a:off x="695327" y="1641474"/>
              <a:ext cx="10801348" cy="4321175"/>
            </a:xfrm>
            <a:prstGeom prst="rect">
              <a:avLst/>
            </a:prstGeom>
          </p:spPr>
        </p:pic>
        <p:sp>
          <p:nvSpPr>
            <p:cNvPr id="14" name="Rectangle 13">
              <a:extLst>
                <a:ext uri="{FF2B5EF4-FFF2-40B4-BE49-F238E27FC236}">
                  <a16:creationId xmlns:a16="http://schemas.microsoft.com/office/drawing/2014/main" id="{19858E09-ED58-7D2D-AFC2-3E92C2A79C7F}"/>
                </a:ext>
              </a:extLst>
            </p:cNvPr>
            <p:cNvSpPr/>
            <p:nvPr/>
          </p:nvSpPr>
          <p:spPr>
            <a:xfrm>
              <a:off x="695327" y="1854200"/>
              <a:ext cx="1054100" cy="3937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grpSp>
      <p:sp>
        <p:nvSpPr>
          <p:cNvPr id="2" name="Title 1">
            <a:extLst>
              <a:ext uri="{FF2B5EF4-FFF2-40B4-BE49-F238E27FC236}">
                <a16:creationId xmlns:a16="http://schemas.microsoft.com/office/drawing/2014/main" id="{0F4C4811-8EAD-E0B4-C0BB-50E0DBF074CD}"/>
              </a:ext>
            </a:extLst>
          </p:cNvPr>
          <p:cNvSpPr>
            <a:spLocks noGrp="1"/>
          </p:cNvSpPr>
          <p:nvPr>
            <p:ph type="title"/>
          </p:nvPr>
        </p:nvSpPr>
        <p:spPr/>
        <p:txBody>
          <a:bodyPr/>
          <a:lstStyle/>
          <a:p>
            <a:r>
              <a:rPr lang="en-US" sz="3600" dirty="0"/>
              <a:t>Similar Variables, Different Meanings</a:t>
            </a:r>
            <a:endParaRPr lang="en-NL" dirty="0"/>
          </a:p>
        </p:txBody>
      </p:sp>
      <p:sp>
        <p:nvSpPr>
          <p:cNvPr id="4" name="Slide Number Placeholder 3">
            <a:extLst>
              <a:ext uri="{FF2B5EF4-FFF2-40B4-BE49-F238E27FC236}">
                <a16:creationId xmlns:a16="http://schemas.microsoft.com/office/drawing/2014/main" id="{54C0BD5C-73BF-66F9-88BD-1B358189B19D}"/>
              </a:ext>
            </a:extLst>
          </p:cNvPr>
          <p:cNvSpPr>
            <a:spLocks noGrp="1"/>
          </p:cNvSpPr>
          <p:nvPr>
            <p:ph type="sldNum" sz="quarter" idx="12"/>
          </p:nvPr>
        </p:nvSpPr>
        <p:spPr/>
        <p:txBody>
          <a:bodyPr/>
          <a:lstStyle/>
          <a:p>
            <a:fld id="{4FAB73BC-B049-4115-A692-8D63A059BFB8}" type="slidenum">
              <a:rPr lang="en-US" smtClean="0"/>
              <a:pPr/>
              <a:t>15</a:t>
            </a:fld>
            <a:endParaRPr lang="en-US" dirty="0"/>
          </a:p>
        </p:txBody>
      </p:sp>
      <p:sp>
        <p:nvSpPr>
          <p:cNvPr id="18" name="Oval 17">
            <a:extLst>
              <a:ext uri="{FF2B5EF4-FFF2-40B4-BE49-F238E27FC236}">
                <a16:creationId xmlns:a16="http://schemas.microsoft.com/office/drawing/2014/main" id="{FDA926D1-0537-0020-FE64-3E10FFA60315}"/>
              </a:ext>
            </a:extLst>
          </p:cNvPr>
          <p:cNvSpPr/>
          <p:nvPr/>
        </p:nvSpPr>
        <p:spPr>
          <a:xfrm>
            <a:off x="8382929" y="4474483"/>
            <a:ext cx="1466850" cy="468000"/>
          </a:xfrm>
          <a:prstGeom prst="ellipse">
            <a:avLst/>
          </a:prstGeom>
          <a:noFill/>
          <a:ln w="47625">
            <a:solidFill>
              <a:srgbClr val="FF000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22" name="Straight Arrow Connector 21">
            <a:extLst>
              <a:ext uri="{FF2B5EF4-FFF2-40B4-BE49-F238E27FC236}">
                <a16:creationId xmlns:a16="http://schemas.microsoft.com/office/drawing/2014/main" id="{9A57F96E-A70F-A842-7326-1BC726B4E3B9}"/>
              </a:ext>
            </a:extLst>
          </p:cNvPr>
          <p:cNvCxnSpPr>
            <a:cxnSpLocks/>
            <a:stCxn id="18" idx="2"/>
          </p:cNvCxnSpPr>
          <p:nvPr/>
        </p:nvCxnSpPr>
        <p:spPr>
          <a:xfrm flipH="1" flipV="1">
            <a:off x="952500" y="4619625"/>
            <a:ext cx="7430429" cy="88858"/>
          </a:xfrm>
          <a:prstGeom prst="straightConnector1">
            <a:avLst/>
          </a:prstGeom>
          <a:ln w="47625">
            <a:solidFill>
              <a:srgbClr val="FF0000"/>
            </a:solidFill>
            <a:tailEnd type="arrow" w="lg" len="lg"/>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32" name="Oval 31">
            <a:extLst>
              <a:ext uri="{FF2B5EF4-FFF2-40B4-BE49-F238E27FC236}">
                <a16:creationId xmlns:a16="http://schemas.microsoft.com/office/drawing/2014/main" id="{26DD9F63-ACD2-2537-40D3-1C6EC15B6BF9}"/>
              </a:ext>
            </a:extLst>
          </p:cNvPr>
          <p:cNvSpPr/>
          <p:nvPr/>
        </p:nvSpPr>
        <p:spPr>
          <a:xfrm>
            <a:off x="8382929" y="3047819"/>
            <a:ext cx="1466850" cy="468000"/>
          </a:xfrm>
          <a:prstGeom prst="ellipse">
            <a:avLst/>
          </a:prstGeom>
          <a:noFill/>
          <a:ln w="47625">
            <a:solidFill>
              <a:srgbClr val="FF000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3" name="Straight Arrow Connector 32">
            <a:extLst>
              <a:ext uri="{FF2B5EF4-FFF2-40B4-BE49-F238E27FC236}">
                <a16:creationId xmlns:a16="http://schemas.microsoft.com/office/drawing/2014/main" id="{6EA33F2F-8449-8B9E-B495-5DA9EB8C534F}"/>
              </a:ext>
            </a:extLst>
          </p:cNvPr>
          <p:cNvCxnSpPr>
            <a:cxnSpLocks/>
            <a:stCxn id="32" idx="2"/>
          </p:cNvCxnSpPr>
          <p:nvPr/>
        </p:nvCxnSpPr>
        <p:spPr>
          <a:xfrm flipH="1">
            <a:off x="952500" y="3281819"/>
            <a:ext cx="7430429" cy="218290"/>
          </a:xfrm>
          <a:prstGeom prst="straightConnector1">
            <a:avLst/>
          </a:prstGeom>
          <a:ln w="47625">
            <a:solidFill>
              <a:srgbClr val="FF0000"/>
            </a:solidFill>
            <a:tailEnd type="arrow" w="lg" len="lg"/>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34" name="Oval 33">
            <a:extLst>
              <a:ext uri="{FF2B5EF4-FFF2-40B4-BE49-F238E27FC236}">
                <a16:creationId xmlns:a16="http://schemas.microsoft.com/office/drawing/2014/main" id="{2770854B-B42C-9409-E100-240E07B648B3}"/>
              </a:ext>
            </a:extLst>
          </p:cNvPr>
          <p:cNvSpPr/>
          <p:nvPr/>
        </p:nvSpPr>
        <p:spPr>
          <a:xfrm>
            <a:off x="8382929" y="1621155"/>
            <a:ext cx="1466850" cy="468000"/>
          </a:xfrm>
          <a:prstGeom prst="ellipse">
            <a:avLst/>
          </a:prstGeom>
          <a:noFill/>
          <a:ln w="47625">
            <a:solidFill>
              <a:srgbClr val="FF000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6" name="Straight Arrow Connector 35">
            <a:extLst>
              <a:ext uri="{FF2B5EF4-FFF2-40B4-BE49-F238E27FC236}">
                <a16:creationId xmlns:a16="http://schemas.microsoft.com/office/drawing/2014/main" id="{FA59A38F-27DA-1046-43AE-D936D92853D0}"/>
              </a:ext>
            </a:extLst>
          </p:cNvPr>
          <p:cNvCxnSpPr>
            <a:cxnSpLocks/>
          </p:cNvCxnSpPr>
          <p:nvPr/>
        </p:nvCxnSpPr>
        <p:spPr>
          <a:xfrm flipH="1">
            <a:off x="6991350" y="1955607"/>
            <a:ext cx="1457325" cy="151799"/>
          </a:xfrm>
          <a:prstGeom prst="straightConnector1">
            <a:avLst/>
          </a:prstGeom>
          <a:ln w="47625">
            <a:solidFill>
              <a:srgbClr val="FF0000"/>
            </a:solidFill>
            <a:tailEnd type="arrow" w="lg" len="lg"/>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017ECA1D-5453-72F7-31EC-9A8269554C87}"/>
              </a:ext>
            </a:extLst>
          </p:cNvPr>
          <p:cNvSpPr txBox="1"/>
          <p:nvPr/>
        </p:nvSpPr>
        <p:spPr>
          <a:xfrm>
            <a:off x="706665" y="5026620"/>
            <a:ext cx="4505326" cy="923330"/>
          </a:xfrm>
          <a:prstGeom prst="rect">
            <a:avLst/>
          </a:prstGeom>
          <a:solidFill>
            <a:schemeClr val="accent4"/>
          </a:solidFill>
          <a:ln>
            <a:noFill/>
          </a:ln>
          <a:effectLst/>
          <a:scene3d>
            <a:camera prst="orthographicFront">
              <a:rot lat="0" lon="0" rev="0"/>
            </a:camera>
            <a:lightRig rig="contrasting" dir="t">
              <a:rot lat="0" lon="0" rev="7800000"/>
            </a:lightRig>
          </a:scene3d>
          <a:sp3d>
            <a:bevelT w="139700" h="139700"/>
          </a:sp3d>
        </p:spPr>
        <p:txBody>
          <a:bodyPr wrap="square" rtlCol="0">
            <a:spAutoFit/>
          </a:bodyPr>
          <a:lstStyle/>
          <a:p>
            <a:r>
              <a:rPr lang="en-US" dirty="0">
                <a:solidFill>
                  <a:schemeClr val="bg1"/>
                </a:solidFill>
              </a:rPr>
              <a:t>The variables may look comparable, but they are linked to different meanings and should not be treated as interchangeable.</a:t>
            </a:r>
            <a:endParaRPr lang="en-NL" dirty="0">
              <a:solidFill>
                <a:schemeClr val="bg1"/>
              </a:solidFill>
            </a:endParaRPr>
          </a:p>
        </p:txBody>
      </p:sp>
      <p:sp>
        <p:nvSpPr>
          <p:cNvPr id="6" name="TextBox 5">
            <a:extLst>
              <a:ext uri="{FF2B5EF4-FFF2-40B4-BE49-F238E27FC236}">
                <a16:creationId xmlns:a16="http://schemas.microsoft.com/office/drawing/2014/main" id="{18A290A6-256E-D236-A8BE-987F948ADD1B}"/>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a:t>
            </a:r>
            <a:r>
              <a:rPr lang="en-US" sz="1200" b="1" cap="small" spc="100" dirty="0">
                <a:solidFill>
                  <a:srgbClr val="000000">
                    <a:lumMod val="95000"/>
                    <a:lumOff val="5000"/>
                  </a:srgbClr>
                </a:solidFill>
                <a:latin typeface="Aptos" panose="020B0004020202020204" pitchFamily="34" charset="0"/>
                <a:ea typeface="+mj-ea"/>
                <a:cs typeface="+mj-cs"/>
              </a:rPr>
              <a:t>1</a:t>
            </a:r>
            <a:endParaRPr lang="en-NL" sz="1000" b="1" dirty="0"/>
          </a:p>
        </p:txBody>
      </p:sp>
    </p:spTree>
    <p:extLst>
      <p:ext uri="{BB962C8B-B14F-4D97-AF65-F5344CB8AC3E}">
        <p14:creationId xmlns:p14="http://schemas.microsoft.com/office/powerpoint/2010/main" val="15949249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D67687-B4A4-8F18-0692-2B04A8040CA2}"/>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C5C22300-BFC8-81A2-D4C5-188BAA4FBA5E}"/>
              </a:ext>
            </a:extLst>
          </p:cNvPr>
          <p:cNvPicPr>
            <a:picLocks noChangeAspect="1"/>
          </p:cNvPicPr>
          <p:nvPr/>
        </p:nvPicPr>
        <p:blipFill>
          <a:blip r:embed="rId3"/>
          <a:srcRect t="21286" b="18695"/>
          <a:stretch>
            <a:fillRect/>
          </a:stretch>
        </p:blipFill>
        <p:spPr>
          <a:xfrm>
            <a:off x="695325" y="1628775"/>
            <a:ext cx="10799546" cy="4321175"/>
          </a:xfrm>
          <a:prstGeom prst="rect">
            <a:avLst/>
          </a:prstGeom>
        </p:spPr>
      </p:pic>
      <p:sp>
        <p:nvSpPr>
          <p:cNvPr id="8" name="Rectangle 7">
            <a:extLst>
              <a:ext uri="{FF2B5EF4-FFF2-40B4-BE49-F238E27FC236}">
                <a16:creationId xmlns:a16="http://schemas.microsoft.com/office/drawing/2014/main" id="{003709FA-715D-3F21-A75A-5E02C7EEE92E}"/>
              </a:ext>
            </a:extLst>
          </p:cNvPr>
          <p:cNvSpPr/>
          <p:nvPr/>
        </p:nvSpPr>
        <p:spPr>
          <a:xfrm>
            <a:off x="5136204" y="1628775"/>
            <a:ext cx="6350219" cy="4321175"/>
          </a:xfrm>
          <a:prstGeom prst="rect">
            <a:avLst/>
          </a:prstGeom>
          <a:solidFill>
            <a:schemeClr val="accent1">
              <a:lumMod val="20000"/>
              <a:lumOff val="80000"/>
              <a:alpha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60000" tIns="180000" rIns="180000" bIns="180000" rtlCol="0" anchor="ctr"/>
          <a:lstStyle/>
          <a:p>
            <a:endParaRPr lang="en-NL" sz="2000" i="1" dirty="0">
              <a:solidFill>
                <a:schemeClr val="tx1"/>
              </a:solidFill>
            </a:endParaRPr>
          </a:p>
        </p:txBody>
      </p:sp>
      <p:sp>
        <p:nvSpPr>
          <p:cNvPr id="2" name="Title 1">
            <a:extLst>
              <a:ext uri="{FF2B5EF4-FFF2-40B4-BE49-F238E27FC236}">
                <a16:creationId xmlns:a16="http://schemas.microsoft.com/office/drawing/2014/main" id="{91EEA462-5353-5530-CB89-FE6A6A2EF952}"/>
              </a:ext>
            </a:extLst>
          </p:cNvPr>
          <p:cNvSpPr>
            <a:spLocks noGrp="1"/>
          </p:cNvSpPr>
          <p:nvPr>
            <p:ph type="title"/>
          </p:nvPr>
        </p:nvSpPr>
        <p:spPr/>
        <p:txBody>
          <a:bodyPr/>
          <a:lstStyle/>
          <a:p>
            <a:r>
              <a:rPr lang="en-US" sz="3600" b="1" dirty="0"/>
              <a:t>Scenario 2: Identify the dataset that represents the right meaning</a:t>
            </a:r>
          </a:p>
        </p:txBody>
      </p:sp>
      <p:sp>
        <p:nvSpPr>
          <p:cNvPr id="7" name="Freeform: Shape 6">
            <a:extLst>
              <a:ext uri="{FF2B5EF4-FFF2-40B4-BE49-F238E27FC236}">
                <a16:creationId xmlns:a16="http://schemas.microsoft.com/office/drawing/2014/main" id="{D36BC47C-F30D-A9FD-4384-ACF93A6AB80B}"/>
              </a:ext>
            </a:extLst>
          </p:cNvPr>
          <p:cNvSpPr/>
          <p:nvPr/>
        </p:nvSpPr>
        <p:spPr>
          <a:xfrm>
            <a:off x="7034190" y="3018630"/>
            <a:ext cx="371214" cy="91440"/>
          </a:xfrm>
          <a:custGeom>
            <a:avLst/>
            <a:gdLst>
              <a:gd name="csX0" fmla="*/ 0 w 371214"/>
              <a:gd name="csY0" fmla="*/ 45720 h 91440"/>
              <a:gd name="csX1" fmla="*/ 371214 w 371214"/>
              <a:gd name="csY1" fmla="*/ 45720 h 91440"/>
            </a:gdLst>
            <a:ahLst/>
            <a:cxnLst>
              <a:cxn ang="0">
                <a:pos x="csX0" y="csY0"/>
              </a:cxn>
              <a:cxn ang="0">
                <a:pos x="csX1" y="csY1"/>
              </a:cxn>
            </a:cxnLst>
            <a:rect l="l" t="t" r="r" b="b"/>
            <a:pathLst>
              <a:path w="371214" h="91440">
                <a:moveTo>
                  <a:pt x="0" y="45720"/>
                </a:moveTo>
                <a:lnTo>
                  <a:pt x="371214" y="45720"/>
                </a:lnTo>
              </a:path>
            </a:pathLst>
          </a:cu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88262" tIns="43711" rIns="188262" bIns="43711" numCol="1" spcCol="1270" anchor="ctr" anchorCtr="0">
            <a:noAutofit/>
          </a:bodyPr>
          <a:lstStyle/>
          <a:p>
            <a:pPr marL="0" lvl="0" indent="0" algn="ctr" defTabSz="222250">
              <a:lnSpc>
                <a:spcPct val="90000"/>
              </a:lnSpc>
              <a:spcBef>
                <a:spcPct val="0"/>
              </a:spcBef>
              <a:spcAft>
                <a:spcPct val="35000"/>
              </a:spcAft>
              <a:buNone/>
            </a:pPr>
            <a:endParaRPr lang="en-NL" sz="500" kern="1200"/>
          </a:p>
        </p:txBody>
      </p:sp>
      <p:sp>
        <p:nvSpPr>
          <p:cNvPr id="10" name="Freeform: Shape 9">
            <a:extLst>
              <a:ext uri="{FF2B5EF4-FFF2-40B4-BE49-F238E27FC236}">
                <a16:creationId xmlns:a16="http://schemas.microsoft.com/office/drawing/2014/main" id="{9F372E44-1CFB-D52A-ABBF-07278A0AD461}"/>
              </a:ext>
            </a:extLst>
          </p:cNvPr>
          <p:cNvSpPr/>
          <p:nvPr/>
        </p:nvSpPr>
        <p:spPr>
          <a:xfrm>
            <a:off x="9183022" y="3018630"/>
            <a:ext cx="371214" cy="91440"/>
          </a:xfrm>
          <a:custGeom>
            <a:avLst/>
            <a:gdLst>
              <a:gd name="csX0" fmla="*/ 0 w 371214"/>
              <a:gd name="csY0" fmla="*/ 45720 h 91440"/>
              <a:gd name="csX1" fmla="*/ 371214 w 371214"/>
              <a:gd name="csY1" fmla="*/ 45720 h 91440"/>
            </a:gdLst>
            <a:ahLst/>
            <a:cxnLst>
              <a:cxn ang="0">
                <a:pos x="csX0" y="csY0"/>
              </a:cxn>
              <a:cxn ang="0">
                <a:pos x="csX1" y="csY1"/>
              </a:cxn>
            </a:cxnLst>
            <a:rect l="l" t="t" r="r" b="b"/>
            <a:pathLst>
              <a:path w="371214" h="91440">
                <a:moveTo>
                  <a:pt x="0" y="45720"/>
                </a:moveTo>
                <a:lnTo>
                  <a:pt x="371214" y="45720"/>
                </a:lnTo>
              </a:path>
            </a:pathLst>
          </a:cu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88261" tIns="43711" rIns="188263" bIns="43711" numCol="1" spcCol="1270" anchor="ctr" anchorCtr="0">
            <a:noAutofit/>
          </a:bodyPr>
          <a:lstStyle/>
          <a:p>
            <a:pPr marL="0" lvl="0" indent="0" algn="ctr" defTabSz="222250">
              <a:lnSpc>
                <a:spcPct val="90000"/>
              </a:lnSpc>
              <a:spcBef>
                <a:spcPct val="0"/>
              </a:spcBef>
              <a:spcAft>
                <a:spcPct val="35000"/>
              </a:spcAft>
              <a:buNone/>
            </a:pPr>
            <a:endParaRPr lang="en-NL" sz="500" kern="1200"/>
          </a:p>
        </p:txBody>
      </p:sp>
      <p:sp>
        <p:nvSpPr>
          <p:cNvPr id="12" name="Freeform: Shape 11">
            <a:extLst>
              <a:ext uri="{FF2B5EF4-FFF2-40B4-BE49-F238E27FC236}">
                <a16:creationId xmlns:a16="http://schemas.microsoft.com/office/drawing/2014/main" id="{3A7AE67C-B11C-9132-B369-7E3915BE19A8}"/>
              </a:ext>
            </a:extLst>
          </p:cNvPr>
          <p:cNvSpPr/>
          <p:nvPr/>
        </p:nvSpPr>
        <p:spPr>
          <a:xfrm>
            <a:off x="6162481" y="3586655"/>
            <a:ext cx="4297663" cy="371214"/>
          </a:xfrm>
          <a:custGeom>
            <a:avLst/>
            <a:gdLst>
              <a:gd name="csX0" fmla="*/ 4297663 w 4297663"/>
              <a:gd name="csY0" fmla="*/ 0 h 371214"/>
              <a:gd name="csX1" fmla="*/ 4297663 w 4297663"/>
              <a:gd name="csY1" fmla="*/ 202707 h 371214"/>
              <a:gd name="csX2" fmla="*/ 0 w 4297663"/>
              <a:gd name="csY2" fmla="*/ 202707 h 371214"/>
              <a:gd name="csX3" fmla="*/ 0 w 4297663"/>
              <a:gd name="csY3" fmla="*/ 371214 h 371214"/>
            </a:gdLst>
            <a:ahLst/>
            <a:cxnLst>
              <a:cxn ang="0">
                <a:pos x="csX0" y="csY0"/>
              </a:cxn>
              <a:cxn ang="0">
                <a:pos x="csX1" y="csY1"/>
              </a:cxn>
              <a:cxn ang="0">
                <a:pos x="csX2" y="csY2"/>
              </a:cxn>
              <a:cxn ang="0">
                <a:pos x="csX3" y="csY3"/>
              </a:cxn>
            </a:cxnLst>
            <a:rect l="l" t="t" r="r" b="b"/>
            <a:pathLst>
              <a:path w="4297663" h="371214">
                <a:moveTo>
                  <a:pt x="4297663" y="0"/>
                </a:moveTo>
                <a:lnTo>
                  <a:pt x="4297663" y="202707"/>
                </a:lnTo>
                <a:lnTo>
                  <a:pt x="0" y="202707"/>
                </a:lnTo>
                <a:lnTo>
                  <a:pt x="0" y="371214"/>
                </a:lnTo>
              </a:path>
            </a:pathLst>
          </a:cu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2053622" tIns="183598" rIns="2053621" bIns="183598" numCol="1" spcCol="1270" anchor="ctr" anchorCtr="0">
            <a:noAutofit/>
          </a:bodyPr>
          <a:lstStyle/>
          <a:p>
            <a:pPr marL="0" lvl="0" indent="0" algn="ctr" defTabSz="222250">
              <a:lnSpc>
                <a:spcPct val="90000"/>
              </a:lnSpc>
              <a:spcBef>
                <a:spcPct val="0"/>
              </a:spcBef>
              <a:spcAft>
                <a:spcPct val="35000"/>
              </a:spcAft>
              <a:buNone/>
            </a:pPr>
            <a:endParaRPr lang="en-NL" sz="500" kern="1200"/>
          </a:p>
        </p:txBody>
      </p:sp>
      <p:sp>
        <p:nvSpPr>
          <p:cNvPr id="13" name="Freeform: Shape 12">
            <a:extLst>
              <a:ext uri="{FF2B5EF4-FFF2-40B4-BE49-F238E27FC236}">
                <a16:creationId xmlns:a16="http://schemas.microsoft.com/office/drawing/2014/main" id="{4A55124F-451B-83F5-E8C4-D07182EE2B03}"/>
              </a:ext>
            </a:extLst>
          </p:cNvPr>
          <p:cNvSpPr/>
          <p:nvPr/>
        </p:nvSpPr>
        <p:spPr>
          <a:xfrm>
            <a:off x="9586636" y="2540244"/>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marL="0" lvl="0" indent="0" algn="l" defTabSz="400050">
              <a:lnSpc>
                <a:spcPct val="90000"/>
              </a:lnSpc>
              <a:spcBef>
                <a:spcPct val="0"/>
              </a:spcBef>
              <a:spcAft>
                <a:spcPct val="35000"/>
              </a:spcAft>
              <a:buNone/>
            </a:pPr>
            <a:r>
              <a:rPr lang="en-US" sz="900" b="1" u="none" kern="1200" dirty="0"/>
              <a:t>Scenario 3: </a:t>
            </a:r>
            <a:r>
              <a:rPr lang="en-US" sz="900" b="0" u="none" kern="1200" dirty="0"/>
              <a:t>Inspect what a selected column means</a:t>
            </a:r>
            <a:endParaRPr lang="en-NL" sz="900" b="0" u="none" kern="1200" dirty="0"/>
          </a:p>
        </p:txBody>
      </p:sp>
      <p:sp>
        <p:nvSpPr>
          <p:cNvPr id="14" name="Freeform: Shape 13">
            <a:extLst>
              <a:ext uri="{FF2B5EF4-FFF2-40B4-BE49-F238E27FC236}">
                <a16:creationId xmlns:a16="http://schemas.microsoft.com/office/drawing/2014/main" id="{ED2D23AB-BB9D-6967-1124-DB1429A63CBF}"/>
              </a:ext>
            </a:extLst>
          </p:cNvPr>
          <p:cNvSpPr/>
          <p:nvPr/>
        </p:nvSpPr>
        <p:spPr>
          <a:xfrm>
            <a:off x="7034190" y="4468654"/>
            <a:ext cx="371214" cy="91440"/>
          </a:xfrm>
          <a:custGeom>
            <a:avLst/>
            <a:gdLst>
              <a:gd name="csX0" fmla="*/ 0 w 371214"/>
              <a:gd name="csY0" fmla="*/ 45720 h 91440"/>
              <a:gd name="csX1" fmla="*/ 371214 w 371214"/>
              <a:gd name="csY1" fmla="*/ 45720 h 91440"/>
            </a:gdLst>
            <a:ahLst/>
            <a:cxnLst>
              <a:cxn ang="0">
                <a:pos x="csX0" y="csY0"/>
              </a:cxn>
              <a:cxn ang="0">
                <a:pos x="csX1" y="csY1"/>
              </a:cxn>
            </a:cxnLst>
            <a:rect l="l" t="t" r="r" b="b"/>
            <a:pathLst>
              <a:path w="371214" h="91440">
                <a:moveTo>
                  <a:pt x="0" y="45720"/>
                </a:moveTo>
                <a:lnTo>
                  <a:pt x="371214" y="45720"/>
                </a:lnTo>
              </a:path>
            </a:pathLst>
          </a:cu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88262" tIns="43711" rIns="188262" bIns="43711" numCol="1" spcCol="1270" anchor="ctr" anchorCtr="0">
            <a:noAutofit/>
          </a:bodyPr>
          <a:lstStyle/>
          <a:p>
            <a:pPr marL="0" lvl="0" indent="0" algn="ctr" defTabSz="222250">
              <a:lnSpc>
                <a:spcPct val="90000"/>
              </a:lnSpc>
              <a:spcBef>
                <a:spcPct val="0"/>
              </a:spcBef>
              <a:spcAft>
                <a:spcPct val="35000"/>
              </a:spcAft>
              <a:buNone/>
            </a:pPr>
            <a:endParaRPr lang="en-NL" sz="500" kern="1200"/>
          </a:p>
        </p:txBody>
      </p:sp>
      <p:sp>
        <p:nvSpPr>
          <p:cNvPr id="15" name="Freeform: Shape 14">
            <a:extLst>
              <a:ext uri="{FF2B5EF4-FFF2-40B4-BE49-F238E27FC236}">
                <a16:creationId xmlns:a16="http://schemas.microsoft.com/office/drawing/2014/main" id="{99E68D43-B98B-0D27-513F-B300E2C72B75}"/>
              </a:ext>
            </a:extLst>
          </p:cNvPr>
          <p:cNvSpPr/>
          <p:nvPr/>
        </p:nvSpPr>
        <p:spPr>
          <a:xfrm>
            <a:off x="5288972" y="3990269"/>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marL="0" lvl="0" indent="0" algn="l" defTabSz="400050">
              <a:lnSpc>
                <a:spcPct val="90000"/>
              </a:lnSpc>
              <a:spcBef>
                <a:spcPct val="0"/>
              </a:spcBef>
              <a:spcAft>
                <a:spcPct val="35000"/>
              </a:spcAft>
              <a:buNone/>
            </a:pPr>
            <a:r>
              <a:rPr lang="en-US" sz="900" b="1" u="none" kern="1200" dirty="0"/>
              <a:t>Scenario 4:</a:t>
            </a:r>
            <a:r>
              <a:rPr lang="en-US" sz="900" b="0" u="none" kern="1200" dirty="0"/>
              <a:t> Formalize the semantic relation between two selected columns</a:t>
            </a:r>
            <a:endParaRPr lang="en-NL" sz="900" b="0" u="none" kern="1200" dirty="0"/>
          </a:p>
        </p:txBody>
      </p:sp>
      <p:sp>
        <p:nvSpPr>
          <p:cNvPr id="16" name="Freeform: Shape 15">
            <a:extLst>
              <a:ext uri="{FF2B5EF4-FFF2-40B4-BE49-F238E27FC236}">
                <a16:creationId xmlns:a16="http://schemas.microsoft.com/office/drawing/2014/main" id="{999FF765-9198-804C-B71B-4531098C5E42}"/>
              </a:ext>
            </a:extLst>
          </p:cNvPr>
          <p:cNvSpPr/>
          <p:nvPr/>
        </p:nvSpPr>
        <p:spPr>
          <a:xfrm>
            <a:off x="9183022" y="4468654"/>
            <a:ext cx="371214" cy="91440"/>
          </a:xfrm>
          <a:custGeom>
            <a:avLst/>
            <a:gdLst>
              <a:gd name="csX0" fmla="*/ 0 w 371214"/>
              <a:gd name="csY0" fmla="*/ 45720 h 91440"/>
              <a:gd name="csX1" fmla="*/ 371214 w 371214"/>
              <a:gd name="csY1" fmla="*/ 45720 h 91440"/>
            </a:gdLst>
            <a:ahLst/>
            <a:cxnLst>
              <a:cxn ang="0">
                <a:pos x="csX0" y="csY0"/>
              </a:cxn>
              <a:cxn ang="0">
                <a:pos x="csX1" y="csY1"/>
              </a:cxn>
            </a:cxnLst>
            <a:rect l="l" t="t" r="r" b="b"/>
            <a:pathLst>
              <a:path w="371214" h="91440">
                <a:moveTo>
                  <a:pt x="0" y="45720"/>
                </a:moveTo>
                <a:lnTo>
                  <a:pt x="371214" y="45720"/>
                </a:lnTo>
              </a:path>
            </a:pathLst>
          </a:cu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88261" tIns="43711" rIns="188263" bIns="43711" numCol="1" spcCol="1270" anchor="ctr" anchorCtr="0">
            <a:noAutofit/>
          </a:bodyPr>
          <a:lstStyle/>
          <a:p>
            <a:pPr marL="0" lvl="0" indent="0" algn="ctr" defTabSz="222250">
              <a:lnSpc>
                <a:spcPct val="90000"/>
              </a:lnSpc>
              <a:spcBef>
                <a:spcPct val="0"/>
              </a:spcBef>
              <a:spcAft>
                <a:spcPct val="35000"/>
              </a:spcAft>
              <a:buNone/>
            </a:pPr>
            <a:endParaRPr lang="en-NL" sz="500" kern="1200"/>
          </a:p>
        </p:txBody>
      </p:sp>
      <p:sp>
        <p:nvSpPr>
          <p:cNvPr id="17" name="Freeform: Shape 16">
            <a:extLst>
              <a:ext uri="{FF2B5EF4-FFF2-40B4-BE49-F238E27FC236}">
                <a16:creationId xmlns:a16="http://schemas.microsoft.com/office/drawing/2014/main" id="{DA37B5E3-1CAB-8526-1F55-C6ADA891A596}"/>
              </a:ext>
            </a:extLst>
          </p:cNvPr>
          <p:cNvSpPr/>
          <p:nvPr/>
        </p:nvSpPr>
        <p:spPr>
          <a:xfrm>
            <a:off x="7437804" y="3990269"/>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marL="0" lvl="0" indent="0" algn="l" defTabSz="400050">
              <a:lnSpc>
                <a:spcPct val="90000"/>
              </a:lnSpc>
              <a:spcBef>
                <a:spcPct val="0"/>
              </a:spcBef>
              <a:spcAft>
                <a:spcPct val="35000"/>
              </a:spcAft>
              <a:buNone/>
            </a:pPr>
            <a:r>
              <a:rPr lang="en-US" sz="900" b="1" u="none" kern="1200" dirty="0">
                <a:solidFill>
                  <a:schemeClr val="bg1"/>
                </a:solidFill>
              </a:rPr>
              <a:t>Scenario 5:</a:t>
            </a:r>
            <a:r>
              <a:rPr lang="en-US" sz="900" b="0" u="none" kern="1200" dirty="0">
                <a:solidFill>
                  <a:schemeClr val="bg1"/>
                </a:solidFill>
              </a:rPr>
              <a:t> </a:t>
            </a:r>
            <a:r>
              <a:rPr lang="en-US" sz="900" kern="1200" dirty="0">
                <a:solidFill>
                  <a:schemeClr val="bg1"/>
                </a:solidFill>
              </a:rPr>
              <a:t>Assess (re)use options around one selected concept</a:t>
            </a:r>
            <a:endParaRPr lang="en-NL" sz="900" kern="1200" dirty="0">
              <a:solidFill>
                <a:schemeClr val="bg1"/>
              </a:solidFill>
            </a:endParaRPr>
          </a:p>
        </p:txBody>
      </p:sp>
      <p:sp>
        <p:nvSpPr>
          <p:cNvPr id="18" name="Freeform: Shape 17">
            <a:extLst>
              <a:ext uri="{FF2B5EF4-FFF2-40B4-BE49-F238E27FC236}">
                <a16:creationId xmlns:a16="http://schemas.microsoft.com/office/drawing/2014/main" id="{BDAC8962-1BB8-AE76-8C7A-8B7A826A6A12}"/>
              </a:ext>
            </a:extLst>
          </p:cNvPr>
          <p:cNvSpPr/>
          <p:nvPr/>
        </p:nvSpPr>
        <p:spPr>
          <a:xfrm>
            <a:off x="9586636" y="3990269"/>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a:solidFill>
            <a:schemeClr val="accent3">
              <a:lumMod val="20000"/>
              <a:lumOff val="80000"/>
            </a:schemeClr>
          </a:solidFill>
          <a:ln>
            <a:solidFill>
              <a:schemeClr val="accent1"/>
            </a:solidFill>
          </a:ln>
        </p:spPr>
        <p:style>
          <a:lnRef idx="0">
            <a:scrgbClr r="0" g="0" b="0"/>
          </a:lnRef>
          <a:fillRef idx="3">
            <a:scrgbClr r="0" g="0" b="0"/>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marL="0" lvl="0" indent="0" algn="l" defTabSz="400050">
              <a:lnSpc>
                <a:spcPct val="90000"/>
              </a:lnSpc>
              <a:spcBef>
                <a:spcPct val="0"/>
              </a:spcBef>
              <a:spcAft>
                <a:spcPct val="35000"/>
              </a:spcAft>
              <a:buNone/>
            </a:pPr>
            <a:r>
              <a:rPr lang="en-US" sz="900" b="1" kern="1200" dirty="0">
                <a:solidFill>
                  <a:schemeClr val="accent1"/>
                </a:solidFill>
              </a:rPr>
              <a:t>Result:</a:t>
            </a:r>
            <a:r>
              <a:rPr lang="en-US" sz="900" kern="1200" dirty="0">
                <a:solidFill>
                  <a:schemeClr val="accent1"/>
                </a:solidFill>
              </a:rPr>
              <a:t> Amir could move from label-based guessing to a defensible decision, identifying which variable fits his study and which related concepts align, should be ruled out, or only partially overlap.</a:t>
            </a:r>
            <a:endParaRPr lang="en-NL" sz="900" kern="1200" dirty="0">
              <a:solidFill>
                <a:schemeClr val="accent1"/>
              </a:solidFill>
            </a:endParaRPr>
          </a:p>
        </p:txBody>
      </p:sp>
      <p:sp>
        <p:nvSpPr>
          <p:cNvPr id="4" name="Slide Number Placeholder 3">
            <a:extLst>
              <a:ext uri="{FF2B5EF4-FFF2-40B4-BE49-F238E27FC236}">
                <a16:creationId xmlns:a16="http://schemas.microsoft.com/office/drawing/2014/main" id="{61D4A03F-D759-3199-5D06-FB7E5301DE54}"/>
              </a:ext>
            </a:extLst>
          </p:cNvPr>
          <p:cNvSpPr>
            <a:spLocks noGrp="1"/>
          </p:cNvSpPr>
          <p:nvPr>
            <p:ph type="sldNum" sz="quarter" idx="12"/>
          </p:nvPr>
        </p:nvSpPr>
        <p:spPr/>
        <p:txBody>
          <a:bodyPr/>
          <a:lstStyle/>
          <a:p>
            <a:fld id="{4FAB73BC-B049-4115-A692-8D63A059BFB8}" type="slidenum">
              <a:rPr lang="en-US" smtClean="0"/>
              <a:pPr/>
              <a:t>16</a:t>
            </a:fld>
            <a:endParaRPr lang="en-US" dirty="0"/>
          </a:p>
        </p:txBody>
      </p:sp>
      <p:sp>
        <p:nvSpPr>
          <p:cNvPr id="9" name="Freeform: Shape 8">
            <a:extLst>
              <a:ext uri="{FF2B5EF4-FFF2-40B4-BE49-F238E27FC236}">
                <a16:creationId xmlns:a16="http://schemas.microsoft.com/office/drawing/2014/main" id="{6A7A5D0A-1E11-2688-27C6-3C43885E6ED0}"/>
              </a:ext>
            </a:extLst>
          </p:cNvPr>
          <p:cNvSpPr/>
          <p:nvPr/>
        </p:nvSpPr>
        <p:spPr>
          <a:xfrm>
            <a:off x="5288972" y="2540244"/>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lvl="0" defTabSz="400050">
              <a:lnSpc>
                <a:spcPct val="90000"/>
              </a:lnSpc>
              <a:spcBef>
                <a:spcPct val="0"/>
              </a:spcBef>
              <a:spcAft>
                <a:spcPct val="35000"/>
              </a:spcAft>
            </a:pPr>
            <a:r>
              <a:rPr lang="it-IT" sz="900" b="1" dirty="0"/>
              <a:t>Scenario 1: </a:t>
            </a:r>
            <a:r>
              <a:rPr lang="en-US" sz="900" dirty="0"/>
              <a:t>Clarify Meanings Before Reuse</a:t>
            </a:r>
            <a:endParaRPr lang="en-NL" sz="900" dirty="0"/>
          </a:p>
        </p:txBody>
      </p:sp>
      <p:sp>
        <p:nvSpPr>
          <p:cNvPr id="11" name="Freeform: Shape 10">
            <a:extLst>
              <a:ext uri="{FF2B5EF4-FFF2-40B4-BE49-F238E27FC236}">
                <a16:creationId xmlns:a16="http://schemas.microsoft.com/office/drawing/2014/main" id="{EB67096A-3C96-E211-925D-47B8C9CD558F}"/>
              </a:ext>
            </a:extLst>
          </p:cNvPr>
          <p:cNvSpPr/>
          <p:nvPr/>
        </p:nvSpPr>
        <p:spPr>
          <a:xfrm>
            <a:off x="7437804" y="2540244"/>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lvl="0" defTabSz="400050">
              <a:lnSpc>
                <a:spcPct val="90000"/>
              </a:lnSpc>
              <a:spcBef>
                <a:spcPct val="0"/>
              </a:spcBef>
              <a:spcAft>
                <a:spcPct val="35000"/>
              </a:spcAft>
            </a:pPr>
            <a:r>
              <a:rPr lang="en-US" sz="900" b="1" u="none" kern="1200" dirty="0"/>
              <a:t>Scenario 2: </a:t>
            </a:r>
            <a:r>
              <a:rPr lang="en-US" sz="900" dirty="0"/>
              <a:t>Identify the dataset that represents the right meaning</a:t>
            </a:r>
            <a:endParaRPr lang="en-NL" sz="900" b="0" u="none" kern="1200" dirty="0"/>
          </a:p>
        </p:txBody>
      </p:sp>
    </p:spTree>
    <p:extLst>
      <p:ext uri="{BB962C8B-B14F-4D97-AF65-F5344CB8AC3E}">
        <p14:creationId xmlns:p14="http://schemas.microsoft.com/office/powerpoint/2010/main" val="21854954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mph" presetSubtype="0" grpId="0" nodeType="withEffect">
                                  <p:stCondLst>
                                    <p:cond delay="0"/>
                                  </p:stCondLst>
                                  <p:childTnLst>
                                    <p:set>
                                      <p:cBhvr>
                                        <p:cTn id="6" dur="indefinite"/>
                                        <p:tgtEl>
                                          <p:spTgt spid="9"/>
                                        </p:tgtEl>
                                        <p:attrNameLst>
                                          <p:attrName>style.opacity</p:attrName>
                                        </p:attrNameLst>
                                      </p:cBhvr>
                                      <p:to>
                                        <p:strVal val="0.5"/>
                                      </p:to>
                                    </p:set>
                                    <p:animEffect filter="image" prLst="opacity: 0.5">
                                      <p:cBhvr rctx="IE">
                                        <p:cTn id="7" dur="indefinite"/>
                                        <p:tgtEl>
                                          <p:spTgt spid="9"/>
                                        </p:tgtEl>
                                      </p:cBhvr>
                                    </p:animEffect>
                                  </p:childTnLst>
                                </p:cTn>
                              </p:par>
                              <p:par>
                                <p:cTn id="8" presetID="6" presetClass="emph" presetSubtype="0" fill="hold" grpId="0" nodeType="withEffect">
                                  <p:stCondLst>
                                    <p:cond delay="0"/>
                                  </p:stCondLst>
                                  <p:childTnLst>
                                    <p:animScale>
                                      <p:cBhvr>
                                        <p:cTn id="9" dur="1000" fill="hold"/>
                                        <p:tgtEl>
                                          <p:spTgt spid="11"/>
                                        </p:tgtEl>
                                      </p:cBhvr>
                                      <p:by x="150000" y="150000"/>
                                    </p:animScale>
                                  </p:childTnLst>
                                </p:cTn>
                              </p:par>
                              <p:par>
                                <p:cTn id="10" presetID="9" presetClass="emph" presetSubtype="0" grpId="0" nodeType="withEffect">
                                  <p:stCondLst>
                                    <p:cond delay="0"/>
                                  </p:stCondLst>
                                  <p:childTnLst>
                                    <p:set>
                                      <p:cBhvr>
                                        <p:cTn id="11" dur="indefinite"/>
                                        <p:tgtEl>
                                          <p:spTgt spid="13"/>
                                        </p:tgtEl>
                                        <p:attrNameLst>
                                          <p:attrName>style.opacity</p:attrName>
                                        </p:attrNameLst>
                                      </p:cBhvr>
                                      <p:to>
                                        <p:strVal val="0.5"/>
                                      </p:to>
                                    </p:set>
                                    <p:animEffect filter="image" prLst="opacity: 0.5">
                                      <p:cBhvr rctx="IE">
                                        <p:cTn id="12" dur="indefinite"/>
                                        <p:tgtEl>
                                          <p:spTgt spid="13"/>
                                        </p:tgtEl>
                                      </p:cBhvr>
                                    </p:animEffect>
                                  </p:childTnLst>
                                </p:cTn>
                              </p:par>
                              <p:par>
                                <p:cTn id="13" presetID="9" presetClass="emph" presetSubtype="0" grpId="0" nodeType="withEffect">
                                  <p:stCondLst>
                                    <p:cond delay="0"/>
                                  </p:stCondLst>
                                  <p:childTnLst>
                                    <p:set>
                                      <p:cBhvr>
                                        <p:cTn id="14" dur="indefinite"/>
                                        <p:tgtEl>
                                          <p:spTgt spid="18"/>
                                        </p:tgtEl>
                                        <p:attrNameLst>
                                          <p:attrName>style.opacity</p:attrName>
                                        </p:attrNameLst>
                                      </p:cBhvr>
                                      <p:to>
                                        <p:strVal val="0.5"/>
                                      </p:to>
                                    </p:set>
                                    <p:animEffect filter="image" prLst="opacity: 0.5">
                                      <p:cBhvr rctx="IE">
                                        <p:cTn id="15" dur="indefinite"/>
                                        <p:tgtEl>
                                          <p:spTgt spid="18"/>
                                        </p:tgtEl>
                                      </p:cBhvr>
                                    </p:animEffect>
                                  </p:childTnLst>
                                </p:cTn>
                              </p:par>
                              <p:par>
                                <p:cTn id="16" presetID="9" presetClass="emph" presetSubtype="0" grpId="0" nodeType="withEffect">
                                  <p:stCondLst>
                                    <p:cond delay="0"/>
                                  </p:stCondLst>
                                  <p:childTnLst>
                                    <p:set>
                                      <p:cBhvr>
                                        <p:cTn id="17" dur="indefinite"/>
                                        <p:tgtEl>
                                          <p:spTgt spid="17"/>
                                        </p:tgtEl>
                                        <p:attrNameLst>
                                          <p:attrName>style.opacity</p:attrName>
                                        </p:attrNameLst>
                                      </p:cBhvr>
                                      <p:to>
                                        <p:strVal val="0.5"/>
                                      </p:to>
                                    </p:set>
                                    <p:animEffect filter="image" prLst="opacity: 0.5">
                                      <p:cBhvr rctx="IE">
                                        <p:cTn id="18" dur="indefinite"/>
                                        <p:tgtEl>
                                          <p:spTgt spid="17"/>
                                        </p:tgtEl>
                                      </p:cBhvr>
                                    </p:animEffect>
                                  </p:childTnLst>
                                </p:cTn>
                              </p:par>
                              <p:par>
                                <p:cTn id="19" presetID="9" presetClass="emph" presetSubtype="0" grpId="0" nodeType="withEffect">
                                  <p:stCondLst>
                                    <p:cond delay="0"/>
                                  </p:stCondLst>
                                  <p:childTnLst>
                                    <p:set>
                                      <p:cBhvr>
                                        <p:cTn id="20" dur="indefinite"/>
                                        <p:tgtEl>
                                          <p:spTgt spid="15"/>
                                        </p:tgtEl>
                                        <p:attrNameLst>
                                          <p:attrName>style.opacity</p:attrName>
                                        </p:attrNameLst>
                                      </p:cBhvr>
                                      <p:to>
                                        <p:strVal val="0.5"/>
                                      </p:to>
                                    </p:set>
                                    <p:animEffect filter="image" prLst="opacity: 0.5">
                                      <p:cBhvr rctx="IE">
                                        <p:cTn id="21" dur="indefinite"/>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5" grpId="0" animBg="1"/>
      <p:bldP spid="17" grpId="0" animBg="1"/>
      <p:bldP spid="18" grpId="0" animBg="1"/>
      <p:bldP spid="9" grpId="0" animBg="1"/>
      <p:bldP spid="11"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B025B-C5F6-A364-2B91-B87B5DF6BDC5}"/>
              </a:ext>
            </a:extLst>
          </p:cNvPr>
          <p:cNvSpPr>
            <a:spLocks noGrp="1"/>
          </p:cNvSpPr>
          <p:nvPr>
            <p:ph type="title"/>
          </p:nvPr>
        </p:nvSpPr>
        <p:spPr>
          <a:xfrm>
            <a:off x="695326" y="386001"/>
            <a:ext cx="10353673" cy="929259"/>
          </a:xfrm>
        </p:spPr>
        <p:txBody>
          <a:bodyPr/>
          <a:lstStyle/>
          <a:p>
            <a:r>
              <a:rPr lang="en-US" sz="3600" dirty="0"/>
              <a:t>Amir’s Question and Challenge</a:t>
            </a:r>
            <a:endParaRPr lang="en-NL" sz="3600" dirty="0"/>
          </a:p>
        </p:txBody>
      </p:sp>
      <p:sp>
        <p:nvSpPr>
          <p:cNvPr id="4" name="Slide Number Placeholder 3">
            <a:extLst>
              <a:ext uri="{FF2B5EF4-FFF2-40B4-BE49-F238E27FC236}">
                <a16:creationId xmlns:a16="http://schemas.microsoft.com/office/drawing/2014/main" id="{A505AD8B-0E0E-10B1-C430-A3094CEDE2EB}"/>
              </a:ext>
            </a:extLst>
          </p:cNvPr>
          <p:cNvSpPr>
            <a:spLocks noGrp="1"/>
          </p:cNvSpPr>
          <p:nvPr>
            <p:ph type="sldNum" sz="quarter" idx="12"/>
          </p:nvPr>
        </p:nvSpPr>
        <p:spPr/>
        <p:txBody>
          <a:bodyPr/>
          <a:lstStyle/>
          <a:p>
            <a:fld id="{4FAB73BC-B049-4115-A692-8D63A059BFB8}" type="slidenum">
              <a:rPr lang="en-US" smtClean="0"/>
              <a:pPr/>
              <a:t>17</a:t>
            </a:fld>
            <a:endParaRPr lang="en-US" dirty="0"/>
          </a:p>
        </p:txBody>
      </p:sp>
      <p:sp>
        <p:nvSpPr>
          <p:cNvPr id="9" name="Rectangle: Rounded Corners 8">
            <a:extLst>
              <a:ext uri="{FF2B5EF4-FFF2-40B4-BE49-F238E27FC236}">
                <a16:creationId xmlns:a16="http://schemas.microsoft.com/office/drawing/2014/main" id="{875C657C-B6C5-F375-57B7-D45100EA9781}"/>
              </a:ext>
            </a:extLst>
          </p:cNvPr>
          <p:cNvSpPr/>
          <p:nvPr/>
        </p:nvSpPr>
        <p:spPr>
          <a:xfrm>
            <a:off x="695327" y="1637270"/>
            <a:ext cx="10801348" cy="4321175"/>
          </a:xfrm>
          <a:prstGeom prst="roundRect">
            <a:avLst>
              <a:gd name="adj" fmla="val 0"/>
            </a:avLst>
          </a:prstGeom>
          <a:solidFill>
            <a:schemeClr val="accent1">
              <a:lumMod val="20000"/>
              <a:lumOff val="80000"/>
            </a:schemeClr>
          </a:solidFill>
          <a:ln w="19050">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NL"/>
          </a:p>
        </p:txBody>
      </p:sp>
      <p:sp>
        <p:nvSpPr>
          <p:cNvPr id="25" name="Freeform: Shape 24">
            <a:extLst>
              <a:ext uri="{FF2B5EF4-FFF2-40B4-BE49-F238E27FC236}">
                <a16:creationId xmlns:a16="http://schemas.microsoft.com/office/drawing/2014/main" id="{580EA0D1-D1F1-B58D-8E42-C28E2B68AFDA}"/>
              </a:ext>
            </a:extLst>
          </p:cNvPr>
          <p:cNvSpPr/>
          <p:nvPr/>
        </p:nvSpPr>
        <p:spPr>
          <a:xfrm>
            <a:off x="960855" y="1882235"/>
            <a:ext cx="6293737" cy="1261697"/>
          </a:xfrm>
          <a:custGeom>
            <a:avLst/>
            <a:gdLst>
              <a:gd name="csX0" fmla="*/ 0 w 6696074"/>
              <a:gd name="csY0" fmla="*/ 0 h 1612800"/>
              <a:gd name="csX1" fmla="*/ 6696074 w 6696074"/>
              <a:gd name="csY1" fmla="*/ 0 h 1612800"/>
              <a:gd name="csX2" fmla="*/ 6696074 w 6696074"/>
              <a:gd name="csY2" fmla="*/ 1612800 h 1612800"/>
              <a:gd name="csX3" fmla="*/ 0 w 6696074"/>
              <a:gd name="csY3" fmla="*/ 1612800 h 1612800"/>
              <a:gd name="csX4" fmla="*/ 0 w 6696074"/>
              <a:gd name="csY4" fmla="*/ 0 h 1612800"/>
            </a:gdLst>
            <a:ahLst/>
            <a:cxnLst>
              <a:cxn ang="0">
                <a:pos x="csX0" y="csY0"/>
              </a:cxn>
              <a:cxn ang="0">
                <a:pos x="csX1" y="csY1"/>
              </a:cxn>
              <a:cxn ang="0">
                <a:pos x="csX2" y="csY2"/>
              </a:cxn>
              <a:cxn ang="0">
                <a:pos x="csX3" y="csY3"/>
              </a:cxn>
              <a:cxn ang="0">
                <a:pos x="csX4" y="csY4"/>
              </a:cxn>
            </a:cxnLst>
            <a:rect l="l" t="t" r="r" b="b"/>
            <a:pathLst>
              <a:path w="6696074" h="1612800">
                <a:moveTo>
                  <a:pt x="0" y="0"/>
                </a:moveTo>
                <a:lnTo>
                  <a:pt x="6696074" y="0"/>
                </a:lnTo>
                <a:lnTo>
                  <a:pt x="6696074" y="1612800"/>
                </a:lnTo>
                <a:lnTo>
                  <a:pt x="0" y="1612800"/>
                </a:lnTo>
                <a:lnTo>
                  <a:pt x="0" y="0"/>
                </a:lnTo>
                <a:close/>
              </a:path>
            </a:pathLst>
          </a:custGeom>
        </p:spPr>
        <p:style>
          <a:lnRef idx="1">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360000" tIns="360000" rIns="360000" bIns="108000" numCol="1" spcCol="1270" anchor="t" anchorCtr="0">
            <a:noAutofit/>
          </a:bodyPr>
          <a:lstStyle/>
          <a:p>
            <a:pPr marL="171450" lvl="1" indent="-171450" defTabSz="711200">
              <a:lnSpc>
                <a:spcPct val="90000"/>
              </a:lnSpc>
              <a:spcBef>
                <a:spcPct val="0"/>
              </a:spcBef>
              <a:spcAft>
                <a:spcPts val="600"/>
              </a:spcAft>
              <a:buChar char="•"/>
            </a:pPr>
            <a:r>
              <a:rPr lang="en-US" sz="1400" dirty="0"/>
              <a:t>Find the datasets that contain the right variable for his study</a:t>
            </a:r>
          </a:p>
          <a:p>
            <a:pPr marL="171450" lvl="1" indent="-171450" defTabSz="711200">
              <a:lnSpc>
                <a:spcPct val="90000"/>
              </a:lnSpc>
              <a:spcBef>
                <a:spcPct val="0"/>
              </a:spcBef>
              <a:spcAft>
                <a:spcPts val="600"/>
              </a:spcAft>
              <a:buChar char="•"/>
            </a:pPr>
            <a:r>
              <a:rPr lang="en-US" sz="1400" dirty="0"/>
              <a:t>Select the columns that represent </a:t>
            </a:r>
            <a:r>
              <a:rPr lang="en-US" sz="1400" b="1" dirty="0"/>
              <a:t>biological sex</a:t>
            </a:r>
          </a:p>
          <a:p>
            <a:pPr marL="171450" lvl="1" indent="-171450" defTabSz="711200">
              <a:lnSpc>
                <a:spcPct val="90000"/>
              </a:lnSpc>
              <a:spcBef>
                <a:spcPct val="0"/>
              </a:spcBef>
              <a:spcAft>
                <a:spcPts val="600"/>
              </a:spcAft>
              <a:buChar char="•"/>
            </a:pPr>
            <a:r>
              <a:rPr lang="en-US" sz="1400" dirty="0"/>
              <a:t>Build a cohort using data that fit his research question</a:t>
            </a:r>
            <a:endParaRPr lang="en-NL" sz="1400" kern="1200" dirty="0"/>
          </a:p>
        </p:txBody>
      </p:sp>
      <p:sp>
        <p:nvSpPr>
          <p:cNvPr id="26" name="Freeform: Shape 25">
            <a:extLst>
              <a:ext uri="{FF2B5EF4-FFF2-40B4-BE49-F238E27FC236}">
                <a16:creationId xmlns:a16="http://schemas.microsoft.com/office/drawing/2014/main" id="{5F694844-08CF-3562-F739-02CD74F86281}"/>
              </a:ext>
            </a:extLst>
          </p:cNvPr>
          <p:cNvSpPr/>
          <p:nvPr/>
        </p:nvSpPr>
        <p:spPr>
          <a:xfrm>
            <a:off x="1085983" y="1744575"/>
            <a:ext cx="3163443" cy="392715"/>
          </a:xfrm>
          <a:custGeom>
            <a:avLst/>
            <a:gdLst>
              <a:gd name="csX0" fmla="*/ 0 w 4687251"/>
              <a:gd name="csY0" fmla="*/ 157443 h 944640"/>
              <a:gd name="csX1" fmla="*/ 157443 w 4687251"/>
              <a:gd name="csY1" fmla="*/ 0 h 944640"/>
              <a:gd name="csX2" fmla="*/ 4529808 w 4687251"/>
              <a:gd name="csY2" fmla="*/ 0 h 944640"/>
              <a:gd name="csX3" fmla="*/ 4687251 w 4687251"/>
              <a:gd name="csY3" fmla="*/ 157443 h 944640"/>
              <a:gd name="csX4" fmla="*/ 4687251 w 4687251"/>
              <a:gd name="csY4" fmla="*/ 787197 h 944640"/>
              <a:gd name="csX5" fmla="*/ 4529808 w 4687251"/>
              <a:gd name="csY5" fmla="*/ 944640 h 944640"/>
              <a:gd name="csX6" fmla="*/ 157443 w 4687251"/>
              <a:gd name="csY6" fmla="*/ 944640 h 944640"/>
              <a:gd name="csX7" fmla="*/ 0 w 4687251"/>
              <a:gd name="csY7" fmla="*/ 787197 h 944640"/>
              <a:gd name="csX8" fmla="*/ 0 w 4687251"/>
              <a:gd name="csY8" fmla="*/ 157443 h 9446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687251" h="944640">
                <a:moveTo>
                  <a:pt x="0" y="157443"/>
                </a:moveTo>
                <a:cubicBezTo>
                  <a:pt x="0" y="70490"/>
                  <a:pt x="70490" y="0"/>
                  <a:pt x="157443" y="0"/>
                </a:cubicBezTo>
                <a:lnTo>
                  <a:pt x="4529808" y="0"/>
                </a:lnTo>
                <a:cubicBezTo>
                  <a:pt x="4616761" y="0"/>
                  <a:pt x="4687251" y="70490"/>
                  <a:pt x="4687251" y="157443"/>
                </a:cubicBezTo>
                <a:lnTo>
                  <a:pt x="4687251" y="787197"/>
                </a:lnTo>
                <a:cubicBezTo>
                  <a:pt x="4687251" y="874150"/>
                  <a:pt x="4616761" y="944640"/>
                  <a:pt x="4529808" y="944640"/>
                </a:cubicBezTo>
                <a:lnTo>
                  <a:pt x="157443" y="944640"/>
                </a:lnTo>
                <a:cubicBezTo>
                  <a:pt x="70490" y="944640"/>
                  <a:pt x="0" y="874150"/>
                  <a:pt x="0" y="787197"/>
                </a:cubicBezTo>
                <a:lnTo>
                  <a:pt x="0" y="157443"/>
                </a:lnTo>
                <a:close/>
              </a:path>
            </a:pathLst>
          </a:custGeom>
        </p:spPr>
        <p:style>
          <a:lnRef idx="0">
            <a:schemeClr val="lt1">
              <a:hueOff val="0"/>
              <a:satOff val="0"/>
              <a:lumOff val="0"/>
              <a:alphaOff val="0"/>
            </a:schemeClr>
          </a:lnRef>
          <a:fillRef idx="3">
            <a:schemeClr val="accent4">
              <a:hueOff val="0"/>
              <a:satOff val="0"/>
              <a:lumOff val="0"/>
              <a:alphaOff val="0"/>
            </a:schemeClr>
          </a:fillRef>
          <a:effectRef idx="2">
            <a:schemeClr val="accent4">
              <a:hueOff val="0"/>
              <a:satOff val="0"/>
              <a:lumOff val="0"/>
              <a:alphaOff val="0"/>
            </a:schemeClr>
          </a:effectRef>
          <a:fontRef idx="minor">
            <a:schemeClr val="lt1"/>
          </a:fontRef>
        </p:style>
        <p:txBody>
          <a:bodyPr spcFirstLastPara="0" vert="horz" wrap="square" lIns="223281" tIns="46114" rIns="223281" bIns="46114" numCol="1" spcCol="1270" anchor="ctr" anchorCtr="0">
            <a:noAutofit/>
          </a:bodyPr>
          <a:lstStyle/>
          <a:p>
            <a:pPr marL="0" lvl="0" indent="0" algn="l" defTabSz="800100">
              <a:lnSpc>
                <a:spcPct val="90000"/>
              </a:lnSpc>
              <a:spcBef>
                <a:spcPct val="0"/>
              </a:spcBef>
              <a:spcAft>
                <a:spcPct val="35000"/>
              </a:spcAft>
              <a:buNone/>
            </a:pPr>
            <a:r>
              <a:rPr lang="en-US" sz="1800" kern="1200" dirty="0"/>
              <a:t>What Amir wants</a:t>
            </a:r>
            <a:endParaRPr lang="en-NL" sz="1800" kern="1200" dirty="0"/>
          </a:p>
        </p:txBody>
      </p:sp>
      <p:sp>
        <p:nvSpPr>
          <p:cNvPr id="27" name="Freeform: Shape 26">
            <a:extLst>
              <a:ext uri="{FF2B5EF4-FFF2-40B4-BE49-F238E27FC236}">
                <a16:creationId xmlns:a16="http://schemas.microsoft.com/office/drawing/2014/main" id="{F7FAED7C-589C-F88B-25DF-B6D5551E13D8}"/>
              </a:ext>
            </a:extLst>
          </p:cNvPr>
          <p:cNvSpPr/>
          <p:nvPr/>
        </p:nvSpPr>
        <p:spPr>
          <a:xfrm>
            <a:off x="960855" y="3449062"/>
            <a:ext cx="6293737" cy="1261697"/>
          </a:xfrm>
          <a:custGeom>
            <a:avLst/>
            <a:gdLst>
              <a:gd name="csX0" fmla="*/ 0 w 6696074"/>
              <a:gd name="csY0" fmla="*/ 0 h 1537199"/>
              <a:gd name="csX1" fmla="*/ 6696074 w 6696074"/>
              <a:gd name="csY1" fmla="*/ 0 h 1537199"/>
              <a:gd name="csX2" fmla="*/ 6696074 w 6696074"/>
              <a:gd name="csY2" fmla="*/ 1537199 h 1537199"/>
              <a:gd name="csX3" fmla="*/ 0 w 6696074"/>
              <a:gd name="csY3" fmla="*/ 1537199 h 1537199"/>
              <a:gd name="csX4" fmla="*/ 0 w 6696074"/>
              <a:gd name="csY4" fmla="*/ 0 h 1537199"/>
            </a:gdLst>
            <a:ahLst/>
            <a:cxnLst>
              <a:cxn ang="0">
                <a:pos x="csX0" y="csY0"/>
              </a:cxn>
              <a:cxn ang="0">
                <a:pos x="csX1" y="csY1"/>
              </a:cxn>
              <a:cxn ang="0">
                <a:pos x="csX2" y="csY2"/>
              </a:cxn>
              <a:cxn ang="0">
                <a:pos x="csX3" y="csY3"/>
              </a:cxn>
              <a:cxn ang="0">
                <a:pos x="csX4" y="csY4"/>
              </a:cxn>
            </a:cxnLst>
            <a:rect l="l" t="t" r="r" b="b"/>
            <a:pathLst>
              <a:path w="6696074" h="1537199">
                <a:moveTo>
                  <a:pt x="0" y="0"/>
                </a:moveTo>
                <a:lnTo>
                  <a:pt x="6696074" y="0"/>
                </a:lnTo>
                <a:lnTo>
                  <a:pt x="6696074" y="1537199"/>
                </a:lnTo>
                <a:lnTo>
                  <a:pt x="0" y="1537199"/>
                </a:lnTo>
                <a:lnTo>
                  <a:pt x="0" y="0"/>
                </a:lnTo>
                <a:close/>
              </a:path>
            </a:pathLst>
          </a:custGeom>
        </p:spPr>
        <p:style>
          <a:lnRef idx="1">
            <a:schemeClr val="accent4">
              <a:hueOff val="-7382464"/>
              <a:satOff val="22475"/>
              <a:lumOff val="33922"/>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360000" tIns="360000" rIns="360000" bIns="108000" numCol="1" spcCol="1270" anchor="t" anchorCtr="0">
            <a:noAutofit/>
          </a:bodyPr>
          <a:lstStyle/>
          <a:p>
            <a:pPr marL="171450" lvl="1" indent="-171450" defTabSz="711200">
              <a:lnSpc>
                <a:spcPct val="90000"/>
              </a:lnSpc>
              <a:spcBef>
                <a:spcPct val="0"/>
              </a:spcBef>
              <a:spcAft>
                <a:spcPts val="600"/>
              </a:spcAft>
              <a:buChar char="•"/>
            </a:pPr>
            <a:r>
              <a:rPr lang="en-US" sz="1400" dirty="0"/>
              <a:t>Several datasets may appear relevant at first glance.</a:t>
            </a:r>
          </a:p>
          <a:p>
            <a:pPr marL="171450" lvl="1" indent="-171450" defTabSz="711200">
              <a:lnSpc>
                <a:spcPct val="90000"/>
              </a:lnSpc>
              <a:spcBef>
                <a:spcPct val="0"/>
              </a:spcBef>
              <a:spcAft>
                <a:spcPts val="600"/>
              </a:spcAft>
              <a:buChar char="•"/>
            </a:pPr>
            <a:r>
              <a:rPr lang="en-US" sz="1400" dirty="0"/>
              <a:t>However, the visible sex/gender-related columns represent different meanings, so he cannot choose safely from labels alone.</a:t>
            </a:r>
            <a:endParaRPr lang="en-NL" sz="1400" kern="1200" dirty="0"/>
          </a:p>
        </p:txBody>
      </p:sp>
      <p:sp>
        <p:nvSpPr>
          <p:cNvPr id="28" name="Freeform: Shape 27">
            <a:extLst>
              <a:ext uri="{FF2B5EF4-FFF2-40B4-BE49-F238E27FC236}">
                <a16:creationId xmlns:a16="http://schemas.microsoft.com/office/drawing/2014/main" id="{47A78C1D-D974-3DAB-0B58-6E241E80BA90}"/>
              </a:ext>
            </a:extLst>
          </p:cNvPr>
          <p:cNvSpPr/>
          <p:nvPr/>
        </p:nvSpPr>
        <p:spPr>
          <a:xfrm>
            <a:off x="1085983" y="3281592"/>
            <a:ext cx="3163443" cy="392715"/>
          </a:xfrm>
          <a:custGeom>
            <a:avLst/>
            <a:gdLst>
              <a:gd name="csX0" fmla="*/ 0 w 4687251"/>
              <a:gd name="csY0" fmla="*/ 157443 h 944640"/>
              <a:gd name="csX1" fmla="*/ 157443 w 4687251"/>
              <a:gd name="csY1" fmla="*/ 0 h 944640"/>
              <a:gd name="csX2" fmla="*/ 4529808 w 4687251"/>
              <a:gd name="csY2" fmla="*/ 0 h 944640"/>
              <a:gd name="csX3" fmla="*/ 4687251 w 4687251"/>
              <a:gd name="csY3" fmla="*/ 157443 h 944640"/>
              <a:gd name="csX4" fmla="*/ 4687251 w 4687251"/>
              <a:gd name="csY4" fmla="*/ 787197 h 944640"/>
              <a:gd name="csX5" fmla="*/ 4529808 w 4687251"/>
              <a:gd name="csY5" fmla="*/ 944640 h 944640"/>
              <a:gd name="csX6" fmla="*/ 157443 w 4687251"/>
              <a:gd name="csY6" fmla="*/ 944640 h 944640"/>
              <a:gd name="csX7" fmla="*/ 0 w 4687251"/>
              <a:gd name="csY7" fmla="*/ 787197 h 944640"/>
              <a:gd name="csX8" fmla="*/ 0 w 4687251"/>
              <a:gd name="csY8" fmla="*/ 157443 h 9446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687251" h="944640">
                <a:moveTo>
                  <a:pt x="0" y="157443"/>
                </a:moveTo>
                <a:cubicBezTo>
                  <a:pt x="0" y="70490"/>
                  <a:pt x="70490" y="0"/>
                  <a:pt x="157443" y="0"/>
                </a:cubicBezTo>
                <a:lnTo>
                  <a:pt x="4529808" y="0"/>
                </a:lnTo>
                <a:cubicBezTo>
                  <a:pt x="4616761" y="0"/>
                  <a:pt x="4687251" y="70490"/>
                  <a:pt x="4687251" y="157443"/>
                </a:cubicBezTo>
                <a:lnTo>
                  <a:pt x="4687251" y="787197"/>
                </a:lnTo>
                <a:cubicBezTo>
                  <a:pt x="4687251" y="874150"/>
                  <a:pt x="4616761" y="944640"/>
                  <a:pt x="4529808" y="944640"/>
                </a:cubicBezTo>
                <a:lnTo>
                  <a:pt x="157443" y="944640"/>
                </a:lnTo>
                <a:cubicBezTo>
                  <a:pt x="70490" y="944640"/>
                  <a:pt x="0" y="874150"/>
                  <a:pt x="0" y="787197"/>
                </a:cubicBezTo>
                <a:lnTo>
                  <a:pt x="0" y="157443"/>
                </a:lnTo>
                <a:close/>
              </a:path>
            </a:pathLst>
          </a:custGeom>
        </p:spPr>
        <p:style>
          <a:lnRef idx="0">
            <a:schemeClr val="lt1">
              <a:hueOff val="0"/>
              <a:satOff val="0"/>
              <a:lumOff val="0"/>
              <a:alphaOff val="0"/>
            </a:schemeClr>
          </a:lnRef>
          <a:fillRef idx="3">
            <a:schemeClr val="accent4">
              <a:hueOff val="-7382464"/>
              <a:satOff val="22475"/>
              <a:lumOff val="33922"/>
              <a:alphaOff val="0"/>
            </a:schemeClr>
          </a:fillRef>
          <a:effectRef idx="2">
            <a:schemeClr val="accent4">
              <a:hueOff val="-7382464"/>
              <a:satOff val="22475"/>
              <a:lumOff val="33922"/>
              <a:alphaOff val="0"/>
            </a:schemeClr>
          </a:effectRef>
          <a:fontRef idx="minor">
            <a:schemeClr val="lt1"/>
          </a:fontRef>
        </p:style>
        <p:txBody>
          <a:bodyPr spcFirstLastPara="0" vert="horz" wrap="square" lIns="223281" tIns="46114" rIns="223281" bIns="46114" numCol="1" spcCol="1270" anchor="ctr" anchorCtr="0">
            <a:noAutofit/>
          </a:bodyPr>
          <a:lstStyle/>
          <a:p>
            <a:pPr marL="0" lvl="0" indent="0" algn="l" defTabSz="800100">
              <a:lnSpc>
                <a:spcPct val="90000"/>
              </a:lnSpc>
              <a:spcBef>
                <a:spcPct val="0"/>
              </a:spcBef>
              <a:spcAft>
                <a:spcPct val="35000"/>
              </a:spcAft>
              <a:buNone/>
            </a:pPr>
            <a:r>
              <a:rPr lang="en-US" sz="1800" kern="1200" dirty="0"/>
              <a:t>Amir’s challenge</a:t>
            </a:r>
            <a:endParaRPr lang="en-NL" sz="1800" kern="1200" dirty="0"/>
          </a:p>
        </p:txBody>
      </p:sp>
      <p:sp>
        <p:nvSpPr>
          <p:cNvPr id="29" name="TextBox 28">
            <a:extLst>
              <a:ext uri="{FF2B5EF4-FFF2-40B4-BE49-F238E27FC236}">
                <a16:creationId xmlns:a16="http://schemas.microsoft.com/office/drawing/2014/main" id="{8809F944-AC92-D91E-EEFB-C47038ED6776}"/>
              </a:ext>
            </a:extLst>
          </p:cNvPr>
          <p:cNvSpPr txBox="1"/>
          <p:nvPr/>
        </p:nvSpPr>
        <p:spPr>
          <a:xfrm>
            <a:off x="653368" y="4770467"/>
            <a:ext cx="6908709" cy="979069"/>
          </a:xfrm>
          <a:prstGeom prst="rect">
            <a:avLst/>
          </a:prstGeom>
          <a:noFill/>
        </p:spPr>
        <p:txBody>
          <a:bodyPr wrap="square" lIns="180000" tIns="180000" rIns="180000" bIns="180000" rtlCol="0">
            <a:spAutoFit/>
          </a:bodyPr>
          <a:lstStyle/>
          <a:p>
            <a:pPr algn="ctr"/>
            <a:r>
              <a:rPr lang="en-US" sz="2000" b="1" i="1" dirty="0"/>
              <a:t>“Which of these datasets contains the variable that represents biological sex?”</a:t>
            </a:r>
            <a:endParaRPr lang="en-US" sz="2000" i="1" dirty="0"/>
          </a:p>
        </p:txBody>
      </p:sp>
      <p:sp>
        <p:nvSpPr>
          <p:cNvPr id="5" name="TextBox 4">
            <a:extLst>
              <a:ext uri="{FF2B5EF4-FFF2-40B4-BE49-F238E27FC236}">
                <a16:creationId xmlns:a16="http://schemas.microsoft.com/office/drawing/2014/main" id="{C00B8A67-E47D-6574-6C90-893E4D33524A}"/>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2</a:t>
            </a:r>
            <a:endParaRPr lang="en-NL" sz="1000" b="1" dirty="0"/>
          </a:p>
        </p:txBody>
      </p:sp>
      <p:graphicFrame>
        <p:nvGraphicFramePr>
          <p:cNvPr id="3" name="Content Placeholder 4">
            <a:extLst>
              <a:ext uri="{FF2B5EF4-FFF2-40B4-BE49-F238E27FC236}">
                <a16:creationId xmlns:a16="http://schemas.microsoft.com/office/drawing/2014/main" id="{D16D6085-987F-C5A3-7B78-29C2388B34AF}"/>
              </a:ext>
            </a:extLst>
          </p:cNvPr>
          <p:cNvGraphicFramePr>
            <a:graphicFrameLocks/>
          </p:cNvGraphicFramePr>
          <p:nvPr>
            <p:extLst>
              <p:ext uri="{D42A27DB-BD31-4B8C-83A1-F6EECF244321}">
                <p14:modId xmlns:p14="http://schemas.microsoft.com/office/powerpoint/2010/main" val="3217226190"/>
              </p:ext>
            </p:extLst>
          </p:nvPr>
        </p:nvGraphicFramePr>
        <p:xfrm>
          <a:off x="7878355" y="3118199"/>
          <a:ext cx="2811677" cy="1278051"/>
        </p:xfrm>
        <a:graphic>
          <a:graphicData uri="http://schemas.openxmlformats.org/drawingml/2006/table">
            <a:tbl>
              <a:tblPr firstRow="1" bandRow="1">
                <a:effectLst>
                  <a:outerShdw blurRad="50800" dist="38100" dir="2700000" algn="tl" rotWithShape="0">
                    <a:prstClr val="black">
                      <a:alpha val="40000"/>
                    </a:prstClr>
                  </a:outerShdw>
                </a:effectLst>
                <a:tableStyleId>{21E4AEA4-8DFA-4A89-87EB-49C32662AFE0}</a:tableStyleId>
              </a:tblPr>
              <a:tblGrid>
                <a:gridCol w="360000">
                  <a:extLst>
                    <a:ext uri="{9D8B030D-6E8A-4147-A177-3AD203B41FA5}">
                      <a16:colId xmlns:a16="http://schemas.microsoft.com/office/drawing/2014/main" val="979315127"/>
                    </a:ext>
                  </a:extLst>
                </a:gridCol>
                <a:gridCol w="1731677">
                  <a:extLst>
                    <a:ext uri="{9D8B030D-6E8A-4147-A177-3AD203B41FA5}">
                      <a16:colId xmlns:a16="http://schemas.microsoft.com/office/drawing/2014/main" val="2075302567"/>
                    </a:ext>
                  </a:extLst>
                </a:gridCol>
                <a:gridCol w="360000">
                  <a:extLst>
                    <a:ext uri="{9D8B030D-6E8A-4147-A177-3AD203B41FA5}">
                      <a16:colId xmlns:a16="http://schemas.microsoft.com/office/drawing/2014/main" val="660631070"/>
                    </a:ext>
                  </a:extLst>
                </a:gridCol>
                <a:gridCol w="360000">
                  <a:extLst>
                    <a:ext uri="{9D8B030D-6E8A-4147-A177-3AD203B41FA5}">
                      <a16:colId xmlns:a16="http://schemas.microsoft.com/office/drawing/2014/main" val="1525013378"/>
                    </a:ext>
                  </a:extLst>
                </a:gridCol>
              </a:tblGrid>
              <a:tr h="367200">
                <a:tc>
                  <a:txBody>
                    <a:bodyPr/>
                    <a:lstStyle/>
                    <a:p>
                      <a:pPr algn="l"/>
                      <a:endParaRPr lang="en-NL" sz="1100" dirty="0"/>
                    </a:p>
                  </a:txBody>
                  <a:tcPr marL="72000" anchor="ctr"/>
                </a:tc>
                <a:tc>
                  <a:txBody>
                    <a:bodyPr/>
                    <a:lstStyle/>
                    <a:p>
                      <a:pPr algn="l"/>
                      <a:r>
                        <a:rPr lang="en-US" sz="900" dirty="0" err="1"/>
                        <a:t>hri-openehr:legal-gender</a:t>
                      </a:r>
                      <a:endParaRPr lang="en-US" sz="900" dirty="0"/>
                    </a:p>
                    <a:p>
                      <a:pPr algn="l"/>
                      <a:r>
                        <a:rPr lang="en-US" sz="900" dirty="0"/>
                        <a:t>("Legal gender"@</a:t>
                      </a:r>
                      <a:r>
                        <a:rPr lang="en-US" sz="900" dirty="0" err="1"/>
                        <a:t>en</a:t>
                      </a:r>
                      <a:r>
                        <a:rPr lang="en-US" sz="900" dirty="0"/>
                        <a:t>)</a:t>
                      </a:r>
                      <a:endParaRPr lang="en-US" sz="850" dirty="0"/>
                    </a:p>
                  </a:txBody>
                  <a:tcPr marL="72000" marR="18000" marT="0" marB="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3012902903"/>
                  </a:ext>
                </a:extLst>
              </a:tr>
              <a:tr h="306000">
                <a:tc>
                  <a:txBody>
                    <a:bodyPr/>
                    <a:lstStyle/>
                    <a:p>
                      <a:pPr algn="l"/>
                      <a:endParaRPr lang="en-NL" sz="1100" dirty="0"/>
                    </a:p>
                  </a:txBody>
                  <a:tcPr marL="72000" anchor="ctr"/>
                </a:tc>
                <a:tc>
                  <a:txBody>
                    <a:bodyPr/>
                    <a:lstStyle/>
                    <a:p>
                      <a:pPr algn="l"/>
                      <a:r>
                        <a:rPr lang="en-US" sz="1100" b="1" dirty="0"/>
                        <a:t>female</a:t>
                      </a:r>
                      <a:endParaRPr lang="en-NL" sz="1100" b="1" dirty="0"/>
                    </a:p>
                  </a:txBody>
                  <a:tcPr marL="7200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1249708150"/>
                  </a:ext>
                </a:extLst>
              </a:tr>
              <a:tr h="306000">
                <a:tc>
                  <a:txBody>
                    <a:bodyPr/>
                    <a:lstStyle/>
                    <a:p>
                      <a:pPr algn="l"/>
                      <a:endParaRPr lang="en-NL" sz="1100" dirty="0"/>
                    </a:p>
                  </a:txBody>
                  <a:tcPr marL="72000" anchor="ctr"/>
                </a:tc>
                <a:tc>
                  <a:txBody>
                    <a:bodyPr/>
                    <a:lstStyle/>
                    <a:p>
                      <a:pPr algn="l"/>
                      <a:r>
                        <a:rPr lang="en-US" sz="1100" b="1" dirty="0"/>
                        <a:t>male</a:t>
                      </a:r>
                      <a:endParaRPr lang="en-NL" sz="1100" b="1" dirty="0"/>
                    </a:p>
                  </a:txBody>
                  <a:tcPr marL="7200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3850974854"/>
                  </a:ext>
                </a:extLst>
              </a:tr>
              <a:tr h="298851">
                <a:tc>
                  <a:txBody>
                    <a:bodyPr/>
                    <a:lstStyle/>
                    <a:p>
                      <a:pPr algn="l"/>
                      <a:endParaRPr lang="en-NL" sz="1100" dirty="0"/>
                    </a:p>
                  </a:txBody>
                  <a:tcPr marL="72000" anchor="ctr"/>
                </a:tc>
                <a:tc>
                  <a:txBody>
                    <a:bodyPr/>
                    <a:lstStyle/>
                    <a:p>
                      <a:pPr algn="l"/>
                      <a:r>
                        <a:rPr lang="en-US" sz="1100" b="1" dirty="0"/>
                        <a:t>nonbinary</a:t>
                      </a:r>
                      <a:endParaRPr lang="en-NL" sz="1100" b="1" dirty="0"/>
                    </a:p>
                  </a:txBody>
                  <a:tcPr marL="7200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10" name="Rectangle: Rounded Corners 9">
            <a:extLst>
              <a:ext uri="{FF2B5EF4-FFF2-40B4-BE49-F238E27FC236}">
                <a16:creationId xmlns:a16="http://schemas.microsoft.com/office/drawing/2014/main" id="{D98F221B-E45B-9B71-582E-18F66299EE80}"/>
              </a:ext>
            </a:extLst>
          </p:cNvPr>
          <p:cNvSpPr/>
          <p:nvPr/>
        </p:nvSpPr>
        <p:spPr>
          <a:xfrm>
            <a:off x="9580165" y="3764351"/>
            <a:ext cx="1642188" cy="710132"/>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NL"/>
          </a:p>
        </p:txBody>
      </p:sp>
      <p:graphicFrame>
        <p:nvGraphicFramePr>
          <p:cNvPr id="11" name="Content Placeholder 4">
            <a:extLst>
              <a:ext uri="{FF2B5EF4-FFF2-40B4-BE49-F238E27FC236}">
                <a16:creationId xmlns:a16="http://schemas.microsoft.com/office/drawing/2014/main" id="{987B6ECC-5B16-EE52-A6CF-F4E4FB0E6B3B}"/>
              </a:ext>
            </a:extLst>
          </p:cNvPr>
          <p:cNvGraphicFramePr>
            <a:graphicFrameLocks/>
          </p:cNvGraphicFramePr>
          <p:nvPr>
            <p:extLst>
              <p:ext uri="{D42A27DB-BD31-4B8C-83A1-F6EECF244321}">
                <p14:modId xmlns:p14="http://schemas.microsoft.com/office/powerpoint/2010/main" val="1582770089"/>
              </p:ext>
            </p:extLst>
          </p:nvPr>
        </p:nvGraphicFramePr>
        <p:xfrm>
          <a:off x="7878355" y="4538762"/>
          <a:ext cx="2811600" cy="1285200"/>
        </p:xfrm>
        <a:graphic>
          <a:graphicData uri="http://schemas.openxmlformats.org/drawingml/2006/table">
            <a:tbl>
              <a:tblPr firstRow="1" bandRow="1">
                <a:effectLst>
                  <a:outerShdw blurRad="50800" dist="38100" dir="2700000" algn="tl" rotWithShape="0">
                    <a:prstClr val="black">
                      <a:alpha val="40000"/>
                    </a:prstClr>
                  </a:outerShdw>
                </a:effectLst>
                <a:tableStyleId>{00A15C55-8517-42AA-B614-E9B94910E393}</a:tableStyleId>
              </a:tblPr>
              <a:tblGrid>
                <a:gridCol w="360000">
                  <a:extLst>
                    <a:ext uri="{9D8B030D-6E8A-4147-A177-3AD203B41FA5}">
                      <a16:colId xmlns:a16="http://schemas.microsoft.com/office/drawing/2014/main" val="979315127"/>
                    </a:ext>
                  </a:extLst>
                </a:gridCol>
                <a:gridCol w="1731600">
                  <a:extLst>
                    <a:ext uri="{9D8B030D-6E8A-4147-A177-3AD203B41FA5}">
                      <a16:colId xmlns:a16="http://schemas.microsoft.com/office/drawing/2014/main" val="2075302567"/>
                    </a:ext>
                  </a:extLst>
                </a:gridCol>
                <a:gridCol w="360000">
                  <a:extLst>
                    <a:ext uri="{9D8B030D-6E8A-4147-A177-3AD203B41FA5}">
                      <a16:colId xmlns:a16="http://schemas.microsoft.com/office/drawing/2014/main" val="660631070"/>
                    </a:ext>
                  </a:extLst>
                </a:gridCol>
                <a:gridCol w="360000">
                  <a:extLst>
                    <a:ext uri="{9D8B030D-6E8A-4147-A177-3AD203B41FA5}">
                      <a16:colId xmlns:a16="http://schemas.microsoft.com/office/drawing/2014/main" val="1525013378"/>
                    </a:ext>
                  </a:extLst>
                </a:gridCol>
              </a:tblGrid>
              <a:tr h="367200">
                <a:tc>
                  <a:txBody>
                    <a:bodyPr/>
                    <a:lstStyle/>
                    <a:p>
                      <a:endParaRPr lang="en-NL" sz="1100" dirty="0"/>
                    </a:p>
                  </a:txBody>
                  <a:tcPr marL="72000" anchor="ctr"/>
                </a:tc>
                <a:tc>
                  <a:txBody>
                    <a:bodyPr/>
                    <a:lstStyle/>
                    <a:p>
                      <a:r>
                        <a:rPr lang="en-US" sz="900" dirty="0"/>
                        <a:t>loinc:107454-1</a:t>
                      </a:r>
                    </a:p>
                    <a:p>
                      <a:r>
                        <a:rPr lang="en-US" sz="900" dirty="0"/>
                        <a:t>("Administrative gender"@</a:t>
                      </a:r>
                      <a:r>
                        <a:rPr lang="en-US" sz="900" dirty="0" err="1"/>
                        <a:t>en</a:t>
                      </a:r>
                      <a:r>
                        <a:rPr lang="en-US" sz="900" dirty="0"/>
                        <a:t>)</a:t>
                      </a:r>
                      <a:endParaRPr lang="en-NL" sz="900" dirty="0"/>
                    </a:p>
                  </a:txBody>
                  <a:tcPr marL="72000" marR="0" marT="0" marB="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012902903"/>
                  </a:ext>
                </a:extLst>
              </a:tr>
              <a:tr h="306000">
                <a:tc>
                  <a:txBody>
                    <a:bodyPr/>
                    <a:lstStyle/>
                    <a:p>
                      <a:endParaRPr lang="en-NL" sz="1100" dirty="0"/>
                    </a:p>
                  </a:txBody>
                  <a:tcPr marL="72000" anchor="ctr"/>
                </a:tc>
                <a:tc>
                  <a:txBody>
                    <a:bodyPr/>
                    <a:lstStyle/>
                    <a:p>
                      <a:r>
                        <a:rPr lang="en-US" sz="1100" b="1" dirty="0"/>
                        <a:t>woman</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1249708150"/>
                  </a:ext>
                </a:extLst>
              </a:tr>
              <a:tr h="306000">
                <a:tc>
                  <a:txBody>
                    <a:bodyPr/>
                    <a:lstStyle/>
                    <a:p>
                      <a:endParaRPr lang="en-NL" sz="1100" dirty="0"/>
                    </a:p>
                  </a:txBody>
                  <a:tcPr marL="72000" anchor="ctr"/>
                </a:tc>
                <a:tc>
                  <a:txBody>
                    <a:bodyPr/>
                    <a:lstStyle/>
                    <a:p>
                      <a:r>
                        <a:rPr lang="en-US" sz="1100" b="1" dirty="0"/>
                        <a:t>man</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850974854"/>
                  </a:ext>
                </a:extLst>
              </a:tr>
              <a:tr h="306000">
                <a:tc>
                  <a:txBody>
                    <a:bodyPr/>
                    <a:lstStyle/>
                    <a:p>
                      <a:endParaRPr lang="en-NL" sz="1100" dirty="0"/>
                    </a:p>
                  </a:txBody>
                  <a:tcPr marL="72000" anchor="ctr"/>
                </a:tc>
                <a:tc>
                  <a:txBody>
                    <a:bodyPr/>
                    <a:lstStyle/>
                    <a:p>
                      <a:r>
                        <a:rPr lang="en-US" sz="1100" b="1" dirty="0"/>
                        <a:t>non-binary</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12" name="Rectangle: Rounded Corners 11">
            <a:extLst>
              <a:ext uri="{FF2B5EF4-FFF2-40B4-BE49-F238E27FC236}">
                <a16:creationId xmlns:a16="http://schemas.microsoft.com/office/drawing/2014/main" id="{676A1B65-8359-05CD-762D-A8B500371441}"/>
              </a:ext>
            </a:extLst>
          </p:cNvPr>
          <p:cNvSpPr/>
          <p:nvPr/>
        </p:nvSpPr>
        <p:spPr>
          <a:xfrm>
            <a:off x="9580166" y="5182068"/>
            <a:ext cx="1642188" cy="710132"/>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en-NL"/>
          </a:p>
        </p:txBody>
      </p:sp>
      <p:graphicFrame>
        <p:nvGraphicFramePr>
          <p:cNvPr id="13" name="Content Placeholder 4">
            <a:extLst>
              <a:ext uri="{FF2B5EF4-FFF2-40B4-BE49-F238E27FC236}">
                <a16:creationId xmlns:a16="http://schemas.microsoft.com/office/drawing/2014/main" id="{9740029C-4B04-1024-3BD0-05EE4B17FB42}"/>
              </a:ext>
            </a:extLst>
          </p:cNvPr>
          <p:cNvGraphicFramePr>
            <a:graphicFrameLocks/>
          </p:cNvGraphicFramePr>
          <p:nvPr>
            <p:extLst>
              <p:ext uri="{D42A27DB-BD31-4B8C-83A1-F6EECF244321}">
                <p14:modId xmlns:p14="http://schemas.microsoft.com/office/powerpoint/2010/main" val="1648291245"/>
              </p:ext>
            </p:extLst>
          </p:nvPr>
        </p:nvGraphicFramePr>
        <p:xfrm>
          <a:off x="7878355" y="1695020"/>
          <a:ext cx="2811677" cy="128376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360000">
                  <a:extLst>
                    <a:ext uri="{9D8B030D-6E8A-4147-A177-3AD203B41FA5}">
                      <a16:colId xmlns:a16="http://schemas.microsoft.com/office/drawing/2014/main" val="979315127"/>
                    </a:ext>
                  </a:extLst>
                </a:gridCol>
                <a:gridCol w="1731677">
                  <a:extLst>
                    <a:ext uri="{9D8B030D-6E8A-4147-A177-3AD203B41FA5}">
                      <a16:colId xmlns:a16="http://schemas.microsoft.com/office/drawing/2014/main" val="2075302567"/>
                    </a:ext>
                  </a:extLst>
                </a:gridCol>
                <a:gridCol w="360000">
                  <a:extLst>
                    <a:ext uri="{9D8B030D-6E8A-4147-A177-3AD203B41FA5}">
                      <a16:colId xmlns:a16="http://schemas.microsoft.com/office/drawing/2014/main" val="660631070"/>
                    </a:ext>
                  </a:extLst>
                </a:gridCol>
                <a:gridCol w="360000">
                  <a:extLst>
                    <a:ext uri="{9D8B030D-6E8A-4147-A177-3AD203B41FA5}">
                      <a16:colId xmlns:a16="http://schemas.microsoft.com/office/drawing/2014/main" val="1525013378"/>
                    </a:ext>
                  </a:extLst>
                </a:gridCol>
              </a:tblGrid>
              <a:tr h="324000">
                <a:tc>
                  <a:txBody>
                    <a:bodyPr/>
                    <a:lstStyle/>
                    <a:p>
                      <a:endParaRPr lang="en-NL" sz="1100" dirty="0"/>
                    </a:p>
                  </a:txBody>
                  <a:tcPr marL="72000" anchor="ctr"/>
                </a:tc>
                <a:tc>
                  <a:txBody>
                    <a:bodyPr/>
                    <a:lstStyle/>
                    <a:p>
                      <a:r>
                        <a:rPr lang="en-US" sz="900" dirty="0" err="1"/>
                        <a:t>care-sm:Sex</a:t>
                      </a:r>
                      <a:endParaRPr lang="en-US" sz="900" dirty="0"/>
                    </a:p>
                    <a:p>
                      <a:r>
                        <a:rPr lang="en-US" sz="900" dirty="0"/>
                        <a:t>("Biological sex"@</a:t>
                      </a:r>
                      <a:r>
                        <a:rPr lang="en-US" sz="900" dirty="0" err="1"/>
                        <a:t>en</a:t>
                      </a:r>
                      <a:r>
                        <a:rPr lang="en-US" sz="900" dirty="0"/>
                        <a:t>)</a:t>
                      </a:r>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012902903"/>
                  </a:ext>
                </a:extLst>
              </a:tr>
              <a:tr h="306000">
                <a:tc>
                  <a:txBody>
                    <a:bodyPr/>
                    <a:lstStyle/>
                    <a:p>
                      <a:endParaRPr lang="en-NL" sz="1100" dirty="0"/>
                    </a:p>
                  </a:txBody>
                  <a:tcPr marL="72000" anchor="ctr"/>
                </a:tc>
                <a:tc>
                  <a:txBody>
                    <a:bodyPr/>
                    <a:lstStyle/>
                    <a:p>
                      <a:r>
                        <a:rPr lang="en-US" sz="1100" b="1" dirty="0"/>
                        <a:t>female</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1249708150"/>
                  </a:ext>
                </a:extLst>
              </a:tr>
              <a:tr h="306000">
                <a:tc>
                  <a:txBody>
                    <a:bodyPr/>
                    <a:lstStyle/>
                    <a:p>
                      <a:endParaRPr lang="en-NL" sz="1100" dirty="0"/>
                    </a:p>
                  </a:txBody>
                  <a:tcPr marL="72000" anchor="ctr"/>
                </a:tc>
                <a:tc>
                  <a:txBody>
                    <a:bodyPr/>
                    <a:lstStyle/>
                    <a:p>
                      <a:r>
                        <a:rPr lang="en-US" sz="1100" b="1" dirty="0"/>
                        <a:t>male</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850974854"/>
                  </a:ext>
                </a:extLst>
              </a:tr>
              <a:tr h="306000">
                <a:tc>
                  <a:txBody>
                    <a:bodyPr/>
                    <a:lstStyle/>
                    <a:p>
                      <a:endParaRPr lang="en-NL" sz="1100" dirty="0"/>
                    </a:p>
                  </a:txBody>
                  <a:tcPr marL="72000" anchor="ctr"/>
                </a:tc>
                <a:tc>
                  <a:txBody>
                    <a:bodyPr/>
                    <a:lstStyle/>
                    <a:p>
                      <a:r>
                        <a:rPr lang="en-US" sz="1100" b="1" dirty="0"/>
                        <a:t>female</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14" name="Rectangle: Rounded Corners 13">
            <a:extLst>
              <a:ext uri="{FF2B5EF4-FFF2-40B4-BE49-F238E27FC236}">
                <a16:creationId xmlns:a16="http://schemas.microsoft.com/office/drawing/2014/main" id="{27399265-1E68-AC4D-7B19-14E13DAF15EC}"/>
              </a:ext>
            </a:extLst>
          </p:cNvPr>
          <p:cNvSpPr/>
          <p:nvPr/>
        </p:nvSpPr>
        <p:spPr>
          <a:xfrm>
            <a:off x="9580165" y="2343789"/>
            <a:ext cx="1642188" cy="710132"/>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NL"/>
          </a:p>
        </p:txBody>
      </p:sp>
      <p:pic>
        <p:nvPicPr>
          <p:cNvPr id="15" name="Picture 14">
            <a:extLst>
              <a:ext uri="{FF2B5EF4-FFF2-40B4-BE49-F238E27FC236}">
                <a16:creationId xmlns:a16="http://schemas.microsoft.com/office/drawing/2014/main" id="{57D8CB0F-1E21-43C4-0E44-4982C3D3B577}"/>
              </a:ext>
            </a:extLst>
          </p:cNvPr>
          <p:cNvPicPr>
            <a:picLocks noChangeAspect="1"/>
          </p:cNvPicPr>
          <p:nvPr/>
        </p:nvPicPr>
        <p:blipFill>
          <a:blip r:embed="rId3"/>
          <a:srcRect l="17222" t="33069" r="27186" b="41346"/>
          <a:stretch>
            <a:fillRect/>
          </a:stretch>
        </p:blipFill>
        <p:spPr>
          <a:xfrm>
            <a:off x="9681170" y="2477918"/>
            <a:ext cx="1440178" cy="441874"/>
          </a:xfrm>
          <a:prstGeom prst="rect">
            <a:avLst/>
          </a:prstGeom>
        </p:spPr>
      </p:pic>
      <p:pic>
        <p:nvPicPr>
          <p:cNvPr id="16" name="Picture 15">
            <a:extLst>
              <a:ext uri="{FF2B5EF4-FFF2-40B4-BE49-F238E27FC236}">
                <a16:creationId xmlns:a16="http://schemas.microsoft.com/office/drawing/2014/main" id="{802A47D3-3052-32B6-86FB-9FC6973F193A}"/>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Effect>
                      <a14:brightnessContrast contrast="-40000"/>
                    </a14:imgEffect>
                  </a14:imgLayer>
                </a14:imgProps>
              </a:ext>
            </a:extLst>
          </a:blip>
          <a:srcRect l="22593" t="33818" r="26296" b="42564"/>
          <a:stretch>
            <a:fillRect/>
          </a:stretch>
        </p:blipFill>
        <p:spPr>
          <a:xfrm>
            <a:off x="9681259" y="3897611"/>
            <a:ext cx="1440000" cy="443613"/>
          </a:xfrm>
          <a:prstGeom prst="rect">
            <a:avLst/>
          </a:prstGeom>
        </p:spPr>
      </p:pic>
      <p:pic>
        <p:nvPicPr>
          <p:cNvPr id="17" name="Picture 16">
            <a:extLst>
              <a:ext uri="{FF2B5EF4-FFF2-40B4-BE49-F238E27FC236}">
                <a16:creationId xmlns:a16="http://schemas.microsoft.com/office/drawing/2014/main" id="{34D846AB-4235-521D-0017-35868DBE5ED9}"/>
              </a:ext>
            </a:extLst>
          </p:cNvPr>
          <p:cNvPicPr>
            <a:picLocks noChangeAspect="1"/>
          </p:cNvPicPr>
          <p:nvPr/>
        </p:nvPicPr>
        <p:blipFill>
          <a:blip r:embed="rId6"/>
          <a:srcRect l="13027" t="27953" r="16204" b="38897"/>
          <a:stretch>
            <a:fillRect/>
          </a:stretch>
        </p:blipFill>
        <p:spPr>
          <a:xfrm>
            <a:off x="9681260" y="5312288"/>
            <a:ext cx="1440000" cy="449693"/>
          </a:xfrm>
          <a:prstGeom prst="rect">
            <a:avLst/>
          </a:prstGeom>
        </p:spPr>
      </p:pic>
      <p:sp>
        <p:nvSpPr>
          <p:cNvPr id="8" name="Content Placeholder 7">
            <a:extLst>
              <a:ext uri="{FF2B5EF4-FFF2-40B4-BE49-F238E27FC236}">
                <a16:creationId xmlns:a16="http://schemas.microsoft.com/office/drawing/2014/main" id="{B2D99B09-A12F-1ECA-8C07-9EA58944DA36}"/>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40714498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7FE7CE-40DC-34CC-B3B8-0FC7CDC3A9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107FA7-5E8C-4CC7-A410-4FB58890EDBF}"/>
              </a:ext>
            </a:extLst>
          </p:cNvPr>
          <p:cNvSpPr>
            <a:spLocks noGrp="1"/>
          </p:cNvSpPr>
          <p:nvPr>
            <p:ph type="title"/>
          </p:nvPr>
        </p:nvSpPr>
        <p:spPr>
          <a:xfrm>
            <a:off x="695327" y="386001"/>
            <a:ext cx="9704449" cy="929259"/>
          </a:xfrm>
        </p:spPr>
        <p:txBody>
          <a:bodyPr/>
          <a:lstStyle/>
          <a:p>
            <a:r>
              <a:rPr lang="en-US" sz="3600" dirty="0"/>
              <a:t>When are two datasets interoperable?</a:t>
            </a:r>
            <a:endParaRPr lang="en-NL" sz="3600" dirty="0"/>
          </a:p>
        </p:txBody>
      </p:sp>
      <p:sp>
        <p:nvSpPr>
          <p:cNvPr id="4" name="Slide Number Placeholder 3">
            <a:extLst>
              <a:ext uri="{FF2B5EF4-FFF2-40B4-BE49-F238E27FC236}">
                <a16:creationId xmlns:a16="http://schemas.microsoft.com/office/drawing/2014/main" id="{0B880598-C7C1-7C39-ABA9-798386D62E52}"/>
              </a:ext>
            </a:extLst>
          </p:cNvPr>
          <p:cNvSpPr>
            <a:spLocks noGrp="1"/>
          </p:cNvSpPr>
          <p:nvPr>
            <p:ph type="sldNum" sz="quarter" idx="12"/>
          </p:nvPr>
        </p:nvSpPr>
        <p:spPr/>
        <p:txBody>
          <a:bodyPr/>
          <a:lstStyle/>
          <a:p>
            <a:fld id="{4FAB73BC-B049-4115-A692-8D63A059BFB8}" type="slidenum">
              <a:rPr lang="en-US" smtClean="0"/>
              <a:pPr/>
              <a:t>18</a:t>
            </a:fld>
            <a:endParaRPr lang="en-US" dirty="0"/>
          </a:p>
        </p:txBody>
      </p:sp>
      <p:cxnSp>
        <p:nvCxnSpPr>
          <p:cNvPr id="25" name="Straight Connector 24">
            <a:extLst>
              <a:ext uri="{FF2B5EF4-FFF2-40B4-BE49-F238E27FC236}">
                <a16:creationId xmlns:a16="http://schemas.microsoft.com/office/drawing/2014/main" id="{29592EFC-476C-EA57-7B74-907B558548BD}"/>
              </a:ext>
            </a:extLst>
          </p:cNvPr>
          <p:cNvCxnSpPr>
            <a:cxnSpLocks/>
          </p:cNvCxnSpPr>
          <p:nvPr/>
        </p:nvCxnSpPr>
        <p:spPr>
          <a:xfrm>
            <a:off x="2440086" y="2514600"/>
            <a:ext cx="0" cy="2159000"/>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sp>
        <p:nvSpPr>
          <p:cNvPr id="30" name="Parallelogram 29">
            <a:extLst>
              <a:ext uri="{FF2B5EF4-FFF2-40B4-BE49-F238E27FC236}">
                <a16:creationId xmlns:a16="http://schemas.microsoft.com/office/drawing/2014/main" id="{672DD2F8-F933-78B0-B9B1-AA397DE46F60}"/>
              </a:ext>
            </a:extLst>
          </p:cNvPr>
          <p:cNvSpPr/>
          <p:nvPr/>
        </p:nvSpPr>
        <p:spPr>
          <a:xfrm>
            <a:off x="982761" y="3153944"/>
            <a:ext cx="10229850" cy="1276350"/>
          </a:xfrm>
          <a:prstGeom prst="parallelogram">
            <a:avLst>
              <a:gd name="adj" fmla="val 113806"/>
            </a:avLst>
          </a:prstGeom>
          <a:solidFill>
            <a:srgbClr val="FFE4D9"/>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solidFill>
                <a:srgbClr val="FFE4D9"/>
              </a:solidFill>
            </a:endParaRPr>
          </a:p>
        </p:txBody>
      </p:sp>
      <p:sp>
        <p:nvSpPr>
          <p:cNvPr id="31" name="TextBox 30">
            <a:extLst>
              <a:ext uri="{FF2B5EF4-FFF2-40B4-BE49-F238E27FC236}">
                <a16:creationId xmlns:a16="http://schemas.microsoft.com/office/drawing/2014/main" id="{98E3D537-AAFE-9E9C-1ECC-E377A4D39E93}"/>
              </a:ext>
            </a:extLst>
          </p:cNvPr>
          <p:cNvSpPr txBox="1"/>
          <p:nvPr/>
        </p:nvSpPr>
        <p:spPr>
          <a:xfrm>
            <a:off x="1218930" y="4122517"/>
            <a:ext cx="1693092"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33" name="Parallelogram 32">
            <a:extLst>
              <a:ext uri="{FF2B5EF4-FFF2-40B4-BE49-F238E27FC236}">
                <a16:creationId xmlns:a16="http://schemas.microsoft.com/office/drawing/2014/main" id="{B0AE23CF-C5A2-0EEE-B90C-6AABA31A64E4}"/>
              </a:ext>
            </a:extLst>
          </p:cNvPr>
          <p:cNvSpPr/>
          <p:nvPr/>
        </p:nvSpPr>
        <p:spPr>
          <a:xfrm>
            <a:off x="982761" y="4673600"/>
            <a:ext cx="10229850" cy="1276350"/>
          </a:xfrm>
          <a:prstGeom prst="parallelogram">
            <a:avLst>
              <a:gd name="adj" fmla="val 113806"/>
            </a:avLst>
          </a:prstGeom>
          <a:solidFill>
            <a:schemeClr val="accent4">
              <a:lumMod val="20000"/>
              <a:lumOff val="8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4" name="TextBox 33">
            <a:extLst>
              <a:ext uri="{FF2B5EF4-FFF2-40B4-BE49-F238E27FC236}">
                <a16:creationId xmlns:a16="http://schemas.microsoft.com/office/drawing/2014/main" id="{704CA369-D8AB-87EA-592B-A6079B175CE3}"/>
              </a:ext>
            </a:extLst>
          </p:cNvPr>
          <p:cNvSpPr txBox="1"/>
          <p:nvPr/>
        </p:nvSpPr>
        <p:spPr>
          <a:xfrm>
            <a:off x="1258204" y="5642173"/>
            <a:ext cx="1529586"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4"/>
                </a:solidFill>
              </a:rPr>
              <a:t>Dataset Columns</a:t>
            </a:r>
            <a:endParaRPr lang="en-NL" sz="1400" dirty="0">
              <a:solidFill>
                <a:schemeClr val="accent4"/>
              </a:solidFill>
            </a:endParaRPr>
          </a:p>
        </p:txBody>
      </p:sp>
      <p:cxnSp>
        <p:nvCxnSpPr>
          <p:cNvPr id="36" name="Straight Connector 35">
            <a:extLst>
              <a:ext uri="{FF2B5EF4-FFF2-40B4-BE49-F238E27FC236}">
                <a16:creationId xmlns:a16="http://schemas.microsoft.com/office/drawing/2014/main" id="{FA730DF4-F3A6-1CA3-DE93-57244F6CFF7A}"/>
              </a:ext>
            </a:extLst>
          </p:cNvPr>
          <p:cNvCxnSpPr>
            <a:cxnSpLocks/>
          </p:cNvCxnSpPr>
          <p:nvPr/>
        </p:nvCxnSpPr>
        <p:spPr>
          <a:xfrm>
            <a:off x="983453" y="2245519"/>
            <a:ext cx="0" cy="3704431"/>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C427A952-D955-C1BD-3824-36563D1F5152}"/>
              </a:ext>
            </a:extLst>
          </p:cNvPr>
          <p:cNvCxnSpPr>
            <a:cxnSpLocks/>
          </p:cNvCxnSpPr>
          <p:nvPr/>
        </p:nvCxnSpPr>
        <p:spPr>
          <a:xfrm>
            <a:off x="11204086" y="2272464"/>
            <a:ext cx="0" cy="24011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A0610333-5929-FD1D-FD64-504E424FDC21}"/>
              </a:ext>
            </a:extLst>
          </p:cNvPr>
          <p:cNvCxnSpPr>
            <a:cxnSpLocks/>
          </p:cNvCxnSpPr>
          <p:nvPr/>
        </p:nvCxnSpPr>
        <p:spPr>
          <a:xfrm>
            <a:off x="9762478" y="2438400"/>
            <a:ext cx="0" cy="3511550"/>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56" name="Oval 55">
            <a:extLst>
              <a:ext uri="{FF2B5EF4-FFF2-40B4-BE49-F238E27FC236}">
                <a16:creationId xmlns:a16="http://schemas.microsoft.com/office/drawing/2014/main" id="{1F75FDBC-BAB7-A2F8-FCC8-1F6A253DA53B}"/>
              </a:ext>
            </a:extLst>
          </p:cNvPr>
          <p:cNvSpPr/>
          <p:nvPr/>
        </p:nvSpPr>
        <p:spPr>
          <a:xfrm>
            <a:off x="4362045" y="3587331"/>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C1</a:t>
            </a:r>
            <a:endParaRPr lang="en-NL" dirty="0"/>
          </a:p>
        </p:txBody>
      </p:sp>
      <p:sp>
        <p:nvSpPr>
          <p:cNvPr id="57" name="Oval 56">
            <a:extLst>
              <a:ext uri="{FF2B5EF4-FFF2-40B4-BE49-F238E27FC236}">
                <a16:creationId xmlns:a16="http://schemas.microsoft.com/office/drawing/2014/main" id="{8A20A610-7AF0-DD44-A74D-3C23058FC460}"/>
              </a:ext>
            </a:extLst>
          </p:cNvPr>
          <p:cNvSpPr/>
          <p:nvPr/>
        </p:nvSpPr>
        <p:spPr>
          <a:xfrm>
            <a:off x="7262609" y="3906419"/>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C3</a:t>
            </a:r>
            <a:endParaRPr lang="en-NL" dirty="0"/>
          </a:p>
        </p:txBody>
      </p:sp>
      <p:sp>
        <p:nvSpPr>
          <p:cNvPr id="58" name="Oval 57">
            <a:extLst>
              <a:ext uri="{FF2B5EF4-FFF2-40B4-BE49-F238E27FC236}">
                <a16:creationId xmlns:a16="http://schemas.microsoft.com/office/drawing/2014/main" id="{3CDDB1F0-BCD3-7DD3-BCD8-365434EBA457}"/>
              </a:ext>
            </a:extLst>
          </p:cNvPr>
          <p:cNvSpPr/>
          <p:nvPr/>
        </p:nvSpPr>
        <p:spPr>
          <a:xfrm>
            <a:off x="5812327" y="326824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C2</a:t>
            </a:r>
            <a:endParaRPr lang="en-NL" dirty="0"/>
          </a:p>
        </p:txBody>
      </p:sp>
      <p:cxnSp>
        <p:nvCxnSpPr>
          <p:cNvPr id="11" name="Straight Arrow Connector 10">
            <a:extLst>
              <a:ext uri="{FF2B5EF4-FFF2-40B4-BE49-F238E27FC236}">
                <a16:creationId xmlns:a16="http://schemas.microsoft.com/office/drawing/2014/main" id="{C847F680-E316-EE3A-0C9E-DF7A9B0709AC}"/>
              </a:ext>
            </a:extLst>
          </p:cNvPr>
          <p:cNvCxnSpPr>
            <a:cxnSpLocks/>
            <a:stCxn id="35" idx="7"/>
            <a:endCxn id="56" idx="3"/>
          </p:cNvCxnSpPr>
          <p:nvPr/>
        </p:nvCxnSpPr>
        <p:spPr>
          <a:xfrm flipV="1">
            <a:off x="3545914" y="3936925"/>
            <a:ext cx="876112" cy="877837"/>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2ABD5595-F39A-AE0F-2074-9FF6B485A00C}"/>
              </a:ext>
            </a:extLst>
          </p:cNvPr>
          <p:cNvCxnSpPr>
            <a:cxnSpLocks/>
            <a:endCxn id="56" idx="4"/>
          </p:cNvCxnSpPr>
          <p:nvPr/>
        </p:nvCxnSpPr>
        <p:spPr>
          <a:xfrm flipH="1" flipV="1">
            <a:off x="4566833" y="3996906"/>
            <a:ext cx="383508" cy="1541880"/>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sp>
        <p:nvSpPr>
          <p:cNvPr id="23" name="Cloud 22">
            <a:extLst>
              <a:ext uri="{FF2B5EF4-FFF2-40B4-BE49-F238E27FC236}">
                <a16:creationId xmlns:a16="http://schemas.microsoft.com/office/drawing/2014/main" id="{898936EA-0DB6-B3DA-67B0-8DB53F38EB77}"/>
              </a:ext>
            </a:extLst>
          </p:cNvPr>
          <p:cNvSpPr/>
          <p:nvPr/>
        </p:nvSpPr>
        <p:spPr>
          <a:xfrm>
            <a:off x="982761" y="1899659"/>
            <a:ext cx="10229850" cy="719659"/>
          </a:xfrm>
          <a:prstGeom prst="cloud">
            <a:avLst/>
          </a:prstGeom>
          <a:solidFill>
            <a:schemeClr val="accent1">
              <a:lumMod val="20000"/>
              <a:lumOff val="80000"/>
              <a:alpha val="5000"/>
            </a:schemeClr>
          </a:solidFill>
          <a:ln>
            <a:solidFill>
              <a:schemeClr val="accent1">
                <a:lumMod val="20000"/>
                <a:lumOff val="80000"/>
                <a:alpha val="4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61" name="Straight Arrow Connector 60">
            <a:extLst>
              <a:ext uri="{FF2B5EF4-FFF2-40B4-BE49-F238E27FC236}">
                <a16:creationId xmlns:a16="http://schemas.microsoft.com/office/drawing/2014/main" id="{4CB2FC5D-EFA9-482D-0DAD-FDF42EBDB18C}"/>
              </a:ext>
            </a:extLst>
          </p:cNvPr>
          <p:cNvCxnSpPr>
            <a:cxnSpLocks/>
            <a:endCxn id="58" idx="4"/>
          </p:cNvCxnSpPr>
          <p:nvPr/>
        </p:nvCxnSpPr>
        <p:spPr>
          <a:xfrm flipH="1" flipV="1">
            <a:off x="6017115" y="3677819"/>
            <a:ext cx="495205" cy="1317092"/>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5C1EB2D7-6BEA-1110-B48C-DEE0F5CC7407}"/>
              </a:ext>
            </a:extLst>
          </p:cNvPr>
          <p:cNvCxnSpPr>
            <a:cxnSpLocks/>
            <a:endCxn id="57" idx="4"/>
          </p:cNvCxnSpPr>
          <p:nvPr/>
        </p:nvCxnSpPr>
        <p:spPr>
          <a:xfrm flipH="1" flipV="1">
            <a:off x="7467397" y="4315994"/>
            <a:ext cx="632967" cy="1222792"/>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grpSp>
        <p:nvGrpSpPr>
          <p:cNvPr id="80" name="Group 79">
            <a:extLst>
              <a:ext uri="{FF2B5EF4-FFF2-40B4-BE49-F238E27FC236}">
                <a16:creationId xmlns:a16="http://schemas.microsoft.com/office/drawing/2014/main" id="{29EFCED1-5140-972C-A894-EECFD7278B60}"/>
              </a:ext>
            </a:extLst>
          </p:cNvPr>
          <p:cNvGrpSpPr/>
          <p:nvPr/>
        </p:nvGrpSpPr>
        <p:grpSpPr>
          <a:xfrm>
            <a:off x="3196320" y="4754781"/>
            <a:ext cx="3542413" cy="409575"/>
            <a:chOff x="3196320" y="4783356"/>
            <a:chExt cx="3542413" cy="409575"/>
          </a:xfrm>
        </p:grpSpPr>
        <p:sp>
          <p:nvSpPr>
            <p:cNvPr id="35" name="Oval 34">
              <a:extLst>
                <a:ext uri="{FF2B5EF4-FFF2-40B4-BE49-F238E27FC236}">
                  <a16:creationId xmlns:a16="http://schemas.microsoft.com/office/drawing/2014/main" id="{DE59E4D6-752D-5A0B-9EED-548293633FE4}"/>
                </a:ext>
              </a:extLst>
            </p:cNvPr>
            <p:cNvSpPr/>
            <p:nvPr/>
          </p:nvSpPr>
          <p:spPr>
            <a:xfrm>
              <a:off x="3196320" y="4783356"/>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D1</a:t>
              </a:r>
              <a:endParaRPr lang="en-NL" dirty="0"/>
            </a:p>
          </p:txBody>
        </p:sp>
        <p:sp>
          <p:nvSpPr>
            <p:cNvPr id="41" name="Oval 40">
              <a:extLst>
                <a:ext uri="{FF2B5EF4-FFF2-40B4-BE49-F238E27FC236}">
                  <a16:creationId xmlns:a16="http://schemas.microsoft.com/office/drawing/2014/main" id="{AB642A05-D4D4-93E0-665E-1E978F4B74BF}"/>
                </a:ext>
              </a:extLst>
            </p:cNvPr>
            <p:cNvSpPr/>
            <p:nvPr/>
          </p:nvSpPr>
          <p:spPr>
            <a:xfrm>
              <a:off x="6329158" y="4783356"/>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D2</a:t>
              </a:r>
              <a:endParaRPr lang="en-NL" dirty="0"/>
            </a:p>
          </p:txBody>
        </p:sp>
      </p:grpSp>
      <p:grpSp>
        <p:nvGrpSpPr>
          <p:cNvPr id="79" name="Group 78">
            <a:extLst>
              <a:ext uri="{FF2B5EF4-FFF2-40B4-BE49-F238E27FC236}">
                <a16:creationId xmlns:a16="http://schemas.microsoft.com/office/drawing/2014/main" id="{0A82C962-4D38-21A9-81F8-6D463603FEEE}"/>
              </a:ext>
            </a:extLst>
          </p:cNvPr>
          <p:cNvGrpSpPr/>
          <p:nvPr/>
        </p:nvGrpSpPr>
        <p:grpSpPr>
          <a:xfrm>
            <a:off x="4762739" y="5457825"/>
            <a:ext cx="3542414" cy="409575"/>
            <a:chOff x="4762739" y="5334000"/>
            <a:chExt cx="3542414" cy="409575"/>
          </a:xfrm>
        </p:grpSpPr>
        <p:sp>
          <p:nvSpPr>
            <p:cNvPr id="52" name="Oval 51">
              <a:extLst>
                <a:ext uri="{FF2B5EF4-FFF2-40B4-BE49-F238E27FC236}">
                  <a16:creationId xmlns:a16="http://schemas.microsoft.com/office/drawing/2014/main" id="{A1E44AE7-CEE8-F6E6-B9BB-35C1C7B41656}"/>
                </a:ext>
              </a:extLst>
            </p:cNvPr>
            <p:cNvSpPr/>
            <p:nvPr/>
          </p:nvSpPr>
          <p:spPr>
            <a:xfrm>
              <a:off x="4762739" y="5334000"/>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D3</a:t>
              </a:r>
              <a:endParaRPr lang="en-NL" dirty="0"/>
            </a:p>
          </p:txBody>
        </p:sp>
        <p:sp>
          <p:nvSpPr>
            <p:cNvPr id="53" name="Oval 52">
              <a:extLst>
                <a:ext uri="{FF2B5EF4-FFF2-40B4-BE49-F238E27FC236}">
                  <a16:creationId xmlns:a16="http://schemas.microsoft.com/office/drawing/2014/main" id="{0698888C-4C12-519F-60B3-175ACD022D75}"/>
                </a:ext>
              </a:extLst>
            </p:cNvPr>
            <p:cNvSpPr/>
            <p:nvPr/>
          </p:nvSpPr>
          <p:spPr>
            <a:xfrm>
              <a:off x="7895578" y="5334000"/>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D4</a:t>
              </a:r>
              <a:endParaRPr lang="en-NL" dirty="0"/>
            </a:p>
          </p:txBody>
        </p:sp>
      </p:grpSp>
      <p:sp>
        <p:nvSpPr>
          <p:cNvPr id="78" name="Speech Bubble: Rectangle 77">
            <a:extLst>
              <a:ext uri="{FF2B5EF4-FFF2-40B4-BE49-F238E27FC236}">
                <a16:creationId xmlns:a16="http://schemas.microsoft.com/office/drawing/2014/main" id="{5C9A5480-03BC-0050-1736-C789910B6A6C}"/>
              </a:ext>
            </a:extLst>
          </p:cNvPr>
          <p:cNvSpPr/>
          <p:nvPr/>
        </p:nvSpPr>
        <p:spPr>
          <a:xfrm>
            <a:off x="704849" y="1648634"/>
            <a:ext cx="5391151" cy="596884"/>
          </a:xfrm>
          <a:prstGeom prst="wedgeRectCallout">
            <a:avLst>
              <a:gd name="adj1" fmla="val -20801"/>
              <a:gd name="adj2" fmla="val 107946"/>
            </a:avLst>
          </a:prstGeom>
          <a:solidFill>
            <a:schemeClr val="bg1">
              <a:lumMod val="95000"/>
              <a:alpha val="90000"/>
            </a:schemeClr>
          </a:solidFill>
        </p:spPr>
        <p:style>
          <a:lnRef idx="2">
            <a:schemeClr val="dk1"/>
          </a:lnRef>
          <a:fillRef idx="1">
            <a:schemeClr val="lt1"/>
          </a:fillRef>
          <a:effectRef idx="0">
            <a:schemeClr val="dk1"/>
          </a:effectRef>
          <a:fontRef idx="minor">
            <a:schemeClr val="dk1"/>
          </a:fontRef>
        </p:style>
        <p:txBody>
          <a:bodyPr rtlCol="0" anchor="ctr"/>
          <a:lstStyle/>
          <a:p>
            <a:pPr>
              <a:spcAft>
                <a:spcPts val="600"/>
              </a:spcAft>
            </a:pPr>
            <a:r>
              <a:rPr lang="en-US" dirty="0"/>
              <a:t>When can two datasets be safely reused together?</a:t>
            </a:r>
          </a:p>
        </p:txBody>
      </p:sp>
      <p:cxnSp>
        <p:nvCxnSpPr>
          <p:cNvPr id="3" name="Connector: Curved 2">
            <a:extLst>
              <a:ext uri="{FF2B5EF4-FFF2-40B4-BE49-F238E27FC236}">
                <a16:creationId xmlns:a16="http://schemas.microsoft.com/office/drawing/2014/main" id="{4C05A326-22CD-EA0B-6FAF-4F055EF1C8BB}"/>
              </a:ext>
            </a:extLst>
          </p:cNvPr>
          <p:cNvCxnSpPr/>
          <p:nvPr/>
        </p:nvCxnSpPr>
        <p:spPr>
          <a:xfrm rot="10800000">
            <a:off x="3401109" y="5164357"/>
            <a:ext cx="1361631" cy="498257"/>
          </a:xfrm>
          <a:prstGeom prst="curvedConnector2">
            <a:avLst/>
          </a:prstGeom>
          <a:ln w="38100" cap="rnd">
            <a:solidFill>
              <a:srgbClr val="00B050"/>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E603A873-F6C9-DA90-2197-C61BE7B036F9}"/>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2</a:t>
            </a:r>
            <a:endParaRPr lang="en-NL" sz="1000" b="1" dirty="0"/>
          </a:p>
        </p:txBody>
      </p:sp>
      <p:sp>
        <p:nvSpPr>
          <p:cNvPr id="5" name="TextBox 4">
            <a:extLst>
              <a:ext uri="{FF2B5EF4-FFF2-40B4-BE49-F238E27FC236}">
                <a16:creationId xmlns:a16="http://schemas.microsoft.com/office/drawing/2014/main" id="{BADB3FDB-6374-BC4B-CED4-A5BEADFAF129}"/>
              </a:ext>
            </a:extLst>
          </p:cNvPr>
          <p:cNvSpPr txBox="1"/>
          <p:nvPr/>
        </p:nvSpPr>
        <p:spPr>
          <a:xfrm>
            <a:off x="3996162" y="2140587"/>
            <a:ext cx="7485507" cy="369332"/>
          </a:xfrm>
          <a:prstGeom prst="rect">
            <a:avLst/>
          </a:prstGeom>
          <a:ln/>
        </p:spPr>
        <p:style>
          <a:lnRef idx="0">
            <a:schemeClr val="accent4"/>
          </a:lnRef>
          <a:fillRef idx="3">
            <a:schemeClr val="accent4"/>
          </a:fillRef>
          <a:effectRef idx="3">
            <a:schemeClr val="accent4"/>
          </a:effectRef>
          <a:fontRef idx="minor">
            <a:schemeClr val="lt1"/>
          </a:fontRef>
        </p:style>
        <p:txBody>
          <a:bodyPr wrap="square">
            <a:spAutoFit/>
          </a:bodyPr>
          <a:lstStyle/>
          <a:p>
            <a:r>
              <a:rPr lang="en-US" dirty="0">
                <a:solidFill>
                  <a:schemeClr val="bg1"/>
                </a:solidFill>
              </a:rPr>
              <a:t>When their relevant columns implement the same standard concept.</a:t>
            </a:r>
            <a:endParaRPr lang="en-NL" dirty="0">
              <a:solidFill>
                <a:schemeClr val="bg1"/>
              </a:solidFill>
            </a:endParaRPr>
          </a:p>
        </p:txBody>
      </p:sp>
      <p:sp>
        <p:nvSpPr>
          <p:cNvPr id="7" name="TextBox 6">
            <a:extLst>
              <a:ext uri="{FF2B5EF4-FFF2-40B4-BE49-F238E27FC236}">
                <a16:creationId xmlns:a16="http://schemas.microsoft.com/office/drawing/2014/main" id="{FB93D673-6E5C-20F4-FA95-06230571E83A}"/>
              </a:ext>
            </a:extLst>
          </p:cNvPr>
          <p:cNvSpPr txBox="1"/>
          <p:nvPr/>
        </p:nvSpPr>
        <p:spPr>
          <a:xfrm>
            <a:off x="4005016" y="2560820"/>
            <a:ext cx="7485507" cy="646331"/>
          </a:xfrm>
          <a:prstGeom prst="rect">
            <a:avLst/>
          </a:prstGeom>
          <a:ln/>
        </p:spPr>
        <p:style>
          <a:lnRef idx="0">
            <a:schemeClr val="accent2"/>
          </a:lnRef>
          <a:fillRef idx="3">
            <a:schemeClr val="accent2"/>
          </a:fillRef>
          <a:effectRef idx="3">
            <a:schemeClr val="accent2"/>
          </a:effectRef>
          <a:fontRef idx="minor">
            <a:schemeClr val="lt1"/>
          </a:fontRef>
        </p:style>
        <p:txBody>
          <a:bodyPr wrap="square">
            <a:spAutoFit/>
          </a:bodyPr>
          <a:lstStyle/>
          <a:p>
            <a:r>
              <a:rPr lang="en-US" dirty="0">
                <a:solidFill>
                  <a:sysClr val="windowText" lastClr="000000"/>
                </a:solidFill>
              </a:rPr>
              <a:t>However, this works only if (1) the standard concept is well defined, and </a:t>
            </a:r>
          </a:p>
          <a:p>
            <a:r>
              <a:rPr lang="en-US" dirty="0">
                <a:solidFill>
                  <a:sysClr val="windowText" lastClr="000000"/>
                </a:solidFill>
              </a:rPr>
              <a:t>(2) the datasets implement it correctly.</a:t>
            </a:r>
            <a:endParaRPr lang="en-NL" dirty="0">
              <a:solidFill>
                <a:sysClr val="windowText" lastClr="000000"/>
              </a:solidFill>
            </a:endParaRPr>
          </a:p>
        </p:txBody>
      </p:sp>
    </p:spTree>
    <p:extLst>
      <p:ext uri="{BB962C8B-B14F-4D97-AF65-F5344CB8AC3E}">
        <p14:creationId xmlns:p14="http://schemas.microsoft.com/office/powerpoint/2010/main" val="30792104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200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2500"/>
                            </p:stCondLst>
                            <p:childTnLst>
                              <p:par>
                                <p:cTn id="9" presetID="10"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57A14F-F3DB-FC47-BE87-1AAA08E6E437}"/>
            </a:ext>
          </a:extLst>
        </p:cNvPr>
        <p:cNvGrpSpPr/>
        <p:nvPr/>
      </p:nvGrpSpPr>
      <p:grpSpPr>
        <a:xfrm>
          <a:off x="0" y="0"/>
          <a:ext cx="0" cy="0"/>
          <a:chOff x="0" y="0"/>
          <a:chExt cx="0" cy="0"/>
        </a:xfrm>
      </p:grpSpPr>
      <p:sp>
        <p:nvSpPr>
          <p:cNvPr id="60" name="Cloud 59">
            <a:extLst>
              <a:ext uri="{FF2B5EF4-FFF2-40B4-BE49-F238E27FC236}">
                <a16:creationId xmlns:a16="http://schemas.microsoft.com/office/drawing/2014/main" id="{D4DD2EC3-101F-2B3F-4653-DBD5B3A1BCFC}"/>
              </a:ext>
            </a:extLst>
          </p:cNvPr>
          <p:cNvSpPr/>
          <p:nvPr/>
        </p:nvSpPr>
        <p:spPr>
          <a:xfrm>
            <a:off x="982761" y="1899659"/>
            <a:ext cx="10229850" cy="719659"/>
          </a:xfrm>
          <a:prstGeom prst="cloud">
            <a:avLst/>
          </a:prstGeom>
          <a:solidFill>
            <a:schemeClr val="accent1">
              <a:lumMod val="20000"/>
              <a:lumOff val="80000"/>
              <a:alpha val="5000"/>
            </a:schemeClr>
          </a:solidFill>
          <a:ln>
            <a:solidFill>
              <a:schemeClr val="accent1">
                <a:lumMod val="20000"/>
                <a:lumOff val="80000"/>
                <a:alpha val="4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 name="Title 1">
            <a:extLst>
              <a:ext uri="{FF2B5EF4-FFF2-40B4-BE49-F238E27FC236}">
                <a16:creationId xmlns:a16="http://schemas.microsoft.com/office/drawing/2014/main" id="{C57E4BE5-376A-9E7F-35C3-5233761B8DDA}"/>
              </a:ext>
            </a:extLst>
          </p:cNvPr>
          <p:cNvSpPr>
            <a:spLocks noGrp="1"/>
          </p:cNvSpPr>
          <p:nvPr>
            <p:ph type="title"/>
          </p:nvPr>
        </p:nvSpPr>
        <p:spPr/>
        <p:txBody>
          <a:bodyPr/>
          <a:lstStyle/>
          <a:p>
            <a:r>
              <a:rPr lang="en-US" sz="3600" dirty="0"/>
              <a:t>When are two datasets interoperable?</a:t>
            </a:r>
            <a:endParaRPr lang="en-NL" sz="3600" dirty="0"/>
          </a:p>
        </p:txBody>
      </p:sp>
      <p:sp>
        <p:nvSpPr>
          <p:cNvPr id="4" name="Slide Number Placeholder 3">
            <a:extLst>
              <a:ext uri="{FF2B5EF4-FFF2-40B4-BE49-F238E27FC236}">
                <a16:creationId xmlns:a16="http://schemas.microsoft.com/office/drawing/2014/main" id="{8C1813A7-7C4A-9DC2-D9E6-3BF6A407284B}"/>
              </a:ext>
            </a:extLst>
          </p:cNvPr>
          <p:cNvSpPr>
            <a:spLocks noGrp="1"/>
          </p:cNvSpPr>
          <p:nvPr>
            <p:ph type="sldNum" sz="quarter" idx="12"/>
          </p:nvPr>
        </p:nvSpPr>
        <p:spPr/>
        <p:txBody>
          <a:bodyPr/>
          <a:lstStyle/>
          <a:p>
            <a:fld id="{4FAB73BC-B049-4115-A692-8D63A059BFB8}" type="slidenum">
              <a:rPr lang="en-US" smtClean="0"/>
              <a:pPr/>
              <a:t>19</a:t>
            </a:fld>
            <a:endParaRPr lang="en-US" dirty="0"/>
          </a:p>
        </p:txBody>
      </p:sp>
      <p:cxnSp>
        <p:nvCxnSpPr>
          <p:cNvPr id="25" name="Straight Connector 24">
            <a:extLst>
              <a:ext uri="{FF2B5EF4-FFF2-40B4-BE49-F238E27FC236}">
                <a16:creationId xmlns:a16="http://schemas.microsoft.com/office/drawing/2014/main" id="{D67DD427-FE73-842A-B915-A4E83C603EA4}"/>
              </a:ext>
            </a:extLst>
          </p:cNvPr>
          <p:cNvCxnSpPr>
            <a:cxnSpLocks/>
          </p:cNvCxnSpPr>
          <p:nvPr/>
        </p:nvCxnSpPr>
        <p:spPr>
          <a:xfrm>
            <a:off x="2440086" y="2514600"/>
            <a:ext cx="0" cy="2159000"/>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sp>
        <p:nvSpPr>
          <p:cNvPr id="30" name="Parallelogram 29">
            <a:extLst>
              <a:ext uri="{FF2B5EF4-FFF2-40B4-BE49-F238E27FC236}">
                <a16:creationId xmlns:a16="http://schemas.microsoft.com/office/drawing/2014/main" id="{64E3545E-5912-05FE-664C-5A6E7E8FBCB2}"/>
              </a:ext>
            </a:extLst>
          </p:cNvPr>
          <p:cNvSpPr/>
          <p:nvPr/>
        </p:nvSpPr>
        <p:spPr>
          <a:xfrm>
            <a:off x="982761" y="3153944"/>
            <a:ext cx="10229850" cy="1276350"/>
          </a:xfrm>
          <a:prstGeom prst="parallelogram">
            <a:avLst>
              <a:gd name="adj" fmla="val 113806"/>
            </a:avLst>
          </a:prstGeom>
          <a:solidFill>
            <a:srgbClr val="FFE4D9"/>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solidFill>
                <a:srgbClr val="FFE4D9"/>
              </a:solidFill>
            </a:endParaRPr>
          </a:p>
        </p:txBody>
      </p:sp>
      <p:sp>
        <p:nvSpPr>
          <p:cNvPr id="31" name="TextBox 30">
            <a:extLst>
              <a:ext uri="{FF2B5EF4-FFF2-40B4-BE49-F238E27FC236}">
                <a16:creationId xmlns:a16="http://schemas.microsoft.com/office/drawing/2014/main" id="{9861AB09-09B3-7F85-579B-F38161FC78CD}"/>
              </a:ext>
            </a:extLst>
          </p:cNvPr>
          <p:cNvSpPr txBox="1"/>
          <p:nvPr/>
        </p:nvSpPr>
        <p:spPr>
          <a:xfrm>
            <a:off x="1218930" y="4122517"/>
            <a:ext cx="1693092"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33" name="Parallelogram 32">
            <a:extLst>
              <a:ext uri="{FF2B5EF4-FFF2-40B4-BE49-F238E27FC236}">
                <a16:creationId xmlns:a16="http://schemas.microsoft.com/office/drawing/2014/main" id="{BEA4D262-6B27-EA25-B690-89B03F3AE04A}"/>
              </a:ext>
            </a:extLst>
          </p:cNvPr>
          <p:cNvSpPr/>
          <p:nvPr/>
        </p:nvSpPr>
        <p:spPr>
          <a:xfrm>
            <a:off x="982761" y="4673600"/>
            <a:ext cx="10229850" cy="1276350"/>
          </a:xfrm>
          <a:prstGeom prst="parallelogram">
            <a:avLst>
              <a:gd name="adj" fmla="val 113806"/>
            </a:avLst>
          </a:prstGeom>
          <a:solidFill>
            <a:schemeClr val="accent4">
              <a:lumMod val="20000"/>
              <a:lumOff val="8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4" name="TextBox 33">
            <a:extLst>
              <a:ext uri="{FF2B5EF4-FFF2-40B4-BE49-F238E27FC236}">
                <a16:creationId xmlns:a16="http://schemas.microsoft.com/office/drawing/2014/main" id="{9C303F23-F34F-54CD-646F-9B0AED08727A}"/>
              </a:ext>
            </a:extLst>
          </p:cNvPr>
          <p:cNvSpPr txBox="1"/>
          <p:nvPr/>
        </p:nvSpPr>
        <p:spPr>
          <a:xfrm>
            <a:off x="1258204" y="5642173"/>
            <a:ext cx="1529586"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4"/>
                </a:solidFill>
              </a:rPr>
              <a:t>Dataset Columns</a:t>
            </a:r>
            <a:endParaRPr lang="en-NL" sz="1400" dirty="0">
              <a:solidFill>
                <a:schemeClr val="accent4"/>
              </a:solidFill>
            </a:endParaRPr>
          </a:p>
        </p:txBody>
      </p:sp>
      <p:cxnSp>
        <p:nvCxnSpPr>
          <p:cNvPr id="36" name="Straight Connector 35">
            <a:extLst>
              <a:ext uri="{FF2B5EF4-FFF2-40B4-BE49-F238E27FC236}">
                <a16:creationId xmlns:a16="http://schemas.microsoft.com/office/drawing/2014/main" id="{74C68E94-D302-AD87-C29C-7D4C6CCC38FA}"/>
              </a:ext>
            </a:extLst>
          </p:cNvPr>
          <p:cNvCxnSpPr>
            <a:cxnSpLocks/>
          </p:cNvCxnSpPr>
          <p:nvPr/>
        </p:nvCxnSpPr>
        <p:spPr>
          <a:xfrm>
            <a:off x="983453" y="2245519"/>
            <a:ext cx="0" cy="3704431"/>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8819E487-3D4C-A77B-7017-B4912C478227}"/>
              </a:ext>
            </a:extLst>
          </p:cNvPr>
          <p:cNvCxnSpPr>
            <a:cxnSpLocks/>
          </p:cNvCxnSpPr>
          <p:nvPr/>
        </p:nvCxnSpPr>
        <p:spPr>
          <a:xfrm>
            <a:off x="11204086" y="2272464"/>
            <a:ext cx="0" cy="24011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CAE78E32-B506-E4A5-D1A3-CA2527D42EEE}"/>
              </a:ext>
            </a:extLst>
          </p:cNvPr>
          <p:cNvCxnSpPr>
            <a:cxnSpLocks/>
          </p:cNvCxnSpPr>
          <p:nvPr/>
        </p:nvCxnSpPr>
        <p:spPr>
          <a:xfrm>
            <a:off x="9762478" y="2438400"/>
            <a:ext cx="0" cy="3511550"/>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8C4A1993-255F-DC61-CDA1-7EF4F99593AB}"/>
              </a:ext>
            </a:extLst>
          </p:cNvPr>
          <p:cNvCxnSpPr>
            <a:cxnSpLocks/>
            <a:stCxn id="35" idx="7"/>
            <a:endCxn id="56" idx="3"/>
          </p:cNvCxnSpPr>
          <p:nvPr/>
        </p:nvCxnSpPr>
        <p:spPr>
          <a:xfrm flipV="1">
            <a:off x="3545914" y="3936925"/>
            <a:ext cx="876112" cy="877837"/>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C94A593C-913C-4E3F-6E94-0FC4ACC98C1A}"/>
              </a:ext>
            </a:extLst>
          </p:cNvPr>
          <p:cNvCxnSpPr>
            <a:cxnSpLocks/>
            <a:endCxn id="56" idx="4"/>
          </p:cNvCxnSpPr>
          <p:nvPr/>
        </p:nvCxnSpPr>
        <p:spPr>
          <a:xfrm flipH="1" flipV="1">
            <a:off x="4566833" y="3996906"/>
            <a:ext cx="383508" cy="1541880"/>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E4D5F3FA-30BE-82B0-32C6-24F8A9EE1608}"/>
              </a:ext>
            </a:extLst>
          </p:cNvPr>
          <p:cNvCxnSpPr>
            <a:cxnSpLocks/>
            <a:endCxn id="58" idx="4"/>
          </p:cNvCxnSpPr>
          <p:nvPr/>
        </p:nvCxnSpPr>
        <p:spPr>
          <a:xfrm flipH="1" flipV="1">
            <a:off x="6017115" y="3677819"/>
            <a:ext cx="495205" cy="1317092"/>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3B451271-E63A-A5F5-7548-4172B717F7C8}"/>
              </a:ext>
            </a:extLst>
          </p:cNvPr>
          <p:cNvCxnSpPr>
            <a:cxnSpLocks/>
            <a:endCxn id="57" idx="4"/>
          </p:cNvCxnSpPr>
          <p:nvPr/>
        </p:nvCxnSpPr>
        <p:spPr>
          <a:xfrm flipH="1" flipV="1">
            <a:off x="7467397" y="4315994"/>
            <a:ext cx="632967" cy="1222792"/>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grpSp>
        <p:nvGrpSpPr>
          <p:cNvPr id="80" name="Group 79">
            <a:extLst>
              <a:ext uri="{FF2B5EF4-FFF2-40B4-BE49-F238E27FC236}">
                <a16:creationId xmlns:a16="http://schemas.microsoft.com/office/drawing/2014/main" id="{23636FC2-7067-B2B7-57E0-F1A98F1A6DB3}"/>
              </a:ext>
            </a:extLst>
          </p:cNvPr>
          <p:cNvGrpSpPr/>
          <p:nvPr/>
        </p:nvGrpSpPr>
        <p:grpSpPr>
          <a:xfrm>
            <a:off x="3196320" y="4754781"/>
            <a:ext cx="3542413" cy="409575"/>
            <a:chOff x="3196320" y="4783356"/>
            <a:chExt cx="3542413" cy="409575"/>
          </a:xfrm>
        </p:grpSpPr>
        <p:sp>
          <p:nvSpPr>
            <p:cNvPr id="35" name="Oval 34">
              <a:extLst>
                <a:ext uri="{FF2B5EF4-FFF2-40B4-BE49-F238E27FC236}">
                  <a16:creationId xmlns:a16="http://schemas.microsoft.com/office/drawing/2014/main" id="{2610B7B2-B537-0A67-CF74-B00D6B27F09A}"/>
                </a:ext>
              </a:extLst>
            </p:cNvPr>
            <p:cNvSpPr/>
            <p:nvPr/>
          </p:nvSpPr>
          <p:spPr>
            <a:xfrm>
              <a:off x="3196320" y="4783356"/>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D1</a:t>
              </a:r>
              <a:endParaRPr lang="en-NL" dirty="0"/>
            </a:p>
          </p:txBody>
        </p:sp>
        <p:sp>
          <p:nvSpPr>
            <p:cNvPr id="41" name="Oval 40">
              <a:extLst>
                <a:ext uri="{FF2B5EF4-FFF2-40B4-BE49-F238E27FC236}">
                  <a16:creationId xmlns:a16="http://schemas.microsoft.com/office/drawing/2014/main" id="{F927041C-C4C2-A8C8-07B7-CBD46D929C66}"/>
                </a:ext>
              </a:extLst>
            </p:cNvPr>
            <p:cNvSpPr/>
            <p:nvPr/>
          </p:nvSpPr>
          <p:spPr>
            <a:xfrm>
              <a:off x="6329158" y="4783356"/>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D2</a:t>
              </a:r>
              <a:endParaRPr lang="en-NL" dirty="0"/>
            </a:p>
          </p:txBody>
        </p:sp>
      </p:grpSp>
      <p:sp>
        <p:nvSpPr>
          <p:cNvPr id="52" name="Oval 51">
            <a:extLst>
              <a:ext uri="{FF2B5EF4-FFF2-40B4-BE49-F238E27FC236}">
                <a16:creationId xmlns:a16="http://schemas.microsoft.com/office/drawing/2014/main" id="{C515BE55-9689-6181-7BF5-356862EB56F2}"/>
              </a:ext>
            </a:extLst>
          </p:cNvPr>
          <p:cNvSpPr/>
          <p:nvPr/>
        </p:nvSpPr>
        <p:spPr>
          <a:xfrm>
            <a:off x="4762739" y="5457825"/>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D3</a:t>
            </a:r>
            <a:endParaRPr lang="en-NL" dirty="0"/>
          </a:p>
        </p:txBody>
      </p:sp>
      <p:sp>
        <p:nvSpPr>
          <p:cNvPr id="53" name="Oval 52">
            <a:extLst>
              <a:ext uri="{FF2B5EF4-FFF2-40B4-BE49-F238E27FC236}">
                <a16:creationId xmlns:a16="http://schemas.microsoft.com/office/drawing/2014/main" id="{17E74ED3-8899-552C-9DD6-413E72E0103A}"/>
              </a:ext>
            </a:extLst>
          </p:cNvPr>
          <p:cNvSpPr/>
          <p:nvPr/>
        </p:nvSpPr>
        <p:spPr>
          <a:xfrm>
            <a:off x="7895578" y="5457825"/>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D4</a:t>
            </a:r>
            <a:endParaRPr lang="en-NL" dirty="0"/>
          </a:p>
        </p:txBody>
      </p:sp>
      <p:sp>
        <p:nvSpPr>
          <p:cNvPr id="56" name="Oval 55">
            <a:extLst>
              <a:ext uri="{FF2B5EF4-FFF2-40B4-BE49-F238E27FC236}">
                <a16:creationId xmlns:a16="http://schemas.microsoft.com/office/drawing/2014/main" id="{6C52ECA0-0571-5603-019B-597D19F08C06}"/>
              </a:ext>
            </a:extLst>
          </p:cNvPr>
          <p:cNvSpPr/>
          <p:nvPr/>
        </p:nvSpPr>
        <p:spPr>
          <a:xfrm>
            <a:off x="4362045" y="3587331"/>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C1</a:t>
            </a:r>
            <a:endParaRPr lang="en-NL" dirty="0"/>
          </a:p>
        </p:txBody>
      </p:sp>
      <p:sp>
        <p:nvSpPr>
          <p:cNvPr id="57" name="Oval 56">
            <a:extLst>
              <a:ext uri="{FF2B5EF4-FFF2-40B4-BE49-F238E27FC236}">
                <a16:creationId xmlns:a16="http://schemas.microsoft.com/office/drawing/2014/main" id="{D60A6AE2-4528-3514-6853-37AE0C417EAC}"/>
              </a:ext>
            </a:extLst>
          </p:cNvPr>
          <p:cNvSpPr/>
          <p:nvPr/>
        </p:nvSpPr>
        <p:spPr>
          <a:xfrm>
            <a:off x="7262609" y="3906419"/>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C3</a:t>
            </a:r>
            <a:endParaRPr lang="en-NL" dirty="0"/>
          </a:p>
        </p:txBody>
      </p:sp>
      <p:sp>
        <p:nvSpPr>
          <p:cNvPr id="58" name="Oval 57">
            <a:extLst>
              <a:ext uri="{FF2B5EF4-FFF2-40B4-BE49-F238E27FC236}">
                <a16:creationId xmlns:a16="http://schemas.microsoft.com/office/drawing/2014/main" id="{B625D8F5-3751-C925-F796-3F97CD692AD5}"/>
              </a:ext>
            </a:extLst>
          </p:cNvPr>
          <p:cNvSpPr/>
          <p:nvPr/>
        </p:nvSpPr>
        <p:spPr>
          <a:xfrm>
            <a:off x="5812327" y="326824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C2</a:t>
            </a:r>
            <a:endParaRPr lang="en-NL" dirty="0"/>
          </a:p>
        </p:txBody>
      </p:sp>
      <p:cxnSp>
        <p:nvCxnSpPr>
          <p:cNvPr id="40" name="Straight Arrow Connector 39">
            <a:extLst>
              <a:ext uri="{FF2B5EF4-FFF2-40B4-BE49-F238E27FC236}">
                <a16:creationId xmlns:a16="http://schemas.microsoft.com/office/drawing/2014/main" id="{92B2EDD4-E0EF-320D-F5F8-B3EB4A5A75A2}"/>
              </a:ext>
            </a:extLst>
          </p:cNvPr>
          <p:cNvCxnSpPr>
            <a:cxnSpLocks/>
            <a:stCxn id="35" idx="6"/>
            <a:endCxn id="41" idx="2"/>
          </p:cNvCxnSpPr>
          <p:nvPr/>
        </p:nvCxnSpPr>
        <p:spPr>
          <a:xfrm>
            <a:off x="3605895" y="4959569"/>
            <a:ext cx="2723263" cy="0"/>
          </a:xfrm>
          <a:prstGeom prst="straightConnector1">
            <a:avLst/>
          </a:prstGeom>
          <a:ln w="38100" cap="rnd">
            <a:solidFill>
              <a:schemeClr val="accent2"/>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51" name="Speech Bubble: Rectangle 50">
            <a:extLst>
              <a:ext uri="{FF2B5EF4-FFF2-40B4-BE49-F238E27FC236}">
                <a16:creationId xmlns:a16="http://schemas.microsoft.com/office/drawing/2014/main" id="{4E377E5B-97EE-F5C4-6466-04D920389DE3}"/>
              </a:ext>
            </a:extLst>
          </p:cNvPr>
          <p:cNvSpPr/>
          <p:nvPr/>
        </p:nvSpPr>
        <p:spPr>
          <a:xfrm>
            <a:off x="704850" y="1648634"/>
            <a:ext cx="5391150" cy="597600"/>
          </a:xfrm>
          <a:prstGeom prst="wedgeRectCallout">
            <a:avLst>
              <a:gd name="adj1" fmla="val -21059"/>
              <a:gd name="adj2" fmla="val 105541"/>
            </a:avLst>
          </a:prstGeom>
          <a:solidFill>
            <a:schemeClr val="bg1">
              <a:lumMod val="95000"/>
              <a:alpha val="90000"/>
            </a:schemeClr>
          </a:solidFill>
        </p:spPr>
        <p:style>
          <a:lnRef idx="2">
            <a:schemeClr val="dk1"/>
          </a:lnRef>
          <a:fillRef idx="1">
            <a:schemeClr val="lt1"/>
          </a:fillRef>
          <a:effectRef idx="0">
            <a:schemeClr val="dk1"/>
          </a:effectRef>
          <a:fontRef idx="minor">
            <a:schemeClr val="dk1"/>
          </a:fontRef>
        </p:style>
        <p:txBody>
          <a:bodyPr rtlCol="0" anchor="ctr"/>
          <a:lstStyle/>
          <a:p>
            <a:pPr>
              <a:spcAft>
                <a:spcPts val="600"/>
              </a:spcAft>
            </a:pPr>
            <a:r>
              <a:rPr lang="en-US" dirty="0"/>
              <a:t>Can </a:t>
            </a:r>
            <a:r>
              <a:rPr lang="en-US" b="1" dirty="0"/>
              <a:t>D1 </a:t>
            </a:r>
            <a:r>
              <a:rPr lang="en-US" dirty="0"/>
              <a:t>and </a:t>
            </a:r>
            <a:r>
              <a:rPr lang="en-US" b="1" dirty="0"/>
              <a:t>D2 </a:t>
            </a:r>
            <a:r>
              <a:rPr lang="en-US" dirty="0"/>
              <a:t>be safely reused together?</a:t>
            </a:r>
          </a:p>
        </p:txBody>
      </p:sp>
      <p:grpSp>
        <p:nvGrpSpPr>
          <p:cNvPr id="54" name="Group 53">
            <a:extLst>
              <a:ext uri="{FF2B5EF4-FFF2-40B4-BE49-F238E27FC236}">
                <a16:creationId xmlns:a16="http://schemas.microsoft.com/office/drawing/2014/main" id="{A02BE12A-2D49-D829-0E10-2C665D3E589D}"/>
              </a:ext>
            </a:extLst>
          </p:cNvPr>
          <p:cNvGrpSpPr/>
          <p:nvPr/>
        </p:nvGrpSpPr>
        <p:grpSpPr>
          <a:xfrm>
            <a:off x="5046632" y="4507324"/>
            <a:ext cx="914400" cy="914400"/>
            <a:chOff x="4493141" y="273788"/>
            <a:chExt cx="914400" cy="914400"/>
          </a:xfrm>
        </p:grpSpPr>
        <p:sp>
          <p:nvSpPr>
            <p:cNvPr id="55" name="Oval 54">
              <a:extLst>
                <a:ext uri="{FF2B5EF4-FFF2-40B4-BE49-F238E27FC236}">
                  <a16:creationId xmlns:a16="http://schemas.microsoft.com/office/drawing/2014/main" id="{DF55D619-E9BC-6BCB-AF4D-95E34CE58435}"/>
                </a:ext>
              </a:extLst>
            </p:cNvPr>
            <p:cNvSpPr/>
            <p:nvPr/>
          </p:nvSpPr>
          <p:spPr>
            <a:xfrm>
              <a:off x="4630335" y="410982"/>
              <a:ext cx="640013" cy="640013"/>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pic>
          <p:nvPicPr>
            <p:cNvPr id="59" name="Graphic 58" descr="Badge Question Mark with solid fill">
              <a:extLst>
                <a:ext uri="{FF2B5EF4-FFF2-40B4-BE49-F238E27FC236}">
                  <a16:creationId xmlns:a16="http://schemas.microsoft.com/office/drawing/2014/main" id="{A38543B5-A96A-4596-72DF-90C27C14123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493141" y="273788"/>
              <a:ext cx="914400" cy="914400"/>
            </a:xfrm>
            <a:prstGeom prst="rect">
              <a:avLst/>
            </a:prstGeom>
          </p:spPr>
        </p:pic>
      </p:grpSp>
      <p:cxnSp>
        <p:nvCxnSpPr>
          <p:cNvPr id="3" name="Connector: Curved 2">
            <a:extLst>
              <a:ext uri="{FF2B5EF4-FFF2-40B4-BE49-F238E27FC236}">
                <a16:creationId xmlns:a16="http://schemas.microsoft.com/office/drawing/2014/main" id="{85B0BC83-FEDD-EF93-A36A-770ECF4A99FE}"/>
              </a:ext>
            </a:extLst>
          </p:cNvPr>
          <p:cNvCxnSpPr/>
          <p:nvPr/>
        </p:nvCxnSpPr>
        <p:spPr>
          <a:xfrm rot="10800000">
            <a:off x="3401109" y="5164357"/>
            <a:ext cx="1361631" cy="498257"/>
          </a:xfrm>
          <a:prstGeom prst="curvedConnector2">
            <a:avLst/>
          </a:prstGeom>
          <a:ln w="38100" cap="rnd">
            <a:solidFill>
              <a:srgbClr val="00B050"/>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0306C4D3-2E46-3518-C650-ACEFF58C2ADA}"/>
              </a:ext>
            </a:extLst>
          </p:cNvPr>
          <p:cNvSpPr txBox="1"/>
          <p:nvPr/>
        </p:nvSpPr>
        <p:spPr>
          <a:xfrm>
            <a:off x="3996162" y="2164971"/>
            <a:ext cx="7485507" cy="646331"/>
          </a:xfrm>
          <a:prstGeom prst="rect">
            <a:avLst/>
          </a:prstGeom>
        </p:spPr>
        <p:style>
          <a:lnRef idx="0">
            <a:schemeClr val="accent6"/>
          </a:lnRef>
          <a:fillRef idx="3">
            <a:schemeClr val="accent6"/>
          </a:fillRef>
          <a:effectRef idx="3">
            <a:schemeClr val="accent6"/>
          </a:effectRef>
          <a:fontRef idx="minor">
            <a:schemeClr val="lt1"/>
          </a:fontRef>
        </p:style>
        <p:txBody>
          <a:bodyPr wrap="square">
            <a:spAutoFit/>
          </a:bodyPr>
          <a:lstStyle/>
          <a:p>
            <a:r>
              <a:rPr lang="en-US" dirty="0">
                <a:solidFill>
                  <a:schemeClr val="bg1"/>
                </a:solidFill>
              </a:rPr>
              <a:t>Without explicit meanings, we can only see interoperability when datasets share the same standard concept.</a:t>
            </a:r>
            <a:endParaRPr lang="en-NL" dirty="0">
              <a:solidFill>
                <a:schemeClr val="bg1"/>
              </a:solidFill>
            </a:endParaRPr>
          </a:p>
        </p:txBody>
      </p:sp>
      <p:sp>
        <p:nvSpPr>
          <p:cNvPr id="9" name="TextBox 8">
            <a:extLst>
              <a:ext uri="{FF2B5EF4-FFF2-40B4-BE49-F238E27FC236}">
                <a16:creationId xmlns:a16="http://schemas.microsoft.com/office/drawing/2014/main" id="{C624DFD0-4B86-B7CC-66A9-C850A6610F1E}"/>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2</a:t>
            </a:r>
            <a:endParaRPr lang="en-NL" sz="1000" b="1" dirty="0"/>
          </a:p>
        </p:txBody>
      </p:sp>
    </p:spTree>
    <p:extLst>
      <p:ext uri="{BB962C8B-B14F-4D97-AF65-F5344CB8AC3E}">
        <p14:creationId xmlns:p14="http://schemas.microsoft.com/office/powerpoint/2010/main" val="27611311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200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22B88-155E-F865-7781-6F65155FBB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F56267-1763-5EE9-5E38-2351EDD07B5B}"/>
              </a:ext>
            </a:extLst>
          </p:cNvPr>
          <p:cNvSpPr>
            <a:spLocks noGrp="1"/>
          </p:cNvSpPr>
          <p:nvPr>
            <p:ph type="title"/>
          </p:nvPr>
        </p:nvSpPr>
        <p:spPr/>
        <p:txBody>
          <a:bodyPr/>
          <a:lstStyle/>
          <a:p>
            <a:r>
              <a:rPr lang="en-US" sz="3600" dirty="0"/>
              <a:t>Semantic Interoperability Conditions</a:t>
            </a:r>
          </a:p>
        </p:txBody>
      </p:sp>
      <p:sp>
        <p:nvSpPr>
          <p:cNvPr id="4" name="Slide Number Placeholder 3">
            <a:extLst>
              <a:ext uri="{FF2B5EF4-FFF2-40B4-BE49-F238E27FC236}">
                <a16:creationId xmlns:a16="http://schemas.microsoft.com/office/drawing/2014/main" id="{7FE807DD-5CE4-8A1B-C37A-252A3F48C8F9}"/>
              </a:ext>
            </a:extLst>
          </p:cNvPr>
          <p:cNvSpPr>
            <a:spLocks noGrp="1"/>
          </p:cNvSpPr>
          <p:nvPr>
            <p:ph type="sldNum" sz="quarter" idx="12"/>
          </p:nvPr>
        </p:nvSpPr>
        <p:spPr/>
        <p:txBody>
          <a:bodyPr/>
          <a:lstStyle/>
          <a:p>
            <a:fld id="{4FAB73BC-B049-4115-A692-8D63A059BFB8}" type="slidenum">
              <a:rPr lang="en-US" smtClean="0"/>
              <a:pPr/>
              <a:t>20</a:t>
            </a:fld>
            <a:endParaRPr lang="en-US" dirty="0"/>
          </a:p>
        </p:txBody>
      </p:sp>
      <p:cxnSp>
        <p:nvCxnSpPr>
          <p:cNvPr id="25" name="Straight Connector 24">
            <a:extLst>
              <a:ext uri="{FF2B5EF4-FFF2-40B4-BE49-F238E27FC236}">
                <a16:creationId xmlns:a16="http://schemas.microsoft.com/office/drawing/2014/main" id="{F8B6B38F-EBC1-375D-4E98-EA61B35728E8}"/>
              </a:ext>
            </a:extLst>
          </p:cNvPr>
          <p:cNvCxnSpPr>
            <a:cxnSpLocks/>
          </p:cNvCxnSpPr>
          <p:nvPr/>
        </p:nvCxnSpPr>
        <p:spPr>
          <a:xfrm>
            <a:off x="2440086" y="2514600"/>
            <a:ext cx="0" cy="2159000"/>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sp>
        <p:nvSpPr>
          <p:cNvPr id="30" name="Parallelogram 29">
            <a:extLst>
              <a:ext uri="{FF2B5EF4-FFF2-40B4-BE49-F238E27FC236}">
                <a16:creationId xmlns:a16="http://schemas.microsoft.com/office/drawing/2014/main" id="{D8BB496D-A7A1-09DE-5879-4B67CDEE4248}"/>
              </a:ext>
            </a:extLst>
          </p:cNvPr>
          <p:cNvSpPr/>
          <p:nvPr/>
        </p:nvSpPr>
        <p:spPr>
          <a:xfrm>
            <a:off x="982761" y="3153944"/>
            <a:ext cx="10229850" cy="1276350"/>
          </a:xfrm>
          <a:prstGeom prst="parallelogram">
            <a:avLst>
              <a:gd name="adj" fmla="val 113806"/>
            </a:avLst>
          </a:prstGeom>
          <a:solidFill>
            <a:srgbClr val="FFE4D9"/>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solidFill>
                <a:srgbClr val="FFE4D9"/>
              </a:solidFill>
            </a:endParaRPr>
          </a:p>
        </p:txBody>
      </p:sp>
      <p:sp>
        <p:nvSpPr>
          <p:cNvPr id="31" name="TextBox 30">
            <a:extLst>
              <a:ext uri="{FF2B5EF4-FFF2-40B4-BE49-F238E27FC236}">
                <a16:creationId xmlns:a16="http://schemas.microsoft.com/office/drawing/2014/main" id="{3E8C4001-4F8B-DC1F-6739-944EDC4193E0}"/>
              </a:ext>
            </a:extLst>
          </p:cNvPr>
          <p:cNvSpPr txBox="1"/>
          <p:nvPr/>
        </p:nvSpPr>
        <p:spPr>
          <a:xfrm>
            <a:off x="1218930" y="4122517"/>
            <a:ext cx="1693092"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33" name="Parallelogram 32">
            <a:extLst>
              <a:ext uri="{FF2B5EF4-FFF2-40B4-BE49-F238E27FC236}">
                <a16:creationId xmlns:a16="http://schemas.microsoft.com/office/drawing/2014/main" id="{5578AA24-E804-94ED-9AA3-04727176BB7A}"/>
              </a:ext>
            </a:extLst>
          </p:cNvPr>
          <p:cNvSpPr/>
          <p:nvPr/>
        </p:nvSpPr>
        <p:spPr>
          <a:xfrm>
            <a:off x="982761" y="4673600"/>
            <a:ext cx="10229850" cy="1276350"/>
          </a:xfrm>
          <a:prstGeom prst="parallelogram">
            <a:avLst>
              <a:gd name="adj" fmla="val 113806"/>
            </a:avLst>
          </a:prstGeom>
          <a:solidFill>
            <a:schemeClr val="accent4">
              <a:lumMod val="20000"/>
              <a:lumOff val="8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4" name="TextBox 33">
            <a:extLst>
              <a:ext uri="{FF2B5EF4-FFF2-40B4-BE49-F238E27FC236}">
                <a16:creationId xmlns:a16="http://schemas.microsoft.com/office/drawing/2014/main" id="{F26E2583-D5A6-8CF1-D240-985A39547AFE}"/>
              </a:ext>
            </a:extLst>
          </p:cNvPr>
          <p:cNvSpPr txBox="1"/>
          <p:nvPr/>
        </p:nvSpPr>
        <p:spPr>
          <a:xfrm>
            <a:off x="1258204" y="5642173"/>
            <a:ext cx="1529586"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4"/>
                </a:solidFill>
              </a:rPr>
              <a:t>Dataset Columns</a:t>
            </a:r>
            <a:endParaRPr lang="en-NL" sz="1400" dirty="0">
              <a:solidFill>
                <a:schemeClr val="accent4"/>
              </a:solidFill>
            </a:endParaRPr>
          </a:p>
        </p:txBody>
      </p:sp>
      <p:cxnSp>
        <p:nvCxnSpPr>
          <p:cNvPr id="36" name="Straight Connector 35">
            <a:extLst>
              <a:ext uri="{FF2B5EF4-FFF2-40B4-BE49-F238E27FC236}">
                <a16:creationId xmlns:a16="http://schemas.microsoft.com/office/drawing/2014/main" id="{1EA763DD-2057-9F94-7310-D228860E4B7D}"/>
              </a:ext>
            </a:extLst>
          </p:cNvPr>
          <p:cNvCxnSpPr>
            <a:cxnSpLocks/>
          </p:cNvCxnSpPr>
          <p:nvPr/>
        </p:nvCxnSpPr>
        <p:spPr>
          <a:xfrm>
            <a:off x="983453" y="2245519"/>
            <a:ext cx="0" cy="3704431"/>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3E95C421-1D02-227B-4B44-659565F6D60F}"/>
              </a:ext>
            </a:extLst>
          </p:cNvPr>
          <p:cNvCxnSpPr>
            <a:cxnSpLocks/>
          </p:cNvCxnSpPr>
          <p:nvPr/>
        </p:nvCxnSpPr>
        <p:spPr>
          <a:xfrm>
            <a:off x="11204086" y="2272464"/>
            <a:ext cx="0" cy="24011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878AA581-09A0-3644-6DCF-A893DDCB2797}"/>
              </a:ext>
            </a:extLst>
          </p:cNvPr>
          <p:cNvCxnSpPr>
            <a:cxnSpLocks/>
          </p:cNvCxnSpPr>
          <p:nvPr/>
        </p:nvCxnSpPr>
        <p:spPr>
          <a:xfrm>
            <a:off x="9762478" y="2438400"/>
            <a:ext cx="0" cy="3511550"/>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AF6203B1-FA4A-5AE7-94E3-B03F9DC0AE5E}"/>
              </a:ext>
            </a:extLst>
          </p:cNvPr>
          <p:cNvCxnSpPr>
            <a:cxnSpLocks/>
            <a:stCxn id="35" idx="7"/>
            <a:endCxn id="56" idx="3"/>
          </p:cNvCxnSpPr>
          <p:nvPr/>
        </p:nvCxnSpPr>
        <p:spPr>
          <a:xfrm flipV="1">
            <a:off x="3545914" y="3936925"/>
            <a:ext cx="876112" cy="877837"/>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E4C83CD8-5950-0E40-789D-14B85BBFF471}"/>
              </a:ext>
            </a:extLst>
          </p:cNvPr>
          <p:cNvCxnSpPr>
            <a:cxnSpLocks/>
            <a:endCxn id="56" idx="4"/>
          </p:cNvCxnSpPr>
          <p:nvPr/>
        </p:nvCxnSpPr>
        <p:spPr>
          <a:xfrm flipH="1" flipV="1">
            <a:off x="4566833" y="3996906"/>
            <a:ext cx="383508" cy="1541880"/>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sp>
        <p:nvSpPr>
          <p:cNvPr id="23" name="Cloud 22">
            <a:extLst>
              <a:ext uri="{FF2B5EF4-FFF2-40B4-BE49-F238E27FC236}">
                <a16:creationId xmlns:a16="http://schemas.microsoft.com/office/drawing/2014/main" id="{64162AA6-1BBC-E3B0-3AB1-9C504E2095DD}"/>
              </a:ext>
            </a:extLst>
          </p:cNvPr>
          <p:cNvSpPr/>
          <p:nvPr/>
        </p:nvSpPr>
        <p:spPr>
          <a:xfrm>
            <a:off x="982761" y="1899659"/>
            <a:ext cx="10229850" cy="719659"/>
          </a:xfrm>
          <a:prstGeom prst="cloud">
            <a:avLst/>
          </a:prstGeom>
          <a:solidFill>
            <a:schemeClr val="accent1">
              <a:lumMod val="20000"/>
              <a:lumOff val="80000"/>
              <a:alpha val="50000"/>
            </a:schemeClr>
          </a:solidFill>
          <a:ln>
            <a:solidFill>
              <a:schemeClr val="accent1">
                <a:lumMod val="20000"/>
                <a:lumOff val="80000"/>
                <a:alpha val="9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61" name="Straight Arrow Connector 60">
            <a:extLst>
              <a:ext uri="{FF2B5EF4-FFF2-40B4-BE49-F238E27FC236}">
                <a16:creationId xmlns:a16="http://schemas.microsoft.com/office/drawing/2014/main" id="{D8A22B13-A704-6A4A-3BD0-FABBF7FACF6B}"/>
              </a:ext>
            </a:extLst>
          </p:cNvPr>
          <p:cNvCxnSpPr>
            <a:cxnSpLocks/>
            <a:endCxn id="58" idx="4"/>
          </p:cNvCxnSpPr>
          <p:nvPr/>
        </p:nvCxnSpPr>
        <p:spPr>
          <a:xfrm flipH="1" flipV="1">
            <a:off x="6017115" y="3677819"/>
            <a:ext cx="495205" cy="1317092"/>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930B3950-2241-6C58-1169-203BF934A3A7}"/>
              </a:ext>
            </a:extLst>
          </p:cNvPr>
          <p:cNvCxnSpPr>
            <a:cxnSpLocks/>
            <a:endCxn id="57" idx="4"/>
          </p:cNvCxnSpPr>
          <p:nvPr/>
        </p:nvCxnSpPr>
        <p:spPr>
          <a:xfrm flipH="1" flipV="1">
            <a:off x="7467397" y="4315994"/>
            <a:ext cx="632967" cy="1222792"/>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grpSp>
        <p:nvGrpSpPr>
          <p:cNvPr id="80" name="Group 79">
            <a:extLst>
              <a:ext uri="{FF2B5EF4-FFF2-40B4-BE49-F238E27FC236}">
                <a16:creationId xmlns:a16="http://schemas.microsoft.com/office/drawing/2014/main" id="{04B97203-3C6B-DAC9-ED6C-AA97692BA222}"/>
              </a:ext>
            </a:extLst>
          </p:cNvPr>
          <p:cNvGrpSpPr/>
          <p:nvPr/>
        </p:nvGrpSpPr>
        <p:grpSpPr>
          <a:xfrm>
            <a:off x="3196320" y="4754781"/>
            <a:ext cx="3542413" cy="409575"/>
            <a:chOff x="3196320" y="4783356"/>
            <a:chExt cx="3542413" cy="409575"/>
          </a:xfrm>
        </p:grpSpPr>
        <p:sp>
          <p:nvSpPr>
            <p:cNvPr id="35" name="Oval 34">
              <a:extLst>
                <a:ext uri="{FF2B5EF4-FFF2-40B4-BE49-F238E27FC236}">
                  <a16:creationId xmlns:a16="http://schemas.microsoft.com/office/drawing/2014/main" id="{1E73AEFB-06A0-14E5-9CD5-99D5F3D4A7DC}"/>
                </a:ext>
              </a:extLst>
            </p:cNvPr>
            <p:cNvSpPr/>
            <p:nvPr/>
          </p:nvSpPr>
          <p:spPr>
            <a:xfrm>
              <a:off x="3196320" y="4783356"/>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D1</a:t>
              </a:r>
              <a:endParaRPr lang="en-NL" dirty="0"/>
            </a:p>
          </p:txBody>
        </p:sp>
        <p:sp>
          <p:nvSpPr>
            <p:cNvPr id="41" name="Oval 40">
              <a:extLst>
                <a:ext uri="{FF2B5EF4-FFF2-40B4-BE49-F238E27FC236}">
                  <a16:creationId xmlns:a16="http://schemas.microsoft.com/office/drawing/2014/main" id="{0E19FE88-C46F-8705-C27E-5670AF3F85C5}"/>
                </a:ext>
              </a:extLst>
            </p:cNvPr>
            <p:cNvSpPr/>
            <p:nvPr/>
          </p:nvSpPr>
          <p:spPr>
            <a:xfrm>
              <a:off x="6329158" y="4783356"/>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D2</a:t>
              </a:r>
              <a:endParaRPr lang="en-NL" dirty="0"/>
            </a:p>
          </p:txBody>
        </p:sp>
      </p:grpSp>
      <p:sp>
        <p:nvSpPr>
          <p:cNvPr id="52" name="Oval 51">
            <a:extLst>
              <a:ext uri="{FF2B5EF4-FFF2-40B4-BE49-F238E27FC236}">
                <a16:creationId xmlns:a16="http://schemas.microsoft.com/office/drawing/2014/main" id="{D17E82C7-F274-DA4C-1899-33FE521187E2}"/>
              </a:ext>
            </a:extLst>
          </p:cNvPr>
          <p:cNvSpPr/>
          <p:nvPr/>
        </p:nvSpPr>
        <p:spPr>
          <a:xfrm>
            <a:off x="4762739" y="5457825"/>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D3</a:t>
            </a:r>
            <a:endParaRPr lang="en-NL" dirty="0"/>
          </a:p>
        </p:txBody>
      </p:sp>
      <p:sp>
        <p:nvSpPr>
          <p:cNvPr id="53" name="Oval 52">
            <a:extLst>
              <a:ext uri="{FF2B5EF4-FFF2-40B4-BE49-F238E27FC236}">
                <a16:creationId xmlns:a16="http://schemas.microsoft.com/office/drawing/2014/main" id="{B89C4342-5044-1030-48A9-CDA46AE36F95}"/>
              </a:ext>
            </a:extLst>
          </p:cNvPr>
          <p:cNvSpPr/>
          <p:nvPr/>
        </p:nvSpPr>
        <p:spPr>
          <a:xfrm>
            <a:off x="7895578" y="5457825"/>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D4</a:t>
            </a:r>
            <a:endParaRPr lang="en-NL" dirty="0"/>
          </a:p>
        </p:txBody>
      </p:sp>
      <p:sp>
        <p:nvSpPr>
          <p:cNvPr id="8" name="Oval 7">
            <a:extLst>
              <a:ext uri="{FF2B5EF4-FFF2-40B4-BE49-F238E27FC236}">
                <a16:creationId xmlns:a16="http://schemas.microsoft.com/office/drawing/2014/main" id="{5AC3D4D7-3EA3-ED61-ED86-16F83D35FCC8}"/>
              </a:ext>
            </a:extLst>
          </p:cNvPr>
          <p:cNvSpPr/>
          <p:nvPr/>
        </p:nvSpPr>
        <p:spPr>
          <a:xfrm>
            <a:off x="4357605" y="2066869"/>
            <a:ext cx="409575" cy="409575"/>
          </a:xfrm>
          <a:prstGeom prst="ellipse">
            <a:avLst/>
          </a:prstGeom>
          <a:solidFill>
            <a:schemeClr val="accent1">
              <a:lumMod val="40000"/>
              <a:lumOff val="60000"/>
            </a:schemeClr>
          </a:solidFill>
          <a:ln>
            <a:prstDash val="sysDash"/>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700" dirty="0"/>
              <a:t>M1</a:t>
            </a:r>
            <a:endParaRPr lang="en-NL" sz="1700" dirty="0"/>
          </a:p>
        </p:txBody>
      </p:sp>
      <p:sp>
        <p:nvSpPr>
          <p:cNvPr id="9" name="Oval 8">
            <a:extLst>
              <a:ext uri="{FF2B5EF4-FFF2-40B4-BE49-F238E27FC236}">
                <a16:creationId xmlns:a16="http://schemas.microsoft.com/office/drawing/2014/main" id="{56179E8A-F1FC-7602-E87E-C8F27C786535}"/>
              </a:ext>
            </a:extLst>
          </p:cNvPr>
          <p:cNvSpPr/>
          <p:nvPr/>
        </p:nvSpPr>
        <p:spPr>
          <a:xfrm>
            <a:off x="5812327" y="2056579"/>
            <a:ext cx="409575" cy="409575"/>
          </a:xfrm>
          <a:prstGeom prst="ellipse">
            <a:avLst/>
          </a:prstGeom>
          <a:solidFill>
            <a:schemeClr val="accent1">
              <a:lumMod val="40000"/>
              <a:lumOff val="60000"/>
            </a:schemeClr>
          </a:solidFill>
          <a:ln>
            <a:prstDash val="sysDash"/>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700" dirty="0"/>
              <a:t>M2</a:t>
            </a:r>
            <a:endParaRPr lang="en-NL" sz="1700" dirty="0"/>
          </a:p>
        </p:txBody>
      </p:sp>
      <p:cxnSp>
        <p:nvCxnSpPr>
          <p:cNvPr id="10" name="Straight Arrow Connector 9">
            <a:extLst>
              <a:ext uri="{FF2B5EF4-FFF2-40B4-BE49-F238E27FC236}">
                <a16:creationId xmlns:a16="http://schemas.microsoft.com/office/drawing/2014/main" id="{F98ED3DA-1168-1690-61DE-4CDA5DFAC078}"/>
              </a:ext>
            </a:extLst>
          </p:cNvPr>
          <p:cNvCxnSpPr>
            <a:cxnSpLocks/>
            <a:stCxn id="56" idx="0"/>
            <a:endCxn id="8" idx="4"/>
          </p:cNvCxnSpPr>
          <p:nvPr/>
        </p:nvCxnSpPr>
        <p:spPr>
          <a:xfrm flipH="1" flipV="1">
            <a:off x="4562393" y="2476444"/>
            <a:ext cx="4440" cy="1110887"/>
          </a:xfrm>
          <a:prstGeom prst="straightConnector1">
            <a:avLst/>
          </a:prstGeom>
          <a:ln w="38100">
            <a:solidFill>
              <a:schemeClr val="tx1">
                <a:lumMod val="50000"/>
                <a:lumOff val="50000"/>
              </a:schemeClr>
            </a:solidFill>
            <a:prstDash val="sysDot"/>
            <a:tailEnd type="triangle" w="lg" len="med"/>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D240B7C5-5996-3553-F230-41B46E7BD4B3}"/>
              </a:ext>
            </a:extLst>
          </p:cNvPr>
          <p:cNvCxnSpPr>
            <a:cxnSpLocks/>
            <a:stCxn id="58" idx="0"/>
            <a:endCxn id="9" idx="4"/>
          </p:cNvCxnSpPr>
          <p:nvPr/>
        </p:nvCxnSpPr>
        <p:spPr>
          <a:xfrm flipV="1">
            <a:off x="6017115" y="2466154"/>
            <a:ext cx="0" cy="802090"/>
          </a:xfrm>
          <a:prstGeom prst="straightConnector1">
            <a:avLst/>
          </a:prstGeom>
          <a:ln w="38100">
            <a:solidFill>
              <a:schemeClr val="tx1">
                <a:lumMod val="50000"/>
                <a:lumOff val="50000"/>
              </a:schemeClr>
            </a:solidFill>
            <a:prstDash val="sysDot"/>
            <a:tailEnd type="triangle" w="lg" len="med"/>
          </a:ln>
        </p:spPr>
        <p:style>
          <a:lnRef idx="1">
            <a:schemeClr val="accent1"/>
          </a:lnRef>
          <a:fillRef idx="0">
            <a:schemeClr val="accent1"/>
          </a:fillRef>
          <a:effectRef idx="0">
            <a:schemeClr val="accent1"/>
          </a:effectRef>
          <a:fontRef idx="minor">
            <a:schemeClr val="tx1"/>
          </a:fontRef>
        </p:style>
      </p:cxnSp>
      <p:sp>
        <p:nvSpPr>
          <p:cNvPr id="56" name="Oval 55">
            <a:extLst>
              <a:ext uri="{FF2B5EF4-FFF2-40B4-BE49-F238E27FC236}">
                <a16:creationId xmlns:a16="http://schemas.microsoft.com/office/drawing/2014/main" id="{A89FBF7C-CD15-F8F3-E501-07E64C564745}"/>
              </a:ext>
            </a:extLst>
          </p:cNvPr>
          <p:cNvSpPr/>
          <p:nvPr/>
        </p:nvSpPr>
        <p:spPr>
          <a:xfrm>
            <a:off x="4362045" y="3587331"/>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C1</a:t>
            </a:r>
            <a:endParaRPr lang="en-NL" dirty="0"/>
          </a:p>
        </p:txBody>
      </p:sp>
      <p:sp>
        <p:nvSpPr>
          <p:cNvPr id="57" name="Oval 56">
            <a:extLst>
              <a:ext uri="{FF2B5EF4-FFF2-40B4-BE49-F238E27FC236}">
                <a16:creationId xmlns:a16="http://schemas.microsoft.com/office/drawing/2014/main" id="{61386E59-3937-0FB4-F690-33553320474C}"/>
              </a:ext>
            </a:extLst>
          </p:cNvPr>
          <p:cNvSpPr/>
          <p:nvPr/>
        </p:nvSpPr>
        <p:spPr>
          <a:xfrm>
            <a:off x="7262609" y="3906419"/>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C3</a:t>
            </a:r>
            <a:endParaRPr lang="en-NL" dirty="0"/>
          </a:p>
        </p:txBody>
      </p:sp>
      <p:sp>
        <p:nvSpPr>
          <p:cNvPr id="58" name="Oval 57">
            <a:extLst>
              <a:ext uri="{FF2B5EF4-FFF2-40B4-BE49-F238E27FC236}">
                <a16:creationId xmlns:a16="http://schemas.microsoft.com/office/drawing/2014/main" id="{0D862D82-1568-902F-157B-C79D58A66811}"/>
              </a:ext>
            </a:extLst>
          </p:cNvPr>
          <p:cNvSpPr/>
          <p:nvPr/>
        </p:nvSpPr>
        <p:spPr>
          <a:xfrm>
            <a:off x="5812327" y="326824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C2</a:t>
            </a:r>
            <a:endParaRPr lang="en-NL" dirty="0"/>
          </a:p>
        </p:txBody>
      </p:sp>
      <p:cxnSp>
        <p:nvCxnSpPr>
          <p:cNvPr id="40" name="Straight Arrow Connector 39">
            <a:extLst>
              <a:ext uri="{FF2B5EF4-FFF2-40B4-BE49-F238E27FC236}">
                <a16:creationId xmlns:a16="http://schemas.microsoft.com/office/drawing/2014/main" id="{499F7B4E-884E-2904-6A7A-2C2369EC5EB7}"/>
              </a:ext>
            </a:extLst>
          </p:cNvPr>
          <p:cNvCxnSpPr>
            <a:cxnSpLocks/>
            <a:stCxn id="35" idx="6"/>
            <a:endCxn id="41" idx="2"/>
          </p:cNvCxnSpPr>
          <p:nvPr/>
        </p:nvCxnSpPr>
        <p:spPr>
          <a:xfrm>
            <a:off x="3605895" y="4959569"/>
            <a:ext cx="2723263" cy="0"/>
          </a:xfrm>
          <a:prstGeom prst="straightConnector1">
            <a:avLst/>
          </a:prstGeom>
          <a:ln w="38100" cap="rnd">
            <a:solidFill>
              <a:schemeClr val="accent2"/>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grpSp>
        <p:nvGrpSpPr>
          <p:cNvPr id="22" name="Group 21">
            <a:extLst>
              <a:ext uri="{FF2B5EF4-FFF2-40B4-BE49-F238E27FC236}">
                <a16:creationId xmlns:a16="http://schemas.microsoft.com/office/drawing/2014/main" id="{AEBEBD47-5D8E-2EB9-E02C-5E68AD7B0A3F}"/>
              </a:ext>
            </a:extLst>
          </p:cNvPr>
          <p:cNvGrpSpPr/>
          <p:nvPr/>
        </p:nvGrpSpPr>
        <p:grpSpPr>
          <a:xfrm>
            <a:off x="5050172" y="4502368"/>
            <a:ext cx="914400" cy="914400"/>
            <a:chOff x="5026342" y="319898"/>
            <a:chExt cx="914400" cy="914400"/>
          </a:xfrm>
        </p:grpSpPr>
        <p:sp>
          <p:nvSpPr>
            <p:cNvPr id="48" name="Oval 47">
              <a:extLst>
                <a:ext uri="{FF2B5EF4-FFF2-40B4-BE49-F238E27FC236}">
                  <a16:creationId xmlns:a16="http://schemas.microsoft.com/office/drawing/2014/main" id="{454117BC-97F4-73CE-F4B4-1A771D1F5FFE}"/>
                </a:ext>
              </a:extLst>
            </p:cNvPr>
            <p:cNvSpPr/>
            <p:nvPr/>
          </p:nvSpPr>
          <p:spPr>
            <a:xfrm>
              <a:off x="5163536" y="457092"/>
              <a:ext cx="640013" cy="640013"/>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dirty="0"/>
            </a:p>
          </p:txBody>
        </p:sp>
        <p:pic>
          <p:nvPicPr>
            <p:cNvPr id="21" name="Graphic 20" descr="Badge Cross with solid fill">
              <a:extLst>
                <a:ext uri="{FF2B5EF4-FFF2-40B4-BE49-F238E27FC236}">
                  <a16:creationId xmlns:a16="http://schemas.microsoft.com/office/drawing/2014/main" id="{46FBE4E4-A6B0-130D-AC05-560DFAC7642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26342" y="319898"/>
              <a:ext cx="914400" cy="914400"/>
            </a:xfrm>
            <a:prstGeom prst="rect">
              <a:avLst/>
            </a:prstGeom>
          </p:spPr>
        </p:pic>
      </p:grpSp>
      <p:sp>
        <p:nvSpPr>
          <p:cNvPr id="43" name="TextBox 42">
            <a:extLst>
              <a:ext uri="{FF2B5EF4-FFF2-40B4-BE49-F238E27FC236}">
                <a16:creationId xmlns:a16="http://schemas.microsoft.com/office/drawing/2014/main" id="{F558A9DB-131C-D819-EBC1-2723FC36A670}"/>
              </a:ext>
            </a:extLst>
          </p:cNvPr>
          <p:cNvSpPr txBox="1"/>
          <p:nvPr/>
        </p:nvSpPr>
        <p:spPr>
          <a:xfrm>
            <a:off x="1258204" y="2101155"/>
            <a:ext cx="954107"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1"/>
                </a:solidFill>
              </a:rPr>
              <a:t>Meanings</a:t>
            </a:r>
            <a:endParaRPr lang="en-NL" sz="1400" dirty="0">
              <a:solidFill>
                <a:schemeClr val="accent1"/>
              </a:solidFill>
            </a:endParaRPr>
          </a:p>
        </p:txBody>
      </p:sp>
      <p:cxnSp>
        <p:nvCxnSpPr>
          <p:cNvPr id="3" name="Connector: Curved 2">
            <a:extLst>
              <a:ext uri="{FF2B5EF4-FFF2-40B4-BE49-F238E27FC236}">
                <a16:creationId xmlns:a16="http://schemas.microsoft.com/office/drawing/2014/main" id="{B1B7C4C8-2B76-C4AB-FCEE-5ACFDC9AFB35}"/>
              </a:ext>
            </a:extLst>
          </p:cNvPr>
          <p:cNvCxnSpPr/>
          <p:nvPr/>
        </p:nvCxnSpPr>
        <p:spPr>
          <a:xfrm rot="10800000">
            <a:off x="3401109" y="5164357"/>
            <a:ext cx="1361631" cy="498257"/>
          </a:xfrm>
          <a:prstGeom prst="curvedConnector2">
            <a:avLst/>
          </a:prstGeom>
          <a:ln w="38100" cap="rnd">
            <a:solidFill>
              <a:srgbClr val="00B050"/>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2E9B0544-0348-3556-0193-9DDE38E2720C}"/>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2</a:t>
            </a:r>
            <a:endParaRPr lang="en-NL" sz="1000" b="1" dirty="0"/>
          </a:p>
        </p:txBody>
      </p:sp>
      <p:sp>
        <p:nvSpPr>
          <p:cNvPr id="14" name="TextBox 13">
            <a:extLst>
              <a:ext uri="{FF2B5EF4-FFF2-40B4-BE49-F238E27FC236}">
                <a16:creationId xmlns:a16="http://schemas.microsoft.com/office/drawing/2014/main" id="{5E36416E-15C0-A1AA-9886-0C5396DCE65D}"/>
              </a:ext>
            </a:extLst>
          </p:cNvPr>
          <p:cNvSpPr txBox="1"/>
          <p:nvPr/>
        </p:nvSpPr>
        <p:spPr>
          <a:xfrm>
            <a:off x="6890659" y="1662239"/>
            <a:ext cx="4606016" cy="338554"/>
          </a:xfrm>
          <a:prstGeom prst="rect">
            <a:avLst/>
          </a:prstGeom>
          <a:ln/>
        </p:spPr>
        <p:style>
          <a:lnRef idx="0">
            <a:schemeClr val="accent4"/>
          </a:lnRef>
          <a:fillRef idx="3">
            <a:schemeClr val="accent4"/>
          </a:fillRef>
          <a:effectRef idx="3">
            <a:schemeClr val="accent4"/>
          </a:effectRef>
          <a:fontRef idx="minor">
            <a:schemeClr val="lt1"/>
          </a:fontRef>
        </p:style>
        <p:txBody>
          <a:bodyPr wrap="square">
            <a:spAutoFit/>
          </a:bodyPr>
          <a:lstStyle/>
          <a:p>
            <a:r>
              <a:rPr lang="en-US" sz="1600" dirty="0">
                <a:solidFill>
                  <a:schemeClr val="bg1"/>
                </a:solidFill>
              </a:rPr>
              <a:t>We need precise and explicit meanings.</a:t>
            </a:r>
            <a:endParaRPr lang="en-NL" sz="1600" dirty="0">
              <a:solidFill>
                <a:schemeClr val="bg1"/>
              </a:solidFill>
            </a:endParaRPr>
          </a:p>
        </p:txBody>
      </p:sp>
      <p:sp>
        <p:nvSpPr>
          <p:cNvPr id="17" name="TextBox 16">
            <a:extLst>
              <a:ext uri="{FF2B5EF4-FFF2-40B4-BE49-F238E27FC236}">
                <a16:creationId xmlns:a16="http://schemas.microsoft.com/office/drawing/2014/main" id="{D4F6795E-40B7-FC11-251F-5B2BA2CB9F69}"/>
              </a:ext>
            </a:extLst>
          </p:cNvPr>
          <p:cNvSpPr txBox="1"/>
          <p:nvPr/>
        </p:nvSpPr>
        <p:spPr>
          <a:xfrm>
            <a:off x="6890660" y="2123439"/>
            <a:ext cx="4606015" cy="338554"/>
          </a:xfrm>
          <a:prstGeom prst="rect">
            <a:avLst/>
          </a:prstGeom>
          <a:ln/>
        </p:spPr>
        <p:style>
          <a:lnRef idx="0">
            <a:schemeClr val="accent6"/>
          </a:lnRef>
          <a:fillRef idx="3">
            <a:schemeClr val="accent6"/>
          </a:fillRef>
          <a:effectRef idx="3">
            <a:schemeClr val="accent6"/>
          </a:effectRef>
          <a:fontRef idx="minor">
            <a:schemeClr val="lt1"/>
          </a:fontRef>
        </p:style>
        <p:txBody>
          <a:bodyPr wrap="square">
            <a:spAutoFit/>
          </a:bodyPr>
          <a:lstStyle/>
          <a:p>
            <a:r>
              <a:rPr lang="en-US" sz="1600" dirty="0">
                <a:solidFill>
                  <a:schemeClr val="bg1"/>
                </a:solidFill>
              </a:rPr>
              <a:t>If meanings differ, interoperability is not possible.</a:t>
            </a:r>
            <a:endParaRPr lang="en-NL" sz="1600" dirty="0">
              <a:solidFill>
                <a:schemeClr val="bg1"/>
              </a:solidFill>
            </a:endParaRPr>
          </a:p>
        </p:txBody>
      </p:sp>
      <p:sp>
        <p:nvSpPr>
          <p:cNvPr id="19" name="TextBox 18">
            <a:extLst>
              <a:ext uri="{FF2B5EF4-FFF2-40B4-BE49-F238E27FC236}">
                <a16:creationId xmlns:a16="http://schemas.microsoft.com/office/drawing/2014/main" id="{F3E4D7F5-32F2-2331-0A1A-4D93902CA297}"/>
              </a:ext>
            </a:extLst>
          </p:cNvPr>
          <p:cNvSpPr txBox="1"/>
          <p:nvPr/>
        </p:nvSpPr>
        <p:spPr>
          <a:xfrm>
            <a:off x="5550713" y="4490138"/>
            <a:ext cx="581025" cy="400110"/>
          </a:xfrm>
          <a:prstGeom prst="rect">
            <a:avLst/>
          </a:prstGeom>
          <a:noFill/>
        </p:spPr>
        <p:txBody>
          <a:bodyPr wrap="square" rtlCol="0">
            <a:spAutoFit/>
          </a:bodyPr>
          <a:lstStyle/>
          <a:p>
            <a:r>
              <a:rPr lang="en-US" sz="2000" dirty="0">
                <a:latin typeface="Amasis MT Pro Black" panose="02040A04050005020304" pitchFamily="18" charset="0"/>
              </a:rPr>
              <a:t>*</a:t>
            </a:r>
            <a:endParaRPr lang="en-NL" sz="300" dirty="0">
              <a:latin typeface="Amasis MT Pro Black" panose="02040A04050005020304" pitchFamily="18" charset="0"/>
            </a:endParaRPr>
          </a:p>
        </p:txBody>
      </p:sp>
    </p:spTree>
    <p:extLst>
      <p:ext uri="{BB962C8B-B14F-4D97-AF65-F5344CB8AC3E}">
        <p14:creationId xmlns:p14="http://schemas.microsoft.com/office/powerpoint/2010/main" val="23237608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E52BED-73BE-A7E1-9D70-716383B470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27C900-8572-836D-027D-79F7391311E4}"/>
              </a:ext>
            </a:extLst>
          </p:cNvPr>
          <p:cNvSpPr>
            <a:spLocks noGrp="1"/>
          </p:cNvSpPr>
          <p:nvPr>
            <p:ph type="title"/>
          </p:nvPr>
        </p:nvSpPr>
        <p:spPr/>
        <p:txBody>
          <a:bodyPr/>
          <a:lstStyle/>
          <a:p>
            <a:r>
              <a:rPr lang="en-US" sz="3600" dirty="0"/>
              <a:t>Semantic Interoperability Conditions</a:t>
            </a:r>
          </a:p>
        </p:txBody>
      </p:sp>
      <p:sp>
        <p:nvSpPr>
          <p:cNvPr id="4" name="Slide Number Placeholder 3">
            <a:extLst>
              <a:ext uri="{FF2B5EF4-FFF2-40B4-BE49-F238E27FC236}">
                <a16:creationId xmlns:a16="http://schemas.microsoft.com/office/drawing/2014/main" id="{9E386F84-2EBB-ABD0-C8A0-3CEF960CB43A}"/>
              </a:ext>
            </a:extLst>
          </p:cNvPr>
          <p:cNvSpPr>
            <a:spLocks noGrp="1"/>
          </p:cNvSpPr>
          <p:nvPr>
            <p:ph type="sldNum" sz="quarter" idx="12"/>
          </p:nvPr>
        </p:nvSpPr>
        <p:spPr/>
        <p:txBody>
          <a:bodyPr/>
          <a:lstStyle/>
          <a:p>
            <a:fld id="{4FAB73BC-B049-4115-A692-8D63A059BFB8}" type="slidenum">
              <a:rPr lang="en-US" smtClean="0"/>
              <a:pPr/>
              <a:t>21</a:t>
            </a:fld>
            <a:endParaRPr lang="en-US" dirty="0"/>
          </a:p>
        </p:txBody>
      </p:sp>
      <p:cxnSp>
        <p:nvCxnSpPr>
          <p:cNvPr id="25" name="Straight Connector 24">
            <a:extLst>
              <a:ext uri="{FF2B5EF4-FFF2-40B4-BE49-F238E27FC236}">
                <a16:creationId xmlns:a16="http://schemas.microsoft.com/office/drawing/2014/main" id="{61ED798C-B701-559D-9153-6D7B75563837}"/>
              </a:ext>
            </a:extLst>
          </p:cNvPr>
          <p:cNvCxnSpPr>
            <a:cxnSpLocks/>
          </p:cNvCxnSpPr>
          <p:nvPr/>
        </p:nvCxnSpPr>
        <p:spPr>
          <a:xfrm>
            <a:off x="2440086" y="2514600"/>
            <a:ext cx="0" cy="2159000"/>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sp>
        <p:nvSpPr>
          <p:cNvPr id="30" name="Parallelogram 29">
            <a:extLst>
              <a:ext uri="{FF2B5EF4-FFF2-40B4-BE49-F238E27FC236}">
                <a16:creationId xmlns:a16="http://schemas.microsoft.com/office/drawing/2014/main" id="{02D860CF-52A6-2E09-80FE-BE7C70C0B3F9}"/>
              </a:ext>
            </a:extLst>
          </p:cNvPr>
          <p:cNvSpPr/>
          <p:nvPr/>
        </p:nvSpPr>
        <p:spPr>
          <a:xfrm>
            <a:off x="982761" y="3153944"/>
            <a:ext cx="10229850" cy="1276350"/>
          </a:xfrm>
          <a:prstGeom prst="parallelogram">
            <a:avLst>
              <a:gd name="adj" fmla="val 113806"/>
            </a:avLst>
          </a:prstGeom>
          <a:solidFill>
            <a:srgbClr val="FFE4D9"/>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solidFill>
                <a:srgbClr val="FFE4D9"/>
              </a:solidFill>
            </a:endParaRPr>
          </a:p>
        </p:txBody>
      </p:sp>
      <p:sp>
        <p:nvSpPr>
          <p:cNvPr id="31" name="TextBox 30">
            <a:extLst>
              <a:ext uri="{FF2B5EF4-FFF2-40B4-BE49-F238E27FC236}">
                <a16:creationId xmlns:a16="http://schemas.microsoft.com/office/drawing/2014/main" id="{5273C1B1-A85C-00DE-833D-E1DE7B205B88}"/>
              </a:ext>
            </a:extLst>
          </p:cNvPr>
          <p:cNvSpPr txBox="1"/>
          <p:nvPr/>
        </p:nvSpPr>
        <p:spPr>
          <a:xfrm>
            <a:off x="1218930" y="4122517"/>
            <a:ext cx="1693092"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33" name="Parallelogram 32">
            <a:extLst>
              <a:ext uri="{FF2B5EF4-FFF2-40B4-BE49-F238E27FC236}">
                <a16:creationId xmlns:a16="http://schemas.microsoft.com/office/drawing/2014/main" id="{864DA527-CBF1-631A-C154-AD510603CAB1}"/>
              </a:ext>
            </a:extLst>
          </p:cNvPr>
          <p:cNvSpPr/>
          <p:nvPr/>
        </p:nvSpPr>
        <p:spPr>
          <a:xfrm>
            <a:off x="982761" y="4673600"/>
            <a:ext cx="10229850" cy="1276350"/>
          </a:xfrm>
          <a:prstGeom prst="parallelogram">
            <a:avLst>
              <a:gd name="adj" fmla="val 113806"/>
            </a:avLst>
          </a:prstGeom>
          <a:solidFill>
            <a:schemeClr val="accent4">
              <a:lumMod val="20000"/>
              <a:lumOff val="8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4" name="TextBox 33">
            <a:extLst>
              <a:ext uri="{FF2B5EF4-FFF2-40B4-BE49-F238E27FC236}">
                <a16:creationId xmlns:a16="http://schemas.microsoft.com/office/drawing/2014/main" id="{E7E0A84D-5B60-DC4B-0489-E3CC54455AD4}"/>
              </a:ext>
            </a:extLst>
          </p:cNvPr>
          <p:cNvSpPr txBox="1"/>
          <p:nvPr/>
        </p:nvSpPr>
        <p:spPr>
          <a:xfrm>
            <a:off x="1258204" y="5642173"/>
            <a:ext cx="1529586"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4"/>
                </a:solidFill>
              </a:rPr>
              <a:t>Dataset Columns</a:t>
            </a:r>
            <a:endParaRPr lang="en-NL" sz="1400" dirty="0">
              <a:solidFill>
                <a:schemeClr val="accent4"/>
              </a:solidFill>
            </a:endParaRPr>
          </a:p>
        </p:txBody>
      </p:sp>
      <p:cxnSp>
        <p:nvCxnSpPr>
          <p:cNvPr id="36" name="Straight Connector 35">
            <a:extLst>
              <a:ext uri="{FF2B5EF4-FFF2-40B4-BE49-F238E27FC236}">
                <a16:creationId xmlns:a16="http://schemas.microsoft.com/office/drawing/2014/main" id="{02557A1C-92BA-FDFC-C18C-8809F99556AD}"/>
              </a:ext>
            </a:extLst>
          </p:cNvPr>
          <p:cNvCxnSpPr>
            <a:cxnSpLocks/>
          </p:cNvCxnSpPr>
          <p:nvPr/>
        </p:nvCxnSpPr>
        <p:spPr>
          <a:xfrm>
            <a:off x="983453" y="2245519"/>
            <a:ext cx="0" cy="3704431"/>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F696AFA4-014F-422B-FA99-F022B8DF7020}"/>
              </a:ext>
            </a:extLst>
          </p:cNvPr>
          <p:cNvCxnSpPr>
            <a:cxnSpLocks/>
          </p:cNvCxnSpPr>
          <p:nvPr/>
        </p:nvCxnSpPr>
        <p:spPr>
          <a:xfrm>
            <a:off x="11204086" y="2272464"/>
            <a:ext cx="0" cy="24011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E2CFE052-6A61-EAB8-4AE3-AFABEAE6D3B4}"/>
              </a:ext>
            </a:extLst>
          </p:cNvPr>
          <p:cNvCxnSpPr>
            <a:cxnSpLocks/>
          </p:cNvCxnSpPr>
          <p:nvPr/>
        </p:nvCxnSpPr>
        <p:spPr>
          <a:xfrm>
            <a:off x="9762478" y="2438400"/>
            <a:ext cx="0" cy="3511550"/>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7E95164A-3DF1-B793-7ABD-CD0E736D5C49}"/>
              </a:ext>
            </a:extLst>
          </p:cNvPr>
          <p:cNvCxnSpPr>
            <a:cxnSpLocks/>
            <a:stCxn id="35" idx="7"/>
            <a:endCxn id="56" idx="3"/>
          </p:cNvCxnSpPr>
          <p:nvPr/>
        </p:nvCxnSpPr>
        <p:spPr>
          <a:xfrm flipV="1">
            <a:off x="3545914" y="3936925"/>
            <a:ext cx="876112" cy="877837"/>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267F3CA6-E89E-A301-FAD0-3AD263925FDF}"/>
              </a:ext>
            </a:extLst>
          </p:cNvPr>
          <p:cNvCxnSpPr>
            <a:cxnSpLocks/>
            <a:endCxn id="56" idx="4"/>
          </p:cNvCxnSpPr>
          <p:nvPr/>
        </p:nvCxnSpPr>
        <p:spPr>
          <a:xfrm flipH="1" flipV="1">
            <a:off x="4566833" y="3996906"/>
            <a:ext cx="383508" cy="1541880"/>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sp>
        <p:nvSpPr>
          <p:cNvPr id="23" name="Cloud 22">
            <a:extLst>
              <a:ext uri="{FF2B5EF4-FFF2-40B4-BE49-F238E27FC236}">
                <a16:creationId xmlns:a16="http://schemas.microsoft.com/office/drawing/2014/main" id="{53595EAC-ADDF-60F8-8794-BEDA069BAAE9}"/>
              </a:ext>
            </a:extLst>
          </p:cNvPr>
          <p:cNvSpPr/>
          <p:nvPr/>
        </p:nvSpPr>
        <p:spPr>
          <a:xfrm>
            <a:off x="982761" y="1899659"/>
            <a:ext cx="10229850" cy="719659"/>
          </a:xfrm>
          <a:prstGeom prst="cloud">
            <a:avLst/>
          </a:prstGeom>
          <a:solidFill>
            <a:schemeClr val="accent1">
              <a:lumMod val="20000"/>
              <a:lumOff val="80000"/>
              <a:alpha val="50000"/>
            </a:schemeClr>
          </a:solidFill>
          <a:ln>
            <a:solidFill>
              <a:schemeClr val="accent1">
                <a:lumMod val="20000"/>
                <a:lumOff val="80000"/>
                <a:alpha val="9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61" name="Straight Arrow Connector 60">
            <a:extLst>
              <a:ext uri="{FF2B5EF4-FFF2-40B4-BE49-F238E27FC236}">
                <a16:creationId xmlns:a16="http://schemas.microsoft.com/office/drawing/2014/main" id="{664937B2-86FF-A339-C130-DFF6DA8E3669}"/>
              </a:ext>
            </a:extLst>
          </p:cNvPr>
          <p:cNvCxnSpPr>
            <a:cxnSpLocks/>
            <a:endCxn id="58" idx="4"/>
          </p:cNvCxnSpPr>
          <p:nvPr/>
        </p:nvCxnSpPr>
        <p:spPr>
          <a:xfrm flipH="1" flipV="1">
            <a:off x="6017115" y="3677819"/>
            <a:ext cx="495205" cy="1317092"/>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8EE8C0DA-86CF-A11F-5B21-B3A4912F2F6A}"/>
              </a:ext>
            </a:extLst>
          </p:cNvPr>
          <p:cNvCxnSpPr>
            <a:cxnSpLocks/>
            <a:endCxn id="57" idx="4"/>
          </p:cNvCxnSpPr>
          <p:nvPr/>
        </p:nvCxnSpPr>
        <p:spPr>
          <a:xfrm flipH="1" flipV="1">
            <a:off x="7467397" y="4315994"/>
            <a:ext cx="632967" cy="1222792"/>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grpSp>
        <p:nvGrpSpPr>
          <p:cNvPr id="80" name="Group 79">
            <a:extLst>
              <a:ext uri="{FF2B5EF4-FFF2-40B4-BE49-F238E27FC236}">
                <a16:creationId xmlns:a16="http://schemas.microsoft.com/office/drawing/2014/main" id="{8C447A41-3AA6-A84F-7D9D-F9F26E4A7BF3}"/>
              </a:ext>
            </a:extLst>
          </p:cNvPr>
          <p:cNvGrpSpPr/>
          <p:nvPr/>
        </p:nvGrpSpPr>
        <p:grpSpPr>
          <a:xfrm>
            <a:off x="3196320" y="4754781"/>
            <a:ext cx="3542413" cy="409575"/>
            <a:chOff x="3196320" y="4783356"/>
            <a:chExt cx="3542413" cy="409575"/>
          </a:xfrm>
        </p:grpSpPr>
        <p:sp>
          <p:nvSpPr>
            <p:cNvPr id="35" name="Oval 34">
              <a:extLst>
                <a:ext uri="{FF2B5EF4-FFF2-40B4-BE49-F238E27FC236}">
                  <a16:creationId xmlns:a16="http://schemas.microsoft.com/office/drawing/2014/main" id="{41B979FF-09DE-5407-4C9C-D689EDE1E106}"/>
                </a:ext>
              </a:extLst>
            </p:cNvPr>
            <p:cNvSpPr/>
            <p:nvPr/>
          </p:nvSpPr>
          <p:spPr>
            <a:xfrm>
              <a:off x="3196320" y="4783356"/>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D1</a:t>
              </a:r>
              <a:endParaRPr lang="en-NL" dirty="0"/>
            </a:p>
          </p:txBody>
        </p:sp>
        <p:sp>
          <p:nvSpPr>
            <p:cNvPr id="41" name="Oval 40">
              <a:extLst>
                <a:ext uri="{FF2B5EF4-FFF2-40B4-BE49-F238E27FC236}">
                  <a16:creationId xmlns:a16="http://schemas.microsoft.com/office/drawing/2014/main" id="{AA8D3C8E-8F4D-E2F8-9C91-F8F4406304C0}"/>
                </a:ext>
              </a:extLst>
            </p:cNvPr>
            <p:cNvSpPr/>
            <p:nvPr/>
          </p:nvSpPr>
          <p:spPr>
            <a:xfrm>
              <a:off x="6329158" y="4783356"/>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D2</a:t>
              </a:r>
              <a:endParaRPr lang="en-NL" dirty="0"/>
            </a:p>
          </p:txBody>
        </p:sp>
      </p:grpSp>
      <p:sp>
        <p:nvSpPr>
          <p:cNvPr id="52" name="Oval 51">
            <a:extLst>
              <a:ext uri="{FF2B5EF4-FFF2-40B4-BE49-F238E27FC236}">
                <a16:creationId xmlns:a16="http://schemas.microsoft.com/office/drawing/2014/main" id="{50AEF8EF-AD53-E4B2-B079-11FC1BFA94EC}"/>
              </a:ext>
            </a:extLst>
          </p:cNvPr>
          <p:cNvSpPr/>
          <p:nvPr/>
        </p:nvSpPr>
        <p:spPr>
          <a:xfrm>
            <a:off x="4762739" y="5457825"/>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D3</a:t>
            </a:r>
            <a:endParaRPr lang="en-NL" dirty="0"/>
          </a:p>
        </p:txBody>
      </p:sp>
      <p:sp>
        <p:nvSpPr>
          <p:cNvPr id="53" name="Oval 52">
            <a:extLst>
              <a:ext uri="{FF2B5EF4-FFF2-40B4-BE49-F238E27FC236}">
                <a16:creationId xmlns:a16="http://schemas.microsoft.com/office/drawing/2014/main" id="{834EF26D-E8D3-EB34-206D-0E9E7E528F43}"/>
              </a:ext>
            </a:extLst>
          </p:cNvPr>
          <p:cNvSpPr/>
          <p:nvPr/>
        </p:nvSpPr>
        <p:spPr>
          <a:xfrm>
            <a:off x="7895578" y="5457825"/>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D4</a:t>
            </a:r>
            <a:endParaRPr lang="en-NL" dirty="0"/>
          </a:p>
        </p:txBody>
      </p:sp>
      <p:sp>
        <p:nvSpPr>
          <p:cNvPr id="8" name="Oval 7">
            <a:extLst>
              <a:ext uri="{FF2B5EF4-FFF2-40B4-BE49-F238E27FC236}">
                <a16:creationId xmlns:a16="http://schemas.microsoft.com/office/drawing/2014/main" id="{E9DEEE98-1320-ED69-1FC7-21CAC9D6130A}"/>
              </a:ext>
            </a:extLst>
          </p:cNvPr>
          <p:cNvSpPr/>
          <p:nvPr/>
        </p:nvSpPr>
        <p:spPr>
          <a:xfrm>
            <a:off x="4357605" y="2066869"/>
            <a:ext cx="409575" cy="409575"/>
          </a:xfrm>
          <a:prstGeom prst="ellipse">
            <a:avLst/>
          </a:prstGeom>
          <a:solidFill>
            <a:schemeClr val="accent1">
              <a:lumMod val="40000"/>
              <a:lumOff val="60000"/>
            </a:schemeClr>
          </a:solidFill>
          <a:ln>
            <a:prstDash val="sysDash"/>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700" dirty="0"/>
              <a:t>M1</a:t>
            </a:r>
            <a:endParaRPr lang="en-NL" sz="1700" dirty="0"/>
          </a:p>
        </p:txBody>
      </p:sp>
      <p:cxnSp>
        <p:nvCxnSpPr>
          <p:cNvPr id="10" name="Straight Arrow Connector 9">
            <a:extLst>
              <a:ext uri="{FF2B5EF4-FFF2-40B4-BE49-F238E27FC236}">
                <a16:creationId xmlns:a16="http://schemas.microsoft.com/office/drawing/2014/main" id="{B2A08A67-CEDC-4845-72B4-3701C828706B}"/>
              </a:ext>
            </a:extLst>
          </p:cNvPr>
          <p:cNvCxnSpPr>
            <a:cxnSpLocks/>
            <a:stCxn id="56" idx="0"/>
            <a:endCxn id="8" idx="4"/>
          </p:cNvCxnSpPr>
          <p:nvPr/>
        </p:nvCxnSpPr>
        <p:spPr>
          <a:xfrm flipH="1" flipV="1">
            <a:off x="4562393" y="2476444"/>
            <a:ext cx="4440" cy="1110887"/>
          </a:xfrm>
          <a:prstGeom prst="straightConnector1">
            <a:avLst/>
          </a:prstGeom>
          <a:ln w="38100">
            <a:solidFill>
              <a:schemeClr val="tx1">
                <a:lumMod val="50000"/>
                <a:lumOff val="50000"/>
              </a:schemeClr>
            </a:solidFill>
            <a:prstDash val="sysDot"/>
            <a:tailEnd type="triangle" w="lg" len="med"/>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31800E94-BEAD-22C5-E77B-B11B4A2A9AA9}"/>
              </a:ext>
            </a:extLst>
          </p:cNvPr>
          <p:cNvCxnSpPr>
            <a:cxnSpLocks/>
            <a:endCxn id="8" idx="5"/>
          </p:cNvCxnSpPr>
          <p:nvPr/>
        </p:nvCxnSpPr>
        <p:spPr>
          <a:xfrm flipH="1" flipV="1">
            <a:off x="4707199" y="2416463"/>
            <a:ext cx="1309915" cy="1056568"/>
          </a:xfrm>
          <a:prstGeom prst="straightConnector1">
            <a:avLst/>
          </a:prstGeom>
          <a:ln w="38100">
            <a:solidFill>
              <a:schemeClr val="tx1">
                <a:lumMod val="50000"/>
                <a:lumOff val="50000"/>
              </a:schemeClr>
            </a:solidFill>
            <a:prstDash val="sysDot"/>
            <a:tailEnd type="triangle" w="lg" len="med"/>
          </a:ln>
        </p:spPr>
        <p:style>
          <a:lnRef idx="1">
            <a:schemeClr val="accent1"/>
          </a:lnRef>
          <a:fillRef idx="0">
            <a:schemeClr val="accent1"/>
          </a:fillRef>
          <a:effectRef idx="0">
            <a:schemeClr val="accent1"/>
          </a:effectRef>
          <a:fontRef idx="minor">
            <a:schemeClr val="tx1"/>
          </a:fontRef>
        </p:style>
      </p:cxnSp>
      <p:sp>
        <p:nvSpPr>
          <p:cNvPr id="56" name="Oval 55">
            <a:extLst>
              <a:ext uri="{FF2B5EF4-FFF2-40B4-BE49-F238E27FC236}">
                <a16:creationId xmlns:a16="http://schemas.microsoft.com/office/drawing/2014/main" id="{265C240B-1792-F6B3-6188-61246E9E1B62}"/>
              </a:ext>
            </a:extLst>
          </p:cNvPr>
          <p:cNvSpPr/>
          <p:nvPr/>
        </p:nvSpPr>
        <p:spPr>
          <a:xfrm>
            <a:off x="4362045" y="3587331"/>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C1</a:t>
            </a:r>
            <a:endParaRPr lang="en-NL" dirty="0"/>
          </a:p>
        </p:txBody>
      </p:sp>
      <p:sp>
        <p:nvSpPr>
          <p:cNvPr id="57" name="Oval 56">
            <a:extLst>
              <a:ext uri="{FF2B5EF4-FFF2-40B4-BE49-F238E27FC236}">
                <a16:creationId xmlns:a16="http://schemas.microsoft.com/office/drawing/2014/main" id="{EEDEEFE1-62BF-827F-4B94-80A318BD15E4}"/>
              </a:ext>
            </a:extLst>
          </p:cNvPr>
          <p:cNvSpPr/>
          <p:nvPr/>
        </p:nvSpPr>
        <p:spPr>
          <a:xfrm>
            <a:off x="7262609" y="3906419"/>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C3</a:t>
            </a:r>
            <a:endParaRPr lang="en-NL" dirty="0"/>
          </a:p>
        </p:txBody>
      </p:sp>
      <p:sp>
        <p:nvSpPr>
          <p:cNvPr id="58" name="Oval 57">
            <a:extLst>
              <a:ext uri="{FF2B5EF4-FFF2-40B4-BE49-F238E27FC236}">
                <a16:creationId xmlns:a16="http://schemas.microsoft.com/office/drawing/2014/main" id="{9D11341F-0651-84A7-A830-AD048DE121EE}"/>
              </a:ext>
            </a:extLst>
          </p:cNvPr>
          <p:cNvSpPr/>
          <p:nvPr/>
        </p:nvSpPr>
        <p:spPr>
          <a:xfrm>
            <a:off x="5812327" y="326824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C2</a:t>
            </a:r>
            <a:endParaRPr lang="en-NL" dirty="0"/>
          </a:p>
        </p:txBody>
      </p:sp>
      <p:cxnSp>
        <p:nvCxnSpPr>
          <p:cNvPr id="40" name="Straight Arrow Connector 39">
            <a:extLst>
              <a:ext uri="{FF2B5EF4-FFF2-40B4-BE49-F238E27FC236}">
                <a16:creationId xmlns:a16="http://schemas.microsoft.com/office/drawing/2014/main" id="{A53CF1D1-18AC-F2F4-D40C-51A6D7331438}"/>
              </a:ext>
            </a:extLst>
          </p:cNvPr>
          <p:cNvCxnSpPr>
            <a:cxnSpLocks/>
            <a:stCxn id="35" idx="6"/>
            <a:endCxn id="41" idx="2"/>
          </p:cNvCxnSpPr>
          <p:nvPr/>
        </p:nvCxnSpPr>
        <p:spPr>
          <a:xfrm>
            <a:off x="3605895" y="4959569"/>
            <a:ext cx="2723263" cy="0"/>
          </a:xfrm>
          <a:prstGeom prst="straightConnector1">
            <a:avLst/>
          </a:prstGeom>
          <a:ln w="38100" cap="rnd">
            <a:solidFill>
              <a:schemeClr val="accent2"/>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grpSp>
        <p:nvGrpSpPr>
          <p:cNvPr id="13" name="Group 12">
            <a:extLst>
              <a:ext uri="{FF2B5EF4-FFF2-40B4-BE49-F238E27FC236}">
                <a16:creationId xmlns:a16="http://schemas.microsoft.com/office/drawing/2014/main" id="{B82FBDE5-E9E8-DC5B-6826-29AE3F82D561}"/>
              </a:ext>
            </a:extLst>
          </p:cNvPr>
          <p:cNvGrpSpPr/>
          <p:nvPr/>
        </p:nvGrpSpPr>
        <p:grpSpPr>
          <a:xfrm>
            <a:off x="5055963" y="4511893"/>
            <a:ext cx="914400" cy="914400"/>
            <a:chOff x="4312140" y="357778"/>
            <a:chExt cx="914400" cy="914400"/>
          </a:xfrm>
        </p:grpSpPr>
        <p:sp>
          <p:nvSpPr>
            <p:cNvPr id="48" name="Oval 47">
              <a:extLst>
                <a:ext uri="{FF2B5EF4-FFF2-40B4-BE49-F238E27FC236}">
                  <a16:creationId xmlns:a16="http://schemas.microsoft.com/office/drawing/2014/main" id="{5CC09C2D-3C68-7C4A-9987-26F89ADB8090}"/>
                </a:ext>
              </a:extLst>
            </p:cNvPr>
            <p:cNvSpPr/>
            <p:nvPr/>
          </p:nvSpPr>
          <p:spPr>
            <a:xfrm>
              <a:off x="4449334" y="494972"/>
              <a:ext cx="640013" cy="640013"/>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dirty="0"/>
            </a:p>
          </p:txBody>
        </p:sp>
        <p:pic>
          <p:nvPicPr>
            <p:cNvPr id="7" name="Graphic 6" descr="Badge Tick1 with solid fill">
              <a:extLst>
                <a:ext uri="{FF2B5EF4-FFF2-40B4-BE49-F238E27FC236}">
                  <a16:creationId xmlns:a16="http://schemas.microsoft.com/office/drawing/2014/main" id="{42EF232A-1F3B-3221-70E9-D55E5DCC8D6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312140" y="357778"/>
              <a:ext cx="914400" cy="914400"/>
            </a:xfrm>
            <a:prstGeom prst="rect">
              <a:avLst/>
            </a:prstGeom>
          </p:spPr>
        </p:pic>
      </p:grpSp>
      <p:sp>
        <p:nvSpPr>
          <p:cNvPr id="6" name="Oval 5">
            <a:extLst>
              <a:ext uri="{FF2B5EF4-FFF2-40B4-BE49-F238E27FC236}">
                <a16:creationId xmlns:a16="http://schemas.microsoft.com/office/drawing/2014/main" id="{F1BC3500-BBDE-96FB-D08B-F79A9E0D0105}"/>
              </a:ext>
            </a:extLst>
          </p:cNvPr>
          <p:cNvSpPr/>
          <p:nvPr/>
        </p:nvSpPr>
        <p:spPr>
          <a:xfrm>
            <a:off x="5812327" y="2056579"/>
            <a:ext cx="409575" cy="409575"/>
          </a:xfrm>
          <a:prstGeom prst="ellipse">
            <a:avLst/>
          </a:prstGeom>
          <a:solidFill>
            <a:schemeClr val="accent1">
              <a:lumMod val="40000"/>
              <a:lumOff val="60000"/>
            </a:schemeClr>
          </a:solidFill>
          <a:ln>
            <a:prstDash val="sysDash"/>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700" dirty="0"/>
              <a:t>M2</a:t>
            </a:r>
            <a:endParaRPr lang="en-NL" sz="1700" dirty="0"/>
          </a:p>
        </p:txBody>
      </p:sp>
      <p:sp>
        <p:nvSpPr>
          <p:cNvPr id="14" name="TextBox 13">
            <a:extLst>
              <a:ext uri="{FF2B5EF4-FFF2-40B4-BE49-F238E27FC236}">
                <a16:creationId xmlns:a16="http://schemas.microsoft.com/office/drawing/2014/main" id="{2325DCC7-94A0-4700-7472-75E631C10418}"/>
              </a:ext>
            </a:extLst>
          </p:cNvPr>
          <p:cNvSpPr txBox="1"/>
          <p:nvPr/>
        </p:nvSpPr>
        <p:spPr>
          <a:xfrm>
            <a:off x="1258204" y="2101155"/>
            <a:ext cx="954107"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1"/>
                </a:solidFill>
              </a:rPr>
              <a:t>Meanings</a:t>
            </a:r>
            <a:endParaRPr lang="en-NL" sz="1400" dirty="0">
              <a:solidFill>
                <a:schemeClr val="accent1"/>
              </a:solidFill>
            </a:endParaRPr>
          </a:p>
        </p:txBody>
      </p:sp>
      <p:cxnSp>
        <p:nvCxnSpPr>
          <p:cNvPr id="3" name="Connector: Curved 2">
            <a:extLst>
              <a:ext uri="{FF2B5EF4-FFF2-40B4-BE49-F238E27FC236}">
                <a16:creationId xmlns:a16="http://schemas.microsoft.com/office/drawing/2014/main" id="{9E0C7616-D178-8963-45FE-118E2E3D1A93}"/>
              </a:ext>
            </a:extLst>
          </p:cNvPr>
          <p:cNvCxnSpPr/>
          <p:nvPr/>
        </p:nvCxnSpPr>
        <p:spPr>
          <a:xfrm rot="10800000">
            <a:off x="3401109" y="5164357"/>
            <a:ext cx="1361631" cy="498257"/>
          </a:xfrm>
          <a:prstGeom prst="curvedConnector2">
            <a:avLst/>
          </a:prstGeom>
          <a:ln w="38100" cap="rnd">
            <a:solidFill>
              <a:srgbClr val="00B050"/>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49CB1E23-C828-D596-0ABD-FC6213AC76D2}"/>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2</a:t>
            </a:r>
            <a:endParaRPr lang="en-NL" sz="1000" b="1" dirty="0"/>
          </a:p>
        </p:txBody>
      </p:sp>
      <p:sp>
        <p:nvSpPr>
          <p:cNvPr id="9" name="TextBox 8">
            <a:extLst>
              <a:ext uri="{FF2B5EF4-FFF2-40B4-BE49-F238E27FC236}">
                <a16:creationId xmlns:a16="http://schemas.microsoft.com/office/drawing/2014/main" id="{93F0713D-493C-C986-59F6-70AB24EF542A}"/>
              </a:ext>
            </a:extLst>
          </p:cNvPr>
          <p:cNvSpPr txBox="1"/>
          <p:nvPr/>
        </p:nvSpPr>
        <p:spPr>
          <a:xfrm>
            <a:off x="6890659" y="1662239"/>
            <a:ext cx="4606016" cy="338554"/>
          </a:xfrm>
          <a:prstGeom prst="rect">
            <a:avLst/>
          </a:prstGeom>
          <a:ln/>
        </p:spPr>
        <p:style>
          <a:lnRef idx="0">
            <a:schemeClr val="accent4"/>
          </a:lnRef>
          <a:fillRef idx="3">
            <a:schemeClr val="accent4"/>
          </a:fillRef>
          <a:effectRef idx="3">
            <a:schemeClr val="accent4"/>
          </a:effectRef>
          <a:fontRef idx="minor">
            <a:schemeClr val="lt1"/>
          </a:fontRef>
        </p:style>
        <p:txBody>
          <a:bodyPr wrap="square">
            <a:spAutoFit/>
          </a:bodyPr>
          <a:lstStyle/>
          <a:p>
            <a:r>
              <a:rPr lang="en-US" sz="1600" dirty="0">
                <a:solidFill>
                  <a:schemeClr val="bg1"/>
                </a:solidFill>
              </a:rPr>
              <a:t>We need precise and explicit meanings.</a:t>
            </a:r>
            <a:endParaRPr lang="en-NL" sz="1600" dirty="0">
              <a:solidFill>
                <a:schemeClr val="bg1"/>
              </a:solidFill>
            </a:endParaRPr>
          </a:p>
        </p:txBody>
      </p:sp>
      <p:sp>
        <p:nvSpPr>
          <p:cNvPr id="17" name="TextBox 16">
            <a:extLst>
              <a:ext uri="{FF2B5EF4-FFF2-40B4-BE49-F238E27FC236}">
                <a16:creationId xmlns:a16="http://schemas.microsoft.com/office/drawing/2014/main" id="{7E397F22-103B-C529-C563-9C452A477457}"/>
              </a:ext>
            </a:extLst>
          </p:cNvPr>
          <p:cNvSpPr txBox="1"/>
          <p:nvPr/>
        </p:nvSpPr>
        <p:spPr>
          <a:xfrm>
            <a:off x="6890660" y="2584640"/>
            <a:ext cx="4606015" cy="584775"/>
          </a:xfrm>
          <a:prstGeom prst="rect">
            <a:avLst/>
          </a:prstGeom>
          <a:ln/>
        </p:spPr>
        <p:style>
          <a:lnRef idx="0">
            <a:schemeClr val="accent2"/>
          </a:lnRef>
          <a:fillRef idx="3">
            <a:schemeClr val="accent2"/>
          </a:fillRef>
          <a:effectRef idx="3">
            <a:schemeClr val="accent2"/>
          </a:effectRef>
          <a:fontRef idx="minor">
            <a:schemeClr val="lt1"/>
          </a:fontRef>
        </p:style>
        <p:txBody>
          <a:bodyPr wrap="square">
            <a:spAutoFit/>
          </a:bodyPr>
          <a:lstStyle/>
          <a:p>
            <a:r>
              <a:rPr lang="en-US" sz="1600" dirty="0">
                <a:solidFill>
                  <a:sysClr val="windowText" lastClr="000000"/>
                </a:solidFill>
              </a:rPr>
              <a:t>If the concepts share the same meaning, interoperability is possible.</a:t>
            </a:r>
            <a:endParaRPr lang="en-NL" sz="1600" dirty="0">
              <a:solidFill>
                <a:sysClr val="windowText" lastClr="000000"/>
              </a:solidFill>
            </a:endParaRPr>
          </a:p>
        </p:txBody>
      </p:sp>
      <p:sp>
        <p:nvSpPr>
          <p:cNvPr id="19" name="TextBox 18">
            <a:extLst>
              <a:ext uri="{FF2B5EF4-FFF2-40B4-BE49-F238E27FC236}">
                <a16:creationId xmlns:a16="http://schemas.microsoft.com/office/drawing/2014/main" id="{B36715D2-BB91-8959-56B9-A0D1580CB23E}"/>
              </a:ext>
            </a:extLst>
          </p:cNvPr>
          <p:cNvSpPr txBox="1"/>
          <p:nvPr/>
        </p:nvSpPr>
        <p:spPr>
          <a:xfrm>
            <a:off x="6890660" y="2123439"/>
            <a:ext cx="4606015" cy="338554"/>
          </a:xfrm>
          <a:prstGeom prst="rect">
            <a:avLst/>
          </a:prstGeom>
          <a:ln/>
        </p:spPr>
        <p:style>
          <a:lnRef idx="0">
            <a:schemeClr val="accent6"/>
          </a:lnRef>
          <a:fillRef idx="3">
            <a:schemeClr val="accent6"/>
          </a:fillRef>
          <a:effectRef idx="3">
            <a:schemeClr val="accent6"/>
          </a:effectRef>
          <a:fontRef idx="minor">
            <a:schemeClr val="lt1"/>
          </a:fontRef>
        </p:style>
        <p:txBody>
          <a:bodyPr wrap="square">
            <a:spAutoFit/>
          </a:bodyPr>
          <a:lstStyle/>
          <a:p>
            <a:r>
              <a:rPr lang="en-US" sz="1600" dirty="0">
                <a:solidFill>
                  <a:schemeClr val="bg1"/>
                </a:solidFill>
              </a:rPr>
              <a:t>If meanings differ, interoperability is not possible.</a:t>
            </a:r>
            <a:endParaRPr lang="en-NL" sz="1600" dirty="0">
              <a:solidFill>
                <a:schemeClr val="bg1"/>
              </a:solidFill>
            </a:endParaRPr>
          </a:p>
        </p:txBody>
      </p:sp>
      <p:sp>
        <p:nvSpPr>
          <p:cNvPr id="20" name="TextBox 19">
            <a:extLst>
              <a:ext uri="{FF2B5EF4-FFF2-40B4-BE49-F238E27FC236}">
                <a16:creationId xmlns:a16="http://schemas.microsoft.com/office/drawing/2014/main" id="{067F9BA5-7CAB-1AD7-A008-83F39FB2D30F}"/>
              </a:ext>
            </a:extLst>
          </p:cNvPr>
          <p:cNvSpPr txBox="1"/>
          <p:nvPr/>
        </p:nvSpPr>
        <p:spPr>
          <a:xfrm>
            <a:off x="5550713" y="4490138"/>
            <a:ext cx="581025" cy="400110"/>
          </a:xfrm>
          <a:prstGeom prst="rect">
            <a:avLst/>
          </a:prstGeom>
          <a:noFill/>
        </p:spPr>
        <p:txBody>
          <a:bodyPr wrap="square" rtlCol="0">
            <a:spAutoFit/>
          </a:bodyPr>
          <a:lstStyle/>
          <a:p>
            <a:r>
              <a:rPr lang="en-US" sz="2000" dirty="0">
                <a:latin typeface="Amasis MT Pro Black" panose="02040A04050005020304" pitchFamily="18" charset="0"/>
              </a:rPr>
              <a:t>*</a:t>
            </a:r>
            <a:endParaRPr lang="en-NL" sz="300" dirty="0">
              <a:latin typeface="Amasis MT Pro Black" panose="02040A04050005020304" pitchFamily="18" charset="0"/>
            </a:endParaRPr>
          </a:p>
        </p:txBody>
      </p:sp>
    </p:spTree>
    <p:extLst>
      <p:ext uri="{BB962C8B-B14F-4D97-AF65-F5344CB8AC3E}">
        <p14:creationId xmlns:p14="http://schemas.microsoft.com/office/powerpoint/2010/main" val="26118679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BA2023-D6E2-EE7D-EE7F-68F24FC02DF2}"/>
            </a:ext>
          </a:extLst>
        </p:cNvPr>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CCEAB0FE-E77C-8E6B-AB95-435BE5F0FF49}"/>
              </a:ext>
            </a:extLst>
          </p:cNvPr>
          <p:cNvCxnSpPr/>
          <p:nvPr/>
        </p:nvCxnSpPr>
        <p:spPr>
          <a:xfrm>
            <a:off x="5903371" y="1673750"/>
            <a:ext cx="0" cy="3010736"/>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897AB0F6-25B9-D4EA-2B5B-EAD9F845C843}"/>
              </a:ext>
            </a:extLst>
          </p:cNvPr>
          <p:cNvSpPr>
            <a:spLocks noGrp="1"/>
          </p:cNvSpPr>
          <p:nvPr>
            <p:ph type="title"/>
          </p:nvPr>
        </p:nvSpPr>
        <p:spPr>
          <a:xfrm>
            <a:off x="695327" y="386001"/>
            <a:ext cx="9351540" cy="929259"/>
          </a:xfrm>
        </p:spPr>
        <p:txBody>
          <a:bodyPr/>
          <a:lstStyle/>
          <a:p>
            <a:r>
              <a:rPr lang="en-US" sz="3200" dirty="0"/>
              <a:t>From Conceptual Clarity to Actionable Semantics</a:t>
            </a:r>
            <a:endParaRPr lang="en-NL" sz="3200" dirty="0"/>
          </a:p>
        </p:txBody>
      </p:sp>
      <p:sp>
        <p:nvSpPr>
          <p:cNvPr id="4" name="Slide Number Placeholder 3">
            <a:extLst>
              <a:ext uri="{FF2B5EF4-FFF2-40B4-BE49-F238E27FC236}">
                <a16:creationId xmlns:a16="http://schemas.microsoft.com/office/drawing/2014/main" id="{0B80037D-11B1-ED59-7DDB-A4D224324AE9}"/>
              </a:ext>
            </a:extLst>
          </p:cNvPr>
          <p:cNvSpPr>
            <a:spLocks noGrp="1"/>
          </p:cNvSpPr>
          <p:nvPr>
            <p:ph type="sldNum" sz="quarter" idx="12"/>
          </p:nvPr>
        </p:nvSpPr>
        <p:spPr/>
        <p:txBody>
          <a:bodyPr/>
          <a:lstStyle/>
          <a:p>
            <a:fld id="{4FAB73BC-B049-4115-A692-8D63A059BFB8}" type="slidenum">
              <a:rPr lang="en-US" smtClean="0"/>
              <a:pPr/>
              <a:t>22</a:t>
            </a:fld>
            <a:endParaRPr lang="en-US" dirty="0"/>
          </a:p>
        </p:txBody>
      </p:sp>
      <p:sp>
        <p:nvSpPr>
          <p:cNvPr id="30" name="Parallelogram 29">
            <a:extLst>
              <a:ext uri="{FF2B5EF4-FFF2-40B4-BE49-F238E27FC236}">
                <a16:creationId xmlns:a16="http://schemas.microsoft.com/office/drawing/2014/main" id="{A2230CAE-DA16-9DE8-B991-8E37683B173D}"/>
              </a:ext>
            </a:extLst>
          </p:cNvPr>
          <p:cNvSpPr/>
          <p:nvPr/>
        </p:nvSpPr>
        <p:spPr>
          <a:xfrm>
            <a:off x="4434896" y="3164830"/>
            <a:ext cx="6886250" cy="1276350"/>
          </a:xfrm>
          <a:prstGeom prst="parallelogram">
            <a:avLst>
              <a:gd name="adj" fmla="val 113806"/>
            </a:avLst>
          </a:prstGeom>
          <a:solidFill>
            <a:srgbClr val="FFE4D9"/>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solidFill>
                <a:srgbClr val="FFE4D9"/>
              </a:solidFill>
            </a:endParaRPr>
          </a:p>
        </p:txBody>
      </p:sp>
      <p:sp>
        <p:nvSpPr>
          <p:cNvPr id="31" name="TextBox 30">
            <a:extLst>
              <a:ext uri="{FF2B5EF4-FFF2-40B4-BE49-F238E27FC236}">
                <a16:creationId xmlns:a16="http://schemas.microsoft.com/office/drawing/2014/main" id="{903FA0B7-FC95-CC60-41D1-3A516E38A40C}"/>
              </a:ext>
            </a:extLst>
          </p:cNvPr>
          <p:cNvSpPr txBox="1"/>
          <p:nvPr/>
        </p:nvSpPr>
        <p:spPr>
          <a:xfrm>
            <a:off x="4671064" y="4133403"/>
            <a:ext cx="1693092"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33" name="Parallelogram 32">
            <a:extLst>
              <a:ext uri="{FF2B5EF4-FFF2-40B4-BE49-F238E27FC236}">
                <a16:creationId xmlns:a16="http://schemas.microsoft.com/office/drawing/2014/main" id="{9E916CC6-A69B-5114-3B0F-FE07BAD0946E}"/>
              </a:ext>
            </a:extLst>
          </p:cNvPr>
          <p:cNvSpPr/>
          <p:nvPr/>
        </p:nvSpPr>
        <p:spPr>
          <a:xfrm>
            <a:off x="4434896" y="4684486"/>
            <a:ext cx="6886250" cy="1276350"/>
          </a:xfrm>
          <a:prstGeom prst="parallelogram">
            <a:avLst>
              <a:gd name="adj" fmla="val 113806"/>
            </a:avLst>
          </a:prstGeom>
          <a:solidFill>
            <a:schemeClr val="accent4">
              <a:lumMod val="20000"/>
              <a:lumOff val="8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4" name="TextBox 33">
            <a:extLst>
              <a:ext uri="{FF2B5EF4-FFF2-40B4-BE49-F238E27FC236}">
                <a16:creationId xmlns:a16="http://schemas.microsoft.com/office/drawing/2014/main" id="{6DD24FD7-AA32-FBE8-C1C6-950D3D06FEDC}"/>
              </a:ext>
            </a:extLst>
          </p:cNvPr>
          <p:cNvSpPr txBox="1"/>
          <p:nvPr/>
        </p:nvSpPr>
        <p:spPr>
          <a:xfrm>
            <a:off x="4710338" y="5653059"/>
            <a:ext cx="1529586"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4"/>
                </a:solidFill>
              </a:rPr>
              <a:t>Dataset Columns</a:t>
            </a:r>
            <a:endParaRPr lang="en-NL" sz="1400" dirty="0">
              <a:solidFill>
                <a:schemeClr val="accent4"/>
              </a:solidFill>
            </a:endParaRPr>
          </a:p>
        </p:txBody>
      </p:sp>
      <p:sp>
        <p:nvSpPr>
          <p:cNvPr id="16" name="Parallelogram 15">
            <a:extLst>
              <a:ext uri="{FF2B5EF4-FFF2-40B4-BE49-F238E27FC236}">
                <a16:creationId xmlns:a16="http://schemas.microsoft.com/office/drawing/2014/main" id="{114F32D6-8EA6-99C6-D6A9-C9A345B5674E}"/>
              </a:ext>
            </a:extLst>
          </p:cNvPr>
          <p:cNvSpPr/>
          <p:nvPr/>
        </p:nvSpPr>
        <p:spPr>
          <a:xfrm>
            <a:off x="4434896" y="1645175"/>
            <a:ext cx="6886250" cy="1276350"/>
          </a:xfrm>
          <a:prstGeom prst="parallelogram">
            <a:avLst>
              <a:gd name="adj" fmla="val 113806"/>
            </a:avLst>
          </a:prstGeom>
          <a:solidFill>
            <a:schemeClr val="accent1">
              <a:lumMod val="20000"/>
              <a:lumOff val="80000"/>
              <a:alpha val="95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7" name="TextBox 16">
            <a:extLst>
              <a:ext uri="{FF2B5EF4-FFF2-40B4-BE49-F238E27FC236}">
                <a16:creationId xmlns:a16="http://schemas.microsoft.com/office/drawing/2014/main" id="{C418C424-A6FF-2455-CF2B-80EA63C970DF}"/>
              </a:ext>
            </a:extLst>
          </p:cNvPr>
          <p:cNvSpPr txBox="1"/>
          <p:nvPr/>
        </p:nvSpPr>
        <p:spPr>
          <a:xfrm>
            <a:off x="4804589" y="2613747"/>
            <a:ext cx="954107"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tx2">
                    <a:lumMod val="90000"/>
                    <a:lumOff val="10000"/>
                  </a:schemeClr>
                </a:solidFill>
              </a:rPr>
              <a:t>Meanings</a:t>
            </a:r>
            <a:endParaRPr lang="en-NL" sz="1400" dirty="0">
              <a:solidFill>
                <a:schemeClr val="tx2">
                  <a:lumMod val="90000"/>
                  <a:lumOff val="10000"/>
                </a:schemeClr>
              </a:solidFill>
            </a:endParaRPr>
          </a:p>
        </p:txBody>
      </p:sp>
      <p:cxnSp>
        <p:nvCxnSpPr>
          <p:cNvPr id="18" name="Straight Connector 17">
            <a:extLst>
              <a:ext uri="{FF2B5EF4-FFF2-40B4-BE49-F238E27FC236}">
                <a16:creationId xmlns:a16="http://schemas.microsoft.com/office/drawing/2014/main" id="{DB62E8F5-965A-BE0B-68F1-B8B5A6EF5B21}"/>
              </a:ext>
            </a:extLst>
          </p:cNvPr>
          <p:cNvCxnSpPr/>
          <p:nvPr/>
        </p:nvCxnSpPr>
        <p:spPr>
          <a:xfrm>
            <a:off x="4434894" y="295010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8677B91C-1215-FFD1-B67D-AF90E65ABB39}"/>
              </a:ext>
            </a:extLst>
          </p:cNvPr>
          <p:cNvCxnSpPr/>
          <p:nvPr/>
        </p:nvCxnSpPr>
        <p:spPr>
          <a:xfrm>
            <a:off x="11496675" y="1675518"/>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BEE256DC-95E8-C3BA-633B-BFB41B7CF7A0}"/>
              </a:ext>
            </a:extLst>
          </p:cNvPr>
          <p:cNvCxnSpPr/>
          <p:nvPr/>
        </p:nvCxnSpPr>
        <p:spPr>
          <a:xfrm>
            <a:off x="10471412" y="2921524"/>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63" name="TextBox 62">
            <a:extLst>
              <a:ext uri="{FF2B5EF4-FFF2-40B4-BE49-F238E27FC236}">
                <a16:creationId xmlns:a16="http://schemas.microsoft.com/office/drawing/2014/main" id="{98D5191B-84A5-9FDD-B987-576F6FF0880C}"/>
              </a:ext>
            </a:extLst>
          </p:cNvPr>
          <p:cNvSpPr txBox="1"/>
          <p:nvPr/>
        </p:nvSpPr>
        <p:spPr>
          <a:xfrm rot="18900000">
            <a:off x="5917118" y="2071359"/>
            <a:ext cx="719364" cy="276999"/>
          </a:xfrm>
          <a:prstGeom prst="rect">
            <a:avLst/>
          </a:prstGeom>
          <a:noFill/>
        </p:spPr>
        <p:txBody>
          <a:bodyPr wrap="none" rtlCol="0" anchor="ctr">
            <a:spAutoFit/>
          </a:bodyPr>
          <a:lstStyle/>
          <a:p>
            <a:pPr algn="ctr"/>
            <a:r>
              <a:rPr lang="en-US" sz="1200" dirty="0" err="1"/>
              <a:t>hrio:Sex</a:t>
            </a:r>
            <a:endParaRPr lang="en-NL" sz="1200" dirty="0"/>
          </a:p>
        </p:txBody>
      </p:sp>
      <p:sp>
        <p:nvSpPr>
          <p:cNvPr id="5" name="TextBox 4">
            <a:extLst>
              <a:ext uri="{FF2B5EF4-FFF2-40B4-BE49-F238E27FC236}">
                <a16:creationId xmlns:a16="http://schemas.microsoft.com/office/drawing/2014/main" id="{D18D7790-BAE7-C37D-6947-DE1BAA4D2C10}"/>
              </a:ext>
            </a:extLst>
          </p:cNvPr>
          <p:cNvSpPr txBox="1"/>
          <p:nvPr/>
        </p:nvSpPr>
        <p:spPr>
          <a:xfrm rot="18900000">
            <a:off x="5538713" y="3564366"/>
            <a:ext cx="1476174" cy="276999"/>
          </a:xfrm>
          <a:prstGeom prst="rect">
            <a:avLst/>
          </a:prstGeom>
          <a:noFill/>
        </p:spPr>
        <p:txBody>
          <a:bodyPr wrap="square" anchor="ctr">
            <a:spAutoFit/>
          </a:bodyPr>
          <a:lstStyle/>
          <a:p>
            <a:pPr algn="ctr"/>
            <a:r>
              <a:rPr lang="en-NL" sz="1200" dirty="0" err="1"/>
              <a:t>care-sm:Sex</a:t>
            </a:r>
            <a:endParaRPr lang="en-NL" sz="1200" dirty="0"/>
          </a:p>
        </p:txBody>
      </p:sp>
      <p:sp>
        <p:nvSpPr>
          <p:cNvPr id="24" name="TextBox 23">
            <a:extLst>
              <a:ext uri="{FF2B5EF4-FFF2-40B4-BE49-F238E27FC236}">
                <a16:creationId xmlns:a16="http://schemas.microsoft.com/office/drawing/2014/main" id="{9C670239-EDC7-77F5-F446-82DAE97CEBF3}"/>
              </a:ext>
            </a:extLst>
          </p:cNvPr>
          <p:cNvSpPr txBox="1"/>
          <p:nvPr/>
        </p:nvSpPr>
        <p:spPr>
          <a:xfrm rot="18900000">
            <a:off x="7046322" y="2071359"/>
            <a:ext cx="1336456" cy="276999"/>
          </a:xfrm>
          <a:prstGeom prst="rect">
            <a:avLst/>
          </a:prstGeom>
          <a:noFill/>
        </p:spPr>
        <p:txBody>
          <a:bodyPr wrap="none" rtlCol="0" anchor="ctr">
            <a:spAutoFit/>
          </a:bodyPr>
          <a:lstStyle/>
          <a:p>
            <a:pPr algn="ctr"/>
            <a:r>
              <a:rPr lang="en-US" sz="1200" dirty="0" err="1"/>
              <a:t>hrio:LegalGender</a:t>
            </a:r>
            <a:endParaRPr lang="en-NL" sz="1200" dirty="0"/>
          </a:p>
        </p:txBody>
      </p:sp>
      <p:sp>
        <p:nvSpPr>
          <p:cNvPr id="54" name="TextBox 53">
            <a:extLst>
              <a:ext uri="{FF2B5EF4-FFF2-40B4-BE49-F238E27FC236}">
                <a16:creationId xmlns:a16="http://schemas.microsoft.com/office/drawing/2014/main" id="{93703511-4BBF-1E67-BAF2-0CFAF397544A}"/>
              </a:ext>
            </a:extLst>
          </p:cNvPr>
          <p:cNvSpPr txBox="1"/>
          <p:nvPr/>
        </p:nvSpPr>
        <p:spPr>
          <a:xfrm rot="18900000">
            <a:off x="6793817" y="3564366"/>
            <a:ext cx="1841466" cy="276999"/>
          </a:xfrm>
          <a:prstGeom prst="rect">
            <a:avLst/>
          </a:prstGeom>
          <a:noFill/>
        </p:spPr>
        <p:txBody>
          <a:bodyPr wrap="none" rtlCol="0" anchor="ctr">
            <a:spAutoFit/>
          </a:bodyPr>
          <a:lstStyle>
            <a:defPPr>
              <a:defRPr lang="en-US"/>
            </a:defPPr>
            <a:lvl1pPr algn="ctr">
              <a:defRPr sz="1400"/>
            </a:lvl1pPr>
          </a:lstStyle>
          <a:p>
            <a:r>
              <a:rPr lang="en-US" sz="1200" dirty="0" err="1"/>
              <a:t>hri-openehr:legal-gender</a:t>
            </a:r>
            <a:endParaRPr lang="en-NL" sz="1200" dirty="0"/>
          </a:p>
        </p:txBody>
      </p:sp>
      <p:sp>
        <p:nvSpPr>
          <p:cNvPr id="78" name="TextBox 77">
            <a:extLst>
              <a:ext uri="{FF2B5EF4-FFF2-40B4-BE49-F238E27FC236}">
                <a16:creationId xmlns:a16="http://schemas.microsoft.com/office/drawing/2014/main" id="{92235045-C8C9-1702-969A-11C017757C1D}"/>
              </a:ext>
            </a:extLst>
          </p:cNvPr>
          <p:cNvSpPr txBox="1"/>
          <p:nvPr/>
        </p:nvSpPr>
        <p:spPr>
          <a:xfrm rot="18900000">
            <a:off x="8548050" y="3564366"/>
            <a:ext cx="1168590" cy="276999"/>
          </a:xfrm>
          <a:prstGeom prst="rect">
            <a:avLst/>
          </a:prstGeom>
          <a:noFill/>
        </p:spPr>
        <p:txBody>
          <a:bodyPr wrap="none" rtlCol="0" anchor="ctr">
            <a:spAutoFit/>
          </a:bodyPr>
          <a:lstStyle>
            <a:defPPr>
              <a:defRPr lang="en-US"/>
            </a:defPPr>
            <a:lvl1pPr algn="ctr">
              <a:defRPr sz="1400"/>
            </a:lvl1pPr>
          </a:lstStyle>
          <a:p>
            <a:r>
              <a:rPr lang="en-US" sz="1200" dirty="0"/>
              <a:t>loinc:107454-1</a:t>
            </a:r>
            <a:endParaRPr lang="en-NL" sz="1200" dirty="0"/>
          </a:p>
        </p:txBody>
      </p:sp>
      <p:sp>
        <p:nvSpPr>
          <p:cNvPr id="80" name="TextBox 79">
            <a:extLst>
              <a:ext uri="{FF2B5EF4-FFF2-40B4-BE49-F238E27FC236}">
                <a16:creationId xmlns:a16="http://schemas.microsoft.com/office/drawing/2014/main" id="{B1B76DCA-3978-323E-FA8A-F7E01D184DBE}"/>
              </a:ext>
            </a:extLst>
          </p:cNvPr>
          <p:cNvSpPr txBox="1"/>
          <p:nvPr/>
        </p:nvSpPr>
        <p:spPr>
          <a:xfrm rot="18900000">
            <a:off x="5559168" y="5043615"/>
            <a:ext cx="1435265" cy="461665"/>
          </a:xfrm>
          <a:prstGeom prst="rect">
            <a:avLst/>
          </a:prstGeom>
          <a:noFill/>
        </p:spPr>
        <p:txBody>
          <a:bodyPr wrap="none" rtlCol="0" anchor="ctr">
            <a:spAutoFit/>
          </a:bodyPr>
          <a:lstStyle>
            <a:defPPr>
              <a:defRPr lang="en-US"/>
            </a:defPPr>
            <a:lvl1pPr algn="ctr">
              <a:defRPr sz="1400"/>
            </a:lvl1pPr>
          </a:lstStyle>
          <a:p>
            <a:r>
              <a:rPr lang="en-US" sz="1200" dirty="0"/>
              <a:t>NPR Demographic </a:t>
            </a:r>
          </a:p>
          <a:p>
            <a:r>
              <a:rPr lang="en-US" sz="1200" dirty="0"/>
              <a:t>Extract</a:t>
            </a:r>
            <a:endParaRPr lang="en-NL" sz="1200" dirty="0"/>
          </a:p>
        </p:txBody>
      </p:sp>
      <p:sp>
        <p:nvSpPr>
          <p:cNvPr id="3" name="TextBox 2">
            <a:extLst>
              <a:ext uri="{FF2B5EF4-FFF2-40B4-BE49-F238E27FC236}">
                <a16:creationId xmlns:a16="http://schemas.microsoft.com/office/drawing/2014/main" id="{FAFB936A-6F59-7D88-5708-455F4E33B369}"/>
              </a:ext>
            </a:extLst>
          </p:cNvPr>
          <p:cNvSpPr txBox="1"/>
          <p:nvPr/>
        </p:nvSpPr>
        <p:spPr>
          <a:xfrm rot="18900000">
            <a:off x="8325714" y="5043615"/>
            <a:ext cx="1613262" cy="461665"/>
          </a:xfrm>
          <a:prstGeom prst="rect">
            <a:avLst/>
          </a:prstGeom>
          <a:noFill/>
        </p:spPr>
        <p:txBody>
          <a:bodyPr wrap="none" rtlCol="0" anchor="ctr">
            <a:spAutoFit/>
          </a:bodyPr>
          <a:lstStyle>
            <a:defPPr>
              <a:defRPr lang="en-US"/>
            </a:defPPr>
            <a:lvl1pPr algn="ctr">
              <a:defRPr sz="1400"/>
            </a:lvl1pPr>
          </a:lstStyle>
          <a:p>
            <a:r>
              <a:rPr lang="en-US" sz="1200" dirty="0"/>
              <a:t>Administrative Intake </a:t>
            </a:r>
          </a:p>
          <a:p>
            <a:r>
              <a:rPr lang="en-US" sz="1200" dirty="0"/>
              <a:t>Extract</a:t>
            </a:r>
            <a:endParaRPr lang="en-NL" sz="1100" dirty="0">
              <a:effectLst/>
            </a:endParaRPr>
          </a:p>
        </p:txBody>
      </p:sp>
      <p:sp>
        <p:nvSpPr>
          <p:cNvPr id="6" name="TextBox 5">
            <a:extLst>
              <a:ext uri="{FF2B5EF4-FFF2-40B4-BE49-F238E27FC236}">
                <a16:creationId xmlns:a16="http://schemas.microsoft.com/office/drawing/2014/main" id="{51C0BDAA-B435-9264-61EA-1241921A87C9}"/>
              </a:ext>
            </a:extLst>
          </p:cNvPr>
          <p:cNvSpPr txBox="1"/>
          <p:nvPr/>
        </p:nvSpPr>
        <p:spPr>
          <a:xfrm rot="18900000">
            <a:off x="6910965" y="5043615"/>
            <a:ext cx="1607170" cy="461665"/>
          </a:xfrm>
          <a:prstGeom prst="rect">
            <a:avLst/>
          </a:prstGeom>
          <a:noFill/>
        </p:spPr>
        <p:txBody>
          <a:bodyPr wrap="none" rtlCol="0" anchor="ctr">
            <a:spAutoFit/>
          </a:bodyPr>
          <a:lstStyle>
            <a:defPPr>
              <a:defRPr lang="en-US"/>
            </a:defPPr>
            <a:lvl1pPr algn="ctr">
              <a:defRPr sz="1400"/>
            </a:lvl1pPr>
          </a:lstStyle>
          <a:p>
            <a:r>
              <a:rPr lang="en-US" sz="1200" dirty="0"/>
              <a:t>Hospital Registration </a:t>
            </a:r>
          </a:p>
          <a:p>
            <a:r>
              <a:rPr lang="en-US" sz="1200" dirty="0"/>
              <a:t>Extract</a:t>
            </a:r>
            <a:endParaRPr lang="en-NL" sz="1200" dirty="0"/>
          </a:p>
        </p:txBody>
      </p:sp>
      <p:sp>
        <p:nvSpPr>
          <p:cNvPr id="12" name="TextBox 11">
            <a:extLst>
              <a:ext uri="{FF2B5EF4-FFF2-40B4-BE49-F238E27FC236}">
                <a16:creationId xmlns:a16="http://schemas.microsoft.com/office/drawing/2014/main" id="{4FD9D017-B176-7475-C6CB-C56C3381452B}"/>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2</a:t>
            </a:r>
            <a:endParaRPr lang="en-NL" sz="1000" b="1" dirty="0"/>
          </a:p>
        </p:txBody>
      </p:sp>
      <p:sp>
        <p:nvSpPr>
          <p:cNvPr id="56" name="Oval 55">
            <a:extLst>
              <a:ext uri="{FF2B5EF4-FFF2-40B4-BE49-F238E27FC236}">
                <a16:creationId xmlns:a16="http://schemas.microsoft.com/office/drawing/2014/main" id="{8B5C4AC4-81AE-F0BF-C101-B7B12FC5CC97}"/>
              </a:ext>
            </a:extLst>
          </p:cNvPr>
          <p:cNvSpPr/>
          <p:nvPr/>
        </p:nvSpPr>
        <p:spPr>
          <a:xfrm>
            <a:off x="6523967" y="3598218"/>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endParaRPr lang="en-NL" dirty="0"/>
          </a:p>
        </p:txBody>
      </p:sp>
      <p:sp>
        <p:nvSpPr>
          <p:cNvPr id="8" name="Oval 7">
            <a:extLst>
              <a:ext uri="{FF2B5EF4-FFF2-40B4-BE49-F238E27FC236}">
                <a16:creationId xmlns:a16="http://schemas.microsoft.com/office/drawing/2014/main" id="{23858712-1D7A-4253-C40C-33B9B61A5E97}"/>
              </a:ext>
            </a:extLst>
          </p:cNvPr>
          <p:cNvSpPr/>
          <p:nvPr/>
        </p:nvSpPr>
        <p:spPr>
          <a:xfrm>
            <a:off x="6517372" y="2078563"/>
            <a:ext cx="409575" cy="409575"/>
          </a:xfrm>
          <a:prstGeom prst="ellipse">
            <a:avLst/>
          </a:prstGeom>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NL" sz="1700" dirty="0"/>
          </a:p>
        </p:txBody>
      </p:sp>
      <p:sp>
        <p:nvSpPr>
          <p:cNvPr id="58" name="Oval 57">
            <a:extLst>
              <a:ext uri="{FF2B5EF4-FFF2-40B4-BE49-F238E27FC236}">
                <a16:creationId xmlns:a16="http://schemas.microsoft.com/office/drawing/2014/main" id="{0ADF0A27-5E9D-3934-064F-B238A287A47B}"/>
              </a:ext>
            </a:extLst>
          </p:cNvPr>
          <p:cNvSpPr/>
          <p:nvPr/>
        </p:nvSpPr>
        <p:spPr>
          <a:xfrm>
            <a:off x="7959097" y="3598218"/>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endParaRPr lang="en-NL" dirty="0"/>
          </a:p>
        </p:txBody>
      </p:sp>
      <p:sp>
        <p:nvSpPr>
          <p:cNvPr id="49" name="Oval 48">
            <a:extLst>
              <a:ext uri="{FF2B5EF4-FFF2-40B4-BE49-F238E27FC236}">
                <a16:creationId xmlns:a16="http://schemas.microsoft.com/office/drawing/2014/main" id="{C2623585-F6D6-F1B3-97A5-253A18848A0A}"/>
              </a:ext>
            </a:extLst>
          </p:cNvPr>
          <p:cNvSpPr/>
          <p:nvPr/>
        </p:nvSpPr>
        <p:spPr>
          <a:xfrm>
            <a:off x="9394226" y="3598218"/>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endParaRPr lang="en-NL" dirty="0"/>
          </a:p>
        </p:txBody>
      </p:sp>
      <p:sp>
        <p:nvSpPr>
          <p:cNvPr id="72" name="Oval 71">
            <a:extLst>
              <a:ext uri="{FF2B5EF4-FFF2-40B4-BE49-F238E27FC236}">
                <a16:creationId xmlns:a16="http://schemas.microsoft.com/office/drawing/2014/main" id="{24D96955-A91B-F127-AA5F-9D2F6C46DD45}"/>
              </a:ext>
            </a:extLst>
          </p:cNvPr>
          <p:cNvSpPr/>
          <p:nvPr/>
        </p:nvSpPr>
        <p:spPr>
          <a:xfrm>
            <a:off x="6523967" y="5117874"/>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endParaRPr lang="en-NL" dirty="0"/>
          </a:p>
        </p:txBody>
      </p:sp>
      <p:sp>
        <p:nvSpPr>
          <p:cNvPr id="73" name="Oval 72">
            <a:extLst>
              <a:ext uri="{FF2B5EF4-FFF2-40B4-BE49-F238E27FC236}">
                <a16:creationId xmlns:a16="http://schemas.microsoft.com/office/drawing/2014/main" id="{025F0D81-7358-9DA8-1A4D-7E45BA19BFD1}"/>
              </a:ext>
            </a:extLst>
          </p:cNvPr>
          <p:cNvSpPr/>
          <p:nvPr/>
        </p:nvSpPr>
        <p:spPr>
          <a:xfrm>
            <a:off x="7959097" y="5117874"/>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endParaRPr lang="en-NL" dirty="0"/>
          </a:p>
        </p:txBody>
      </p:sp>
      <p:sp>
        <p:nvSpPr>
          <p:cNvPr id="74" name="Oval 73">
            <a:extLst>
              <a:ext uri="{FF2B5EF4-FFF2-40B4-BE49-F238E27FC236}">
                <a16:creationId xmlns:a16="http://schemas.microsoft.com/office/drawing/2014/main" id="{3116CA4C-15B9-A0F6-4FFC-D05DABF1F8EC}"/>
              </a:ext>
            </a:extLst>
          </p:cNvPr>
          <p:cNvSpPr/>
          <p:nvPr/>
        </p:nvSpPr>
        <p:spPr>
          <a:xfrm>
            <a:off x="9394226" y="5117874"/>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endParaRPr lang="en-NL" dirty="0"/>
          </a:p>
        </p:txBody>
      </p:sp>
      <p:sp>
        <p:nvSpPr>
          <p:cNvPr id="21" name="Oval 20">
            <a:extLst>
              <a:ext uri="{FF2B5EF4-FFF2-40B4-BE49-F238E27FC236}">
                <a16:creationId xmlns:a16="http://schemas.microsoft.com/office/drawing/2014/main" id="{5BC43E62-DC3A-D76D-57AA-25990727D2CD}"/>
              </a:ext>
            </a:extLst>
          </p:cNvPr>
          <p:cNvSpPr/>
          <p:nvPr/>
        </p:nvSpPr>
        <p:spPr>
          <a:xfrm>
            <a:off x="9394226" y="2078563"/>
            <a:ext cx="409575" cy="409575"/>
          </a:xfrm>
          <a:prstGeom prst="ellipse">
            <a:avLst/>
          </a:prstGeom>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NL" sz="1700" dirty="0"/>
          </a:p>
        </p:txBody>
      </p:sp>
      <p:cxnSp>
        <p:nvCxnSpPr>
          <p:cNvPr id="26" name="Straight Arrow Connector 25">
            <a:extLst>
              <a:ext uri="{FF2B5EF4-FFF2-40B4-BE49-F238E27FC236}">
                <a16:creationId xmlns:a16="http://schemas.microsoft.com/office/drawing/2014/main" id="{E8329F88-235F-F32F-FD85-2D1E9F58F911}"/>
              </a:ext>
            </a:extLst>
          </p:cNvPr>
          <p:cNvCxnSpPr>
            <a:cxnSpLocks/>
            <a:stCxn id="56" idx="0"/>
            <a:endCxn id="8" idx="4"/>
          </p:cNvCxnSpPr>
          <p:nvPr/>
        </p:nvCxnSpPr>
        <p:spPr>
          <a:xfrm flipH="1" flipV="1">
            <a:off x="6722160" y="2488138"/>
            <a:ext cx="6595" cy="1110080"/>
          </a:xfrm>
          <a:prstGeom prst="straightConnector1">
            <a:avLst/>
          </a:prstGeom>
          <a:ln w="38100">
            <a:solidFill>
              <a:schemeClr val="tx1">
                <a:lumMod val="50000"/>
                <a:lumOff val="50000"/>
              </a:schemeClr>
            </a:solidFill>
            <a:prstDash val="sysDot"/>
            <a:tailEnd type="triangle" w="lg" len="med"/>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A79B0268-750B-C7E5-D1CA-92F5DD1DFF71}"/>
              </a:ext>
            </a:extLst>
          </p:cNvPr>
          <p:cNvCxnSpPr>
            <a:cxnSpLocks/>
            <a:stCxn id="58" idx="0"/>
            <a:endCxn id="88" idx="4"/>
          </p:cNvCxnSpPr>
          <p:nvPr/>
        </p:nvCxnSpPr>
        <p:spPr>
          <a:xfrm flipH="1" flipV="1">
            <a:off x="8163884" y="2488206"/>
            <a:ext cx="1" cy="1110012"/>
          </a:xfrm>
          <a:prstGeom prst="straightConnector1">
            <a:avLst/>
          </a:prstGeom>
          <a:ln w="38100">
            <a:solidFill>
              <a:schemeClr val="tx1">
                <a:lumMod val="50000"/>
                <a:lumOff val="50000"/>
              </a:schemeClr>
            </a:solidFill>
            <a:prstDash val="sysDot"/>
            <a:tailEnd type="triangle" w="lg" len="med"/>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1E0C29FA-7113-915A-D578-84C563A5B15B}"/>
              </a:ext>
            </a:extLst>
          </p:cNvPr>
          <p:cNvCxnSpPr>
            <a:cxnSpLocks/>
            <a:stCxn id="73" idx="0"/>
            <a:endCxn id="58" idx="4"/>
          </p:cNvCxnSpPr>
          <p:nvPr/>
        </p:nvCxnSpPr>
        <p:spPr>
          <a:xfrm flipV="1">
            <a:off x="8163885" y="4007793"/>
            <a:ext cx="0" cy="1110081"/>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F99EA313-6AE0-D480-B8CC-77252EFCF431}"/>
              </a:ext>
            </a:extLst>
          </p:cNvPr>
          <p:cNvCxnSpPr>
            <a:cxnSpLocks/>
            <a:stCxn id="72" idx="0"/>
            <a:endCxn id="56" idx="4"/>
          </p:cNvCxnSpPr>
          <p:nvPr/>
        </p:nvCxnSpPr>
        <p:spPr>
          <a:xfrm flipV="1">
            <a:off x="6728755" y="4007793"/>
            <a:ext cx="0" cy="1110081"/>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8A3DA0B3-68C9-9A48-A855-A42D46AF5F16}"/>
              </a:ext>
            </a:extLst>
          </p:cNvPr>
          <p:cNvCxnSpPr>
            <a:cxnSpLocks/>
            <a:stCxn id="49" idx="0"/>
            <a:endCxn id="21" idx="4"/>
          </p:cNvCxnSpPr>
          <p:nvPr/>
        </p:nvCxnSpPr>
        <p:spPr>
          <a:xfrm flipV="1">
            <a:off x="9599014" y="2488138"/>
            <a:ext cx="0" cy="1110080"/>
          </a:xfrm>
          <a:prstGeom prst="straightConnector1">
            <a:avLst/>
          </a:prstGeom>
          <a:ln w="38100">
            <a:solidFill>
              <a:schemeClr val="tx1">
                <a:lumMod val="50000"/>
                <a:lumOff val="50000"/>
              </a:schemeClr>
            </a:solidFill>
            <a:prstDash val="sysDot"/>
            <a:tailEnd type="triangle" w="lg" len="med"/>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31EF5E0A-F6EE-AB95-D4DA-4553547256E1}"/>
              </a:ext>
            </a:extLst>
          </p:cNvPr>
          <p:cNvCxnSpPr>
            <a:cxnSpLocks/>
            <a:stCxn id="74" idx="0"/>
            <a:endCxn id="49" idx="4"/>
          </p:cNvCxnSpPr>
          <p:nvPr/>
        </p:nvCxnSpPr>
        <p:spPr>
          <a:xfrm flipV="1">
            <a:off x="9599014" y="4007793"/>
            <a:ext cx="0" cy="1110081"/>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sp>
        <p:nvSpPr>
          <p:cNvPr id="88" name="Oval 87">
            <a:extLst>
              <a:ext uri="{FF2B5EF4-FFF2-40B4-BE49-F238E27FC236}">
                <a16:creationId xmlns:a16="http://schemas.microsoft.com/office/drawing/2014/main" id="{D5609DBC-2C6E-EEEE-EEC9-1C0CE73946E4}"/>
              </a:ext>
            </a:extLst>
          </p:cNvPr>
          <p:cNvSpPr/>
          <p:nvPr/>
        </p:nvSpPr>
        <p:spPr>
          <a:xfrm>
            <a:off x="7959096" y="2078631"/>
            <a:ext cx="409575" cy="409575"/>
          </a:xfrm>
          <a:prstGeom prst="ellipse">
            <a:avLst/>
          </a:prstGeom>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NL" sz="1700" dirty="0"/>
          </a:p>
        </p:txBody>
      </p:sp>
      <p:sp>
        <p:nvSpPr>
          <p:cNvPr id="25" name="TextBox 24">
            <a:extLst>
              <a:ext uri="{FF2B5EF4-FFF2-40B4-BE49-F238E27FC236}">
                <a16:creationId xmlns:a16="http://schemas.microsoft.com/office/drawing/2014/main" id="{4D6615F3-56AC-35C0-A02D-BC8AD5DB263A}"/>
              </a:ext>
            </a:extLst>
          </p:cNvPr>
          <p:cNvSpPr txBox="1"/>
          <p:nvPr/>
        </p:nvSpPr>
        <p:spPr>
          <a:xfrm rot="18900000">
            <a:off x="8164099" y="2071359"/>
            <a:ext cx="1936492" cy="276999"/>
          </a:xfrm>
          <a:prstGeom prst="rect">
            <a:avLst/>
          </a:prstGeom>
          <a:noFill/>
        </p:spPr>
        <p:txBody>
          <a:bodyPr wrap="none" rtlCol="0" anchor="ctr">
            <a:spAutoFit/>
          </a:bodyPr>
          <a:lstStyle/>
          <a:p>
            <a:pPr algn="ctr"/>
            <a:r>
              <a:rPr lang="en-US" sz="1200" dirty="0" err="1"/>
              <a:t>hrio:AdministrativeGender</a:t>
            </a:r>
            <a:endParaRPr lang="en-NL" sz="1200" dirty="0"/>
          </a:p>
        </p:txBody>
      </p:sp>
      <p:sp>
        <p:nvSpPr>
          <p:cNvPr id="14" name="Content Placeholder 2">
            <a:extLst>
              <a:ext uri="{FF2B5EF4-FFF2-40B4-BE49-F238E27FC236}">
                <a16:creationId xmlns:a16="http://schemas.microsoft.com/office/drawing/2014/main" id="{918DA243-88BD-7FEA-A20D-5C54F2F02EA3}"/>
              </a:ext>
            </a:extLst>
          </p:cNvPr>
          <p:cNvSpPr>
            <a:spLocks noGrp="1"/>
          </p:cNvSpPr>
          <p:nvPr>
            <p:ph idx="1"/>
          </p:nvPr>
        </p:nvSpPr>
        <p:spPr>
          <a:xfrm>
            <a:off x="695325" y="1628776"/>
            <a:ext cx="3224529" cy="4321174"/>
          </a:xfrm>
        </p:spPr>
        <p:txBody>
          <a:bodyPr>
            <a:normAutofit/>
          </a:bodyPr>
          <a:lstStyle/>
          <a:p>
            <a:pPr>
              <a:lnSpc>
                <a:spcPct val="85000"/>
              </a:lnSpc>
              <a:spcAft>
                <a:spcPts val="1800"/>
              </a:spcAft>
            </a:pPr>
            <a:r>
              <a:rPr lang="en-US" sz="2000" dirty="0"/>
              <a:t>The meanings are now clear in the conceptual model, but Amir still cannot query or compute over them directly.</a:t>
            </a:r>
          </a:p>
          <a:p>
            <a:pPr>
              <a:lnSpc>
                <a:spcPct val="85000"/>
              </a:lnSpc>
              <a:spcAft>
                <a:spcPts val="1800"/>
              </a:spcAft>
            </a:pPr>
            <a:r>
              <a:rPr lang="en-US" sz="2000" dirty="0"/>
              <a:t>The next step is to turn these conceptual meanings into machine-readable, </a:t>
            </a:r>
            <a:r>
              <a:rPr lang="en-US" sz="2000" dirty="0" err="1"/>
              <a:t>queryable</a:t>
            </a:r>
            <a:r>
              <a:rPr lang="en-US" sz="2000" dirty="0"/>
              <a:t>, and actionable relations.</a:t>
            </a:r>
            <a:endParaRPr lang="en-NL" sz="2000" dirty="0"/>
          </a:p>
        </p:txBody>
      </p:sp>
      <p:pic>
        <p:nvPicPr>
          <p:cNvPr id="7" name="slide 16">
            <a:hlinkClick r:id="" action="ppaction://media"/>
            <a:extLst>
              <a:ext uri="{FF2B5EF4-FFF2-40B4-BE49-F238E27FC236}">
                <a16:creationId xmlns:a16="http://schemas.microsoft.com/office/drawing/2014/main" id="{E29F63A8-12DC-BD41-CD17-0D097DAF022B}"/>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2458928" y="302262"/>
            <a:ext cx="609600" cy="609600"/>
          </a:xfrm>
          <a:prstGeom prst="rect">
            <a:avLst/>
          </a:prstGeom>
        </p:spPr>
      </p:pic>
    </p:spTree>
    <p:extLst>
      <p:ext uri="{BB962C8B-B14F-4D97-AF65-F5344CB8AC3E}">
        <p14:creationId xmlns:p14="http://schemas.microsoft.com/office/powerpoint/2010/main" val="42649200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5" presetClass="emph" presetSubtype="0" fill="hold" grpId="0" nodeType="withEffect">
                                  <p:stCondLst>
                                    <p:cond delay="0"/>
                                  </p:stCondLst>
                                  <p:childTnLst>
                                    <p:animClr clrSpc="hsl" dir="cw">
                                      <p:cBhvr override="childStyle">
                                        <p:cTn id="6" dur="500" fill="hold"/>
                                        <p:tgtEl>
                                          <p:spTgt spid="6"/>
                                        </p:tgtEl>
                                        <p:attrNameLst>
                                          <p:attrName>style.color</p:attrName>
                                        </p:attrNameLst>
                                      </p:cBhvr>
                                      <p:by>
                                        <p:hsl h="0" s="-70588" l="0"/>
                                      </p:by>
                                    </p:animClr>
                                    <p:animClr clrSpc="hsl" dir="cw">
                                      <p:cBhvr>
                                        <p:cTn id="7" dur="500" fill="hold"/>
                                        <p:tgtEl>
                                          <p:spTgt spid="6"/>
                                        </p:tgtEl>
                                        <p:attrNameLst>
                                          <p:attrName>fillcolor</p:attrName>
                                        </p:attrNameLst>
                                      </p:cBhvr>
                                      <p:by>
                                        <p:hsl h="0" s="-70588" l="0"/>
                                      </p:by>
                                    </p:animClr>
                                    <p:animClr clrSpc="hsl" dir="cw">
                                      <p:cBhvr>
                                        <p:cTn id="8" dur="500" fill="hold"/>
                                        <p:tgtEl>
                                          <p:spTgt spid="6"/>
                                        </p:tgtEl>
                                        <p:attrNameLst>
                                          <p:attrName>stroke.color</p:attrName>
                                        </p:attrNameLst>
                                      </p:cBhvr>
                                      <p:by>
                                        <p:hsl h="0" s="-70588" l="0"/>
                                      </p:by>
                                    </p:animClr>
                                    <p:set>
                                      <p:cBhvr>
                                        <p:cTn id="9" dur="500" fill="hold"/>
                                        <p:tgtEl>
                                          <p:spTgt spid="6"/>
                                        </p:tgtEl>
                                        <p:attrNameLst>
                                          <p:attrName>fill.type</p:attrName>
                                        </p:attrNameLst>
                                      </p:cBhvr>
                                      <p:to>
                                        <p:strVal val="solid"/>
                                      </p:to>
                                    </p:set>
                                  </p:childTnLst>
                                </p:cTn>
                              </p:par>
                              <p:par>
                                <p:cTn id="10" presetID="25" presetClass="emph" presetSubtype="0" fill="hold" grpId="0" nodeType="withEffect">
                                  <p:stCondLst>
                                    <p:cond delay="0"/>
                                  </p:stCondLst>
                                  <p:childTnLst>
                                    <p:animClr clrSpc="hsl" dir="cw">
                                      <p:cBhvr override="childStyle">
                                        <p:cTn id="11" dur="500" fill="hold"/>
                                        <p:tgtEl>
                                          <p:spTgt spid="3"/>
                                        </p:tgtEl>
                                        <p:attrNameLst>
                                          <p:attrName>style.color</p:attrName>
                                        </p:attrNameLst>
                                      </p:cBhvr>
                                      <p:by>
                                        <p:hsl h="0" s="-70588" l="0"/>
                                      </p:by>
                                    </p:animClr>
                                    <p:animClr clrSpc="hsl" dir="cw">
                                      <p:cBhvr>
                                        <p:cTn id="12" dur="500" fill="hold"/>
                                        <p:tgtEl>
                                          <p:spTgt spid="3"/>
                                        </p:tgtEl>
                                        <p:attrNameLst>
                                          <p:attrName>fillcolor</p:attrName>
                                        </p:attrNameLst>
                                      </p:cBhvr>
                                      <p:by>
                                        <p:hsl h="0" s="-70588" l="0"/>
                                      </p:by>
                                    </p:animClr>
                                    <p:animClr clrSpc="hsl" dir="cw">
                                      <p:cBhvr>
                                        <p:cTn id="13" dur="500" fill="hold"/>
                                        <p:tgtEl>
                                          <p:spTgt spid="3"/>
                                        </p:tgtEl>
                                        <p:attrNameLst>
                                          <p:attrName>stroke.color</p:attrName>
                                        </p:attrNameLst>
                                      </p:cBhvr>
                                      <p:by>
                                        <p:hsl h="0" s="-70588" l="0"/>
                                      </p:by>
                                    </p:animClr>
                                    <p:set>
                                      <p:cBhvr>
                                        <p:cTn id="14" dur="500" fill="hold"/>
                                        <p:tgtEl>
                                          <p:spTgt spid="3"/>
                                        </p:tgtEl>
                                        <p:attrNameLst>
                                          <p:attrName>fill.type</p:attrName>
                                        </p:attrNameLst>
                                      </p:cBhvr>
                                      <p:to>
                                        <p:strVal val="solid"/>
                                      </p:to>
                                    </p:set>
                                  </p:childTnLst>
                                </p:cTn>
                              </p:par>
                            </p:childTnLst>
                          </p:cTn>
                        </p:par>
                      </p:childTnLst>
                    </p:cTn>
                  </p:par>
                  <p:par>
                    <p:cTn id="15" fill="hold">
                      <p:stCondLst>
                        <p:cond delay="indefinite"/>
                      </p:stCondLst>
                      <p:childTnLst>
                        <p:par>
                          <p:cTn id="16" fill="hold">
                            <p:stCondLst>
                              <p:cond delay="0"/>
                            </p:stCondLst>
                            <p:childTnLst>
                              <p:par>
                                <p:cTn id="17" presetID="1" presetClass="mediacall" presetSubtype="0" fill="hold" nodeType="clickEffect">
                                  <p:stCondLst>
                                    <p:cond delay="0"/>
                                  </p:stCondLst>
                                  <p:childTnLst>
                                    <p:cmd type="call" cmd="playFrom(0.0)">
                                      <p:cBhvr>
                                        <p:cTn id="18" dur="30150"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19" fill="hold" display="0">
                  <p:stCondLst>
                    <p:cond delay="indefinite"/>
                  </p:stCondLst>
                  <p:endCondLst>
                    <p:cond evt="onStopAudio" delay="0">
                      <p:tgtEl>
                        <p:sldTgt/>
                      </p:tgtEl>
                    </p:cond>
                  </p:endCondLst>
                </p:cTn>
                <p:tgtEl>
                  <p:spTgt spid="7"/>
                </p:tgtEl>
              </p:cMediaNode>
            </p:audio>
          </p:childTnLst>
        </p:cTn>
      </p:par>
    </p:tnLst>
    <p:bldLst>
      <p:bldP spid="3" grpId="0"/>
      <p:bldP spid="6"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9D7A88-E09B-1CB2-2129-B7C06E604D56}"/>
            </a:ext>
          </a:extLst>
        </p:cNvPr>
        <p:cNvGrpSpPr/>
        <p:nvPr/>
      </p:nvGrpSpPr>
      <p:grpSpPr>
        <a:xfrm>
          <a:off x="0" y="0"/>
          <a:ext cx="0" cy="0"/>
          <a:chOff x="0" y="0"/>
          <a:chExt cx="0" cy="0"/>
        </a:xfrm>
      </p:grpSpPr>
      <p:sp>
        <p:nvSpPr>
          <p:cNvPr id="30" name="Rectangle 29">
            <a:extLst>
              <a:ext uri="{FF2B5EF4-FFF2-40B4-BE49-F238E27FC236}">
                <a16:creationId xmlns:a16="http://schemas.microsoft.com/office/drawing/2014/main" id="{8A643824-B184-4E2E-4D20-9F9981DB5FF3}"/>
              </a:ext>
            </a:extLst>
          </p:cNvPr>
          <p:cNvSpPr/>
          <p:nvPr/>
        </p:nvSpPr>
        <p:spPr>
          <a:xfrm>
            <a:off x="695325" y="2320417"/>
            <a:ext cx="10801348" cy="3633279"/>
          </a:xfrm>
          <a:prstGeom prst="rect">
            <a:avLst/>
          </a:prstGeom>
          <a:solidFill>
            <a:schemeClr val="bg1">
              <a:lumMod val="95000"/>
            </a:schemeClr>
          </a:solidFill>
        </p:spPr>
        <p:style>
          <a:lnRef idx="2">
            <a:schemeClr val="lt1">
              <a:hueOff val="0"/>
              <a:satOff val="0"/>
              <a:lumOff val="0"/>
              <a:alphaOff val="0"/>
            </a:schemeClr>
          </a:lnRef>
          <a:fillRef idx="1">
            <a:schemeClr val="accent1">
              <a:tint val="50000"/>
              <a:hueOff val="0"/>
              <a:satOff val="0"/>
              <a:lumOff val="0"/>
              <a:alphaOff val="0"/>
            </a:schemeClr>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NL" dirty="0"/>
          </a:p>
        </p:txBody>
      </p:sp>
      <p:sp>
        <p:nvSpPr>
          <p:cNvPr id="2" name="Title 1">
            <a:extLst>
              <a:ext uri="{FF2B5EF4-FFF2-40B4-BE49-F238E27FC236}">
                <a16:creationId xmlns:a16="http://schemas.microsoft.com/office/drawing/2014/main" id="{EF9E7A67-4594-01D4-D524-663D89E0D601}"/>
              </a:ext>
            </a:extLst>
          </p:cNvPr>
          <p:cNvSpPr>
            <a:spLocks noGrp="1"/>
          </p:cNvSpPr>
          <p:nvPr>
            <p:ph type="title"/>
          </p:nvPr>
        </p:nvSpPr>
        <p:spPr/>
        <p:txBody>
          <a:bodyPr/>
          <a:lstStyle/>
          <a:p>
            <a:r>
              <a:rPr lang="en-US" sz="3600" dirty="0"/>
              <a:t>The Health-RI Computational Ontology</a:t>
            </a:r>
            <a:endParaRPr lang="en-NL" sz="3600" dirty="0"/>
          </a:p>
        </p:txBody>
      </p:sp>
      <p:sp>
        <p:nvSpPr>
          <p:cNvPr id="4" name="Slide Number Placeholder 3">
            <a:extLst>
              <a:ext uri="{FF2B5EF4-FFF2-40B4-BE49-F238E27FC236}">
                <a16:creationId xmlns:a16="http://schemas.microsoft.com/office/drawing/2014/main" id="{6695E951-13AB-488A-CFC9-43CDA6FE4CF3}"/>
              </a:ext>
            </a:extLst>
          </p:cNvPr>
          <p:cNvSpPr>
            <a:spLocks noGrp="1"/>
          </p:cNvSpPr>
          <p:nvPr>
            <p:ph type="sldNum" sz="quarter" idx="12"/>
          </p:nvPr>
        </p:nvSpPr>
        <p:spPr/>
        <p:txBody>
          <a:bodyPr/>
          <a:lstStyle/>
          <a:p>
            <a:fld id="{4FAB73BC-B049-4115-A692-8D63A059BFB8}" type="slidenum">
              <a:rPr lang="en-US" smtClean="0"/>
              <a:pPr/>
              <a:t>23</a:t>
            </a:fld>
            <a:endParaRPr lang="en-US" dirty="0"/>
          </a:p>
        </p:txBody>
      </p:sp>
      <p:sp>
        <p:nvSpPr>
          <p:cNvPr id="31" name="Freeform: Shape 30">
            <a:extLst>
              <a:ext uri="{FF2B5EF4-FFF2-40B4-BE49-F238E27FC236}">
                <a16:creationId xmlns:a16="http://schemas.microsoft.com/office/drawing/2014/main" id="{FAD2CCD1-2CF6-9959-3D10-A296F877185F}"/>
              </a:ext>
            </a:extLst>
          </p:cNvPr>
          <p:cNvSpPr/>
          <p:nvPr/>
        </p:nvSpPr>
        <p:spPr>
          <a:xfrm>
            <a:off x="695325" y="1627628"/>
            <a:ext cx="10801349" cy="625636"/>
          </a:xfrm>
          <a:custGeom>
            <a:avLst/>
            <a:gdLst>
              <a:gd name="csX0" fmla="*/ 0 w 4438051"/>
              <a:gd name="csY0" fmla="*/ 0 h 647514"/>
              <a:gd name="csX1" fmla="*/ 4438051 w 4438051"/>
              <a:gd name="csY1" fmla="*/ 0 h 647514"/>
              <a:gd name="csX2" fmla="*/ 4438051 w 4438051"/>
              <a:gd name="csY2" fmla="*/ 647514 h 647514"/>
              <a:gd name="csX3" fmla="*/ 0 w 4438051"/>
              <a:gd name="csY3" fmla="*/ 647514 h 647514"/>
              <a:gd name="csX4" fmla="*/ 0 w 4438051"/>
              <a:gd name="csY4" fmla="*/ 0 h 647514"/>
            </a:gdLst>
            <a:ahLst/>
            <a:cxnLst>
              <a:cxn ang="0">
                <a:pos x="csX0" y="csY0"/>
              </a:cxn>
              <a:cxn ang="0">
                <a:pos x="csX1" y="csY1"/>
              </a:cxn>
              <a:cxn ang="0">
                <a:pos x="csX2" y="csY2"/>
              </a:cxn>
              <a:cxn ang="0">
                <a:pos x="csX3" y="csY3"/>
              </a:cxn>
              <a:cxn ang="0">
                <a:pos x="csX4" y="csY4"/>
              </a:cxn>
            </a:cxnLst>
            <a:rect l="l" t="t" r="r" b="b"/>
            <a:pathLst>
              <a:path w="4438051" h="647514">
                <a:moveTo>
                  <a:pt x="0" y="0"/>
                </a:moveTo>
                <a:lnTo>
                  <a:pt x="4438051" y="0"/>
                </a:lnTo>
                <a:lnTo>
                  <a:pt x="4438051" y="647514"/>
                </a:lnTo>
                <a:lnTo>
                  <a:pt x="0" y="647514"/>
                </a:lnTo>
                <a:lnTo>
                  <a:pt x="0" y="0"/>
                </a:lnTo>
                <a:close/>
              </a:path>
            </a:pathLst>
          </a:cu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2000" b="1" kern="1200" dirty="0">
                <a:solidFill>
                  <a:schemeClr val="accent1"/>
                </a:solidFill>
              </a:rPr>
              <a:t>The Health-RI Semantic Interoperability Initiative</a:t>
            </a:r>
            <a:endParaRPr lang="en-NL" sz="2000" b="1" kern="1200" dirty="0"/>
          </a:p>
        </p:txBody>
      </p:sp>
      <p:sp>
        <p:nvSpPr>
          <p:cNvPr id="5" name="Callout: Bent Line with Border and Accent Bar 4">
            <a:extLst>
              <a:ext uri="{FF2B5EF4-FFF2-40B4-BE49-F238E27FC236}">
                <a16:creationId xmlns:a16="http://schemas.microsoft.com/office/drawing/2014/main" id="{085147C8-7CB4-E979-8DDD-BF894B585799}"/>
              </a:ext>
            </a:extLst>
          </p:cNvPr>
          <p:cNvSpPr/>
          <p:nvPr/>
        </p:nvSpPr>
        <p:spPr>
          <a:xfrm flipH="1">
            <a:off x="2390284" y="2613062"/>
            <a:ext cx="1884698" cy="1089388"/>
          </a:xfrm>
          <a:prstGeom prst="accentBorderCallout2">
            <a:avLst>
              <a:gd name="adj1" fmla="val 18750"/>
              <a:gd name="adj2" fmla="val -8333"/>
              <a:gd name="adj3" fmla="val 18750"/>
              <a:gd name="adj4" fmla="val -16667"/>
              <a:gd name="adj5" fmla="val 69622"/>
              <a:gd name="adj6" fmla="val -52586"/>
            </a:avLst>
          </a:prstGeom>
          <a:solidFill>
            <a:schemeClr val="bg1">
              <a:lumMod val="95000"/>
            </a:schemeClr>
          </a:solidFill>
          <a:ln w="19050">
            <a:solidFill>
              <a:schemeClr val="bg1">
                <a:lumMod val="50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en-NL"/>
          </a:p>
        </p:txBody>
      </p:sp>
      <p:sp>
        <p:nvSpPr>
          <p:cNvPr id="6" name="Callout: Bent Line with Border and Accent Bar 5">
            <a:extLst>
              <a:ext uri="{FF2B5EF4-FFF2-40B4-BE49-F238E27FC236}">
                <a16:creationId xmlns:a16="http://schemas.microsoft.com/office/drawing/2014/main" id="{842930E4-F0FC-D20C-7344-AB31202E23FD}"/>
              </a:ext>
            </a:extLst>
          </p:cNvPr>
          <p:cNvSpPr/>
          <p:nvPr/>
        </p:nvSpPr>
        <p:spPr>
          <a:xfrm>
            <a:off x="7887488" y="4655497"/>
            <a:ext cx="1884699" cy="1089388"/>
          </a:xfrm>
          <a:prstGeom prst="accentBorderCallout2">
            <a:avLst>
              <a:gd name="adj1" fmla="val 84593"/>
              <a:gd name="adj2" fmla="val -7926"/>
              <a:gd name="adj3" fmla="val 84381"/>
              <a:gd name="adj4" fmla="val -21082"/>
              <a:gd name="adj5" fmla="val 32889"/>
              <a:gd name="adj6" fmla="val -54287"/>
            </a:avLst>
          </a:prstGeom>
          <a:solidFill>
            <a:schemeClr val="bg1">
              <a:lumMod val="95000"/>
            </a:schemeClr>
          </a:solidFill>
          <a:ln w="19050">
            <a:solidFill>
              <a:schemeClr val="bg1">
                <a:lumMod val="50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en-NL"/>
          </a:p>
        </p:txBody>
      </p:sp>
      <p:sp>
        <p:nvSpPr>
          <p:cNvPr id="7" name="Callout: Bent Line with Border and Accent Bar 6">
            <a:extLst>
              <a:ext uri="{FF2B5EF4-FFF2-40B4-BE49-F238E27FC236}">
                <a16:creationId xmlns:a16="http://schemas.microsoft.com/office/drawing/2014/main" id="{E441779E-7662-71A4-D752-4A117DCA19DA}"/>
              </a:ext>
            </a:extLst>
          </p:cNvPr>
          <p:cNvSpPr/>
          <p:nvPr/>
        </p:nvSpPr>
        <p:spPr>
          <a:xfrm>
            <a:off x="7887488" y="2617427"/>
            <a:ext cx="1884698" cy="1089388"/>
          </a:xfrm>
          <a:prstGeom prst="accentBorderCallout2">
            <a:avLst>
              <a:gd name="adj1" fmla="val 18750"/>
              <a:gd name="adj2" fmla="val -8333"/>
              <a:gd name="adj3" fmla="val 18750"/>
              <a:gd name="adj4" fmla="val -16667"/>
              <a:gd name="adj5" fmla="val 69622"/>
              <a:gd name="adj6" fmla="val -52586"/>
            </a:avLst>
          </a:prstGeom>
          <a:solidFill>
            <a:schemeClr val="bg1">
              <a:lumMod val="95000"/>
            </a:schemeClr>
          </a:solidFill>
          <a:ln w="19050">
            <a:solidFill>
              <a:schemeClr val="bg1">
                <a:lumMod val="50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en-NL"/>
          </a:p>
        </p:txBody>
      </p:sp>
      <p:sp>
        <p:nvSpPr>
          <p:cNvPr id="9" name="Freeform: Shape 8">
            <a:extLst>
              <a:ext uri="{FF2B5EF4-FFF2-40B4-BE49-F238E27FC236}">
                <a16:creationId xmlns:a16="http://schemas.microsoft.com/office/drawing/2014/main" id="{C43FFCDB-B498-9A6E-7CCA-54774947529C}"/>
              </a:ext>
            </a:extLst>
          </p:cNvPr>
          <p:cNvSpPr/>
          <p:nvPr/>
        </p:nvSpPr>
        <p:spPr>
          <a:xfrm>
            <a:off x="4941618" y="2936040"/>
            <a:ext cx="2380471" cy="2380471"/>
          </a:xfrm>
          <a:custGeom>
            <a:avLst/>
            <a:gdLst>
              <a:gd name="connsiteX0" fmla="*/ 1920240 w 3840480"/>
              <a:gd name="connsiteY0" fmla="*/ 0 h 3840480"/>
              <a:gd name="connsiteX1" fmla="*/ 3583217 w 3840480"/>
              <a:gd name="connsiteY1" fmla="*/ 960120 h 3840480"/>
              <a:gd name="connsiteX2" fmla="*/ 3583217 w 3840480"/>
              <a:gd name="connsiteY2" fmla="*/ 2880360 h 3840480"/>
              <a:gd name="connsiteX3" fmla="*/ 1920240 w 3840480"/>
              <a:gd name="connsiteY3" fmla="*/ 1920240 h 3840480"/>
              <a:gd name="connsiteX4" fmla="*/ 1920240 w 3840480"/>
              <a:gd name="connsiteY4" fmla="*/ 0 h 3840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40480" h="3840480">
                <a:moveTo>
                  <a:pt x="1920240" y="0"/>
                </a:moveTo>
                <a:cubicBezTo>
                  <a:pt x="2606276" y="0"/>
                  <a:pt x="3240199" y="365996"/>
                  <a:pt x="3583217" y="960120"/>
                </a:cubicBezTo>
                <a:cubicBezTo>
                  <a:pt x="3926235" y="1554244"/>
                  <a:pt x="3926235" y="2286236"/>
                  <a:pt x="3583217" y="2880360"/>
                </a:cubicBezTo>
                <a:lnTo>
                  <a:pt x="1920240" y="1920240"/>
                </a:lnTo>
                <a:lnTo>
                  <a:pt x="1920240" y="0"/>
                </a:lnTo>
                <a:close/>
              </a:path>
            </a:pathLst>
          </a:cu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2054505" tIns="844296" rIns="475335" bIns="1914144" numCol="1" spcCol="1270" anchor="ctr" anchorCtr="0">
            <a:noAutofit/>
          </a:bodyPr>
          <a:lstStyle/>
          <a:p>
            <a:pPr marL="0" lvl="0" indent="0" algn="ctr" defTabSz="1066800">
              <a:lnSpc>
                <a:spcPct val="90000"/>
              </a:lnSpc>
              <a:spcBef>
                <a:spcPct val="0"/>
              </a:spcBef>
              <a:spcAft>
                <a:spcPct val="35000"/>
              </a:spcAft>
              <a:buNone/>
            </a:pPr>
            <a:endParaRPr lang="en-US" sz="2800" b="1" kern="1200" dirty="0">
              <a:latin typeface="Neue Haas Grotesk Text Pro Blac" panose="020B0504020202020204" pitchFamily="34" charset="0"/>
            </a:endParaRPr>
          </a:p>
        </p:txBody>
      </p:sp>
      <p:sp>
        <p:nvSpPr>
          <p:cNvPr id="10" name="Freeform: Shape 9">
            <a:extLst>
              <a:ext uri="{FF2B5EF4-FFF2-40B4-BE49-F238E27FC236}">
                <a16:creationId xmlns:a16="http://schemas.microsoft.com/office/drawing/2014/main" id="{8AD7C18C-9245-EAD6-3976-8774E197638E}"/>
              </a:ext>
            </a:extLst>
          </p:cNvPr>
          <p:cNvSpPr/>
          <p:nvPr/>
        </p:nvSpPr>
        <p:spPr>
          <a:xfrm>
            <a:off x="4895541" y="3015941"/>
            <a:ext cx="2380471" cy="2380471"/>
          </a:xfrm>
          <a:custGeom>
            <a:avLst/>
            <a:gdLst>
              <a:gd name="connsiteX0" fmla="*/ 3583217 w 3840480"/>
              <a:gd name="connsiteY0" fmla="*/ 2880360 h 3840480"/>
              <a:gd name="connsiteX1" fmla="*/ 1920240 w 3840480"/>
              <a:gd name="connsiteY1" fmla="*/ 3840480 h 3840480"/>
              <a:gd name="connsiteX2" fmla="*/ 257263 w 3840480"/>
              <a:gd name="connsiteY2" fmla="*/ 2880360 h 3840480"/>
              <a:gd name="connsiteX3" fmla="*/ 1920240 w 3840480"/>
              <a:gd name="connsiteY3" fmla="*/ 1920240 h 3840480"/>
              <a:gd name="connsiteX4" fmla="*/ 3583217 w 3840480"/>
              <a:gd name="connsiteY4" fmla="*/ 2880360 h 3840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40480" h="3840480">
                <a:moveTo>
                  <a:pt x="3583217" y="2880360"/>
                </a:moveTo>
                <a:cubicBezTo>
                  <a:pt x="3240199" y="3474484"/>
                  <a:pt x="2606276" y="3840480"/>
                  <a:pt x="1920240" y="3840480"/>
                </a:cubicBezTo>
                <a:cubicBezTo>
                  <a:pt x="1234204" y="3840480"/>
                  <a:pt x="600281" y="3474484"/>
                  <a:pt x="257263" y="2880360"/>
                </a:cubicBezTo>
                <a:lnTo>
                  <a:pt x="1920240" y="1920240"/>
                </a:lnTo>
                <a:lnTo>
                  <a:pt x="3583217" y="2880360"/>
                </a:lnTo>
                <a:close/>
              </a:path>
            </a:pathLst>
          </a:custGeom>
          <a:solidFill>
            <a:srgbClr val="00B0F0"/>
          </a:solidFill>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944880" tIns="2522221" rIns="899160" bIns="373379" numCol="1" spcCol="1270" anchor="t" anchorCtr="0">
            <a:noAutofit/>
          </a:bodyPr>
          <a:lstStyle/>
          <a:p>
            <a:pPr marL="0" lvl="0" indent="0" algn="ctr" defTabSz="1066800">
              <a:lnSpc>
                <a:spcPct val="90000"/>
              </a:lnSpc>
              <a:spcBef>
                <a:spcPct val="0"/>
              </a:spcBef>
              <a:spcAft>
                <a:spcPct val="35000"/>
              </a:spcAft>
              <a:buNone/>
            </a:pPr>
            <a:endParaRPr lang="en-NL" sz="2800" b="1" kern="1200" dirty="0">
              <a:latin typeface="Neue Haas Grotesk Text Pro Blac" panose="020B0504020202020204" pitchFamily="34" charset="0"/>
            </a:endParaRPr>
          </a:p>
        </p:txBody>
      </p:sp>
      <p:sp>
        <p:nvSpPr>
          <p:cNvPr id="11" name="Freeform: Shape 10">
            <a:extLst>
              <a:ext uri="{FF2B5EF4-FFF2-40B4-BE49-F238E27FC236}">
                <a16:creationId xmlns:a16="http://schemas.microsoft.com/office/drawing/2014/main" id="{D3AFE626-7345-1AE4-4225-74777528DBF5}"/>
              </a:ext>
            </a:extLst>
          </p:cNvPr>
          <p:cNvSpPr/>
          <p:nvPr/>
        </p:nvSpPr>
        <p:spPr>
          <a:xfrm>
            <a:off x="4849464" y="2936040"/>
            <a:ext cx="2380471" cy="2380471"/>
          </a:xfrm>
          <a:custGeom>
            <a:avLst/>
            <a:gdLst>
              <a:gd name="connsiteX0" fmla="*/ 257263 w 3840480"/>
              <a:gd name="connsiteY0" fmla="*/ 2880360 h 3840480"/>
              <a:gd name="connsiteX1" fmla="*/ 257263 w 3840480"/>
              <a:gd name="connsiteY1" fmla="*/ 960120 h 3840480"/>
              <a:gd name="connsiteX2" fmla="*/ 1920240 w 3840480"/>
              <a:gd name="connsiteY2" fmla="*/ 0 h 3840480"/>
              <a:gd name="connsiteX3" fmla="*/ 1920240 w 3840480"/>
              <a:gd name="connsiteY3" fmla="*/ 1920240 h 3840480"/>
              <a:gd name="connsiteX4" fmla="*/ 257263 w 3840480"/>
              <a:gd name="connsiteY4" fmla="*/ 2880360 h 3840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40480" h="3840480">
                <a:moveTo>
                  <a:pt x="257263" y="2880360"/>
                </a:moveTo>
                <a:cubicBezTo>
                  <a:pt x="-85755" y="2286236"/>
                  <a:pt x="-85755" y="1554244"/>
                  <a:pt x="257263" y="960120"/>
                </a:cubicBezTo>
                <a:cubicBezTo>
                  <a:pt x="600281" y="365996"/>
                  <a:pt x="1234204" y="0"/>
                  <a:pt x="1920240" y="0"/>
                </a:cubicBezTo>
                <a:lnTo>
                  <a:pt x="1920240" y="1920240"/>
                </a:lnTo>
                <a:lnTo>
                  <a:pt x="257263" y="2880360"/>
                </a:lnTo>
                <a:close/>
              </a:path>
            </a:pathLst>
          </a:custGeom>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475336" tIns="844296" rIns="2054504" bIns="1914144" numCol="1" spcCol="1270" anchor="ctr" anchorCtr="0">
            <a:noAutofit/>
          </a:bodyPr>
          <a:lstStyle/>
          <a:p>
            <a:pPr marL="0" lvl="0" indent="0" algn="ctr" defTabSz="1066800">
              <a:lnSpc>
                <a:spcPct val="90000"/>
              </a:lnSpc>
              <a:spcBef>
                <a:spcPct val="0"/>
              </a:spcBef>
              <a:spcAft>
                <a:spcPct val="35000"/>
              </a:spcAft>
              <a:buNone/>
            </a:pPr>
            <a:endParaRPr lang="en-NL" sz="2400" kern="1200" dirty="0"/>
          </a:p>
        </p:txBody>
      </p:sp>
      <p:sp>
        <p:nvSpPr>
          <p:cNvPr id="12" name="Arrow: Circular 11">
            <a:extLst>
              <a:ext uri="{FF2B5EF4-FFF2-40B4-BE49-F238E27FC236}">
                <a16:creationId xmlns:a16="http://schemas.microsoft.com/office/drawing/2014/main" id="{95A0578B-EFDE-BB37-0DE2-1EC8F7C55CB1}"/>
              </a:ext>
            </a:extLst>
          </p:cNvPr>
          <p:cNvSpPr/>
          <p:nvPr/>
        </p:nvSpPr>
        <p:spPr>
          <a:xfrm>
            <a:off x="4789899" y="2793218"/>
            <a:ext cx="2675196" cy="2675196"/>
          </a:xfrm>
          <a:prstGeom prst="circularArrow">
            <a:avLst>
              <a:gd name="adj1" fmla="val 5085"/>
              <a:gd name="adj2" fmla="val 327528"/>
              <a:gd name="adj3" fmla="val 1472472"/>
              <a:gd name="adj4" fmla="val 16199432"/>
              <a:gd name="adj5" fmla="val 5932"/>
            </a:avLst>
          </a:prstGeom>
          <a:solidFill>
            <a:schemeClr val="accent2">
              <a:lumMod val="50000"/>
            </a:schemeClr>
          </a:solidFill>
        </p:spPr>
        <p:style>
          <a:lnRef idx="0">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hueOff val="0"/>
              <a:satOff val="0"/>
              <a:lumOff val="0"/>
              <a:alphaOff val="0"/>
            </a:schemeClr>
          </a:fontRef>
        </p:style>
        <p:txBody>
          <a:bodyPr/>
          <a:lstStyle/>
          <a:p>
            <a:endParaRPr lang="en-NL"/>
          </a:p>
        </p:txBody>
      </p:sp>
      <p:sp>
        <p:nvSpPr>
          <p:cNvPr id="13" name="Arrow: Circular 12">
            <a:extLst>
              <a:ext uri="{FF2B5EF4-FFF2-40B4-BE49-F238E27FC236}">
                <a16:creationId xmlns:a16="http://schemas.microsoft.com/office/drawing/2014/main" id="{9F4FB4D0-1BB0-A9F7-C916-4A67881ADA28}"/>
              </a:ext>
            </a:extLst>
          </p:cNvPr>
          <p:cNvSpPr/>
          <p:nvPr/>
        </p:nvSpPr>
        <p:spPr>
          <a:xfrm>
            <a:off x="4743638" y="2872979"/>
            <a:ext cx="2675196" cy="2675196"/>
          </a:xfrm>
          <a:prstGeom prst="circularArrow">
            <a:avLst>
              <a:gd name="adj1" fmla="val 5085"/>
              <a:gd name="adj2" fmla="val 327528"/>
              <a:gd name="adj3" fmla="val 8671970"/>
              <a:gd name="adj4" fmla="val 1800502"/>
              <a:gd name="adj5" fmla="val 5932"/>
            </a:avLst>
          </a:prstGeom>
          <a:solidFill>
            <a:srgbClr val="0070C0"/>
          </a:solidFill>
        </p:spPr>
        <p:style>
          <a:lnRef idx="0">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hueOff val="0"/>
              <a:satOff val="0"/>
              <a:lumOff val="0"/>
              <a:alphaOff val="0"/>
            </a:schemeClr>
          </a:fontRef>
        </p:style>
        <p:txBody>
          <a:bodyPr/>
          <a:lstStyle/>
          <a:p>
            <a:endParaRPr lang="en-NL"/>
          </a:p>
        </p:txBody>
      </p:sp>
      <p:sp>
        <p:nvSpPr>
          <p:cNvPr id="14" name="Arrow: Circular 13">
            <a:extLst>
              <a:ext uri="{FF2B5EF4-FFF2-40B4-BE49-F238E27FC236}">
                <a16:creationId xmlns:a16="http://schemas.microsoft.com/office/drawing/2014/main" id="{EBE3ACC8-EFF3-B475-08F4-381657A56175}"/>
              </a:ext>
            </a:extLst>
          </p:cNvPr>
          <p:cNvSpPr/>
          <p:nvPr/>
        </p:nvSpPr>
        <p:spPr>
          <a:xfrm>
            <a:off x="4697376" y="2793218"/>
            <a:ext cx="2675196" cy="2675196"/>
          </a:xfrm>
          <a:prstGeom prst="circularArrow">
            <a:avLst>
              <a:gd name="adj1" fmla="val 5085"/>
              <a:gd name="adj2" fmla="val 327528"/>
              <a:gd name="adj3" fmla="val 15873039"/>
              <a:gd name="adj4" fmla="val 9000000"/>
              <a:gd name="adj5" fmla="val 5932"/>
            </a:avLst>
          </a:prstGeom>
          <a:solidFill>
            <a:schemeClr val="accent4">
              <a:lumMod val="50000"/>
            </a:schemeClr>
          </a:solidFill>
          <a:ln w="38100">
            <a:noFill/>
            <a:prstDash val="solid"/>
          </a:ln>
        </p:spPr>
        <p: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hueOff val="0"/>
              <a:satOff val="0"/>
              <a:lumOff val="0"/>
              <a:alphaOff val="0"/>
            </a:schemeClr>
          </a:fontRef>
        </p:style>
        <p:txBody>
          <a:bodyPr/>
          <a:lstStyle/>
          <a:p>
            <a:endParaRPr lang="en-NL"/>
          </a:p>
        </p:txBody>
      </p:sp>
      <p:pic>
        <p:nvPicPr>
          <p:cNvPr id="15" name="Picture 2" descr="Logo vertical | OntoUML Community Portal">
            <a:extLst>
              <a:ext uri="{FF2B5EF4-FFF2-40B4-BE49-F238E27FC236}">
                <a16:creationId xmlns:a16="http://schemas.microsoft.com/office/drawing/2014/main" id="{2E495D52-1C91-1B61-47FE-AE27AD8AB69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70367" y="2833440"/>
            <a:ext cx="1718941" cy="657360"/>
          </a:xfrm>
          <a:prstGeom prst="rect">
            <a:avLst/>
          </a:prstGeom>
          <a:noFill/>
          <a:extLst>
            <a:ext uri="{909E8E84-426E-40DD-AFC4-6F175D3DCCD1}">
              <a14:hiddenFill xmlns:a14="http://schemas.microsoft.com/office/drawing/2010/main">
                <a:solidFill>
                  <a:srgbClr val="FFFFFF"/>
                </a:solidFill>
              </a14:hiddenFill>
            </a:ext>
          </a:extLst>
        </p:spPr>
      </p:pic>
      <p:grpSp>
        <p:nvGrpSpPr>
          <p:cNvPr id="16" name="Group 15">
            <a:extLst>
              <a:ext uri="{FF2B5EF4-FFF2-40B4-BE49-F238E27FC236}">
                <a16:creationId xmlns:a16="http://schemas.microsoft.com/office/drawing/2014/main" id="{CF2A1AF9-1976-AD01-4527-6BCB59FCD9BD}"/>
              </a:ext>
            </a:extLst>
          </p:cNvPr>
          <p:cNvGrpSpPr/>
          <p:nvPr/>
        </p:nvGrpSpPr>
        <p:grpSpPr>
          <a:xfrm>
            <a:off x="8107224" y="4789911"/>
            <a:ext cx="1445229" cy="820560"/>
            <a:chOff x="6119493" y="4341725"/>
            <a:chExt cx="2393775" cy="1359120"/>
          </a:xfrm>
        </p:grpSpPr>
        <p:pic>
          <p:nvPicPr>
            <p:cNvPr id="17" name="Picture 12" descr="What is the Semantic Web? - Jean Delahousse">
              <a:extLst>
                <a:ext uri="{FF2B5EF4-FFF2-40B4-BE49-F238E27FC236}">
                  <a16:creationId xmlns:a16="http://schemas.microsoft.com/office/drawing/2014/main" id="{F6608BB3-0CBD-3221-FD9C-E3C109FA508F}"/>
                </a:ext>
              </a:extLst>
            </p:cNvPr>
            <p:cNvPicPr>
              <a:picLocks noChangeAspect="1" noChangeArrowheads="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119493" y="4434598"/>
              <a:ext cx="1168843" cy="1266247"/>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4" descr="What is the Semantic Web? - Jean Delahousse">
              <a:extLst>
                <a:ext uri="{FF2B5EF4-FFF2-40B4-BE49-F238E27FC236}">
                  <a16:creationId xmlns:a16="http://schemas.microsoft.com/office/drawing/2014/main" id="{69DCC5AE-FE5F-843F-4322-955F48EFFE02}"/>
                </a:ext>
              </a:extLst>
            </p:cNvPr>
            <p:cNvPicPr>
              <a:picLocks noChangeAspect="1" noChangeArrowheads="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344425" y="4341725"/>
              <a:ext cx="1168843" cy="1359120"/>
            </a:xfrm>
            <a:prstGeom prst="rect">
              <a:avLst/>
            </a:prstGeom>
            <a:noFill/>
            <a:extLst>
              <a:ext uri="{909E8E84-426E-40DD-AFC4-6F175D3DCCD1}">
                <a14:hiddenFill xmlns:a14="http://schemas.microsoft.com/office/drawing/2010/main">
                  <a:solidFill>
                    <a:srgbClr val="FFFFFF"/>
                  </a:solidFill>
                </a14:hiddenFill>
              </a:ext>
            </a:extLst>
          </p:spPr>
        </p:pic>
      </p:grpSp>
      <p:pic>
        <p:nvPicPr>
          <p:cNvPr id="19" name="Picture 2" descr="GitHub - mapping-commons/sssom: Simple Standard for Sharing Ontology  Mappings">
            <a:extLst>
              <a:ext uri="{FF2B5EF4-FFF2-40B4-BE49-F238E27FC236}">
                <a16:creationId xmlns:a16="http://schemas.microsoft.com/office/drawing/2014/main" id="{55469AF0-5A48-B37A-56D5-4B58C8323EF3}"/>
              </a:ext>
            </a:extLst>
          </p:cNvPr>
          <p:cNvPicPr>
            <a:picLocks noChangeAspect="1" noChangeArrowheads="1"/>
          </p:cNvPicPr>
          <p:nvPr/>
        </p:nvPicPr>
        <p:blipFill>
          <a:blip r:embed="rId8">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276707" y="2718885"/>
            <a:ext cx="2111854" cy="877740"/>
          </a:xfrm>
          <a:prstGeom prst="rect">
            <a:avLst/>
          </a:prstGeom>
          <a:noFill/>
          <a:extLst>
            <a:ext uri="{909E8E84-426E-40DD-AFC4-6F175D3DCCD1}">
              <a14:hiddenFill xmlns:a14="http://schemas.microsoft.com/office/drawing/2010/main">
                <a:solidFill>
                  <a:srgbClr val="FFFFFF"/>
                </a:solidFill>
              </a14:hiddenFill>
            </a:ext>
          </a:extLst>
        </p:spPr>
      </p:pic>
      <p:sp>
        <p:nvSpPr>
          <p:cNvPr id="20" name="TextBox 19">
            <a:extLst>
              <a:ext uri="{FF2B5EF4-FFF2-40B4-BE49-F238E27FC236}">
                <a16:creationId xmlns:a16="http://schemas.microsoft.com/office/drawing/2014/main" id="{6D749D8C-A330-A044-972D-533D4EA4898C}"/>
              </a:ext>
            </a:extLst>
          </p:cNvPr>
          <p:cNvSpPr txBox="1"/>
          <p:nvPr/>
        </p:nvSpPr>
        <p:spPr>
          <a:xfrm>
            <a:off x="5468718" y="4500304"/>
            <a:ext cx="1239827" cy="553998"/>
          </a:xfrm>
          <a:prstGeom prst="rect">
            <a:avLst/>
          </a:prstGeom>
          <a:noFill/>
        </p:spPr>
        <p:txBody>
          <a:bodyPr wrap="none" rtlCol="0">
            <a:spAutoFit/>
          </a:bodyPr>
          <a:lstStyle/>
          <a:p>
            <a:pPr algn="ctr"/>
            <a:r>
              <a:rPr lang="en-US" b="1" dirty="0">
                <a:ln>
                  <a:solidFill>
                    <a:schemeClr val="tx1">
                      <a:lumMod val="50000"/>
                      <a:lumOff val="50000"/>
                    </a:schemeClr>
                  </a:solidFill>
                </a:ln>
                <a:solidFill>
                  <a:schemeClr val="bg1"/>
                </a:solidFill>
                <a:latin typeface="Neue Haas Grotesk Text Pro Blac" panose="020B0504020202020204" pitchFamily="34" charset="0"/>
              </a:rPr>
              <a:t>HRIO</a:t>
            </a:r>
          </a:p>
          <a:p>
            <a:pPr algn="ctr"/>
            <a:r>
              <a:rPr lang="en-US" sz="1200" b="1" dirty="0">
                <a:ln>
                  <a:solidFill>
                    <a:schemeClr val="tx1">
                      <a:lumMod val="50000"/>
                      <a:lumOff val="50000"/>
                    </a:schemeClr>
                  </a:solidFill>
                </a:ln>
                <a:solidFill>
                  <a:schemeClr val="bg1"/>
                </a:solidFill>
              </a:rPr>
              <a:t>Computational</a:t>
            </a:r>
            <a:endParaRPr lang="en-NL" sz="1200" b="1" dirty="0">
              <a:ln>
                <a:solidFill>
                  <a:schemeClr val="tx1">
                    <a:lumMod val="50000"/>
                    <a:lumOff val="50000"/>
                  </a:schemeClr>
                </a:solidFill>
              </a:ln>
              <a:solidFill>
                <a:schemeClr val="bg1"/>
              </a:solidFill>
            </a:endParaRPr>
          </a:p>
        </p:txBody>
      </p:sp>
      <p:sp>
        <p:nvSpPr>
          <p:cNvPr id="21" name="TextBox 20">
            <a:extLst>
              <a:ext uri="{FF2B5EF4-FFF2-40B4-BE49-F238E27FC236}">
                <a16:creationId xmlns:a16="http://schemas.microsoft.com/office/drawing/2014/main" id="{6A208FD6-D1DD-D927-3EB8-3B8E6FE2315F}"/>
              </a:ext>
            </a:extLst>
          </p:cNvPr>
          <p:cNvSpPr txBox="1"/>
          <p:nvPr/>
        </p:nvSpPr>
        <p:spPr>
          <a:xfrm>
            <a:off x="6146123" y="3505364"/>
            <a:ext cx="1005404" cy="553998"/>
          </a:xfrm>
          <a:prstGeom prst="rect">
            <a:avLst/>
          </a:prstGeom>
          <a:noFill/>
        </p:spPr>
        <p:txBody>
          <a:bodyPr wrap="none" rtlCol="0">
            <a:spAutoFit/>
          </a:bodyPr>
          <a:lstStyle/>
          <a:p>
            <a:pPr algn="ctr"/>
            <a:r>
              <a:rPr lang="en-US" b="1" dirty="0">
                <a:ln>
                  <a:solidFill>
                    <a:schemeClr val="tx1">
                      <a:lumMod val="50000"/>
                      <a:lumOff val="50000"/>
                    </a:schemeClr>
                  </a:solidFill>
                </a:ln>
                <a:solidFill>
                  <a:schemeClr val="bg1"/>
                </a:solidFill>
                <a:latin typeface="Neue Haas Grotesk Text Pro Blac" panose="020B0504020202020204" pitchFamily="34" charset="0"/>
              </a:rPr>
              <a:t>HRIO</a:t>
            </a:r>
          </a:p>
          <a:p>
            <a:pPr algn="ctr"/>
            <a:r>
              <a:rPr lang="en-US" sz="1200" b="1" dirty="0">
                <a:ln>
                  <a:solidFill>
                    <a:schemeClr val="tx1">
                      <a:lumMod val="50000"/>
                      <a:lumOff val="50000"/>
                    </a:schemeClr>
                  </a:solidFill>
                </a:ln>
                <a:solidFill>
                  <a:schemeClr val="bg1"/>
                </a:solidFill>
              </a:rPr>
              <a:t>Conceptual</a:t>
            </a:r>
            <a:endParaRPr lang="en-NL" sz="1200" b="1" dirty="0">
              <a:ln>
                <a:solidFill>
                  <a:schemeClr val="tx1">
                    <a:lumMod val="50000"/>
                    <a:lumOff val="50000"/>
                  </a:schemeClr>
                </a:solidFill>
              </a:ln>
              <a:solidFill>
                <a:schemeClr val="bg1"/>
              </a:solidFill>
            </a:endParaRPr>
          </a:p>
        </p:txBody>
      </p:sp>
      <p:sp>
        <p:nvSpPr>
          <p:cNvPr id="22" name="TextBox 21">
            <a:extLst>
              <a:ext uri="{FF2B5EF4-FFF2-40B4-BE49-F238E27FC236}">
                <a16:creationId xmlns:a16="http://schemas.microsoft.com/office/drawing/2014/main" id="{FE94EFA1-8F4C-2C4A-4A8D-8862D8531B3A}"/>
              </a:ext>
            </a:extLst>
          </p:cNvPr>
          <p:cNvSpPr txBox="1"/>
          <p:nvPr/>
        </p:nvSpPr>
        <p:spPr>
          <a:xfrm>
            <a:off x="4968721" y="3505364"/>
            <a:ext cx="1048684" cy="553998"/>
          </a:xfrm>
          <a:prstGeom prst="rect">
            <a:avLst/>
          </a:prstGeom>
          <a:noFill/>
        </p:spPr>
        <p:txBody>
          <a:bodyPr wrap="none" rtlCol="0">
            <a:spAutoFit/>
          </a:bodyPr>
          <a:lstStyle/>
          <a:p>
            <a:pPr algn="ctr"/>
            <a:r>
              <a:rPr lang="en-US" b="1" dirty="0">
                <a:ln>
                  <a:solidFill>
                    <a:schemeClr val="tx1">
                      <a:lumMod val="50000"/>
                      <a:lumOff val="50000"/>
                    </a:schemeClr>
                  </a:solidFill>
                </a:ln>
                <a:solidFill>
                  <a:schemeClr val="bg1"/>
                </a:solidFill>
                <a:latin typeface="Neue Haas Grotesk Text Pro Blac" panose="020B0504020202020204" pitchFamily="34" charset="0"/>
              </a:rPr>
              <a:t>HRIM</a:t>
            </a:r>
          </a:p>
          <a:p>
            <a:pPr algn="ctr"/>
            <a:r>
              <a:rPr lang="en-US" sz="1200" b="1" dirty="0">
                <a:ln>
                  <a:solidFill>
                    <a:schemeClr val="tx1">
                      <a:lumMod val="50000"/>
                      <a:lumOff val="50000"/>
                    </a:schemeClr>
                  </a:solidFill>
                </a:ln>
                <a:solidFill>
                  <a:schemeClr val="bg1"/>
                </a:solidFill>
              </a:rPr>
              <a:t>Mapping Set</a:t>
            </a:r>
            <a:endParaRPr lang="en-NL" sz="1200" b="1" dirty="0">
              <a:ln>
                <a:solidFill>
                  <a:schemeClr val="tx1">
                    <a:lumMod val="50000"/>
                    <a:lumOff val="50000"/>
                  </a:schemeClr>
                </a:solidFill>
              </a:ln>
              <a:solidFill>
                <a:schemeClr val="bg1"/>
              </a:solidFill>
            </a:endParaRPr>
          </a:p>
        </p:txBody>
      </p:sp>
      <p:sp>
        <p:nvSpPr>
          <p:cNvPr id="24" name="Rectangle 23">
            <a:extLst>
              <a:ext uri="{FF2B5EF4-FFF2-40B4-BE49-F238E27FC236}">
                <a16:creationId xmlns:a16="http://schemas.microsoft.com/office/drawing/2014/main" id="{E92E20EC-DCBE-241D-24E9-BE518C1EF6E3}"/>
              </a:ext>
            </a:extLst>
          </p:cNvPr>
          <p:cNvSpPr/>
          <p:nvPr/>
        </p:nvSpPr>
        <p:spPr>
          <a:xfrm>
            <a:off x="2114546" y="2449937"/>
            <a:ext cx="4298350" cy="2360188"/>
          </a:xfrm>
          <a:custGeom>
            <a:avLst/>
            <a:gdLst>
              <a:gd name="csX0" fmla="*/ 0 w 3981455"/>
              <a:gd name="csY0" fmla="*/ 0 h 2339153"/>
              <a:gd name="csX1" fmla="*/ 3981455 w 3981455"/>
              <a:gd name="csY1" fmla="*/ 0 h 2339153"/>
              <a:gd name="csX2" fmla="*/ 3981455 w 3981455"/>
              <a:gd name="csY2" fmla="*/ 2339153 h 2339153"/>
              <a:gd name="csX3" fmla="*/ 0 w 3981455"/>
              <a:gd name="csY3" fmla="*/ 2339153 h 2339153"/>
              <a:gd name="csX4" fmla="*/ 0 w 3981455"/>
              <a:gd name="csY4" fmla="*/ 0 h 2339153"/>
              <a:gd name="csX0" fmla="*/ 0 w 3981455"/>
              <a:gd name="csY0" fmla="*/ 0 h 2339153"/>
              <a:gd name="csX1" fmla="*/ 3981455 w 3981455"/>
              <a:gd name="csY1" fmla="*/ 0 h 2339153"/>
              <a:gd name="csX2" fmla="*/ 3479011 w 3981455"/>
              <a:gd name="csY2" fmla="*/ 2001015 h 2339153"/>
              <a:gd name="csX3" fmla="*/ 0 w 3981455"/>
              <a:gd name="csY3" fmla="*/ 2339153 h 2339153"/>
              <a:gd name="csX4" fmla="*/ 0 w 3981455"/>
              <a:gd name="csY4" fmla="*/ 0 h 2339153"/>
              <a:gd name="csX0" fmla="*/ 0 w 3981455"/>
              <a:gd name="csY0" fmla="*/ 0 h 2339153"/>
              <a:gd name="csX1" fmla="*/ 3981455 w 3981455"/>
              <a:gd name="csY1" fmla="*/ 0 h 2339153"/>
              <a:gd name="csX2" fmla="*/ 3479011 w 3981455"/>
              <a:gd name="csY2" fmla="*/ 2001015 h 2339153"/>
              <a:gd name="csX3" fmla="*/ 0 w 3981455"/>
              <a:gd name="csY3" fmla="*/ 2339153 h 2339153"/>
              <a:gd name="csX4" fmla="*/ 0 w 3981455"/>
              <a:gd name="csY4" fmla="*/ 0 h 2339153"/>
              <a:gd name="csX0" fmla="*/ 0 w 3981455"/>
              <a:gd name="csY0" fmla="*/ 0 h 2339153"/>
              <a:gd name="csX1" fmla="*/ 3981455 w 3981455"/>
              <a:gd name="csY1" fmla="*/ 0 h 2339153"/>
              <a:gd name="csX2" fmla="*/ 3479011 w 3981455"/>
              <a:gd name="csY2" fmla="*/ 2001015 h 2339153"/>
              <a:gd name="csX3" fmla="*/ 0 w 3981455"/>
              <a:gd name="csY3" fmla="*/ 2339153 h 2339153"/>
              <a:gd name="csX4" fmla="*/ 0 w 3981455"/>
              <a:gd name="csY4" fmla="*/ 0 h 2339153"/>
              <a:gd name="csX0" fmla="*/ 0 w 3981455"/>
              <a:gd name="csY0" fmla="*/ 0 h 2359367"/>
              <a:gd name="csX1" fmla="*/ 3981455 w 3981455"/>
              <a:gd name="csY1" fmla="*/ 0 h 2359367"/>
              <a:gd name="csX2" fmla="*/ 3479011 w 3981455"/>
              <a:gd name="csY2" fmla="*/ 2001015 h 2359367"/>
              <a:gd name="csX3" fmla="*/ 2783686 w 3981455"/>
              <a:gd name="csY3" fmla="*/ 2359367 h 2359367"/>
              <a:gd name="csX4" fmla="*/ 0 w 3981455"/>
              <a:gd name="csY4" fmla="*/ 2339153 h 2359367"/>
              <a:gd name="csX5" fmla="*/ 0 w 3981455"/>
              <a:gd name="csY5" fmla="*/ 0 h 2359367"/>
              <a:gd name="csX0" fmla="*/ 0 w 4274275"/>
              <a:gd name="csY0" fmla="*/ 0 h 2359367"/>
              <a:gd name="csX1" fmla="*/ 3981455 w 4274275"/>
              <a:gd name="csY1" fmla="*/ 0 h 2359367"/>
              <a:gd name="csX2" fmla="*/ 3926686 w 4274275"/>
              <a:gd name="csY2" fmla="*/ 1683092 h 2359367"/>
              <a:gd name="csX3" fmla="*/ 3479011 w 4274275"/>
              <a:gd name="csY3" fmla="*/ 2001015 h 2359367"/>
              <a:gd name="csX4" fmla="*/ 2783686 w 4274275"/>
              <a:gd name="csY4" fmla="*/ 2359367 h 2359367"/>
              <a:gd name="csX5" fmla="*/ 0 w 4274275"/>
              <a:gd name="csY5" fmla="*/ 2339153 h 2359367"/>
              <a:gd name="csX6" fmla="*/ 0 w 4274275"/>
              <a:gd name="csY6" fmla="*/ 0 h 2359367"/>
              <a:gd name="csX0" fmla="*/ 0 w 4298867"/>
              <a:gd name="csY0" fmla="*/ 0 h 2359367"/>
              <a:gd name="csX1" fmla="*/ 3981455 w 4298867"/>
              <a:gd name="csY1" fmla="*/ 0 h 2359367"/>
              <a:gd name="csX2" fmla="*/ 3976693 w 4298867"/>
              <a:gd name="csY2" fmla="*/ 504373 h 2359367"/>
              <a:gd name="csX3" fmla="*/ 3926686 w 4298867"/>
              <a:gd name="csY3" fmla="*/ 1683092 h 2359367"/>
              <a:gd name="csX4" fmla="*/ 3479011 w 4298867"/>
              <a:gd name="csY4" fmla="*/ 2001015 h 2359367"/>
              <a:gd name="csX5" fmla="*/ 2783686 w 4298867"/>
              <a:gd name="csY5" fmla="*/ 2359367 h 2359367"/>
              <a:gd name="csX6" fmla="*/ 0 w 4298867"/>
              <a:gd name="csY6" fmla="*/ 2339153 h 2359367"/>
              <a:gd name="csX7" fmla="*/ 0 w 4298867"/>
              <a:gd name="csY7" fmla="*/ 0 h 2359367"/>
              <a:gd name="csX0" fmla="*/ 0 w 4301430"/>
              <a:gd name="csY0" fmla="*/ 0 h 2359367"/>
              <a:gd name="csX1" fmla="*/ 3981455 w 4301430"/>
              <a:gd name="csY1" fmla="*/ 0 h 2359367"/>
              <a:gd name="csX2" fmla="*/ 3986218 w 4301430"/>
              <a:gd name="csY2" fmla="*/ 97180 h 2359367"/>
              <a:gd name="csX3" fmla="*/ 3976693 w 4301430"/>
              <a:gd name="csY3" fmla="*/ 504373 h 2359367"/>
              <a:gd name="csX4" fmla="*/ 3926686 w 4301430"/>
              <a:gd name="csY4" fmla="*/ 1683092 h 2359367"/>
              <a:gd name="csX5" fmla="*/ 3479011 w 4301430"/>
              <a:gd name="csY5" fmla="*/ 2001015 h 2359367"/>
              <a:gd name="csX6" fmla="*/ 2783686 w 4301430"/>
              <a:gd name="csY6" fmla="*/ 2359367 h 2359367"/>
              <a:gd name="csX7" fmla="*/ 0 w 4301430"/>
              <a:gd name="csY7" fmla="*/ 2339153 h 2359367"/>
              <a:gd name="csX8" fmla="*/ 0 w 4301430"/>
              <a:gd name="csY8" fmla="*/ 0 h 2359367"/>
              <a:gd name="csX0" fmla="*/ 0 w 4298350"/>
              <a:gd name="csY0" fmla="*/ 821 h 2360188"/>
              <a:gd name="csX1" fmla="*/ 3981455 w 4298350"/>
              <a:gd name="csY1" fmla="*/ 821 h 2360188"/>
              <a:gd name="csX2" fmla="*/ 3974310 w 4298350"/>
              <a:gd name="csY2" fmla="*/ 9894 h 2360188"/>
              <a:gd name="csX3" fmla="*/ 3986218 w 4298350"/>
              <a:gd name="csY3" fmla="*/ 98001 h 2360188"/>
              <a:gd name="csX4" fmla="*/ 3976693 w 4298350"/>
              <a:gd name="csY4" fmla="*/ 505194 h 2360188"/>
              <a:gd name="csX5" fmla="*/ 3926686 w 4298350"/>
              <a:gd name="csY5" fmla="*/ 1683913 h 2360188"/>
              <a:gd name="csX6" fmla="*/ 3479011 w 4298350"/>
              <a:gd name="csY6" fmla="*/ 2001836 h 2360188"/>
              <a:gd name="csX7" fmla="*/ 2783686 w 4298350"/>
              <a:gd name="csY7" fmla="*/ 2360188 h 2360188"/>
              <a:gd name="csX8" fmla="*/ 0 w 4298350"/>
              <a:gd name="csY8" fmla="*/ 2339974 h 2360188"/>
              <a:gd name="csX9" fmla="*/ 0 w 4298350"/>
              <a:gd name="csY9" fmla="*/ 821 h 23601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4298350" h="2360188">
                <a:moveTo>
                  <a:pt x="0" y="821"/>
                </a:moveTo>
                <a:lnTo>
                  <a:pt x="3981455" y="821"/>
                </a:lnTo>
                <a:cubicBezTo>
                  <a:pt x="4699006" y="2730"/>
                  <a:pt x="3973516" y="-6303"/>
                  <a:pt x="3974310" y="9894"/>
                </a:cubicBezTo>
                <a:cubicBezTo>
                  <a:pt x="3975104" y="26091"/>
                  <a:pt x="4040986" y="15848"/>
                  <a:pt x="3986218" y="98001"/>
                </a:cubicBezTo>
                <a:cubicBezTo>
                  <a:pt x="3931450" y="180154"/>
                  <a:pt x="4039002" y="242463"/>
                  <a:pt x="3976693" y="505194"/>
                </a:cubicBezTo>
                <a:cubicBezTo>
                  <a:pt x="3914384" y="767925"/>
                  <a:pt x="4059242" y="1438441"/>
                  <a:pt x="3926686" y="1683913"/>
                </a:cubicBezTo>
                <a:cubicBezTo>
                  <a:pt x="3794130" y="1929385"/>
                  <a:pt x="3663955" y="1883170"/>
                  <a:pt x="3479011" y="2001836"/>
                </a:cubicBezTo>
                <a:cubicBezTo>
                  <a:pt x="3241680" y="2023655"/>
                  <a:pt x="3021017" y="2338369"/>
                  <a:pt x="2783686" y="2360188"/>
                </a:cubicBezTo>
                <a:lnTo>
                  <a:pt x="0" y="2339974"/>
                </a:lnTo>
                <a:lnTo>
                  <a:pt x="0" y="821"/>
                </a:lnTo>
                <a:close/>
              </a:path>
            </a:pathLst>
          </a:custGeom>
          <a:solidFill>
            <a:srgbClr val="F2F2F2">
              <a:alpha val="9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dirty="0"/>
          </a:p>
        </p:txBody>
      </p:sp>
      <p:sp>
        <p:nvSpPr>
          <p:cNvPr id="3" name="Freeform: Shape 2">
            <a:extLst>
              <a:ext uri="{FF2B5EF4-FFF2-40B4-BE49-F238E27FC236}">
                <a16:creationId xmlns:a16="http://schemas.microsoft.com/office/drawing/2014/main" id="{AE727679-E9F4-9BD9-D281-BDFB0AA9FB50}"/>
              </a:ext>
            </a:extLst>
          </p:cNvPr>
          <p:cNvSpPr/>
          <p:nvPr/>
        </p:nvSpPr>
        <p:spPr>
          <a:xfrm>
            <a:off x="2347256" y="2384025"/>
            <a:ext cx="7568037" cy="3548277"/>
          </a:xfrm>
          <a:custGeom>
            <a:avLst/>
            <a:gdLst>
              <a:gd name="csX0" fmla="*/ 2791330 w 5967667"/>
              <a:gd name="csY0" fmla="*/ 57752 h 2598821"/>
              <a:gd name="csX1" fmla="*/ 221385 w 5967667"/>
              <a:gd name="csY1" fmla="*/ 67377 h 2598821"/>
              <a:gd name="csX2" fmla="*/ 19254 w 5967667"/>
              <a:gd name="csY2" fmla="*/ 86628 h 2598821"/>
              <a:gd name="csX3" fmla="*/ 19254 w 5967667"/>
              <a:gd name="csY3" fmla="*/ 500514 h 2598821"/>
              <a:gd name="csX4" fmla="*/ 57756 w 5967667"/>
              <a:gd name="csY4" fmla="*/ 606392 h 2598821"/>
              <a:gd name="csX5" fmla="*/ 67381 w 5967667"/>
              <a:gd name="csY5" fmla="*/ 693019 h 2598821"/>
              <a:gd name="csX6" fmla="*/ 77006 w 5967667"/>
              <a:gd name="csY6" fmla="*/ 981777 h 2598821"/>
              <a:gd name="csX7" fmla="*/ 105882 w 5967667"/>
              <a:gd name="csY7" fmla="*/ 1049154 h 2598821"/>
              <a:gd name="csX8" fmla="*/ 134758 w 5967667"/>
              <a:gd name="csY8" fmla="*/ 1126156 h 2598821"/>
              <a:gd name="csX9" fmla="*/ 231010 w 5967667"/>
              <a:gd name="csY9" fmla="*/ 1232034 h 2598821"/>
              <a:gd name="csX10" fmla="*/ 279137 w 5967667"/>
              <a:gd name="csY10" fmla="*/ 1251284 h 2598821"/>
              <a:gd name="csX11" fmla="*/ 914404 w 5967667"/>
              <a:gd name="csY11" fmla="*/ 1270535 h 2598821"/>
              <a:gd name="csX12" fmla="*/ 1164661 w 5967667"/>
              <a:gd name="csY12" fmla="*/ 1578543 h 2598821"/>
              <a:gd name="csX13" fmla="*/ 1212787 w 5967667"/>
              <a:gd name="csY13" fmla="*/ 1665171 h 2598821"/>
              <a:gd name="csX14" fmla="*/ 1280164 w 5967667"/>
              <a:gd name="csY14" fmla="*/ 1761423 h 2598821"/>
              <a:gd name="csX15" fmla="*/ 1337916 w 5967667"/>
              <a:gd name="csY15" fmla="*/ 1867301 h 2598821"/>
              <a:gd name="csX16" fmla="*/ 1607423 w 5967667"/>
              <a:gd name="csY16" fmla="*/ 2146434 h 2598821"/>
              <a:gd name="csX17" fmla="*/ 1896181 w 5967667"/>
              <a:gd name="csY17" fmla="*/ 2300438 h 2598821"/>
              <a:gd name="csX18" fmla="*/ 1992433 w 5967667"/>
              <a:gd name="csY18" fmla="*/ 2338939 h 2598821"/>
              <a:gd name="csX19" fmla="*/ 2252316 w 5967667"/>
              <a:gd name="csY19" fmla="*/ 2387066 h 2598821"/>
              <a:gd name="csX20" fmla="*/ 2839457 w 5967667"/>
              <a:gd name="csY20" fmla="*/ 2464068 h 2598821"/>
              <a:gd name="csX21" fmla="*/ 3157090 w 5967667"/>
              <a:gd name="csY21" fmla="*/ 2502569 h 2598821"/>
              <a:gd name="csX22" fmla="*/ 3696105 w 5967667"/>
              <a:gd name="csY22" fmla="*/ 2521819 h 2598821"/>
              <a:gd name="csX23" fmla="*/ 4081116 w 5967667"/>
              <a:gd name="csY23" fmla="*/ 2560320 h 2598821"/>
              <a:gd name="csX24" fmla="*/ 4475751 w 5967667"/>
              <a:gd name="csY24" fmla="*/ 2569946 h 2598821"/>
              <a:gd name="csX25" fmla="*/ 4957014 w 5967667"/>
              <a:gd name="csY25" fmla="*/ 2598821 h 2598821"/>
              <a:gd name="csX26" fmla="*/ 5852164 w 5967667"/>
              <a:gd name="csY26" fmla="*/ 2569946 h 2598821"/>
              <a:gd name="csX27" fmla="*/ 5929166 w 5967667"/>
              <a:gd name="csY27" fmla="*/ 2483318 h 2598821"/>
              <a:gd name="csX28" fmla="*/ 5948417 w 5967667"/>
              <a:gd name="csY28" fmla="*/ 2300438 h 2598821"/>
              <a:gd name="csX29" fmla="*/ 5967667 w 5967667"/>
              <a:gd name="csY29" fmla="*/ 2030931 h 2598821"/>
              <a:gd name="csX30" fmla="*/ 5938791 w 5967667"/>
              <a:gd name="csY30" fmla="*/ 1366788 h 2598821"/>
              <a:gd name="csX31" fmla="*/ 5881040 w 5967667"/>
              <a:gd name="csY31" fmla="*/ 1328287 h 2598821"/>
              <a:gd name="csX32" fmla="*/ 5784787 w 5967667"/>
              <a:gd name="csY32" fmla="*/ 1309036 h 2598821"/>
              <a:gd name="csX33" fmla="*/ 5582657 w 5967667"/>
              <a:gd name="csY33" fmla="*/ 1289786 h 2598821"/>
              <a:gd name="csX34" fmla="*/ 4764509 w 5967667"/>
              <a:gd name="csY34" fmla="*/ 1309036 h 2598821"/>
              <a:gd name="csX35" fmla="*/ 4600880 w 5967667"/>
              <a:gd name="csY35" fmla="*/ 1357162 h 2598821"/>
              <a:gd name="csX36" fmla="*/ 4514252 w 5967667"/>
              <a:gd name="csY36" fmla="*/ 1386038 h 2598821"/>
              <a:gd name="csX37" fmla="*/ 4379499 w 5967667"/>
              <a:gd name="csY37" fmla="*/ 1443790 h 2598821"/>
              <a:gd name="csX38" fmla="*/ 4292871 w 5967667"/>
              <a:gd name="csY38" fmla="*/ 1501541 h 2598821"/>
              <a:gd name="csX39" fmla="*/ 4196619 w 5967667"/>
              <a:gd name="csY39" fmla="*/ 1549668 h 2598821"/>
              <a:gd name="csX40" fmla="*/ 4042614 w 5967667"/>
              <a:gd name="csY40" fmla="*/ 1645920 h 2598821"/>
              <a:gd name="csX41" fmla="*/ 3994488 w 5967667"/>
              <a:gd name="csY41" fmla="*/ 1674796 h 2598821"/>
              <a:gd name="csX42" fmla="*/ 3946362 w 5967667"/>
              <a:gd name="csY42" fmla="*/ 1713297 h 2598821"/>
              <a:gd name="csX43" fmla="*/ 3888610 w 5967667"/>
              <a:gd name="csY43" fmla="*/ 1742173 h 2598821"/>
              <a:gd name="csX44" fmla="*/ 3840484 w 5967667"/>
              <a:gd name="csY44" fmla="*/ 1780674 h 2598821"/>
              <a:gd name="csX45" fmla="*/ 3763482 w 5967667"/>
              <a:gd name="csY45" fmla="*/ 1819175 h 2598821"/>
              <a:gd name="csX46" fmla="*/ 3657604 w 5967667"/>
              <a:gd name="csY46" fmla="*/ 1790299 h 2598821"/>
              <a:gd name="csX47" fmla="*/ 3619103 w 5967667"/>
              <a:gd name="csY47" fmla="*/ 1761423 h 2598821"/>
              <a:gd name="csX48" fmla="*/ 3561351 w 5967667"/>
              <a:gd name="csY48" fmla="*/ 1713297 h 2598821"/>
              <a:gd name="csX49" fmla="*/ 3522850 w 5967667"/>
              <a:gd name="csY49" fmla="*/ 1665171 h 2598821"/>
              <a:gd name="csX50" fmla="*/ 3493974 w 5967667"/>
              <a:gd name="csY50" fmla="*/ 1645920 h 2598821"/>
              <a:gd name="csX51" fmla="*/ 3426598 w 5967667"/>
              <a:gd name="csY51" fmla="*/ 1588169 h 2598821"/>
              <a:gd name="csX52" fmla="*/ 3397722 w 5967667"/>
              <a:gd name="csY52" fmla="*/ 1578543 h 2598821"/>
              <a:gd name="csX53" fmla="*/ 3320720 w 5967667"/>
              <a:gd name="csY53" fmla="*/ 1511167 h 2598821"/>
              <a:gd name="csX54" fmla="*/ 3253343 w 5967667"/>
              <a:gd name="csY54" fmla="*/ 1472666 h 2598821"/>
              <a:gd name="csX55" fmla="*/ 3205217 w 5967667"/>
              <a:gd name="csY55" fmla="*/ 1443790 h 2598821"/>
              <a:gd name="csX56" fmla="*/ 3137840 w 5967667"/>
              <a:gd name="csY56" fmla="*/ 1386038 h 2598821"/>
              <a:gd name="csX57" fmla="*/ 3080088 w 5967667"/>
              <a:gd name="csY57" fmla="*/ 1366788 h 2598821"/>
              <a:gd name="csX58" fmla="*/ 3031962 w 5967667"/>
              <a:gd name="csY58" fmla="*/ 1347537 h 2598821"/>
              <a:gd name="csX59" fmla="*/ 2954960 w 5967667"/>
              <a:gd name="csY59" fmla="*/ 1299411 h 2598821"/>
              <a:gd name="csX60" fmla="*/ 2897208 w 5967667"/>
              <a:gd name="csY60" fmla="*/ 1212783 h 2598821"/>
              <a:gd name="csX61" fmla="*/ 2926084 w 5967667"/>
              <a:gd name="csY61" fmla="*/ 577516 h 2598821"/>
              <a:gd name="csX62" fmla="*/ 2916459 w 5967667"/>
              <a:gd name="csY62" fmla="*/ 308009 h 2598821"/>
              <a:gd name="csX63" fmla="*/ 2897208 w 5967667"/>
              <a:gd name="csY63" fmla="*/ 192506 h 2598821"/>
              <a:gd name="csX64" fmla="*/ 2877958 w 5967667"/>
              <a:gd name="csY64" fmla="*/ 144379 h 2598821"/>
              <a:gd name="csX65" fmla="*/ 2820206 w 5967667"/>
              <a:gd name="csY65" fmla="*/ 77002 h 2598821"/>
              <a:gd name="csX66" fmla="*/ 2791330 w 5967667"/>
              <a:gd name="csY66" fmla="*/ 38501 h 2598821"/>
              <a:gd name="csX67" fmla="*/ 2733579 w 5967667"/>
              <a:gd name="csY67" fmla="*/ 0 h 2598821"/>
              <a:gd name="csX0" fmla="*/ 2791330 w 5967667"/>
              <a:gd name="csY0" fmla="*/ 57752 h 2598821"/>
              <a:gd name="csX1" fmla="*/ 221385 w 5967667"/>
              <a:gd name="csY1" fmla="*/ 67377 h 2598821"/>
              <a:gd name="csX2" fmla="*/ 19254 w 5967667"/>
              <a:gd name="csY2" fmla="*/ 86628 h 2598821"/>
              <a:gd name="csX3" fmla="*/ 19254 w 5967667"/>
              <a:gd name="csY3" fmla="*/ 500514 h 2598821"/>
              <a:gd name="csX4" fmla="*/ 57756 w 5967667"/>
              <a:gd name="csY4" fmla="*/ 606392 h 2598821"/>
              <a:gd name="csX5" fmla="*/ 67381 w 5967667"/>
              <a:gd name="csY5" fmla="*/ 693019 h 2598821"/>
              <a:gd name="csX6" fmla="*/ 77006 w 5967667"/>
              <a:gd name="csY6" fmla="*/ 981777 h 2598821"/>
              <a:gd name="csX7" fmla="*/ 105882 w 5967667"/>
              <a:gd name="csY7" fmla="*/ 1049154 h 2598821"/>
              <a:gd name="csX8" fmla="*/ 134758 w 5967667"/>
              <a:gd name="csY8" fmla="*/ 1126156 h 2598821"/>
              <a:gd name="csX9" fmla="*/ 231010 w 5967667"/>
              <a:gd name="csY9" fmla="*/ 1232034 h 2598821"/>
              <a:gd name="csX10" fmla="*/ 279137 w 5967667"/>
              <a:gd name="csY10" fmla="*/ 1251284 h 2598821"/>
              <a:gd name="csX11" fmla="*/ 914404 w 5967667"/>
              <a:gd name="csY11" fmla="*/ 1270535 h 2598821"/>
              <a:gd name="csX12" fmla="*/ 1164661 w 5967667"/>
              <a:gd name="csY12" fmla="*/ 1578543 h 2598821"/>
              <a:gd name="csX13" fmla="*/ 1212787 w 5967667"/>
              <a:gd name="csY13" fmla="*/ 1665171 h 2598821"/>
              <a:gd name="csX14" fmla="*/ 1280164 w 5967667"/>
              <a:gd name="csY14" fmla="*/ 1761423 h 2598821"/>
              <a:gd name="csX15" fmla="*/ 1337916 w 5967667"/>
              <a:gd name="csY15" fmla="*/ 1867301 h 2598821"/>
              <a:gd name="csX16" fmla="*/ 1607423 w 5967667"/>
              <a:gd name="csY16" fmla="*/ 2146434 h 2598821"/>
              <a:gd name="csX17" fmla="*/ 1896181 w 5967667"/>
              <a:gd name="csY17" fmla="*/ 2300438 h 2598821"/>
              <a:gd name="csX18" fmla="*/ 1992433 w 5967667"/>
              <a:gd name="csY18" fmla="*/ 2338939 h 2598821"/>
              <a:gd name="csX19" fmla="*/ 2252316 w 5967667"/>
              <a:gd name="csY19" fmla="*/ 2387066 h 2598821"/>
              <a:gd name="csX20" fmla="*/ 2839457 w 5967667"/>
              <a:gd name="csY20" fmla="*/ 2464068 h 2598821"/>
              <a:gd name="csX21" fmla="*/ 3157090 w 5967667"/>
              <a:gd name="csY21" fmla="*/ 2502569 h 2598821"/>
              <a:gd name="csX22" fmla="*/ 3696105 w 5967667"/>
              <a:gd name="csY22" fmla="*/ 2521819 h 2598821"/>
              <a:gd name="csX23" fmla="*/ 4081116 w 5967667"/>
              <a:gd name="csY23" fmla="*/ 2560320 h 2598821"/>
              <a:gd name="csX24" fmla="*/ 4475751 w 5967667"/>
              <a:gd name="csY24" fmla="*/ 2569946 h 2598821"/>
              <a:gd name="csX25" fmla="*/ 4957014 w 5967667"/>
              <a:gd name="csY25" fmla="*/ 2598821 h 2598821"/>
              <a:gd name="csX26" fmla="*/ 5852164 w 5967667"/>
              <a:gd name="csY26" fmla="*/ 2569946 h 2598821"/>
              <a:gd name="csX27" fmla="*/ 5929166 w 5967667"/>
              <a:gd name="csY27" fmla="*/ 2483318 h 2598821"/>
              <a:gd name="csX28" fmla="*/ 5948417 w 5967667"/>
              <a:gd name="csY28" fmla="*/ 2300438 h 2598821"/>
              <a:gd name="csX29" fmla="*/ 5967667 w 5967667"/>
              <a:gd name="csY29" fmla="*/ 2030931 h 2598821"/>
              <a:gd name="csX30" fmla="*/ 5938791 w 5967667"/>
              <a:gd name="csY30" fmla="*/ 1366788 h 2598821"/>
              <a:gd name="csX31" fmla="*/ 5881040 w 5967667"/>
              <a:gd name="csY31" fmla="*/ 1328287 h 2598821"/>
              <a:gd name="csX32" fmla="*/ 5784787 w 5967667"/>
              <a:gd name="csY32" fmla="*/ 1309036 h 2598821"/>
              <a:gd name="csX33" fmla="*/ 5582657 w 5967667"/>
              <a:gd name="csY33" fmla="*/ 1289786 h 2598821"/>
              <a:gd name="csX34" fmla="*/ 4764509 w 5967667"/>
              <a:gd name="csY34" fmla="*/ 1309036 h 2598821"/>
              <a:gd name="csX35" fmla="*/ 4600880 w 5967667"/>
              <a:gd name="csY35" fmla="*/ 1357162 h 2598821"/>
              <a:gd name="csX36" fmla="*/ 4514252 w 5967667"/>
              <a:gd name="csY36" fmla="*/ 1386038 h 2598821"/>
              <a:gd name="csX37" fmla="*/ 4379499 w 5967667"/>
              <a:gd name="csY37" fmla="*/ 1443790 h 2598821"/>
              <a:gd name="csX38" fmla="*/ 4292871 w 5967667"/>
              <a:gd name="csY38" fmla="*/ 1501541 h 2598821"/>
              <a:gd name="csX39" fmla="*/ 4196619 w 5967667"/>
              <a:gd name="csY39" fmla="*/ 1549668 h 2598821"/>
              <a:gd name="csX40" fmla="*/ 4042614 w 5967667"/>
              <a:gd name="csY40" fmla="*/ 1645920 h 2598821"/>
              <a:gd name="csX41" fmla="*/ 3994488 w 5967667"/>
              <a:gd name="csY41" fmla="*/ 1674796 h 2598821"/>
              <a:gd name="csX42" fmla="*/ 3946362 w 5967667"/>
              <a:gd name="csY42" fmla="*/ 1713297 h 2598821"/>
              <a:gd name="csX43" fmla="*/ 3888610 w 5967667"/>
              <a:gd name="csY43" fmla="*/ 1742173 h 2598821"/>
              <a:gd name="csX44" fmla="*/ 3840484 w 5967667"/>
              <a:gd name="csY44" fmla="*/ 1780674 h 2598821"/>
              <a:gd name="csX45" fmla="*/ 3763482 w 5967667"/>
              <a:gd name="csY45" fmla="*/ 1819175 h 2598821"/>
              <a:gd name="csX46" fmla="*/ 3657604 w 5967667"/>
              <a:gd name="csY46" fmla="*/ 1790299 h 2598821"/>
              <a:gd name="csX47" fmla="*/ 3638153 w 5967667"/>
              <a:gd name="csY47" fmla="*/ 1709036 h 2598821"/>
              <a:gd name="csX48" fmla="*/ 3561351 w 5967667"/>
              <a:gd name="csY48" fmla="*/ 1713297 h 2598821"/>
              <a:gd name="csX49" fmla="*/ 3522850 w 5967667"/>
              <a:gd name="csY49" fmla="*/ 1665171 h 2598821"/>
              <a:gd name="csX50" fmla="*/ 3493974 w 5967667"/>
              <a:gd name="csY50" fmla="*/ 1645920 h 2598821"/>
              <a:gd name="csX51" fmla="*/ 3426598 w 5967667"/>
              <a:gd name="csY51" fmla="*/ 1588169 h 2598821"/>
              <a:gd name="csX52" fmla="*/ 3397722 w 5967667"/>
              <a:gd name="csY52" fmla="*/ 1578543 h 2598821"/>
              <a:gd name="csX53" fmla="*/ 3320720 w 5967667"/>
              <a:gd name="csY53" fmla="*/ 1511167 h 2598821"/>
              <a:gd name="csX54" fmla="*/ 3253343 w 5967667"/>
              <a:gd name="csY54" fmla="*/ 1472666 h 2598821"/>
              <a:gd name="csX55" fmla="*/ 3205217 w 5967667"/>
              <a:gd name="csY55" fmla="*/ 1443790 h 2598821"/>
              <a:gd name="csX56" fmla="*/ 3137840 w 5967667"/>
              <a:gd name="csY56" fmla="*/ 1386038 h 2598821"/>
              <a:gd name="csX57" fmla="*/ 3080088 w 5967667"/>
              <a:gd name="csY57" fmla="*/ 1366788 h 2598821"/>
              <a:gd name="csX58" fmla="*/ 3031962 w 5967667"/>
              <a:gd name="csY58" fmla="*/ 1347537 h 2598821"/>
              <a:gd name="csX59" fmla="*/ 2954960 w 5967667"/>
              <a:gd name="csY59" fmla="*/ 1299411 h 2598821"/>
              <a:gd name="csX60" fmla="*/ 2897208 w 5967667"/>
              <a:gd name="csY60" fmla="*/ 1212783 h 2598821"/>
              <a:gd name="csX61" fmla="*/ 2926084 w 5967667"/>
              <a:gd name="csY61" fmla="*/ 577516 h 2598821"/>
              <a:gd name="csX62" fmla="*/ 2916459 w 5967667"/>
              <a:gd name="csY62" fmla="*/ 308009 h 2598821"/>
              <a:gd name="csX63" fmla="*/ 2897208 w 5967667"/>
              <a:gd name="csY63" fmla="*/ 192506 h 2598821"/>
              <a:gd name="csX64" fmla="*/ 2877958 w 5967667"/>
              <a:gd name="csY64" fmla="*/ 144379 h 2598821"/>
              <a:gd name="csX65" fmla="*/ 2820206 w 5967667"/>
              <a:gd name="csY65" fmla="*/ 77002 h 2598821"/>
              <a:gd name="csX66" fmla="*/ 2791330 w 5967667"/>
              <a:gd name="csY66" fmla="*/ 38501 h 2598821"/>
              <a:gd name="csX67" fmla="*/ 2733579 w 5967667"/>
              <a:gd name="csY67" fmla="*/ 0 h 2598821"/>
              <a:gd name="csX0" fmla="*/ 2791330 w 5967667"/>
              <a:gd name="csY0" fmla="*/ 57752 h 2598821"/>
              <a:gd name="csX1" fmla="*/ 221385 w 5967667"/>
              <a:gd name="csY1" fmla="*/ 67377 h 2598821"/>
              <a:gd name="csX2" fmla="*/ 19254 w 5967667"/>
              <a:gd name="csY2" fmla="*/ 86628 h 2598821"/>
              <a:gd name="csX3" fmla="*/ 19254 w 5967667"/>
              <a:gd name="csY3" fmla="*/ 500514 h 2598821"/>
              <a:gd name="csX4" fmla="*/ 57756 w 5967667"/>
              <a:gd name="csY4" fmla="*/ 606392 h 2598821"/>
              <a:gd name="csX5" fmla="*/ 67381 w 5967667"/>
              <a:gd name="csY5" fmla="*/ 693019 h 2598821"/>
              <a:gd name="csX6" fmla="*/ 77006 w 5967667"/>
              <a:gd name="csY6" fmla="*/ 981777 h 2598821"/>
              <a:gd name="csX7" fmla="*/ 105882 w 5967667"/>
              <a:gd name="csY7" fmla="*/ 1049154 h 2598821"/>
              <a:gd name="csX8" fmla="*/ 134758 w 5967667"/>
              <a:gd name="csY8" fmla="*/ 1126156 h 2598821"/>
              <a:gd name="csX9" fmla="*/ 231010 w 5967667"/>
              <a:gd name="csY9" fmla="*/ 1232034 h 2598821"/>
              <a:gd name="csX10" fmla="*/ 279137 w 5967667"/>
              <a:gd name="csY10" fmla="*/ 1251284 h 2598821"/>
              <a:gd name="csX11" fmla="*/ 914404 w 5967667"/>
              <a:gd name="csY11" fmla="*/ 1270535 h 2598821"/>
              <a:gd name="csX12" fmla="*/ 1164661 w 5967667"/>
              <a:gd name="csY12" fmla="*/ 1578543 h 2598821"/>
              <a:gd name="csX13" fmla="*/ 1212787 w 5967667"/>
              <a:gd name="csY13" fmla="*/ 1665171 h 2598821"/>
              <a:gd name="csX14" fmla="*/ 1280164 w 5967667"/>
              <a:gd name="csY14" fmla="*/ 1761423 h 2598821"/>
              <a:gd name="csX15" fmla="*/ 1337916 w 5967667"/>
              <a:gd name="csY15" fmla="*/ 1867301 h 2598821"/>
              <a:gd name="csX16" fmla="*/ 1607423 w 5967667"/>
              <a:gd name="csY16" fmla="*/ 2146434 h 2598821"/>
              <a:gd name="csX17" fmla="*/ 1896181 w 5967667"/>
              <a:gd name="csY17" fmla="*/ 2300438 h 2598821"/>
              <a:gd name="csX18" fmla="*/ 1992433 w 5967667"/>
              <a:gd name="csY18" fmla="*/ 2338939 h 2598821"/>
              <a:gd name="csX19" fmla="*/ 2252316 w 5967667"/>
              <a:gd name="csY19" fmla="*/ 2387066 h 2598821"/>
              <a:gd name="csX20" fmla="*/ 2839457 w 5967667"/>
              <a:gd name="csY20" fmla="*/ 2464068 h 2598821"/>
              <a:gd name="csX21" fmla="*/ 3157090 w 5967667"/>
              <a:gd name="csY21" fmla="*/ 2502569 h 2598821"/>
              <a:gd name="csX22" fmla="*/ 3696105 w 5967667"/>
              <a:gd name="csY22" fmla="*/ 2521819 h 2598821"/>
              <a:gd name="csX23" fmla="*/ 4081116 w 5967667"/>
              <a:gd name="csY23" fmla="*/ 2560320 h 2598821"/>
              <a:gd name="csX24" fmla="*/ 4475751 w 5967667"/>
              <a:gd name="csY24" fmla="*/ 2569946 h 2598821"/>
              <a:gd name="csX25" fmla="*/ 4957014 w 5967667"/>
              <a:gd name="csY25" fmla="*/ 2598821 h 2598821"/>
              <a:gd name="csX26" fmla="*/ 5852164 w 5967667"/>
              <a:gd name="csY26" fmla="*/ 2569946 h 2598821"/>
              <a:gd name="csX27" fmla="*/ 5929166 w 5967667"/>
              <a:gd name="csY27" fmla="*/ 2483318 h 2598821"/>
              <a:gd name="csX28" fmla="*/ 5948417 w 5967667"/>
              <a:gd name="csY28" fmla="*/ 2300438 h 2598821"/>
              <a:gd name="csX29" fmla="*/ 5967667 w 5967667"/>
              <a:gd name="csY29" fmla="*/ 2030931 h 2598821"/>
              <a:gd name="csX30" fmla="*/ 5938791 w 5967667"/>
              <a:gd name="csY30" fmla="*/ 1366788 h 2598821"/>
              <a:gd name="csX31" fmla="*/ 5881040 w 5967667"/>
              <a:gd name="csY31" fmla="*/ 1328287 h 2598821"/>
              <a:gd name="csX32" fmla="*/ 5784787 w 5967667"/>
              <a:gd name="csY32" fmla="*/ 1309036 h 2598821"/>
              <a:gd name="csX33" fmla="*/ 5582657 w 5967667"/>
              <a:gd name="csY33" fmla="*/ 1289786 h 2598821"/>
              <a:gd name="csX34" fmla="*/ 4764509 w 5967667"/>
              <a:gd name="csY34" fmla="*/ 1309036 h 2598821"/>
              <a:gd name="csX35" fmla="*/ 4600880 w 5967667"/>
              <a:gd name="csY35" fmla="*/ 1357162 h 2598821"/>
              <a:gd name="csX36" fmla="*/ 4514252 w 5967667"/>
              <a:gd name="csY36" fmla="*/ 1386038 h 2598821"/>
              <a:gd name="csX37" fmla="*/ 4379499 w 5967667"/>
              <a:gd name="csY37" fmla="*/ 1443790 h 2598821"/>
              <a:gd name="csX38" fmla="*/ 4292871 w 5967667"/>
              <a:gd name="csY38" fmla="*/ 1501541 h 2598821"/>
              <a:gd name="csX39" fmla="*/ 4196619 w 5967667"/>
              <a:gd name="csY39" fmla="*/ 1549668 h 2598821"/>
              <a:gd name="csX40" fmla="*/ 4042614 w 5967667"/>
              <a:gd name="csY40" fmla="*/ 1645920 h 2598821"/>
              <a:gd name="csX41" fmla="*/ 3994488 w 5967667"/>
              <a:gd name="csY41" fmla="*/ 1674796 h 2598821"/>
              <a:gd name="csX42" fmla="*/ 3946362 w 5967667"/>
              <a:gd name="csY42" fmla="*/ 1713297 h 2598821"/>
              <a:gd name="csX43" fmla="*/ 3888610 w 5967667"/>
              <a:gd name="csY43" fmla="*/ 1742173 h 2598821"/>
              <a:gd name="csX44" fmla="*/ 3840484 w 5967667"/>
              <a:gd name="csY44" fmla="*/ 1780674 h 2598821"/>
              <a:gd name="csX45" fmla="*/ 3763482 w 5967667"/>
              <a:gd name="csY45" fmla="*/ 1819175 h 2598821"/>
              <a:gd name="csX46" fmla="*/ 3702848 w 5967667"/>
              <a:gd name="csY46" fmla="*/ 1756962 h 2598821"/>
              <a:gd name="csX47" fmla="*/ 3638153 w 5967667"/>
              <a:gd name="csY47" fmla="*/ 1709036 h 2598821"/>
              <a:gd name="csX48" fmla="*/ 3561351 w 5967667"/>
              <a:gd name="csY48" fmla="*/ 1713297 h 2598821"/>
              <a:gd name="csX49" fmla="*/ 3522850 w 5967667"/>
              <a:gd name="csY49" fmla="*/ 1665171 h 2598821"/>
              <a:gd name="csX50" fmla="*/ 3493974 w 5967667"/>
              <a:gd name="csY50" fmla="*/ 1645920 h 2598821"/>
              <a:gd name="csX51" fmla="*/ 3426598 w 5967667"/>
              <a:gd name="csY51" fmla="*/ 1588169 h 2598821"/>
              <a:gd name="csX52" fmla="*/ 3397722 w 5967667"/>
              <a:gd name="csY52" fmla="*/ 1578543 h 2598821"/>
              <a:gd name="csX53" fmla="*/ 3320720 w 5967667"/>
              <a:gd name="csY53" fmla="*/ 1511167 h 2598821"/>
              <a:gd name="csX54" fmla="*/ 3253343 w 5967667"/>
              <a:gd name="csY54" fmla="*/ 1472666 h 2598821"/>
              <a:gd name="csX55" fmla="*/ 3205217 w 5967667"/>
              <a:gd name="csY55" fmla="*/ 1443790 h 2598821"/>
              <a:gd name="csX56" fmla="*/ 3137840 w 5967667"/>
              <a:gd name="csY56" fmla="*/ 1386038 h 2598821"/>
              <a:gd name="csX57" fmla="*/ 3080088 w 5967667"/>
              <a:gd name="csY57" fmla="*/ 1366788 h 2598821"/>
              <a:gd name="csX58" fmla="*/ 3031962 w 5967667"/>
              <a:gd name="csY58" fmla="*/ 1347537 h 2598821"/>
              <a:gd name="csX59" fmla="*/ 2954960 w 5967667"/>
              <a:gd name="csY59" fmla="*/ 1299411 h 2598821"/>
              <a:gd name="csX60" fmla="*/ 2897208 w 5967667"/>
              <a:gd name="csY60" fmla="*/ 1212783 h 2598821"/>
              <a:gd name="csX61" fmla="*/ 2926084 w 5967667"/>
              <a:gd name="csY61" fmla="*/ 577516 h 2598821"/>
              <a:gd name="csX62" fmla="*/ 2916459 w 5967667"/>
              <a:gd name="csY62" fmla="*/ 308009 h 2598821"/>
              <a:gd name="csX63" fmla="*/ 2897208 w 5967667"/>
              <a:gd name="csY63" fmla="*/ 192506 h 2598821"/>
              <a:gd name="csX64" fmla="*/ 2877958 w 5967667"/>
              <a:gd name="csY64" fmla="*/ 144379 h 2598821"/>
              <a:gd name="csX65" fmla="*/ 2820206 w 5967667"/>
              <a:gd name="csY65" fmla="*/ 77002 h 2598821"/>
              <a:gd name="csX66" fmla="*/ 2791330 w 5967667"/>
              <a:gd name="csY66" fmla="*/ 38501 h 2598821"/>
              <a:gd name="csX67" fmla="*/ 2733579 w 5967667"/>
              <a:gd name="csY67" fmla="*/ 0 h 2598821"/>
              <a:gd name="csX0" fmla="*/ 2791330 w 5967667"/>
              <a:gd name="csY0" fmla="*/ 57752 h 2598821"/>
              <a:gd name="csX1" fmla="*/ 221385 w 5967667"/>
              <a:gd name="csY1" fmla="*/ 67377 h 2598821"/>
              <a:gd name="csX2" fmla="*/ 19254 w 5967667"/>
              <a:gd name="csY2" fmla="*/ 86628 h 2598821"/>
              <a:gd name="csX3" fmla="*/ 19254 w 5967667"/>
              <a:gd name="csY3" fmla="*/ 500514 h 2598821"/>
              <a:gd name="csX4" fmla="*/ 57756 w 5967667"/>
              <a:gd name="csY4" fmla="*/ 606392 h 2598821"/>
              <a:gd name="csX5" fmla="*/ 67381 w 5967667"/>
              <a:gd name="csY5" fmla="*/ 693019 h 2598821"/>
              <a:gd name="csX6" fmla="*/ 77006 w 5967667"/>
              <a:gd name="csY6" fmla="*/ 981777 h 2598821"/>
              <a:gd name="csX7" fmla="*/ 105882 w 5967667"/>
              <a:gd name="csY7" fmla="*/ 1049154 h 2598821"/>
              <a:gd name="csX8" fmla="*/ 134758 w 5967667"/>
              <a:gd name="csY8" fmla="*/ 1126156 h 2598821"/>
              <a:gd name="csX9" fmla="*/ 231010 w 5967667"/>
              <a:gd name="csY9" fmla="*/ 1232034 h 2598821"/>
              <a:gd name="csX10" fmla="*/ 279137 w 5967667"/>
              <a:gd name="csY10" fmla="*/ 1251284 h 2598821"/>
              <a:gd name="csX11" fmla="*/ 914404 w 5967667"/>
              <a:gd name="csY11" fmla="*/ 1270535 h 2598821"/>
              <a:gd name="csX12" fmla="*/ 1164661 w 5967667"/>
              <a:gd name="csY12" fmla="*/ 1578543 h 2598821"/>
              <a:gd name="csX13" fmla="*/ 1212787 w 5967667"/>
              <a:gd name="csY13" fmla="*/ 1665171 h 2598821"/>
              <a:gd name="csX14" fmla="*/ 1280164 w 5967667"/>
              <a:gd name="csY14" fmla="*/ 1761423 h 2598821"/>
              <a:gd name="csX15" fmla="*/ 1337916 w 5967667"/>
              <a:gd name="csY15" fmla="*/ 1867301 h 2598821"/>
              <a:gd name="csX16" fmla="*/ 1607423 w 5967667"/>
              <a:gd name="csY16" fmla="*/ 2146434 h 2598821"/>
              <a:gd name="csX17" fmla="*/ 1896181 w 5967667"/>
              <a:gd name="csY17" fmla="*/ 2300438 h 2598821"/>
              <a:gd name="csX18" fmla="*/ 1992433 w 5967667"/>
              <a:gd name="csY18" fmla="*/ 2338939 h 2598821"/>
              <a:gd name="csX19" fmla="*/ 2252316 w 5967667"/>
              <a:gd name="csY19" fmla="*/ 2387066 h 2598821"/>
              <a:gd name="csX20" fmla="*/ 2839457 w 5967667"/>
              <a:gd name="csY20" fmla="*/ 2464068 h 2598821"/>
              <a:gd name="csX21" fmla="*/ 3157090 w 5967667"/>
              <a:gd name="csY21" fmla="*/ 2502569 h 2598821"/>
              <a:gd name="csX22" fmla="*/ 3696105 w 5967667"/>
              <a:gd name="csY22" fmla="*/ 2521819 h 2598821"/>
              <a:gd name="csX23" fmla="*/ 4081116 w 5967667"/>
              <a:gd name="csY23" fmla="*/ 2560320 h 2598821"/>
              <a:gd name="csX24" fmla="*/ 4475751 w 5967667"/>
              <a:gd name="csY24" fmla="*/ 2569946 h 2598821"/>
              <a:gd name="csX25" fmla="*/ 4957014 w 5967667"/>
              <a:gd name="csY25" fmla="*/ 2598821 h 2598821"/>
              <a:gd name="csX26" fmla="*/ 5852164 w 5967667"/>
              <a:gd name="csY26" fmla="*/ 2569946 h 2598821"/>
              <a:gd name="csX27" fmla="*/ 5929166 w 5967667"/>
              <a:gd name="csY27" fmla="*/ 2483318 h 2598821"/>
              <a:gd name="csX28" fmla="*/ 5948417 w 5967667"/>
              <a:gd name="csY28" fmla="*/ 2300438 h 2598821"/>
              <a:gd name="csX29" fmla="*/ 5967667 w 5967667"/>
              <a:gd name="csY29" fmla="*/ 2030931 h 2598821"/>
              <a:gd name="csX30" fmla="*/ 5938791 w 5967667"/>
              <a:gd name="csY30" fmla="*/ 1366788 h 2598821"/>
              <a:gd name="csX31" fmla="*/ 5881040 w 5967667"/>
              <a:gd name="csY31" fmla="*/ 1328287 h 2598821"/>
              <a:gd name="csX32" fmla="*/ 5784787 w 5967667"/>
              <a:gd name="csY32" fmla="*/ 1309036 h 2598821"/>
              <a:gd name="csX33" fmla="*/ 5582657 w 5967667"/>
              <a:gd name="csY33" fmla="*/ 1289786 h 2598821"/>
              <a:gd name="csX34" fmla="*/ 4764509 w 5967667"/>
              <a:gd name="csY34" fmla="*/ 1309036 h 2598821"/>
              <a:gd name="csX35" fmla="*/ 4600880 w 5967667"/>
              <a:gd name="csY35" fmla="*/ 1357162 h 2598821"/>
              <a:gd name="csX36" fmla="*/ 4514252 w 5967667"/>
              <a:gd name="csY36" fmla="*/ 1386038 h 2598821"/>
              <a:gd name="csX37" fmla="*/ 4379499 w 5967667"/>
              <a:gd name="csY37" fmla="*/ 1443790 h 2598821"/>
              <a:gd name="csX38" fmla="*/ 4292871 w 5967667"/>
              <a:gd name="csY38" fmla="*/ 1501541 h 2598821"/>
              <a:gd name="csX39" fmla="*/ 4196619 w 5967667"/>
              <a:gd name="csY39" fmla="*/ 1549668 h 2598821"/>
              <a:gd name="csX40" fmla="*/ 4042614 w 5967667"/>
              <a:gd name="csY40" fmla="*/ 1645920 h 2598821"/>
              <a:gd name="csX41" fmla="*/ 3994488 w 5967667"/>
              <a:gd name="csY41" fmla="*/ 1674796 h 2598821"/>
              <a:gd name="csX42" fmla="*/ 3946362 w 5967667"/>
              <a:gd name="csY42" fmla="*/ 1713297 h 2598821"/>
              <a:gd name="csX43" fmla="*/ 3888610 w 5967667"/>
              <a:gd name="csY43" fmla="*/ 1742173 h 2598821"/>
              <a:gd name="csX44" fmla="*/ 3840484 w 5967667"/>
              <a:gd name="csY44" fmla="*/ 1780674 h 2598821"/>
              <a:gd name="csX45" fmla="*/ 3763482 w 5967667"/>
              <a:gd name="csY45" fmla="*/ 1819175 h 2598821"/>
              <a:gd name="csX46" fmla="*/ 3702848 w 5967667"/>
              <a:gd name="csY46" fmla="*/ 1756962 h 2598821"/>
              <a:gd name="csX47" fmla="*/ 3638153 w 5967667"/>
              <a:gd name="csY47" fmla="*/ 1709036 h 2598821"/>
              <a:gd name="csX48" fmla="*/ 3578020 w 5967667"/>
              <a:gd name="csY48" fmla="*/ 1684722 h 2598821"/>
              <a:gd name="csX49" fmla="*/ 3522850 w 5967667"/>
              <a:gd name="csY49" fmla="*/ 1665171 h 2598821"/>
              <a:gd name="csX50" fmla="*/ 3493974 w 5967667"/>
              <a:gd name="csY50" fmla="*/ 1645920 h 2598821"/>
              <a:gd name="csX51" fmla="*/ 3426598 w 5967667"/>
              <a:gd name="csY51" fmla="*/ 1588169 h 2598821"/>
              <a:gd name="csX52" fmla="*/ 3397722 w 5967667"/>
              <a:gd name="csY52" fmla="*/ 1578543 h 2598821"/>
              <a:gd name="csX53" fmla="*/ 3320720 w 5967667"/>
              <a:gd name="csY53" fmla="*/ 1511167 h 2598821"/>
              <a:gd name="csX54" fmla="*/ 3253343 w 5967667"/>
              <a:gd name="csY54" fmla="*/ 1472666 h 2598821"/>
              <a:gd name="csX55" fmla="*/ 3205217 w 5967667"/>
              <a:gd name="csY55" fmla="*/ 1443790 h 2598821"/>
              <a:gd name="csX56" fmla="*/ 3137840 w 5967667"/>
              <a:gd name="csY56" fmla="*/ 1386038 h 2598821"/>
              <a:gd name="csX57" fmla="*/ 3080088 w 5967667"/>
              <a:gd name="csY57" fmla="*/ 1366788 h 2598821"/>
              <a:gd name="csX58" fmla="*/ 3031962 w 5967667"/>
              <a:gd name="csY58" fmla="*/ 1347537 h 2598821"/>
              <a:gd name="csX59" fmla="*/ 2954960 w 5967667"/>
              <a:gd name="csY59" fmla="*/ 1299411 h 2598821"/>
              <a:gd name="csX60" fmla="*/ 2897208 w 5967667"/>
              <a:gd name="csY60" fmla="*/ 1212783 h 2598821"/>
              <a:gd name="csX61" fmla="*/ 2926084 w 5967667"/>
              <a:gd name="csY61" fmla="*/ 577516 h 2598821"/>
              <a:gd name="csX62" fmla="*/ 2916459 w 5967667"/>
              <a:gd name="csY62" fmla="*/ 308009 h 2598821"/>
              <a:gd name="csX63" fmla="*/ 2897208 w 5967667"/>
              <a:gd name="csY63" fmla="*/ 192506 h 2598821"/>
              <a:gd name="csX64" fmla="*/ 2877958 w 5967667"/>
              <a:gd name="csY64" fmla="*/ 144379 h 2598821"/>
              <a:gd name="csX65" fmla="*/ 2820206 w 5967667"/>
              <a:gd name="csY65" fmla="*/ 77002 h 2598821"/>
              <a:gd name="csX66" fmla="*/ 2791330 w 5967667"/>
              <a:gd name="csY66" fmla="*/ 38501 h 2598821"/>
              <a:gd name="csX67" fmla="*/ 2733579 w 5967667"/>
              <a:gd name="csY67" fmla="*/ 0 h 2598821"/>
              <a:gd name="csX0" fmla="*/ 2791330 w 5967667"/>
              <a:gd name="csY0" fmla="*/ 57752 h 2598821"/>
              <a:gd name="csX1" fmla="*/ 221385 w 5967667"/>
              <a:gd name="csY1" fmla="*/ 67377 h 2598821"/>
              <a:gd name="csX2" fmla="*/ 19254 w 5967667"/>
              <a:gd name="csY2" fmla="*/ 86628 h 2598821"/>
              <a:gd name="csX3" fmla="*/ 19254 w 5967667"/>
              <a:gd name="csY3" fmla="*/ 500514 h 2598821"/>
              <a:gd name="csX4" fmla="*/ 57756 w 5967667"/>
              <a:gd name="csY4" fmla="*/ 606392 h 2598821"/>
              <a:gd name="csX5" fmla="*/ 67381 w 5967667"/>
              <a:gd name="csY5" fmla="*/ 693019 h 2598821"/>
              <a:gd name="csX6" fmla="*/ 77006 w 5967667"/>
              <a:gd name="csY6" fmla="*/ 981777 h 2598821"/>
              <a:gd name="csX7" fmla="*/ 105882 w 5967667"/>
              <a:gd name="csY7" fmla="*/ 1049154 h 2598821"/>
              <a:gd name="csX8" fmla="*/ 134758 w 5967667"/>
              <a:gd name="csY8" fmla="*/ 1126156 h 2598821"/>
              <a:gd name="csX9" fmla="*/ 231010 w 5967667"/>
              <a:gd name="csY9" fmla="*/ 1232034 h 2598821"/>
              <a:gd name="csX10" fmla="*/ 279137 w 5967667"/>
              <a:gd name="csY10" fmla="*/ 1251284 h 2598821"/>
              <a:gd name="csX11" fmla="*/ 914404 w 5967667"/>
              <a:gd name="csY11" fmla="*/ 1270535 h 2598821"/>
              <a:gd name="csX12" fmla="*/ 1164661 w 5967667"/>
              <a:gd name="csY12" fmla="*/ 1578543 h 2598821"/>
              <a:gd name="csX13" fmla="*/ 1212787 w 5967667"/>
              <a:gd name="csY13" fmla="*/ 1665171 h 2598821"/>
              <a:gd name="csX14" fmla="*/ 1280164 w 5967667"/>
              <a:gd name="csY14" fmla="*/ 1761423 h 2598821"/>
              <a:gd name="csX15" fmla="*/ 1337916 w 5967667"/>
              <a:gd name="csY15" fmla="*/ 1867301 h 2598821"/>
              <a:gd name="csX16" fmla="*/ 1607423 w 5967667"/>
              <a:gd name="csY16" fmla="*/ 2146434 h 2598821"/>
              <a:gd name="csX17" fmla="*/ 1896181 w 5967667"/>
              <a:gd name="csY17" fmla="*/ 2300438 h 2598821"/>
              <a:gd name="csX18" fmla="*/ 1992433 w 5967667"/>
              <a:gd name="csY18" fmla="*/ 2338939 h 2598821"/>
              <a:gd name="csX19" fmla="*/ 2252316 w 5967667"/>
              <a:gd name="csY19" fmla="*/ 2387066 h 2598821"/>
              <a:gd name="csX20" fmla="*/ 2839457 w 5967667"/>
              <a:gd name="csY20" fmla="*/ 2464068 h 2598821"/>
              <a:gd name="csX21" fmla="*/ 3157090 w 5967667"/>
              <a:gd name="csY21" fmla="*/ 2502569 h 2598821"/>
              <a:gd name="csX22" fmla="*/ 3696105 w 5967667"/>
              <a:gd name="csY22" fmla="*/ 2521819 h 2598821"/>
              <a:gd name="csX23" fmla="*/ 4081116 w 5967667"/>
              <a:gd name="csY23" fmla="*/ 2560320 h 2598821"/>
              <a:gd name="csX24" fmla="*/ 4475751 w 5967667"/>
              <a:gd name="csY24" fmla="*/ 2569946 h 2598821"/>
              <a:gd name="csX25" fmla="*/ 4957014 w 5967667"/>
              <a:gd name="csY25" fmla="*/ 2598821 h 2598821"/>
              <a:gd name="csX26" fmla="*/ 5852164 w 5967667"/>
              <a:gd name="csY26" fmla="*/ 2569946 h 2598821"/>
              <a:gd name="csX27" fmla="*/ 5929166 w 5967667"/>
              <a:gd name="csY27" fmla="*/ 2483318 h 2598821"/>
              <a:gd name="csX28" fmla="*/ 5948417 w 5967667"/>
              <a:gd name="csY28" fmla="*/ 2300438 h 2598821"/>
              <a:gd name="csX29" fmla="*/ 5967667 w 5967667"/>
              <a:gd name="csY29" fmla="*/ 2030931 h 2598821"/>
              <a:gd name="csX30" fmla="*/ 5938791 w 5967667"/>
              <a:gd name="csY30" fmla="*/ 1366788 h 2598821"/>
              <a:gd name="csX31" fmla="*/ 5881040 w 5967667"/>
              <a:gd name="csY31" fmla="*/ 1328287 h 2598821"/>
              <a:gd name="csX32" fmla="*/ 5784787 w 5967667"/>
              <a:gd name="csY32" fmla="*/ 1309036 h 2598821"/>
              <a:gd name="csX33" fmla="*/ 5582657 w 5967667"/>
              <a:gd name="csY33" fmla="*/ 1289786 h 2598821"/>
              <a:gd name="csX34" fmla="*/ 4764509 w 5967667"/>
              <a:gd name="csY34" fmla="*/ 1309036 h 2598821"/>
              <a:gd name="csX35" fmla="*/ 4600880 w 5967667"/>
              <a:gd name="csY35" fmla="*/ 1357162 h 2598821"/>
              <a:gd name="csX36" fmla="*/ 4514252 w 5967667"/>
              <a:gd name="csY36" fmla="*/ 1386038 h 2598821"/>
              <a:gd name="csX37" fmla="*/ 4379499 w 5967667"/>
              <a:gd name="csY37" fmla="*/ 1443790 h 2598821"/>
              <a:gd name="csX38" fmla="*/ 4292871 w 5967667"/>
              <a:gd name="csY38" fmla="*/ 1501541 h 2598821"/>
              <a:gd name="csX39" fmla="*/ 4196619 w 5967667"/>
              <a:gd name="csY39" fmla="*/ 1549668 h 2598821"/>
              <a:gd name="csX40" fmla="*/ 4042614 w 5967667"/>
              <a:gd name="csY40" fmla="*/ 1645920 h 2598821"/>
              <a:gd name="csX41" fmla="*/ 3994488 w 5967667"/>
              <a:gd name="csY41" fmla="*/ 1674796 h 2598821"/>
              <a:gd name="csX42" fmla="*/ 3946362 w 5967667"/>
              <a:gd name="csY42" fmla="*/ 1713297 h 2598821"/>
              <a:gd name="csX43" fmla="*/ 3888610 w 5967667"/>
              <a:gd name="csY43" fmla="*/ 1742173 h 2598821"/>
              <a:gd name="csX44" fmla="*/ 3840484 w 5967667"/>
              <a:gd name="csY44" fmla="*/ 1780674 h 2598821"/>
              <a:gd name="csX45" fmla="*/ 3763482 w 5967667"/>
              <a:gd name="csY45" fmla="*/ 1819175 h 2598821"/>
              <a:gd name="csX46" fmla="*/ 3702848 w 5967667"/>
              <a:gd name="csY46" fmla="*/ 1756962 h 2598821"/>
              <a:gd name="csX47" fmla="*/ 3638153 w 5967667"/>
              <a:gd name="csY47" fmla="*/ 1709036 h 2598821"/>
              <a:gd name="csX48" fmla="*/ 3578020 w 5967667"/>
              <a:gd name="csY48" fmla="*/ 1684722 h 2598821"/>
              <a:gd name="csX49" fmla="*/ 3522850 w 5967667"/>
              <a:gd name="csY49" fmla="*/ 1665171 h 2598821"/>
              <a:gd name="csX50" fmla="*/ 3493974 w 5967667"/>
              <a:gd name="csY50" fmla="*/ 1645920 h 2598821"/>
              <a:gd name="csX51" fmla="*/ 3426598 w 5967667"/>
              <a:gd name="csY51" fmla="*/ 1588169 h 2598821"/>
              <a:gd name="csX52" fmla="*/ 3397722 w 5967667"/>
              <a:gd name="csY52" fmla="*/ 1578543 h 2598821"/>
              <a:gd name="csX53" fmla="*/ 3320720 w 5967667"/>
              <a:gd name="csY53" fmla="*/ 1511167 h 2598821"/>
              <a:gd name="csX54" fmla="*/ 3253343 w 5967667"/>
              <a:gd name="csY54" fmla="*/ 1472666 h 2598821"/>
              <a:gd name="csX55" fmla="*/ 3205217 w 5967667"/>
              <a:gd name="csY55" fmla="*/ 1443790 h 2598821"/>
              <a:gd name="csX56" fmla="*/ 3135459 w 5967667"/>
              <a:gd name="csY56" fmla="*/ 1412232 h 2598821"/>
              <a:gd name="csX57" fmla="*/ 3080088 w 5967667"/>
              <a:gd name="csY57" fmla="*/ 1366788 h 2598821"/>
              <a:gd name="csX58" fmla="*/ 3031962 w 5967667"/>
              <a:gd name="csY58" fmla="*/ 1347537 h 2598821"/>
              <a:gd name="csX59" fmla="*/ 2954960 w 5967667"/>
              <a:gd name="csY59" fmla="*/ 1299411 h 2598821"/>
              <a:gd name="csX60" fmla="*/ 2897208 w 5967667"/>
              <a:gd name="csY60" fmla="*/ 1212783 h 2598821"/>
              <a:gd name="csX61" fmla="*/ 2926084 w 5967667"/>
              <a:gd name="csY61" fmla="*/ 577516 h 2598821"/>
              <a:gd name="csX62" fmla="*/ 2916459 w 5967667"/>
              <a:gd name="csY62" fmla="*/ 308009 h 2598821"/>
              <a:gd name="csX63" fmla="*/ 2897208 w 5967667"/>
              <a:gd name="csY63" fmla="*/ 192506 h 2598821"/>
              <a:gd name="csX64" fmla="*/ 2877958 w 5967667"/>
              <a:gd name="csY64" fmla="*/ 144379 h 2598821"/>
              <a:gd name="csX65" fmla="*/ 2820206 w 5967667"/>
              <a:gd name="csY65" fmla="*/ 77002 h 2598821"/>
              <a:gd name="csX66" fmla="*/ 2791330 w 5967667"/>
              <a:gd name="csY66" fmla="*/ 38501 h 2598821"/>
              <a:gd name="csX67" fmla="*/ 2733579 w 5967667"/>
              <a:gd name="csY67" fmla="*/ 0 h 2598821"/>
              <a:gd name="csX0" fmla="*/ 2776992 w 5953329"/>
              <a:gd name="csY0" fmla="*/ 57752 h 2598821"/>
              <a:gd name="csX1" fmla="*/ 207047 w 5953329"/>
              <a:gd name="csY1" fmla="*/ 67377 h 2598821"/>
              <a:gd name="csX2" fmla="*/ 162078 w 5953329"/>
              <a:gd name="csY2" fmla="*/ 131872 h 2598821"/>
              <a:gd name="csX3" fmla="*/ 4916 w 5953329"/>
              <a:gd name="csY3" fmla="*/ 500514 h 2598821"/>
              <a:gd name="csX4" fmla="*/ 43418 w 5953329"/>
              <a:gd name="csY4" fmla="*/ 606392 h 2598821"/>
              <a:gd name="csX5" fmla="*/ 53043 w 5953329"/>
              <a:gd name="csY5" fmla="*/ 693019 h 2598821"/>
              <a:gd name="csX6" fmla="*/ 62668 w 5953329"/>
              <a:gd name="csY6" fmla="*/ 981777 h 2598821"/>
              <a:gd name="csX7" fmla="*/ 91544 w 5953329"/>
              <a:gd name="csY7" fmla="*/ 1049154 h 2598821"/>
              <a:gd name="csX8" fmla="*/ 120420 w 5953329"/>
              <a:gd name="csY8" fmla="*/ 1126156 h 2598821"/>
              <a:gd name="csX9" fmla="*/ 216672 w 5953329"/>
              <a:gd name="csY9" fmla="*/ 1232034 h 2598821"/>
              <a:gd name="csX10" fmla="*/ 264799 w 5953329"/>
              <a:gd name="csY10" fmla="*/ 1251284 h 2598821"/>
              <a:gd name="csX11" fmla="*/ 900066 w 5953329"/>
              <a:gd name="csY11" fmla="*/ 1270535 h 2598821"/>
              <a:gd name="csX12" fmla="*/ 1150323 w 5953329"/>
              <a:gd name="csY12" fmla="*/ 1578543 h 2598821"/>
              <a:gd name="csX13" fmla="*/ 1198449 w 5953329"/>
              <a:gd name="csY13" fmla="*/ 1665171 h 2598821"/>
              <a:gd name="csX14" fmla="*/ 1265826 w 5953329"/>
              <a:gd name="csY14" fmla="*/ 1761423 h 2598821"/>
              <a:gd name="csX15" fmla="*/ 1323578 w 5953329"/>
              <a:gd name="csY15" fmla="*/ 1867301 h 2598821"/>
              <a:gd name="csX16" fmla="*/ 1593085 w 5953329"/>
              <a:gd name="csY16" fmla="*/ 2146434 h 2598821"/>
              <a:gd name="csX17" fmla="*/ 1881843 w 5953329"/>
              <a:gd name="csY17" fmla="*/ 2300438 h 2598821"/>
              <a:gd name="csX18" fmla="*/ 1978095 w 5953329"/>
              <a:gd name="csY18" fmla="*/ 2338939 h 2598821"/>
              <a:gd name="csX19" fmla="*/ 2237978 w 5953329"/>
              <a:gd name="csY19" fmla="*/ 2387066 h 2598821"/>
              <a:gd name="csX20" fmla="*/ 2825119 w 5953329"/>
              <a:gd name="csY20" fmla="*/ 2464068 h 2598821"/>
              <a:gd name="csX21" fmla="*/ 3142752 w 5953329"/>
              <a:gd name="csY21" fmla="*/ 2502569 h 2598821"/>
              <a:gd name="csX22" fmla="*/ 3681767 w 5953329"/>
              <a:gd name="csY22" fmla="*/ 2521819 h 2598821"/>
              <a:gd name="csX23" fmla="*/ 4066778 w 5953329"/>
              <a:gd name="csY23" fmla="*/ 2560320 h 2598821"/>
              <a:gd name="csX24" fmla="*/ 4461413 w 5953329"/>
              <a:gd name="csY24" fmla="*/ 2569946 h 2598821"/>
              <a:gd name="csX25" fmla="*/ 4942676 w 5953329"/>
              <a:gd name="csY25" fmla="*/ 2598821 h 2598821"/>
              <a:gd name="csX26" fmla="*/ 5837826 w 5953329"/>
              <a:gd name="csY26" fmla="*/ 2569946 h 2598821"/>
              <a:gd name="csX27" fmla="*/ 5914828 w 5953329"/>
              <a:gd name="csY27" fmla="*/ 2483318 h 2598821"/>
              <a:gd name="csX28" fmla="*/ 5934079 w 5953329"/>
              <a:gd name="csY28" fmla="*/ 2300438 h 2598821"/>
              <a:gd name="csX29" fmla="*/ 5953329 w 5953329"/>
              <a:gd name="csY29" fmla="*/ 2030931 h 2598821"/>
              <a:gd name="csX30" fmla="*/ 5924453 w 5953329"/>
              <a:gd name="csY30" fmla="*/ 1366788 h 2598821"/>
              <a:gd name="csX31" fmla="*/ 5866702 w 5953329"/>
              <a:gd name="csY31" fmla="*/ 1328287 h 2598821"/>
              <a:gd name="csX32" fmla="*/ 5770449 w 5953329"/>
              <a:gd name="csY32" fmla="*/ 1309036 h 2598821"/>
              <a:gd name="csX33" fmla="*/ 5568319 w 5953329"/>
              <a:gd name="csY33" fmla="*/ 1289786 h 2598821"/>
              <a:gd name="csX34" fmla="*/ 4750171 w 5953329"/>
              <a:gd name="csY34" fmla="*/ 1309036 h 2598821"/>
              <a:gd name="csX35" fmla="*/ 4586542 w 5953329"/>
              <a:gd name="csY35" fmla="*/ 1357162 h 2598821"/>
              <a:gd name="csX36" fmla="*/ 4499914 w 5953329"/>
              <a:gd name="csY36" fmla="*/ 1386038 h 2598821"/>
              <a:gd name="csX37" fmla="*/ 4365161 w 5953329"/>
              <a:gd name="csY37" fmla="*/ 1443790 h 2598821"/>
              <a:gd name="csX38" fmla="*/ 4278533 w 5953329"/>
              <a:gd name="csY38" fmla="*/ 1501541 h 2598821"/>
              <a:gd name="csX39" fmla="*/ 4182281 w 5953329"/>
              <a:gd name="csY39" fmla="*/ 1549668 h 2598821"/>
              <a:gd name="csX40" fmla="*/ 4028276 w 5953329"/>
              <a:gd name="csY40" fmla="*/ 1645920 h 2598821"/>
              <a:gd name="csX41" fmla="*/ 3980150 w 5953329"/>
              <a:gd name="csY41" fmla="*/ 1674796 h 2598821"/>
              <a:gd name="csX42" fmla="*/ 3932024 w 5953329"/>
              <a:gd name="csY42" fmla="*/ 1713297 h 2598821"/>
              <a:gd name="csX43" fmla="*/ 3874272 w 5953329"/>
              <a:gd name="csY43" fmla="*/ 1742173 h 2598821"/>
              <a:gd name="csX44" fmla="*/ 3826146 w 5953329"/>
              <a:gd name="csY44" fmla="*/ 1780674 h 2598821"/>
              <a:gd name="csX45" fmla="*/ 3749144 w 5953329"/>
              <a:gd name="csY45" fmla="*/ 1819175 h 2598821"/>
              <a:gd name="csX46" fmla="*/ 3688510 w 5953329"/>
              <a:gd name="csY46" fmla="*/ 1756962 h 2598821"/>
              <a:gd name="csX47" fmla="*/ 3623815 w 5953329"/>
              <a:gd name="csY47" fmla="*/ 1709036 h 2598821"/>
              <a:gd name="csX48" fmla="*/ 3563682 w 5953329"/>
              <a:gd name="csY48" fmla="*/ 1684722 h 2598821"/>
              <a:gd name="csX49" fmla="*/ 3508512 w 5953329"/>
              <a:gd name="csY49" fmla="*/ 1665171 h 2598821"/>
              <a:gd name="csX50" fmla="*/ 3479636 w 5953329"/>
              <a:gd name="csY50" fmla="*/ 1645920 h 2598821"/>
              <a:gd name="csX51" fmla="*/ 3412260 w 5953329"/>
              <a:gd name="csY51" fmla="*/ 1588169 h 2598821"/>
              <a:gd name="csX52" fmla="*/ 3383384 w 5953329"/>
              <a:gd name="csY52" fmla="*/ 1578543 h 2598821"/>
              <a:gd name="csX53" fmla="*/ 3306382 w 5953329"/>
              <a:gd name="csY53" fmla="*/ 1511167 h 2598821"/>
              <a:gd name="csX54" fmla="*/ 3239005 w 5953329"/>
              <a:gd name="csY54" fmla="*/ 1472666 h 2598821"/>
              <a:gd name="csX55" fmla="*/ 3190879 w 5953329"/>
              <a:gd name="csY55" fmla="*/ 1443790 h 2598821"/>
              <a:gd name="csX56" fmla="*/ 3121121 w 5953329"/>
              <a:gd name="csY56" fmla="*/ 1412232 h 2598821"/>
              <a:gd name="csX57" fmla="*/ 3065750 w 5953329"/>
              <a:gd name="csY57" fmla="*/ 1366788 h 2598821"/>
              <a:gd name="csX58" fmla="*/ 3017624 w 5953329"/>
              <a:gd name="csY58" fmla="*/ 1347537 h 2598821"/>
              <a:gd name="csX59" fmla="*/ 2940622 w 5953329"/>
              <a:gd name="csY59" fmla="*/ 1299411 h 2598821"/>
              <a:gd name="csX60" fmla="*/ 2882870 w 5953329"/>
              <a:gd name="csY60" fmla="*/ 1212783 h 2598821"/>
              <a:gd name="csX61" fmla="*/ 2911746 w 5953329"/>
              <a:gd name="csY61" fmla="*/ 577516 h 2598821"/>
              <a:gd name="csX62" fmla="*/ 2902121 w 5953329"/>
              <a:gd name="csY62" fmla="*/ 308009 h 2598821"/>
              <a:gd name="csX63" fmla="*/ 2882870 w 5953329"/>
              <a:gd name="csY63" fmla="*/ 192506 h 2598821"/>
              <a:gd name="csX64" fmla="*/ 2863620 w 5953329"/>
              <a:gd name="csY64" fmla="*/ 144379 h 2598821"/>
              <a:gd name="csX65" fmla="*/ 2805868 w 5953329"/>
              <a:gd name="csY65" fmla="*/ 77002 h 2598821"/>
              <a:gd name="csX66" fmla="*/ 2776992 w 5953329"/>
              <a:gd name="csY66" fmla="*/ 38501 h 2598821"/>
              <a:gd name="csX67" fmla="*/ 2719241 w 5953329"/>
              <a:gd name="csY67" fmla="*/ 0 h 2598821"/>
              <a:gd name="csX0" fmla="*/ 2734685 w 5911022"/>
              <a:gd name="csY0" fmla="*/ 57752 h 2598821"/>
              <a:gd name="csX1" fmla="*/ 164740 w 5911022"/>
              <a:gd name="csY1" fmla="*/ 67377 h 2598821"/>
              <a:gd name="csX2" fmla="*/ 119771 w 5911022"/>
              <a:gd name="csY2" fmla="*/ 131872 h 2598821"/>
              <a:gd name="csX3" fmla="*/ 110246 w 5911022"/>
              <a:gd name="csY3" fmla="*/ 543376 h 2598821"/>
              <a:gd name="csX4" fmla="*/ 1111 w 5911022"/>
              <a:gd name="csY4" fmla="*/ 606392 h 2598821"/>
              <a:gd name="csX5" fmla="*/ 10736 w 5911022"/>
              <a:gd name="csY5" fmla="*/ 693019 h 2598821"/>
              <a:gd name="csX6" fmla="*/ 20361 w 5911022"/>
              <a:gd name="csY6" fmla="*/ 981777 h 2598821"/>
              <a:gd name="csX7" fmla="*/ 49237 w 5911022"/>
              <a:gd name="csY7" fmla="*/ 1049154 h 2598821"/>
              <a:gd name="csX8" fmla="*/ 78113 w 5911022"/>
              <a:gd name="csY8" fmla="*/ 1126156 h 2598821"/>
              <a:gd name="csX9" fmla="*/ 174365 w 5911022"/>
              <a:gd name="csY9" fmla="*/ 1232034 h 2598821"/>
              <a:gd name="csX10" fmla="*/ 222492 w 5911022"/>
              <a:gd name="csY10" fmla="*/ 1251284 h 2598821"/>
              <a:gd name="csX11" fmla="*/ 857759 w 5911022"/>
              <a:gd name="csY11" fmla="*/ 1270535 h 2598821"/>
              <a:gd name="csX12" fmla="*/ 1108016 w 5911022"/>
              <a:gd name="csY12" fmla="*/ 1578543 h 2598821"/>
              <a:gd name="csX13" fmla="*/ 1156142 w 5911022"/>
              <a:gd name="csY13" fmla="*/ 1665171 h 2598821"/>
              <a:gd name="csX14" fmla="*/ 1223519 w 5911022"/>
              <a:gd name="csY14" fmla="*/ 1761423 h 2598821"/>
              <a:gd name="csX15" fmla="*/ 1281271 w 5911022"/>
              <a:gd name="csY15" fmla="*/ 1867301 h 2598821"/>
              <a:gd name="csX16" fmla="*/ 1550778 w 5911022"/>
              <a:gd name="csY16" fmla="*/ 2146434 h 2598821"/>
              <a:gd name="csX17" fmla="*/ 1839536 w 5911022"/>
              <a:gd name="csY17" fmla="*/ 2300438 h 2598821"/>
              <a:gd name="csX18" fmla="*/ 1935788 w 5911022"/>
              <a:gd name="csY18" fmla="*/ 2338939 h 2598821"/>
              <a:gd name="csX19" fmla="*/ 2195671 w 5911022"/>
              <a:gd name="csY19" fmla="*/ 2387066 h 2598821"/>
              <a:gd name="csX20" fmla="*/ 2782812 w 5911022"/>
              <a:gd name="csY20" fmla="*/ 2464068 h 2598821"/>
              <a:gd name="csX21" fmla="*/ 3100445 w 5911022"/>
              <a:gd name="csY21" fmla="*/ 2502569 h 2598821"/>
              <a:gd name="csX22" fmla="*/ 3639460 w 5911022"/>
              <a:gd name="csY22" fmla="*/ 2521819 h 2598821"/>
              <a:gd name="csX23" fmla="*/ 4024471 w 5911022"/>
              <a:gd name="csY23" fmla="*/ 2560320 h 2598821"/>
              <a:gd name="csX24" fmla="*/ 4419106 w 5911022"/>
              <a:gd name="csY24" fmla="*/ 2569946 h 2598821"/>
              <a:gd name="csX25" fmla="*/ 4900369 w 5911022"/>
              <a:gd name="csY25" fmla="*/ 2598821 h 2598821"/>
              <a:gd name="csX26" fmla="*/ 5795519 w 5911022"/>
              <a:gd name="csY26" fmla="*/ 2569946 h 2598821"/>
              <a:gd name="csX27" fmla="*/ 5872521 w 5911022"/>
              <a:gd name="csY27" fmla="*/ 2483318 h 2598821"/>
              <a:gd name="csX28" fmla="*/ 5891772 w 5911022"/>
              <a:gd name="csY28" fmla="*/ 2300438 h 2598821"/>
              <a:gd name="csX29" fmla="*/ 5911022 w 5911022"/>
              <a:gd name="csY29" fmla="*/ 2030931 h 2598821"/>
              <a:gd name="csX30" fmla="*/ 5882146 w 5911022"/>
              <a:gd name="csY30" fmla="*/ 1366788 h 2598821"/>
              <a:gd name="csX31" fmla="*/ 5824395 w 5911022"/>
              <a:gd name="csY31" fmla="*/ 1328287 h 2598821"/>
              <a:gd name="csX32" fmla="*/ 5728142 w 5911022"/>
              <a:gd name="csY32" fmla="*/ 1309036 h 2598821"/>
              <a:gd name="csX33" fmla="*/ 5526012 w 5911022"/>
              <a:gd name="csY33" fmla="*/ 1289786 h 2598821"/>
              <a:gd name="csX34" fmla="*/ 4707864 w 5911022"/>
              <a:gd name="csY34" fmla="*/ 1309036 h 2598821"/>
              <a:gd name="csX35" fmla="*/ 4544235 w 5911022"/>
              <a:gd name="csY35" fmla="*/ 1357162 h 2598821"/>
              <a:gd name="csX36" fmla="*/ 4457607 w 5911022"/>
              <a:gd name="csY36" fmla="*/ 1386038 h 2598821"/>
              <a:gd name="csX37" fmla="*/ 4322854 w 5911022"/>
              <a:gd name="csY37" fmla="*/ 1443790 h 2598821"/>
              <a:gd name="csX38" fmla="*/ 4236226 w 5911022"/>
              <a:gd name="csY38" fmla="*/ 1501541 h 2598821"/>
              <a:gd name="csX39" fmla="*/ 4139974 w 5911022"/>
              <a:gd name="csY39" fmla="*/ 1549668 h 2598821"/>
              <a:gd name="csX40" fmla="*/ 3985969 w 5911022"/>
              <a:gd name="csY40" fmla="*/ 1645920 h 2598821"/>
              <a:gd name="csX41" fmla="*/ 3937843 w 5911022"/>
              <a:gd name="csY41" fmla="*/ 1674796 h 2598821"/>
              <a:gd name="csX42" fmla="*/ 3889717 w 5911022"/>
              <a:gd name="csY42" fmla="*/ 1713297 h 2598821"/>
              <a:gd name="csX43" fmla="*/ 3831965 w 5911022"/>
              <a:gd name="csY43" fmla="*/ 1742173 h 2598821"/>
              <a:gd name="csX44" fmla="*/ 3783839 w 5911022"/>
              <a:gd name="csY44" fmla="*/ 1780674 h 2598821"/>
              <a:gd name="csX45" fmla="*/ 3706837 w 5911022"/>
              <a:gd name="csY45" fmla="*/ 1819175 h 2598821"/>
              <a:gd name="csX46" fmla="*/ 3646203 w 5911022"/>
              <a:gd name="csY46" fmla="*/ 1756962 h 2598821"/>
              <a:gd name="csX47" fmla="*/ 3581508 w 5911022"/>
              <a:gd name="csY47" fmla="*/ 1709036 h 2598821"/>
              <a:gd name="csX48" fmla="*/ 3521375 w 5911022"/>
              <a:gd name="csY48" fmla="*/ 1684722 h 2598821"/>
              <a:gd name="csX49" fmla="*/ 3466205 w 5911022"/>
              <a:gd name="csY49" fmla="*/ 1665171 h 2598821"/>
              <a:gd name="csX50" fmla="*/ 3437329 w 5911022"/>
              <a:gd name="csY50" fmla="*/ 1645920 h 2598821"/>
              <a:gd name="csX51" fmla="*/ 3369953 w 5911022"/>
              <a:gd name="csY51" fmla="*/ 1588169 h 2598821"/>
              <a:gd name="csX52" fmla="*/ 3341077 w 5911022"/>
              <a:gd name="csY52" fmla="*/ 1578543 h 2598821"/>
              <a:gd name="csX53" fmla="*/ 3264075 w 5911022"/>
              <a:gd name="csY53" fmla="*/ 1511167 h 2598821"/>
              <a:gd name="csX54" fmla="*/ 3196698 w 5911022"/>
              <a:gd name="csY54" fmla="*/ 1472666 h 2598821"/>
              <a:gd name="csX55" fmla="*/ 3148572 w 5911022"/>
              <a:gd name="csY55" fmla="*/ 1443790 h 2598821"/>
              <a:gd name="csX56" fmla="*/ 3078814 w 5911022"/>
              <a:gd name="csY56" fmla="*/ 1412232 h 2598821"/>
              <a:gd name="csX57" fmla="*/ 3023443 w 5911022"/>
              <a:gd name="csY57" fmla="*/ 1366788 h 2598821"/>
              <a:gd name="csX58" fmla="*/ 2975317 w 5911022"/>
              <a:gd name="csY58" fmla="*/ 1347537 h 2598821"/>
              <a:gd name="csX59" fmla="*/ 2898315 w 5911022"/>
              <a:gd name="csY59" fmla="*/ 1299411 h 2598821"/>
              <a:gd name="csX60" fmla="*/ 2840563 w 5911022"/>
              <a:gd name="csY60" fmla="*/ 1212783 h 2598821"/>
              <a:gd name="csX61" fmla="*/ 2869439 w 5911022"/>
              <a:gd name="csY61" fmla="*/ 577516 h 2598821"/>
              <a:gd name="csX62" fmla="*/ 2859814 w 5911022"/>
              <a:gd name="csY62" fmla="*/ 308009 h 2598821"/>
              <a:gd name="csX63" fmla="*/ 2840563 w 5911022"/>
              <a:gd name="csY63" fmla="*/ 192506 h 2598821"/>
              <a:gd name="csX64" fmla="*/ 2821313 w 5911022"/>
              <a:gd name="csY64" fmla="*/ 144379 h 2598821"/>
              <a:gd name="csX65" fmla="*/ 2763561 w 5911022"/>
              <a:gd name="csY65" fmla="*/ 77002 h 2598821"/>
              <a:gd name="csX66" fmla="*/ 2734685 w 5911022"/>
              <a:gd name="csY66" fmla="*/ 38501 h 2598821"/>
              <a:gd name="csX67" fmla="*/ 2676934 w 5911022"/>
              <a:gd name="csY67" fmla="*/ 0 h 2598821"/>
              <a:gd name="csX0" fmla="*/ 2731877 w 5908214"/>
              <a:gd name="csY0" fmla="*/ 57752 h 2598821"/>
              <a:gd name="csX1" fmla="*/ 161932 w 5908214"/>
              <a:gd name="csY1" fmla="*/ 67377 h 2598821"/>
              <a:gd name="csX2" fmla="*/ 116963 w 5908214"/>
              <a:gd name="csY2" fmla="*/ 131872 h 2598821"/>
              <a:gd name="csX3" fmla="*/ 107438 w 5908214"/>
              <a:gd name="csY3" fmla="*/ 543376 h 2598821"/>
              <a:gd name="csX4" fmla="*/ 126890 w 5908214"/>
              <a:gd name="csY4" fmla="*/ 1101692 h 2598821"/>
              <a:gd name="csX5" fmla="*/ 7928 w 5908214"/>
              <a:gd name="csY5" fmla="*/ 693019 h 2598821"/>
              <a:gd name="csX6" fmla="*/ 17553 w 5908214"/>
              <a:gd name="csY6" fmla="*/ 981777 h 2598821"/>
              <a:gd name="csX7" fmla="*/ 46429 w 5908214"/>
              <a:gd name="csY7" fmla="*/ 1049154 h 2598821"/>
              <a:gd name="csX8" fmla="*/ 75305 w 5908214"/>
              <a:gd name="csY8" fmla="*/ 1126156 h 2598821"/>
              <a:gd name="csX9" fmla="*/ 171557 w 5908214"/>
              <a:gd name="csY9" fmla="*/ 1232034 h 2598821"/>
              <a:gd name="csX10" fmla="*/ 219684 w 5908214"/>
              <a:gd name="csY10" fmla="*/ 1251284 h 2598821"/>
              <a:gd name="csX11" fmla="*/ 854951 w 5908214"/>
              <a:gd name="csY11" fmla="*/ 1270535 h 2598821"/>
              <a:gd name="csX12" fmla="*/ 1105208 w 5908214"/>
              <a:gd name="csY12" fmla="*/ 1578543 h 2598821"/>
              <a:gd name="csX13" fmla="*/ 1153334 w 5908214"/>
              <a:gd name="csY13" fmla="*/ 1665171 h 2598821"/>
              <a:gd name="csX14" fmla="*/ 1220711 w 5908214"/>
              <a:gd name="csY14" fmla="*/ 1761423 h 2598821"/>
              <a:gd name="csX15" fmla="*/ 1278463 w 5908214"/>
              <a:gd name="csY15" fmla="*/ 1867301 h 2598821"/>
              <a:gd name="csX16" fmla="*/ 1547970 w 5908214"/>
              <a:gd name="csY16" fmla="*/ 2146434 h 2598821"/>
              <a:gd name="csX17" fmla="*/ 1836728 w 5908214"/>
              <a:gd name="csY17" fmla="*/ 2300438 h 2598821"/>
              <a:gd name="csX18" fmla="*/ 1932980 w 5908214"/>
              <a:gd name="csY18" fmla="*/ 2338939 h 2598821"/>
              <a:gd name="csX19" fmla="*/ 2192863 w 5908214"/>
              <a:gd name="csY19" fmla="*/ 2387066 h 2598821"/>
              <a:gd name="csX20" fmla="*/ 2780004 w 5908214"/>
              <a:gd name="csY20" fmla="*/ 2464068 h 2598821"/>
              <a:gd name="csX21" fmla="*/ 3097637 w 5908214"/>
              <a:gd name="csY21" fmla="*/ 2502569 h 2598821"/>
              <a:gd name="csX22" fmla="*/ 3636652 w 5908214"/>
              <a:gd name="csY22" fmla="*/ 2521819 h 2598821"/>
              <a:gd name="csX23" fmla="*/ 4021663 w 5908214"/>
              <a:gd name="csY23" fmla="*/ 2560320 h 2598821"/>
              <a:gd name="csX24" fmla="*/ 4416298 w 5908214"/>
              <a:gd name="csY24" fmla="*/ 2569946 h 2598821"/>
              <a:gd name="csX25" fmla="*/ 4897561 w 5908214"/>
              <a:gd name="csY25" fmla="*/ 2598821 h 2598821"/>
              <a:gd name="csX26" fmla="*/ 5792711 w 5908214"/>
              <a:gd name="csY26" fmla="*/ 2569946 h 2598821"/>
              <a:gd name="csX27" fmla="*/ 5869713 w 5908214"/>
              <a:gd name="csY27" fmla="*/ 2483318 h 2598821"/>
              <a:gd name="csX28" fmla="*/ 5888964 w 5908214"/>
              <a:gd name="csY28" fmla="*/ 2300438 h 2598821"/>
              <a:gd name="csX29" fmla="*/ 5908214 w 5908214"/>
              <a:gd name="csY29" fmla="*/ 2030931 h 2598821"/>
              <a:gd name="csX30" fmla="*/ 5879338 w 5908214"/>
              <a:gd name="csY30" fmla="*/ 1366788 h 2598821"/>
              <a:gd name="csX31" fmla="*/ 5821587 w 5908214"/>
              <a:gd name="csY31" fmla="*/ 1328287 h 2598821"/>
              <a:gd name="csX32" fmla="*/ 5725334 w 5908214"/>
              <a:gd name="csY32" fmla="*/ 1309036 h 2598821"/>
              <a:gd name="csX33" fmla="*/ 5523204 w 5908214"/>
              <a:gd name="csY33" fmla="*/ 1289786 h 2598821"/>
              <a:gd name="csX34" fmla="*/ 4705056 w 5908214"/>
              <a:gd name="csY34" fmla="*/ 1309036 h 2598821"/>
              <a:gd name="csX35" fmla="*/ 4541427 w 5908214"/>
              <a:gd name="csY35" fmla="*/ 1357162 h 2598821"/>
              <a:gd name="csX36" fmla="*/ 4454799 w 5908214"/>
              <a:gd name="csY36" fmla="*/ 1386038 h 2598821"/>
              <a:gd name="csX37" fmla="*/ 4320046 w 5908214"/>
              <a:gd name="csY37" fmla="*/ 1443790 h 2598821"/>
              <a:gd name="csX38" fmla="*/ 4233418 w 5908214"/>
              <a:gd name="csY38" fmla="*/ 1501541 h 2598821"/>
              <a:gd name="csX39" fmla="*/ 4137166 w 5908214"/>
              <a:gd name="csY39" fmla="*/ 1549668 h 2598821"/>
              <a:gd name="csX40" fmla="*/ 3983161 w 5908214"/>
              <a:gd name="csY40" fmla="*/ 1645920 h 2598821"/>
              <a:gd name="csX41" fmla="*/ 3935035 w 5908214"/>
              <a:gd name="csY41" fmla="*/ 1674796 h 2598821"/>
              <a:gd name="csX42" fmla="*/ 3886909 w 5908214"/>
              <a:gd name="csY42" fmla="*/ 1713297 h 2598821"/>
              <a:gd name="csX43" fmla="*/ 3829157 w 5908214"/>
              <a:gd name="csY43" fmla="*/ 1742173 h 2598821"/>
              <a:gd name="csX44" fmla="*/ 3781031 w 5908214"/>
              <a:gd name="csY44" fmla="*/ 1780674 h 2598821"/>
              <a:gd name="csX45" fmla="*/ 3704029 w 5908214"/>
              <a:gd name="csY45" fmla="*/ 1819175 h 2598821"/>
              <a:gd name="csX46" fmla="*/ 3643395 w 5908214"/>
              <a:gd name="csY46" fmla="*/ 1756962 h 2598821"/>
              <a:gd name="csX47" fmla="*/ 3578700 w 5908214"/>
              <a:gd name="csY47" fmla="*/ 1709036 h 2598821"/>
              <a:gd name="csX48" fmla="*/ 3518567 w 5908214"/>
              <a:gd name="csY48" fmla="*/ 1684722 h 2598821"/>
              <a:gd name="csX49" fmla="*/ 3463397 w 5908214"/>
              <a:gd name="csY49" fmla="*/ 1665171 h 2598821"/>
              <a:gd name="csX50" fmla="*/ 3434521 w 5908214"/>
              <a:gd name="csY50" fmla="*/ 1645920 h 2598821"/>
              <a:gd name="csX51" fmla="*/ 3367145 w 5908214"/>
              <a:gd name="csY51" fmla="*/ 1588169 h 2598821"/>
              <a:gd name="csX52" fmla="*/ 3338269 w 5908214"/>
              <a:gd name="csY52" fmla="*/ 1578543 h 2598821"/>
              <a:gd name="csX53" fmla="*/ 3261267 w 5908214"/>
              <a:gd name="csY53" fmla="*/ 1511167 h 2598821"/>
              <a:gd name="csX54" fmla="*/ 3193890 w 5908214"/>
              <a:gd name="csY54" fmla="*/ 1472666 h 2598821"/>
              <a:gd name="csX55" fmla="*/ 3145764 w 5908214"/>
              <a:gd name="csY55" fmla="*/ 1443790 h 2598821"/>
              <a:gd name="csX56" fmla="*/ 3076006 w 5908214"/>
              <a:gd name="csY56" fmla="*/ 1412232 h 2598821"/>
              <a:gd name="csX57" fmla="*/ 3020635 w 5908214"/>
              <a:gd name="csY57" fmla="*/ 1366788 h 2598821"/>
              <a:gd name="csX58" fmla="*/ 2972509 w 5908214"/>
              <a:gd name="csY58" fmla="*/ 1347537 h 2598821"/>
              <a:gd name="csX59" fmla="*/ 2895507 w 5908214"/>
              <a:gd name="csY59" fmla="*/ 1299411 h 2598821"/>
              <a:gd name="csX60" fmla="*/ 2837755 w 5908214"/>
              <a:gd name="csY60" fmla="*/ 1212783 h 2598821"/>
              <a:gd name="csX61" fmla="*/ 2866631 w 5908214"/>
              <a:gd name="csY61" fmla="*/ 577516 h 2598821"/>
              <a:gd name="csX62" fmla="*/ 2857006 w 5908214"/>
              <a:gd name="csY62" fmla="*/ 308009 h 2598821"/>
              <a:gd name="csX63" fmla="*/ 2837755 w 5908214"/>
              <a:gd name="csY63" fmla="*/ 192506 h 2598821"/>
              <a:gd name="csX64" fmla="*/ 2818505 w 5908214"/>
              <a:gd name="csY64" fmla="*/ 144379 h 2598821"/>
              <a:gd name="csX65" fmla="*/ 2760753 w 5908214"/>
              <a:gd name="csY65" fmla="*/ 77002 h 2598821"/>
              <a:gd name="csX66" fmla="*/ 2731877 w 5908214"/>
              <a:gd name="csY66" fmla="*/ 38501 h 2598821"/>
              <a:gd name="csX67" fmla="*/ 2674126 w 5908214"/>
              <a:gd name="csY67" fmla="*/ 0 h 2598821"/>
              <a:gd name="csX0" fmla="*/ 2719192 w 5895529"/>
              <a:gd name="csY0" fmla="*/ 57752 h 2598821"/>
              <a:gd name="csX1" fmla="*/ 149247 w 5895529"/>
              <a:gd name="csY1" fmla="*/ 67377 h 2598821"/>
              <a:gd name="csX2" fmla="*/ 104278 w 5895529"/>
              <a:gd name="csY2" fmla="*/ 131872 h 2598821"/>
              <a:gd name="csX3" fmla="*/ 94753 w 5895529"/>
              <a:gd name="csY3" fmla="*/ 543376 h 2598821"/>
              <a:gd name="csX4" fmla="*/ 114205 w 5895529"/>
              <a:gd name="csY4" fmla="*/ 1101692 h 2598821"/>
              <a:gd name="csX5" fmla="*/ 142881 w 5895529"/>
              <a:gd name="csY5" fmla="*/ 1214512 h 2598821"/>
              <a:gd name="csX6" fmla="*/ 4868 w 5895529"/>
              <a:gd name="csY6" fmla="*/ 981777 h 2598821"/>
              <a:gd name="csX7" fmla="*/ 33744 w 5895529"/>
              <a:gd name="csY7" fmla="*/ 1049154 h 2598821"/>
              <a:gd name="csX8" fmla="*/ 62620 w 5895529"/>
              <a:gd name="csY8" fmla="*/ 1126156 h 2598821"/>
              <a:gd name="csX9" fmla="*/ 158872 w 5895529"/>
              <a:gd name="csY9" fmla="*/ 1232034 h 2598821"/>
              <a:gd name="csX10" fmla="*/ 206999 w 5895529"/>
              <a:gd name="csY10" fmla="*/ 1251284 h 2598821"/>
              <a:gd name="csX11" fmla="*/ 842266 w 5895529"/>
              <a:gd name="csY11" fmla="*/ 1270535 h 2598821"/>
              <a:gd name="csX12" fmla="*/ 1092523 w 5895529"/>
              <a:gd name="csY12" fmla="*/ 1578543 h 2598821"/>
              <a:gd name="csX13" fmla="*/ 1140649 w 5895529"/>
              <a:gd name="csY13" fmla="*/ 1665171 h 2598821"/>
              <a:gd name="csX14" fmla="*/ 1208026 w 5895529"/>
              <a:gd name="csY14" fmla="*/ 1761423 h 2598821"/>
              <a:gd name="csX15" fmla="*/ 1265778 w 5895529"/>
              <a:gd name="csY15" fmla="*/ 1867301 h 2598821"/>
              <a:gd name="csX16" fmla="*/ 1535285 w 5895529"/>
              <a:gd name="csY16" fmla="*/ 2146434 h 2598821"/>
              <a:gd name="csX17" fmla="*/ 1824043 w 5895529"/>
              <a:gd name="csY17" fmla="*/ 2300438 h 2598821"/>
              <a:gd name="csX18" fmla="*/ 1920295 w 5895529"/>
              <a:gd name="csY18" fmla="*/ 2338939 h 2598821"/>
              <a:gd name="csX19" fmla="*/ 2180178 w 5895529"/>
              <a:gd name="csY19" fmla="*/ 2387066 h 2598821"/>
              <a:gd name="csX20" fmla="*/ 2767319 w 5895529"/>
              <a:gd name="csY20" fmla="*/ 2464068 h 2598821"/>
              <a:gd name="csX21" fmla="*/ 3084952 w 5895529"/>
              <a:gd name="csY21" fmla="*/ 2502569 h 2598821"/>
              <a:gd name="csX22" fmla="*/ 3623967 w 5895529"/>
              <a:gd name="csY22" fmla="*/ 2521819 h 2598821"/>
              <a:gd name="csX23" fmla="*/ 4008978 w 5895529"/>
              <a:gd name="csY23" fmla="*/ 2560320 h 2598821"/>
              <a:gd name="csX24" fmla="*/ 4403613 w 5895529"/>
              <a:gd name="csY24" fmla="*/ 2569946 h 2598821"/>
              <a:gd name="csX25" fmla="*/ 4884876 w 5895529"/>
              <a:gd name="csY25" fmla="*/ 2598821 h 2598821"/>
              <a:gd name="csX26" fmla="*/ 5780026 w 5895529"/>
              <a:gd name="csY26" fmla="*/ 2569946 h 2598821"/>
              <a:gd name="csX27" fmla="*/ 5857028 w 5895529"/>
              <a:gd name="csY27" fmla="*/ 2483318 h 2598821"/>
              <a:gd name="csX28" fmla="*/ 5876279 w 5895529"/>
              <a:gd name="csY28" fmla="*/ 2300438 h 2598821"/>
              <a:gd name="csX29" fmla="*/ 5895529 w 5895529"/>
              <a:gd name="csY29" fmla="*/ 2030931 h 2598821"/>
              <a:gd name="csX30" fmla="*/ 5866653 w 5895529"/>
              <a:gd name="csY30" fmla="*/ 1366788 h 2598821"/>
              <a:gd name="csX31" fmla="*/ 5808902 w 5895529"/>
              <a:gd name="csY31" fmla="*/ 1328287 h 2598821"/>
              <a:gd name="csX32" fmla="*/ 5712649 w 5895529"/>
              <a:gd name="csY32" fmla="*/ 1309036 h 2598821"/>
              <a:gd name="csX33" fmla="*/ 5510519 w 5895529"/>
              <a:gd name="csY33" fmla="*/ 1289786 h 2598821"/>
              <a:gd name="csX34" fmla="*/ 4692371 w 5895529"/>
              <a:gd name="csY34" fmla="*/ 1309036 h 2598821"/>
              <a:gd name="csX35" fmla="*/ 4528742 w 5895529"/>
              <a:gd name="csY35" fmla="*/ 1357162 h 2598821"/>
              <a:gd name="csX36" fmla="*/ 4442114 w 5895529"/>
              <a:gd name="csY36" fmla="*/ 1386038 h 2598821"/>
              <a:gd name="csX37" fmla="*/ 4307361 w 5895529"/>
              <a:gd name="csY37" fmla="*/ 1443790 h 2598821"/>
              <a:gd name="csX38" fmla="*/ 4220733 w 5895529"/>
              <a:gd name="csY38" fmla="*/ 1501541 h 2598821"/>
              <a:gd name="csX39" fmla="*/ 4124481 w 5895529"/>
              <a:gd name="csY39" fmla="*/ 1549668 h 2598821"/>
              <a:gd name="csX40" fmla="*/ 3970476 w 5895529"/>
              <a:gd name="csY40" fmla="*/ 1645920 h 2598821"/>
              <a:gd name="csX41" fmla="*/ 3922350 w 5895529"/>
              <a:gd name="csY41" fmla="*/ 1674796 h 2598821"/>
              <a:gd name="csX42" fmla="*/ 3874224 w 5895529"/>
              <a:gd name="csY42" fmla="*/ 1713297 h 2598821"/>
              <a:gd name="csX43" fmla="*/ 3816472 w 5895529"/>
              <a:gd name="csY43" fmla="*/ 1742173 h 2598821"/>
              <a:gd name="csX44" fmla="*/ 3768346 w 5895529"/>
              <a:gd name="csY44" fmla="*/ 1780674 h 2598821"/>
              <a:gd name="csX45" fmla="*/ 3691344 w 5895529"/>
              <a:gd name="csY45" fmla="*/ 1819175 h 2598821"/>
              <a:gd name="csX46" fmla="*/ 3630710 w 5895529"/>
              <a:gd name="csY46" fmla="*/ 1756962 h 2598821"/>
              <a:gd name="csX47" fmla="*/ 3566015 w 5895529"/>
              <a:gd name="csY47" fmla="*/ 1709036 h 2598821"/>
              <a:gd name="csX48" fmla="*/ 3505882 w 5895529"/>
              <a:gd name="csY48" fmla="*/ 1684722 h 2598821"/>
              <a:gd name="csX49" fmla="*/ 3450712 w 5895529"/>
              <a:gd name="csY49" fmla="*/ 1665171 h 2598821"/>
              <a:gd name="csX50" fmla="*/ 3421836 w 5895529"/>
              <a:gd name="csY50" fmla="*/ 1645920 h 2598821"/>
              <a:gd name="csX51" fmla="*/ 3354460 w 5895529"/>
              <a:gd name="csY51" fmla="*/ 1588169 h 2598821"/>
              <a:gd name="csX52" fmla="*/ 3325584 w 5895529"/>
              <a:gd name="csY52" fmla="*/ 1578543 h 2598821"/>
              <a:gd name="csX53" fmla="*/ 3248582 w 5895529"/>
              <a:gd name="csY53" fmla="*/ 1511167 h 2598821"/>
              <a:gd name="csX54" fmla="*/ 3181205 w 5895529"/>
              <a:gd name="csY54" fmla="*/ 1472666 h 2598821"/>
              <a:gd name="csX55" fmla="*/ 3133079 w 5895529"/>
              <a:gd name="csY55" fmla="*/ 1443790 h 2598821"/>
              <a:gd name="csX56" fmla="*/ 3063321 w 5895529"/>
              <a:gd name="csY56" fmla="*/ 1412232 h 2598821"/>
              <a:gd name="csX57" fmla="*/ 3007950 w 5895529"/>
              <a:gd name="csY57" fmla="*/ 1366788 h 2598821"/>
              <a:gd name="csX58" fmla="*/ 2959824 w 5895529"/>
              <a:gd name="csY58" fmla="*/ 1347537 h 2598821"/>
              <a:gd name="csX59" fmla="*/ 2882822 w 5895529"/>
              <a:gd name="csY59" fmla="*/ 1299411 h 2598821"/>
              <a:gd name="csX60" fmla="*/ 2825070 w 5895529"/>
              <a:gd name="csY60" fmla="*/ 1212783 h 2598821"/>
              <a:gd name="csX61" fmla="*/ 2853946 w 5895529"/>
              <a:gd name="csY61" fmla="*/ 577516 h 2598821"/>
              <a:gd name="csX62" fmla="*/ 2844321 w 5895529"/>
              <a:gd name="csY62" fmla="*/ 308009 h 2598821"/>
              <a:gd name="csX63" fmla="*/ 2825070 w 5895529"/>
              <a:gd name="csY63" fmla="*/ 192506 h 2598821"/>
              <a:gd name="csX64" fmla="*/ 2805820 w 5895529"/>
              <a:gd name="csY64" fmla="*/ 144379 h 2598821"/>
              <a:gd name="csX65" fmla="*/ 2748068 w 5895529"/>
              <a:gd name="csY65" fmla="*/ 77002 h 2598821"/>
              <a:gd name="csX66" fmla="*/ 2719192 w 5895529"/>
              <a:gd name="csY66" fmla="*/ 38501 h 2598821"/>
              <a:gd name="csX67" fmla="*/ 2661441 w 5895529"/>
              <a:gd name="csY67" fmla="*/ 0 h 2598821"/>
              <a:gd name="csX0" fmla="*/ 2689962 w 5866299"/>
              <a:gd name="csY0" fmla="*/ 57752 h 2598821"/>
              <a:gd name="csX1" fmla="*/ 120017 w 5866299"/>
              <a:gd name="csY1" fmla="*/ 67377 h 2598821"/>
              <a:gd name="csX2" fmla="*/ 75048 w 5866299"/>
              <a:gd name="csY2" fmla="*/ 131872 h 2598821"/>
              <a:gd name="csX3" fmla="*/ 65523 w 5866299"/>
              <a:gd name="csY3" fmla="*/ 543376 h 2598821"/>
              <a:gd name="csX4" fmla="*/ 84975 w 5866299"/>
              <a:gd name="csY4" fmla="*/ 1101692 h 2598821"/>
              <a:gd name="csX5" fmla="*/ 113651 w 5866299"/>
              <a:gd name="csY5" fmla="*/ 1214512 h 2598821"/>
              <a:gd name="csX6" fmla="*/ 130419 w 5866299"/>
              <a:gd name="csY6" fmla="*/ 1222283 h 2598821"/>
              <a:gd name="csX7" fmla="*/ 4514 w 5866299"/>
              <a:gd name="csY7" fmla="*/ 1049154 h 2598821"/>
              <a:gd name="csX8" fmla="*/ 33390 w 5866299"/>
              <a:gd name="csY8" fmla="*/ 1126156 h 2598821"/>
              <a:gd name="csX9" fmla="*/ 129642 w 5866299"/>
              <a:gd name="csY9" fmla="*/ 1232034 h 2598821"/>
              <a:gd name="csX10" fmla="*/ 177769 w 5866299"/>
              <a:gd name="csY10" fmla="*/ 1251284 h 2598821"/>
              <a:gd name="csX11" fmla="*/ 813036 w 5866299"/>
              <a:gd name="csY11" fmla="*/ 1270535 h 2598821"/>
              <a:gd name="csX12" fmla="*/ 1063293 w 5866299"/>
              <a:gd name="csY12" fmla="*/ 1578543 h 2598821"/>
              <a:gd name="csX13" fmla="*/ 1111419 w 5866299"/>
              <a:gd name="csY13" fmla="*/ 1665171 h 2598821"/>
              <a:gd name="csX14" fmla="*/ 1178796 w 5866299"/>
              <a:gd name="csY14" fmla="*/ 1761423 h 2598821"/>
              <a:gd name="csX15" fmla="*/ 1236548 w 5866299"/>
              <a:gd name="csY15" fmla="*/ 1867301 h 2598821"/>
              <a:gd name="csX16" fmla="*/ 1506055 w 5866299"/>
              <a:gd name="csY16" fmla="*/ 2146434 h 2598821"/>
              <a:gd name="csX17" fmla="*/ 1794813 w 5866299"/>
              <a:gd name="csY17" fmla="*/ 2300438 h 2598821"/>
              <a:gd name="csX18" fmla="*/ 1891065 w 5866299"/>
              <a:gd name="csY18" fmla="*/ 2338939 h 2598821"/>
              <a:gd name="csX19" fmla="*/ 2150948 w 5866299"/>
              <a:gd name="csY19" fmla="*/ 2387066 h 2598821"/>
              <a:gd name="csX20" fmla="*/ 2738089 w 5866299"/>
              <a:gd name="csY20" fmla="*/ 2464068 h 2598821"/>
              <a:gd name="csX21" fmla="*/ 3055722 w 5866299"/>
              <a:gd name="csY21" fmla="*/ 2502569 h 2598821"/>
              <a:gd name="csX22" fmla="*/ 3594737 w 5866299"/>
              <a:gd name="csY22" fmla="*/ 2521819 h 2598821"/>
              <a:gd name="csX23" fmla="*/ 3979748 w 5866299"/>
              <a:gd name="csY23" fmla="*/ 2560320 h 2598821"/>
              <a:gd name="csX24" fmla="*/ 4374383 w 5866299"/>
              <a:gd name="csY24" fmla="*/ 2569946 h 2598821"/>
              <a:gd name="csX25" fmla="*/ 4855646 w 5866299"/>
              <a:gd name="csY25" fmla="*/ 2598821 h 2598821"/>
              <a:gd name="csX26" fmla="*/ 5750796 w 5866299"/>
              <a:gd name="csY26" fmla="*/ 2569946 h 2598821"/>
              <a:gd name="csX27" fmla="*/ 5827798 w 5866299"/>
              <a:gd name="csY27" fmla="*/ 2483318 h 2598821"/>
              <a:gd name="csX28" fmla="*/ 5847049 w 5866299"/>
              <a:gd name="csY28" fmla="*/ 2300438 h 2598821"/>
              <a:gd name="csX29" fmla="*/ 5866299 w 5866299"/>
              <a:gd name="csY29" fmla="*/ 2030931 h 2598821"/>
              <a:gd name="csX30" fmla="*/ 5837423 w 5866299"/>
              <a:gd name="csY30" fmla="*/ 1366788 h 2598821"/>
              <a:gd name="csX31" fmla="*/ 5779672 w 5866299"/>
              <a:gd name="csY31" fmla="*/ 1328287 h 2598821"/>
              <a:gd name="csX32" fmla="*/ 5683419 w 5866299"/>
              <a:gd name="csY32" fmla="*/ 1309036 h 2598821"/>
              <a:gd name="csX33" fmla="*/ 5481289 w 5866299"/>
              <a:gd name="csY33" fmla="*/ 1289786 h 2598821"/>
              <a:gd name="csX34" fmla="*/ 4663141 w 5866299"/>
              <a:gd name="csY34" fmla="*/ 1309036 h 2598821"/>
              <a:gd name="csX35" fmla="*/ 4499512 w 5866299"/>
              <a:gd name="csY35" fmla="*/ 1357162 h 2598821"/>
              <a:gd name="csX36" fmla="*/ 4412884 w 5866299"/>
              <a:gd name="csY36" fmla="*/ 1386038 h 2598821"/>
              <a:gd name="csX37" fmla="*/ 4278131 w 5866299"/>
              <a:gd name="csY37" fmla="*/ 1443790 h 2598821"/>
              <a:gd name="csX38" fmla="*/ 4191503 w 5866299"/>
              <a:gd name="csY38" fmla="*/ 1501541 h 2598821"/>
              <a:gd name="csX39" fmla="*/ 4095251 w 5866299"/>
              <a:gd name="csY39" fmla="*/ 1549668 h 2598821"/>
              <a:gd name="csX40" fmla="*/ 3941246 w 5866299"/>
              <a:gd name="csY40" fmla="*/ 1645920 h 2598821"/>
              <a:gd name="csX41" fmla="*/ 3893120 w 5866299"/>
              <a:gd name="csY41" fmla="*/ 1674796 h 2598821"/>
              <a:gd name="csX42" fmla="*/ 3844994 w 5866299"/>
              <a:gd name="csY42" fmla="*/ 1713297 h 2598821"/>
              <a:gd name="csX43" fmla="*/ 3787242 w 5866299"/>
              <a:gd name="csY43" fmla="*/ 1742173 h 2598821"/>
              <a:gd name="csX44" fmla="*/ 3739116 w 5866299"/>
              <a:gd name="csY44" fmla="*/ 1780674 h 2598821"/>
              <a:gd name="csX45" fmla="*/ 3662114 w 5866299"/>
              <a:gd name="csY45" fmla="*/ 1819175 h 2598821"/>
              <a:gd name="csX46" fmla="*/ 3601480 w 5866299"/>
              <a:gd name="csY46" fmla="*/ 1756962 h 2598821"/>
              <a:gd name="csX47" fmla="*/ 3536785 w 5866299"/>
              <a:gd name="csY47" fmla="*/ 1709036 h 2598821"/>
              <a:gd name="csX48" fmla="*/ 3476652 w 5866299"/>
              <a:gd name="csY48" fmla="*/ 1684722 h 2598821"/>
              <a:gd name="csX49" fmla="*/ 3421482 w 5866299"/>
              <a:gd name="csY49" fmla="*/ 1665171 h 2598821"/>
              <a:gd name="csX50" fmla="*/ 3392606 w 5866299"/>
              <a:gd name="csY50" fmla="*/ 1645920 h 2598821"/>
              <a:gd name="csX51" fmla="*/ 3325230 w 5866299"/>
              <a:gd name="csY51" fmla="*/ 1588169 h 2598821"/>
              <a:gd name="csX52" fmla="*/ 3296354 w 5866299"/>
              <a:gd name="csY52" fmla="*/ 1578543 h 2598821"/>
              <a:gd name="csX53" fmla="*/ 3219352 w 5866299"/>
              <a:gd name="csY53" fmla="*/ 1511167 h 2598821"/>
              <a:gd name="csX54" fmla="*/ 3151975 w 5866299"/>
              <a:gd name="csY54" fmla="*/ 1472666 h 2598821"/>
              <a:gd name="csX55" fmla="*/ 3103849 w 5866299"/>
              <a:gd name="csY55" fmla="*/ 1443790 h 2598821"/>
              <a:gd name="csX56" fmla="*/ 3034091 w 5866299"/>
              <a:gd name="csY56" fmla="*/ 1412232 h 2598821"/>
              <a:gd name="csX57" fmla="*/ 2978720 w 5866299"/>
              <a:gd name="csY57" fmla="*/ 1366788 h 2598821"/>
              <a:gd name="csX58" fmla="*/ 2930594 w 5866299"/>
              <a:gd name="csY58" fmla="*/ 1347537 h 2598821"/>
              <a:gd name="csX59" fmla="*/ 2853592 w 5866299"/>
              <a:gd name="csY59" fmla="*/ 1299411 h 2598821"/>
              <a:gd name="csX60" fmla="*/ 2795840 w 5866299"/>
              <a:gd name="csY60" fmla="*/ 1212783 h 2598821"/>
              <a:gd name="csX61" fmla="*/ 2824716 w 5866299"/>
              <a:gd name="csY61" fmla="*/ 577516 h 2598821"/>
              <a:gd name="csX62" fmla="*/ 2815091 w 5866299"/>
              <a:gd name="csY62" fmla="*/ 308009 h 2598821"/>
              <a:gd name="csX63" fmla="*/ 2795840 w 5866299"/>
              <a:gd name="csY63" fmla="*/ 192506 h 2598821"/>
              <a:gd name="csX64" fmla="*/ 2776590 w 5866299"/>
              <a:gd name="csY64" fmla="*/ 144379 h 2598821"/>
              <a:gd name="csX65" fmla="*/ 2718838 w 5866299"/>
              <a:gd name="csY65" fmla="*/ 77002 h 2598821"/>
              <a:gd name="csX66" fmla="*/ 2689962 w 5866299"/>
              <a:gd name="csY66" fmla="*/ 38501 h 2598821"/>
              <a:gd name="csX67" fmla="*/ 2632211 w 5866299"/>
              <a:gd name="csY67" fmla="*/ 0 h 2598821"/>
              <a:gd name="csX0" fmla="*/ 2656576 w 5832913"/>
              <a:gd name="csY0" fmla="*/ 57752 h 2598821"/>
              <a:gd name="csX1" fmla="*/ 86631 w 5832913"/>
              <a:gd name="csY1" fmla="*/ 67377 h 2598821"/>
              <a:gd name="csX2" fmla="*/ 41662 w 5832913"/>
              <a:gd name="csY2" fmla="*/ 131872 h 2598821"/>
              <a:gd name="csX3" fmla="*/ 32137 w 5832913"/>
              <a:gd name="csY3" fmla="*/ 543376 h 2598821"/>
              <a:gd name="csX4" fmla="*/ 51589 w 5832913"/>
              <a:gd name="csY4" fmla="*/ 1101692 h 2598821"/>
              <a:gd name="csX5" fmla="*/ 80265 w 5832913"/>
              <a:gd name="csY5" fmla="*/ 1214512 h 2598821"/>
              <a:gd name="csX6" fmla="*/ 97033 w 5832913"/>
              <a:gd name="csY6" fmla="*/ 1222283 h 2598821"/>
              <a:gd name="csX7" fmla="*/ 99715 w 5832913"/>
              <a:gd name="csY7" fmla="*/ 1218222 h 2598821"/>
              <a:gd name="csX8" fmla="*/ 4 w 5832913"/>
              <a:gd name="csY8" fmla="*/ 1126156 h 2598821"/>
              <a:gd name="csX9" fmla="*/ 96256 w 5832913"/>
              <a:gd name="csY9" fmla="*/ 1232034 h 2598821"/>
              <a:gd name="csX10" fmla="*/ 144383 w 5832913"/>
              <a:gd name="csY10" fmla="*/ 1251284 h 2598821"/>
              <a:gd name="csX11" fmla="*/ 779650 w 5832913"/>
              <a:gd name="csY11" fmla="*/ 1270535 h 2598821"/>
              <a:gd name="csX12" fmla="*/ 1029907 w 5832913"/>
              <a:gd name="csY12" fmla="*/ 1578543 h 2598821"/>
              <a:gd name="csX13" fmla="*/ 1078033 w 5832913"/>
              <a:gd name="csY13" fmla="*/ 1665171 h 2598821"/>
              <a:gd name="csX14" fmla="*/ 1145410 w 5832913"/>
              <a:gd name="csY14" fmla="*/ 1761423 h 2598821"/>
              <a:gd name="csX15" fmla="*/ 1203162 w 5832913"/>
              <a:gd name="csY15" fmla="*/ 1867301 h 2598821"/>
              <a:gd name="csX16" fmla="*/ 1472669 w 5832913"/>
              <a:gd name="csY16" fmla="*/ 2146434 h 2598821"/>
              <a:gd name="csX17" fmla="*/ 1761427 w 5832913"/>
              <a:gd name="csY17" fmla="*/ 2300438 h 2598821"/>
              <a:gd name="csX18" fmla="*/ 1857679 w 5832913"/>
              <a:gd name="csY18" fmla="*/ 2338939 h 2598821"/>
              <a:gd name="csX19" fmla="*/ 2117562 w 5832913"/>
              <a:gd name="csY19" fmla="*/ 2387066 h 2598821"/>
              <a:gd name="csX20" fmla="*/ 2704703 w 5832913"/>
              <a:gd name="csY20" fmla="*/ 2464068 h 2598821"/>
              <a:gd name="csX21" fmla="*/ 3022336 w 5832913"/>
              <a:gd name="csY21" fmla="*/ 2502569 h 2598821"/>
              <a:gd name="csX22" fmla="*/ 3561351 w 5832913"/>
              <a:gd name="csY22" fmla="*/ 2521819 h 2598821"/>
              <a:gd name="csX23" fmla="*/ 3946362 w 5832913"/>
              <a:gd name="csY23" fmla="*/ 2560320 h 2598821"/>
              <a:gd name="csX24" fmla="*/ 4340997 w 5832913"/>
              <a:gd name="csY24" fmla="*/ 2569946 h 2598821"/>
              <a:gd name="csX25" fmla="*/ 4822260 w 5832913"/>
              <a:gd name="csY25" fmla="*/ 2598821 h 2598821"/>
              <a:gd name="csX26" fmla="*/ 5717410 w 5832913"/>
              <a:gd name="csY26" fmla="*/ 2569946 h 2598821"/>
              <a:gd name="csX27" fmla="*/ 5794412 w 5832913"/>
              <a:gd name="csY27" fmla="*/ 2483318 h 2598821"/>
              <a:gd name="csX28" fmla="*/ 5813663 w 5832913"/>
              <a:gd name="csY28" fmla="*/ 2300438 h 2598821"/>
              <a:gd name="csX29" fmla="*/ 5832913 w 5832913"/>
              <a:gd name="csY29" fmla="*/ 2030931 h 2598821"/>
              <a:gd name="csX30" fmla="*/ 5804037 w 5832913"/>
              <a:gd name="csY30" fmla="*/ 1366788 h 2598821"/>
              <a:gd name="csX31" fmla="*/ 5746286 w 5832913"/>
              <a:gd name="csY31" fmla="*/ 1328287 h 2598821"/>
              <a:gd name="csX32" fmla="*/ 5650033 w 5832913"/>
              <a:gd name="csY32" fmla="*/ 1309036 h 2598821"/>
              <a:gd name="csX33" fmla="*/ 5447903 w 5832913"/>
              <a:gd name="csY33" fmla="*/ 1289786 h 2598821"/>
              <a:gd name="csX34" fmla="*/ 4629755 w 5832913"/>
              <a:gd name="csY34" fmla="*/ 1309036 h 2598821"/>
              <a:gd name="csX35" fmla="*/ 4466126 w 5832913"/>
              <a:gd name="csY35" fmla="*/ 1357162 h 2598821"/>
              <a:gd name="csX36" fmla="*/ 4379498 w 5832913"/>
              <a:gd name="csY36" fmla="*/ 1386038 h 2598821"/>
              <a:gd name="csX37" fmla="*/ 4244745 w 5832913"/>
              <a:gd name="csY37" fmla="*/ 1443790 h 2598821"/>
              <a:gd name="csX38" fmla="*/ 4158117 w 5832913"/>
              <a:gd name="csY38" fmla="*/ 1501541 h 2598821"/>
              <a:gd name="csX39" fmla="*/ 4061865 w 5832913"/>
              <a:gd name="csY39" fmla="*/ 1549668 h 2598821"/>
              <a:gd name="csX40" fmla="*/ 3907860 w 5832913"/>
              <a:gd name="csY40" fmla="*/ 1645920 h 2598821"/>
              <a:gd name="csX41" fmla="*/ 3859734 w 5832913"/>
              <a:gd name="csY41" fmla="*/ 1674796 h 2598821"/>
              <a:gd name="csX42" fmla="*/ 3811608 w 5832913"/>
              <a:gd name="csY42" fmla="*/ 1713297 h 2598821"/>
              <a:gd name="csX43" fmla="*/ 3753856 w 5832913"/>
              <a:gd name="csY43" fmla="*/ 1742173 h 2598821"/>
              <a:gd name="csX44" fmla="*/ 3705730 w 5832913"/>
              <a:gd name="csY44" fmla="*/ 1780674 h 2598821"/>
              <a:gd name="csX45" fmla="*/ 3628728 w 5832913"/>
              <a:gd name="csY45" fmla="*/ 1819175 h 2598821"/>
              <a:gd name="csX46" fmla="*/ 3568094 w 5832913"/>
              <a:gd name="csY46" fmla="*/ 1756962 h 2598821"/>
              <a:gd name="csX47" fmla="*/ 3503399 w 5832913"/>
              <a:gd name="csY47" fmla="*/ 1709036 h 2598821"/>
              <a:gd name="csX48" fmla="*/ 3443266 w 5832913"/>
              <a:gd name="csY48" fmla="*/ 1684722 h 2598821"/>
              <a:gd name="csX49" fmla="*/ 3388096 w 5832913"/>
              <a:gd name="csY49" fmla="*/ 1665171 h 2598821"/>
              <a:gd name="csX50" fmla="*/ 3359220 w 5832913"/>
              <a:gd name="csY50" fmla="*/ 1645920 h 2598821"/>
              <a:gd name="csX51" fmla="*/ 3291844 w 5832913"/>
              <a:gd name="csY51" fmla="*/ 1588169 h 2598821"/>
              <a:gd name="csX52" fmla="*/ 3262968 w 5832913"/>
              <a:gd name="csY52" fmla="*/ 1578543 h 2598821"/>
              <a:gd name="csX53" fmla="*/ 3185966 w 5832913"/>
              <a:gd name="csY53" fmla="*/ 1511167 h 2598821"/>
              <a:gd name="csX54" fmla="*/ 3118589 w 5832913"/>
              <a:gd name="csY54" fmla="*/ 1472666 h 2598821"/>
              <a:gd name="csX55" fmla="*/ 3070463 w 5832913"/>
              <a:gd name="csY55" fmla="*/ 1443790 h 2598821"/>
              <a:gd name="csX56" fmla="*/ 3000705 w 5832913"/>
              <a:gd name="csY56" fmla="*/ 1412232 h 2598821"/>
              <a:gd name="csX57" fmla="*/ 2945334 w 5832913"/>
              <a:gd name="csY57" fmla="*/ 1366788 h 2598821"/>
              <a:gd name="csX58" fmla="*/ 2897208 w 5832913"/>
              <a:gd name="csY58" fmla="*/ 1347537 h 2598821"/>
              <a:gd name="csX59" fmla="*/ 2820206 w 5832913"/>
              <a:gd name="csY59" fmla="*/ 1299411 h 2598821"/>
              <a:gd name="csX60" fmla="*/ 2762454 w 5832913"/>
              <a:gd name="csY60" fmla="*/ 1212783 h 2598821"/>
              <a:gd name="csX61" fmla="*/ 2791330 w 5832913"/>
              <a:gd name="csY61" fmla="*/ 577516 h 2598821"/>
              <a:gd name="csX62" fmla="*/ 2781705 w 5832913"/>
              <a:gd name="csY62" fmla="*/ 308009 h 2598821"/>
              <a:gd name="csX63" fmla="*/ 2762454 w 5832913"/>
              <a:gd name="csY63" fmla="*/ 192506 h 2598821"/>
              <a:gd name="csX64" fmla="*/ 2743204 w 5832913"/>
              <a:gd name="csY64" fmla="*/ 144379 h 2598821"/>
              <a:gd name="csX65" fmla="*/ 2685452 w 5832913"/>
              <a:gd name="csY65" fmla="*/ 77002 h 2598821"/>
              <a:gd name="csX66" fmla="*/ 2656576 w 5832913"/>
              <a:gd name="csY66" fmla="*/ 38501 h 2598821"/>
              <a:gd name="csX67" fmla="*/ 2598825 w 5832913"/>
              <a:gd name="csY67" fmla="*/ 0 h 2598821"/>
              <a:gd name="csX0" fmla="*/ 2625809 w 5802146"/>
              <a:gd name="csY0" fmla="*/ 57752 h 2598821"/>
              <a:gd name="csX1" fmla="*/ 55864 w 5802146"/>
              <a:gd name="csY1" fmla="*/ 67377 h 2598821"/>
              <a:gd name="csX2" fmla="*/ 10895 w 5802146"/>
              <a:gd name="csY2" fmla="*/ 131872 h 2598821"/>
              <a:gd name="csX3" fmla="*/ 1370 w 5802146"/>
              <a:gd name="csY3" fmla="*/ 543376 h 2598821"/>
              <a:gd name="csX4" fmla="*/ 20822 w 5802146"/>
              <a:gd name="csY4" fmla="*/ 1101692 h 2598821"/>
              <a:gd name="csX5" fmla="*/ 49498 w 5802146"/>
              <a:gd name="csY5" fmla="*/ 1214512 h 2598821"/>
              <a:gd name="csX6" fmla="*/ 66266 w 5802146"/>
              <a:gd name="csY6" fmla="*/ 1222283 h 2598821"/>
              <a:gd name="csX7" fmla="*/ 68948 w 5802146"/>
              <a:gd name="csY7" fmla="*/ 1218222 h 2598821"/>
              <a:gd name="csX8" fmla="*/ 85918 w 5802146"/>
              <a:gd name="csY8" fmla="*/ 1202356 h 2598821"/>
              <a:gd name="csX9" fmla="*/ 65489 w 5802146"/>
              <a:gd name="csY9" fmla="*/ 1232034 h 2598821"/>
              <a:gd name="csX10" fmla="*/ 113616 w 5802146"/>
              <a:gd name="csY10" fmla="*/ 1251284 h 2598821"/>
              <a:gd name="csX11" fmla="*/ 748883 w 5802146"/>
              <a:gd name="csY11" fmla="*/ 1270535 h 2598821"/>
              <a:gd name="csX12" fmla="*/ 999140 w 5802146"/>
              <a:gd name="csY12" fmla="*/ 1578543 h 2598821"/>
              <a:gd name="csX13" fmla="*/ 1047266 w 5802146"/>
              <a:gd name="csY13" fmla="*/ 1665171 h 2598821"/>
              <a:gd name="csX14" fmla="*/ 1114643 w 5802146"/>
              <a:gd name="csY14" fmla="*/ 1761423 h 2598821"/>
              <a:gd name="csX15" fmla="*/ 1172395 w 5802146"/>
              <a:gd name="csY15" fmla="*/ 1867301 h 2598821"/>
              <a:gd name="csX16" fmla="*/ 1441902 w 5802146"/>
              <a:gd name="csY16" fmla="*/ 2146434 h 2598821"/>
              <a:gd name="csX17" fmla="*/ 1730660 w 5802146"/>
              <a:gd name="csY17" fmla="*/ 2300438 h 2598821"/>
              <a:gd name="csX18" fmla="*/ 1826912 w 5802146"/>
              <a:gd name="csY18" fmla="*/ 2338939 h 2598821"/>
              <a:gd name="csX19" fmla="*/ 2086795 w 5802146"/>
              <a:gd name="csY19" fmla="*/ 2387066 h 2598821"/>
              <a:gd name="csX20" fmla="*/ 2673936 w 5802146"/>
              <a:gd name="csY20" fmla="*/ 2464068 h 2598821"/>
              <a:gd name="csX21" fmla="*/ 2991569 w 5802146"/>
              <a:gd name="csY21" fmla="*/ 2502569 h 2598821"/>
              <a:gd name="csX22" fmla="*/ 3530584 w 5802146"/>
              <a:gd name="csY22" fmla="*/ 2521819 h 2598821"/>
              <a:gd name="csX23" fmla="*/ 3915595 w 5802146"/>
              <a:gd name="csY23" fmla="*/ 2560320 h 2598821"/>
              <a:gd name="csX24" fmla="*/ 4310230 w 5802146"/>
              <a:gd name="csY24" fmla="*/ 2569946 h 2598821"/>
              <a:gd name="csX25" fmla="*/ 4791493 w 5802146"/>
              <a:gd name="csY25" fmla="*/ 2598821 h 2598821"/>
              <a:gd name="csX26" fmla="*/ 5686643 w 5802146"/>
              <a:gd name="csY26" fmla="*/ 2569946 h 2598821"/>
              <a:gd name="csX27" fmla="*/ 5763645 w 5802146"/>
              <a:gd name="csY27" fmla="*/ 2483318 h 2598821"/>
              <a:gd name="csX28" fmla="*/ 5782896 w 5802146"/>
              <a:gd name="csY28" fmla="*/ 2300438 h 2598821"/>
              <a:gd name="csX29" fmla="*/ 5802146 w 5802146"/>
              <a:gd name="csY29" fmla="*/ 2030931 h 2598821"/>
              <a:gd name="csX30" fmla="*/ 5773270 w 5802146"/>
              <a:gd name="csY30" fmla="*/ 1366788 h 2598821"/>
              <a:gd name="csX31" fmla="*/ 5715519 w 5802146"/>
              <a:gd name="csY31" fmla="*/ 1328287 h 2598821"/>
              <a:gd name="csX32" fmla="*/ 5619266 w 5802146"/>
              <a:gd name="csY32" fmla="*/ 1309036 h 2598821"/>
              <a:gd name="csX33" fmla="*/ 5417136 w 5802146"/>
              <a:gd name="csY33" fmla="*/ 1289786 h 2598821"/>
              <a:gd name="csX34" fmla="*/ 4598988 w 5802146"/>
              <a:gd name="csY34" fmla="*/ 1309036 h 2598821"/>
              <a:gd name="csX35" fmla="*/ 4435359 w 5802146"/>
              <a:gd name="csY35" fmla="*/ 1357162 h 2598821"/>
              <a:gd name="csX36" fmla="*/ 4348731 w 5802146"/>
              <a:gd name="csY36" fmla="*/ 1386038 h 2598821"/>
              <a:gd name="csX37" fmla="*/ 4213978 w 5802146"/>
              <a:gd name="csY37" fmla="*/ 1443790 h 2598821"/>
              <a:gd name="csX38" fmla="*/ 4127350 w 5802146"/>
              <a:gd name="csY38" fmla="*/ 1501541 h 2598821"/>
              <a:gd name="csX39" fmla="*/ 4031098 w 5802146"/>
              <a:gd name="csY39" fmla="*/ 1549668 h 2598821"/>
              <a:gd name="csX40" fmla="*/ 3877093 w 5802146"/>
              <a:gd name="csY40" fmla="*/ 1645920 h 2598821"/>
              <a:gd name="csX41" fmla="*/ 3828967 w 5802146"/>
              <a:gd name="csY41" fmla="*/ 1674796 h 2598821"/>
              <a:gd name="csX42" fmla="*/ 3780841 w 5802146"/>
              <a:gd name="csY42" fmla="*/ 1713297 h 2598821"/>
              <a:gd name="csX43" fmla="*/ 3723089 w 5802146"/>
              <a:gd name="csY43" fmla="*/ 1742173 h 2598821"/>
              <a:gd name="csX44" fmla="*/ 3674963 w 5802146"/>
              <a:gd name="csY44" fmla="*/ 1780674 h 2598821"/>
              <a:gd name="csX45" fmla="*/ 3597961 w 5802146"/>
              <a:gd name="csY45" fmla="*/ 1819175 h 2598821"/>
              <a:gd name="csX46" fmla="*/ 3537327 w 5802146"/>
              <a:gd name="csY46" fmla="*/ 1756962 h 2598821"/>
              <a:gd name="csX47" fmla="*/ 3472632 w 5802146"/>
              <a:gd name="csY47" fmla="*/ 1709036 h 2598821"/>
              <a:gd name="csX48" fmla="*/ 3412499 w 5802146"/>
              <a:gd name="csY48" fmla="*/ 1684722 h 2598821"/>
              <a:gd name="csX49" fmla="*/ 3357329 w 5802146"/>
              <a:gd name="csY49" fmla="*/ 1665171 h 2598821"/>
              <a:gd name="csX50" fmla="*/ 3328453 w 5802146"/>
              <a:gd name="csY50" fmla="*/ 1645920 h 2598821"/>
              <a:gd name="csX51" fmla="*/ 3261077 w 5802146"/>
              <a:gd name="csY51" fmla="*/ 1588169 h 2598821"/>
              <a:gd name="csX52" fmla="*/ 3232201 w 5802146"/>
              <a:gd name="csY52" fmla="*/ 1578543 h 2598821"/>
              <a:gd name="csX53" fmla="*/ 3155199 w 5802146"/>
              <a:gd name="csY53" fmla="*/ 1511167 h 2598821"/>
              <a:gd name="csX54" fmla="*/ 3087822 w 5802146"/>
              <a:gd name="csY54" fmla="*/ 1472666 h 2598821"/>
              <a:gd name="csX55" fmla="*/ 3039696 w 5802146"/>
              <a:gd name="csY55" fmla="*/ 1443790 h 2598821"/>
              <a:gd name="csX56" fmla="*/ 2969938 w 5802146"/>
              <a:gd name="csY56" fmla="*/ 1412232 h 2598821"/>
              <a:gd name="csX57" fmla="*/ 2914567 w 5802146"/>
              <a:gd name="csY57" fmla="*/ 1366788 h 2598821"/>
              <a:gd name="csX58" fmla="*/ 2866441 w 5802146"/>
              <a:gd name="csY58" fmla="*/ 1347537 h 2598821"/>
              <a:gd name="csX59" fmla="*/ 2789439 w 5802146"/>
              <a:gd name="csY59" fmla="*/ 1299411 h 2598821"/>
              <a:gd name="csX60" fmla="*/ 2731687 w 5802146"/>
              <a:gd name="csY60" fmla="*/ 1212783 h 2598821"/>
              <a:gd name="csX61" fmla="*/ 2760563 w 5802146"/>
              <a:gd name="csY61" fmla="*/ 577516 h 2598821"/>
              <a:gd name="csX62" fmla="*/ 2750938 w 5802146"/>
              <a:gd name="csY62" fmla="*/ 308009 h 2598821"/>
              <a:gd name="csX63" fmla="*/ 2731687 w 5802146"/>
              <a:gd name="csY63" fmla="*/ 192506 h 2598821"/>
              <a:gd name="csX64" fmla="*/ 2712437 w 5802146"/>
              <a:gd name="csY64" fmla="*/ 144379 h 2598821"/>
              <a:gd name="csX65" fmla="*/ 2654685 w 5802146"/>
              <a:gd name="csY65" fmla="*/ 77002 h 2598821"/>
              <a:gd name="csX66" fmla="*/ 2625809 w 5802146"/>
              <a:gd name="csY66" fmla="*/ 38501 h 2598821"/>
              <a:gd name="csX67" fmla="*/ 2568058 w 5802146"/>
              <a:gd name="csY67" fmla="*/ 0 h 2598821"/>
              <a:gd name="csX0" fmla="*/ 2625809 w 5802146"/>
              <a:gd name="csY0" fmla="*/ 57752 h 2598821"/>
              <a:gd name="csX1" fmla="*/ 55864 w 5802146"/>
              <a:gd name="csY1" fmla="*/ 67377 h 2598821"/>
              <a:gd name="csX2" fmla="*/ 10895 w 5802146"/>
              <a:gd name="csY2" fmla="*/ 131872 h 2598821"/>
              <a:gd name="csX3" fmla="*/ 1370 w 5802146"/>
              <a:gd name="csY3" fmla="*/ 543376 h 2598821"/>
              <a:gd name="csX4" fmla="*/ 20822 w 5802146"/>
              <a:gd name="csY4" fmla="*/ 1101692 h 2598821"/>
              <a:gd name="csX5" fmla="*/ 49498 w 5802146"/>
              <a:gd name="csY5" fmla="*/ 1214512 h 2598821"/>
              <a:gd name="csX6" fmla="*/ 66266 w 5802146"/>
              <a:gd name="csY6" fmla="*/ 1222283 h 2598821"/>
              <a:gd name="csX7" fmla="*/ 68948 w 5802146"/>
              <a:gd name="csY7" fmla="*/ 1218222 h 2598821"/>
              <a:gd name="csX8" fmla="*/ 85918 w 5802146"/>
              <a:gd name="csY8" fmla="*/ 1202356 h 2598821"/>
              <a:gd name="csX9" fmla="*/ 65489 w 5802146"/>
              <a:gd name="csY9" fmla="*/ 1232034 h 2598821"/>
              <a:gd name="csX10" fmla="*/ 113616 w 5802146"/>
              <a:gd name="csY10" fmla="*/ 1251284 h 2598821"/>
              <a:gd name="csX11" fmla="*/ 748883 w 5802146"/>
              <a:gd name="csY11" fmla="*/ 1270535 h 2598821"/>
              <a:gd name="csX12" fmla="*/ 999140 w 5802146"/>
              <a:gd name="csY12" fmla="*/ 1578543 h 2598821"/>
              <a:gd name="csX13" fmla="*/ 1047266 w 5802146"/>
              <a:gd name="csY13" fmla="*/ 1665171 h 2598821"/>
              <a:gd name="csX14" fmla="*/ 1114643 w 5802146"/>
              <a:gd name="csY14" fmla="*/ 1761423 h 2598821"/>
              <a:gd name="csX15" fmla="*/ 1172395 w 5802146"/>
              <a:gd name="csY15" fmla="*/ 1867301 h 2598821"/>
              <a:gd name="csX16" fmla="*/ 1441902 w 5802146"/>
              <a:gd name="csY16" fmla="*/ 2146434 h 2598821"/>
              <a:gd name="csX17" fmla="*/ 1730660 w 5802146"/>
              <a:gd name="csY17" fmla="*/ 2300438 h 2598821"/>
              <a:gd name="csX18" fmla="*/ 1826912 w 5802146"/>
              <a:gd name="csY18" fmla="*/ 2338939 h 2598821"/>
              <a:gd name="csX19" fmla="*/ 2086795 w 5802146"/>
              <a:gd name="csY19" fmla="*/ 2387066 h 2598821"/>
              <a:gd name="csX20" fmla="*/ 2673936 w 5802146"/>
              <a:gd name="csY20" fmla="*/ 2464068 h 2598821"/>
              <a:gd name="csX21" fmla="*/ 2991569 w 5802146"/>
              <a:gd name="csY21" fmla="*/ 2502569 h 2598821"/>
              <a:gd name="csX22" fmla="*/ 3530584 w 5802146"/>
              <a:gd name="csY22" fmla="*/ 2521819 h 2598821"/>
              <a:gd name="csX23" fmla="*/ 3915595 w 5802146"/>
              <a:gd name="csY23" fmla="*/ 2560320 h 2598821"/>
              <a:gd name="csX24" fmla="*/ 4310230 w 5802146"/>
              <a:gd name="csY24" fmla="*/ 2569946 h 2598821"/>
              <a:gd name="csX25" fmla="*/ 4791493 w 5802146"/>
              <a:gd name="csY25" fmla="*/ 2598821 h 2598821"/>
              <a:gd name="csX26" fmla="*/ 5686643 w 5802146"/>
              <a:gd name="csY26" fmla="*/ 2569946 h 2598821"/>
              <a:gd name="csX27" fmla="*/ 5763645 w 5802146"/>
              <a:gd name="csY27" fmla="*/ 2483318 h 2598821"/>
              <a:gd name="csX28" fmla="*/ 5782896 w 5802146"/>
              <a:gd name="csY28" fmla="*/ 2300438 h 2598821"/>
              <a:gd name="csX29" fmla="*/ 5802146 w 5802146"/>
              <a:gd name="csY29" fmla="*/ 2030931 h 2598821"/>
              <a:gd name="csX30" fmla="*/ 5773270 w 5802146"/>
              <a:gd name="csY30" fmla="*/ 1366788 h 2598821"/>
              <a:gd name="csX31" fmla="*/ 5715519 w 5802146"/>
              <a:gd name="csY31" fmla="*/ 1328287 h 2598821"/>
              <a:gd name="csX32" fmla="*/ 5619266 w 5802146"/>
              <a:gd name="csY32" fmla="*/ 1309036 h 2598821"/>
              <a:gd name="csX33" fmla="*/ 5417136 w 5802146"/>
              <a:gd name="csY33" fmla="*/ 1289786 h 2598821"/>
              <a:gd name="csX34" fmla="*/ 4598988 w 5802146"/>
              <a:gd name="csY34" fmla="*/ 1309036 h 2598821"/>
              <a:gd name="csX35" fmla="*/ 4435359 w 5802146"/>
              <a:gd name="csY35" fmla="*/ 1357162 h 2598821"/>
              <a:gd name="csX36" fmla="*/ 4348731 w 5802146"/>
              <a:gd name="csY36" fmla="*/ 1386038 h 2598821"/>
              <a:gd name="csX37" fmla="*/ 4213978 w 5802146"/>
              <a:gd name="csY37" fmla="*/ 1443790 h 2598821"/>
              <a:gd name="csX38" fmla="*/ 4127350 w 5802146"/>
              <a:gd name="csY38" fmla="*/ 1501541 h 2598821"/>
              <a:gd name="csX39" fmla="*/ 4031098 w 5802146"/>
              <a:gd name="csY39" fmla="*/ 1549668 h 2598821"/>
              <a:gd name="csX40" fmla="*/ 3877093 w 5802146"/>
              <a:gd name="csY40" fmla="*/ 1645920 h 2598821"/>
              <a:gd name="csX41" fmla="*/ 3828967 w 5802146"/>
              <a:gd name="csY41" fmla="*/ 1674796 h 2598821"/>
              <a:gd name="csX42" fmla="*/ 3780841 w 5802146"/>
              <a:gd name="csY42" fmla="*/ 1713297 h 2598821"/>
              <a:gd name="csX43" fmla="*/ 3723089 w 5802146"/>
              <a:gd name="csY43" fmla="*/ 1742173 h 2598821"/>
              <a:gd name="csX44" fmla="*/ 3674963 w 5802146"/>
              <a:gd name="csY44" fmla="*/ 1780674 h 2598821"/>
              <a:gd name="csX45" fmla="*/ 3597961 w 5802146"/>
              <a:gd name="csY45" fmla="*/ 1819175 h 2598821"/>
              <a:gd name="csX46" fmla="*/ 3537327 w 5802146"/>
              <a:gd name="csY46" fmla="*/ 1756962 h 2598821"/>
              <a:gd name="csX47" fmla="*/ 3472632 w 5802146"/>
              <a:gd name="csY47" fmla="*/ 1709036 h 2598821"/>
              <a:gd name="csX48" fmla="*/ 3412499 w 5802146"/>
              <a:gd name="csY48" fmla="*/ 1684722 h 2598821"/>
              <a:gd name="csX49" fmla="*/ 3357329 w 5802146"/>
              <a:gd name="csY49" fmla="*/ 1665171 h 2598821"/>
              <a:gd name="csX50" fmla="*/ 3328453 w 5802146"/>
              <a:gd name="csY50" fmla="*/ 1645920 h 2598821"/>
              <a:gd name="csX51" fmla="*/ 3261077 w 5802146"/>
              <a:gd name="csY51" fmla="*/ 1588169 h 2598821"/>
              <a:gd name="csX52" fmla="*/ 3232201 w 5802146"/>
              <a:gd name="csY52" fmla="*/ 1578543 h 2598821"/>
              <a:gd name="csX53" fmla="*/ 3155199 w 5802146"/>
              <a:gd name="csY53" fmla="*/ 1511167 h 2598821"/>
              <a:gd name="csX54" fmla="*/ 3087822 w 5802146"/>
              <a:gd name="csY54" fmla="*/ 1472666 h 2598821"/>
              <a:gd name="csX55" fmla="*/ 3039696 w 5802146"/>
              <a:gd name="csY55" fmla="*/ 1443790 h 2598821"/>
              <a:gd name="csX56" fmla="*/ 2969938 w 5802146"/>
              <a:gd name="csY56" fmla="*/ 1412232 h 2598821"/>
              <a:gd name="csX57" fmla="*/ 2914567 w 5802146"/>
              <a:gd name="csY57" fmla="*/ 1366788 h 2598821"/>
              <a:gd name="csX58" fmla="*/ 2866441 w 5802146"/>
              <a:gd name="csY58" fmla="*/ 1347537 h 2598821"/>
              <a:gd name="csX59" fmla="*/ 2789439 w 5802146"/>
              <a:gd name="csY59" fmla="*/ 1299411 h 2598821"/>
              <a:gd name="csX60" fmla="*/ 2731687 w 5802146"/>
              <a:gd name="csY60" fmla="*/ 1212783 h 2598821"/>
              <a:gd name="csX61" fmla="*/ 2760563 w 5802146"/>
              <a:gd name="csY61" fmla="*/ 577516 h 2598821"/>
              <a:gd name="csX62" fmla="*/ 2750938 w 5802146"/>
              <a:gd name="csY62" fmla="*/ 308009 h 2598821"/>
              <a:gd name="csX63" fmla="*/ 2731687 w 5802146"/>
              <a:gd name="csY63" fmla="*/ 192506 h 2598821"/>
              <a:gd name="csX64" fmla="*/ 2712437 w 5802146"/>
              <a:gd name="csY64" fmla="*/ 144379 h 2598821"/>
              <a:gd name="csX65" fmla="*/ 2654685 w 5802146"/>
              <a:gd name="csY65" fmla="*/ 77002 h 2598821"/>
              <a:gd name="csX66" fmla="*/ 2625809 w 5802146"/>
              <a:gd name="csY66" fmla="*/ 38501 h 2598821"/>
              <a:gd name="csX67" fmla="*/ 2568058 w 5802146"/>
              <a:gd name="csY67" fmla="*/ 0 h 2598821"/>
              <a:gd name="csX68" fmla="*/ 2625809 w 5802146"/>
              <a:gd name="csY68" fmla="*/ 57752 h 2598821"/>
              <a:gd name="csX0" fmla="*/ 2625809 w 5802146"/>
              <a:gd name="csY0" fmla="*/ 57752 h 2598821"/>
              <a:gd name="csX1" fmla="*/ 55864 w 5802146"/>
              <a:gd name="csY1" fmla="*/ 67377 h 2598821"/>
              <a:gd name="csX2" fmla="*/ 10895 w 5802146"/>
              <a:gd name="csY2" fmla="*/ 131872 h 2598821"/>
              <a:gd name="csX3" fmla="*/ 1370 w 5802146"/>
              <a:gd name="csY3" fmla="*/ 543376 h 2598821"/>
              <a:gd name="csX4" fmla="*/ 20822 w 5802146"/>
              <a:gd name="csY4" fmla="*/ 1101692 h 2598821"/>
              <a:gd name="csX5" fmla="*/ 49498 w 5802146"/>
              <a:gd name="csY5" fmla="*/ 1214512 h 2598821"/>
              <a:gd name="csX6" fmla="*/ 66266 w 5802146"/>
              <a:gd name="csY6" fmla="*/ 1222283 h 2598821"/>
              <a:gd name="csX7" fmla="*/ 68948 w 5802146"/>
              <a:gd name="csY7" fmla="*/ 1218222 h 2598821"/>
              <a:gd name="csX8" fmla="*/ 85918 w 5802146"/>
              <a:gd name="csY8" fmla="*/ 1202356 h 2598821"/>
              <a:gd name="csX9" fmla="*/ 65489 w 5802146"/>
              <a:gd name="csY9" fmla="*/ 1232034 h 2598821"/>
              <a:gd name="csX10" fmla="*/ 113616 w 5802146"/>
              <a:gd name="csY10" fmla="*/ 1251284 h 2598821"/>
              <a:gd name="csX11" fmla="*/ 748883 w 5802146"/>
              <a:gd name="csY11" fmla="*/ 1270535 h 2598821"/>
              <a:gd name="csX12" fmla="*/ 999140 w 5802146"/>
              <a:gd name="csY12" fmla="*/ 1578543 h 2598821"/>
              <a:gd name="csX13" fmla="*/ 1047266 w 5802146"/>
              <a:gd name="csY13" fmla="*/ 1665171 h 2598821"/>
              <a:gd name="csX14" fmla="*/ 1114643 w 5802146"/>
              <a:gd name="csY14" fmla="*/ 1761423 h 2598821"/>
              <a:gd name="csX15" fmla="*/ 1172395 w 5802146"/>
              <a:gd name="csY15" fmla="*/ 1867301 h 2598821"/>
              <a:gd name="csX16" fmla="*/ 1441902 w 5802146"/>
              <a:gd name="csY16" fmla="*/ 2146434 h 2598821"/>
              <a:gd name="csX17" fmla="*/ 1730660 w 5802146"/>
              <a:gd name="csY17" fmla="*/ 2300438 h 2598821"/>
              <a:gd name="csX18" fmla="*/ 1826912 w 5802146"/>
              <a:gd name="csY18" fmla="*/ 2338939 h 2598821"/>
              <a:gd name="csX19" fmla="*/ 2086795 w 5802146"/>
              <a:gd name="csY19" fmla="*/ 2387066 h 2598821"/>
              <a:gd name="csX20" fmla="*/ 2673936 w 5802146"/>
              <a:gd name="csY20" fmla="*/ 2464068 h 2598821"/>
              <a:gd name="csX21" fmla="*/ 2991569 w 5802146"/>
              <a:gd name="csY21" fmla="*/ 2502569 h 2598821"/>
              <a:gd name="csX22" fmla="*/ 3530584 w 5802146"/>
              <a:gd name="csY22" fmla="*/ 2521819 h 2598821"/>
              <a:gd name="csX23" fmla="*/ 3915595 w 5802146"/>
              <a:gd name="csY23" fmla="*/ 2560320 h 2598821"/>
              <a:gd name="csX24" fmla="*/ 4310230 w 5802146"/>
              <a:gd name="csY24" fmla="*/ 2569946 h 2598821"/>
              <a:gd name="csX25" fmla="*/ 4791493 w 5802146"/>
              <a:gd name="csY25" fmla="*/ 2598821 h 2598821"/>
              <a:gd name="csX26" fmla="*/ 5686643 w 5802146"/>
              <a:gd name="csY26" fmla="*/ 2569946 h 2598821"/>
              <a:gd name="csX27" fmla="*/ 5763645 w 5802146"/>
              <a:gd name="csY27" fmla="*/ 2483318 h 2598821"/>
              <a:gd name="csX28" fmla="*/ 5782896 w 5802146"/>
              <a:gd name="csY28" fmla="*/ 2300438 h 2598821"/>
              <a:gd name="csX29" fmla="*/ 5802146 w 5802146"/>
              <a:gd name="csY29" fmla="*/ 2030931 h 2598821"/>
              <a:gd name="csX30" fmla="*/ 5773270 w 5802146"/>
              <a:gd name="csY30" fmla="*/ 1366788 h 2598821"/>
              <a:gd name="csX31" fmla="*/ 5715519 w 5802146"/>
              <a:gd name="csY31" fmla="*/ 1328287 h 2598821"/>
              <a:gd name="csX32" fmla="*/ 5619266 w 5802146"/>
              <a:gd name="csY32" fmla="*/ 1309036 h 2598821"/>
              <a:gd name="csX33" fmla="*/ 5417136 w 5802146"/>
              <a:gd name="csY33" fmla="*/ 1289786 h 2598821"/>
              <a:gd name="csX34" fmla="*/ 4598988 w 5802146"/>
              <a:gd name="csY34" fmla="*/ 1309036 h 2598821"/>
              <a:gd name="csX35" fmla="*/ 4435359 w 5802146"/>
              <a:gd name="csY35" fmla="*/ 1357162 h 2598821"/>
              <a:gd name="csX36" fmla="*/ 4348731 w 5802146"/>
              <a:gd name="csY36" fmla="*/ 1386038 h 2598821"/>
              <a:gd name="csX37" fmla="*/ 4213978 w 5802146"/>
              <a:gd name="csY37" fmla="*/ 1443790 h 2598821"/>
              <a:gd name="csX38" fmla="*/ 4127350 w 5802146"/>
              <a:gd name="csY38" fmla="*/ 1501541 h 2598821"/>
              <a:gd name="csX39" fmla="*/ 4031098 w 5802146"/>
              <a:gd name="csY39" fmla="*/ 1549668 h 2598821"/>
              <a:gd name="csX40" fmla="*/ 3877093 w 5802146"/>
              <a:gd name="csY40" fmla="*/ 1645920 h 2598821"/>
              <a:gd name="csX41" fmla="*/ 3828967 w 5802146"/>
              <a:gd name="csY41" fmla="*/ 1674796 h 2598821"/>
              <a:gd name="csX42" fmla="*/ 3780841 w 5802146"/>
              <a:gd name="csY42" fmla="*/ 1713297 h 2598821"/>
              <a:gd name="csX43" fmla="*/ 3723089 w 5802146"/>
              <a:gd name="csY43" fmla="*/ 1742173 h 2598821"/>
              <a:gd name="csX44" fmla="*/ 3674963 w 5802146"/>
              <a:gd name="csY44" fmla="*/ 1780674 h 2598821"/>
              <a:gd name="csX45" fmla="*/ 3597961 w 5802146"/>
              <a:gd name="csY45" fmla="*/ 1819175 h 2598821"/>
              <a:gd name="csX46" fmla="*/ 3537327 w 5802146"/>
              <a:gd name="csY46" fmla="*/ 1756962 h 2598821"/>
              <a:gd name="csX47" fmla="*/ 3472632 w 5802146"/>
              <a:gd name="csY47" fmla="*/ 1709036 h 2598821"/>
              <a:gd name="csX48" fmla="*/ 3412499 w 5802146"/>
              <a:gd name="csY48" fmla="*/ 1684722 h 2598821"/>
              <a:gd name="csX49" fmla="*/ 3357329 w 5802146"/>
              <a:gd name="csY49" fmla="*/ 1665171 h 2598821"/>
              <a:gd name="csX50" fmla="*/ 3328453 w 5802146"/>
              <a:gd name="csY50" fmla="*/ 1645920 h 2598821"/>
              <a:gd name="csX51" fmla="*/ 3261077 w 5802146"/>
              <a:gd name="csY51" fmla="*/ 1588169 h 2598821"/>
              <a:gd name="csX52" fmla="*/ 3232201 w 5802146"/>
              <a:gd name="csY52" fmla="*/ 1578543 h 2598821"/>
              <a:gd name="csX53" fmla="*/ 3155199 w 5802146"/>
              <a:gd name="csY53" fmla="*/ 1511167 h 2598821"/>
              <a:gd name="csX54" fmla="*/ 3087822 w 5802146"/>
              <a:gd name="csY54" fmla="*/ 1472666 h 2598821"/>
              <a:gd name="csX55" fmla="*/ 3039696 w 5802146"/>
              <a:gd name="csY55" fmla="*/ 1443790 h 2598821"/>
              <a:gd name="csX56" fmla="*/ 2969938 w 5802146"/>
              <a:gd name="csY56" fmla="*/ 1412232 h 2598821"/>
              <a:gd name="csX57" fmla="*/ 2914567 w 5802146"/>
              <a:gd name="csY57" fmla="*/ 1366788 h 2598821"/>
              <a:gd name="csX58" fmla="*/ 2866441 w 5802146"/>
              <a:gd name="csY58" fmla="*/ 1347537 h 2598821"/>
              <a:gd name="csX59" fmla="*/ 2789439 w 5802146"/>
              <a:gd name="csY59" fmla="*/ 1299411 h 2598821"/>
              <a:gd name="csX60" fmla="*/ 2731687 w 5802146"/>
              <a:gd name="csY60" fmla="*/ 1212783 h 2598821"/>
              <a:gd name="csX61" fmla="*/ 2760563 w 5802146"/>
              <a:gd name="csY61" fmla="*/ 577516 h 2598821"/>
              <a:gd name="csX62" fmla="*/ 2750938 w 5802146"/>
              <a:gd name="csY62" fmla="*/ 308009 h 2598821"/>
              <a:gd name="csX63" fmla="*/ 2731687 w 5802146"/>
              <a:gd name="csY63" fmla="*/ 192506 h 2598821"/>
              <a:gd name="csX64" fmla="*/ 2712437 w 5802146"/>
              <a:gd name="csY64" fmla="*/ 144379 h 2598821"/>
              <a:gd name="csX65" fmla="*/ 2654685 w 5802146"/>
              <a:gd name="csY65" fmla="*/ 77002 h 2598821"/>
              <a:gd name="csX66" fmla="*/ 2625809 w 5802146"/>
              <a:gd name="csY66" fmla="*/ 38501 h 2598821"/>
              <a:gd name="csX67" fmla="*/ 2568058 w 5802146"/>
              <a:gd name="csY67" fmla="*/ 0 h 2598821"/>
              <a:gd name="csX68" fmla="*/ 2625809 w 5802146"/>
              <a:gd name="csY68" fmla="*/ 57752 h 2598821"/>
              <a:gd name="csX0" fmla="*/ 2625809 w 5802146"/>
              <a:gd name="csY0" fmla="*/ 57752 h 2598821"/>
              <a:gd name="csX1" fmla="*/ 55864 w 5802146"/>
              <a:gd name="csY1" fmla="*/ 67377 h 2598821"/>
              <a:gd name="csX2" fmla="*/ 10895 w 5802146"/>
              <a:gd name="csY2" fmla="*/ 131872 h 2598821"/>
              <a:gd name="csX3" fmla="*/ 1370 w 5802146"/>
              <a:gd name="csY3" fmla="*/ 543376 h 2598821"/>
              <a:gd name="csX4" fmla="*/ 20822 w 5802146"/>
              <a:gd name="csY4" fmla="*/ 1101692 h 2598821"/>
              <a:gd name="csX5" fmla="*/ 49498 w 5802146"/>
              <a:gd name="csY5" fmla="*/ 1214512 h 2598821"/>
              <a:gd name="csX6" fmla="*/ 66266 w 5802146"/>
              <a:gd name="csY6" fmla="*/ 1222283 h 2598821"/>
              <a:gd name="csX7" fmla="*/ 68948 w 5802146"/>
              <a:gd name="csY7" fmla="*/ 1218222 h 2598821"/>
              <a:gd name="csX8" fmla="*/ 85918 w 5802146"/>
              <a:gd name="csY8" fmla="*/ 1202356 h 2598821"/>
              <a:gd name="csX9" fmla="*/ 65489 w 5802146"/>
              <a:gd name="csY9" fmla="*/ 1232034 h 2598821"/>
              <a:gd name="csX10" fmla="*/ 113616 w 5802146"/>
              <a:gd name="csY10" fmla="*/ 1251284 h 2598821"/>
              <a:gd name="csX11" fmla="*/ 748883 w 5802146"/>
              <a:gd name="csY11" fmla="*/ 1270535 h 2598821"/>
              <a:gd name="csX12" fmla="*/ 999140 w 5802146"/>
              <a:gd name="csY12" fmla="*/ 1578543 h 2598821"/>
              <a:gd name="csX13" fmla="*/ 1047266 w 5802146"/>
              <a:gd name="csY13" fmla="*/ 1665171 h 2598821"/>
              <a:gd name="csX14" fmla="*/ 1114643 w 5802146"/>
              <a:gd name="csY14" fmla="*/ 1761423 h 2598821"/>
              <a:gd name="csX15" fmla="*/ 1172395 w 5802146"/>
              <a:gd name="csY15" fmla="*/ 1867301 h 2598821"/>
              <a:gd name="csX16" fmla="*/ 1441902 w 5802146"/>
              <a:gd name="csY16" fmla="*/ 2146434 h 2598821"/>
              <a:gd name="csX17" fmla="*/ 1730660 w 5802146"/>
              <a:gd name="csY17" fmla="*/ 2300438 h 2598821"/>
              <a:gd name="csX18" fmla="*/ 1826912 w 5802146"/>
              <a:gd name="csY18" fmla="*/ 2338939 h 2598821"/>
              <a:gd name="csX19" fmla="*/ 2086795 w 5802146"/>
              <a:gd name="csY19" fmla="*/ 2387066 h 2598821"/>
              <a:gd name="csX20" fmla="*/ 2673936 w 5802146"/>
              <a:gd name="csY20" fmla="*/ 2464068 h 2598821"/>
              <a:gd name="csX21" fmla="*/ 2991569 w 5802146"/>
              <a:gd name="csY21" fmla="*/ 2502569 h 2598821"/>
              <a:gd name="csX22" fmla="*/ 3530584 w 5802146"/>
              <a:gd name="csY22" fmla="*/ 2521819 h 2598821"/>
              <a:gd name="csX23" fmla="*/ 3915595 w 5802146"/>
              <a:gd name="csY23" fmla="*/ 2560320 h 2598821"/>
              <a:gd name="csX24" fmla="*/ 4310230 w 5802146"/>
              <a:gd name="csY24" fmla="*/ 2569946 h 2598821"/>
              <a:gd name="csX25" fmla="*/ 4791493 w 5802146"/>
              <a:gd name="csY25" fmla="*/ 2598821 h 2598821"/>
              <a:gd name="csX26" fmla="*/ 5686643 w 5802146"/>
              <a:gd name="csY26" fmla="*/ 2569946 h 2598821"/>
              <a:gd name="csX27" fmla="*/ 5763645 w 5802146"/>
              <a:gd name="csY27" fmla="*/ 2483318 h 2598821"/>
              <a:gd name="csX28" fmla="*/ 5782896 w 5802146"/>
              <a:gd name="csY28" fmla="*/ 2300438 h 2598821"/>
              <a:gd name="csX29" fmla="*/ 5802146 w 5802146"/>
              <a:gd name="csY29" fmla="*/ 2030931 h 2598821"/>
              <a:gd name="csX30" fmla="*/ 5773270 w 5802146"/>
              <a:gd name="csY30" fmla="*/ 1366788 h 2598821"/>
              <a:gd name="csX31" fmla="*/ 5715519 w 5802146"/>
              <a:gd name="csY31" fmla="*/ 1328287 h 2598821"/>
              <a:gd name="csX32" fmla="*/ 5619266 w 5802146"/>
              <a:gd name="csY32" fmla="*/ 1309036 h 2598821"/>
              <a:gd name="csX33" fmla="*/ 5417136 w 5802146"/>
              <a:gd name="csY33" fmla="*/ 1289786 h 2598821"/>
              <a:gd name="csX34" fmla="*/ 4598988 w 5802146"/>
              <a:gd name="csY34" fmla="*/ 1309036 h 2598821"/>
              <a:gd name="csX35" fmla="*/ 4435359 w 5802146"/>
              <a:gd name="csY35" fmla="*/ 1357162 h 2598821"/>
              <a:gd name="csX36" fmla="*/ 4348731 w 5802146"/>
              <a:gd name="csY36" fmla="*/ 1386038 h 2598821"/>
              <a:gd name="csX37" fmla="*/ 4213978 w 5802146"/>
              <a:gd name="csY37" fmla="*/ 1443790 h 2598821"/>
              <a:gd name="csX38" fmla="*/ 4127350 w 5802146"/>
              <a:gd name="csY38" fmla="*/ 1501541 h 2598821"/>
              <a:gd name="csX39" fmla="*/ 4031098 w 5802146"/>
              <a:gd name="csY39" fmla="*/ 1549668 h 2598821"/>
              <a:gd name="csX40" fmla="*/ 3877093 w 5802146"/>
              <a:gd name="csY40" fmla="*/ 1645920 h 2598821"/>
              <a:gd name="csX41" fmla="*/ 3828967 w 5802146"/>
              <a:gd name="csY41" fmla="*/ 1674796 h 2598821"/>
              <a:gd name="csX42" fmla="*/ 3780841 w 5802146"/>
              <a:gd name="csY42" fmla="*/ 1713297 h 2598821"/>
              <a:gd name="csX43" fmla="*/ 3723089 w 5802146"/>
              <a:gd name="csY43" fmla="*/ 1742173 h 2598821"/>
              <a:gd name="csX44" fmla="*/ 3674963 w 5802146"/>
              <a:gd name="csY44" fmla="*/ 1780674 h 2598821"/>
              <a:gd name="csX45" fmla="*/ 3597961 w 5802146"/>
              <a:gd name="csY45" fmla="*/ 1819175 h 2598821"/>
              <a:gd name="csX46" fmla="*/ 3537327 w 5802146"/>
              <a:gd name="csY46" fmla="*/ 1756962 h 2598821"/>
              <a:gd name="csX47" fmla="*/ 3472632 w 5802146"/>
              <a:gd name="csY47" fmla="*/ 1709036 h 2598821"/>
              <a:gd name="csX48" fmla="*/ 3412499 w 5802146"/>
              <a:gd name="csY48" fmla="*/ 1684722 h 2598821"/>
              <a:gd name="csX49" fmla="*/ 3357329 w 5802146"/>
              <a:gd name="csY49" fmla="*/ 1665171 h 2598821"/>
              <a:gd name="csX50" fmla="*/ 3328453 w 5802146"/>
              <a:gd name="csY50" fmla="*/ 1645920 h 2598821"/>
              <a:gd name="csX51" fmla="*/ 3261077 w 5802146"/>
              <a:gd name="csY51" fmla="*/ 1588169 h 2598821"/>
              <a:gd name="csX52" fmla="*/ 3232201 w 5802146"/>
              <a:gd name="csY52" fmla="*/ 1578543 h 2598821"/>
              <a:gd name="csX53" fmla="*/ 3155199 w 5802146"/>
              <a:gd name="csY53" fmla="*/ 1511167 h 2598821"/>
              <a:gd name="csX54" fmla="*/ 3087822 w 5802146"/>
              <a:gd name="csY54" fmla="*/ 1472666 h 2598821"/>
              <a:gd name="csX55" fmla="*/ 3039696 w 5802146"/>
              <a:gd name="csY55" fmla="*/ 1443790 h 2598821"/>
              <a:gd name="csX56" fmla="*/ 2969938 w 5802146"/>
              <a:gd name="csY56" fmla="*/ 1412232 h 2598821"/>
              <a:gd name="csX57" fmla="*/ 2914567 w 5802146"/>
              <a:gd name="csY57" fmla="*/ 1366788 h 2598821"/>
              <a:gd name="csX58" fmla="*/ 2866441 w 5802146"/>
              <a:gd name="csY58" fmla="*/ 1347537 h 2598821"/>
              <a:gd name="csX59" fmla="*/ 2789439 w 5802146"/>
              <a:gd name="csY59" fmla="*/ 1299411 h 2598821"/>
              <a:gd name="csX60" fmla="*/ 2731687 w 5802146"/>
              <a:gd name="csY60" fmla="*/ 1212783 h 2598821"/>
              <a:gd name="csX61" fmla="*/ 2760563 w 5802146"/>
              <a:gd name="csY61" fmla="*/ 577516 h 2598821"/>
              <a:gd name="csX62" fmla="*/ 2750938 w 5802146"/>
              <a:gd name="csY62" fmla="*/ 308009 h 2598821"/>
              <a:gd name="csX63" fmla="*/ 2731687 w 5802146"/>
              <a:gd name="csY63" fmla="*/ 192506 h 2598821"/>
              <a:gd name="csX64" fmla="*/ 2712437 w 5802146"/>
              <a:gd name="csY64" fmla="*/ 144379 h 2598821"/>
              <a:gd name="csX65" fmla="*/ 2654685 w 5802146"/>
              <a:gd name="csY65" fmla="*/ 77002 h 2598821"/>
              <a:gd name="csX66" fmla="*/ 2625809 w 5802146"/>
              <a:gd name="csY66" fmla="*/ 38501 h 2598821"/>
              <a:gd name="csX67" fmla="*/ 2568058 w 5802146"/>
              <a:gd name="csY67" fmla="*/ 0 h 2598821"/>
              <a:gd name="csX68" fmla="*/ 2625809 w 5802146"/>
              <a:gd name="csY68" fmla="*/ 57752 h 2598821"/>
              <a:gd name="csX0" fmla="*/ 2625809 w 5802146"/>
              <a:gd name="csY0" fmla="*/ 57752 h 2598821"/>
              <a:gd name="csX1" fmla="*/ 55864 w 5802146"/>
              <a:gd name="csY1" fmla="*/ 67377 h 2598821"/>
              <a:gd name="csX2" fmla="*/ 10895 w 5802146"/>
              <a:gd name="csY2" fmla="*/ 131872 h 2598821"/>
              <a:gd name="csX3" fmla="*/ 1370 w 5802146"/>
              <a:gd name="csY3" fmla="*/ 543376 h 2598821"/>
              <a:gd name="csX4" fmla="*/ 20822 w 5802146"/>
              <a:gd name="csY4" fmla="*/ 1101692 h 2598821"/>
              <a:gd name="csX5" fmla="*/ 49498 w 5802146"/>
              <a:gd name="csY5" fmla="*/ 1214512 h 2598821"/>
              <a:gd name="csX6" fmla="*/ 66266 w 5802146"/>
              <a:gd name="csY6" fmla="*/ 1222283 h 2598821"/>
              <a:gd name="csX7" fmla="*/ 68948 w 5802146"/>
              <a:gd name="csY7" fmla="*/ 1218222 h 2598821"/>
              <a:gd name="csX8" fmla="*/ 85918 w 5802146"/>
              <a:gd name="csY8" fmla="*/ 1202356 h 2598821"/>
              <a:gd name="csX9" fmla="*/ 165501 w 5802146"/>
              <a:gd name="csY9" fmla="*/ 1134403 h 2598821"/>
              <a:gd name="csX10" fmla="*/ 113616 w 5802146"/>
              <a:gd name="csY10" fmla="*/ 1251284 h 2598821"/>
              <a:gd name="csX11" fmla="*/ 748883 w 5802146"/>
              <a:gd name="csY11" fmla="*/ 1270535 h 2598821"/>
              <a:gd name="csX12" fmla="*/ 999140 w 5802146"/>
              <a:gd name="csY12" fmla="*/ 1578543 h 2598821"/>
              <a:gd name="csX13" fmla="*/ 1047266 w 5802146"/>
              <a:gd name="csY13" fmla="*/ 1665171 h 2598821"/>
              <a:gd name="csX14" fmla="*/ 1114643 w 5802146"/>
              <a:gd name="csY14" fmla="*/ 1761423 h 2598821"/>
              <a:gd name="csX15" fmla="*/ 1172395 w 5802146"/>
              <a:gd name="csY15" fmla="*/ 1867301 h 2598821"/>
              <a:gd name="csX16" fmla="*/ 1441902 w 5802146"/>
              <a:gd name="csY16" fmla="*/ 2146434 h 2598821"/>
              <a:gd name="csX17" fmla="*/ 1730660 w 5802146"/>
              <a:gd name="csY17" fmla="*/ 2300438 h 2598821"/>
              <a:gd name="csX18" fmla="*/ 1826912 w 5802146"/>
              <a:gd name="csY18" fmla="*/ 2338939 h 2598821"/>
              <a:gd name="csX19" fmla="*/ 2086795 w 5802146"/>
              <a:gd name="csY19" fmla="*/ 2387066 h 2598821"/>
              <a:gd name="csX20" fmla="*/ 2673936 w 5802146"/>
              <a:gd name="csY20" fmla="*/ 2464068 h 2598821"/>
              <a:gd name="csX21" fmla="*/ 2991569 w 5802146"/>
              <a:gd name="csY21" fmla="*/ 2502569 h 2598821"/>
              <a:gd name="csX22" fmla="*/ 3530584 w 5802146"/>
              <a:gd name="csY22" fmla="*/ 2521819 h 2598821"/>
              <a:gd name="csX23" fmla="*/ 3915595 w 5802146"/>
              <a:gd name="csY23" fmla="*/ 2560320 h 2598821"/>
              <a:gd name="csX24" fmla="*/ 4310230 w 5802146"/>
              <a:gd name="csY24" fmla="*/ 2569946 h 2598821"/>
              <a:gd name="csX25" fmla="*/ 4791493 w 5802146"/>
              <a:gd name="csY25" fmla="*/ 2598821 h 2598821"/>
              <a:gd name="csX26" fmla="*/ 5686643 w 5802146"/>
              <a:gd name="csY26" fmla="*/ 2569946 h 2598821"/>
              <a:gd name="csX27" fmla="*/ 5763645 w 5802146"/>
              <a:gd name="csY27" fmla="*/ 2483318 h 2598821"/>
              <a:gd name="csX28" fmla="*/ 5782896 w 5802146"/>
              <a:gd name="csY28" fmla="*/ 2300438 h 2598821"/>
              <a:gd name="csX29" fmla="*/ 5802146 w 5802146"/>
              <a:gd name="csY29" fmla="*/ 2030931 h 2598821"/>
              <a:gd name="csX30" fmla="*/ 5773270 w 5802146"/>
              <a:gd name="csY30" fmla="*/ 1366788 h 2598821"/>
              <a:gd name="csX31" fmla="*/ 5715519 w 5802146"/>
              <a:gd name="csY31" fmla="*/ 1328287 h 2598821"/>
              <a:gd name="csX32" fmla="*/ 5619266 w 5802146"/>
              <a:gd name="csY32" fmla="*/ 1309036 h 2598821"/>
              <a:gd name="csX33" fmla="*/ 5417136 w 5802146"/>
              <a:gd name="csY33" fmla="*/ 1289786 h 2598821"/>
              <a:gd name="csX34" fmla="*/ 4598988 w 5802146"/>
              <a:gd name="csY34" fmla="*/ 1309036 h 2598821"/>
              <a:gd name="csX35" fmla="*/ 4435359 w 5802146"/>
              <a:gd name="csY35" fmla="*/ 1357162 h 2598821"/>
              <a:gd name="csX36" fmla="*/ 4348731 w 5802146"/>
              <a:gd name="csY36" fmla="*/ 1386038 h 2598821"/>
              <a:gd name="csX37" fmla="*/ 4213978 w 5802146"/>
              <a:gd name="csY37" fmla="*/ 1443790 h 2598821"/>
              <a:gd name="csX38" fmla="*/ 4127350 w 5802146"/>
              <a:gd name="csY38" fmla="*/ 1501541 h 2598821"/>
              <a:gd name="csX39" fmla="*/ 4031098 w 5802146"/>
              <a:gd name="csY39" fmla="*/ 1549668 h 2598821"/>
              <a:gd name="csX40" fmla="*/ 3877093 w 5802146"/>
              <a:gd name="csY40" fmla="*/ 1645920 h 2598821"/>
              <a:gd name="csX41" fmla="*/ 3828967 w 5802146"/>
              <a:gd name="csY41" fmla="*/ 1674796 h 2598821"/>
              <a:gd name="csX42" fmla="*/ 3780841 w 5802146"/>
              <a:gd name="csY42" fmla="*/ 1713297 h 2598821"/>
              <a:gd name="csX43" fmla="*/ 3723089 w 5802146"/>
              <a:gd name="csY43" fmla="*/ 1742173 h 2598821"/>
              <a:gd name="csX44" fmla="*/ 3674963 w 5802146"/>
              <a:gd name="csY44" fmla="*/ 1780674 h 2598821"/>
              <a:gd name="csX45" fmla="*/ 3597961 w 5802146"/>
              <a:gd name="csY45" fmla="*/ 1819175 h 2598821"/>
              <a:gd name="csX46" fmla="*/ 3537327 w 5802146"/>
              <a:gd name="csY46" fmla="*/ 1756962 h 2598821"/>
              <a:gd name="csX47" fmla="*/ 3472632 w 5802146"/>
              <a:gd name="csY47" fmla="*/ 1709036 h 2598821"/>
              <a:gd name="csX48" fmla="*/ 3412499 w 5802146"/>
              <a:gd name="csY48" fmla="*/ 1684722 h 2598821"/>
              <a:gd name="csX49" fmla="*/ 3357329 w 5802146"/>
              <a:gd name="csY49" fmla="*/ 1665171 h 2598821"/>
              <a:gd name="csX50" fmla="*/ 3328453 w 5802146"/>
              <a:gd name="csY50" fmla="*/ 1645920 h 2598821"/>
              <a:gd name="csX51" fmla="*/ 3261077 w 5802146"/>
              <a:gd name="csY51" fmla="*/ 1588169 h 2598821"/>
              <a:gd name="csX52" fmla="*/ 3232201 w 5802146"/>
              <a:gd name="csY52" fmla="*/ 1578543 h 2598821"/>
              <a:gd name="csX53" fmla="*/ 3155199 w 5802146"/>
              <a:gd name="csY53" fmla="*/ 1511167 h 2598821"/>
              <a:gd name="csX54" fmla="*/ 3087822 w 5802146"/>
              <a:gd name="csY54" fmla="*/ 1472666 h 2598821"/>
              <a:gd name="csX55" fmla="*/ 3039696 w 5802146"/>
              <a:gd name="csY55" fmla="*/ 1443790 h 2598821"/>
              <a:gd name="csX56" fmla="*/ 2969938 w 5802146"/>
              <a:gd name="csY56" fmla="*/ 1412232 h 2598821"/>
              <a:gd name="csX57" fmla="*/ 2914567 w 5802146"/>
              <a:gd name="csY57" fmla="*/ 1366788 h 2598821"/>
              <a:gd name="csX58" fmla="*/ 2866441 w 5802146"/>
              <a:gd name="csY58" fmla="*/ 1347537 h 2598821"/>
              <a:gd name="csX59" fmla="*/ 2789439 w 5802146"/>
              <a:gd name="csY59" fmla="*/ 1299411 h 2598821"/>
              <a:gd name="csX60" fmla="*/ 2731687 w 5802146"/>
              <a:gd name="csY60" fmla="*/ 1212783 h 2598821"/>
              <a:gd name="csX61" fmla="*/ 2760563 w 5802146"/>
              <a:gd name="csY61" fmla="*/ 577516 h 2598821"/>
              <a:gd name="csX62" fmla="*/ 2750938 w 5802146"/>
              <a:gd name="csY62" fmla="*/ 308009 h 2598821"/>
              <a:gd name="csX63" fmla="*/ 2731687 w 5802146"/>
              <a:gd name="csY63" fmla="*/ 192506 h 2598821"/>
              <a:gd name="csX64" fmla="*/ 2712437 w 5802146"/>
              <a:gd name="csY64" fmla="*/ 144379 h 2598821"/>
              <a:gd name="csX65" fmla="*/ 2654685 w 5802146"/>
              <a:gd name="csY65" fmla="*/ 77002 h 2598821"/>
              <a:gd name="csX66" fmla="*/ 2625809 w 5802146"/>
              <a:gd name="csY66" fmla="*/ 38501 h 2598821"/>
              <a:gd name="csX67" fmla="*/ 2568058 w 5802146"/>
              <a:gd name="csY67" fmla="*/ 0 h 2598821"/>
              <a:gd name="csX68" fmla="*/ 2625809 w 5802146"/>
              <a:gd name="csY68" fmla="*/ 57752 h 2598821"/>
              <a:gd name="csX0" fmla="*/ 2625809 w 5806976"/>
              <a:gd name="csY0" fmla="*/ 57752 h 2598821"/>
              <a:gd name="csX1" fmla="*/ 55864 w 5806976"/>
              <a:gd name="csY1" fmla="*/ 67377 h 2598821"/>
              <a:gd name="csX2" fmla="*/ 10895 w 5806976"/>
              <a:gd name="csY2" fmla="*/ 131872 h 2598821"/>
              <a:gd name="csX3" fmla="*/ 1370 w 5806976"/>
              <a:gd name="csY3" fmla="*/ 543376 h 2598821"/>
              <a:gd name="csX4" fmla="*/ 20822 w 5806976"/>
              <a:gd name="csY4" fmla="*/ 1101692 h 2598821"/>
              <a:gd name="csX5" fmla="*/ 49498 w 5806976"/>
              <a:gd name="csY5" fmla="*/ 1214512 h 2598821"/>
              <a:gd name="csX6" fmla="*/ 66266 w 5806976"/>
              <a:gd name="csY6" fmla="*/ 1222283 h 2598821"/>
              <a:gd name="csX7" fmla="*/ 68948 w 5806976"/>
              <a:gd name="csY7" fmla="*/ 1218222 h 2598821"/>
              <a:gd name="csX8" fmla="*/ 85918 w 5806976"/>
              <a:gd name="csY8" fmla="*/ 1202356 h 2598821"/>
              <a:gd name="csX9" fmla="*/ 165501 w 5806976"/>
              <a:gd name="csY9" fmla="*/ 1134403 h 2598821"/>
              <a:gd name="csX10" fmla="*/ 113616 w 5806976"/>
              <a:gd name="csY10" fmla="*/ 1251284 h 2598821"/>
              <a:gd name="csX11" fmla="*/ 748883 w 5806976"/>
              <a:gd name="csY11" fmla="*/ 1270535 h 2598821"/>
              <a:gd name="csX12" fmla="*/ 999140 w 5806976"/>
              <a:gd name="csY12" fmla="*/ 1578543 h 2598821"/>
              <a:gd name="csX13" fmla="*/ 1047266 w 5806976"/>
              <a:gd name="csY13" fmla="*/ 1665171 h 2598821"/>
              <a:gd name="csX14" fmla="*/ 1114643 w 5806976"/>
              <a:gd name="csY14" fmla="*/ 1761423 h 2598821"/>
              <a:gd name="csX15" fmla="*/ 1172395 w 5806976"/>
              <a:gd name="csY15" fmla="*/ 1867301 h 2598821"/>
              <a:gd name="csX16" fmla="*/ 1441902 w 5806976"/>
              <a:gd name="csY16" fmla="*/ 2146434 h 2598821"/>
              <a:gd name="csX17" fmla="*/ 1730660 w 5806976"/>
              <a:gd name="csY17" fmla="*/ 2300438 h 2598821"/>
              <a:gd name="csX18" fmla="*/ 1826912 w 5806976"/>
              <a:gd name="csY18" fmla="*/ 2338939 h 2598821"/>
              <a:gd name="csX19" fmla="*/ 2086795 w 5806976"/>
              <a:gd name="csY19" fmla="*/ 2387066 h 2598821"/>
              <a:gd name="csX20" fmla="*/ 2673936 w 5806976"/>
              <a:gd name="csY20" fmla="*/ 2464068 h 2598821"/>
              <a:gd name="csX21" fmla="*/ 2991569 w 5806976"/>
              <a:gd name="csY21" fmla="*/ 2502569 h 2598821"/>
              <a:gd name="csX22" fmla="*/ 3530584 w 5806976"/>
              <a:gd name="csY22" fmla="*/ 2521819 h 2598821"/>
              <a:gd name="csX23" fmla="*/ 3915595 w 5806976"/>
              <a:gd name="csY23" fmla="*/ 2560320 h 2598821"/>
              <a:gd name="csX24" fmla="*/ 4310230 w 5806976"/>
              <a:gd name="csY24" fmla="*/ 2569946 h 2598821"/>
              <a:gd name="csX25" fmla="*/ 4791493 w 5806976"/>
              <a:gd name="csY25" fmla="*/ 2598821 h 2598821"/>
              <a:gd name="csX26" fmla="*/ 5686643 w 5806976"/>
              <a:gd name="csY26" fmla="*/ 2569946 h 2598821"/>
              <a:gd name="csX27" fmla="*/ 5537426 w 5806976"/>
              <a:gd name="csY27" fmla="*/ 2330918 h 2598821"/>
              <a:gd name="csX28" fmla="*/ 5782896 w 5806976"/>
              <a:gd name="csY28" fmla="*/ 2300438 h 2598821"/>
              <a:gd name="csX29" fmla="*/ 5802146 w 5806976"/>
              <a:gd name="csY29" fmla="*/ 2030931 h 2598821"/>
              <a:gd name="csX30" fmla="*/ 5773270 w 5806976"/>
              <a:gd name="csY30" fmla="*/ 1366788 h 2598821"/>
              <a:gd name="csX31" fmla="*/ 5715519 w 5806976"/>
              <a:gd name="csY31" fmla="*/ 1328287 h 2598821"/>
              <a:gd name="csX32" fmla="*/ 5619266 w 5806976"/>
              <a:gd name="csY32" fmla="*/ 1309036 h 2598821"/>
              <a:gd name="csX33" fmla="*/ 5417136 w 5806976"/>
              <a:gd name="csY33" fmla="*/ 1289786 h 2598821"/>
              <a:gd name="csX34" fmla="*/ 4598988 w 5806976"/>
              <a:gd name="csY34" fmla="*/ 1309036 h 2598821"/>
              <a:gd name="csX35" fmla="*/ 4435359 w 5806976"/>
              <a:gd name="csY35" fmla="*/ 1357162 h 2598821"/>
              <a:gd name="csX36" fmla="*/ 4348731 w 5806976"/>
              <a:gd name="csY36" fmla="*/ 1386038 h 2598821"/>
              <a:gd name="csX37" fmla="*/ 4213978 w 5806976"/>
              <a:gd name="csY37" fmla="*/ 1443790 h 2598821"/>
              <a:gd name="csX38" fmla="*/ 4127350 w 5806976"/>
              <a:gd name="csY38" fmla="*/ 1501541 h 2598821"/>
              <a:gd name="csX39" fmla="*/ 4031098 w 5806976"/>
              <a:gd name="csY39" fmla="*/ 1549668 h 2598821"/>
              <a:gd name="csX40" fmla="*/ 3877093 w 5806976"/>
              <a:gd name="csY40" fmla="*/ 1645920 h 2598821"/>
              <a:gd name="csX41" fmla="*/ 3828967 w 5806976"/>
              <a:gd name="csY41" fmla="*/ 1674796 h 2598821"/>
              <a:gd name="csX42" fmla="*/ 3780841 w 5806976"/>
              <a:gd name="csY42" fmla="*/ 1713297 h 2598821"/>
              <a:gd name="csX43" fmla="*/ 3723089 w 5806976"/>
              <a:gd name="csY43" fmla="*/ 1742173 h 2598821"/>
              <a:gd name="csX44" fmla="*/ 3674963 w 5806976"/>
              <a:gd name="csY44" fmla="*/ 1780674 h 2598821"/>
              <a:gd name="csX45" fmla="*/ 3597961 w 5806976"/>
              <a:gd name="csY45" fmla="*/ 1819175 h 2598821"/>
              <a:gd name="csX46" fmla="*/ 3537327 w 5806976"/>
              <a:gd name="csY46" fmla="*/ 1756962 h 2598821"/>
              <a:gd name="csX47" fmla="*/ 3472632 w 5806976"/>
              <a:gd name="csY47" fmla="*/ 1709036 h 2598821"/>
              <a:gd name="csX48" fmla="*/ 3412499 w 5806976"/>
              <a:gd name="csY48" fmla="*/ 1684722 h 2598821"/>
              <a:gd name="csX49" fmla="*/ 3357329 w 5806976"/>
              <a:gd name="csY49" fmla="*/ 1665171 h 2598821"/>
              <a:gd name="csX50" fmla="*/ 3328453 w 5806976"/>
              <a:gd name="csY50" fmla="*/ 1645920 h 2598821"/>
              <a:gd name="csX51" fmla="*/ 3261077 w 5806976"/>
              <a:gd name="csY51" fmla="*/ 1588169 h 2598821"/>
              <a:gd name="csX52" fmla="*/ 3232201 w 5806976"/>
              <a:gd name="csY52" fmla="*/ 1578543 h 2598821"/>
              <a:gd name="csX53" fmla="*/ 3155199 w 5806976"/>
              <a:gd name="csY53" fmla="*/ 1511167 h 2598821"/>
              <a:gd name="csX54" fmla="*/ 3087822 w 5806976"/>
              <a:gd name="csY54" fmla="*/ 1472666 h 2598821"/>
              <a:gd name="csX55" fmla="*/ 3039696 w 5806976"/>
              <a:gd name="csY55" fmla="*/ 1443790 h 2598821"/>
              <a:gd name="csX56" fmla="*/ 2969938 w 5806976"/>
              <a:gd name="csY56" fmla="*/ 1412232 h 2598821"/>
              <a:gd name="csX57" fmla="*/ 2914567 w 5806976"/>
              <a:gd name="csY57" fmla="*/ 1366788 h 2598821"/>
              <a:gd name="csX58" fmla="*/ 2866441 w 5806976"/>
              <a:gd name="csY58" fmla="*/ 1347537 h 2598821"/>
              <a:gd name="csX59" fmla="*/ 2789439 w 5806976"/>
              <a:gd name="csY59" fmla="*/ 1299411 h 2598821"/>
              <a:gd name="csX60" fmla="*/ 2731687 w 5806976"/>
              <a:gd name="csY60" fmla="*/ 1212783 h 2598821"/>
              <a:gd name="csX61" fmla="*/ 2760563 w 5806976"/>
              <a:gd name="csY61" fmla="*/ 577516 h 2598821"/>
              <a:gd name="csX62" fmla="*/ 2750938 w 5806976"/>
              <a:gd name="csY62" fmla="*/ 308009 h 2598821"/>
              <a:gd name="csX63" fmla="*/ 2731687 w 5806976"/>
              <a:gd name="csY63" fmla="*/ 192506 h 2598821"/>
              <a:gd name="csX64" fmla="*/ 2712437 w 5806976"/>
              <a:gd name="csY64" fmla="*/ 144379 h 2598821"/>
              <a:gd name="csX65" fmla="*/ 2654685 w 5806976"/>
              <a:gd name="csY65" fmla="*/ 77002 h 2598821"/>
              <a:gd name="csX66" fmla="*/ 2625809 w 5806976"/>
              <a:gd name="csY66" fmla="*/ 38501 h 2598821"/>
              <a:gd name="csX67" fmla="*/ 2568058 w 5806976"/>
              <a:gd name="csY67" fmla="*/ 0 h 2598821"/>
              <a:gd name="csX68" fmla="*/ 2625809 w 5806976"/>
              <a:gd name="csY68" fmla="*/ 57752 h 2598821"/>
              <a:gd name="csX0" fmla="*/ 2625809 w 5806976"/>
              <a:gd name="csY0" fmla="*/ 57752 h 2598821"/>
              <a:gd name="csX1" fmla="*/ 55864 w 5806976"/>
              <a:gd name="csY1" fmla="*/ 67377 h 2598821"/>
              <a:gd name="csX2" fmla="*/ 10895 w 5806976"/>
              <a:gd name="csY2" fmla="*/ 131872 h 2598821"/>
              <a:gd name="csX3" fmla="*/ 1370 w 5806976"/>
              <a:gd name="csY3" fmla="*/ 543376 h 2598821"/>
              <a:gd name="csX4" fmla="*/ 20822 w 5806976"/>
              <a:gd name="csY4" fmla="*/ 1101692 h 2598821"/>
              <a:gd name="csX5" fmla="*/ 49498 w 5806976"/>
              <a:gd name="csY5" fmla="*/ 1214512 h 2598821"/>
              <a:gd name="csX6" fmla="*/ 66266 w 5806976"/>
              <a:gd name="csY6" fmla="*/ 1222283 h 2598821"/>
              <a:gd name="csX7" fmla="*/ 68948 w 5806976"/>
              <a:gd name="csY7" fmla="*/ 1218222 h 2598821"/>
              <a:gd name="csX8" fmla="*/ 85918 w 5806976"/>
              <a:gd name="csY8" fmla="*/ 1202356 h 2598821"/>
              <a:gd name="csX9" fmla="*/ 165501 w 5806976"/>
              <a:gd name="csY9" fmla="*/ 1134403 h 2598821"/>
              <a:gd name="csX10" fmla="*/ 113616 w 5806976"/>
              <a:gd name="csY10" fmla="*/ 1251284 h 2598821"/>
              <a:gd name="csX11" fmla="*/ 748883 w 5806976"/>
              <a:gd name="csY11" fmla="*/ 1270535 h 2598821"/>
              <a:gd name="csX12" fmla="*/ 999140 w 5806976"/>
              <a:gd name="csY12" fmla="*/ 1578543 h 2598821"/>
              <a:gd name="csX13" fmla="*/ 1047266 w 5806976"/>
              <a:gd name="csY13" fmla="*/ 1665171 h 2598821"/>
              <a:gd name="csX14" fmla="*/ 1114643 w 5806976"/>
              <a:gd name="csY14" fmla="*/ 1761423 h 2598821"/>
              <a:gd name="csX15" fmla="*/ 1172395 w 5806976"/>
              <a:gd name="csY15" fmla="*/ 1867301 h 2598821"/>
              <a:gd name="csX16" fmla="*/ 1441902 w 5806976"/>
              <a:gd name="csY16" fmla="*/ 2146434 h 2598821"/>
              <a:gd name="csX17" fmla="*/ 1730660 w 5806976"/>
              <a:gd name="csY17" fmla="*/ 2300438 h 2598821"/>
              <a:gd name="csX18" fmla="*/ 1826912 w 5806976"/>
              <a:gd name="csY18" fmla="*/ 2338939 h 2598821"/>
              <a:gd name="csX19" fmla="*/ 2086795 w 5806976"/>
              <a:gd name="csY19" fmla="*/ 2387066 h 2598821"/>
              <a:gd name="csX20" fmla="*/ 2673936 w 5806976"/>
              <a:gd name="csY20" fmla="*/ 2464068 h 2598821"/>
              <a:gd name="csX21" fmla="*/ 2991569 w 5806976"/>
              <a:gd name="csY21" fmla="*/ 2502569 h 2598821"/>
              <a:gd name="csX22" fmla="*/ 3530584 w 5806976"/>
              <a:gd name="csY22" fmla="*/ 2521819 h 2598821"/>
              <a:gd name="csX23" fmla="*/ 3915595 w 5806976"/>
              <a:gd name="csY23" fmla="*/ 2560320 h 2598821"/>
              <a:gd name="csX24" fmla="*/ 4310230 w 5806976"/>
              <a:gd name="csY24" fmla="*/ 2569946 h 2598821"/>
              <a:gd name="csX25" fmla="*/ 4791493 w 5806976"/>
              <a:gd name="csY25" fmla="*/ 2598821 h 2598821"/>
              <a:gd name="csX26" fmla="*/ 5405655 w 5806976"/>
              <a:gd name="csY26" fmla="*/ 2527084 h 2598821"/>
              <a:gd name="csX27" fmla="*/ 5537426 w 5806976"/>
              <a:gd name="csY27" fmla="*/ 2330918 h 2598821"/>
              <a:gd name="csX28" fmla="*/ 5782896 w 5806976"/>
              <a:gd name="csY28" fmla="*/ 2300438 h 2598821"/>
              <a:gd name="csX29" fmla="*/ 5802146 w 5806976"/>
              <a:gd name="csY29" fmla="*/ 2030931 h 2598821"/>
              <a:gd name="csX30" fmla="*/ 5773270 w 5806976"/>
              <a:gd name="csY30" fmla="*/ 1366788 h 2598821"/>
              <a:gd name="csX31" fmla="*/ 5715519 w 5806976"/>
              <a:gd name="csY31" fmla="*/ 1328287 h 2598821"/>
              <a:gd name="csX32" fmla="*/ 5619266 w 5806976"/>
              <a:gd name="csY32" fmla="*/ 1309036 h 2598821"/>
              <a:gd name="csX33" fmla="*/ 5417136 w 5806976"/>
              <a:gd name="csY33" fmla="*/ 1289786 h 2598821"/>
              <a:gd name="csX34" fmla="*/ 4598988 w 5806976"/>
              <a:gd name="csY34" fmla="*/ 1309036 h 2598821"/>
              <a:gd name="csX35" fmla="*/ 4435359 w 5806976"/>
              <a:gd name="csY35" fmla="*/ 1357162 h 2598821"/>
              <a:gd name="csX36" fmla="*/ 4348731 w 5806976"/>
              <a:gd name="csY36" fmla="*/ 1386038 h 2598821"/>
              <a:gd name="csX37" fmla="*/ 4213978 w 5806976"/>
              <a:gd name="csY37" fmla="*/ 1443790 h 2598821"/>
              <a:gd name="csX38" fmla="*/ 4127350 w 5806976"/>
              <a:gd name="csY38" fmla="*/ 1501541 h 2598821"/>
              <a:gd name="csX39" fmla="*/ 4031098 w 5806976"/>
              <a:gd name="csY39" fmla="*/ 1549668 h 2598821"/>
              <a:gd name="csX40" fmla="*/ 3877093 w 5806976"/>
              <a:gd name="csY40" fmla="*/ 1645920 h 2598821"/>
              <a:gd name="csX41" fmla="*/ 3828967 w 5806976"/>
              <a:gd name="csY41" fmla="*/ 1674796 h 2598821"/>
              <a:gd name="csX42" fmla="*/ 3780841 w 5806976"/>
              <a:gd name="csY42" fmla="*/ 1713297 h 2598821"/>
              <a:gd name="csX43" fmla="*/ 3723089 w 5806976"/>
              <a:gd name="csY43" fmla="*/ 1742173 h 2598821"/>
              <a:gd name="csX44" fmla="*/ 3674963 w 5806976"/>
              <a:gd name="csY44" fmla="*/ 1780674 h 2598821"/>
              <a:gd name="csX45" fmla="*/ 3597961 w 5806976"/>
              <a:gd name="csY45" fmla="*/ 1819175 h 2598821"/>
              <a:gd name="csX46" fmla="*/ 3537327 w 5806976"/>
              <a:gd name="csY46" fmla="*/ 1756962 h 2598821"/>
              <a:gd name="csX47" fmla="*/ 3472632 w 5806976"/>
              <a:gd name="csY47" fmla="*/ 1709036 h 2598821"/>
              <a:gd name="csX48" fmla="*/ 3412499 w 5806976"/>
              <a:gd name="csY48" fmla="*/ 1684722 h 2598821"/>
              <a:gd name="csX49" fmla="*/ 3357329 w 5806976"/>
              <a:gd name="csY49" fmla="*/ 1665171 h 2598821"/>
              <a:gd name="csX50" fmla="*/ 3328453 w 5806976"/>
              <a:gd name="csY50" fmla="*/ 1645920 h 2598821"/>
              <a:gd name="csX51" fmla="*/ 3261077 w 5806976"/>
              <a:gd name="csY51" fmla="*/ 1588169 h 2598821"/>
              <a:gd name="csX52" fmla="*/ 3232201 w 5806976"/>
              <a:gd name="csY52" fmla="*/ 1578543 h 2598821"/>
              <a:gd name="csX53" fmla="*/ 3155199 w 5806976"/>
              <a:gd name="csY53" fmla="*/ 1511167 h 2598821"/>
              <a:gd name="csX54" fmla="*/ 3087822 w 5806976"/>
              <a:gd name="csY54" fmla="*/ 1472666 h 2598821"/>
              <a:gd name="csX55" fmla="*/ 3039696 w 5806976"/>
              <a:gd name="csY55" fmla="*/ 1443790 h 2598821"/>
              <a:gd name="csX56" fmla="*/ 2969938 w 5806976"/>
              <a:gd name="csY56" fmla="*/ 1412232 h 2598821"/>
              <a:gd name="csX57" fmla="*/ 2914567 w 5806976"/>
              <a:gd name="csY57" fmla="*/ 1366788 h 2598821"/>
              <a:gd name="csX58" fmla="*/ 2866441 w 5806976"/>
              <a:gd name="csY58" fmla="*/ 1347537 h 2598821"/>
              <a:gd name="csX59" fmla="*/ 2789439 w 5806976"/>
              <a:gd name="csY59" fmla="*/ 1299411 h 2598821"/>
              <a:gd name="csX60" fmla="*/ 2731687 w 5806976"/>
              <a:gd name="csY60" fmla="*/ 1212783 h 2598821"/>
              <a:gd name="csX61" fmla="*/ 2760563 w 5806976"/>
              <a:gd name="csY61" fmla="*/ 577516 h 2598821"/>
              <a:gd name="csX62" fmla="*/ 2750938 w 5806976"/>
              <a:gd name="csY62" fmla="*/ 308009 h 2598821"/>
              <a:gd name="csX63" fmla="*/ 2731687 w 5806976"/>
              <a:gd name="csY63" fmla="*/ 192506 h 2598821"/>
              <a:gd name="csX64" fmla="*/ 2712437 w 5806976"/>
              <a:gd name="csY64" fmla="*/ 144379 h 2598821"/>
              <a:gd name="csX65" fmla="*/ 2654685 w 5806976"/>
              <a:gd name="csY65" fmla="*/ 77002 h 2598821"/>
              <a:gd name="csX66" fmla="*/ 2625809 w 5806976"/>
              <a:gd name="csY66" fmla="*/ 38501 h 2598821"/>
              <a:gd name="csX67" fmla="*/ 2568058 w 5806976"/>
              <a:gd name="csY67" fmla="*/ 0 h 2598821"/>
              <a:gd name="csX68" fmla="*/ 2625809 w 5806976"/>
              <a:gd name="csY68" fmla="*/ 57752 h 2598821"/>
              <a:gd name="csX0" fmla="*/ 2625809 w 5802146"/>
              <a:gd name="csY0" fmla="*/ 57752 h 2598821"/>
              <a:gd name="csX1" fmla="*/ 55864 w 5802146"/>
              <a:gd name="csY1" fmla="*/ 67377 h 2598821"/>
              <a:gd name="csX2" fmla="*/ 10895 w 5802146"/>
              <a:gd name="csY2" fmla="*/ 131872 h 2598821"/>
              <a:gd name="csX3" fmla="*/ 1370 w 5802146"/>
              <a:gd name="csY3" fmla="*/ 543376 h 2598821"/>
              <a:gd name="csX4" fmla="*/ 20822 w 5802146"/>
              <a:gd name="csY4" fmla="*/ 1101692 h 2598821"/>
              <a:gd name="csX5" fmla="*/ 49498 w 5802146"/>
              <a:gd name="csY5" fmla="*/ 1214512 h 2598821"/>
              <a:gd name="csX6" fmla="*/ 66266 w 5802146"/>
              <a:gd name="csY6" fmla="*/ 1222283 h 2598821"/>
              <a:gd name="csX7" fmla="*/ 68948 w 5802146"/>
              <a:gd name="csY7" fmla="*/ 1218222 h 2598821"/>
              <a:gd name="csX8" fmla="*/ 85918 w 5802146"/>
              <a:gd name="csY8" fmla="*/ 1202356 h 2598821"/>
              <a:gd name="csX9" fmla="*/ 165501 w 5802146"/>
              <a:gd name="csY9" fmla="*/ 1134403 h 2598821"/>
              <a:gd name="csX10" fmla="*/ 113616 w 5802146"/>
              <a:gd name="csY10" fmla="*/ 1251284 h 2598821"/>
              <a:gd name="csX11" fmla="*/ 748883 w 5802146"/>
              <a:gd name="csY11" fmla="*/ 1270535 h 2598821"/>
              <a:gd name="csX12" fmla="*/ 999140 w 5802146"/>
              <a:gd name="csY12" fmla="*/ 1578543 h 2598821"/>
              <a:gd name="csX13" fmla="*/ 1047266 w 5802146"/>
              <a:gd name="csY13" fmla="*/ 1665171 h 2598821"/>
              <a:gd name="csX14" fmla="*/ 1114643 w 5802146"/>
              <a:gd name="csY14" fmla="*/ 1761423 h 2598821"/>
              <a:gd name="csX15" fmla="*/ 1172395 w 5802146"/>
              <a:gd name="csY15" fmla="*/ 1867301 h 2598821"/>
              <a:gd name="csX16" fmla="*/ 1441902 w 5802146"/>
              <a:gd name="csY16" fmla="*/ 2146434 h 2598821"/>
              <a:gd name="csX17" fmla="*/ 1730660 w 5802146"/>
              <a:gd name="csY17" fmla="*/ 2300438 h 2598821"/>
              <a:gd name="csX18" fmla="*/ 1826912 w 5802146"/>
              <a:gd name="csY18" fmla="*/ 2338939 h 2598821"/>
              <a:gd name="csX19" fmla="*/ 2086795 w 5802146"/>
              <a:gd name="csY19" fmla="*/ 2387066 h 2598821"/>
              <a:gd name="csX20" fmla="*/ 2673936 w 5802146"/>
              <a:gd name="csY20" fmla="*/ 2464068 h 2598821"/>
              <a:gd name="csX21" fmla="*/ 2991569 w 5802146"/>
              <a:gd name="csY21" fmla="*/ 2502569 h 2598821"/>
              <a:gd name="csX22" fmla="*/ 3530584 w 5802146"/>
              <a:gd name="csY22" fmla="*/ 2521819 h 2598821"/>
              <a:gd name="csX23" fmla="*/ 3915595 w 5802146"/>
              <a:gd name="csY23" fmla="*/ 2560320 h 2598821"/>
              <a:gd name="csX24" fmla="*/ 4310230 w 5802146"/>
              <a:gd name="csY24" fmla="*/ 2569946 h 2598821"/>
              <a:gd name="csX25" fmla="*/ 4791493 w 5802146"/>
              <a:gd name="csY25" fmla="*/ 2598821 h 2598821"/>
              <a:gd name="csX26" fmla="*/ 5405655 w 5802146"/>
              <a:gd name="csY26" fmla="*/ 2527084 h 2598821"/>
              <a:gd name="csX27" fmla="*/ 5537426 w 5802146"/>
              <a:gd name="csY27" fmla="*/ 2330918 h 2598821"/>
              <a:gd name="csX28" fmla="*/ 5518577 w 5802146"/>
              <a:gd name="csY28" fmla="*/ 1967063 h 2598821"/>
              <a:gd name="csX29" fmla="*/ 5802146 w 5802146"/>
              <a:gd name="csY29" fmla="*/ 2030931 h 2598821"/>
              <a:gd name="csX30" fmla="*/ 5773270 w 5802146"/>
              <a:gd name="csY30" fmla="*/ 1366788 h 2598821"/>
              <a:gd name="csX31" fmla="*/ 5715519 w 5802146"/>
              <a:gd name="csY31" fmla="*/ 1328287 h 2598821"/>
              <a:gd name="csX32" fmla="*/ 5619266 w 5802146"/>
              <a:gd name="csY32" fmla="*/ 1309036 h 2598821"/>
              <a:gd name="csX33" fmla="*/ 5417136 w 5802146"/>
              <a:gd name="csY33" fmla="*/ 1289786 h 2598821"/>
              <a:gd name="csX34" fmla="*/ 4598988 w 5802146"/>
              <a:gd name="csY34" fmla="*/ 1309036 h 2598821"/>
              <a:gd name="csX35" fmla="*/ 4435359 w 5802146"/>
              <a:gd name="csY35" fmla="*/ 1357162 h 2598821"/>
              <a:gd name="csX36" fmla="*/ 4348731 w 5802146"/>
              <a:gd name="csY36" fmla="*/ 1386038 h 2598821"/>
              <a:gd name="csX37" fmla="*/ 4213978 w 5802146"/>
              <a:gd name="csY37" fmla="*/ 1443790 h 2598821"/>
              <a:gd name="csX38" fmla="*/ 4127350 w 5802146"/>
              <a:gd name="csY38" fmla="*/ 1501541 h 2598821"/>
              <a:gd name="csX39" fmla="*/ 4031098 w 5802146"/>
              <a:gd name="csY39" fmla="*/ 1549668 h 2598821"/>
              <a:gd name="csX40" fmla="*/ 3877093 w 5802146"/>
              <a:gd name="csY40" fmla="*/ 1645920 h 2598821"/>
              <a:gd name="csX41" fmla="*/ 3828967 w 5802146"/>
              <a:gd name="csY41" fmla="*/ 1674796 h 2598821"/>
              <a:gd name="csX42" fmla="*/ 3780841 w 5802146"/>
              <a:gd name="csY42" fmla="*/ 1713297 h 2598821"/>
              <a:gd name="csX43" fmla="*/ 3723089 w 5802146"/>
              <a:gd name="csY43" fmla="*/ 1742173 h 2598821"/>
              <a:gd name="csX44" fmla="*/ 3674963 w 5802146"/>
              <a:gd name="csY44" fmla="*/ 1780674 h 2598821"/>
              <a:gd name="csX45" fmla="*/ 3597961 w 5802146"/>
              <a:gd name="csY45" fmla="*/ 1819175 h 2598821"/>
              <a:gd name="csX46" fmla="*/ 3537327 w 5802146"/>
              <a:gd name="csY46" fmla="*/ 1756962 h 2598821"/>
              <a:gd name="csX47" fmla="*/ 3472632 w 5802146"/>
              <a:gd name="csY47" fmla="*/ 1709036 h 2598821"/>
              <a:gd name="csX48" fmla="*/ 3412499 w 5802146"/>
              <a:gd name="csY48" fmla="*/ 1684722 h 2598821"/>
              <a:gd name="csX49" fmla="*/ 3357329 w 5802146"/>
              <a:gd name="csY49" fmla="*/ 1665171 h 2598821"/>
              <a:gd name="csX50" fmla="*/ 3328453 w 5802146"/>
              <a:gd name="csY50" fmla="*/ 1645920 h 2598821"/>
              <a:gd name="csX51" fmla="*/ 3261077 w 5802146"/>
              <a:gd name="csY51" fmla="*/ 1588169 h 2598821"/>
              <a:gd name="csX52" fmla="*/ 3232201 w 5802146"/>
              <a:gd name="csY52" fmla="*/ 1578543 h 2598821"/>
              <a:gd name="csX53" fmla="*/ 3155199 w 5802146"/>
              <a:gd name="csY53" fmla="*/ 1511167 h 2598821"/>
              <a:gd name="csX54" fmla="*/ 3087822 w 5802146"/>
              <a:gd name="csY54" fmla="*/ 1472666 h 2598821"/>
              <a:gd name="csX55" fmla="*/ 3039696 w 5802146"/>
              <a:gd name="csY55" fmla="*/ 1443790 h 2598821"/>
              <a:gd name="csX56" fmla="*/ 2969938 w 5802146"/>
              <a:gd name="csY56" fmla="*/ 1412232 h 2598821"/>
              <a:gd name="csX57" fmla="*/ 2914567 w 5802146"/>
              <a:gd name="csY57" fmla="*/ 1366788 h 2598821"/>
              <a:gd name="csX58" fmla="*/ 2866441 w 5802146"/>
              <a:gd name="csY58" fmla="*/ 1347537 h 2598821"/>
              <a:gd name="csX59" fmla="*/ 2789439 w 5802146"/>
              <a:gd name="csY59" fmla="*/ 1299411 h 2598821"/>
              <a:gd name="csX60" fmla="*/ 2731687 w 5802146"/>
              <a:gd name="csY60" fmla="*/ 1212783 h 2598821"/>
              <a:gd name="csX61" fmla="*/ 2760563 w 5802146"/>
              <a:gd name="csY61" fmla="*/ 577516 h 2598821"/>
              <a:gd name="csX62" fmla="*/ 2750938 w 5802146"/>
              <a:gd name="csY62" fmla="*/ 308009 h 2598821"/>
              <a:gd name="csX63" fmla="*/ 2731687 w 5802146"/>
              <a:gd name="csY63" fmla="*/ 192506 h 2598821"/>
              <a:gd name="csX64" fmla="*/ 2712437 w 5802146"/>
              <a:gd name="csY64" fmla="*/ 144379 h 2598821"/>
              <a:gd name="csX65" fmla="*/ 2654685 w 5802146"/>
              <a:gd name="csY65" fmla="*/ 77002 h 2598821"/>
              <a:gd name="csX66" fmla="*/ 2625809 w 5802146"/>
              <a:gd name="csY66" fmla="*/ 38501 h 2598821"/>
              <a:gd name="csX67" fmla="*/ 2568058 w 5802146"/>
              <a:gd name="csY67" fmla="*/ 0 h 2598821"/>
              <a:gd name="csX68" fmla="*/ 2625809 w 5802146"/>
              <a:gd name="csY68" fmla="*/ 57752 h 2598821"/>
              <a:gd name="csX0" fmla="*/ 2625809 w 5781826"/>
              <a:gd name="csY0" fmla="*/ 57752 h 2598821"/>
              <a:gd name="csX1" fmla="*/ 55864 w 5781826"/>
              <a:gd name="csY1" fmla="*/ 67377 h 2598821"/>
              <a:gd name="csX2" fmla="*/ 10895 w 5781826"/>
              <a:gd name="csY2" fmla="*/ 131872 h 2598821"/>
              <a:gd name="csX3" fmla="*/ 1370 w 5781826"/>
              <a:gd name="csY3" fmla="*/ 543376 h 2598821"/>
              <a:gd name="csX4" fmla="*/ 20822 w 5781826"/>
              <a:gd name="csY4" fmla="*/ 1101692 h 2598821"/>
              <a:gd name="csX5" fmla="*/ 49498 w 5781826"/>
              <a:gd name="csY5" fmla="*/ 1214512 h 2598821"/>
              <a:gd name="csX6" fmla="*/ 66266 w 5781826"/>
              <a:gd name="csY6" fmla="*/ 1222283 h 2598821"/>
              <a:gd name="csX7" fmla="*/ 68948 w 5781826"/>
              <a:gd name="csY7" fmla="*/ 1218222 h 2598821"/>
              <a:gd name="csX8" fmla="*/ 85918 w 5781826"/>
              <a:gd name="csY8" fmla="*/ 1202356 h 2598821"/>
              <a:gd name="csX9" fmla="*/ 165501 w 5781826"/>
              <a:gd name="csY9" fmla="*/ 1134403 h 2598821"/>
              <a:gd name="csX10" fmla="*/ 113616 w 5781826"/>
              <a:gd name="csY10" fmla="*/ 1251284 h 2598821"/>
              <a:gd name="csX11" fmla="*/ 748883 w 5781826"/>
              <a:gd name="csY11" fmla="*/ 1270535 h 2598821"/>
              <a:gd name="csX12" fmla="*/ 999140 w 5781826"/>
              <a:gd name="csY12" fmla="*/ 1578543 h 2598821"/>
              <a:gd name="csX13" fmla="*/ 1047266 w 5781826"/>
              <a:gd name="csY13" fmla="*/ 1665171 h 2598821"/>
              <a:gd name="csX14" fmla="*/ 1114643 w 5781826"/>
              <a:gd name="csY14" fmla="*/ 1761423 h 2598821"/>
              <a:gd name="csX15" fmla="*/ 1172395 w 5781826"/>
              <a:gd name="csY15" fmla="*/ 1867301 h 2598821"/>
              <a:gd name="csX16" fmla="*/ 1441902 w 5781826"/>
              <a:gd name="csY16" fmla="*/ 2146434 h 2598821"/>
              <a:gd name="csX17" fmla="*/ 1730660 w 5781826"/>
              <a:gd name="csY17" fmla="*/ 2300438 h 2598821"/>
              <a:gd name="csX18" fmla="*/ 1826912 w 5781826"/>
              <a:gd name="csY18" fmla="*/ 2338939 h 2598821"/>
              <a:gd name="csX19" fmla="*/ 2086795 w 5781826"/>
              <a:gd name="csY19" fmla="*/ 2387066 h 2598821"/>
              <a:gd name="csX20" fmla="*/ 2673936 w 5781826"/>
              <a:gd name="csY20" fmla="*/ 2464068 h 2598821"/>
              <a:gd name="csX21" fmla="*/ 2991569 w 5781826"/>
              <a:gd name="csY21" fmla="*/ 2502569 h 2598821"/>
              <a:gd name="csX22" fmla="*/ 3530584 w 5781826"/>
              <a:gd name="csY22" fmla="*/ 2521819 h 2598821"/>
              <a:gd name="csX23" fmla="*/ 3915595 w 5781826"/>
              <a:gd name="csY23" fmla="*/ 2560320 h 2598821"/>
              <a:gd name="csX24" fmla="*/ 4310230 w 5781826"/>
              <a:gd name="csY24" fmla="*/ 2569946 h 2598821"/>
              <a:gd name="csX25" fmla="*/ 4791493 w 5781826"/>
              <a:gd name="csY25" fmla="*/ 2598821 h 2598821"/>
              <a:gd name="csX26" fmla="*/ 5405655 w 5781826"/>
              <a:gd name="csY26" fmla="*/ 2527084 h 2598821"/>
              <a:gd name="csX27" fmla="*/ 5537426 w 5781826"/>
              <a:gd name="csY27" fmla="*/ 2330918 h 2598821"/>
              <a:gd name="csX28" fmla="*/ 5518577 w 5781826"/>
              <a:gd name="csY28" fmla="*/ 1967063 h 2598821"/>
              <a:gd name="csX29" fmla="*/ 5521158 w 5781826"/>
              <a:gd name="csY29" fmla="*/ 1640406 h 2598821"/>
              <a:gd name="csX30" fmla="*/ 5773270 w 5781826"/>
              <a:gd name="csY30" fmla="*/ 1366788 h 2598821"/>
              <a:gd name="csX31" fmla="*/ 5715519 w 5781826"/>
              <a:gd name="csY31" fmla="*/ 1328287 h 2598821"/>
              <a:gd name="csX32" fmla="*/ 5619266 w 5781826"/>
              <a:gd name="csY32" fmla="*/ 1309036 h 2598821"/>
              <a:gd name="csX33" fmla="*/ 5417136 w 5781826"/>
              <a:gd name="csY33" fmla="*/ 1289786 h 2598821"/>
              <a:gd name="csX34" fmla="*/ 4598988 w 5781826"/>
              <a:gd name="csY34" fmla="*/ 1309036 h 2598821"/>
              <a:gd name="csX35" fmla="*/ 4435359 w 5781826"/>
              <a:gd name="csY35" fmla="*/ 1357162 h 2598821"/>
              <a:gd name="csX36" fmla="*/ 4348731 w 5781826"/>
              <a:gd name="csY36" fmla="*/ 1386038 h 2598821"/>
              <a:gd name="csX37" fmla="*/ 4213978 w 5781826"/>
              <a:gd name="csY37" fmla="*/ 1443790 h 2598821"/>
              <a:gd name="csX38" fmla="*/ 4127350 w 5781826"/>
              <a:gd name="csY38" fmla="*/ 1501541 h 2598821"/>
              <a:gd name="csX39" fmla="*/ 4031098 w 5781826"/>
              <a:gd name="csY39" fmla="*/ 1549668 h 2598821"/>
              <a:gd name="csX40" fmla="*/ 3877093 w 5781826"/>
              <a:gd name="csY40" fmla="*/ 1645920 h 2598821"/>
              <a:gd name="csX41" fmla="*/ 3828967 w 5781826"/>
              <a:gd name="csY41" fmla="*/ 1674796 h 2598821"/>
              <a:gd name="csX42" fmla="*/ 3780841 w 5781826"/>
              <a:gd name="csY42" fmla="*/ 1713297 h 2598821"/>
              <a:gd name="csX43" fmla="*/ 3723089 w 5781826"/>
              <a:gd name="csY43" fmla="*/ 1742173 h 2598821"/>
              <a:gd name="csX44" fmla="*/ 3674963 w 5781826"/>
              <a:gd name="csY44" fmla="*/ 1780674 h 2598821"/>
              <a:gd name="csX45" fmla="*/ 3597961 w 5781826"/>
              <a:gd name="csY45" fmla="*/ 1819175 h 2598821"/>
              <a:gd name="csX46" fmla="*/ 3537327 w 5781826"/>
              <a:gd name="csY46" fmla="*/ 1756962 h 2598821"/>
              <a:gd name="csX47" fmla="*/ 3472632 w 5781826"/>
              <a:gd name="csY47" fmla="*/ 1709036 h 2598821"/>
              <a:gd name="csX48" fmla="*/ 3412499 w 5781826"/>
              <a:gd name="csY48" fmla="*/ 1684722 h 2598821"/>
              <a:gd name="csX49" fmla="*/ 3357329 w 5781826"/>
              <a:gd name="csY49" fmla="*/ 1665171 h 2598821"/>
              <a:gd name="csX50" fmla="*/ 3328453 w 5781826"/>
              <a:gd name="csY50" fmla="*/ 1645920 h 2598821"/>
              <a:gd name="csX51" fmla="*/ 3261077 w 5781826"/>
              <a:gd name="csY51" fmla="*/ 1588169 h 2598821"/>
              <a:gd name="csX52" fmla="*/ 3232201 w 5781826"/>
              <a:gd name="csY52" fmla="*/ 1578543 h 2598821"/>
              <a:gd name="csX53" fmla="*/ 3155199 w 5781826"/>
              <a:gd name="csY53" fmla="*/ 1511167 h 2598821"/>
              <a:gd name="csX54" fmla="*/ 3087822 w 5781826"/>
              <a:gd name="csY54" fmla="*/ 1472666 h 2598821"/>
              <a:gd name="csX55" fmla="*/ 3039696 w 5781826"/>
              <a:gd name="csY55" fmla="*/ 1443790 h 2598821"/>
              <a:gd name="csX56" fmla="*/ 2969938 w 5781826"/>
              <a:gd name="csY56" fmla="*/ 1412232 h 2598821"/>
              <a:gd name="csX57" fmla="*/ 2914567 w 5781826"/>
              <a:gd name="csY57" fmla="*/ 1366788 h 2598821"/>
              <a:gd name="csX58" fmla="*/ 2866441 w 5781826"/>
              <a:gd name="csY58" fmla="*/ 1347537 h 2598821"/>
              <a:gd name="csX59" fmla="*/ 2789439 w 5781826"/>
              <a:gd name="csY59" fmla="*/ 1299411 h 2598821"/>
              <a:gd name="csX60" fmla="*/ 2731687 w 5781826"/>
              <a:gd name="csY60" fmla="*/ 1212783 h 2598821"/>
              <a:gd name="csX61" fmla="*/ 2760563 w 5781826"/>
              <a:gd name="csY61" fmla="*/ 577516 h 2598821"/>
              <a:gd name="csX62" fmla="*/ 2750938 w 5781826"/>
              <a:gd name="csY62" fmla="*/ 308009 h 2598821"/>
              <a:gd name="csX63" fmla="*/ 2731687 w 5781826"/>
              <a:gd name="csY63" fmla="*/ 192506 h 2598821"/>
              <a:gd name="csX64" fmla="*/ 2712437 w 5781826"/>
              <a:gd name="csY64" fmla="*/ 144379 h 2598821"/>
              <a:gd name="csX65" fmla="*/ 2654685 w 5781826"/>
              <a:gd name="csY65" fmla="*/ 77002 h 2598821"/>
              <a:gd name="csX66" fmla="*/ 2625809 w 5781826"/>
              <a:gd name="csY66" fmla="*/ 38501 h 2598821"/>
              <a:gd name="csX67" fmla="*/ 2568058 w 5781826"/>
              <a:gd name="csY67" fmla="*/ 0 h 2598821"/>
              <a:gd name="csX68" fmla="*/ 2625809 w 5781826"/>
              <a:gd name="csY68" fmla="*/ 57752 h 2598821"/>
              <a:gd name="csX0" fmla="*/ 2625809 w 5726675"/>
              <a:gd name="csY0" fmla="*/ 57752 h 2598821"/>
              <a:gd name="csX1" fmla="*/ 55864 w 5726675"/>
              <a:gd name="csY1" fmla="*/ 67377 h 2598821"/>
              <a:gd name="csX2" fmla="*/ 10895 w 5726675"/>
              <a:gd name="csY2" fmla="*/ 131872 h 2598821"/>
              <a:gd name="csX3" fmla="*/ 1370 w 5726675"/>
              <a:gd name="csY3" fmla="*/ 543376 h 2598821"/>
              <a:gd name="csX4" fmla="*/ 20822 w 5726675"/>
              <a:gd name="csY4" fmla="*/ 1101692 h 2598821"/>
              <a:gd name="csX5" fmla="*/ 49498 w 5726675"/>
              <a:gd name="csY5" fmla="*/ 1214512 h 2598821"/>
              <a:gd name="csX6" fmla="*/ 66266 w 5726675"/>
              <a:gd name="csY6" fmla="*/ 1222283 h 2598821"/>
              <a:gd name="csX7" fmla="*/ 68948 w 5726675"/>
              <a:gd name="csY7" fmla="*/ 1218222 h 2598821"/>
              <a:gd name="csX8" fmla="*/ 85918 w 5726675"/>
              <a:gd name="csY8" fmla="*/ 1202356 h 2598821"/>
              <a:gd name="csX9" fmla="*/ 165501 w 5726675"/>
              <a:gd name="csY9" fmla="*/ 1134403 h 2598821"/>
              <a:gd name="csX10" fmla="*/ 113616 w 5726675"/>
              <a:gd name="csY10" fmla="*/ 1251284 h 2598821"/>
              <a:gd name="csX11" fmla="*/ 748883 w 5726675"/>
              <a:gd name="csY11" fmla="*/ 1270535 h 2598821"/>
              <a:gd name="csX12" fmla="*/ 999140 w 5726675"/>
              <a:gd name="csY12" fmla="*/ 1578543 h 2598821"/>
              <a:gd name="csX13" fmla="*/ 1047266 w 5726675"/>
              <a:gd name="csY13" fmla="*/ 1665171 h 2598821"/>
              <a:gd name="csX14" fmla="*/ 1114643 w 5726675"/>
              <a:gd name="csY14" fmla="*/ 1761423 h 2598821"/>
              <a:gd name="csX15" fmla="*/ 1172395 w 5726675"/>
              <a:gd name="csY15" fmla="*/ 1867301 h 2598821"/>
              <a:gd name="csX16" fmla="*/ 1441902 w 5726675"/>
              <a:gd name="csY16" fmla="*/ 2146434 h 2598821"/>
              <a:gd name="csX17" fmla="*/ 1730660 w 5726675"/>
              <a:gd name="csY17" fmla="*/ 2300438 h 2598821"/>
              <a:gd name="csX18" fmla="*/ 1826912 w 5726675"/>
              <a:gd name="csY18" fmla="*/ 2338939 h 2598821"/>
              <a:gd name="csX19" fmla="*/ 2086795 w 5726675"/>
              <a:gd name="csY19" fmla="*/ 2387066 h 2598821"/>
              <a:gd name="csX20" fmla="*/ 2673936 w 5726675"/>
              <a:gd name="csY20" fmla="*/ 2464068 h 2598821"/>
              <a:gd name="csX21" fmla="*/ 2991569 w 5726675"/>
              <a:gd name="csY21" fmla="*/ 2502569 h 2598821"/>
              <a:gd name="csX22" fmla="*/ 3530584 w 5726675"/>
              <a:gd name="csY22" fmla="*/ 2521819 h 2598821"/>
              <a:gd name="csX23" fmla="*/ 3915595 w 5726675"/>
              <a:gd name="csY23" fmla="*/ 2560320 h 2598821"/>
              <a:gd name="csX24" fmla="*/ 4310230 w 5726675"/>
              <a:gd name="csY24" fmla="*/ 2569946 h 2598821"/>
              <a:gd name="csX25" fmla="*/ 4791493 w 5726675"/>
              <a:gd name="csY25" fmla="*/ 2598821 h 2598821"/>
              <a:gd name="csX26" fmla="*/ 5405655 w 5726675"/>
              <a:gd name="csY26" fmla="*/ 2527084 h 2598821"/>
              <a:gd name="csX27" fmla="*/ 5537426 w 5726675"/>
              <a:gd name="csY27" fmla="*/ 2330918 h 2598821"/>
              <a:gd name="csX28" fmla="*/ 5518577 w 5726675"/>
              <a:gd name="csY28" fmla="*/ 1967063 h 2598821"/>
              <a:gd name="csX29" fmla="*/ 5521158 w 5726675"/>
              <a:gd name="csY29" fmla="*/ 1640406 h 2598821"/>
              <a:gd name="csX30" fmla="*/ 5342264 w 5726675"/>
              <a:gd name="csY30" fmla="*/ 1466800 h 2598821"/>
              <a:gd name="csX31" fmla="*/ 5715519 w 5726675"/>
              <a:gd name="csY31" fmla="*/ 1328287 h 2598821"/>
              <a:gd name="csX32" fmla="*/ 5619266 w 5726675"/>
              <a:gd name="csY32" fmla="*/ 1309036 h 2598821"/>
              <a:gd name="csX33" fmla="*/ 5417136 w 5726675"/>
              <a:gd name="csY33" fmla="*/ 1289786 h 2598821"/>
              <a:gd name="csX34" fmla="*/ 4598988 w 5726675"/>
              <a:gd name="csY34" fmla="*/ 1309036 h 2598821"/>
              <a:gd name="csX35" fmla="*/ 4435359 w 5726675"/>
              <a:gd name="csY35" fmla="*/ 1357162 h 2598821"/>
              <a:gd name="csX36" fmla="*/ 4348731 w 5726675"/>
              <a:gd name="csY36" fmla="*/ 1386038 h 2598821"/>
              <a:gd name="csX37" fmla="*/ 4213978 w 5726675"/>
              <a:gd name="csY37" fmla="*/ 1443790 h 2598821"/>
              <a:gd name="csX38" fmla="*/ 4127350 w 5726675"/>
              <a:gd name="csY38" fmla="*/ 1501541 h 2598821"/>
              <a:gd name="csX39" fmla="*/ 4031098 w 5726675"/>
              <a:gd name="csY39" fmla="*/ 1549668 h 2598821"/>
              <a:gd name="csX40" fmla="*/ 3877093 w 5726675"/>
              <a:gd name="csY40" fmla="*/ 1645920 h 2598821"/>
              <a:gd name="csX41" fmla="*/ 3828967 w 5726675"/>
              <a:gd name="csY41" fmla="*/ 1674796 h 2598821"/>
              <a:gd name="csX42" fmla="*/ 3780841 w 5726675"/>
              <a:gd name="csY42" fmla="*/ 1713297 h 2598821"/>
              <a:gd name="csX43" fmla="*/ 3723089 w 5726675"/>
              <a:gd name="csY43" fmla="*/ 1742173 h 2598821"/>
              <a:gd name="csX44" fmla="*/ 3674963 w 5726675"/>
              <a:gd name="csY44" fmla="*/ 1780674 h 2598821"/>
              <a:gd name="csX45" fmla="*/ 3597961 w 5726675"/>
              <a:gd name="csY45" fmla="*/ 1819175 h 2598821"/>
              <a:gd name="csX46" fmla="*/ 3537327 w 5726675"/>
              <a:gd name="csY46" fmla="*/ 1756962 h 2598821"/>
              <a:gd name="csX47" fmla="*/ 3472632 w 5726675"/>
              <a:gd name="csY47" fmla="*/ 1709036 h 2598821"/>
              <a:gd name="csX48" fmla="*/ 3412499 w 5726675"/>
              <a:gd name="csY48" fmla="*/ 1684722 h 2598821"/>
              <a:gd name="csX49" fmla="*/ 3357329 w 5726675"/>
              <a:gd name="csY49" fmla="*/ 1665171 h 2598821"/>
              <a:gd name="csX50" fmla="*/ 3328453 w 5726675"/>
              <a:gd name="csY50" fmla="*/ 1645920 h 2598821"/>
              <a:gd name="csX51" fmla="*/ 3261077 w 5726675"/>
              <a:gd name="csY51" fmla="*/ 1588169 h 2598821"/>
              <a:gd name="csX52" fmla="*/ 3232201 w 5726675"/>
              <a:gd name="csY52" fmla="*/ 1578543 h 2598821"/>
              <a:gd name="csX53" fmla="*/ 3155199 w 5726675"/>
              <a:gd name="csY53" fmla="*/ 1511167 h 2598821"/>
              <a:gd name="csX54" fmla="*/ 3087822 w 5726675"/>
              <a:gd name="csY54" fmla="*/ 1472666 h 2598821"/>
              <a:gd name="csX55" fmla="*/ 3039696 w 5726675"/>
              <a:gd name="csY55" fmla="*/ 1443790 h 2598821"/>
              <a:gd name="csX56" fmla="*/ 2969938 w 5726675"/>
              <a:gd name="csY56" fmla="*/ 1412232 h 2598821"/>
              <a:gd name="csX57" fmla="*/ 2914567 w 5726675"/>
              <a:gd name="csY57" fmla="*/ 1366788 h 2598821"/>
              <a:gd name="csX58" fmla="*/ 2866441 w 5726675"/>
              <a:gd name="csY58" fmla="*/ 1347537 h 2598821"/>
              <a:gd name="csX59" fmla="*/ 2789439 w 5726675"/>
              <a:gd name="csY59" fmla="*/ 1299411 h 2598821"/>
              <a:gd name="csX60" fmla="*/ 2731687 w 5726675"/>
              <a:gd name="csY60" fmla="*/ 1212783 h 2598821"/>
              <a:gd name="csX61" fmla="*/ 2760563 w 5726675"/>
              <a:gd name="csY61" fmla="*/ 577516 h 2598821"/>
              <a:gd name="csX62" fmla="*/ 2750938 w 5726675"/>
              <a:gd name="csY62" fmla="*/ 308009 h 2598821"/>
              <a:gd name="csX63" fmla="*/ 2731687 w 5726675"/>
              <a:gd name="csY63" fmla="*/ 192506 h 2598821"/>
              <a:gd name="csX64" fmla="*/ 2712437 w 5726675"/>
              <a:gd name="csY64" fmla="*/ 144379 h 2598821"/>
              <a:gd name="csX65" fmla="*/ 2654685 w 5726675"/>
              <a:gd name="csY65" fmla="*/ 77002 h 2598821"/>
              <a:gd name="csX66" fmla="*/ 2625809 w 5726675"/>
              <a:gd name="csY66" fmla="*/ 38501 h 2598821"/>
              <a:gd name="csX67" fmla="*/ 2568058 w 5726675"/>
              <a:gd name="csY67" fmla="*/ 0 h 2598821"/>
              <a:gd name="csX68" fmla="*/ 2625809 w 5726675"/>
              <a:gd name="csY68" fmla="*/ 57752 h 2598821"/>
              <a:gd name="csX0" fmla="*/ 2625809 w 5717603"/>
              <a:gd name="csY0" fmla="*/ 57752 h 2598821"/>
              <a:gd name="csX1" fmla="*/ 55864 w 5717603"/>
              <a:gd name="csY1" fmla="*/ 67377 h 2598821"/>
              <a:gd name="csX2" fmla="*/ 10895 w 5717603"/>
              <a:gd name="csY2" fmla="*/ 131872 h 2598821"/>
              <a:gd name="csX3" fmla="*/ 1370 w 5717603"/>
              <a:gd name="csY3" fmla="*/ 543376 h 2598821"/>
              <a:gd name="csX4" fmla="*/ 20822 w 5717603"/>
              <a:gd name="csY4" fmla="*/ 1101692 h 2598821"/>
              <a:gd name="csX5" fmla="*/ 49498 w 5717603"/>
              <a:gd name="csY5" fmla="*/ 1214512 h 2598821"/>
              <a:gd name="csX6" fmla="*/ 66266 w 5717603"/>
              <a:gd name="csY6" fmla="*/ 1222283 h 2598821"/>
              <a:gd name="csX7" fmla="*/ 68948 w 5717603"/>
              <a:gd name="csY7" fmla="*/ 1218222 h 2598821"/>
              <a:gd name="csX8" fmla="*/ 85918 w 5717603"/>
              <a:gd name="csY8" fmla="*/ 1202356 h 2598821"/>
              <a:gd name="csX9" fmla="*/ 165501 w 5717603"/>
              <a:gd name="csY9" fmla="*/ 1134403 h 2598821"/>
              <a:gd name="csX10" fmla="*/ 113616 w 5717603"/>
              <a:gd name="csY10" fmla="*/ 1251284 h 2598821"/>
              <a:gd name="csX11" fmla="*/ 748883 w 5717603"/>
              <a:gd name="csY11" fmla="*/ 1270535 h 2598821"/>
              <a:gd name="csX12" fmla="*/ 999140 w 5717603"/>
              <a:gd name="csY12" fmla="*/ 1578543 h 2598821"/>
              <a:gd name="csX13" fmla="*/ 1047266 w 5717603"/>
              <a:gd name="csY13" fmla="*/ 1665171 h 2598821"/>
              <a:gd name="csX14" fmla="*/ 1114643 w 5717603"/>
              <a:gd name="csY14" fmla="*/ 1761423 h 2598821"/>
              <a:gd name="csX15" fmla="*/ 1172395 w 5717603"/>
              <a:gd name="csY15" fmla="*/ 1867301 h 2598821"/>
              <a:gd name="csX16" fmla="*/ 1441902 w 5717603"/>
              <a:gd name="csY16" fmla="*/ 2146434 h 2598821"/>
              <a:gd name="csX17" fmla="*/ 1730660 w 5717603"/>
              <a:gd name="csY17" fmla="*/ 2300438 h 2598821"/>
              <a:gd name="csX18" fmla="*/ 1826912 w 5717603"/>
              <a:gd name="csY18" fmla="*/ 2338939 h 2598821"/>
              <a:gd name="csX19" fmla="*/ 2086795 w 5717603"/>
              <a:gd name="csY19" fmla="*/ 2387066 h 2598821"/>
              <a:gd name="csX20" fmla="*/ 2673936 w 5717603"/>
              <a:gd name="csY20" fmla="*/ 2464068 h 2598821"/>
              <a:gd name="csX21" fmla="*/ 2991569 w 5717603"/>
              <a:gd name="csY21" fmla="*/ 2502569 h 2598821"/>
              <a:gd name="csX22" fmla="*/ 3530584 w 5717603"/>
              <a:gd name="csY22" fmla="*/ 2521819 h 2598821"/>
              <a:gd name="csX23" fmla="*/ 3915595 w 5717603"/>
              <a:gd name="csY23" fmla="*/ 2560320 h 2598821"/>
              <a:gd name="csX24" fmla="*/ 4310230 w 5717603"/>
              <a:gd name="csY24" fmla="*/ 2569946 h 2598821"/>
              <a:gd name="csX25" fmla="*/ 4791493 w 5717603"/>
              <a:gd name="csY25" fmla="*/ 2598821 h 2598821"/>
              <a:gd name="csX26" fmla="*/ 5405655 w 5717603"/>
              <a:gd name="csY26" fmla="*/ 2527084 h 2598821"/>
              <a:gd name="csX27" fmla="*/ 5537426 w 5717603"/>
              <a:gd name="csY27" fmla="*/ 2330918 h 2598821"/>
              <a:gd name="csX28" fmla="*/ 5518577 w 5717603"/>
              <a:gd name="csY28" fmla="*/ 1967063 h 2598821"/>
              <a:gd name="csX29" fmla="*/ 5521158 w 5717603"/>
              <a:gd name="csY29" fmla="*/ 1640406 h 2598821"/>
              <a:gd name="csX30" fmla="*/ 5342264 w 5717603"/>
              <a:gd name="csY30" fmla="*/ 1466800 h 2598821"/>
              <a:gd name="csX31" fmla="*/ 5715519 w 5717603"/>
              <a:gd name="csY31" fmla="*/ 1328287 h 2598821"/>
              <a:gd name="csX32" fmla="*/ 5143016 w 5717603"/>
              <a:gd name="csY32" fmla="*/ 1370949 h 2598821"/>
              <a:gd name="csX33" fmla="*/ 5417136 w 5717603"/>
              <a:gd name="csY33" fmla="*/ 1289786 h 2598821"/>
              <a:gd name="csX34" fmla="*/ 4598988 w 5717603"/>
              <a:gd name="csY34" fmla="*/ 1309036 h 2598821"/>
              <a:gd name="csX35" fmla="*/ 4435359 w 5717603"/>
              <a:gd name="csY35" fmla="*/ 1357162 h 2598821"/>
              <a:gd name="csX36" fmla="*/ 4348731 w 5717603"/>
              <a:gd name="csY36" fmla="*/ 1386038 h 2598821"/>
              <a:gd name="csX37" fmla="*/ 4213978 w 5717603"/>
              <a:gd name="csY37" fmla="*/ 1443790 h 2598821"/>
              <a:gd name="csX38" fmla="*/ 4127350 w 5717603"/>
              <a:gd name="csY38" fmla="*/ 1501541 h 2598821"/>
              <a:gd name="csX39" fmla="*/ 4031098 w 5717603"/>
              <a:gd name="csY39" fmla="*/ 1549668 h 2598821"/>
              <a:gd name="csX40" fmla="*/ 3877093 w 5717603"/>
              <a:gd name="csY40" fmla="*/ 1645920 h 2598821"/>
              <a:gd name="csX41" fmla="*/ 3828967 w 5717603"/>
              <a:gd name="csY41" fmla="*/ 1674796 h 2598821"/>
              <a:gd name="csX42" fmla="*/ 3780841 w 5717603"/>
              <a:gd name="csY42" fmla="*/ 1713297 h 2598821"/>
              <a:gd name="csX43" fmla="*/ 3723089 w 5717603"/>
              <a:gd name="csY43" fmla="*/ 1742173 h 2598821"/>
              <a:gd name="csX44" fmla="*/ 3674963 w 5717603"/>
              <a:gd name="csY44" fmla="*/ 1780674 h 2598821"/>
              <a:gd name="csX45" fmla="*/ 3597961 w 5717603"/>
              <a:gd name="csY45" fmla="*/ 1819175 h 2598821"/>
              <a:gd name="csX46" fmla="*/ 3537327 w 5717603"/>
              <a:gd name="csY46" fmla="*/ 1756962 h 2598821"/>
              <a:gd name="csX47" fmla="*/ 3472632 w 5717603"/>
              <a:gd name="csY47" fmla="*/ 1709036 h 2598821"/>
              <a:gd name="csX48" fmla="*/ 3412499 w 5717603"/>
              <a:gd name="csY48" fmla="*/ 1684722 h 2598821"/>
              <a:gd name="csX49" fmla="*/ 3357329 w 5717603"/>
              <a:gd name="csY49" fmla="*/ 1665171 h 2598821"/>
              <a:gd name="csX50" fmla="*/ 3328453 w 5717603"/>
              <a:gd name="csY50" fmla="*/ 1645920 h 2598821"/>
              <a:gd name="csX51" fmla="*/ 3261077 w 5717603"/>
              <a:gd name="csY51" fmla="*/ 1588169 h 2598821"/>
              <a:gd name="csX52" fmla="*/ 3232201 w 5717603"/>
              <a:gd name="csY52" fmla="*/ 1578543 h 2598821"/>
              <a:gd name="csX53" fmla="*/ 3155199 w 5717603"/>
              <a:gd name="csY53" fmla="*/ 1511167 h 2598821"/>
              <a:gd name="csX54" fmla="*/ 3087822 w 5717603"/>
              <a:gd name="csY54" fmla="*/ 1472666 h 2598821"/>
              <a:gd name="csX55" fmla="*/ 3039696 w 5717603"/>
              <a:gd name="csY55" fmla="*/ 1443790 h 2598821"/>
              <a:gd name="csX56" fmla="*/ 2969938 w 5717603"/>
              <a:gd name="csY56" fmla="*/ 1412232 h 2598821"/>
              <a:gd name="csX57" fmla="*/ 2914567 w 5717603"/>
              <a:gd name="csY57" fmla="*/ 1366788 h 2598821"/>
              <a:gd name="csX58" fmla="*/ 2866441 w 5717603"/>
              <a:gd name="csY58" fmla="*/ 1347537 h 2598821"/>
              <a:gd name="csX59" fmla="*/ 2789439 w 5717603"/>
              <a:gd name="csY59" fmla="*/ 1299411 h 2598821"/>
              <a:gd name="csX60" fmla="*/ 2731687 w 5717603"/>
              <a:gd name="csY60" fmla="*/ 1212783 h 2598821"/>
              <a:gd name="csX61" fmla="*/ 2760563 w 5717603"/>
              <a:gd name="csY61" fmla="*/ 577516 h 2598821"/>
              <a:gd name="csX62" fmla="*/ 2750938 w 5717603"/>
              <a:gd name="csY62" fmla="*/ 308009 h 2598821"/>
              <a:gd name="csX63" fmla="*/ 2731687 w 5717603"/>
              <a:gd name="csY63" fmla="*/ 192506 h 2598821"/>
              <a:gd name="csX64" fmla="*/ 2712437 w 5717603"/>
              <a:gd name="csY64" fmla="*/ 144379 h 2598821"/>
              <a:gd name="csX65" fmla="*/ 2654685 w 5717603"/>
              <a:gd name="csY65" fmla="*/ 77002 h 2598821"/>
              <a:gd name="csX66" fmla="*/ 2625809 w 5717603"/>
              <a:gd name="csY66" fmla="*/ 38501 h 2598821"/>
              <a:gd name="csX67" fmla="*/ 2568058 w 5717603"/>
              <a:gd name="csY67" fmla="*/ 0 h 2598821"/>
              <a:gd name="csX68" fmla="*/ 2625809 w 5717603"/>
              <a:gd name="csY68" fmla="*/ 57752 h 2598821"/>
              <a:gd name="csX0" fmla="*/ 2625809 w 5542964"/>
              <a:gd name="csY0" fmla="*/ 57752 h 2598821"/>
              <a:gd name="csX1" fmla="*/ 55864 w 5542964"/>
              <a:gd name="csY1" fmla="*/ 67377 h 2598821"/>
              <a:gd name="csX2" fmla="*/ 10895 w 5542964"/>
              <a:gd name="csY2" fmla="*/ 131872 h 2598821"/>
              <a:gd name="csX3" fmla="*/ 1370 w 5542964"/>
              <a:gd name="csY3" fmla="*/ 543376 h 2598821"/>
              <a:gd name="csX4" fmla="*/ 20822 w 5542964"/>
              <a:gd name="csY4" fmla="*/ 1101692 h 2598821"/>
              <a:gd name="csX5" fmla="*/ 49498 w 5542964"/>
              <a:gd name="csY5" fmla="*/ 1214512 h 2598821"/>
              <a:gd name="csX6" fmla="*/ 66266 w 5542964"/>
              <a:gd name="csY6" fmla="*/ 1222283 h 2598821"/>
              <a:gd name="csX7" fmla="*/ 68948 w 5542964"/>
              <a:gd name="csY7" fmla="*/ 1218222 h 2598821"/>
              <a:gd name="csX8" fmla="*/ 85918 w 5542964"/>
              <a:gd name="csY8" fmla="*/ 1202356 h 2598821"/>
              <a:gd name="csX9" fmla="*/ 165501 w 5542964"/>
              <a:gd name="csY9" fmla="*/ 1134403 h 2598821"/>
              <a:gd name="csX10" fmla="*/ 113616 w 5542964"/>
              <a:gd name="csY10" fmla="*/ 1251284 h 2598821"/>
              <a:gd name="csX11" fmla="*/ 748883 w 5542964"/>
              <a:gd name="csY11" fmla="*/ 1270535 h 2598821"/>
              <a:gd name="csX12" fmla="*/ 999140 w 5542964"/>
              <a:gd name="csY12" fmla="*/ 1578543 h 2598821"/>
              <a:gd name="csX13" fmla="*/ 1047266 w 5542964"/>
              <a:gd name="csY13" fmla="*/ 1665171 h 2598821"/>
              <a:gd name="csX14" fmla="*/ 1114643 w 5542964"/>
              <a:gd name="csY14" fmla="*/ 1761423 h 2598821"/>
              <a:gd name="csX15" fmla="*/ 1172395 w 5542964"/>
              <a:gd name="csY15" fmla="*/ 1867301 h 2598821"/>
              <a:gd name="csX16" fmla="*/ 1441902 w 5542964"/>
              <a:gd name="csY16" fmla="*/ 2146434 h 2598821"/>
              <a:gd name="csX17" fmla="*/ 1730660 w 5542964"/>
              <a:gd name="csY17" fmla="*/ 2300438 h 2598821"/>
              <a:gd name="csX18" fmla="*/ 1826912 w 5542964"/>
              <a:gd name="csY18" fmla="*/ 2338939 h 2598821"/>
              <a:gd name="csX19" fmla="*/ 2086795 w 5542964"/>
              <a:gd name="csY19" fmla="*/ 2387066 h 2598821"/>
              <a:gd name="csX20" fmla="*/ 2673936 w 5542964"/>
              <a:gd name="csY20" fmla="*/ 2464068 h 2598821"/>
              <a:gd name="csX21" fmla="*/ 2991569 w 5542964"/>
              <a:gd name="csY21" fmla="*/ 2502569 h 2598821"/>
              <a:gd name="csX22" fmla="*/ 3530584 w 5542964"/>
              <a:gd name="csY22" fmla="*/ 2521819 h 2598821"/>
              <a:gd name="csX23" fmla="*/ 3915595 w 5542964"/>
              <a:gd name="csY23" fmla="*/ 2560320 h 2598821"/>
              <a:gd name="csX24" fmla="*/ 4310230 w 5542964"/>
              <a:gd name="csY24" fmla="*/ 2569946 h 2598821"/>
              <a:gd name="csX25" fmla="*/ 4791493 w 5542964"/>
              <a:gd name="csY25" fmla="*/ 2598821 h 2598821"/>
              <a:gd name="csX26" fmla="*/ 5405655 w 5542964"/>
              <a:gd name="csY26" fmla="*/ 2527084 h 2598821"/>
              <a:gd name="csX27" fmla="*/ 5537426 w 5542964"/>
              <a:gd name="csY27" fmla="*/ 2330918 h 2598821"/>
              <a:gd name="csX28" fmla="*/ 5518577 w 5542964"/>
              <a:gd name="csY28" fmla="*/ 1967063 h 2598821"/>
              <a:gd name="csX29" fmla="*/ 5521158 w 5542964"/>
              <a:gd name="csY29" fmla="*/ 1640406 h 2598821"/>
              <a:gd name="csX30" fmla="*/ 5342264 w 5542964"/>
              <a:gd name="csY30" fmla="*/ 1466800 h 2598821"/>
              <a:gd name="csX31" fmla="*/ 5274987 w 5542964"/>
              <a:gd name="csY31" fmla="*/ 1418774 h 2598821"/>
              <a:gd name="csX32" fmla="*/ 5143016 w 5542964"/>
              <a:gd name="csY32" fmla="*/ 1370949 h 2598821"/>
              <a:gd name="csX33" fmla="*/ 5417136 w 5542964"/>
              <a:gd name="csY33" fmla="*/ 1289786 h 2598821"/>
              <a:gd name="csX34" fmla="*/ 4598988 w 5542964"/>
              <a:gd name="csY34" fmla="*/ 1309036 h 2598821"/>
              <a:gd name="csX35" fmla="*/ 4435359 w 5542964"/>
              <a:gd name="csY35" fmla="*/ 1357162 h 2598821"/>
              <a:gd name="csX36" fmla="*/ 4348731 w 5542964"/>
              <a:gd name="csY36" fmla="*/ 1386038 h 2598821"/>
              <a:gd name="csX37" fmla="*/ 4213978 w 5542964"/>
              <a:gd name="csY37" fmla="*/ 1443790 h 2598821"/>
              <a:gd name="csX38" fmla="*/ 4127350 w 5542964"/>
              <a:gd name="csY38" fmla="*/ 1501541 h 2598821"/>
              <a:gd name="csX39" fmla="*/ 4031098 w 5542964"/>
              <a:gd name="csY39" fmla="*/ 1549668 h 2598821"/>
              <a:gd name="csX40" fmla="*/ 3877093 w 5542964"/>
              <a:gd name="csY40" fmla="*/ 1645920 h 2598821"/>
              <a:gd name="csX41" fmla="*/ 3828967 w 5542964"/>
              <a:gd name="csY41" fmla="*/ 1674796 h 2598821"/>
              <a:gd name="csX42" fmla="*/ 3780841 w 5542964"/>
              <a:gd name="csY42" fmla="*/ 1713297 h 2598821"/>
              <a:gd name="csX43" fmla="*/ 3723089 w 5542964"/>
              <a:gd name="csY43" fmla="*/ 1742173 h 2598821"/>
              <a:gd name="csX44" fmla="*/ 3674963 w 5542964"/>
              <a:gd name="csY44" fmla="*/ 1780674 h 2598821"/>
              <a:gd name="csX45" fmla="*/ 3597961 w 5542964"/>
              <a:gd name="csY45" fmla="*/ 1819175 h 2598821"/>
              <a:gd name="csX46" fmla="*/ 3537327 w 5542964"/>
              <a:gd name="csY46" fmla="*/ 1756962 h 2598821"/>
              <a:gd name="csX47" fmla="*/ 3472632 w 5542964"/>
              <a:gd name="csY47" fmla="*/ 1709036 h 2598821"/>
              <a:gd name="csX48" fmla="*/ 3412499 w 5542964"/>
              <a:gd name="csY48" fmla="*/ 1684722 h 2598821"/>
              <a:gd name="csX49" fmla="*/ 3357329 w 5542964"/>
              <a:gd name="csY49" fmla="*/ 1665171 h 2598821"/>
              <a:gd name="csX50" fmla="*/ 3328453 w 5542964"/>
              <a:gd name="csY50" fmla="*/ 1645920 h 2598821"/>
              <a:gd name="csX51" fmla="*/ 3261077 w 5542964"/>
              <a:gd name="csY51" fmla="*/ 1588169 h 2598821"/>
              <a:gd name="csX52" fmla="*/ 3232201 w 5542964"/>
              <a:gd name="csY52" fmla="*/ 1578543 h 2598821"/>
              <a:gd name="csX53" fmla="*/ 3155199 w 5542964"/>
              <a:gd name="csY53" fmla="*/ 1511167 h 2598821"/>
              <a:gd name="csX54" fmla="*/ 3087822 w 5542964"/>
              <a:gd name="csY54" fmla="*/ 1472666 h 2598821"/>
              <a:gd name="csX55" fmla="*/ 3039696 w 5542964"/>
              <a:gd name="csY55" fmla="*/ 1443790 h 2598821"/>
              <a:gd name="csX56" fmla="*/ 2969938 w 5542964"/>
              <a:gd name="csY56" fmla="*/ 1412232 h 2598821"/>
              <a:gd name="csX57" fmla="*/ 2914567 w 5542964"/>
              <a:gd name="csY57" fmla="*/ 1366788 h 2598821"/>
              <a:gd name="csX58" fmla="*/ 2866441 w 5542964"/>
              <a:gd name="csY58" fmla="*/ 1347537 h 2598821"/>
              <a:gd name="csX59" fmla="*/ 2789439 w 5542964"/>
              <a:gd name="csY59" fmla="*/ 1299411 h 2598821"/>
              <a:gd name="csX60" fmla="*/ 2731687 w 5542964"/>
              <a:gd name="csY60" fmla="*/ 1212783 h 2598821"/>
              <a:gd name="csX61" fmla="*/ 2760563 w 5542964"/>
              <a:gd name="csY61" fmla="*/ 577516 h 2598821"/>
              <a:gd name="csX62" fmla="*/ 2750938 w 5542964"/>
              <a:gd name="csY62" fmla="*/ 308009 h 2598821"/>
              <a:gd name="csX63" fmla="*/ 2731687 w 5542964"/>
              <a:gd name="csY63" fmla="*/ 192506 h 2598821"/>
              <a:gd name="csX64" fmla="*/ 2712437 w 5542964"/>
              <a:gd name="csY64" fmla="*/ 144379 h 2598821"/>
              <a:gd name="csX65" fmla="*/ 2654685 w 5542964"/>
              <a:gd name="csY65" fmla="*/ 77002 h 2598821"/>
              <a:gd name="csX66" fmla="*/ 2625809 w 5542964"/>
              <a:gd name="csY66" fmla="*/ 38501 h 2598821"/>
              <a:gd name="csX67" fmla="*/ 2568058 w 5542964"/>
              <a:gd name="csY67" fmla="*/ 0 h 2598821"/>
              <a:gd name="csX68" fmla="*/ 2625809 w 5542964"/>
              <a:gd name="csY68" fmla="*/ 57752 h 2598821"/>
              <a:gd name="csX0" fmla="*/ 2625809 w 5542964"/>
              <a:gd name="csY0" fmla="*/ 57752 h 2598821"/>
              <a:gd name="csX1" fmla="*/ 55864 w 5542964"/>
              <a:gd name="csY1" fmla="*/ 67377 h 2598821"/>
              <a:gd name="csX2" fmla="*/ 10895 w 5542964"/>
              <a:gd name="csY2" fmla="*/ 131872 h 2598821"/>
              <a:gd name="csX3" fmla="*/ 1370 w 5542964"/>
              <a:gd name="csY3" fmla="*/ 543376 h 2598821"/>
              <a:gd name="csX4" fmla="*/ 20822 w 5542964"/>
              <a:gd name="csY4" fmla="*/ 1101692 h 2598821"/>
              <a:gd name="csX5" fmla="*/ 49498 w 5542964"/>
              <a:gd name="csY5" fmla="*/ 1214512 h 2598821"/>
              <a:gd name="csX6" fmla="*/ 66266 w 5542964"/>
              <a:gd name="csY6" fmla="*/ 1222283 h 2598821"/>
              <a:gd name="csX7" fmla="*/ 68948 w 5542964"/>
              <a:gd name="csY7" fmla="*/ 1218222 h 2598821"/>
              <a:gd name="csX8" fmla="*/ 85918 w 5542964"/>
              <a:gd name="csY8" fmla="*/ 1202356 h 2598821"/>
              <a:gd name="csX9" fmla="*/ 165501 w 5542964"/>
              <a:gd name="csY9" fmla="*/ 1134403 h 2598821"/>
              <a:gd name="csX10" fmla="*/ 113616 w 5542964"/>
              <a:gd name="csY10" fmla="*/ 1251284 h 2598821"/>
              <a:gd name="csX11" fmla="*/ 748883 w 5542964"/>
              <a:gd name="csY11" fmla="*/ 1270535 h 2598821"/>
              <a:gd name="csX12" fmla="*/ 999140 w 5542964"/>
              <a:gd name="csY12" fmla="*/ 1578543 h 2598821"/>
              <a:gd name="csX13" fmla="*/ 1047266 w 5542964"/>
              <a:gd name="csY13" fmla="*/ 1665171 h 2598821"/>
              <a:gd name="csX14" fmla="*/ 1114643 w 5542964"/>
              <a:gd name="csY14" fmla="*/ 1761423 h 2598821"/>
              <a:gd name="csX15" fmla="*/ 1172395 w 5542964"/>
              <a:gd name="csY15" fmla="*/ 1867301 h 2598821"/>
              <a:gd name="csX16" fmla="*/ 1441902 w 5542964"/>
              <a:gd name="csY16" fmla="*/ 2146434 h 2598821"/>
              <a:gd name="csX17" fmla="*/ 1730660 w 5542964"/>
              <a:gd name="csY17" fmla="*/ 2300438 h 2598821"/>
              <a:gd name="csX18" fmla="*/ 1826912 w 5542964"/>
              <a:gd name="csY18" fmla="*/ 2338939 h 2598821"/>
              <a:gd name="csX19" fmla="*/ 2086795 w 5542964"/>
              <a:gd name="csY19" fmla="*/ 2387066 h 2598821"/>
              <a:gd name="csX20" fmla="*/ 2673936 w 5542964"/>
              <a:gd name="csY20" fmla="*/ 2464068 h 2598821"/>
              <a:gd name="csX21" fmla="*/ 2991569 w 5542964"/>
              <a:gd name="csY21" fmla="*/ 2502569 h 2598821"/>
              <a:gd name="csX22" fmla="*/ 3530584 w 5542964"/>
              <a:gd name="csY22" fmla="*/ 2521819 h 2598821"/>
              <a:gd name="csX23" fmla="*/ 3915595 w 5542964"/>
              <a:gd name="csY23" fmla="*/ 2560320 h 2598821"/>
              <a:gd name="csX24" fmla="*/ 4310230 w 5542964"/>
              <a:gd name="csY24" fmla="*/ 2569946 h 2598821"/>
              <a:gd name="csX25" fmla="*/ 4791493 w 5542964"/>
              <a:gd name="csY25" fmla="*/ 2598821 h 2598821"/>
              <a:gd name="csX26" fmla="*/ 5405655 w 5542964"/>
              <a:gd name="csY26" fmla="*/ 2527084 h 2598821"/>
              <a:gd name="csX27" fmla="*/ 5537426 w 5542964"/>
              <a:gd name="csY27" fmla="*/ 2330918 h 2598821"/>
              <a:gd name="csX28" fmla="*/ 5518577 w 5542964"/>
              <a:gd name="csY28" fmla="*/ 1967063 h 2598821"/>
              <a:gd name="csX29" fmla="*/ 5521158 w 5542964"/>
              <a:gd name="csY29" fmla="*/ 1640406 h 2598821"/>
              <a:gd name="csX30" fmla="*/ 5342264 w 5542964"/>
              <a:gd name="csY30" fmla="*/ 1466800 h 2598821"/>
              <a:gd name="csX31" fmla="*/ 5274987 w 5542964"/>
              <a:gd name="csY31" fmla="*/ 1418774 h 2598821"/>
              <a:gd name="csX32" fmla="*/ 5143016 w 5542964"/>
              <a:gd name="csY32" fmla="*/ 1370949 h 2598821"/>
              <a:gd name="csX33" fmla="*/ 4957555 w 5542964"/>
              <a:gd name="csY33" fmla="*/ 1325505 h 2598821"/>
              <a:gd name="csX34" fmla="*/ 4598988 w 5542964"/>
              <a:gd name="csY34" fmla="*/ 1309036 h 2598821"/>
              <a:gd name="csX35" fmla="*/ 4435359 w 5542964"/>
              <a:gd name="csY35" fmla="*/ 1357162 h 2598821"/>
              <a:gd name="csX36" fmla="*/ 4348731 w 5542964"/>
              <a:gd name="csY36" fmla="*/ 1386038 h 2598821"/>
              <a:gd name="csX37" fmla="*/ 4213978 w 5542964"/>
              <a:gd name="csY37" fmla="*/ 1443790 h 2598821"/>
              <a:gd name="csX38" fmla="*/ 4127350 w 5542964"/>
              <a:gd name="csY38" fmla="*/ 1501541 h 2598821"/>
              <a:gd name="csX39" fmla="*/ 4031098 w 5542964"/>
              <a:gd name="csY39" fmla="*/ 1549668 h 2598821"/>
              <a:gd name="csX40" fmla="*/ 3877093 w 5542964"/>
              <a:gd name="csY40" fmla="*/ 1645920 h 2598821"/>
              <a:gd name="csX41" fmla="*/ 3828967 w 5542964"/>
              <a:gd name="csY41" fmla="*/ 1674796 h 2598821"/>
              <a:gd name="csX42" fmla="*/ 3780841 w 5542964"/>
              <a:gd name="csY42" fmla="*/ 1713297 h 2598821"/>
              <a:gd name="csX43" fmla="*/ 3723089 w 5542964"/>
              <a:gd name="csY43" fmla="*/ 1742173 h 2598821"/>
              <a:gd name="csX44" fmla="*/ 3674963 w 5542964"/>
              <a:gd name="csY44" fmla="*/ 1780674 h 2598821"/>
              <a:gd name="csX45" fmla="*/ 3597961 w 5542964"/>
              <a:gd name="csY45" fmla="*/ 1819175 h 2598821"/>
              <a:gd name="csX46" fmla="*/ 3537327 w 5542964"/>
              <a:gd name="csY46" fmla="*/ 1756962 h 2598821"/>
              <a:gd name="csX47" fmla="*/ 3472632 w 5542964"/>
              <a:gd name="csY47" fmla="*/ 1709036 h 2598821"/>
              <a:gd name="csX48" fmla="*/ 3412499 w 5542964"/>
              <a:gd name="csY48" fmla="*/ 1684722 h 2598821"/>
              <a:gd name="csX49" fmla="*/ 3357329 w 5542964"/>
              <a:gd name="csY49" fmla="*/ 1665171 h 2598821"/>
              <a:gd name="csX50" fmla="*/ 3328453 w 5542964"/>
              <a:gd name="csY50" fmla="*/ 1645920 h 2598821"/>
              <a:gd name="csX51" fmla="*/ 3261077 w 5542964"/>
              <a:gd name="csY51" fmla="*/ 1588169 h 2598821"/>
              <a:gd name="csX52" fmla="*/ 3232201 w 5542964"/>
              <a:gd name="csY52" fmla="*/ 1578543 h 2598821"/>
              <a:gd name="csX53" fmla="*/ 3155199 w 5542964"/>
              <a:gd name="csY53" fmla="*/ 1511167 h 2598821"/>
              <a:gd name="csX54" fmla="*/ 3087822 w 5542964"/>
              <a:gd name="csY54" fmla="*/ 1472666 h 2598821"/>
              <a:gd name="csX55" fmla="*/ 3039696 w 5542964"/>
              <a:gd name="csY55" fmla="*/ 1443790 h 2598821"/>
              <a:gd name="csX56" fmla="*/ 2969938 w 5542964"/>
              <a:gd name="csY56" fmla="*/ 1412232 h 2598821"/>
              <a:gd name="csX57" fmla="*/ 2914567 w 5542964"/>
              <a:gd name="csY57" fmla="*/ 1366788 h 2598821"/>
              <a:gd name="csX58" fmla="*/ 2866441 w 5542964"/>
              <a:gd name="csY58" fmla="*/ 1347537 h 2598821"/>
              <a:gd name="csX59" fmla="*/ 2789439 w 5542964"/>
              <a:gd name="csY59" fmla="*/ 1299411 h 2598821"/>
              <a:gd name="csX60" fmla="*/ 2731687 w 5542964"/>
              <a:gd name="csY60" fmla="*/ 1212783 h 2598821"/>
              <a:gd name="csX61" fmla="*/ 2760563 w 5542964"/>
              <a:gd name="csY61" fmla="*/ 577516 h 2598821"/>
              <a:gd name="csX62" fmla="*/ 2750938 w 5542964"/>
              <a:gd name="csY62" fmla="*/ 308009 h 2598821"/>
              <a:gd name="csX63" fmla="*/ 2731687 w 5542964"/>
              <a:gd name="csY63" fmla="*/ 192506 h 2598821"/>
              <a:gd name="csX64" fmla="*/ 2712437 w 5542964"/>
              <a:gd name="csY64" fmla="*/ 144379 h 2598821"/>
              <a:gd name="csX65" fmla="*/ 2654685 w 5542964"/>
              <a:gd name="csY65" fmla="*/ 77002 h 2598821"/>
              <a:gd name="csX66" fmla="*/ 2625809 w 5542964"/>
              <a:gd name="csY66" fmla="*/ 38501 h 2598821"/>
              <a:gd name="csX67" fmla="*/ 2568058 w 5542964"/>
              <a:gd name="csY67" fmla="*/ 0 h 2598821"/>
              <a:gd name="csX68" fmla="*/ 2625809 w 5542964"/>
              <a:gd name="csY68" fmla="*/ 57752 h 259882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Lst>
            <a:rect l="l" t="t" r="r" b="b"/>
            <a:pathLst>
              <a:path w="5542964" h="2598821">
                <a:moveTo>
                  <a:pt x="2625809" y="57752"/>
                </a:moveTo>
                <a:lnTo>
                  <a:pt x="55864" y="67377"/>
                </a:lnTo>
                <a:cubicBezTo>
                  <a:pt x="-83285" y="68357"/>
                  <a:pt x="93278" y="111275"/>
                  <a:pt x="10895" y="131872"/>
                </a:cubicBezTo>
                <a:cubicBezTo>
                  <a:pt x="-2972" y="312149"/>
                  <a:pt x="-284" y="381739"/>
                  <a:pt x="1370" y="543376"/>
                </a:cubicBezTo>
                <a:cubicBezTo>
                  <a:pt x="3025" y="705013"/>
                  <a:pt x="7988" y="1066399"/>
                  <a:pt x="20822" y="1101692"/>
                </a:cubicBezTo>
                <a:cubicBezTo>
                  <a:pt x="24030" y="1130568"/>
                  <a:pt x="41924" y="1194414"/>
                  <a:pt x="49498" y="1214512"/>
                </a:cubicBezTo>
                <a:cubicBezTo>
                  <a:pt x="57072" y="1234610"/>
                  <a:pt x="63024" y="1221665"/>
                  <a:pt x="66266" y="1222283"/>
                </a:cubicBezTo>
                <a:cubicBezTo>
                  <a:pt x="69508" y="1222901"/>
                  <a:pt x="65673" y="1221543"/>
                  <a:pt x="68948" y="1218222"/>
                </a:cubicBezTo>
                <a:cubicBezTo>
                  <a:pt x="72223" y="1214901"/>
                  <a:pt x="69826" y="1216326"/>
                  <a:pt x="85918" y="1202356"/>
                </a:cubicBezTo>
                <a:cubicBezTo>
                  <a:pt x="102010" y="1188386"/>
                  <a:pt x="160885" y="1126248"/>
                  <a:pt x="165501" y="1134403"/>
                </a:cubicBezTo>
                <a:cubicBezTo>
                  <a:pt x="170117" y="1142558"/>
                  <a:pt x="97574" y="1244867"/>
                  <a:pt x="113616" y="1251284"/>
                </a:cubicBezTo>
                <a:cubicBezTo>
                  <a:pt x="341655" y="1229216"/>
                  <a:pt x="521103" y="1188147"/>
                  <a:pt x="748883" y="1270535"/>
                </a:cubicBezTo>
                <a:cubicBezTo>
                  <a:pt x="816428" y="1294966"/>
                  <a:pt x="981829" y="1552120"/>
                  <a:pt x="999140" y="1578543"/>
                </a:cubicBezTo>
                <a:cubicBezTo>
                  <a:pt x="1017243" y="1606174"/>
                  <a:pt x="1029627" y="1637242"/>
                  <a:pt x="1047266" y="1665171"/>
                </a:cubicBezTo>
                <a:cubicBezTo>
                  <a:pt x="1068179" y="1698283"/>
                  <a:pt x="1094029" y="1728124"/>
                  <a:pt x="1114643" y="1761423"/>
                </a:cubicBezTo>
                <a:cubicBezTo>
                  <a:pt x="1135803" y="1795605"/>
                  <a:pt x="1149341" y="1834367"/>
                  <a:pt x="1172395" y="1867301"/>
                </a:cubicBezTo>
                <a:cubicBezTo>
                  <a:pt x="1259562" y="1991826"/>
                  <a:pt x="1316066" y="2070347"/>
                  <a:pt x="1441902" y="2146434"/>
                </a:cubicBezTo>
                <a:cubicBezTo>
                  <a:pt x="1535251" y="2202877"/>
                  <a:pt x="1629376" y="2259924"/>
                  <a:pt x="1730660" y="2300438"/>
                </a:cubicBezTo>
                <a:cubicBezTo>
                  <a:pt x="1762744" y="2313272"/>
                  <a:pt x="1793336" y="2330772"/>
                  <a:pt x="1826912" y="2338939"/>
                </a:cubicBezTo>
                <a:cubicBezTo>
                  <a:pt x="1912516" y="2359762"/>
                  <a:pt x="2000035" y="2371755"/>
                  <a:pt x="2086795" y="2387066"/>
                </a:cubicBezTo>
                <a:cubicBezTo>
                  <a:pt x="2408758" y="2443883"/>
                  <a:pt x="2281215" y="2419186"/>
                  <a:pt x="2673936" y="2464068"/>
                </a:cubicBezTo>
                <a:cubicBezTo>
                  <a:pt x="2779899" y="2476178"/>
                  <a:pt x="2885310" y="2493409"/>
                  <a:pt x="2991569" y="2502569"/>
                </a:cubicBezTo>
                <a:cubicBezTo>
                  <a:pt x="3040368" y="2506776"/>
                  <a:pt x="3513036" y="2521253"/>
                  <a:pt x="3530584" y="2521819"/>
                </a:cubicBezTo>
                <a:cubicBezTo>
                  <a:pt x="3658921" y="2534653"/>
                  <a:pt x="3786863" y="2552373"/>
                  <a:pt x="3915595" y="2560320"/>
                </a:cubicBezTo>
                <a:cubicBezTo>
                  <a:pt x="4046929" y="2568427"/>
                  <a:pt x="4178773" y="2564168"/>
                  <a:pt x="4310230" y="2569946"/>
                </a:cubicBezTo>
                <a:cubicBezTo>
                  <a:pt x="4470784" y="2577003"/>
                  <a:pt x="4631072" y="2589196"/>
                  <a:pt x="4791493" y="2598821"/>
                </a:cubicBezTo>
                <a:cubicBezTo>
                  <a:pt x="5089876" y="2589196"/>
                  <a:pt x="5281333" y="2571734"/>
                  <a:pt x="5405655" y="2527084"/>
                </a:cubicBezTo>
                <a:cubicBezTo>
                  <a:pt x="5529977" y="2482434"/>
                  <a:pt x="5518606" y="2424255"/>
                  <a:pt x="5537426" y="2330918"/>
                </a:cubicBezTo>
                <a:cubicBezTo>
                  <a:pt x="5556246" y="2237581"/>
                  <a:pt x="5521288" y="2082148"/>
                  <a:pt x="5518577" y="1967063"/>
                </a:cubicBezTo>
                <a:cubicBezTo>
                  <a:pt x="5515866" y="1851978"/>
                  <a:pt x="5514741" y="1730242"/>
                  <a:pt x="5521158" y="1640406"/>
                </a:cubicBezTo>
                <a:cubicBezTo>
                  <a:pt x="5511533" y="1419025"/>
                  <a:pt x="5383292" y="1503739"/>
                  <a:pt x="5342264" y="1466800"/>
                </a:cubicBezTo>
                <a:cubicBezTo>
                  <a:pt x="5301236" y="1429861"/>
                  <a:pt x="5308195" y="1434749"/>
                  <a:pt x="5274987" y="1418774"/>
                </a:cubicBezTo>
                <a:cubicBezTo>
                  <a:pt x="5241779" y="1402799"/>
                  <a:pt x="5195921" y="1386494"/>
                  <a:pt x="5143016" y="1370949"/>
                </a:cubicBezTo>
                <a:cubicBezTo>
                  <a:pt x="5090111" y="1355404"/>
                  <a:pt x="5024932" y="1331922"/>
                  <a:pt x="4957555" y="1325505"/>
                </a:cubicBezTo>
                <a:cubicBezTo>
                  <a:pt x="4684839" y="1331922"/>
                  <a:pt x="4686021" y="1303760"/>
                  <a:pt x="4598988" y="1309036"/>
                </a:cubicBezTo>
                <a:cubicBezTo>
                  <a:pt x="4511955" y="1314312"/>
                  <a:pt x="4494853" y="1335914"/>
                  <a:pt x="4435359" y="1357162"/>
                </a:cubicBezTo>
                <a:cubicBezTo>
                  <a:pt x="4406694" y="1367399"/>
                  <a:pt x="4377076" y="1374946"/>
                  <a:pt x="4348731" y="1386038"/>
                </a:cubicBezTo>
                <a:cubicBezTo>
                  <a:pt x="4303222" y="1403846"/>
                  <a:pt x="4213978" y="1443790"/>
                  <a:pt x="4213978" y="1443790"/>
                </a:cubicBezTo>
                <a:cubicBezTo>
                  <a:pt x="4141416" y="1516352"/>
                  <a:pt x="4213123" y="1454756"/>
                  <a:pt x="4127350" y="1501541"/>
                </a:cubicBezTo>
                <a:cubicBezTo>
                  <a:pt x="4030379" y="1554434"/>
                  <a:pt x="4108176" y="1530397"/>
                  <a:pt x="4031098" y="1549668"/>
                </a:cubicBezTo>
                <a:cubicBezTo>
                  <a:pt x="3906726" y="1620737"/>
                  <a:pt x="4021284" y="1553226"/>
                  <a:pt x="3877093" y="1645920"/>
                </a:cubicBezTo>
                <a:cubicBezTo>
                  <a:pt x="3861356" y="1656036"/>
                  <a:pt x="3843576" y="1663109"/>
                  <a:pt x="3828967" y="1674796"/>
                </a:cubicBezTo>
                <a:cubicBezTo>
                  <a:pt x="3812925" y="1687630"/>
                  <a:pt x="3798173" y="1702268"/>
                  <a:pt x="3780841" y="1713297"/>
                </a:cubicBezTo>
                <a:cubicBezTo>
                  <a:pt x="3762683" y="1724852"/>
                  <a:pt x="3741247" y="1730618"/>
                  <a:pt x="3723089" y="1742173"/>
                </a:cubicBezTo>
                <a:cubicBezTo>
                  <a:pt x="3705757" y="1753202"/>
                  <a:pt x="3692459" y="1769907"/>
                  <a:pt x="3674963" y="1780674"/>
                </a:cubicBezTo>
                <a:cubicBezTo>
                  <a:pt x="3650523" y="1795714"/>
                  <a:pt x="3620900" y="1823127"/>
                  <a:pt x="3597961" y="1819175"/>
                </a:cubicBezTo>
                <a:cubicBezTo>
                  <a:pt x="3575022" y="1815223"/>
                  <a:pt x="3558215" y="1775318"/>
                  <a:pt x="3537327" y="1756962"/>
                </a:cubicBezTo>
                <a:cubicBezTo>
                  <a:pt x="3516439" y="1738606"/>
                  <a:pt x="3493437" y="1721076"/>
                  <a:pt x="3472632" y="1709036"/>
                </a:cubicBezTo>
                <a:cubicBezTo>
                  <a:pt x="3451827" y="1696996"/>
                  <a:pt x="3431716" y="1692033"/>
                  <a:pt x="3412499" y="1684722"/>
                </a:cubicBezTo>
                <a:cubicBezTo>
                  <a:pt x="3393282" y="1677411"/>
                  <a:pt x="3371337" y="1671638"/>
                  <a:pt x="3357329" y="1665171"/>
                </a:cubicBezTo>
                <a:cubicBezTo>
                  <a:pt x="3343321" y="1658704"/>
                  <a:pt x="3337340" y="1653326"/>
                  <a:pt x="3328453" y="1645920"/>
                </a:cubicBezTo>
                <a:cubicBezTo>
                  <a:pt x="3291211" y="1614884"/>
                  <a:pt x="3306960" y="1614388"/>
                  <a:pt x="3261077" y="1588169"/>
                </a:cubicBezTo>
                <a:cubicBezTo>
                  <a:pt x="3252268" y="1583135"/>
                  <a:pt x="3241826" y="1581752"/>
                  <a:pt x="3232201" y="1578543"/>
                </a:cubicBezTo>
                <a:cubicBezTo>
                  <a:pt x="3120453" y="1494734"/>
                  <a:pt x="3271486" y="1610842"/>
                  <a:pt x="3155199" y="1511167"/>
                </a:cubicBezTo>
                <a:cubicBezTo>
                  <a:pt x="3132904" y="1492057"/>
                  <a:pt x="3113699" y="1487042"/>
                  <a:pt x="3087822" y="1472666"/>
                </a:cubicBezTo>
                <a:cubicBezTo>
                  <a:pt x="3071468" y="1463581"/>
                  <a:pt x="3059343" y="1453862"/>
                  <a:pt x="3039696" y="1443790"/>
                </a:cubicBezTo>
                <a:cubicBezTo>
                  <a:pt x="3020049" y="1433718"/>
                  <a:pt x="2995130" y="1427735"/>
                  <a:pt x="2969938" y="1412232"/>
                </a:cubicBezTo>
                <a:cubicBezTo>
                  <a:pt x="2952656" y="1401597"/>
                  <a:pt x="2931816" y="1377570"/>
                  <a:pt x="2914567" y="1366788"/>
                </a:cubicBezTo>
                <a:cubicBezTo>
                  <a:pt x="2897318" y="1356006"/>
                  <a:pt x="2881654" y="1355728"/>
                  <a:pt x="2866441" y="1347537"/>
                </a:cubicBezTo>
                <a:cubicBezTo>
                  <a:pt x="2839791" y="1333187"/>
                  <a:pt x="2789439" y="1299411"/>
                  <a:pt x="2789439" y="1299411"/>
                </a:cubicBezTo>
                <a:cubicBezTo>
                  <a:pt x="2770188" y="1270535"/>
                  <a:pt x="2730111" y="1247452"/>
                  <a:pt x="2731687" y="1212783"/>
                </a:cubicBezTo>
                <a:lnTo>
                  <a:pt x="2760563" y="577516"/>
                </a:lnTo>
                <a:cubicBezTo>
                  <a:pt x="2757355" y="487680"/>
                  <a:pt x="2755924" y="397764"/>
                  <a:pt x="2750938" y="308009"/>
                </a:cubicBezTo>
                <a:cubicBezTo>
                  <a:pt x="2749255" y="277722"/>
                  <a:pt x="2742684" y="225498"/>
                  <a:pt x="2731687" y="192506"/>
                </a:cubicBezTo>
                <a:cubicBezTo>
                  <a:pt x="2726223" y="176115"/>
                  <a:pt x="2722021" y="158755"/>
                  <a:pt x="2712437" y="144379"/>
                </a:cubicBezTo>
                <a:cubicBezTo>
                  <a:pt x="2696029" y="119767"/>
                  <a:pt x="2673416" y="99896"/>
                  <a:pt x="2654685" y="77002"/>
                </a:cubicBezTo>
                <a:cubicBezTo>
                  <a:pt x="2644526" y="64586"/>
                  <a:pt x="2638643" y="48126"/>
                  <a:pt x="2625809" y="38501"/>
                </a:cubicBezTo>
                <a:cubicBezTo>
                  <a:pt x="2555683" y="-14093"/>
                  <a:pt x="2591779" y="47444"/>
                  <a:pt x="2568058" y="0"/>
                </a:cubicBezTo>
                <a:lnTo>
                  <a:pt x="2625809" y="57752"/>
                </a:lnTo>
                <a:close/>
              </a:path>
            </a:pathLst>
          </a:custGeom>
          <a:solidFill>
            <a:srgbClr val="F2F2F2">
              <a:alpha val="9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dirty="0"/>
          </a:p>
        </p:txBody>
      </p:sp>
      <p:grpSp>
        <p:nvGrpSpPr>
          <p:cNvPr id="36" name="Group 35">
            <a:extLst>
              <a:ext uri="{FF2B5EF4-FFF2-40B4-BE49-F238E27FC236}">
                <a16:creationId xmlns:a16="http://schemas.microsoft.com/office/drawing/2014/main" id="{6771EC40-4F48-F33D-8B15-04D3A28DA398}"/>
              </a:ext>
            </a:extLst>
          </p:cNvPr>
          <p:cNvGrpSpPr/>
          <p:nvPr/>
        </p:nvGrpSpPr>
        <p:grpSpPr>
          <a:xfrm>
            <a:off x="785972" y="2418387"/>
            <a:ext cx="5026151" cy="1224496"/>
            <a:chOff x="1089807" y="2723025"/>
            <a:chExt cx="5026151" cy="1224496"/>
          </a:xfrm>
        </p:grpSpPr>
        <p:sp>
          <p:nvSpPr>
            <p:cNvPr id="28" name="TextBox 27">
              <a:extLst>
                <a:ext uri="{FF2B5EF4-FFF2-40B4-BE49-F238E27FC236}">
                  <a16:creationId xmlns:a16="http://schemas.microsoft.com/office/drawing/2014/main" id="{614DC35F-F3F4-35CF-BB50-565858BCEBAA}"/>
                </a:ext>
              </a:extLst>
            </p:cNvPr>
            <p:cNvSpPr txBox="1"/>
            <p:nvPr/>
          </p:nvSpPr>
          <p:spPr>
            <a:xfrm>
              <a:off x="2264967" y="2981330"/>
              <a:ext cx="3850991" cy="707886"/>
            </a:xfrm>
            <a:prstGeom prst="rect">
              <a:avLst/>
            </a:prstGeom>
            <a:noFill/>
          </p:spPr>
          <p:txBody>
            <a:bodyPr wrap="none" rtlCol="0">
              <a:spAutoFit/>
            </a:bodyPr>
            <a:lstStyle/>
            <a:p>
              <a:r>
                <a:rPr lang="en-US" sz="2000" b="1" dirty="0">
                  <a:solidFill>
                    <a:srgbClr val="00B050"/>
                  </a:solidFill>
                </a:rPr>
                <a:t>Conceptual clarification:</a:t>
              </a:r>
            </a:p>
            <a:p>
              <a:r>
                <a:rPr lang="en-US" sz="2000" dirty="0">
                  <a:solidFill>
                    <a:srgbClr val="00B050"/>
                  </a:solidFill>
                </a:rPr>
                <a:t>Meanings are precise and explicit</a:t>
              </a:r>
            </a:p>
          </p:txBody>
        </p:sp>
        <p:grpSp>
          <p:nvGrpSpPr>
            <p:cNvPr id="34" name="Group 33">
              <a:extLst>
                <a:ext uri="{FF2B5EF4-FFF2-40B4-BE49-F238E27FC236}">
                  <a16:creationId xmlns:a16="http://schemas.microsoft.com/office/drawing/2014/main" id="{F44B1B21-065E-2161-1121-36415D9658BA}"/>
                </a:ext>
              </a:extLst>
            </p:cNvPr>
            <p:cNvGrpSpPr/>
            <p:nvPr/>
          </p:nvGrpSpPr>
          <p:grpSpPr>
            <a:xfrm>
              <a:off x="1089807" y="2723025"/>
              <a:ext cx="1224496" cy="1224496"/>
              <a:chOff x="1089807" y="2723025"/>
              <a:chExt cx="1224496" cy="1224496"/>
            </a:xfrm>
          </p:grpSpPr>
          <p:pic>
            <p:nvPicPr>
              <p:cNvPr id="23" name="Graphic 22" descr="Excellent with solid fill">
                <a:extLst>
                  <a:ext uri="{FF2B5EF4-FFF2-40B4-BE49-F238E27FC236}">
                    <a16:creationId xmlns:a16="http://schemas.microsoft.com/office/drawing/2014/main" id="{F7831754-0820-B185-4A95-472C63A48E14}"/>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089807" y="2723025"/>
                <a:ext cx="1224496" cy="1224496"/>
              </a:xfrm>
              <a:prstGeom prst="rect">
                <a:avLst/>
              </a:prstGeom>
            </p:spPr>
          </p:pic>
          <p:sp>
            <p:nvSpPr>
              <p:cNvPr id="32" name="TextBox 31">
                <a:extLst>
                  <a:ext uri="{FF2B5EF4-FFF2-40B4-BE49-F238E27FC236}">
                    <a16:creationId xmlns:a16="http://schemas.microsoft.com/office/drawing/2014/main" id="{D19D0579-80DC-0634-51E5-EF8A9E28334F}"/>
                  </a:ext>
                </a:extLst>
              </p:cNvPr>
              <p:cNvSpPr txBox="1"/>
              <p:nvPr/>
            </p:nvSpPr>
            <p:spPr>
              <a:xfrm>
                <a:off x="1527167" y="3104441"/>
                <a:ext cx="349776" cy="461665"/>
              </a:xfrm>
              <a:prstGeom prst="rect">
                <a:avLst/>
              </a:prstGeom>
              <a:noFill/>
            </p:spPr>
            <p:txBody>
              <a:bodyPr wrap="none" rtlCol="0">
                <a:spAutoFit/>
              </a:bodyPr>
              <a:lstStyle/>
              <a:p>
                <a:r>
                  <a:rPr lang="en-US" sz="2400" b="1" dirty="0">
                    <a:solidFill>
                      <a:schemeClr val="bg1"/>
                    </a:solidFill>
                  </a:rPr>
                  <a:t>1</a:t>
                </a:r>
                <a:endParaRPr lang="en-NL" sz="2400" b="1" dirty="0">
                  <a:solidFill>
                    <a:schemeClr val="bg1"/>
                  </a:solidFill>
                </a:endParaRPr>
              </a:p>
            </p:txBody>
          </p:sp>
        </p:grpSp>
      </p:grpSp>
      <p:grpSp>
        <p:nvGrpSpPr>
          <p:cNvPr id="38" name="Group 37">
            <a:extLst>
              <a:ext uri="{FF2B5EF4-FFF2-40B4-BE49-F238E27FC236}">
                <a16:creationId xmlns:a16="http://schemas.microsoft.com/office/drawing/2014/main" id="{5360A695-1600-4F24-125B-3494A8B544A7}"/>
              </a:ext>
            </a:extLst>
          </p:cNvPr>
          <p:cNvGrpSpPr/>
          <p:nvPr/>
        </p:nvGrpSpPr>
        <p:grpSpPr>
          <a:xfrm>
            <a:off x="789309" y="3722997"/>
            <a:ext cx="4523769" cy="1224496"/>
            <a:chOff x="1089807" y="4326591"/>
            <a:chExt cx="4523769" cy="1224496"/>
          </a:xfrm>
        </p:grpSpPr>
        <p:sp>
          <p:nvSpPr>
            <p:cNvPr id="29" name="TextBox 28">
              <a:extLst>
                <a:ext uri="{FF2B5EF4-FFF2-40B4-BE49-F238E27FC236}">
                  <a16:creationId xmlns:a16="http://schemas.microsoft.com/office/drawing/2014/main" id="{CB458F6A-0C71-C16F-28B0-F0A0E4517E98}"/>
                </a:ext>
              </a:extLst>
            </p:cNvPr>
            <p:cNvSpPr txBox="1"/>
            <p:nvPr/>
          </p:nvSpPr>
          <p:spPr>
            <a:xfrm>
              <a:off x="2264967" y="4584896"/>
              <a:ext cx="3348609" cy="707886"/>
            </a:xfrm>
            <a:prstGeom prst="rect">
              <a:avLst/>
            </a:prstGeom>
            <a:noFill/>
          </p:spPr>
          <p:txBody>
            <a:bodyPr wrap="none" rtlCol="0">
              <a:spAutoFit/>
            </a:bodyPr>
            <a:lstStyle/>
            <a:p>
              <a:r>
                <a:rPr lang="en-US" sz="2000" b="1" dirty="0">
                  <a:solidFill>
                    <a:srgbClr val="00B050"/>
                  </a:solidFill>
                </a:rPr>
                <a:t>Computational tractability:</a:t>
              </a:r>
            </a:p>
            <a:p>
              <a:r>
                <a:rPr lang="en-US" sz="2000" dirty="0">
                  <a:solidFill>
                    <a:srgbClr val="00B050"/>
                  </a:solidFill>
                </a:rPr>
                <a:t>Machine-readable relations</a:t>
              </a:r>
            </a:p>
          </p:txBody>
        </p:sp>
        <p:grpSp>
          <p:nvGrpSpPr>
            <p:cNvPr id="37" name="Group 36">
              <a:extLst>
                <a:ext uri="{FF2B5EF4-FFF2-40B4-BE49-F238E27FC236}">
                  <a16:creationId xmlns:a16="http://schemas.microsoft.com/office/drawing/2014/main" id="{B50B6CA2-7D59-DE51-936E-623C43959A71}"/>
                </a:ext>
              </a:extLst>
            </p:cNvPr>
            <p:cNvGrpSpPr/>
            <p:nvPr/>
          </p:nvGrpSpPr>
          <p:grpSpPr>
            <a:xfrm>
              <a:off x="1089807" y="4326591"/>
              <a:ext cx="1224496" cy="1224496"/>
              <a:chOff x="1089807" y="4326591"/>
              <a:chExt cx="1224496" cy="1224496"/>
            </a:xfrm>
          </p:grpSpPr>
          <p:pic>
            <p:nvPicPr>
              <p:cNvPr id="25" name="Graphic 24" descr="Excellent with solid fill">
                <a:extLst>
                  <a:ext uri="{FF2B5EF4-FFF2-40B4-BE49-F238E27FC236}">
                    <a16:creationId xmlns:a16="http://schemas.microsoft.com/office/drawing/2014/main" id="{18CD470B-1FAE-9095-DCD5-798C90D5BA8A}"/>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089807" y="4326591"/>
                <a:ext cx="1224496" cy="1224496"/>
              </a:xfrm>
              <a:prstGeom prst="rect">
                <a:avLst/>
              </a:prstGeom>
            </p:spPr>
          </p:pic>
          <p:sp>
            <p:nvSpPr>
              <p:cNvPr id="33" name="TextBox 32">
                <a:extLst>
                  <a:ext uri="{FF2B5EF4-FFF2-40B4-BE49-F238E27FC236}">
                    <a16:creationId xmlns:a16="http://schemas.microsoft.com/office/drawing/2014/main" id="{051792E4-6104-FC76-A21C-20EE61C15440}"/>
                  </a:ext>
                </a:extLst>
              </p:cNvPr>
              <p:cNvSpPr txBox="1"/>
              <p:nvPr/>
            </p:nvSpPr>
            <p:spPr>
              <a:xfrm>
                <a:off x="1527167" y="4708007"/>
                <a:ext cx="349776" cy="461665"/>
              </a:xfrm>
              <a:prstGeom prst="rect">
                <a:avLst/>
              </a:prstGeom>
              <a:noFill/>
            </p:spPr>
            <p:txBody>
              <a:bodyPr wrap="none" rtlCol="0">
                <a:spAutoFit/>
              </a:bodyPr>
              <a:lstStyle/>
              <a:p>
                <a:r>
                  <a:rPr lang="en-US" sz="2400" b="1" dirty="0">
                    <a:solidFill>
                      <a:schemeClr val="bg1"/>
                    </a:solidFill>
                  </a:rPr>
                  <a:t>2</a:t>
                </a:r>
                <a:endParaRPr lang="en-NL" sz="2400" b="1" dirty="0">
                  <a:solidFill>
                    <a:schemeClr val="bg1"/>
                  </a:solidFill>
                </a:endParaRPr>
              </a:p>
            </p:txBody>
          </p:sp>
        </p:grpSp>
      </p:grpSp>
      <p:sp>
        <p:nvSpPr>
          <p:cNvPr id="8" name="TextBox 7">
            <a:extLst>
              <a:ext uri="{FF2B5EF4-FFF2-40B4-BE49-F238E27FC236}">
                <a16:creationId xmlns:a16="http://schemas.microsoft.com/office/drawing/2014/main" id="{C71BA5A6-0767-933C-C225-6917C1E50812}"/>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2</a:t>
            </a:r>
            <a:endParaRPr lang="en-NL" sz="1000" b="1" dirty="0"/>
          </a:p>
        </p:txBody>
      </p:sp>
      <p:pic>
        <p:nvPicPr>
          <p:cNvPr id="26" name="slide 17">
            <a:hlinkClick r:id="" action="ppaction://media"/>
            <a:extLst>
              <a:ext uri="{FF2B5EF4-FFF2-40B4-BE49-F238E27FC236}">
                <a16:creationId xmlns:a16="http://schemas.microsoft.com/office/drawing/2014/main" id="{549CA4CA-5C4C-2AC2-F123-6BD8D7FADD98}"/>
              </a:ext>
            </a:extLst>
          </p:cNvPr>
          <p:cNvPicPr>
            <a:picLocks noChangeAspect="1"/>
          </p:cNvPicPr>
          <p:nvPr>
            <a:audioFile r:link="rId2"/>
            <p:extLst>
              <p:ext uri="{DAA4B4D4-6D71-4841-9C94-3DE7FCFB9230}">
                <p14:media xmlns:p14="http://schemas.microsoft.com/office/powerpoint/2010/main" r:embed="rId1"/>
              </p:ext>
            </p:extLst>
          </p:nvPr>
        </p:nvPicPr>
        <p:blipFill>
          <a:blip r:embed="rId10"/>
          <a:stretch>
            <a:fillRect/>
          </a:stretch>
        </p:blipFill>
        <p:spPr>
          <a:xfrm>
            <a:off x="12381593" y="241030"/>
            <a:ext cx="609600" cy="609600"/>
          </a:xfrm>
          <a:prstGeom prst="rect">
            <a:avLst/>
          </a:prstGeom>
        </p:spPr>
      </p:pic>
    </p:spTree>
    <p:extLst>
      <p:ext uri="{BB962C8B-B14F-4D97-AF65-F5344CB8AC3E}">
        <p14:creationId xmlns:p14="http://schemas.microsoft.com/office/powerpoint/2010/main" val="26902916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xit" presetSubtype="0" fill="hold" grpId="0" nodeType="withEffect">
                                  <p:stCondLst>
                                    <p:cond delay="0"/>
                                  </p:stCondLst>
                                  <p:childTnLst>
                                    <p:animEffect transition="out" filter="fade">
                                      <p:cBhvr>
                                        <p:cTn id="6" dur="1000"/>
                                        <p:tgtEl>
                                          <p:spTgt spid="3"/>
                                        </p:tgtEl>
                                      </p:cBhvr>
                                    </p:animEffect>
                                    <p:set>
                                      <p:cBhvr>
                                        <p:cTn id="7" dur="1" fill="hold">
                                          <p:stCondLst>
                                            <p:cond delay="999"/>
                                          </p:stCondLst>
                                        </p:cTn>
                                        <p:tgtEl>
                                          <p:spTgt spid="3"/>
                                        </p:tgtEl>
                                        <p:attrNameLst>
                                          <p:attrName>style.visibility</p:attrName>
                                        </p:attrNameLst>
                                      </p:cBhvr>
                                      <p:to>
                                        <p:strVal val="hidden"/>
                                      </p:to>
                                    </p:se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38"/>
                                        </p:tgtEl>
                                        <p:attrNameLst>
                                          <p:attrName>style.visibility</p:attrName>
                                        </p:attrNameLst>
                                      </p:cBhvr>
                                      <p:to>
                                        <p:strVal val="visible"/>
                                      </p:to>
                                    </p:set>
                                    <p:animEffect transition="in" filter="fade">
                                      <p:cBhvr>
                                        <p:cTn id="11" dur="1000"/>
                                        <p:tgtEl>
                                          <p:spTgt spid="38"/>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mediacall" presetSubtype="0" fill="hold" nodeType="clickEffect">
                                  <p:stCondLst>
                                    <p:cond delay="0"/>
                                  </p:stCondLst>
                                  <p:childTnLst>
                                    <p:cmd type="call" cmd="playFrom(0.0)">
                                      <p:cBhvr>
                                        <p:cTn id="15" dur="37160" fill="hold"/>
                                        <p:tgtEl>
                                          <p:spTgt spid="26"/>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16" fill="hold" display="0">
                  <p:stCondLst>
                    <p:cond delay="indefinite"/>
                  </p:stCondLst>
                  <p:endCondLst>
                    <p:cond evt="onStopAudio" delay="0">
                      <p:tgtEl>
                        <p:sldTgt/>
                      </p:tgtEl>
                    </p:cond>
                  </p:endCondLst>
                </p:cTn>
                <p:tgtEl>
                  <p:spTgt spid="26"/>
                </p:tgtEl>
              </p:cMediaNode>
            </p:audio>
          </p:childTnLst>
        </p:cTn>
      </p:par>
    </p:tnLst>
    <p:bldLst>
      <p:bldP spid="3"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A9261D-9223-1CE6-D9B2-F3B39F1CE2DA}"/>
            </a:ext>
          </a:extLst>
        </p:cNvPr>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51A8ACAF-2EEF-8606-F589-BC0D0E02C2E5}"/>
              </a:ext>
            </a:extLst>
          </p:cNvPr>
          <p:cNvCxnSpPr/>
          <p:nvPr/>
        </p:nvCxnSpPr>
        <p:spPr>
          <a:xfrm>
            <a:off x="5903371" y="1673750"/>
            <a:ext cx="0" cy="3010736"/>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83FBF620-6AFB-7584-8C52-0F29FA242CBA}"/>
              </a:ext>
            </a:extLst>
          </p:cNvPr>
          <p:cNvSpPr>
            <a:spLocks noGrp="1"/>
          </p:cNvSpPr>
          <p:nvPr>
            <p:ph type="title"/>
          </p:nvPr>
        </p:nvSpPr>
        <p:spPr>
          <a:xfrm>
            <a:off x="695327" y="386001"/>
            <a:ext cx="9351540" cy="929259"/>
          </a:xfrm>
        </p:spPr>
        <p:txBody>
          <a:bodyPr/>
          <a:lstStyle/>
          <a:p>
            <a:r>
              <a:rPr lang="en-US" sz="3200" dirty="0"/>
              <a:t>From Conceptual Clarity to Actionable Semantics</a:t>
            </a:r>
            <a:endParaRPr lang="en-NL" sz="3200" dirty="0"/>
          </a:p>
        </p:txBody>
      </p:sp>
      <p:sp>
        <p:nvSpPr>
          <p:cNvPr id="4" name="Slide Number Placeholder 3">
            <a:extLst>
              <a:ext uri="{FF2B5EF4-FFF2-40B4-BE49-F238E27FC236}">
                <a16:creationId xmlns:a16="http://schemas.microsoft.com/office/drawing/2014/main" id="{08C4959E-55A2-22E4-BC04-125277EA52F2}"/>
              </a:ext>
            </a:extLst>
          </p:cNvPr>
          <p:cNvSpPr>
            <a:spLocks noGrp="1"/>
          </p:cNvSpPr>
          <p:nvPr>
            <p:ph type="sldNum" sz="quarter" idx="12"/>
          </p:nvPr>
        </p:nvSpPr>
        <p:spPr/>
        <p:txBody>
          <a:bodyPr/>
          <a:lstStyle/>
          <a:p>
            <a:fld id="{4FAB73BC-B049-4115-A692-8D63A059BFB8}" type="slidenum">
              <a:rPr lang="en-US" smtClean="0"/>
              <a:pPr/>
              <a:t>24</a:t>
            </a:fld>
            <a:endParaRPr lang="en-US" dirty="0"/>
          </a:p>
        </p:txBody>
      </p:sp>
      <p:sp>
        <p:nvSpPr>
          <p:cNvPr id="30" name="Parallelogram 29">
            <a:extLst>
              <a:ext uri="{FF2B5EF4-FFF2-40B4-BE49-F238E27FC236}">
                <a16:creationId xmlns:a16="http://schemas.microsoft.com/office/drawing/2014/main" id="{14A0346A-892B-5A03-4750-55217956957C}"/>
              </a:ext>
            </a:extLst>
          </p:cNvPr>
          <p:cNvSpPr/>
          <p:nvPr/>
        </p:nvSpPr>
        <p:spPr>
          <a:xfrm>
            <a:off x="4434896" y="3164830"/>
            <a:ext cx="6886250" cy="1276350"/>
          </a:xfrm>
          <a:prstGeom prst="parallelogram">
            <a:avLst>
              <a:gd name="adj" fmla="val 113806"/>
            </a:avLst>
          </a:prstGeom>
          <a:solidFill>
            <a:srgbClr val="FFE4D9"/>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solidFill>
                <a:srgbClr val="FFE4D9"/>
              </a:solidFill>
            </a:endParaRPr>
          </a:p>
        </p:txBody>
      </p:sp>
      <p:sp>
        <p:nvSpPr>
          <p:cNvPr id="31" name="TextBox 30">
            <a:extLst>
              <a:ext uri="{FF2B5EF4-FFF2-40B4-BE49-F238E27FC236}">
                <a16:creationId xmlns:a16="http://schemas.microsoft.com/office/drawing/2014/main" id="{8A78FFDC-C09A-7D7E-AB10-FD1E13288443}"/>
              </a:ext>
            </a:extLst>
          </p:cNvPr>
          <p:cNvSpPr txBox="1"/>
          <p:nvPr/>
        </p:nvSpPr>
        <p:spPr>
          <a:xfrm>
            <a:off x="4671064" y="4133403"/>
            <a:ext cx="1693092"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33" name="Parallelogram 32">
            <a:extLst>
              <a:ext uri="{FF2B5EF4-FFF2-40B4-BE49-F238E27FC236}">
                <a16:creationId xmlns:a16="http://schemas.microsoft.com/office/drawing/2014/main" id="{935E4319-E447-E74C-E51E-6CAC86B210C0}"/>
              </a:ext>
            </a:extLst>
          </p:cNvPr>
          <p:cNvSpPr/>
          <p:nvPr/>
        </p:nvSpPr>
        <p:spPr>
          <a:xfrm>
            <a:off x="4434896" y="4684486"/>
            <a:ext cx="6886250" cy="1276350"/>
          </a:xfrm>
          <a:prstGeom prst="parallelogram">
            <a:avLst>
              <a:gd name="adj" fmla="val 113806"/>
            </a:avLst>
          </a:prstGeom>
          <a:solidFill>
            <a:schemeClr val="accent4">
              <a:lumMod val="20000"/>
              <a:lumOff val="8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4" name="TextBox 33">
            <a:extLst>
              <a:ext uri="{FF2B5EF4-FFF2-40B4-BE49-F238E27FC236}">
                <a16:creationId xmlns:a16="http://schemas.microsoft.com/office/drawing/2014/main" id="{774FE3BF-BFFB-E6DA-3405-70B7B1E3DDF8}"/>
              </a:ext>
            </a:extLst>
          </p:cNvPr>
          <p:cNvSpPr txBox="1"/>
          <p:nvPr/>
        </p:nvSpPr>
        <p:spPr>
          <a:xfrm>
            <a:off x="4710338" y="5653059"/>
            <a:ext cx="1529586"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4"/>
                </a:solidFill>
              </a:rPr>
              <a:t>Dataset Columns</a:t>
            </a:r>
            <a:endParaRPr lang="en-NL" sz="1400" dirty="0">
              <a:solidFill>
                <a:schemeClr val="accent4"/>
              </a:solidFill>
            </a:endParaRPr>
          </a:p>
        </p:txBody>
      </p:sp>
      <p:sp>
        <p:nvSpPr>
          <p:cNvPr id="16" name="Parallelogram 15">
            <a:extLst>
              <a:ext uri="{FF2B5EF4-FFF2-40B4-BE49-F238E27FC236}">
                <a16:creationId xmlns:a16="http://schemas.microsoft.com/office/drawing/2014/main" id="{E5E408B3-AF68-E3B8-3F8B-B6C1671E8B07}"/>
              </a:ext>
            </a:extLst>
          </p:cNvPr>
          <p:cNvSpPr/>
          <p:nvPr/>
        </p:nvSpPr>
        <p:spPr>
          <a:xfrm>
            <a:off x="4434896" y="1645175"/>
            <a:ext cx="6886250" cy="1276350"/>
          </a:xfrm>
          <a:prstGeom prst="parallelogram">
            <a:avLst>
              <a:gd name="adj" fmla="val 113806"/>
            </a:avLst>
          </a:prstGeom>
          <a:solidFill>
            <a:schemeClr val="accent1">
              <a:lumMod val="20000"/>
              <a:lumOff val="80000"/>
              <a:alpha val="95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7" name="TextBox 16">
            <a:extLst>
              <a:ext uri="{FF2B5EF4-FFF2-40B4-BE49-F238E27FC236}">
                <a16:creationId xmlns:a16="http://schemas.microsoft.com/office/drawing/2014/main" id="{6BCC97C2-6647-F47D-5055-0D8E72671472}"/>
              </a:ext>
            </a:extLst>
          </p:cNvPr>
          <p:cNvSpPr txBox="1"/>
          <p:nvPr/>
        </p:nvSpPr>
        <p:spPr>
          <a:xfrm>
            <a:off x="4804589" y="2613747"/>
            <a:ext cx="954107"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tx2">
                    <a:lumMod val="90000"/>
                    <a:lumOff val="10000"/>
                  </a:schemeClr>
                </a:solidFill>
              </a:rPr>
              <a:t>Meanings</a:t>
            </a:r>
            <a:endParaRPr lang="en-NL" sz="1400" dirty="0">
              <a:solidFill>
                <a:schemeClr val="tx2">
                  <a:lumMod val="90000"/>
                  <a:lumOff val="10000"/>
                </a:schemeClr>
              </a:solidFill>
            </a:endParaRPr>
          </a:p>
        </p:txBody>
      </p:sp>
      <p:cxnSp>
        <p:nvCxnSpPr>
          <p:cNvPr id="18" name="Straight Connector 17">
            <a:extLst>
              <a:ext uri="{FF2B5EF4-FFF2-40B4-BE49-F238E27FC236}">
                <a16:creationId xmlns:a16="http://schemas.microsoft.com/office/drawing/2014/main" id="{400C3A88-E329-36BB-26E0-B4D36BBD51DA}"/>
              </a:ext>
            </a:extLst>
          </p:cNvPr>
          <p:cNvCxnSpPr/>
          <p:nvPr/>
        </p:nvCxnSpPr>
        <p:spPr>
          <a:xfrm>
            <a:off x="4434894" y="295010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2B1B52C1-F0D4-85B5-8711-B4B384E1DE48}"/>
              </a:ext>
            </a:extLst>
          </p:cNvPr>
          <p:cNvCxnSpPr/>
          <p:nvPr/>
        </p:nvCxnSpPr>
        <p:spPr>
          <a:xfrm>
            <a:off x="11321146" y="167375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FAEB28AE-436A-AA7F-B892-939D6505A97E}"/>
              </a:ext>
            </a:extLst>
          </p:cNvPr>
          <p:cNvCxnSpPr/>
          <p:nvPr/>
        </p:nvCxnSpPr>
        <p:spPr>
          <a:xfrm>
            <a:off x="9873466" y="2918356"/>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63" name="TextBox 62">
            <a:extLst>
              <a:ext uri="{FF2B5EF4-FFF2-40B4-BE49-F238E27FC236}">
                <a16:creationId xmlns:a16="http://schemas.microsoft.com/office/drawing/2014/main" id="{D4903228-B2E7-922A-048E-C4175F9AB475}"/>
              </a:ext>
            </a:extLst>
          </p:cNvPr>
          <p:cNvSpPr txBox="1"/>
          <p:nvPr/>
        </p:nvSpPr>
        <p:spPr>
          <a:xfrm rot="18900000">
            <a:off x="5917118" y="2071359"/>
            <a:ext cx="719364" cy="276999"/>
          </a:xfrm>
          <a:prstGeom prst="rect">
            <a:avLst/>
          </a:prstGeom>
          <a:noFill/>
        </p:spPr>
        <p:txBody>
          <a:bodyPr wrap="none" rtlCol="0" anchor="ctr">
            <a:spAutoFit/>
          </a:bodyPr>
          <a:lstStyle/>
          <a:p>
            <a:pPr algn="ctr"/>
            <a:r>
              <a:rPr lang="en-US" sz="1200" dirty="0" err="1"/>
              <a:t>hrio:Sex</a:t>
            </a:r>
            <a:endParaRPr lang="en-NL" sz="1200" dirty="0"/>
          </a:p>
        </p:txBody>
      </p:sp>
      <p:sp>
        <p:nvSpPr>
          <p:cNvPr id="5" name="TextBox 4">
            <a:extLst>
              <a:ext uri="{FF2B5EF4-FFF2-40B4-BE49-F238E27FC236}">
                <a16:creationId xmlns:a16="http://schemas.microsoft.com/office/drawing/2014/main" id="{9E40DA5C-2921-B0AF-7B32-54597C243C58}"/>
              </a:ext>
            </a:extLst>
          </p:cNvPr>
          <p:cNvSpPr txBox="1"/>
          <p:nvPr/>
        </p:nvSpPr>
        <p:spPr>
          <a:xfrm rot="18900000">
            <a:off x="5538713" y="3564366"/>
            <a:ext cx="1476174" cy="276999"/>
          </a:xfrm>
          <a:prstGeom prst="rect">
            <a:avLst/>
          </a:prstGeom>
          <a:noFill/>
        </p:spPr>
        <p:txBody>
          <a:bodyPr wrap="square" anchor="ctr">
            <a:spAutoFit/>
          </a:bodyPr>
          <a:lstStyle/>
          <a:p>
            <a:pPr algn="ctr"/>
            <a:r>
              <a:rPr lang="en-NL" sz="1200" dirty="0" err="1"/>
              <a:t>care-sm:Sex</a:t>
            </a:r>
            <a:endParaRPr lang="en-NL" sz="1200" dirty="0"/>
          </a:p>
        </p:txBody>
      </p:sp>
      <p:sp>
        <p:nvSpPr>
          <p:cNvPr id="24" name="TextBox 23">
            <a:extLst>
              <a:ext uri="{FF2B5EF4-FFF2-40B4-BE49-F238E27FC236}">
                <a16:creationId xmlns:a16="http://schemas.microsoft.com/office/drawing/2014/main" id="{62157E67-7678-6084-0B64-D5B8D1254C37}"/>
              </a:ext>
            </a:extLst>
          </p:cNvPr>
          <p:cNvSpPr txBox="1"/>
          <p:nvPr/>
        </p:nvSpPr>
        <p:spPr>
          <a:xfrm rot="18900000">
            <a:off x="7046322" y="2071359"/>
            <a:ext cx="1336456" cy="276999"/>
          </a:xfrm>
          <a:prstGeom prst="rect">
            <a:avLst/>
          </a:prstGeom>
          <a:noFill/>
        </p:spPr>
        <p:txBody>
          <a:bodyPr wrap="none" rtlCol="0" anchor="ctr">
            <a:spAutoFit/>
          </a:bodyPr>
          <a:lstStyle/>
          <a:p>
            <a:pPr algn="ctr"/>
            <a:r>
              <a:rPr lang="en-US" sz="1200" dirty="0" err="1"/>
              <a:t>hrio:LegalGender</a:t>
            </a:r>
            <a:endParaRPr lang="en-NL" sz="1200" dirty="0"/>
          </a:p>
        </p:txBody>
      </p:sp>
      <p:sp>
        <p:nvSpPr>
          <p:cNvPr id="54" name="TextBox 53">
            <a:extLst>
              <a:ext uri="{FF2B5EF4-FFF2-40B4-BE49-F238E27FC236}">
                <a16:creationId xmlns:a16="http://schemas.microsoft.com/office/drawing/2014/main" id="{6D99EFB3-65C7-8081-77DD-B83B005B9E75}"/>
              </a:ext>
            </a:extLst>
          </p:cNvPr>
          <p:cNvSpPr txBox="1"/>
          <p:nvPr/>
        </p:nvSpPr>
        <p:spPr>
          <a:xfrm rot="18900000">
            <a:off x="6793817" y="3564366"/>
            <a:ext cx="1841466" cy="276999"/>
          </a:xfrm>
          <a:prstGeom prst="rect">
            <a:avLst/>
          </a:prstGeom>
          <a:noFill/>
        </p:spPr>
        <p:txBody>
          <a:bodyPr wrap="none" rtlCol="0" anchor="ctr">
            <a:spAutoFit/>
          </a:bodyPr>
          <a:lstStyle>
            <a:defPPr>
              <a:defRPr lang="en-US"/>
            </a:defPPr>
            <a:lvl1pPr algn="ctr">
              <a:defRPr sz="1400"/>
            </a:lvl1pPr>
          </a:lstStyle>
          <a:p>
            <a:r>
              <a:rPr lang="en-US" sz="1200" dirty="0" err="1"/>
              <a:t>hri-openehr:legal-gender</a:t>
            </a:r>
            <a:endParaRPr lang="en-NL" sz="1200" dirty="0"/>
          </a:p>
        </p:txBody>
      </p:sp>
      <p:sp>
        <p:nvSpPr>
          <p:cNvPr id="78" name="TextBox 77">
            <a:extLst>
              <a:ext uri="{FF2B5EF4-FFF2-40B4-BE49-F238E27FC236}">
                <a16:creationId xmlns:a16="http://schemas.microsoft.com/office/drawing/2014/main" id="{AC829292-8D6F-0F1A-72FB-06F78F5DB4A6}"/>
              </a:ext>
            </a:extLst>
          </p:cNvPr>
          <p:cNvSpPr txBox="1"/>
          <p:nvPr/>
        </p:nvSpPr>
        <p:spPr>
          <a:xfrm rot="18900000">
            <a:off x="8548050" y="3564366"/>
            <a:ext cx="1168590" cy="276999"/>
          </a:xfrm>
          <a:prstGeom prst="rect">
            <a:avLst/>
          </a:prstGeom>
          <a:noFill/>
        </p:spPr>
        <p:txBody>
          <a:bodyPr wrap="none" rtlCol="0" anchor="ctr">
            <a:spAutoFit/>
          </a:bodyPr>
          <a:lstStyle>
            <a:defPPr>
              <a:defRPr lang="en-US"/>
            </a:defPPr>
            <a:lvl1pPr algn="ctr">
              <a:defRPr sz="1400"/>
            </a:lvl1pPr>
          </a:lstStyle>
          <a:p>
            <a:r>
              <a:rPr lang="en-US" sz="1200" dirty="0"/>
              <a:t>loinc:107454-1</a:t>
            </a:r>
            <a:endParaRPr lang="en-NL" sz="1200" dirty="0"/>
          </a:p>
        </p:txBody>
      </p:sp>
      <p:sp>
        <p:nvSpPr>
          <p:cNvPr id="80" name="TextBox 79">
            <a:extLst>
              <a:ext uri="{FF2B5EF4-FFF2-40B4-BE49-F238E27FC236}">
                <a16:creationId xmlns:a16="http://schemas.microsoft.com/office/drawing/2014/main" id="{E61895C9-ED15-C2EA-9DF2-0FD6355A7E13}"/>
              </a:ext>
            </a:extLst>
          </p:cNvPr>
          <p:cNvSpPr txBox="1"/>
          <p:nvPr/>
        </p:nvSpPr>
        <p:spPr>
          <a:xfrm rot="18900000">
            <a:off x="5559168" y="5043615"/>
            <a:ext cx="1435265" cy="461665"/>
          </a:xfrm>
          <a:prstGeom prst="rect">
            <a:avLst/>
          </a:prstGeom>
          <a:noFill/>
        </p:spPr>
        <p:txBody>
          <a:bodyPr wrap="none" rtlCol="0" anchor="ctr">
            <a:spAutoFit/>
          </a:bodyPr>
          <a:lstStyle>
            <a:defPPr>
              <a:defRPr lang="en-US"/>
            </a:defPPr>
            <a:lvl1pPr algn="ctr">
              <a:defRPr sz="1400"/>
            </a:lvl1pPr>
          </a:lstStyle>
          <a:p>
            <a:r>
              <a:rPr lang="en-US" sz="1200" dirty="0"/>
              <a:t>NPR Demographic </a:t>
            </a:r>
          </a:p>
          <a:p>
            <a:r>
              <a:rPr lang="en-US" sz="1200" dirty="0"/>
              <a:t>Extract</a:t>
            </a:r>
            <a:endParaRPr lang="en-NL" sz="1200" dirty="0"/>
          </a:p>
        </p:txBody>
      </p:sp>
      <p:sp>
        <p:nvSpPr>
          <p:cNvPr id="3" name="TextBox 2">
            <a:extLst>
              <a:ext uri="{FF2B5EF4-FFF2-40B4-BE49-F238E27FC236}">
                <a16:creationId xmlns:a16="http://schemas.microsoft.com/office/drawing/2014/main" id="{62713477-1399-210E-F6BC-761711A0D3C6}"/>
              </a:ext>
            </a:extLst>
          </p:cNvPr>
          <p:cNvSpPr txBox="1"/>
          <p:nvPr/>
        </p:nvSpPr>
        <p:spPr>
          <a:xfrm rot="18900000">
            <a:off x="8325714" y="5043615"/>
            <a:ext cx="1613262" cy="461665"/>
          </a:xfrm>
          <a:prstGeom prst="rect">
            <a:avLst/>
          </a:prstGeom>
          <a:noFill/>
        </p:spPr>
        <p:txBody>
          <a:bodyPr wrap="none" rtlCol="0" anchor="ctr">
            <a:spAutoFit/>
          </a:bodyPr>
          <a:lstStyle>
            <a:defPPr>
              <a:defRPr lang="en-US"/>
            </a:defPPr>
            <a:lvl1pPr algn="ctr">
              <a:defRPr sz="1400"/>
            </a:lvl1pPr>
          </a:lstStyle>
          <a:p>
            <a:r>
              <a:rPr lang="en-US" sz="1200" dirty="0"/>
              <a:t>Administrative Intake </a:t>
            </a:r>
          </a:p>
          <a:p>
            <a:r>
              <a:rPr lang="en-US" sz="1200" dirty="0"/>
              <a:t>Extract</a:t>
            </a:r>
            <a:endParaRPr lang="en-NL" sz="1100" dirty="0">
              <a:effectLst/>
            </a:endParaRPr>
          </a:p>
        </p:txBody>
      </p:sp>
      <p:sp>
        <p:nvSpPr>
          <p:cNvPr id="6" name="TextBox 5">
            <a:extLst>
              <a:ext uri="{FF2B5EF4-FFF2-40B4-BE49-F238E27FC236}">
                <a16:creationId xmlns:a16="http://schemas.microsoft.com/office/drawing/2014/main" id="{7AB44C87-9619-02BB-D22B-0FCB1B285ED1}"/>
              </a:ext>
            </a:extLst>
          </p:cNvPr>
          <p:cNvSpPr txBox="1"/>
          <p:nvPr/>
        </p:nvSpPr>
        <p:spPr>
          <a:xfrm rot="18900000">
            <a:off x="6910965" y="5043615"/>
            <a:ext cx="1607170" cy="461665"/>
          </a:xfrm>
          <a:prstGeom prst="rect">
            <a:avLst/>
          </a:prstGeom>
          <a:noFill/>
        </p:spPr>
        <p:txBody>
          <a:bodyPr wrap="none" rtlCol="0" anchor="ctr">
            <a:spAutoFit/>
          </a:bodyPr>
          <a:lstStyle>
            <a:defPPr>
              <a:defRPr lang="en-US"/>
            </a:defPPr>
            <a:lvl1pPr algn="ctr">
              <a:defRPr sz="1400"/>
            </a:lvl1pPr>
          </a:lstStyle>
          <a:p>
            <a:r>
              <a:rPr lang="en-US" sz="1200" dirty="0"/>
              <a:t>Hospital Registration </a:t>
            </a:r>
          </a:p>
          <a:p>
            <a:r>
              <a:rPr lang="en-US" sz="1200" dirty="0"/>
              <a:t>Extract</a:t>
            </a:r>
            <a:endParaRPr lang="en-NL" sz="1200" dirty="0"/>
          </a:p>
        </p:txBody>
      </p:sp>
      <p:sp>
        <p:nvSpPr>
          <p:cNvPr id="12" name="TextBox 11">
            <a:extLst>
              <a:ext uri="{FF2B5EF4-FFF2-40B4-BE49-F238E27FC236}">
                <a16:creationId xmlns:a16="http://schemas.microsoft.com/office/drawing/2014/main" id="{12064FDA-95E8-3C3E-09CD-6873AD0C5864}"/>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2</a:t>
            </a:r>
            <a:endParaRPr lang="en-NL" sz="1000" b="1" dirty="0"/>
          </a:p>
        </p:txBody>
      </p:sp>
      <p:sp>
        <p:nvSpPr>
          <p:cNvPr id="56" name="Oval 55">
            <a:extLst>
              <a:ext uri="{FF2B5EF4-FFF2-40B4-BE49-F238E27FC236}">
                <a16:creationId xmlns:a16="http://schemas.microsoft.com/office/drawing/2014/main" id="{F84417C9-3DED-515B-D157-E2888970319A}"/>
              </a:ext>
            </a:extLst>
          </p:cNvPr>
          <p:cNvSpPr/>
          <p:nvPr/>
        </p:nvSpPr>
        <p:spPr>
          <a:xfrm>
            <a:off x="6523967" y="3598218"/>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endParaRPr lang="en-NL" dirty="0"/>
          </a:p>
        </p:txBody>
      </p:sp>
      <p:sp>
        <p:nvSpPr>
          <p:cNvPr id="8" name="Oval 7">
            <a:extLst>
              <a:ext uri="{FF2B5EF4-FFF2-40B4-BE49-F238E27FC236}">
                <a16:creationId xmlns:a16="http://schemas.microsoft.com/office/drawing/2014/main" id="{E084727B-9829-EC5F-929B-E0342FB1CBB6}"/>
              </a:ext>
            </a:extLst>
          </p:cNvPr>
          <p:cNvSpPr/>
          <p:nvPr/>
        </p:nvSpPr>
        <p:spPr>
          <a:xfrm>
            <a:off x="6517372" y="2078563"/>
            <a:ext cx="409575" cy="409575"/>
          </a:xfrm>
          <a:prstGeom prst="ellipse">
            <a:avLst/>
          </a:prstGeom>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NL" sz="1700" dirty="0"/>
          </a:p>
        </p:txBody>
      </p:sp>
      <p:sp>
        <p:nvSpPr>
          <p:cNvPr id="58" name="Oval 57">
            <a:extLst>
              <a:ext uri="{FF2B5EF4-FFF2-40B4-BE49-F238E27FC236}">
                <a16:creationId xmlns:a16="http://schemas.microsoft.com/office/drawing/2014/main" id="{F462F5F4-745B-2428-210F-F8E816C8503F}"/>
              </a:ext>
            </a:extLst>
          </p:cNvPr>
          <p:cNvSpPr/>
          <p:nvPr/>
        </p:nvSpPr>
        <p:spPr>
          <a:xfrm>
            <a:off x="7959097" y="3598218"/>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endParaRPr lang="en-NL" dirty="0"/>
          </a:p>
        </p:txBody>
      </p:sp>
      <p:sp>
        <p:nvSpPr>
          <p:cNvPr id="49" name="Oval 48">
            <a:extLst>
              <a:ext uri="{FF2B5EF4-FFF2-40B4-BE49-F238E27FC236}">
                <a16:creationId xmlns:a16="http://schemas.microsoft.com/office/drawing/2014/main" id="{C45F2D83-E14F-34C6-CC0A-3BE8521DF614}"/>
              </a:ext>
            </a:extLst>
          </p:cNvPr>
          <p:cNvSpPr/>
          <p:nvPr/>
        </p:nvSpPr>
        <p:spPr>
          <a:xfrm>
            <a:off x="9394226" y="3598218"/>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endParaRPr lang="en-NL" dirty="0"/>
          </a:p>
        </p:txBody>
      </p:sp>
      <p:sp>
        <p:nvSpPr>
          <p:cNvPr id="72" name="Oval 71">
            <a:extLst>
              <a:ext uri="{FF2B5EF4-FFF2-40B4-BE49-F238E27FC236}">
                <a16:creationId xmlns:a16="http://schemas.microsoft.com/office/drawing/2014/main" id="{D4A542C5-DB68-D770-871D-A8E25863C393}"/>
              </a:ext>
            </a:extLst>
          </p:cNvPr>
          <p:cNvSpPr/>
          <p:nvPr/>
        </p:nvSpPr>
        <p:spPr>
          <a:xfrm>
            <a:off x="6523967" y="5117874"/>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endParaRPr lang="en-NL" dirty="0"/>
          </a:p>
        </p:txBody>
      </p:sp>
      <p:sp>
        <p:nvSpPr>
          <p:cNvPr id="73" name="Oval 72">
            <a:extLst>
              <a:ext uri="{FF2B5EF4-FFF2-40B4-BE49-F238E27FC236}">
                <a16:creationId xmlns:a16="http://schemas.microsoft.com/office/drawing/2014/main" id="{7C42049F-FC2D-D518-DA47-B63AFF92CBB7}"/>
              </a:ext>
            </a:extLst>
          </p:cNvPr>
          <p:cNvSpPr/>
          <p:nvPr/>
        </p:nvSpPr>
        <p:spPr>
          <a:xfrm>
            <a:off x="7959097" y="5117874"/>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endParaRPr lang="en-NL" dirty="0"/>
          </a:p>
        </p:txBody>
      </p:sp>
      <p:sp>
        <p:nvSpPr>
          <p:cNvPr id="74" name="Oval 73">
            <a:extLst>
              <a:ext uri="{FF2B5EF4-FFF2-40B4-BE49-F238E27FC236}">
                <a16:creationId xmlns:a16="http://schemas.microsoft.com/office/drawing/2014/main" id="{F45634D5-4D0F-22A2-C31E-90D972D9F40E}"/>
              </a:ext>
            </a:extLst>
          </p:cNvPr>
          <p:cNvSpPr/>
          <p:nvPr/>
        </p:nvSpPr>
        <p:spPr>
          <a:xfrm>
            <a:off x="9394226" y="5117874"/>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endParaRPr lang="en-NL" dirty="0"/>
          </a:p>
        </p:txBody>
      </p:sp>
      <p:sp>
        <p:nvSpPr>
          <p:cNvPr id="21" name="Oval 20">
            <a:extLst>
              <a:ext uri="{FF2B5EF4-FFF2-40B4-BE49-F238E27FC236}">
                <a16:creationId xmlns:a16="http://schemas.microsoft.com/office/drawing/2014/main" id="{D4AEB0B5-61AA-1BFD-F79B-C135392F8921}"/>
              </a:ext>
            </a:extLst>
          </p:cNvPr>
          <p:cNvSpPr/>
          <p:nvPr/>
        </p:nvSpPr>
        <p:spPr>
          <a:xfrm>
            <a:off x="9394226" y="2078563"/>
            <a:ext cx="409575" cy="409575"/>
          </a:xfrm>
          <a:prstGeom prst="ellipse">
            <a:avLst/>
          </a:prstGeom>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NL" sz="1700" dirty="0"/>
          </a:p>
        </p:txBody>
      </p:sp>
      <p:cxnSp>
        <p:nvCxnSpPr>
          <p:cNvPr id="26" name="Straight Arrow Connector 25">
            <a:extLst>
              <a:ext uri="{FF2B5EF4-FFF2-40B4-BE49-F238E27FC236}">
                <a16:creationId xmlns:a16="http://schemas.microsoft.com/office/drawing/2014/main" id="{F74A177D-B76A-6AAB-0188-56022FADB213}"/>
              </a:ext>
            </a:extLst>
          </p:cNvPr>
          <p:cNvCxnSpPr>
            <a:cxnSpLocks/>
            <a:stCxn id="56" idx="0"/>
            <a:endCxn id="8" idx="4"/>
          </p:cNvCxnSpPr>
          <p:nvPr/>
        </p:nvCxnSpPr>
        <p:spPr>
          <a:xfrm flipH="1" flipV="1">
            <a:off x="6722160" y="2488138"/>
            <a:ext cx="6595" cy="1110080"/>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3772761D-C93D-22ED-24D8-6D78A2FE42EC}"/>
              </a:ext>
            </a:extLst>
          </p:cNvPr>
          <p:cNvCxnSpPr>
            <a:cxnSpLocks/>
            <a:stCxn id="58" idx="0"/>
            <a:endCxn id="88" idx="4"/>
          </p:cNvCxnSpPr>
          <p:nvPr/>
        </p:nvCxnSpPr>
        <p:spPr>
          <a:xfrm flipH="1" flipV="1">
            <a:off x="8163884" y="2488206"/>
            <a:ext cx="1" cy="1110012"/>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A79B61B2-9F1B-1CEE-395F-38DFF4F1DEA6}"/>
              </a:ext>
            </a:extLst>
          </p:cNvPr>
          <p:cNvCxnSpPr>
            <a:cxnSpLocks/>
            <a:stCxn id="73" idx="0"/>
            <a:endCxn id="58" idx="4"/>
          </p:cNvCxnSpPr>
          <p:nvPr/>
        </p:nvCxnSpPr>
        <p:spPr>
          <a:xfrm flipV="1">
            <a:off x="8163885" y="4007793"/>
            <a:ext cx="0" cy="1110081"/>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FB27C998-1015-3814-C5FE-97AD05CEBE36}"/>
              </a:ext>
            </a:extLst>
          </p:cNvPr>
          <p:cNvCxnSpPr>
            <a:cxnSpLocks/>
            <a:stCxn id="72" idx="0"/>
            <a:endCxn id="56" idx="4"/>
          </p:cNvCxnSpPr>
          <p:nvPr/>
        </p:nvCxnSpPr>
        <p:spPr>
          <a:xfrm flipV="1">
            <a:off x="6728755" y="4007793"/>
            <a:ext cx="0" cy="1110081"/>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2E052502-CB27-47AE-4CD3-E68CC7D86225}"/>
              </a:ext>
            </a:extLst>
          </p:cNvPr>
          <p:cNvCxnSpPr>
            <a:cxnSpLocks/>
            <a:stCxn id="49" idx="0"/>
            <a:endCxn id="21" idx="4"/>
          </p:cNvCxnSpPr>
          <p:nvPr/>
        </p:nvCxnSpPr>
        <p:spPr>
          <a:xfrm flipV="1">
            <a:off x="9599014" y="2488138"/>
            <a:ext cx="0" cy="1110080"/>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A8D7FF10-4490-3A12-44B9-C2F8728BB8BA}"/>
              </a:ext>
            </a:extLst>
          </p:cNvPr>
          <p:cNvCxnSpPr>
            <a:cxnSpLocks/>
            <a:stCxn id="74" idx="0"/>
            <a:endCxn id="49" idx="4"/>
          </p:cNvCxnSpPr>
          <p:nvPr/>
        </p:nvCxnSpPr>
        <p:spPr>
          <a:xfrm flipV="1">
            <a:off x="9599014" y="4007793"/>
            <a:ext cx="0" cy="1110081"/>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sp>
        <p:nvSpPr>
          <p:cNvPr id="88" name="Oval 87">
            <a:extLst>
              <a:ext uri="{FF2B5EF4-FFF2-40B4-BE49-F238E27FC236}">
                <a16:creationId xmlns:a16="http://schemas.microsoft.com/office/drawing/2014/main" id="{217BDF5F-077D-271C-30BE-E3B8385DE1A5}"/>
              </a:ext>
            </a:extLst>
          </p:cNvPr>
          <p:cNvSpPr/>
          <p:nvPr/>
        </p:nvSpPr>
        <p:spPr>
          <a:xfrm>
            <a:off x="7959096" y="2078631"/>
            <a:ext cx="409575" cy="409575"/>
          </a:xfrm>
          <a:prstGeom prst="ellipse">
            <a:avLst/>
          </a:prstGeom>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NL" sz="1700" dirty="0"/>
          </a:p>
        </p:txBody>
      </p:sp>
      <p:sp>
        <p:nvSpPr>
          <p:cNvPr id="25" name="TextBox 24">
            <a:extLst>
              <a:ext uri="{FF2B5EF4-FFF2-40B4-BE49-F238E27FC236}">
                <a16:creationId xmlns:a16="http://schemas.microsoft.com/office/drawing/2014/main" id="{F0EF69A2-6368-5991-6129-DB2B3351D4D4}"/>
              </a:ext>
            </a:extLst>
          </p:cNvPr>
          <p:cNvSpPr txBox="1"/>
          <p:nvPr/>
        </p:nvSpPr>
        <p:spPr>
          <a:xfrm rot="18900000">
            <a:off x="8164099" y="2071359"/>
            <a:ext cx="1936492" cy="276999"/>
          </a:xfrm>
          <a:prstGeom prst="rect">
            <a:avLst/>
          </a:prstGeom>
          <a:noFill/>
        </p:spPr>
        <p:txBody>
          <a:bodyPr wrap="none" rtlCol="0" anchor="ctr">
            <a:spAutoFit/>
          </a:bodyPr>
          <a:lstStyle/>
          <a:p>
            <a:pPr algn="ctr"/>
            <a:r>
              <a:rPr lang="en-US" sz="1200" dirty="0" err="1"/>
              <a:t>hrio:AdministrativeGender</a:t>
            </a:r>
            <a:endParaRPr lang="en-NL" sz="1200" dirty="0"/>
          </a:p>
        </p:txBody>
      </p:sp>
      <p:sp>
        <p:nvSpPr>
          <p:cNvPr id="11" name="TextBox 10">
            <a:extLst>
              <a:ext uri="{FF2B5EF4-FFF2-40B4-BE49-F238E27FC236}">
                <a16:creationId xmlns:a16="http://schemas.microsoft.com/office/drawing/2014/main" id="{B4DC9FC5-C421-6AA2-7562-D89DC51C4EF6}"/>
              </a:ext>
            </a:extLst>
          </p:cNvPr>
          <p:cNvSpPr txBox="1"/>
          <p:nvPr/>
        </p:nvSpPr>
        <p:spPr>
          <a:xfrm>
            <a:off x="731576" y="3332536"/>
            <a:ext cx="4830135" cy="2590453"/>
          </a:xfrm>
          <a:prstGeom prst="rect">
            <a:avLst/>
          </a:prstGeom>
          <a:ln>
            <a:solidFill>
              <a:schemeClr val="accent2"/>
            </a:solidFill>
          </a:ln>
        </p:spPr>
        <p:style>
          <a:lnRef idx="3">
            <a:schemeClr val="lt1"/>
          </a:lnRef>
          <a:fillRef idx="1">
            <a:schemeClr val="dk1"/>
          </a:fillRef>
          <a:effectRef idx="1">
            <a:schemeClr val="dk1"/>
          </a:effectRef>
          <a:fontRef idx="minor">
            <a:schemeClr val="lt1"/>
          </a:fontRef>
        </p:style>
        <p:txBody>
          <a:bodyPr wrap="square" rtlCol="0">
            <a:spAutoFit/>
          </a:bodyPr>
          <a:lstStyle/>
          <a:p>
            <a:pPr>
              <a:spcAft>
                <a:spcPts val="100"/>
              </a:spcAft>
            </a:pPr>
            <a:r>
              <a:rPr lang="en-US" sz="1400" dirty="0">
                <a:solidFill>
                  <a:schemeClr val="bg1"/>
                </a:solidFill>
                <a:latin typeface="Courier New" panose="02070309020205020404" pitchFamily="49" charset="0"/>
                <a:cs typeface="Courier New" panose="02070309020205020404" pitchFamily="49" charset="0"/>
              </a:rPr>
              <a:t>SELECT DISTINCT ?output</a:t>
            </a:r>
          </a:p>
          <a:p>
            <a:pPr>
              <a:spcAft>
                <a:spcPts val="100"/>
              </a:spcAft>
            </a:pPr>
            <a:r>
              <a:rPr lang="en-US" sz="1400" dirty="0">
                <a:solidFill>
                  <a:schemeClr val="bg1"/>
                </a:solidFill>
                <a:latin typeface="Courier New" panose="02070309020205020404" pitchFamily="49" charset="0"/>
                <a:cs typeface="Courier New" panose="02070309020205020404" pitchFamily="49" charset="0"/>
              </a:rPr>
              <a:t>WHERE {</a:t>
            </a:r>
          </a:p>
          <a:p>
            <a:pPr>
              <a:spcAft>
                <a:spcPts val="100"/>
              </a:spcAft>
            </a:pPr>
            <a:r>
              <a:rPr lang="en-US" sz="1400" dirty="0">
                <a:solidFill>
                  <a:schemeClr val="bg1"/>
                </a:solidFill>
                <a:latin typeface="Courier New" panose="02070309020205020404" pitchFamily="49" charset="0"/>
                <a:cs typeface="Courier New" panose="02070309020205020404" pitchFamily="49" charset="0"/>
              </a:rPr>
              <a:t>  VALUES ?input { </a:t>
            </a:r>
            <a:r>
              <a:rPr lang="en-US" sz="1400" dirty="0" err="1">
                <a:solidFill>
                  <a:schemeClr val="bg1"/>
                </a:solidFill>
                <a:latin typeface="Courier New" panose="02070309020205020404" pitchFamily="49" charset="0"/>
                <a:cs typeface="Courier New" panose="02070309020205020404" pitchFamily="49" charset="0"/>
              </a:rPr>
              <a:t>hrio:Sex</a:t>
            </a:r>
            <a:r>
              <a:rPr lang="en-US" sz="1400" dirty="0">
                <a:solidFill>
                  <a:schemeClr val="bg1"/>
                </a:solidFill>
                <a:latin typeface="Courier New" panose="02070309020205020404" pitchFamily="49" charset="0"/>
                <a:cs typeface="Courier New" panose="02070309020205020404" pitchFamily="49" charset="0"/>
              </a:rPr>
              <a:t> }</a:t>
            </a:r>
          </a:p>
          <a:p>
            <a:pPr>
              <a:spcAft>
                <a:spcPts val="100"/>
              </a:spcAft>
            </a:pPr>
            <a:endParaRPr lang="en-US" sz="1400" dirty="0">
              <a:solidFill>
                <a:schemeClr val="bg1"/>
              </a:solidFill>
              <a:latin typeface="Courier New" panose="02070309020205020404" pitchFamily="49" charset="0"/>
              <a:cs typeface="Courier New" panose="02070309020205020404" pitchFamily="49" charset="0"/>
            </a:endParaRPr>
          </a:p>
          <a:p>
            <a:pPr>
              <a:spcAft>
                <a:spcPts val="100"/>
              </a:spcAft>
            </a:pPr>
            <a:r>
              <a:rPr lang="en-US" sz="1400" dirty="0">
                <a:solidFill>
                  <a:schemeClr val="bg1"/>
                </a:solidFill>
                <a:latin typeface="Courier New" panose="02070309020205020404" pitchFamily="49" charset="0"/>
                <a:cs typeface="Courier New" panose="02070309020205020404" pitchFamily="49" charset="0"/>
              </a:rPr>
              <a:t>  ?mapping a </a:t>
            </a:r>
            <a:r>
              <a:rPr lang="en-US" sz="1400" dirty="0" err="1">
                <a:solidFill>
                  <a:schemeClr val="bg1"/>
                </a:solidFill>
                <a:latin typeface="Courier New" panose="02070309020205020404" pitchFamily="49" charset="0"/>
                <a:cs typeface="Courier New" panose="02070309020205020404" pitchFamily="49" charset="0"/>
              </a:rPr>
              <a:t>demo:Mapping</a:t>
            </a:r>
            <a:r>
              <a:rPr lang="en-US" sz="1400" dirty="0">
                <a:solidFill>
                  <a:schemeClr val="bg1"/>
                </a:solidFill>
                <a:latin typeface="Courier New" panose="02070309020205020404" pitchFamily="49" charset="0"/>
                <a:cs typeface="Courier New" panose="02070309020205020404" pitchFamily="49" charset="0"/>
              </a:rPr>
              <a:t> ;</a:t>
            </a:r>
          </a:p>
          <a:p>
            <a:pPr>
              <a:spcAft>
                <a:spcPts val="100"/>
              </a:spcAft>
            </a:pPr>
            <a:r>
              <a:rPr lang="en-US" sz="1400" dirty="0">
                <a:solidFill>
                  <a:schemeClr val="bg1"/>
                </a:solidFill>
                <a:latin typeface="Courier New" panose="02070309020205020404" pitchFamily="49" charset="0"/>
                <a:cs typeface="Courier New" panose="02070309020205020404" pitchFamily="49" charset="0"/>
              </a:rPr>
              <a:t>    </a:t>
            </a:r>
            <a:r>
              <a:rPr lang="en-US" sz="1400" dirty="0" err="1">
                <a:solidFill>
                  <a:schemeClr val="bg1"/>
                </a:solidFill>
                <a:latin typeface="Courier New" panose="02070309020205020404" pitchFamily="49" charset="0"/>
                <a:cs typeface="Courier New" panose="02070309020205020404" pitchFamily="49" charset="0"/>
              </a:rPr>
              <a:t>demo:hasMappingSource</a:t>
            </a:r>
            <a:r>
              <a:rPr lang="en-US" sz="1400" dirty="0">
                <a:solidFill>
                  <a:schemeClr val="bg1"/>
                </a:solidFill>
                <a:latin typeface="Courier New" panose="02070309020205020404" pitchFamily="49" charset="0"/>
                <a:cs typeface="Courier New" panose="02070309020205020404" pitchFamily="49" charset="0"/>
              </a:rPr>
              <a:t> ?concept ;</a:t>
            </a:r>
          </a:p>
          <a:p>
            <a:pPr>
              <a:spcAft>
                <a:spcPts val="100"/>
              </a:spcAft>
            </a:pPr>
            <a:r>
              <a:rPr lang="en-US" sz="1400" dirty="0">
                <a:solidFill>
                  <a:schemeClr val="bg1"/>
                </a:solidFill>
                <a:latin typeface="Courier New" panose="02070309020205020404" pitchFamily="49" charset="0"/>
                <a:cs typeface="Courier New" panose="02070309020205020404" pitchFamily="49" charset="0"/>
              </a:rPr>
              <a:t>    </a:t>
            </a:r>
            <a:r>
              <a:rPr lang="en-US" sz="1400" dirty="0" err="1">
                <a:solidFill>
                  <a:schemeClr val="bg1"/>
                </a:solidFill>
                <a:latin typeface="Courier New" panose="02070309020205020404" pitchFamily="49" charset="0"/>
                <a:cs typeface="Courier New" panose="02070309020205020404" pitchFamily="49" charset="0"/>
              </a:rPr>
              <a:t>demo:hasTargetMeaning</a:t>
            </a:r>
            <a:r>
              <a:rPr lang="en-US" sz="1400" dirty="0">
                <a:solidFill>
                  <a:schemeClr val="bg1"/>
                </a:solidFill>
                <a:latin typeface="Courier New" panose="02070309020205020404" pitchFamily="49" charset="0"/>
                <a:cs typeface="Courier New" panose="02070309020205020404" pitchFamily="49" charset="0"/>
              </a:rPr>
              <a:t> ?input .</a:t>
            </a:r>
          </a:p>
          <a:p>
            <a:pPr>
              <a:spcAft>
                <a:spcPts val="100"/>
              </a:spcAft>
            </a:pPr>
            <a:endParaRPr lang="en-US" sz="1400" dirty="0">
              <a:solidFill>
                <a:schemeClr val="bg1"/>
              </a:solidFill>
              <a:latin typeface="Courier New" panose="02070309020205020404" pitchFamily="49" charset="0"/>
              <a:cs typeface="Courier New" panose="02070309020205020404" pitchFamily="49" charset="0"/>
            </a:endParaRPr>
          </a:p>
          <a:p>
            <a:pPr>
              <a:spcAft>
                <a:spcPts val="100"/>
              </a:spcAft>
            </a:pPr>
            <a:r>
              <a:rPr lang="en-US" sz="1400" dirty="0">
                <a:solidFill>
                  <a:schemeClr val="bg1"/>
                </a:solidFill>
                <a:latin typeface="Courier New" panose="02070309020205020404" pitchFamily="49" charset="0"/>
                <a:cs typeface="Courier New" panose="02070309020205020404" pitchFamily="49" charset="0"/>
              </a:rPr>
              <a:t>  ?output </a:t>
            </a:r>
            <a:r>
              <a:rPr lang="en-US" sz="1400" dirty="0" err="1">
                <a:solidFill>
                  <a:schemeClr val="bg1"/>
                </a:solidFill>
                <a:latin typeface="Courier New" panose="02070309020205020404" pitchFamily="49" charset="0"/>
                <a:cs typeface="Courier New" panose="02070309020205020404" pitchFamily="49" charset="0"/>
              </a:rPr>
              <a:t>demo:implementsConcept</a:t>
            </a:r>
            <a:r>
              <a:rPr lang="en-US" sz="1400" dirty="0">
                <a:solidFill>
                  <a:schemeClr val="bg1"/>
                </a:solidFill>
                <a:latin typeface="Courier New" panose="02070309020205020404" pitchFamily="49" charset="0"/>
                <a:cs typeface="Courier New" panose="02070309020205020404" pitchFamily="49" charset="0"/>
              </a:rPr>
              <a:t> ?concept .</a:t>
            </a:r>
          </a:p>
          <a:p>
            <a:pPr>
              <a:spcAft>
                <a:spcPts val="100"/>
              </a:spcAft>
            </a:pPr>
            <a:r>
              <a:rPr lang="en-US" sz="1400" dirty="0">
                <a:solidFill>
                  <a:schemeClr val="bg1"/>
                </a:solidFill>
                <a:latin typeface="Courier New" panose="02070309020205020404" pitchFamily="49" charset="0"/>
                <a:cs typeface="Courier New" panose="02070309020205020404" pitchFamily="49" charset="0"/>
              </a:rPr>
              <a:t>}</a:t>
            </a:r>
          </a:p>
          <a:p>
            <a:pPr>
              <a:spcAft>
                <a:spcPts val="100"/>
              </a:spcAft>
            </a:pPr>
            <a:r>
              <a:rPr lang="en-US" sz="1400" dirty="0">
                <a:solidFill>
                  <a:schemeClr val="bg1"/>
                </a:solidFill>
                <a:latin typeface="Courier New" panose="02070309020205020404" pitchFamily="49" charset="0"/>
                <a:cs typeface="Courier New" panose="02070309020205020404" pitchFamily="49" charset="0"/>
              </a:rPr>
              <a:t>ORDER BY ?output</a:t>
            </a:r>
          </a:p>
        </p:txBody>
      </p:sp>
      <p:sp>
        <p:nvSpPr>
          <p:cNvPr id="15" name="TextBox 14">
            <a:extLst>
              <a:ext uri="{FF2B5EF4-FFF2-40B4-BE49-F238E27FC236}">
                <a16:creationId xmlns:a16="http://schemas.microsoft.com/office/drawing/2014/main" id="{AC910CAE-7309-5E1E-829E-295469039B00}"/>
              </a:ext>
            </a:extLst>
          </p:cNvPr>
          <p:cNvSpPr txBox="1"/>
          <p:nvPr/>
        </p:nvSpPr>
        <p:spPr>
          <a:xfrm>
            <a:off x="705293" y="1639416"/>
            <a:ext cx="3711674" cy="1323439"/>
          </a:xfrm>
          <a:prstGeom prst="rect">
            <a:avLst/>
          </a:prstGeom>
          <a:noFill/>
        </p:spPr>
        <p:txBody>
          <a:bodyPr wrap="square">
            <a:spAutoFit/>
          </a:bodyPr>
          <a:lstStyle/>
          <a:p>
            <a:pPr marL="285750" indent="-285750">
              <a:buFont typeface="Arial" panose="020B0604020202020204" pitchFamily="34" charset="0"/>
              <a:buChar char="•"/>
            </a:pPr>
            <a:r>
              <a:rPr lang="en-NL" sz="2000" dirty="0"/>
              <a:t>Amir can now query for dataset columns that are mapped to the meaning he needs</a:t>
            </a:r>
            <a:r>
              <a:rPr lang="en-US" sz="2000" dirty="0"/>
              <a:t>: HRIO’s Sex.</a:t>
            </a:r>
            <a:endParaRPr lang="en-NL" sz="2000" dirty="0"/>
          </a:p>
        </p:txBody>
      </p:sp>
      <p:sp>
        <p:nvSpPr>
          <p:cNvPr id="22" name="Rectangle: Rounded Corners 21">
            <a:extLst>
              <a:ext uri="{FF2B5EF4-FFF2-40B4-BE49-F238E27FC236}">
                <a16:creationId xmlns:a16="http://schemas.microsoft.com/office/drawing/2014/main" id="{75B53F95-060E-28EA-A766-3F31C291AB26}"/>
              </a:ext>
            </a:extLst>
          </p:cNvPr>
          <p:cNvSpPr/>
          <p:nvPr/>
        </p:nvSpPr>
        <p:spPr>
          <a:xfrm>
            <a:off x="6403763" y="1983602"/>
            <a:ext cx="632639" cy="632639"/>
          </a:xfrm>
          <a:prstGeom prst="roundRect">
            <a:avLst/>
          </a:prstGeom>
          <a:noFill/>
          <a:ln w="57150"/>
        </p:spPr>
        <p:style>
          <a:lnRef idx="2">
            <a:schemeClr val="accent2"/>
          </a:lnRef>
          <a:fillRef idx="1">
            <a:schemeClr val="lt1"/>
          </a:fillRef>
          <a:effectRef idx="0">
            <a:schemeClr val="accent2"/>
          </a:effectRef>
          <a:fontRef idx="minor">
            <a:schemeClr val="dk1"/>
          </a:fontRef>
        </p:style>
        <p:txBody>
          <a:bodyPr rtlCol="0" anchor="ctr"/>
          <a:lstStyle/>
          <a:p>
            <a:pPr algn="ctr"/>
            <a:endParaRPr lang="en-NL"/>
          </a:p>
        </p:txBody>
      </p:sp>
      <p:sp>
        <p:nvSpPr>
          <p:cNvPr id="23" name="TextBox 22">
            <a:extLst>
              <a:ext uri="{FF2B5EF4-FFF2-40B4-BE49-F238E27FC236}">
                <a16:creationId xmlns:a16="http://schemas.microsoft.com/office/drawing/2014/main" id="{684B0D2C-CB58-51BA-03E6-A5B9975EB8E1}"/>
              </a:ext>
            </a:extLst>
          </p:cNvPr>
          <p:cNvSpPr txBox="1"/>
          <p:nvPr/>
        </p:nvSpPr>
        <p:spPr>
          <a:xfrm>
            <a:off x="6354437" y="1628775"/>
            <a:ext cx="731290" cy="369332"/>
          </a:xfrm>
          <a:prstGeom prst="rect">
            <a:avLst/>
          </a:prstGeom>
          <a:noFill/>
        </p:spPr>
        <p:txBody>
          <a:bodyPr wrap="none" rtlCol="0">
            <a:spAutoFit/>
          </a:bodyPr>
          <a:lstStyle/>
          <a:p>
            <a:pPr algn="ctr"/>
            <a:r>
              <a:rPr lang="en-US" b="1" dirty="0"/>
              <a:t>input</a:t>
            </a:r>
            <a:endParaRPr lang="en-NL" b="1" dirty="0"/>
          </a:p>
        </p:txBody>
      </p:sp>
      <p:sp>
        <p:nvSpPr>
          <p:cNvPr id="29" name="Rectangle: Rounded Corners 28">
            <a:extLst>
              <a:ext uri="{FF2B5EF4-FFF2-40B4-BE49-F238E27FC236}">
                <a16:creationId xmlns:a16="http://schemas.microsoft.com/office/drawing/2014/main" id="{9746A47D-9CC2-3A65-B6F7-80809820C696}"/>
              </a:ext>
            </a:extLst>
          </p:cNvPr>
          <p:cNvSpPr/>
          <p:nvPr/>
        </p:nvSpPr>
        <p:spPr>
          <a:xfrm>
            <a:off x="6403763" y="5000251"/>
            <a:ext cx="632639" cy="632639"/>
          </a:xfrm>
          <a:prstGeom prst="roundRect">
            <a:avLst/>
          </a:prstGeom>
          <a:noFill/>
          <a:ln w="57150"/>
        </p:spPr>
        <p:style>
          <a:lnRef idx="2">
            <a:schemeClr val="accent2"/>
          </a:lnRef>
          <a:fillRef idx="1">
            <a:schemeClr val="lt1"/>
          </a:fillRef>
          <a:effectRef idx="0">
            <a:schemeClr val="accent2"/>
          </a:effectRef>
          <a:fontRef idx="minor">
            <a:schemeClr val="dk1"/>
          </a:fontRef>
        </p:style>
        <p:txBody>
          <a:bodyPr rtlCol="0" anchor="ctr"/>
          <a:lstStyle/>
          <a:p>
            <a:pPr algn="ctr"/>
            <a:endParaRPr lang="en-NL"/>
          </a:p>
        </p:txBody>
      </p:sp>
      <p:sp>
        <p:nvSpPr>
          <p:cNvPr id="32" name="TextBox 31">
            <a:extLst>
              <a:ext uri="{FF2B5EF4-FFF2-40B4-BE49-F238E27FC236}">
                <a16:creationId xmlns:a16="http://schemas.microsoft.com/office/drawing/2014/main" id="{CD086E81-C249-6C9C-29DB-E8C655CFB63E}"/>
              </a:ext>
            </a:extLst>
          </p:cNvPr>
          <p:cNvSpPr txBox="1"/>
          <p:nvPr/>
        </p:nvSpPr>
        <p:spPr>
          <a:xfrm>
            <a:off x="6277493" y="5608006"/>
            <a:ext cx="885179" cy="369332"/>
          </a:xfrm>
          <a:prstGeom prst="rect">
            <a:avLst/>
          </a:prstGeom>
          <a:noFill/>
        </p:spPr>
        <p:txBody>
          <a:bodyPr wrap="none" rtlCol="0">
            <a:spAutoFit/>
          </a:bodyPr>
          <a:lstStyle/>
          <a:p>
            <a:pPr algn="ctr"/>
            <a:r>
              <a:rPr lang="en-US" b="1" dirty="0"/>
              <a:t>output</a:t>
            </a:r>
            <a:endParaRPr lang="en-NL" b="1" dirty="0"/>
          </a:p>
        </p:txBody>
      </p:sp>
      <p:pic>
        <p:nvPicPr>
          <p:cNvPr id="7" name="slide 18">
            <a:hlinkClick r:id="" action="ppaction://media"/>
            <a:extLst>
              <a:ext uri="{FF2B5EF4-FFF2-40B4-BE49-F238E27FC236}">
                <a16:creationId xmlns:a16="http://schemas.microsoft.com/office/drawing/2014/main" id="{6AD980E5-C64B-A51B-48E8-92EFA1D21A8A}"/>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2424909" y="81201"/>
            <a:ext cx="609600" cy="609600"/>
          </a:xfrm>
          <a:prstGeom prst="rect">
            <a:avLst/>
          </a:prstGeom>
        </p:spPr>
      </p:pic>
    </p:spTree>
    <p:extLst>
      <p:ext uri="{BB962C8B-B14F-4D97-AF65-F5344CB8AC3E}">
        <p14:creationId xmlns:p14="http://schemas.microsoft.com/office/powerpoint/2010/main" val="302668771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5" presetClass="emph" presetSubtype="0" fill="hold" grpId="0" nodeType="withEffect">
                                  <p:stCondLst>
                                    <p:cond delay="1000"/>
                                  </p:stCondLst>
                                  <p:childTnLst>
                                    <p:animClr clrSpc="hsl" dir="cw">
                                      <p:cBhvr override="childStyle">
                                        <p:cTn id="6" dur="500" fill="hold"/>
                                        <p:tgtEl>
                                          <p:spTgt spid="6"/>
                                        </p:tgtEl>
                                        <p:attrNameLst>
                                          <p:attrName>style.color</p:attrName>
                                        </p:attrNameLst>
                                      </p:cBhvr>
                                      <p:by>
                                        <p:hsl h="0" s="-70588" l="0"/>
                                      </p:by>
                                    </p:animClr>
                                    <p:animClr clrSpc="hsl" dir="cw">
                                      <p:cBhvr>
                                        <p:cTn id="7" dur="500" fill="hold"/>
                                        <p:tgtEl>
                                          <p:spTgt spid="6"/>
                                        </p:tgtEl>
                                        <p:attrNameLst>
                                          <p:attrName>fillcolor</p:attrName>
                                        </p:attrNameLst>
                                      </p:cBhvr>
                                      <p:by>
                                        <p:hsl h="0" s="-70588" l="0"/>
                                      </p:by>
                                    </p:animClr>
                                    <p:animClr clrSpc="hsl" dir="cw">
                                      <p:cBhvr>
                                        <p:cTn id="8" dur="500" fill="hold"/>
                                        <p:tgtEl>
                                          <p:spTgt spid="6"/>
                                        </p:tgtEl>
                                        <p:attrNameLst>
                                          <p:attrName>stroke.color</p:attrName>
                                        </p:attrNameLst>
                                      </p:cBhvr>
                                      <p:by>
                                        <p:hsl h="0" s="-70588" l="0"/>
                                      </p:by>
                                    </p:animClr>
                                    <p:set>
                                      <p:cBhvr>
                                        <p:cTn id="9" dur="500" fill="hold"/>
                                        <p:tgtEl>
                                          <p:spTgt spid="6"/>
                                        </p:tgtEl>
                                        <p:attrNameLst>
                                          <p:attrName>fill.type</p:attrName>
                                        </p:attrNameLst>
                                      </p:cBhvr>
                                      <p:to>
                                        <p:strVal val="solid"/>
                                      </p:to>
                                    </p:set>
                                  </p:childTnLst>
                                </p:cTn>
                              </p:par>
                              <p:par>
                                <p:cTn id="10" presetID="25" presetClass="emph" presetSubtype="0" fill="hold" grpId="0" nodeType="withEffect">
                                  <p:stCondLst>
                                    <p:cond delay="1000"/>
                                  </p:stCondLst>
                                  <p:childTnLst>
                                    <p:animClr clrSpc="hsl" dir="cw">
                                      <p:cBhvr override="childStyle">
                                        <p:cTn id="11" dur="500" fill="hold"/>
                                        <p:tgtEl>
                                          <p:spTgt spid="3"/>
                                        </p:tgtEl>
                                        <p:attrNameLst>
                                          <p:attrName>style.color</p:attrName>
                                        </p:attrNameLst>
                                      </p:cBhvr>
                                      <p:by>
                                        <p:hsl h="0" s="-70588" l="0"/>
                                      </p:by>
                                    </p:animClr>
                                    <p:animClr clrSpc="hsl" dir="cw">
                                      <p:cBhvr>
                                        <p:cTn id="12" dur="500" fill="hold"/>
                                        <p:tgtEl>
                                          <p:spTgt spid="3"/>
                                        </p:tgtEl>
                                        <p:attrNameLst>
                                          <p:attrName>fillcolor</p:attrName>
                                        </p:attrNameLst>
                                      </p:cBhvr>
                                      <p:by>
                                        <p:hsl h="0" s="-70588" l="0"/>
                                      </p:by>
                                    </p:animClr>
                                    <p:animClr clrSpc="hsl" dir="cw">
                                      <p:cBhvr>
                                        <p:cTn id="13" dur="500" fill="hold"/>
                                        <p:tgtEl>
                                          <p:spTgt spid="3"/>
                                        </p:tgtEl>
                                        <p:attrNameLst>
                                          <p:attrName>stroke.color</p:attrName>
                                        </p:attrNameLst>
                                      </p:cBhvr>
                                      <p:by>
                                        <p:hsl h="0" s="-70588" l="0"/>
                                      </p:by>
                                    </p:animClr>
                                    <p:set>
                                      <p:cBhvr>
                                        <p:cTn id="14" dur="500" fill="hold"/>
                                        <p:tgtEl>
                                          <p:spTgt spid="3"/>
                                        </p:tgtEl>
                                        <p:attrNameLst>
                                          <p:attrName>fill.type</p:attrName>
                                        </p:attrNameLst>
                                      </p:cBhvr>
                                      <p:to>
                                        <p:strVal val="solid"/>
                                      </p:to>
                                    </p:set>
                                  </p:childTnLst>
                                </p:cTn>
                              </p:par>
                              <p:par>
                                <p:cTn id="15" presetID="25" presetClass="emph" presetSubtype="0" fill="hold" nodeType="withEffect">
                                  <p:stCondLst>
                                    <p:cond delay="1000"/>
                                  </p:stCondLst>
                                  <p:childTnLst>
                                    <p:animClr clrSpc="hsl" dir="cw">
                                      <p:cBhvr override="childStyle">
                                        <p:cTn id="16" dur="500" fill="hold"/>
                                        <p:tgtEl>
                                          <p:spTgt spid="19"/>
                                        </p:tgtEl>
                                        <p:attrNameLst>
                                          <p:attrName>style.color</p:attrName>
                                        </p:attrNameLst>
                                      </p:cBhvr>
                                      <p:by>
                                        <p:hsl h="0" s="-70588" l="0"/>
                                      </p:by>
                                    </p:animClr>
                                    <p:animClr clrSpc="hsl" dir="cw">
                                      <p:cBhvr>
                                        <p:cTn id="17" dur="500" fill="hold"/>
                                        <p:tgtEl>
                                          <p:spTgt spid="19"/>
                                        </p:tgtEl>
                                        <p:attrNameLst>
                                          <p:attrName>fillcolor</p:attrName>
                                        </p:attrNameLst>
                                      </p:cBhvr>
                                      <p:by>
                                        <p:hsl h="0" s="-70588" l="0"/>
                                      </p:by>
                                    </p:animClr>
                                    <p:animClr clrSpc="hsl" dir="cw">
                                      <p:cBhvr>
                                        <p:cTn id="18" dur="500" fill="hold"/>
                                        <p:tgtEl>
                                          <p:spTgt spid="19"/>
                                        </p:tgtEl>
                                        <p:attrNameLst>
                                          <p:attrName>stroke.color</p:attrName>
                                        </p:attrNameLst>
                                      </p:cBhvr>
                                      <p:by>
                                        <p:hsl h="0" s="-70588" l="0"/>
                                      </p:by>
                                    </p:animClr>
                                    <p:set>
                                      <p:cBhvr>
                                        <p:cTn id="19" dur="500" fill="hold"/>
                                        <p:tgtEl>
                                          <p:spTgt spid="19"/>
                                        </p:tgtEl>
                                        <p:attrNameLst>
                                          <p:attrName>fill.type</p:attrName>
                                        </p:attrNameLst>
                                      </p:cBhvr>
                                      <p:to>
                                        <p:strVal val="solid"/>
                                      </p:to>
                                    </p:set>
                                  </p:childTnLst>
                                </p:cTn>
                              </p:par>
                              <p:par>
                                <p:cTn id="20" presetID="25" presetClass="emph" presetSubtype="0" fill="hold" nodeType="withEffect">
                                  <p:stCondLst>
                                    <p:cond delay="1000"/>
                                  </p:stCondLst>
                                  <p:childTnLst>
                                    <p:animClr clrSpc="hsl" dir="cw">
                                      <p:cBhvr override="childStyle">
                                        <p:cTn id="21" dur="500" fill="hold"/>
                                        <p:tgtEl>
                                          <p:spTgt spid="20"/>
                                        </p:tgtEl>
                                        <p:attrNameLst>
                                          <p:attrName>style.color</p:attrName>
                                        </p:attrNameLst>
                                      </p:cBhvr>
                                      <p:by>
                                        <p:hsl h="0" s="-70588" l="0"/>
                                      </p:by>
                                    </p:animClr>
                                    <p:animClr clrSpc="hsl" dir="cw">
                                      <p:cBhvr>
                                        <p:cTn id="22" dur="500" fill="hold"/>
                                        <p:tgtEl>
                                          <p:spTgt spid="20"/>
                                        </p:tgtEl>
                                        <p:attrNameLst>
                                          <p:attrName>fillcolor</p:attrName>
                                        </p:attrNameLst>
                                      </p:cBhvr>
                                      <p:by>
                                        <p:hsl h="0" s="-70588" l="0"/>
                                      </p:by>
                                    </p:animClr>
                                    <p:animClr clrSpc="hsl" dir="cw">
                                      <p:cBhvr>
                                        <p:cTn id="23" dur="500" fill="hold"/>
                                        <p:tgtEl>
                                          <p:spTgt spid="20"/>
                                        </p:tgtEl>
                                        <p:attrNameLst>
                                          <p:attrName>stroke.color</p:attrName>
                                        </p:attrNameLst>
                                      </p:cBhvr>
                                      <p:by>
                                        <p:hsl h="0" s="-70588" l="0"/>
                                      </p:by>
                                    </p:animClr>
                                    <p:set>
                                      <p:cBhvr>
                                        <p:cTn id="24" dur="500" fill="hold"/>
                                        <p:tgtEl>
                                          <p:spTgt spid="20"/>
                                        </p:tgtEl>
                                        <p:attrNameLst>
                                          <p:attrName>fill.type</p:attrName>
                                        </p:attrNameLst>
                                      </p:cBhvr>
                                      <p:to>
                                        <p:strVal val="solid"/>
                                      </p:to>
                                    </p:set>
                                  </p:childTnLst>
                                </p:cTn>
                              </p:par>
                              <p:par>
                                <p:cTn id="25" presetID="25" presetClass="emph" presetSubtype="0" fill="hold" grpId="0" nodeType="withEffect">
                                  <p:stCondLst>
                                    <p:cond delay="1000"/>
                                  </p:stCondLst>
                                  <p:childTnLst>
                                    <p:animClr clrSpc="hsl" dir="cw">
                                      <p:cBhvr override="childStyle">
                                        <p:cTn id="26" dur="500" fill="hold"/>
                                        <p:tgtEl>
                                          <p:spTgt spid="78"/>
                                        </p:tgtEl>
                                        <p:attrNameLst>
                                          <p:attrName>style.color</p:attrName>
                                        </p:attrNameLst>
                                      </p:cBhvr>
                                      <p:by>
                                        <p:hsl h="0" s="-70588" l="0"/>
                                      </p:by>
                                    </p:animClr>
                                    <p:animClr clrSpc="hsl" dir="cw">
                                      <p:cBhvr>
                                        <p:cTn id="27" dur="500" fill="hold"/>
                                        <p:tgtEl>
                                          <p:spTgt spid="78"/>
                                        </p:tgtEl>
                                        <p:attrNameLst>
                                          <p:attrName>fillcolor</p:attrName>
                                        </p:attrNameLst>
                                      </p:cBhvr>
                                      <p:by>
                                        <p:hsl h="0" s="-70588" l="0"/>
                                      </p:by>
                                    </p:animClr>
                                    <p:animClr clrSpc="hsl" dir="cw">
                                      <p:cBhvr>
                                        <p:cTn id="28" dur="500" fill="hold"/>
                                        <p:tgtEl>
                                          <p:spTgt spid="78"/>
                                        </p:tgtEl>
                                        <p:attrNameLst>
                                          <p:attrName>stroke.color</p:attrName>
                                        </p:attrNameLst>
                                      </p:cBhvr>
                                      <p:by>
                                        <p:hsl h="0" s="-70588" l="0"/>
                                      </p:by>
                                    </p:animClr>
                                    <p:set>
                                      <p:cBhvr>
                                        <p:cTn id="29" dur="500" fill="hold"/>
                                        <p:tgtEl>
                                          <p:spTgt spid="78"/>
                                        </p:tgtEl>
                                        <p:attrNameLst>
                                          <p:attrName>fill.type</p:attrName>
                                        </p:attrNameLst>
                                      </p:cBhvr>
                                      <p:to>
                                        <p:strVal val="solid"/>
                                      </p:to>
                                    </p:set>
                                  </p:childTnLst>
                                </p:cTn>
                              </p:par>
                              <p:par>
                                <p:cTn id="30" presetID="25" presetClass="emph" presetSubtype="0" fill="hold" grpId="0" nodeType="withEffect">
                                  <p:stCondLst>
                                    <p:cond delay="1000"/>
                                  </p:stCondLst>
                                  <p:childTnLst>
                                    <p:animClr clrSpc="hsl" dir="cw">
                                      <p:cBhvr override="childStyle">
                                        <p:cTn id="31" dur="500" fill="hold"/>
                                        <p:tgtEl>
                                          <p:spTgt spid="58"/>
                                        </p:tgtEl>
                                        <p:attrNameLst>
                                          <p:attrName>style.color</p:attrName>
                                        </p:attrNameLst>
                                      </p:cBhvr>
                                      <p:by>
                                        <p:hsl h="0" s="-70588" l="0"/>
                                      </p:by>
                                    </p:animClr>
                                    <p:animClr clrSpc="hsl" dir="cw">
                                      <p:cBhvr>
                                        <p:cTn id="32" dur="500" fill="hold"/>
                                        <p:tgtEl>
                                          <p:spTgt spid="58"/>
                                        </p:tgtEl>
                                        <p:attrNameLst>
                                          <p:attrName>fillcolor</p:attrName>
                                        </p:attrNameLst>
                                      </p:cBhvr>
                                      <p:by>
                                        <p:hsl h="0" s="-70588" l="0"/>
                                      </p:by>
                                    </p:animClr>
                                    <p:animClr clrSpc="hsl" dir="cw">
                                      <p:cBhvr>
                                        <p:cTn id="33" dur="500" fill="hold"/>
                                        <p:tgtEl>
                                          <p:spTgt spid="58"/>
                                        </p:tgtEl>
                                        <p:attrNameLst>
                                          <p:attrName>stroke.color</p:attrName>
                                        </p:attrNameLst>
                                      </p:cBhvr>
                                      <p:by>
                                        <p:hsl h="0" s="-70588" l="0"/>
                                      </p:by>
                                    </p:animClr>
                                    <p:set>
                                      <p:cBhvr>
                                        <p:cTn id="34" dur="500" fill="hold"/>
                                        <p:tgtEl>
                                          <p:spTgt spid="58"/>
                                        </p:tgtEl>
                                        <p:attrNameLst>
                                          <p:attrName>fill.type</p:attrName>
                                        </p:attrNameLst>
                                      </p:cBhvr>
                                      <p:to>
                                        <p:strVal val="solid"/>
                                      </p:to>
                                    </p:set>
                                  </p:childTnLst>
                                </p:cTn>
                              </p:par>
                              <p:par>
                                <p:cTn id="35" presetID="25" presetClass="emph" presetSubtype="0" fill="hold" grpId="0" nodeType="withEffect">
                                  <p:stCondLst>
                                    <p:cond delay="1000"/>
                                  </p:stCondLst>
                                  <p:childTnLst>
                                    <p:animClr clrSpc="hsl" dir="cw">
                                      <p:cBhvr override="childStyle">
                                        <p:cTn id="36" dur="500" fill="hold"/>
                                        <p:tgtEl>
                                          <p:spTgt spid="49"/>
                                        </p:tgtEl>
                                        <p:attrNameLst>
                                          <p:attrName>style.color</p:attrName>
                                        </p:attrNameLst>
                                      </p:cBhvr>
                                      <p:by>
                                        <p:hsl h="0" s="-70588" l="0"/>
                                      </p:by>
                                    </p:animClr>
                                    <p:animClr clrSpc="hsl" dir="cw">
                                      <p:cBhvr>
                                        <p:cTn id="37" dur="500" fill="hold"/>
                                        <p:tgtEl>
                                          <p:spTgt spid="49"/>
                                        </p:tgtEl>
                                        <p:attrNameLst>
                                          <p:attrName>fillcolor</p:attrName>
                                        </p:attrNameLst>
                                      </p:cBhvr>
                                      <p:by>
                                        <p:hsl h="0" s="-70588" l="0"/>
                                      </p:by>
                                    </p:animClr>
                                    <p:animClr clrSpc="hsl" dir="cw">
                                      <p:cBhvr>
                                        <p:cTn id="38" dur="500" fill="hold"/>
                                        <p:tgtEl>
                                          <p:spTgt spid="49"/>
                                        </p:tgtEl>
                                        <p:attrNameLst>
                                          <p:attrName>stroke.color</p:attrName>
                                        </p:attrNameLst>
                                      </p:cBhvr>
                                      <p:by>
                                        <p:hsl h="0" s="-70588" l="0"/>
                                      </p:by>
                                    </p:animClr>
                                    <p:set>
                                      <p:cBhvr>
                                        <p:cTn id="39" dur="500" fill="hold"/>
                                        <p:tgtEl>
                                          <p:spTgt spid="49"/>
                                        </p:tgtEl>
                                        <p:attrNameLst>
                                          <p:attrName>fill.type</p:attrName>
                                        </p:attrNameLst>
                                      </p:cBhvr>
                                      <p:to>
                                        <p:strVal val="solid"/>
                                      </p:to>
                                    </p:set>
                                  </p:childTnLst>
                                </p:cTn>
                              </p:par>
                              <p:par>
                                <p:cTn id="40" presetID="25" presetClass="emph" presetSubtype="0" fill="hold" grpId="0" nodeType="withEffect">
                                  <p:stCondLst>
                                    <p:cond delay="1000"/>
                                  </p:stCondLst>
                                  <p:childTnLst>
                                    <p:animClr clrSpc="hsl" dir="cw">
                                      <p:cBhvr override="childStyle">
                                        <p:cTn id="41" dur="500" fill="hold"/>
                                        <p:tgtEl>
                                          <p:spTgt spid="73"/>
                                        </p:tgtEl>
                                        <p:attrNameLst>
                                          <p:attrName>style.color</p:attrName>
                                        </p:attrNameLst>
                                      </p:cBhvr>
                                      <p:by>
                                        <p:hsl h="0" s="-70588" l="0"/>
                                      </p:by>
                                    </p:animClr>
                                    <p:animClr clrSpc="hsl" dir="cw">
                                      <p:cBhvr>
                                        <p:cTn id="42" dur="500" fill="hold"/>
                                        <p:tgtEl>
                                          <p:spTgt spid="73"/>
                                        </p:tgtEl>
                                        <p:attrNameLst>
                                          <p:attrName>fillcolor</p:attrName>
                                        </p:attrNameLst>
                                      </p:cBhvr>
                                      <p:by>
                                        <p:hsl h="0" s="-70588" l="0"/>
                                      </p:by>
                                    </p:animClr>
                                    <p:animClr clrSpc="hsl" dir="cw">
                                      <p:cBhvr>
                                        <p:cTn id="43" dur="500" fill="hold"/>
                                        <p:tgtEl>
                                          <p:spTgt spid="73"/>
                                        </p:tgtEl>
                                        <p:attrNameLst>
                                          <p:attrName>stroke.color</p:attrName>
                                        </p:attrNameLst>
                                      </p:cBhvr>
                                      <p:by>
                                        <p:hsl h="0" s="-70588" l="0"/>
                                      </p:by>
                                    </p:animClr>
                                    <p:set>
                                      <p:cBhvr>
                                        <p:cTn id="44" dur="500" fill="hold"/>
                                        <p:tgtEl>
                                          <p:spTgt spid="73"/>
                                        </p:tgtEl>
                                        <p:attrNameLst>
                                          <p:attrName>fill.type</p:attrName>
                                        </p:attrNameLst>
                                      </p:cBhvr>
                                      <p:to>
                                        <p:strVal val="solid"/>
                                      </p:to>
                                    </p:set>
                                  </p:childTnLst>
                                </p:cTn>
                              </p:par>
                              <p:par>
                                <p:cTn id="45" presetID="25" presetClass="emph" presetSubtype="0" fill="hold" grpId="0" nodeType="withEffect">
                                  <p:stCondLst>
                                    <p:cond delay="1000"/>
                                  </p:stCondLst>
                                  <p:childTnLst>
                                    <p:animClr clrSpc="hsl" dir="cw">
                                      <p:cBhvr override="childStyle">
                                        <p:cTn id="46" dur="500" fill="hold"/>
                                        <p:tgtEl>
                                          <p:spTgt spid="74"/>
                                        </p:tgtEl>
                                        <p:attrNameLst>
                                          <p:attrName>style.color</p:attrName>
                                        </p:attrNameLst>
                                      </p:cBhvr>
                                      <p:by>
                                        <p:hsl h="0" s="-70588" l="0"/>
                                      </p:by>
                                    </p:animClr>
                                    <p:animClr clrSpc="hsl" dir="cw">
                                      <p:cBhvr>
                                        <p:cTn id="47" dur="500" fill="hold"/>
                                        <p:tgtEl>
                                          <p:spTgt spid="74"/>
                                        </p:tgtEl>
                                        <p:attrNameLst>
                                          <p:attrName>fillcolor</p:attrName>
                                        </p:attrNameLst>
                                      </p:cBhvr>
                                      <p:by>
                                        <p:hsl h="0" s="-70588" l="0"/>
                                      </p:by>
                                    </p:animClr>
                                    <p:animClr clrSpc="hsl" dir="cw">
                                      <p:cBhvr>
                                        <p:cTn id="48" dur="500" fill="hold"/>
                                        <p:tgtEl>
                                          <p:spTgt spid="74"/>
                                        </p:tgtEl>
                                        <p:attrNameLst>
                                          <p:attrName>stroke.color</p:attrName>
                                        </p:attrNameLst>
                                      </p:cBhvr>
                                      <p:by>
                                        <p:hsl h="0" s="-70588" l="0"/>
                                      </p:by>
                                    </p:animClr>
                                    <p:set>
                                      <p:cBhvr>
                                        <p:cTn id="49" dur="500" fill="hold"/>
                                        <p:tgtEl>
                                          <p:spTgt spid="74"/>
                                        </p:tgtEl>
                                        <p:attrNameLst>
                                          <p:attrName>fill.type</p:attrName>
                                        </p:attrNameLst>
                                      </p:cBhvr>
                                      <p:to>
                                        <p:strVal val="solid"/>
                                      </p:to>
                                    </p:set>
                                  </p:childTnLst>
                                </p:cTn>
                              </p:par>
                              <p:par>
                                <p:cTn id="50" presetID="25" presetClass="emph" presetSubtype="0" fill="hold" grpId="0" nodeType="withEffect">
                                  <p:stCondLst>
                                    <p:cond delay="1000"/>
                                  </p:stCondLst>
                                  <p:childTnLst>
                                    <p:animClr clrSpc="hsl" dir="cw">
                                      <p:cBhvr override="childStyle">
                                        <p:cTn id="51" dur="500" fill="hold"/>
                                        <p:tgtEl>
                                          <p:spTgt spid="21"/>
                                        </p:tgtEl>
                                        <p:attrNameLst>
                                          <p:attrName>style.color</p:attrName>
                                        </p:attrNameLst>
                                      </p:cBhvr>
                                      <p:by>
                                        <p:hsl h="0" s="-70588" l="0"/>
                                      </p:by>
                                    </p:animClr>
                                    <p:animClr clrSpc="hsl" dir="cw">
                                      <p:cBhvr>
                                        <p:cTn id="52" dur="500" fill="hold"/>
                                        <p:tgtEl>
                                          <p:spTgt spid="21"/>
                                        </p:tgtEl>
                                        <p:attrNameLst>
                                          <p:attrName>fillcolor</p:attrName>
                                        </p:attrNameLst>
                                      </p:cBhvr>
                                      <p:by>
                                        <p:hsl h="0" s="-70588" l="0"/>
                                      </p:by>
                                    </p:animClr>
                                    <p:animClr clrSpc="hsl" dir="cw">
                                      <p:cBhvr>
                                        <p:cTn id="53" dur="500" fill="hold"/>
                                        <p:tgtEl>
                                          <p:spTgt spid="21"/>
                                        </p:tgtEl>
                                        <p:attrNameLst>
                                          <p:attrName>stroke.color</p:attrName>
                                        </p:attrNameLst>
                                      </p:cBhvr>
                                      <p:by>
                                        <p:hsl h="0" s="-70588" l="0"/>
                                      </p:by>
                                    </p:animClr>
                                    <p:set>
                                      <p:cBhvr>
                                        <p:cTn id="54" dur="500" fill="hold"/>
                                        <p:tgtEl>
                                          <p:spTgt spid="21"/>
                                        </p:tgtEl>
                                        <p:attrNameLst>
                                          <p:attrName>fill.type</p:attrName>
                                        </p:attrNameLst>
                                      </p:cBhvr>
                                      <p:to>
                                        <p:strVal val="solid"/>
                                      </p:to>
                                    </p:set>
                                  </p:childTnLst>
                                </p:cTn>
                              </p:par>
                              <p:par>
                                <p:cTn id="55" presetID="25" presetClass="emph" presetSubtype="0" fill="hold" nodeType="withEffect">
                                  <p:stCondLst>
                                    <p:cond delay="1000"/>
                                  </p:stCondLst>
                                  <p:childTnLst>
                                    <p:animClr clrSpc="hsl" dir="cw">
                                      <p:cBhvr override="childStyle">
                                        <p:cTn id="56" dur="500" fill="hold"/>
                                        <p:tgtEl>
                                          <p:spTgt spid="27"/>
                                        </p:tgtEl>
                                        <p:attrNameLst>
                                          <p:attrName>style.color</p:attrName>
                                        </p:attrNameLst>
                                      </p:cBhvr>
                                      <p:by>
                                        <p:hsl h="0" s="-70588" l="0"/>
                                      </p:by>
                                    </p:animClr>
                                    <p:animClr clrSpc="hsl" dir="cw">
                                      <p:cBhvr>
                                        <p:cTn id="57" dur="500" fill="hold"/>
                                        <p:tgtEl>
                                          <p:spTgt spid="27"/>
                                        </p:tgtEl>
                                        <p:attrNameLst>
                                          <p:attrName>fillcolor</p:attrName>
                                        </p:attrNameLst>
                                      </p:cBhvr>
                                      <p:by>
                                        <p:hsl h="0" s="-70588" l="0"/>
                                      </p:by>
                                    </p:animClr>
                                    <p:animClr clrSpc="hsl" dir="cw">
                                      <p:cBhvr>
                                        <p:cTn id="58" dur="500" fill="hold"/>
                                        <p:tgtEl>
                                          <p:spTgt spid="27"/>
                                        </p:tgtEl>
                                        <p:attrNameLst>
                                          <p:attrName>stroke.color</p:attrName>
                                        </p:attrNameLst>
                                      </p:cBhvr>
                                      <p:by>
                                        <p:hsl h="0" s="-70588" l="0"/>
                                      </p:by>
                                    </p:animClr>
                                    <p:set>
                                      <p:cBhvr>
                                        <p:cTn id="59" dur="500" fill="hold"/>
                                        <p:tgtEl>
                                          <p:spTgt spid="27"/>
                                        </p:tgtEl>
                                        <p:attrNameLst>
                                          <p:attrName>fill.type</p:attrName>
                                        </p:attrNameLst>
                                      </p:cBhvr>
                                      <p:to>
                                        <p:strVal val="solid"/>
                                      </p:to>
                                    </p:set>
                                  </p:childTnLst>
                                </p:cTn>
                              </p:par>
                              <p:par>
                                <p:cTn id="60" presetID="25" presetClass="emph" presetSubtype="0" fill="hold" nodeType="withEffect">
                                  <p:stCondLst>
                                    <p:cond delay="1000"/>
                                  </p:stCondLst>
                                  <p:childTnLst>
                                    <p:animClr clrSpc="hsl" dir="cw">
                                      <p:cBhvr override="childStyle">
                                        <p:cTn id="61" dur="500" fill="hold"/>
                                        <p:tgtEl>
                                          <p:spTgt spid="28"/>
                                        </p:tgtEl>
                                        <p:attrNameLst>
                                          <p:attrName>style.color</p:attrName>
                                        </p:attrNameLst>
                                      </p:cBhvr>
                                      <p:by>
                                        <p:hsl h="0" s="-70588" l="0"/>
                                      </p:by>
                                    </p:animClr>
                                    <p:animClr clrSpc="hsl" dir="cw">
                                      <p:cBhvr>
                                        <p:cTn id="62" dur="500" fill="hold"/>
                                        <p:tgtEl>
                                          <p:spTgt spid="28"/>
                                        </p:tgtEl>
                                        <p:attrNameLst>
                                          <p:attrName>fillcolor</p:attrName>
                                        </p:attrNameLst>
                                      </p:cBhvr>
                                      <p:by>
                                        <p:hsl h="0" s="-70588" l="0"/>
                                      </p:by>
                                    </p:animClr>
                                    <p:animClr clrSpc="hsl" dir="cw">
                                      <p:cBhvr>
                                        <p:cTn id="63" dur="500" fill="hold"/>
                                        <p:tgtEl>
                                          <p:spTgt spid="28"/>
                                        </p:tgtEl>
                                        <p:attrNameLst>
                                          <p:attrName>stroke.color</p:attrName>
                                        </p:attrNameLst>
                                      </p:cBhvr>
                                      <p:by>
                                        <p:hsl h="0" s="-70588" l="0"/>
                                      </p:by>
                                    </p:animClr>
                                    <p:set>
                                      <p:cBhvr>
                                        <p:cTn id="64" dur="500" fill="hold"/>
                                        <p:tgtEl>
                                          <p:spTgt spid="28"/>
                                        </p:tgtEl>
                                        <p:attrNameLst>
                                          <p:attrName>fill.type</p:attrName>
                                        </p:attrNameLst>
                                      </p:cBhvr>
                                      <p:to>
                                        <p:strVal val="solid"/>
                                      </p:to>
                                    </p:set>
                                  </p:childTnLst>
                                </p:cTn>
                              </p:par>
                              <p:par>
                                <p:cTn id="65" presetID="25" presetClass="emph" presetSubtype="0" fill="hold" nodeType="withEffect">
                                  <p:stCondLst>
                                    <p:cond delay="1000"/>
                                  </p:stCondLst>
                                  <p:childTnLst>
                                    <p:animClr clrSpc="hsl" dir="cw">
                                      <p:cBhvr override="childStyle">
                                        <p:cTn id="66" dur="500" fill="hold"/>
                                        <p:tgtEl>
                                          <p:spTgt spid="44"/>
                                        </p:tgtEl>
                                        <p:attrNameLst>
                                          <p:attrName>style.color</p:attrName>
                                        </p:attrNameLst>
                                      </p:cBhvr>
                                      <p:by>
                                        <p:hsl h="0" s="-70588" l="0"/>
                                      </p:by>
                                    </p:animClr>
                                    <p:animClr clrSpc="hsl" dir="cw">
                                      <p:cBhvr>
                                        <p:cTn id="67" dur="500" fill="hold"/>
                                        <p:tgtEl>
                                          <p:spTgt spid="44"/>
                                        </p:tgtEl>
                                        <p:attrNameLst>
                                          <p:attrName>fillcolor</p:attrName>
                                        </p:attrNameLst>
                                      </p:cBhvr>
                                      <p:by>
                                        <p:hsl h="0" s="-70588" l="0"/>
                                      </p:by>
                                    </p:animClr>
                                    <p:animClr clrSpc="hsl" dir="cw">
                                      <p:cBhvr>
                                        <p:cTn id="68" dur="500" fill="hold"/>
                                        <p:tgtEl>
                                          <p:spTgt spid="44"/>
                                        </p:tgtEl>
                                        <p:attrNameLst>
                                          <p:attrName>stroke.color</p:attrName>
                                        </p:attrNameLst>
                                      </p:cBhvr>
                                      <p:by>
                                        <p:hsl h="0" s="-70588" l="0"/>
                                      </p:by>
                                    </p:animClr>
                                    <p:set>
                                      <p:cBhvr>
                                        <p:cTn id="69" dur="500" fill="hold"/>
                                        <p:tgtEl>
                                          <p:spTgt spid="44"/>
                                        </p:tgtEl>
                                        <p:attrNameLst>
                                          <p:attrName>fill.type</p:attrName>
                                        </p:attrNameLst>
                                      </p:cBhvr>
                                      <p:to>
                                        <p:strVal val="solid"/>
                                      </p:to>
                                    </p:set>
                                  </p:childTnLst>
                                </p:cTn>
                              </p:par>
                              <p:par>
                                <p:cTn id="70" presetID="25" presetClass="emph" presetSubtype="0" fill="hold" nodeType="withEffect">
                                  <p:stCondLst>
                                    <p:cond delay="1000"/>
                                  </p:stCondLst>
                                  <p:childTnLst>
                                    <p:animClr clrSpc="hsl" dir="cw">
                                      <p:cBhvr override="childStyle">
                                        <p:cTn id="71" dur="500" fill="hold"/>
                                        <p:tgtEl>
                                          <p:spTgt spid="48"/>
                                        </p:tgtEl>
                                        <p:attrNameLst>
                                          <p:attrName>style.color</p:attrName>
                                        </p:attrNameLst>
                                      </p:cBhvr>
                                      <p:by>
                                        <p:hsl h="0" s="-70588" l="0"/>
                                      </p:by>
                                    </p:animClr>
                                    <p:animClr clrSpc="hsl" dir="cw">
                                      <p:cBhvr>
                                        <p:cTn id="72" dur="500" fill="hold"/>
                                        <p:tgtEl>
                                          <p:spTgt spid="48"/>
                                        </p:tgtEl>
                                        <p:attrNameLst>
                                          <p:attrName>fillcolor</p:attrName>
                                        </p:attrNameLst>
                                      </p:cBhvr>
                                      <p:by>
                                        <p:hsl h="0" s="-70588" l="0"/>
                                      </p:by>
                                    </p:animClr>
                                    <p:animClr clrSpc="hsl" dir="cw">
                                      <p:cBhvr>
                                        <p:cTn id="73" dur="500" fill="hold"/>
                                        <p:tgtEl>
                                          <p:spTgt spid="48"/>
                                        </p:tgtEl>
                                        <p:attrNameLst>
                                          <p:attrName>stroke.color</p:attrName>
                                        </p:attrNameLst>
                                      </p:cBhvr>
                                      <p:by>
                                        <p:hsl h="0" s="-70588" l="0"/>
                                      </p:by>
                                    </p:animClr>
                                    <p:set>
                                      <p:cBhvr>
                                        <p:cTn id="74" dur="500" fill="hold"/>
                                        <p:tgtEl>
                                          <p:spTgt spid="48"/>
                                        </p:tgtEl>
                                        <p:attrNameLst>
                                          <p:attrName>fill.type</p:attrName>
                                        </p:attrNameLst>
                                      </p:cBhvr>
                                      <p:to>
                                        <p:strVal val="solid"/>
                                      </p:to>
                                    </p:set>
                                  </p:childTnLst>
                                </p:cTn>
                              </p:par>
                              <p:par>
                                <p:cTn id="75" presetID="25" presetClass="emph" presetSubtype="0" fill="hold" grpId="0" nodeType="withEffect">
                                  <p:stCondLst>
                                    <p:cond delay="1000"/>
                                  </p:stCondLst>
                                  <p:childTnLst>
                                    <p:animClr clrSpc="hsl" dir="cw">
                                      <p:cBhvr override="childStyle">
                                        <p:cTn id="76" dur="500" fill="hold"/>
                                        <p:tgtEl>
                                          <p:spTgt spid="88"/>
                                        </p:tgtEl>
                                        <p:attrNameLst>
                                          <p:attrName>style.color</p:attrName>
                                        </p:attrNameLst>
                                      </p:cBhvr>
                                      <p:by>
                                        <p:hsl h="0" s="-70588" l="0"/>
                                      </p:by>
                                    </p:animClr>
                                    <p:animClr clrSpc="hsl" dir="cw">
                                      <p:cBhvr>
                                        <p:cTn id="77" dur="500" fill="hold"/>
                                        <p:tgtEl>
                                          <p:spTgt spid="88"/>
                                        </p:tgtEl>
                                        <p:attrNameLst>
                                          <p:attrName>fillcolor</p:attrName>
                                        </p:attrNameLst>
                                      </p:cBhvr>
                                      <p:by>
                                        <p:hsl h="0" s="-70588" l="0"/>
                                      </p:by>
                                    </p:animClr>
                                    <p:animClr clrSpc="hsl" dir="cw">
                                      <p:cBhvr>
                                        <p:cTn id="78" dur="500" fill="hold"/>
                                        <p:tgtEl>
                                          <p:spTgt spid="88"/>
                                        </p:tgtEl>
                                        <p:attrNameLst>
                                          <p:attrName>stroke.color</p:attrName>
                                        </p:attrNameLst>
                                      </p:cBhvr>
                                      <p:by>
                                        <p:hsl h="0" s="-70588" l="0"/>
                                      </p:by>
                                    </p:animClr>
                                    <p:set>
                                      <p:cBhvr>
                                        <p:cTn id="79" dur="500" fill="hold"/>
                                        <p:tgtEl>
                                          <p:spTgt spid="88"/>
                                        </p:tgtEl>
                                        <p:attrNameLst>
                                          <p:attrName>fill.type</p:attrName>
                                        </p:attrNameLst>
                                      </p:cBhvr>
                                      <p:to>
                                        <p:strVal val="solid"/>
                                      </p:to>
                                    </p:set>
                                  </p:childTnLst>
                                </p:cTn>
                              </p:par>
                              <p:par>
                                <p:cTn id="80" presetID="25" presetClass="emph" presetSubtype="0" fill="hold" grpId="0" nodeType="withEffect">
                                  <p:stCondLst>
                                    <p:cond delay="1000"/>
                                  </p:stCondLst>
                                  <p:childTnLst>
                                    <p:animClr clrSpc="hsl" dir="cw">
                                      <p:cBhvr override="childStyle">
                                        <p:cTn id="81" dur="500" fill="hold"/>
                                        <p:tgtEl>
                                          <p:spTgt spid="24"/>
                                        </p:tgtEl>
                                        <p:attrNameLst>
                                          <p:attrName>style.color</p:attrName>
                                        </p:attrNameLst>
                                      </p:cBhvr>
                                      <p:by>
                                        <p:hsl h="0" s="-70588" l="0"/>
                                      </p:by>
                                    </p:animClr>
                                    <p:animClr clrSpc="hsl" dir="cw">
                                      <p:cBhvr>
                                        <p:cTn id="82" dur="500" fill="hold"/>
                                        <p:tgtEl>
                                          <p:spTgt spid="24"/>
                                        </p:tgtEl>
                                        <p:attrNameLst>
                                          <p:attrName>fillcolor</p:attrName>
                                        </p:attrNameLst>
                                      </p:cBhvr>
                                      <p:by>
                                        <p:hsl h="0" s="-70588" l="0"/>
                                      </p:by>
                                    </p:animClr>
                                    <p:animClr clrSpc="hsl" dir="cw">
                                      <p:cBhvr>
                                        <p:cTn id="83" dur="500" fill="hold"/>
                                        <p:tgtEl>
                                          <p:spTgt spid="24"/>
                                        </p:tgtEl>
                                        <p:attrNameLst>
                                          <p:attrName>stroke.color</p:attrName>
                                        </p:attrNameLst>
                                      </p:cBhvr>
                                      <p:by>
                                        <p:hsl h="0" s="-70588" l="0"/>
                                      </p:by>
                                    </p:animClr>
                                    <p:set>
                                      <p:cBhvr>
                                        <p:cTn id="84" dur="500" fill="hold"/>
                                        <p:tgtEl>
                                          <p:spTgt spid="24"/>
                                        </p:tgtEl>
                                        <p:attrNameLst>
                                          <p:attrName>fill.type</p:attrName>
                                        </p:attrNameLst>
                                      </p:cBhvr>
                                      <p:to>
                                        <p:strVal val="solid"/>
                                      </p:to>
                                    </p:set>
                                  </p:childTnLst>
                                </p:cTn>
                              </p:par>
                              <p:par>
                                <p:cTn id="85" presetID="25" presetClass="emph" presetSubtype="0" fill="hold" grpId="0" nodeType="withEffect">
                                  <p:stCondLst>
                                    <p:cond delay="1000"/>
                                  </p:stCondLst>
                                  <p:childTnLst>
                                    <p:animClr clrSpc="hsl" dir="cw">
                                      <p:cBhvr override="childStyle">
                                        <p:cTn id="86" dur="500" fill="hold"/>
                                        <p:tgtEl>
                                          <p:spTgt spid="54"/>
                                        </p:tgtEl>
                                        <p:attrNameLst>
                                          <p:attrName>style.color</p:attrName>
                                        </p:attrNameLst>
                                      </p:cBhvr>
                                      <p:by>
                                        <p:hsl h="0" s="-70588" l="0"/>
                                      </p:by>
                                    </p:animClr>
                                    <p:animClr clrSpc="hsl" dir="cw">
                                      <p:cBhvr>
                                        <p:cTn id="87" dur="500" fill="hold"/>
                                        <p:tgtEl>
                                          <p:spTgt spid="54"/>
                                        </p:tgtEl>
                                        <p:attrNameLst>
                                          <p:attrName>fillcolor</p:attrName>
                                        </p:attrNameLst>
                                      </p:cBhvr>
                                      <p:by>
                                        <p:hsl h="0" s="-70588" l="0"/>
                                      </p:by>
                                    </p:animClr>
                                    <p:animClr clrSpc="hsl" dir="cw">
                                      <p:cBhvr>
                                        <p:cTn id="88" dur="500" fill="hold"/>
                                        <p:tgtEl>
                                          <p:spTgt spid="54"/>
                                        </p:tgtEl>
                                        <p:attrNameLst>
                                          <p:attrName>stroke.color</p:attrName>
                                        </p:attrNameLst>
                                      </p:cBhvr>
                                      <p:by>
                                        <p:hsl h="0" s="-70588" l="0"/>
                                      </p:by>
                                    </p:animClr>
                                    <p:set>
                                      <p:cBhvr>
                                        <p:cTn id="89" dur="500" fill="hold"/>
                                        <p:tgtEl>
                                          <p:spTgt spid="54"/>
                                        </p:tgtEl>
                                        <p:attrNameLst>
                                          <p:attrName>fill.type</p:attrName>
                                        </p:attrNameLst>
                                      </p:cBhvr>
                                      <p:to>
                                        <p:strVal val="solid"/>
                                      </p:to>
                                    </p:set>
                                  </p:childTnLst>
                                </p:cTn>
                              </p:par>
                              <p:par>
                                <p:cTn id="90" presetID="25" presetClass="emph" presetSubtype="0" fill="hold" grpId="0" nodeType="withEffect">
                                  <p:stCondLst>
                                    <p:cond delay="1000"/>
                                  </p:stCondLst>
                                  <p:childTnLst>
                                    <p:animClr clrSpc="hsl" dir="cw">
                                      <p:cBhvr override="childStyle">
                                        <p:cTn id="91" dur="500" fill="hold"/>
                                        <p:tgtEl>
                                          <p:spTgt spid="25"/>
                                        </p:tgtEl>
                                        <p:attrNameLst>
                                          <p:attrName>style.color</p:attrName>
                                        </p:attrNameLst>
                                      </p:cBhvr>
                                      <p:by>
                                        <p:hsl h="0" s="-70588" l="0"/>
                                      </p:by>
                                    </p:animClr>
                                    <p:animClr clrSpc="hsl" dir="cw">
                                      <p:cBhvr>
                                        <p:cTn id="92" dur="500" fill="hold"/>
                                        <p:tgtEl>
                                          <p:spTgt spid="25"/>
                                        </p:tgtEl>
                                        <p:attrNameLst>
                                          <p:attrName>fillcolor</p:attrName>
                                        </p:attrNameLst>
                                      </p:cBhvr>
                                      <p:by>
                                        <p:hsl h="0" s="-70588" l="0"/>
                                      </p:by>
                                    </p:animClr>
                                    <p:animClr clrSpc="hsl" dir="cw">
                                      <p:cBhvr>
                                        <p:cTn id="93" dur="500" fill="hold"/>
                                        <p:tgtEl>
                                          <p:spTgt spid="25"/>
                                        </p:tgtEl>
                                        <p:attrNameLst>
                                          <p:attrName>stroke.color</p:attrName>
                                        </p:attrNameLst>
                                      </p:cBhvr>
                                      <p:by>
                                        <p:hsl h="0" s="-70588" l="0"/>
                                      </p:by>
                                    </p:animClr>
                                    <p:set>
                                      <p:cBhvr>
                                        <p:cTn id="94" dur="500" fill="hold"/>
                                        <p:tgtEl>
                                          <p:spTgt spid="25"/>
                                        </p:tgtEl>
                                        <p:attrNameLst>
                                          <p:attrName>fill.type</p:attrName>
                                        </p:attrNameLst>
                                      </p:cBhvr>
                                      <p:to>
                                        <p:strVal val="solid"/>
                                      </p:to>
                                    </p:set>
                                  </p:childTnLst>
                                </p:cTn>
                              </p:par>
                              <p:par>
                                <p:cTn id="95" presetID="10" presetClass="entr" presetSubtype="0" fill="hold" grpId="0" nodeType="withEffect">
                                  <p:stCondLst>
                                    <p:cond delay="1000"/>
                                  </p:stCondLst>
                                  <p:childTnLst>
                                    <p:set>
                                      <p:cBhvr>
                                        <p:cTn id="96" dur="1" fill="hold">
                                          <p:stCondLst>
                                            <p:cond delay="0"/>
                                          </p:stCondLst>
                                        </p:cTn>
                                        <p:tgtEl>
                                          <p:spTgt spid="22"/>
                                        </p:tgtEl>
                                        <p:attrNameLst>
                                          <p:attrName>style.visibility</p:attrName>
                                        </p:attrNameLst>
                                      </p:cBhvr>
                                      <p:to>
                                        <p:strVal val="visible"/>
                                      </p:to>
                                    </p:set>
                                    <p:animEffect transition="in" filter="fade">
                                      <p:cBhvr>
                                        <p:cTn id="97" dur="500"/>
                                        <p:tgtEl>
                                          <p:spTgt spid="22"/>
                                        </p:tgtEl>
                                      </p:cBhvr>
                                    </p:animEffect>
                                  </p:childTnLst>
                                </p:cTn>
                              </p:par>
                              <p:par>
                                <p:cTn id="98" presetID="10" presetClass="entr" presetSubtype="0" fill="hold" grpId="0" nodeType="withEffect">
                                  <p:stCondLst>
                                    <p:cond delay="1000"/>
                                  </p:stCondLst>
                                  <p:childTnLst>
                                    <p:set>
                                      <p:cBhvr>
                                        <p:cTn id="99" dur="1" fill="hold">
                                          <p:stCondLst>
                                            <p:cond delay="0"/>
                                          </p:stCondLst>
                                        </p:cTn>
                                        <p:tgtEl>
                                          <p:spTgt spid="23"/>
                                        </p:tgtEl>
                                        <p:attrNameLst>
                                          <p:attrName>style.visibility</p:attrName>
                                        </p:attrNameLst>
                                      </p:cBhvr>
                                      <p:to>
                                        <p:strVal val="visible"/>
                                      </p:to>
                                    </p:set>
                                    <p:animEffect transition="in" filter="fade">
                                      <p:cBhvr>
                                        <p:cTn id="100" dur="500"/>
                                        <p:tgtEl>
                                          <p:spTgt spid="23"/>
                                        </p:tgtEl>
                                      </p:cBhvr>
                                    </p:animEffect>
                                  </p:childTnLst>
                                </p:cTn>
                              </p:par>
                              <p:par>
                                <p:cTn id="101" presetID="10" presetClass="entr" presetSubtype="0" fill="hold" grpId="0" nodeType="withEffect">
                                  <p:stCondLst>
                                    <p:cond delay="1000"/>
                                  </p:stCondLst>
                                  <p:childTnLst>
                                    <p:set>
                                      <p:cBhvr>
                                        <p:cTn id="102" dur="1" fill="hold">
                                          <p:stCondLst>
                                            <p:cond delay="0"/>
                                          </p:stCondLst>
                                        </p:cTn>
                                        <p:tgtEl>
                                          <p:spTgt spid="29"/>
                                        </p:tgtEl>
                                        <p:attrNameLst>
                                          <p:attrName>style.visibility</p:attrName>
                                        </p:attrNameLst>
                                      </p:cBhvr>
                                      <p:to>
                                        <p:strVal val="visible"/>
                                      </p:to>
                                    </p:set>
                                    <p:animEffect transition="in" filter="fade">
                                      <p:cBhvr>
                                        <p:cTn id="103" dur="500"/>
                                        <p:tgtEl>
                                          <p:spTgt spid="29"/>
                                        </p:tgtEl>
                                      </p:cBhvr>
                                    </p:animEffect>
                                  </p:childTnLst>
                                </p:cTn>
                              </p:par>
                              <p:par>
                                <p:cTn id="104" presetID="10" presetClass="entr" presetSubtype="0" fill="hold" grpId="0" nodeType="withEffect">
                                  <p:stCondLst>
                                    <p:cond delay="1000"/>
                                  </p:stCondLst>
                                  <p:childTnLst>
                                    <p:set>
                                      <p:cBhvr>
                                        <p:cTn id="105" dur="1" fill="hold">
                                          <p:stCondLst>
                                            <p:cond delay="0"/>
                                          </p:stCondLst>
                                        </p:cTn>
                                        <p:tgtEl>
                                          <p:spTgt spid="32"/>
                                        </p:tgtEl>
                                        <p:attrNameLst>
                                          <p:attrName>style.visibility</p:attrName>
                                        </p:attrNameLst>
                                      </p:cBhvr>
                                      <p:to>
                                        <p:strVal val="visible"/>
                                      </p:to>
                                    </p:set>
                                    <p:animEffect transition="in" filter="fade">
                                      <p:cBhvr>
                                        <p:cTn id="106" dur="500"/>
                                        <p:tgtEl>
                                          <p:spTgt spid="32"/>
                                        </p:tgtEl>
                                      </p:cBhvr>
                                    </p:animEffect>
                                  </p:childTnLst>
                                </p:cTn>
                              </p:par>
                            </p:childTnLst>
                          </p:cTn>
                        </p:par>
                      </p:childTnLst>
                    </p:cTn>
                  </p:par>
                  <p:par>
                    <p:cTn id="107" fill="hold">
                      <p:stCondLst>
                        <p:cond delay="indefinite"/>
                      </p:stCondLst>
                      <p:childTnLst>
                        <p:par>
                          <p:cTn id="108" fill="hold">
                            <p:stCondLst>
                              <p:cond delay="0"/>
                            </p:stCondLst>
                            <p:childTnLst>
                              <p:par>
                                <p:cTn id="109" presetID="1" presetClass="mediacall" presetSubtype="0" fill="hold" nodeType="clickEffect">
                                  <p:stCondLst>
                                    <p:cond delay="0"/>
                                  </p:stCondLst>
                                  <p:childTnLst>
                                    <p:cmd type="call" cmd="playFrom(0.0)">
                                      <p:cBhvr>
                                        <p:cTn id="110" dur="40060"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111" fill="hold" display="0">
                  <p:stCondLst>
                    <p:cond delay="indefinite"/>
                  </p:stCondLst>
                  <p:endCondLst>
                    <p:cond evt="onStopAudio" delay="0">
                      <p:tgtEl>
                        <p:sldTgt/>
                      </p:tgtEl>
                    </p:cond>
                  </p:endCondLst>
                </p:cTn>
                <p:tgtEl>
                  <p:spTgt spid="7"/>
                </p:tgtEl>
              </p:cMediaNode>
            </p:audio>
          </p:childTnLst>
        </p:cTn>
      </p:par>
    </p:tnLst>
    <p:bldLst>
      <p:bldP spid="24" grpId="0"/>
      <p:bldP spid="54" grpId="0"/>
      <p:bldP spid="78" grpId="0"/>
      <p:bldP spid="3" grpId="0"/>
      <p:bldP spid="6" grpId="0"/>
      <p:bldP spid="58" grpId="0" animBg="1"/>
      <p:bldP spid="49" grpId="0" animBg="1"/>
      <p:bldP spid="73" grpId="0" animBg="1"/>
      <p:bldP spid="74" grpId="0" animBg="1"/>
      <p:bldP spid="21" grpId="0" animBg="1"/>
      <p:bldP spid="88" grpId="0" animBg="1"/>
      <p:bldP spid="25" grpId="0"/>
      <p:bldP spid="22" grpId="0" animBg="1"/>
      <p:bldP spid="23" grpId="0"/>
      <p:bldP spid="29" grpId="0" animBg="1"/>
      <p:bldP spid="32"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1F66E-A516-DF81-058B-5AD17F1ABE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E9358E-25B7-C5BF-30BA-9FC6118161D9}"/>
              </a:ext>
            </a:extLst>
          </p:cNvPr>
          <p:cNvSpPr>
            <a:spLocks noGrp="1"/>
          </p:cNvSpPr>
          <p:nvPr>
            <p:ph type="title"/>
          </p:nvPr>
        </p:nvSpPr>
        <p:spPr/>
        <p:txBody>
          <a:bodyPr/>
          <a:lstStyle/>
          <a:p>
            <a:r>
              <a:rPr lang="en-US" sz="3200" dirty="0"/>
              <a:t>Without Meanings: </a:t>
            </a:r>
            <a:br>
              <a:rPr lang="en-US" sz="3200" dirty="0"/>
            </a:br>
            <a:r>
              <a:rPr lang="en-US" sz="3200" dirty="0"/>
              <a:t>Labels are not Enough</a:t>
            </a:r>
            <a:endParaRPr lang="en-NL" sz="3200" dirty="0"/>
          </a:p>
        </p:txBody>
      </p:sp>
      <p:sp>
        <p:nvSpPr>
          <p:cNvPr id="4" name="Slide Number Placeholder 3">
            <a:extLst>
              <a:ext uri="{FF2B5EF4-FFF2-40B4-BE49-F238E27FC236}">
                <a16:creationId xmlns:a16="http://schemas.microsoft.com/office/drawing/2014/main" id="{DF29D30A-1B85-F9E1-1516-3D0F245F65C6}"/>
              </a:ext>
            </a:extLst>
          </p:cNvPr>
          <p:cNvSpPr>
            <a:spLocks noGrp="1"/>
          </p:cNvSpPr>
          <p:nvPr>
            <p:ph type="sldNum" sz="quarter" idx="12"/>
          </p:nvPr>
        </p:nvSpPr>
        <p:spPr/>
        <p:txBody>
          <a:bodyPr/>
          <a:lstStyle/>
          <a:p>
            <a:fld id="{4FAB73BC-B049-4115-A692-8D63A059BFB8}" type="slidenum">
              <a:rPr lang="en-US" smtClean="0"/>
              <a:pPr/>
              <a:t>25</a:t>
            </a:fld>
            <a:endParaRPr lang="en-US" dirty="0"/>
          </a:p>
        </p:txBody>
      </p:sp>
      <p:cxnSp>
        <p:nvCxnSpPr>
          <p:cNvPr id="25" name="Straight Connector 24">
            <a:extLst>
              <a:ext uri="{FF2B5EF4-FFF2-40B4-BE49-F238E27FC236}">
                <a16:creationId xmlns:a16="http://schemas.microsoft.com/office/drawing/2014/main" id="{B4E6E1E6-07F0-3DF0-7ECB-3A7BDB732181}"/>
              </a:ext>
            </a:extLst>
          </p:cNvPr>
          <p:cNvCxnSpPr>
            <a:cxnSpLocks/>
          </p:cNvCxnSpPr>
          <p:nvPr/>
        </p:nvCxnSpPr>
        <p:spPr>
          <a:xfrm>
            <a:off x="2440086" y="2514600"/>
            <a:ext cx="0" cy="2159000"/>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sp>
        <p:nvSpPr>
          <p:cNvPr id="30" name="Parallelogram 29">
            <a:extLst>
              <a:ext uri="{FF2B5EF4-FFF2-40B4-BE49-F238E27FC236}">
                <a16:creationId xmlns:a16="http://schemas.microsoft.com/office/drawing/2014/main" id="{A2C4318A-87D4-E17E-F66D-9856FED607DC}"/>
              </a:ext>
            </a:extLst>
          </p:cNvPr>
          <p:cNvSpPr/>
          <p:nvPr/>
        </p:nvSpPr>
        <p:spPr>
          <a:xfrm>
            <a:off x="982761" y="3153944"/>
            <a:ext cx="10229850" cy="1276350"/>
          </a:xfrm>
          <a:prstGeom prst="parallelogram">
            <a:avLst>
              <a:gd name="adj" fmla="val 113806"/>
            </a:avLst>
          </a:prstGeom>
          <a:solidFill>
            <a:srgbClr val="FFE4D9"/>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solidFill>
                <a:srgbClr val="FFE4D9"/>
              </a:solidFill>
            </a:endParaRPr>
          </a:p>
        </p:txBody>
      </p:sp>
      <p:sp>
        <p:nvSpPr>
          <p:cNvPr id="31" name="TextBox 30">
            <a:extLst>
              <a:ext uri="{FF2B5EF4-FFF2-40B4-BE49-F238E27FC236}">
                <a16:creationId xmlns:a16="http://schemas.microsoft.com/office/drawing/2014/main" id="{9F22F54D-4B05-7525-A83B-3AB48DF5D7EA}"/>
              </a:ext>
            </a:extLst>
          </p:cNvPr>
          <p:cNvSpPr txBox="1"/>
          <p:nvPr/>
        </p:nvSpPr>
        <p:spPr>
          <a:xfrm>
            <a:off x="1218930" y="4122517"/>
            <a:ext cx="1693092"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33" name="Parallelogram 32">
            <a:extLst>
              <a:ext uri="{FF2B5EF4-FFF2-40B4-BE49-F238E27FC236}">
                <a16:creationId xmlns:a16="http://schemas.microsoft.com/office/drawing/2014/main" id="{624153CC-F49B-8D54-32D2-EA2408EA62E8}"/>
              </a:ext>
            </a:extLst>
          </p:cNvPr>
          <p:cNvSpPr/>
          <p:nvPr/>
        </p:nvSpPr>
        <p:spPr>
          <a:xfrm>
            <a:off x="982761" y="4673600"/>
            <a:ext cx="10229850" cy="1276350"/>
          </a:xfrm>
          <a:prstGeom prst="parallelogram">
            <a:avLst>
              <a:gd name="adj" fmla="val 113806"/>
            </a:avLst>
          </a:prstGeom>
          <a:solidFill>
            <a:schemeClr val="accent4">
              <a:lumMod val="20000"/>
              <a:lumOff val="8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4" name="TextBox 33">
            <a:extLst>
              <a:ext uri="{FF2B5EF4-FFF2-40B4-BE49-F238E27FC236}">
                <a16:creationId xmlns:a16="http://schemas.microsoft.com/office/drawing/2014/main" id="{A61BCB5C-823E-BC33-2561-BD894B78133A}"/>
              </a:ext>
            </a:extLst>
          </p:cNvPr>
          <p:cNvSpPr txBox="1"/>
          <p:nvPr/>
        </p:nvSpPr>
        <p:spPr>
          <a:xfrm>
            <a:off x="1258204" y="5642173"/>
            <a:ext cx="1529586"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4"/>
                </a:solidFill>
              </a:rPr>
              <a:t>Dataset Columns</a:t>
            </a:r>
            <a:endParaRPr lang="en-NL" sz="1400" dirty="0">
              <a:solidFill>
                <a:schemeClr val="accent4"/>
              </a:solidFill>
            </a:endParaRPr>
          </a:p>
        </p:txBody>
      </p:sp>
      <p:cxnSp>
        <p:nvCxnSpPr>
          <p:cNvPr id="36" name="Straight Connector 35">
            <a:extLst>
              <a:ext uri="{FF2B5EF4-FFF2-40B4-BE49-F238E27FC236}">
                <a16:creationId xmlns:a16="http://schemas.microsoft.com/office/drawing/2014/main" id="{CD2F71F9-C6E7-65BC-3477-A03EB813E17C}"/>
              </a:ext>
            </a:extLst>
          </p:cNvPr>
          <p:cNvCxnSpPr>
            <a:cxnSpLocks/>
          </p:cNvCxnSpPr>
          <p:nvPr/>
        </p:nvCxnSpPr>
        <p:spPr>
          <a:xfrm>
            <a:off x="983453" y="2245519"/>
            <a:ext cx="0" cy="3704431"/>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4634A108-3A7F-546B-C17D-0D7849A3E74F}"/>
              </a:ext>
            </a:extLst>
          </p:cNvPr>
          <p:cNvCxnSpPr>
            <a:cxnSpLocks/>
          </p:cNvCxnSpPr>
          <p:nvPr/>
        </p:nvCxnSpPr>
        <p:spPr>
          <a:xfrm>
            <a:off x="11204086" y="2272464"/>
            <a:ext cx="0" cy="24011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41DDFB9B-6238-3873-D9A7-86AAF4932727}"/>
              </a:ext>
            </a:extLst>
          </p:cNvPr>
          <p:cNvCxnSpPr>
            <a:cxnSpLocks/>
          </p:cNvCxnSpPr>
          <p:nvPr/>
        </p:nvCxnSpPr>
        <p:spPr>
          <a:xfrm>
            <a:off x="9762478" y="2438400"/>
            <a:ext cx="0" cy="3511550"/>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E6D947CB-44CE-1CBC-65DC-811575CEDEA9}"/>
              </a:ext>
            </a:extLst>
          </p:cNvPr>
          <p:cNvCxnSpPr>
            <a:cxnSpLocks/>
            <a:stCxn id="35" idx="7"/>
            <a:endCxn id="56" idx="3"/>
          </p:cNvCxnSpPr>
          <p:nvPr/>
        </p:nvCxnSpPr>
        <p:spPr>
          <a:xfrm flipV="1">
            <a:off x="3545914" y="3936925"/>
            <a:ext cx="876112" cy="877837"/>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6126C3C2-103D-0C18-AD45-4E75B5FBC798}"/>
              </a:ext>
            </a:extLst>
          </p:cNvPr>
          <p:cNvCxnSpPr>
            <a:cxnSpLocks/>
            <a:endCxn id="56" idx="4"/>
          </p:cNvCxnSpPr>
          <p:nvPr/>
        </p:nvCxnSpPr>
        <p:spPr>
          <a:xfrm flipH="1" flipV="1">
            <a:off x="4566833" y="3996906"/>
            <a:ext cx="383508" cy="1541880"/>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sp>
        <p:nvSpPr>
          <p:cNvPr id="23" name="Cloud 22">
            <a:extLst>
              <a:ext uri="{FF2B5EF4-FFF2-40B4-BE49-F238E27FC236}">
                <a16:creationId xmlns:a16="http://schemas.microsoft.com/office/drawing/2014/main" id="{3F4F59C0-01B1-BDB6-EE76-1DCC4A30B295}"/>
              </a:ext>
            </a:extLst>
          </p:cNvPr>
          <p:cNvSpPr/>
          <p:nvPr/>
        </p:nvSpPr>
        <p:spPr>
          <a:xfrm>
            <a:off x="982761" y="1899659"/>
            <a:ext cx="10229850" cy="719659"/>
          </a:xfrm>
          <a:prstGeom prst="cloud">
            <a:avLst/>
          </a:prstGeom>
          <a:solidFill>
            <a:schemeClr val="accent1">
              <a:lumMod val="20000"/>
              <a:lumOff val="80000"/>
              <a:alpha val="50000"/>
            </a:schemeClr>
          </a:solidFill>
          <a:ln>
            <a:solidFill>
              <a:schemeClr val="accent1">
                <a:lumMod val="20000"/>
                <a:lumOff val="80000"/>
                <a:alpha val="9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61" name="Straight Arrow Connector 60">
            <a:extLst>
              <a:ext uri="{FF2B5EF4-FFF2-40B4-BE49-F238E27FC236}">
                <a16:creationId xmlns:a16="http://schemas.microsoft.com/office/drawing/2014/main" id="{1F4FE5E6-F4EA-8AE7-E1D4-059015287869}"/>
              </a:ext>
            </a:extLst>
          </p:cNvPr>
          <p:cNvCxnSpPr>
            <a:cxnSpLocks/>
            <a:endCxn id="58" idx="4"/>
          </p:cNvCxnSpPr>
          <p:nvPr/>
        </p:nvCxnSpPr>
        <p:spPr>
          <a:xfrm flipH="1" flipV="1">
            <a:off x="6017115" y="3677819"/>
            <a:ext cx="495205" cy="1317092"/>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sp>
        <p:nvSpPr>
          <p:cNvPr id="8" name="Oval 7">
            <a:extLst>
              <a:ext uri="{FF2B5EF4-FFF2-40B4-BE49-F238E27FC236}">
                <a16:creationId xmlns:a16="http://schemas.microsoft.com/office/drawing/2014/main" id="{445DBECF-C30D-821A-7158-AE37D25C89B0}"/>
              </a:ext>
            </a:extLst>
          </p:cNvPr>
          <p:cNvSpPr/>
          <p:nvPr/>
        </p:nvSpPr>
        <p:spPr>
          <a:xfrm>
            <a:off x="4357605" y="2066869"/>
            <a:ext cx="409575" cy="409575"/>
          </a:xfrm>
          <a:prstGeom prst="ellipse">
            <a:avLst/>
          </a:prstGeom>
          <a:solidFill>
            <a:schemeClr val="accent1">
              <a:lumMod val="40000"/>
              <a:lumOff val="60000"/>
            </a:schemeClr>
          </a:solidFill>
          <a:ln>
            <a:prstDash val="sysDash"/>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700" dirty="0"/>
              <a:t>M1</a:t>
            </a:r>
            <a:endParaRPr lang="en-NL" sz="1700" dirty="0"/>
          </a:p>
        </p:txBody>
      </p:sp>
      <p:cxnSp>
        <p:nvCxnSpPr>
          <p:cNvPr id="10" name="Straight Arrow Connector 9">
            <a:extLst>
              <a:ext uri="{FF2B5EF4-FFF2-40B4-BE49-F238E27FC236}">
                <a16:creationId xmlns:a16="http://schemas.microsoft.com/office/drawing/2014/main" id="{BCF21163-5A87-F00E-46C0-82F92355E524}"/>
              </a:ext>
            </a:extLst>
          </p:cNvPr>
          <p:cNvCxnSpPr>
            <a:cxnSpLocks/>
            <a:stCxn id="56" idx="0"/>
            <a:endCxn id="8" idx="4"/>
          </p:cNvCxnSpPr>
          <p:nvPr/>
        </p:nvCxnSpPr>
        <p:spPr>
          <a:xfrm flipH="1" flipV="1">
            <a:off x="4562393" y="2476444"/>
            <a:ext cx="4440" cy="1110887"/>
          </a:xfrm>
          <a:prstGeom prst="straightConnector1">
            <a:avLst/>
          </a:prstGeom>
          <a:ln w="38100">
            <a:solidFill>
              <a:schemeClr val="tx1">
                <a:lumMod val="50000"/>
                <a:lumOff val="50000"/>
              </a:schemeClr>
            </a:solidFill>
            <a:prstDash val="sysDot"/>
            <a:tailEnd type="triangle" w="lg" len="med"/>
          </a:ln>
        </p:spPr>
        <p:style>
          <a:lnRef idx="1">
            <a:schemeClr val="accent1"/>
          </a:lnRef>
          <a:fillRef idx="0">
            <a:schemeClr val="accent1"/>
          </a:fillRef>
          <a:effectRef idx="0">
            <a:schemeClr val="accent1"/>
          </a:effectRef>
          <a:fontRef idx="minor">
            <a:schemeClr val="tx1"/>
          </a:fontRef>
        </p:style>
      </p:cxnSp>
      <p:sp>
        <p:nvSpPr>
          <p:cNvPr id="56" name="Oval 55">
            <a:extLst>
              <a:ext uri="{FF2B5EF4-FFF2-40B4-BE49-F238E27FC236}">
                <a16:creationId xmlns:a16="http://schemas.microsoft.com/office/drawing/2014/main" id="{644B546B-E629-D609-92DE-AEB797A21266}"/>
              </a:ext>
            </a:extLst>
          </p:cNvPr>
          <p:cNvSpPr/>
          <p:nvPr/>
        </p:nvSpPr>
        <p:spPr>
          <a:xfrm>
            <a:off x="4362045" y="3587331"/>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C1</a:t>
            </a:r>
            <a:endParaRPr lang="en-NL" dirty="0"/>
          </a:p>
        </p:txBody>
      </p:sp>
      <p:sp>
        <p:nvSpPr>
          <p:cNvPr id="58" name="Oval 57">
            <a:extLst>
              <a:ext uri="{FF2B5EF4-FFF2-40B4-BE49-F238E27FC236}">
                <a16:creationId xmlns:a16="http://schemas.microsoft.com/office/drawing/2014/main" id="{D54BB2B9-B5F0-0C06-9895-9F6D2A8D34C8}"/>
              </a:ext>
            </a:extLst>
          </p:cNvPr>
          <p:cNvSpPr/>
          <p:nvPr/>
        </p:nvSpPr>
        <p:spPr>
          <a:xfrm>
            <a:off x="5812327" y="326824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C2</a:t>
            </a:r>
            <a:endParaRPr lang="en-NL" dirty="0"/>
          </a:p>
        </p:txBody>
      </p:sp>
      <p:cxnSp>
        <p:nvCxnSpPr>
          <p:cNvPr id="40" name="Straight Arrow Connector 39">
            <a:extLst>
              <a:ext uri="{FF2B5EF4-FFF2-40B4-BE49-F238E27FC236}">
                <a16:creationId xmlns:a16="http://schemas.microsoft.com/office/drawing/2014/main" id="{BAF1BF77-C72C-2015-47C4-6D749D87EF41}"/>
              </a:ext>
            </a:extLst>
          </p:cNvPr>
          <p:cNvCxnSpPr>
            <a:cxnSpLocks/>
            <a:stCxn id="35" idx="6"/>
            <a:endCxn id="41" idx="2"/>
          </p:cNvCxnSpPr>
          <p:nvPr/>
        </p:nvCxnSpPr>
        <p:spPr>
          <a:xfrm>
            <a:off x="3605895" y="4959569"/>
            <a:ext cx="2723263" cy="0"/>
          </a:xfrm>
          <a:prstGeom prst="straightConnector1">
            <a:avLst/>
          </a:prstGeom>
          <a:ln w="38100" cap="rnd">
            <a:solidFill>
              <a:schemeClr val="accent2"/>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38832EF2-43C6-2382-76C0-19B63E25632D}"/>
              </a:ext>
            </a:extLst>
          </p:cNvPr>
          <p:cNvSpPr txBox="1"/>
          <p:nvPr/>
        </p:nvSpPr>
        <p:spPr>
          <a:xfrm>
            <a:off x="1258204" y="2101155"/>
            <a:ext cx="954107"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1"/>
                </a:solidFill>
              </a:rPr>
              <a:t>Meanings</a:t>
            </a:r>
            <a:endParaRPr lang="en-NL" sz="1400" dirty="0">
              <a:solidFill>
                <a:schemeClr val="accent1"/>
              </a:solidFill>
            </a:endParaRPr>
          </a:p>
        </p:txBody>
      </p:sp>
      <p:cxnSp>
        <p:nvCxnSpPr>
          <p:cNvPr id="17" name="Straight Arrow Connector 16">
            <a:extLst>
              <a:ext uri="{FF2B5EF4-FFF2-40B4-BE49-F238E27FC236}">
                <a16:creationId xmlns:a16="http://schemas.microsoft.com/office/drawing/2014/main" id="{B933D623-0A35-553E-83D2-5304B52874FB}"/>
              </a:ext>
            </a:extLst>
          </p:cNvPr>
          <p:cNvCxnSpPr>
            <a:cxnSpLocks/>
            <a:endCxn id="19" idx="4"/>
          </p:cNvCxnSpPr>
          <p:nvPr/>
        </p:nvCxnSpPr>
        <p:spPr>
          <a:xfrm flipH="1" flipV="1">
            <a:off x="7467397" y="4315994"/>
            <a:ext cx="632967" cy="1222792"/>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95C3E63C-9AF1-8FC2-BFD2-6A6D53C8AB9C}"/>
              </a:ext>
            </a:extLst>
          </p:cNvPr>
          <p:cNvSpPr/>
          <p:nvPr/>
        </p:nvSpPr>
        <p:spPr>
          <a:xfrm>
            <a:off x="7262609" y="3906419"/>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C3</a:t>
            </a:r>
            <a:endParaRPr lang="en-NL" dirty="0"/>
          </a:p>
        </p:txBody>
      </p:sp>
      <p:sp>
        <p:nvSpPr>
          <p:cNvPr id="44" name="Rectangle: Rounded Corners 43">
            <a:extLst>
              <a:ext uri="{FF2B5EF4-FFF2-40B4-BE49-F238E27FC236}">
                <a16:creationId xmlns:a16="http://schemas.microsoft.com/office/drawing/2014/main" id="{0A301AF3-4086-B67E-F8D0-A1CAD5D328D8}"/>
              </a:ext>
            </a:extLst>
          </p:cNvPr>
          <p:cNvSpPr/>
          <p:nvPr/>
        </p:nvSpPr>
        <p:spPr>
          <a:xfrm>
            <a:off x="6913015" y="1628775"/>
            <a:ext cx="4583660" cy="852489"/>
          </a:xfrm>
          <a:prstGeom prst="roundRect">
            <a:avLst>
              <a:gd name="adj" fmla="val 327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b="1" dirty="0"/>
              <a:t>Amir: </a:t>
            </a:r>
            <a:r>
              <a:rPr lang="en-US" i="1" dirty="0"/>
              <a:t>“Which of these datasets contains the variable that represents biological sex?”</a:t>
            </a:r>
            <a:endParaRPr lang="en-NL" dirty="0">
              <a:effectLst/>
            </a:endParaRPr>
          </a:p>
        </p:txBody>
      </p:sp>
      <p:cxnSp>
        <p:nvCxnSpPr>
          <p:cNvPr id="45" name="Straight Arrow Connector 44">
            <a:extLst>
              <a:ext uri="{FF2B5EF4-FFF2-40B4-BE49-F238E27FC236}">
                <a16:creationId xmlns:a16="http://schemas.microsoft.com/office/drawing/2014/main" id="{0C4E2A07-5A9A-8CE0-54FD-03158014F20F}"/>
              </a:ext>
            </a:extLst>
          </p:cNvPr>
          <p:cNvCxnSpPr>
            <a:cxnSpLocks/>
          </p:cNvCxnSpPr>
          <p:nvPr/>
        </p:nvCxnSpPr>
        <p:spPr>
          <a:xfrm flipH="1" flipV="1">
            <a:off x="4707199" y="2416463"/>
            <a:ext cx="1165109" cy="911762"/>
          </a:xfrm>
          <a:prstGeom prst="straightConnector1">
            <a:avLst/>
          </a:prstGeom>
          <a:ln w="38100">
            <a:solidFill>
              <a:schemeClr val="tx1">
                <a:lumMod val="50000"/>
                <a:lumOff val="50000"/>
              </a:schemeClr>
            </a:solidFill>
            <a:prstDash val="sysDot"/>
            <a:tailEnd type="triangle" w="lg" len="med"/>
          </a:ln>
        </p:spPr>
        <p:style>
          <a:lnRef idx="1">
            <a:schemeClr val="accent1"/>
          </a:lnRef>
          <a:fillRef idx="0">
            <a:schemeClr val="accent1"/>
          </a:fillRef>
          <a:effectRef idx="0">
            <a:schemeClr val="accent1"/>
          </a:effectRef>
          <a:fontRef idx="minor">
            <a:schemeClr val="tx1"/>
          </a:fontRef>
        </p:style>
      </p:cxnSp>
      <p:grpSp>
        <p:nvGrpSpPr>
          <p:cNvPr id="80" name="Group 79">
            <a:extLst>
              <a:ext uri="{FF2B5EF4-FFF2-40B4-BE49-F238E27FC236}">
                <a16:creationId xmlns:a16="http://schemas.microsoft.com/office/drawing/2014/main" id="{FC7C4EAF-E8CD-DD62-36C6-8F78B6AE8DE5}"/>
              </a:ext>
            </a:extLst>
          </p:cNvPr>
          <p:cNvGrpSpPr/>
          <p:nvPr/>
        </p:nvGrpSpPr>
        <p:grpSpPr>
          <a:xfrm>
            <a:off x="3196320" y="4754781"/>
            <a:ext cx="3542413" cy="409575"/>
            <a:chOff x="3196320" y="4783356"/>
            <a:chExt cx="3542413" cy="409575"/>
          </a:xfrm>
        </p:grpSpPr>
        <p:sp>
          <p:nvSpPr>
            <p:cNvPr id="35" name="Oval 34">
              <a:extLst>
                <a:ext uri="{FF2B5EF4-FFF2-40B4-BE49-F238E27FC236}">
                  <a16:creationId xmlns:a16="http://schemas.microsoft.com/office/drawing/2014/main" id="{323116AF-D010-673D-147D-D221064CE9EF}"/>
                </a:ext>
              </a:extLst>
            </p:cNvPr>
            <p:cNvSpPr/>
            <p:nvPr/>
          </p:nvSpPr>
          <p:spPr>
            <a:xfrm>
              <a:off x="3196320" y="4783356"/>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D1</a:t>
              </a:r>
              <a:endParaRPr lang="en-NL" dirty="0"/>
            </a:p>
          </p:txBody>
        </p:sp>
        <p:sp>
          <p:nvSpPr>
            <p:cNvPr id="41" name="Oval 40">
              <a:extLst>
                <a:ext uri="{FF2B5EF4-FFF2-40B4-BE49-F238E27FC236}">
                  <a16:creationId xmlns:a16="http://schemas.microsoft.com/office/drawing/2014/main" id="{BA33A939-ECD7-4F60-594E-30BF81C15CDF}"/>
                </a:ext>
              </a:extLst>
            </p:cNvPr>
            <p:cNvSpPr/>
            <p:nvPr/>
          </p:nvSpPr>
          <p:spPr>
            <a:xfrm>
              <a:off x="6329158" y="4783356"/>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D2</a:t>
              </a:r>
              <a:endParaRPr lang="en-NL" dirty="0"/>
            </a:p>
          </p:txBody>
        </p:sp>
      </p:grpSp>
      <p:sp>
        <p:nvSpPr>
          <p:cNvPr id="52" name="Oval 51">
            <a:extLst>
              <a:ext uri="{FF2B5EF4-FFF2-40B4-BE49-F238E27FC236}">
                <a16:creationId xmlns:a16="http://schemas.microsoft.com/office/drawing/2014/main" id="{8F07F9B0-1F47-09DB-5724-A95EB9401AB3}"/>
              </a:ext>
            </a:extLst>
          </p:cNvPr>
          <p:cNvSpPr/>
          <p:nvPr/>
        </p:nvSpPr>
        <p:spPr>
          <a:xfrm>
            <a:off x="4762739" y="5457825"/>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D3</a:t>
            </a:r>
            <a:endParaRPr lang="en-NL" dirty="0"/>
          </a:p>
        </p:txBody>
      </p:sp>
      <p:sp>
        <p:nvSpPr>
          <p:cNvPr id="18" name="Oval 17">
            <a:extLst>
              <a:ext uri="{FF2B5EF4-FFF2-40B4-BE49-F238E27FC236}">
                <a16:creationId xmlns:a16="http://schemas.microsoft.com/office/drawing/2014/main" id="{AF2AD74F-DC9C-E543-83E8-BB1DCD2C59FE}"/>
              </a:ext>
            </a:extLst>
          </p:cNvPr>
          <p:cNvSpPr/>
          <p:nvPr/>
        </p:nvSpPr>
        <p:spPr>
          <a:xfrm>
            <a:off x="7895578" y="5457825"/>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D4</a:t>
            </a:r>
            <a:endParaRPr lang="en-NL" dirty="0"/>
          </a:p>
        </p:txBody>
      </p:sp>
      <p:cxnSp>
        <p:nvCxnSpPr>
          <p:cNvPr id="5" name="Connector: Curved 4">
            <a:extLst>
              <a:ext uri="{FF2B5EF4-FFF2-40B4-BE49-F238E27FC236}">
                <a16:creationId xmlns:a16="http://schemas.microsoft.com/office/drawing/2014/main" id="{5553EA0F-5349-1DF4-687D-2F1D43DBE480}"/>
              </a:ext>
            </a:extLst>
          </p:cNvPr>
          <p:cNvCxnSpPr>
            <a:stCxn id="52" idx="2"/>
            <a:endCxn id="35" idx="4"/>
          </p:cNvCxnSpPr>
          <p:nvPr/>
        </p:nvCxnSpPr>
        <p:spPr>
          <a:xfrm rot="10800000">
            <a:off x="3401109" y="5164357"/>
            <a:ext cx="1361631" cy="498257"/>
          </a:xfrm>
          <a:prstGeom prst="curvedConnector2">
            <a:avLst/>
          </a:prstGeom>
          <a:ln w="38100" cap="rnd">
            <a:solidFill>
              <a:srgbClr val="00B050"/>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E68EBEFD-6BAB-0AFF-214D-1ACFD70E792A}"/>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2</a:t>
            </a:r>
            <a:endParaRPr lang="en-NL" sz="1000" b="1" dirty="0"/>
          </a:p>
        </p:txBody>
      </p:sp>
    </p:spTree>
    <p:extLst>
      <p:ext uri="{BB962C8B-B14F-4D97-AF65-F5344CB8AC3E}">
        <p14:creationId xmlns:p14="http://schemas.microsoft.com/office/powerpoint/2010/main" val="29620885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A2B0EF-2C9E-1E42-4E25-D6F39ACD0F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50E26B-A9C5-EAA1-337D-8E9CE2F4A21D}"/>
              </a:ext>
            </a:extLst>
          </p:cNvPr>
          <p:cNvSpPr>
            <a:spLocks noGrp="1"/>
          </p:cNvSpPr>
          <p:nvPr>
            <p:ph type="title"/>
          </p:nvPr>
        </p:nvSpPr>
        <p:spPr/>
        <p:txBody>
          <a:bodyPr/>
          <a:lstStyle/>
          <a:p>
            <a:r>
              <a:rPr lang="en-US" sz="3200" dirty="0"/>
              <a:t>Without Meanings: </a:t>
            </a:r>
            <a:br>
              <a:rPr lang="en-US" sz="3200" dirty="0"/>
            </a:br>
            <a:r>
              <a:rPr lang="en-US" sz="3200" dirty="0"/>
              <a:t>Interpretation or Unreliable Mappings</a:t>
            </a:r>
            <a:endParaRPr lang="en-NL" sz="3200" dirty="0"/>
          </a:p>
        </p:txBody>
      </p:sp>
      <p:sp>
        <p:nvSpPr>
          <p:cNvPr id="4" name="Slide Number Placeholder 3">
            <a:extLst>
              <a:ext uri="{FF2B5EF4-FFF2-40B4-BE49-F238E27FC236}">
                <a16:creationId xmlns:a16="http://schemas.microsoft.com/office/drawing/2014/main" id="{AD43CB00-B18A-F42B-9648-44105DF0728F}"/>
              </a:ext>
            </a:extLst>
          </p:cNvPr>
          <p:cNvSpPr>
            <a:spLocks noGrp="1"/>
          </p:cNvSpPr>
          <p:nvPr>
            <p:ph type="sldNum" sz="quarter" idx="12"/>
          </p:nvPr>
        </p:nvSpPr>
        <p:spPr/>
        <p:txBody>
          <a:bodyPr/>
          <a:lstStyle/>
          <a:p>
            <a:fld id="{4FAB73BC-B049-4115-A692-8D63A059BFB8}" type="slidenum">
              <a:rPr lang="en-US" smtClean="0"/>
              <a:pPr/>
              <a:t>26</a:t>
            </a:fld>
            <a:endParaRPr lang="en-US" dirty="0"/>
          </a:p>
        </p:txBody>
      </p:sp>
      <p:cxnSp>
        <p:nvCxnSpPr>
          <p:cNvPr id="25" name="Straight Connector 24">
            <a:extLst>
              <a:ext uri="{FF2B5EF4-FFF2-40B4-BE49-F238E27FC236}">
                <a16:creationId xmlns:a16="http://schemas.microsoft.com/office/drawing/2014/main" id="{DD48BA99-4D42-B3D3-E32E-DE3CF2EDA196}"/>
              </a:ext>
            </a:extLst>
          </p:cNvPr>
          <p:cNvCxnSpPr>
            <a:cxnSpLocks/>
          </p:cNvCxnSpPr>
          <p:nvPr/>
        </p:nvCxnSpPr>
        <p:spPr>
          <a:xfrm>
            <a:off x="2440086" y="2514600"/>
            <a:ext cx="0" cy="2159000"/>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sp>
        <p:nvSpPr>
          <p:cNvPr id="30" name="Parallelogram 29">
            <a:extLst>
              <a:ext uri="{FF2B5EF4-FFF2-40B4-BE49-F238E27FC236}">
                <a16:creationId xmlns:a16="http://schemas.microsoft.com/office/drawing/2014/main" id="{F32F4602-4F27-7A7E-FC19-D5B0BD263971}"/>
              </a:ext>
            </a:extLst>
          </p:cNvPr>
          <p:cNvSpPr/>
          <p:nvPr/>
        </p:nvSpPr>
        <p:spPr>
          <a:xfrm>
            <a:off x="982761" y="3153944"/>
            <a:ext cx="10229850" cy="1276350"/>
          </a:xfrm>
          <a:prstGeom prst="parallelogram">
            <a:avLst>
              <a:gd name="adj" fmla="val 113806"/>
            </a:avLst>
          </a:prstGeom>
          <a:solidFill>
            <a:srgbClr val="FFE4D9"/>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solidFill>
                <a:srgbClr val="FFE4D9"/>
              </a:solidFill>
            </a:endParaRPr>
          </a:p>
        </p:txBody>
      </p:sp>
      <p:sp>
        <p:nvSpPr>
          <p:cNvPr id="31" name="TextBox 30">
            <a:extLst>
              <a:ext uri="{FF2B5EF4-FFF2-40B4-BE49-F238E27FC236}">
                <a16:creationId xmlns:a16="http://schemas.microsoft.com/office/drawing/2014/main" id="{91B0B4A4-8050-3370-AA10-EFC12C2D6712}"/>
              </a:ext>
            </a:extLst>
          </p:cNvPr>
          <p:cNvSpPr txBox="1"/>
          <p:nvPr/>
        </p:nvSpPr>
        <p:spPr>
          <a:xfrm>
            <a:off x="1218930" y="4122517"/>
            <a:ext cx="1693092"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33" name="Parallelogram 32">
            <a:extLst>
              <a:ext uri="{FF2B5EF4-FFF2-40B4-BE49-F238E27FC236}">
                <a16:creationId xmlns:a16="http://schemas.microsoft.com/office/drawing/2014/main" id="{179474E7-FE4E-3CC7-8491-56FB6EC9F3C2}"/>
              </a:ext>
            </a:extLst>
          </p:cNvPr>
          <p:cNvSpPr/>
          <p:nvPr/>
        </p:nvSpPr>
        <p:spPr>
          <a:xfrm>
            <a:off x="982761" y="4673600"/>
            <a:ext cx="10229850" cy="1276350"/>
          </a:xfrm>
          <a:prstGeom prst="parallelogram">
            <a:avLst>
              <a:gd name="adj" fmla="val 113806"/>
            </a:avLst>
          </a:prstGeom>
          <a:solidFill>
            <a:schemeClr val="accent4">
              <a:lumMod val="20000"/>
              <a:lumOff val="8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4" name="TextBox 33">
            <a:extLst>
              <a:ext uri="{FF2B5EF4-FFF2-40B4-BE49-F238E27FC236}">
                <a16:creationId xmlns:a16="http://schemas.microsoft.com/office/drawing/2014/main" id="{12DD2983-1116-61AB-72CB-58596CBF4937}"/>
              </a:ext>
            </a:extLst>
          </p:cNvPr>
          <p:cNvSpPr txBox="1"/>
          <p:nvPr/>
        </p:nvSpPr>
        <p:spPr>
          <a:xfrm>
            <a:off x="1258204" y="5642173"/>
            <a:ext cx="1529586"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4"/>
                </a:solidFill>
              </a:rPr>
              <a:t>Dataset Columns</a:t>
            </a:r>
            <a:endParaRPr lang="en-NL" sz="1400" dirty="0">
              <a:solidFill>
                <a:schemeClr val="accent4"/>
              </a:solidFill>
            </a:endParaRPr>
          </a:p>
        </p:txBody>
      </p:sp>
      <p:cxnSp>
        <p:nvCxnSpPr>
          <p:cNvPr id="36" name="Straight Connector 35">
            <a:extLst>
              <a:ext uri="{FF2B5EF4-FFF2-40B4-BE49-F238E27FC236}">
                <a16:creationId xmlns:a16="http://schemas.microsoft.com/office/drawing/2014/main" id="{BE902EEE-37F2-282B-E132-522B59C79DD5}"/>
              </a:ext>
            </a:extLst>
          </p:cNvPr>
          <p:cNvCxnSpPr>
            <a:cxnSpLocks/>
          </p:cNvCxnSpPr>
          <p:nvPr/>
        </p:nvCxnSpPr>
        <p:spPr>
          <a:xfrm>
            <a:off x="983453" y="2245519"/>
            <a:ext cx="0" cy="3704431"/>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C508778C-948C-ED22-3E9F-E342B10474A0}"/>
              </a:ext>
            </a:extLst>
          </p:cNvPr>
          <p:cNvCxnSpPr>
            <a:cxnSpLocks/>
          </p:cNvCxnSpPr>
          <p:nvPr/>
        </p:nvCxnSpPr>
        <p:spPr>
          <a:xfrm>
            <a:off x="11204086" y="2272464"/>
            <a:ext cx="0" cy="24011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9B5FDCDC-8D90-27CC-C2AD-4231C8B7F285}"/>
              </a:ext>
            </a:extLst>
          </p:cNvPr>
          <p:cNvCxnSpPr>
            <a:cxnSpLocks/>
          </p:cNvCxnSpPr>
          <p:nvPr/>
        </p:nvCxnSpPr>
        <p:spPr>
          <a:xfrm>
            <a:off x="9762478" y="2438400"/>
            <a:ext cx="0" cy="3511550"/>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C6A3E7C6-B5AD-7AA9-53A7-1B8268AE4E3F}"/>
              </a:ext>
            </a:extLst>
          </p:cNvPr>
          <p:cNvCxnSpPr>
            <a:cxnSpLocks/>
            <a:stCxn id="35" idx="7"/>
            <a:endCxn id="56" idx="3"/>
          </p:cNvCxnSpPr>
          <p:nvPr/>
        </p:nvCxnSpPr>
        <p:spPr>
          <a:xfrm flipV="1">
            <a:off x="3545914" y="3936925"/>
            <a:ext cx="876112" cy="877837"/>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189B28F6-CB60-47CC-EBF4-2EB9C0FFB018}"/>
              </a:ext>
            </a:extLst>
          </p:cNvPr>
          <p:cNvCxnSpPr>
            <a:cxnSpLocks/>
            <a:endCxn id="56" idx="4"/>
          </p:cNvCxnSpPr>
          <p:nvPr/>
        </p:nvCxnSpPr>
        <p:spPr>
          <a:xfrm flipH="1" flipV="1">
            <a:off x="4566833" y="3996906"/>
            <a:ext cx="383508" cy="1541880"/>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sp>
        <p:nvSpPr>
          <p:cNvPr id="23" name="Cloud 22">
            <a:extLst>
              <a:ext uri="{FF2B5EF4-FFF2-40B4-BE49-F238E27FC236}">
                <a16:creationId xmlns:a16="http://schemas.microsoft.com/office/drawing/2014/main" id="{90CE40C1-17C8-765A-3D6A-79385D354C39}"/>
              </a:ext>
            </a:extLst>
          </p:cNvPr>
          <p:cNvSpPr/>
          <p:nvPr/>
        </p:nvSpPr>
        <p:spPr>
          <a:xfrm>
            <a:off x="982761" y="1899659"/>
            <a:ext cx="10229850" cy="719659"/>
          </a:xfrm>
          <a:prstGeom prst="cloud">
            <a:avLst/>
          </a:prstGeom>
          <a:solidFill>
            <a:schemeClr val="accent1">
              <a:lumMod val="20000"/>
              <a:lumOff val="80000"/>
              <a:alpha val="50000"/>
            </a:schemeClr>
          </a:solidFill>
          <a:ln>
            <a:solidFill>
              <a:schemeClr val="accent1">
                <a:lumMod val="20000"/>
                <a:lumOff val="80000"/>
                <a:alpha val="9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61" name="Straight Arrow Connector 60">
            <a:extLst>
              <a:ext uri="{FF2B5EF4-FFF2-40B4-BE49-F238E27FC236}">
                <a16:creationId xmlns:a16="http://schemas.microsoft.com/office/drawing/2014/main" id="{D3976225-FF01-3431-338D-8935C6E16C39}"/>
              </a:ext>
            </a:extLst>
          </p:cNvPr>
          <p:cNvCxnSpPr>
            <a:cxnSpLocks/>
            <a:endCxn id="58" idx="4"/>
          </p:cNvCxnSpPr>
          <p:nvPr/>
        </p:nvCxnSpPr>
        <p:spPr>
          <a:xfrm flipH="1" flipV="1">
            <a:off x="6017115" y="3677819"/>
            <a:ext cx="495205" cy="1317092"/>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sp>
        <p:nvSpPr>
          <p:cNvPr id="8" name="Oval 7">
            <a:extLst>
              <a:ext uri="{FF2B5EF4-FFF2-40B4-BE49-F238E27FC236}">
                <a16:creationId xmlns:a16="http://schemas.microsoft.com/office/drawing/2014/main" id="{17BF9F20-ADBC-F14B-00C1-280F838F3CD1}"/>
              </a:ext>
            </a:extLst>
          </p:cNvPr>
          <p:cNvSpPr/>
          <p:nvPr/>
        </p:nvSpPr>
        <p:spPr>
          <a:xfrm>
            <a:off x="4357605" y="2066869"/>
            <a:ext cx="409575" cy="409575"/>
          </a:xfrm>
          <a:prstGeom prst="ellipse">
            <a:avLst/>
          </a:prstGeom>
          <a:solidFill>
            <a:schemeClr val="accent1">
              <a:lumMod val="40000"/>
              <a:lumOff val="60000"/>
            </a:schemeClr>
          </a:solidFill>
          <a:ln>
            <a:prstDash val="sysDash"/>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NL" sz="1700" dirty="0"/>
          </a:p>
        </p:txBody>
      </p:sp>
      <p:cxnSp>
        <p:nvCxnSpPr>
          <p:cNvPr id="10" name="Straight Arrow Connector 9">
            <a:extLst>
              <a:ext uri="{FF2B5EF4-FFF2-40B4-BE49-F238E27FC236}">
                <a16:creationId xmlns:a16="http://schemas.microsoft.com/office/drawing/2014/main" id="{4FC2B6BE-77FF-BAEC-3B67-190BFC412496}"/>
              </a:ext>
            </a:extLst>
          </p:cNvPr>
          <p:cNvCxnSpPr>
            <a:cxnSpLocks/>
            <a:stCxn id="56" idx="0"/>
            <a:endCxn id="8" idx="4"/>
          </p:cNvCxnSpPr>
          <p:nvPr/>
        </p:nvCxnSpPr>
        <p:spPr>
          <a:xfrm flipH="1" flipV="1">
            <a:off x="4562393" y="2476444"/>
            <a:ext cx="4440" cy="1110887"/>
          </a:xfrm>
          <a:prstGeom prst="straightConnector1">
            <a:avLst/>
          </a:prstGeom>
          <a:ln w="38100">
            <a:solidFill>
              <a:schemeClr val="tx1">
                <a:lumMod val="50000"/>
                <a:lumOff val="50000"/>
              </a:schemeClr>
            </a:solidFill>
            <a:prstDash val="sysDot"/>
            <a:tailEnd type="triangle" w="lg" len="med"/>
          </a:ln>
        </p:spPr>
        <p:style>
          <a:lnRef idx="1">
            <a:schemeClr val="accent1"/>
          </a:lnRef>
          <a:fillRef idx="0">
            <a:schemeClr val="accent1"/>
          </a:fillRef>
          <a:effectRef idx="0">
            <a:schemeClr val="accent1"/>
          </a:effectRef>
          <a:fontRef idx="minor">
            <a:schemeClr val="tx1"/>
          </a:fontRef>
        </p:style>
      </p:cxnSp>
      <p:sp>
        <p:nvSpPr>
          <p:cNvPr id="56" name="Oval 55">
            <a:extLst>
              <a:ext uri="{FF2B5EF4-FFF2-40B4-BE49-F238E27FC236}">
                <a16:creationId xmlns:a16="http://schemas.microsoft.com/office/drawing/2014/main" id="{29907442-64DE-7840-8B94-D4A039F614D3}"/>
              </a:ext>
            </a:extLst>
          </p:cNvPr>
          <p:cNvSpPr/>
          <p:nvPr/>
        </p:nvSpPr>
        <p:spPr>
          <a:xfrm>
            <a:off x="4362045" y="3587331"/>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C1</a:t>
            </a:r>
            <a:endParaRPr lang="en-NL" dirty="0"/>
          </a:p>
        </p:txBody>
      </p:sp>
      <p:sp>
        <p:nvSpPr>
          <p:cNvPr id="58" name="Oval 57">
            <a:extLst>
              <a:ext uri="{FF2B5EF4-FFF2-40B4-BE49-F238E27FC236}">
                <a16:creationId xmlns:a16="http://schemas.microsoft.com/office/drawing/2014/main" id="{BE8DEC4C-C876-2EFB-C771-CE2EB5BFB9D5}"/>
              </a:ext>
            </a:extLst>
          </p:cNvPr>
          <p:cNvSpPr/>
          <p:nvPr/>
        </p:nvSpPr>
        <p:spPr>
          <a:xfrm>
            <a:off x="5812327" y="326824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C2</a:t>
            </a:r>
            <a:endParaRPr lang="en-NL" dirty="0"/>
          </a:p>
        </p:txBody>
      </p:sp>
      <p:cxnSp>
        <p:nvCxnSpPr>
          <p:cNvPr id="40" name="Straight Arrow Connector 39">
            <a:extLst>
              <a:ext uri="{FF2B5EF4-FFF2-40B4-BE49-F238E27FC236}">
                <a16:creationId xmlns:a16="http://schemas.microsoft.com/office/drawing/2014/main" id="{13508B01-5C0E-DC7F-5299-586AF78AC7AC}"/>
              </a:ext>
            </a:extLst>
          </p:cNvPr>
          <p:cNvCxnSpPr>
            <a:cxnSpLocks/>
            <a:stCxn id="35" idx="6"/>
            <a:endCxn id="41" idx="2"/>
          </p:cNvCxnSpPr>
          <p:nvPr/>
        </p:nvCxnSpPr>
        <p:spPr>
          <a:xfrm>
            <a:off x="3605895" y="4959569"/>
            <a:ext cx="2723263" cy="0"/>
          </a:xfrm>
          <a:prstGeom prst="straightConnector1">
            <a:avLst/>
          </a:prstGeom>
          <a:ln w="38100" cap="rnd">
            <a:solidFill>
              <a:schemeClr val="accent2"/>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D06CFA1D-D884-D5B6-3BF8-971E25B64DFE}"/>
              </a:ext>
            </a:extLst>
          </p:cNvPr>
          <p:cNvSpPr txBox="1"/>
          <p:nvPr/>
        </p:nvSpPr>
        <p:spPr>
          <a:xfrm>
            <a:off x="1258204" y="2101155"/>
            <a:ext cx="954107"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1"/>
                </a:solidFill>
              </a:rPr>
              <a:t>Meanings</a:t>
            </a:r>
            <a:endParaRPr lang="en-NL" sz="1400" dirty="0">
              <a:solidFill>
                <a:schemeClr val="accent1"/>
              </a:solidFill>
            </a:endParaRPr>
          </a:p>
        </p:txBody>
      </p:sp>
      <p:cxnSp>
        <p:nvCxnSpPr>
          <p:cNvPr id="17" name="Straight Arrow Connector 16">
            <a:extLst>
              <a:ext uri="{FF2B5EF4-FFF2-40B4-BE49-F238E27FC236}">
                <a16:creationId xmlns:a16="http://schemas.microsoft.com/office/drawing/2014/main" id="{9A9FBA19-ADA5-E842-271C-031BF1518885}"/>
              </a:ext>
            </a:extLst>
          </p:cNvPr>
          <p:cNvCxnSpPr>
            <a:cxnSpLocks/>
            <a:endCxn id="19" idx="4"/>
          </p:cNvCxnSpPr>
          <p:nvPr/>
        </p:nvCxnSpPr>
        <p:spPr>
          <a:xfrm flipH="1" flipV="1">
            <a:off x="7467397" y="4315994"/>
            <a:ext cx="632967" cy="1222792"/>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C1EB099D-908B-C71D-3A26-00C4841F24D9}"/>
              </a:ext>
            </a:extLst>
          </p:cNvPr>
          <p:cNvSpPr/>
          <p:nvPr/>
        </p:nvSpPr>
        <p:spPr>
          <a:xfrm>
            <a:off x="7262609" y="3906419"/>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C3</a:t>
            </a:r>
            <a:endParaRPr lang="en-NL" dirty="0"/>
          </a:p>
        </p:txBody>
      </p:sp>
      <p:cxnSp>
        <p:nvCxnSpPr>
          <p:cNvPr id="29" name="Straight Arrow Connector 28">
            <a:extLst>
              <a:ext uri="{FF2B5EF4-FFF2-40B4-BE49-F238E27FC236}">
                <a16:creationId xmlns:a16="http://schemas.microsoft.com/office/drawing/2014/main" id="{43601A6D-E207-0CF3-8C10-CB905AE8D0DE}"/>
              </a:ext>
            </a:extLst>
          </p:cNvPr>
          <p:cNvCxnSpPr>
            <a:cxnSpLocks/>
            <a:stCxn id="56" idx="6"/>
            <a:endCxn id="19" idx="2"/>
          </p:cNvCxnSpPr>
          <p:nvPr/>
        </p:nvCxnSpPr>
        <p:spPr>
          <a:xfrm>
            <a:off x="4771620" y="3792119"/>
            <a:ext cx="2490989" cy="319088"/>
          </a:xfrm>
          <a:prstGeom prst="straightConnector1">
            <a:avLst/>
          </a:prstGeom>
          <a:ln w="38100" cap="rnd">
            <a:solidFill>
              <a:schemeClr val="accent6"/>
            </a:solidFill>
            <a:prstDash val="solid"/>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42" name="Rectangle: Rounded Corners 41">
            <a:extLst>
              <a:ext uri="{FF2B5EF4-FFF2-40B4-BE49-F238E27FC236}">
                <a16:creationId xmlns:a16="http://schemas.microsoft.com/office/drawing/2014/main" id="{2ADC4DAA-0377-D4D3-8726-56AB2D2A835F}"/>
              </a:ext>
            </a:extLst>
          </p:cNvPr>
          <p:cNvSpPr/>
          <p:nvPr/>
        </p:nvSpPr>
        <p:spPr>
          <a:xfrm>
            <a:off x="6913015" y="1628775"/>
            <a:ext cx="4583660" cy="852489"/>
          </a:xfrm>
          <a:prstGeom prst="roundRect">
            <a:avLst>
              <a:gd name="adj" fmla="val 327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b="1" dirty="0"/>
              <a:t>Amir: </a:t>
            </a:r>
            <a:r>
              <a:rPr lang="en-US" i="1" dirty="0"/>
              <a:t>“Which of these datasets contains the variable that represents biological sex?”</a:t>
            </a:r>
            <a:endParaRPr lang="en-NL" dirty="0">
              <a:effectLst/>
            </a:endParaRPr>
          </a:p>
        </p:txBody>
      </p:sp>
      <p:sp>
        <p:nvSpPr>
          <p:cNvPr id="3" name="TextBox 2">
            <a:extLst>
              <a:ext uri="{FF2B5EF4-FFF2-40B4-BE49-F238E27FC236}">
                <a16:creationId xmlns:a16="http://schemas.microsoft.com/office/drawing/2014/main" id="{AF0F1531-1744-4091-7B75-3D982823282F}"/>
              </a:ext>
            </a:extLst>
          </p:cNvPr>
          <p:cNvSpPr txBox="1"/>
          <p:nvPr/>
        </p:nvSpPr>
        <p:spPr>
          <a:xfrm>
            <a:off x="3783172" y="1745605"/>
            <a:ext cx="1558440" cy="369332"/>
          </a:xfrm>
          <a:prstGeom prst="rect">
            <a:avLst/>
          </a:prstGeom>
          <a:noFill/>
        </p:spPr>
        <p:txBody>
          <a:bodyPr wrap="none" rtlCol="0">
            <a:spAutoFit/>
          </a:bodyPr>
          <a:lstStyle/>
          <a:p>
            <a:r>
              <a:rPr lang="en-US" dirty="0"/>
              <a:t>Biological Sex</a:t>
            </a:r>
            <a:endParaRPr lang="en-NL" dirty="0"/>
          </a:p>
        </p:txBody>
      </p:sp>
      <p:sp>
        <p:nvSpPr>
          <p:cNvPr id="5" name="Rectangle: Rounded Corners 4">
            <a:extLst>
              <a:ext uri="{FF2B5EF4-FFF2-40B4-BE49-F238E27FC236}">
                <a16:creationId xmlns:a16="http://schemas.microsoft.com/office/drawing/2014/main" id="{2E15A043-9103-1F84-789F-18E59B737DF7}"/>
              </a:ext>
            </a:extLst>
          </p:cNvPr>
          <p:cNvSpPr/>
          <p:nvPr/>
        </p:nvSpPr>
        <p:spPr>
          <a:xfrm>
            <a:off x="6913015" y="2613399"/>
            <a:ext cx="4583660" cy="852489"/>
          </a:xfrm>
          <a:prstGeom prst="roundRect">
            <a:avLst>
              <a:gd name="adj" fmla="val 3271"/>
            </a:avLst>
          </a:prstGeom>
          <a:ln w="25400">
            <a:solidFill>
              <a:schemeClr val="accent6"/>
            </a:solidFill>
          </a:ln>
        </p:spPr>
        <p:style>
          <a:lnRef idx="2">
            <a:schemeClr val="dk1"/>
          </a:lnRef>
          <a:fillRef idx="1">
            <a:schemeClr val="lt1"/>
          </a:fillRef>
          <a:effectRef idx="0">
            <a:schemeClr val="dk1"/>
          </a:effectRef>
          <a:fontRef idx="minor">
            <a:schemeClr val="dk1"/>
          </a:fontRef>
        </p:style>
        <p:txBody>
          <a:bodyPr rtlCol="0" anchor="ctr"/>
          <a:lstStyle/>
          <a:p>
            <a:pPr algn="r"/>
            <a:r>
              <a:rPr lang="en-US" sz="1400" dirty="0"/>
              <a:t>Two approaches are possible: perform (costly/error-prone) interpretation and assessments, or rely on existing but potentially unreliable mappings.</a:t>
            </a:r>
            <a:endParaRPr lang="en-NL" sz="1400" dirty="0">
              <a:effectLst/>
            </a:endParaRPr>
          </a:p>
        </p:txBody>
      </p:sp>
      <p:cxnSp>
        <p:nvCxnSpPr>
          <p:cNvPr id="6" name="Straight Arrow Connector 5">
            <a:extLst>
              <a:ext uri="{FF2B5EF4-FFF2-40B4-BE49-F238E27FC236}">
                <a16:creationId xmlns:a16="http://schemas.microsoft.com/office/drawing/2014/main" id="{7F391870-3991-5EDA-5236-DB3BE2200D04}"/>
              </a:ext>
            </a:extLst>
          </p:cNvPr>
          <p:cNvCxnSpPr>
            <a:cxnSpLocks/>
            <a:stCxn id="56" idx="7"/>
            <a:endCxn id="58" idx="2"/>
          </p:cNvCxnSpPr>
          <p:nvPr/>
        </p:nvCxnSpPr>
        <p:spPr>
          <a:xfrm flipV="1">
            <a:off x="4711639" y="3473032"/>
            <a:ext cx="1100688" cy="174280"/>
          </a:xfrm>
          <a:prstGeom prst="straightConnector1">
            <a:avLst/>
          </a:prstGeom>
          <a:ln w="38100" cap="rnd">
            <a:solidFill>
              <a:schemeClr val="accent2"/>
            </a:solidFill>
            <a:prstDash val="solid"/>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2ED91AF0-D62F-EFA3-A53A-EE33F774C39D}"/>
              </a:ext>
            </a:extLst>
          </p:cNvPr>
          <p:cNvCxnSpPr>
            <a:cxnSpLocks/>
            <a:stCxn id="58" idx="1"/>
            <a:endCxn id="8" idx="5"/>
          </p:cNvCxnSpPr>
          <p:nvPr/>
        </p:nvCxnSpPr>
        <p:spPr>
          <a:xfrm flipH="1" flipV="1">
            <a:off x="4707199" y="2416463"/>
            <a:ext cx="1165109" cy="911762"/>
          </a:xfrm>
          <a:prstGeom prst="straightConnector1">
            <a:avLst/>
          </a:prstGeom>
          <a:ln w="38100">
            <a:solidFill>
              <a:schemeClr val="tx1">
                <a:lumMod val="50000"/>
                <a:lumOff val="50000"/>
              </a:schemeClr>
            </a:solidFill>
            <a:prstDash val="sysDot"/>
            <a:tailEnd type="triangle" w="lg" len="med"/>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4649B7B6-FA70-756E-CCA1-BF8CC306D224}"/>
              </a:ext>
            </a:extLst>
          </p:cNvPr>
          <p:cNvSpPr txBox="1"/>
          <p:nvPr/>
        </p:nvSpPr>
        <p:spPr>
          <a:xfrm>
            <a:off x="4544126" y="3132577"/>
            <a:ext cx="1202573" cy="430887"/>
          </a:xfrm>
          <a:prstGeom prst="rect">
            <a:avLst/>
          </a:prstGeom>
          <a:noFill/>
        </p:spPr>
        <p:txBody>
          <a:bodyPr wrap="none" rtlCol="0">
            <a:spAutoFit/>
          </a:bodyPr>
          <a:lstStyle/>
          <a:p>
            <a:r>
              <a:rPr lang="en-US" sz="1100" dirty="0"/>
              <a:t>reliable mapping</a:t>
            </a:r>
          </a:p>
          <a:p>
            <a:r>
              <a:rPr lang="en-US" sz="1100" dirty="0"/>
              <a:t>(after analysis)</a:t>
            </a:r>
            <a:endParaRPr lang="en-NL" sz="1100" dirty="0"/>
          </a:p>
        </p:txBody>
      </p:sp>
      <p:sp>
        <p:nvSpPr>
          <p:cNvPr id="24" name="TextBox 23">
            <a:extLst>
              <a:ext uri="{FF2B5EF4-FFF2-40B4-BE49-F238E27FC236}">
                <a16:creationId xmlns:a16="http://schemas.microsoft.com/office/drawing/2014/main" id="{51A180FA-CFB8-5E72-7119-D39AC545F295}"/>
              </a:ext>
            </a:extLst>
          </p:cNvPr>
          <p:cNvSpPr txBox="1"/>
          <p:nvPr/>
        </p:nvSpPr>
        <p:spPr>
          <a:xfrm>
            <a:off x="4792668" y="3888383"/>
            <a:ext cx="1422184" cy="430887"/>
          </a:xfrm>
          <a:prstGeom prst="rect">
            <a:avLst/>
          </a:prstGeom>
          <a:noFill/>
        </p:spPr>
        <p:txBody>
          <a:bodyPr wrap="none" rtlCol="0">
            <a:spAutoFit/>
          </a:bodyPr>
          <a:lstStyle/>
          <a:p>
            <a:r>
              <a:rPr lang="en-US" sz="1100" dirty="0"/>
              <a:t>unreliable mapping</a:t>
            </a:r>
          </a:p>
          <a:p>
            <a:r>
              <a:rPr lang="en-US" sz="1100" dirty="0"/>
              <a:t>(externally provided)</a:t>
            </a:r>
            <a:endParaRPr lang="en-NL" sz="1100" dirty="0"/>
          </a:p>
        </p:txBody>
      </p:sp>
      <p:cxnSp>
        <p:nvCxnSpPr>
          <p:cNvPr id="26" name="Straight Arrow Connector 25">
            <a:extLst>
              <a:ext uri="{FF2B5EF4-FFF2-40B4-BE49-F238E27FC236}">
                <a16:creationId xmlns:a16="http://schemas.microsoft.com/office/drawing/2014/main" id="{26DA3A01-8D55-D2B0-620D-7E5F16DC370C}"/>
              </a:ext>
            </a:extLst>
          </p:cNvPr>
          <p:cNvCxnSpPr>
            <a:cxnSpLocks/>
            <a:stCxn id="35" idx="5"/>
            <a:endCxn id="18" idx="2"/>
          </p:cNvCxnSpPr>
          <p:nvPr/>
        </p:nvCxnSpPr>
        <p:spPr>
          <a:xfrm>
            <a:off x="3545914" y="5104375"/>
            <a:ext cx="4349664" cy="558238"/>
          </a:xfrm>
          <a:prstGeom prst="straightConnector1">
            <a:avLst/>
          </a:prstGeom>
          <a:ln w="38100" cap="rnd">
            <a:solidFill>
              <a:schemeClr val="accent2"/>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9A818D2E-9781-D520-B7C7-0A9C76DA7655}"/>
              </a:ext>
            </a:extLst>
          </p:cNvPr>
          <p:cNvCxnSpPr>
            <a:cxnSpLocks/>
            <a:stCxn id="58" idx="6"/>
            <a:endCxn id="19" idx="1"/>
          </p:cNvCxnSpPr>
          <p:nvPr/>
        </p:nvCxnSpPr>
        <p:spPr>
          <a:xfrm>
            <a:off x="6221902" y="3473032"/>
            <a:ext cx="1100688" cy="493368"/>
          </a:xfrm>
          <a:prstGeom prst="straightConnector1">
            <a:avLst/>
          </a:prstGeom>
          <a:ln w="38100" cap="rnd">
            <a:solidFill>
              <a:schemeClr val="accent2"/>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F23FE043-1181-6151-B924-DE0282E2A593}"/>
              </a:ext>
            </a:extLst>
          </p:cNvPr>
          <p:cNvSpPr txBox="1"/>
          <p:nvPr/>
        </p:nvSpPr>
        <p:spPr>
          <a:xfrm>
            <a:off x="6795311" y="3547014"/>
            <a:ext cx="1225015" cy="261610"/>
          </a:xfrm>
          <a:prstGeom prst="rect">
            <a:avLst/>
          </a:prstGeom>
          <a:noFill/>
        </p:spPr>
        <p:txBody>
          <a:bodyPr wrap="none" rtlCol="0">
            <a:spAutoFit/>
          </a:bodyPr>
          <a:lstStyle/>
          <a:p>
            <a:r>
              <a:rPr lang="en-US" sz="1100" dirty="0"/>
              <a:t>inferred mapping</a:t>
            </a:r>
            <a:endParaRPr lang="en-NL" sz="1100" dirty="0"/>
          </a:p>
        </p:txBody>
      </p:sp>
      <p:cxnSp>
        <p:nvCxnSpPr>
          <p:cNvPr id="46" name="Straight Arrow Connector 45">
            <a:extLst>
              <a:ext uri="{FF2B5EF4-FFF2-40B4-BE49-F238E27FC236}">
                <a16:creationId xmlns:a16="http://schemas.microsoft.com/office/drawing/2014/main" id="{CAE01984-2ACA-E0BB-6FF5-26805AC5DC11}"/>
              </a:ext>
            </a:extLst>
          </p:cNvPr>
          <p:cNvCxnSpPr>
            <a:cxnSpLocks/>
            <a:stCxn id="52" idx="6"/>
            <a:endCxn id="18" idx="3"/>
          </p:cNvCxnSpPr>
          <p:nvPr/>
        </p:nvCxnSpPr>
        <p:spPr>
          <a:xfrm>
            <a:off x="5172314" y="5662613"/>
            <a:ext cx="2783245" cy="144806"/>
          </a:xfrm>
          <a:prstGeom prst="straightConnector1">
            <a:avLst/>
          </a:prstGeom>
          <a:ln w="38100" cap="rnd">
            <a:solidFill>
              <a:schemeClr val="accent2"/>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05A17908-89CF-1028-FBA7-B4FD7E473399}"/>
              </a:ext>
            </a:extLst>
          </p:cNvPr>
          <p:cNvCxnSpPr>
            <a:cxnSpLocks/>
            <a:stCxn id="52" idx="7"/>
            <a:endCxn id="41" idx="3"/>
          </p:cNvCxnSpPr>
          <p:nvPr/>
        </p:nvCxnSpPr>
        <p:spPr>
          <a:xfrm flipV="1">
            <a:off x="5112333" y="5104375"/>
            <a:ext cx="1276806" cy="413431"/>
          </a:xfrm>
          <a:prstGeom prst="straightConnector1">
            <a:avLst/>
          </a:prstGeom>
          <a:ln w="38100" cap="rnd">
            <a:solidFill>
              <a:schemeClr val="accent2"/>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621087C6-33AD-E123-BE76-B2C1FD2C72B4}"/>
              </a:ext>
            </a:extLst>
          </p:cNvPr>
          <p:cNvCxnSpPr>
            <a:cxnSpLocks/>
            <a:stCxn id="18" idx="1"/>
            <a:endCxn id="41" idx="6"/>
          </p:cNvCxnSpPr>
          <p:nvPr/>
        </p:nvCxnSpPr>
        <p:spPr>
          <a:xfrm flipH="1" flipV="1">
            <a:off x="6738733" y="4959569"/>
            <a:ext cx="1216826" cy="558237"/>
          </a:xfrm>
          <a:prstGeom prst="straightConnector1">
            <a:avLst/>
          </a:prstGeom>
          <a:ln w="38100" cap="rnd">
            <a:solidFill>
              <a:schemeClr val="accent2"/>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grpSp>
        <p:nvGrpSpPr>
          <p:cNvPr id="80" name="Group 79">
            <a:extLst>
              <a:ext uri="{FF2B5EF4-FFF2-40B4-BE49-F238E27FC236}">
                <a16:creationId xmlns:a16="http://schemas.microsoft.com/office/drawing/2014/main" id="{48CBA06C-C81D-1957-33A4-826943099993}"/>
              </a:ext>
            </a:extLst>
          </p:cNvPr>
          <p:cNvGrpSpPr/>
          <p:nvPr/>
        </p:nvGrpSpPr>
        <p:grpSpPr>
          <a:xfrm>
            <a:off x="3196320" y="4754781"/>
            <a:ext cx="3542413" cy="409575"/>
            <a:chOff x="3196320" y="4783356"/>
            <a:chExt cx="3542413" cy="409575"/>
          </a:xfrm>
        </p:grpSpPr>
        <p:sp>
          <p:nvSpPr>
            <p:cNvPr id="35" name="Oval 34">
              <a:extLst>
                <a:ext uri="{FF2B5EF4-FFF2-40B4-BE49-F238E27FC236}">
                  <a16:creationId xmlns:a16="http://schemas.microsoft.com/office/drawing/2014/main" id="{9D45958C-42E8-E7A6-B756-79926F1EDCC1}"/>
                </a:ext>
              </a:extLst>
            </p:cNvPr>
            <p:cNvSpPr/>
            <p:nvPr/>
          </p:nvSpPr>
          <p:spPr>
            <a:xfrm>
              <a:off x="3196320" y="4783356"/>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D1</a:t>
              </a:r>
              <a:endParaRPr lang="en-NL" dirty="0"/>
            </a:p>
          </p:txBody>
        </p:sp>
        <p:sp>
          <p:nvSpPr>
            <p:cNvPr id="41" name="Oval 40">
              <a:extLst>
                <a:ext uri="{FF2B5EF4-FFF2-40B4-BE49-F238E27FC236}">
                  <a16:creationId xmlns:a16="http://schemas.microsoft.com/office/drawing/2014/main" id="{78C0FF08-CFF4-415B-6CB7-4FBA7C02B76C}"/>
                </a:ext>
              </a:extLst>
            </p:cNvPr>
            <p:cNvSpPr/>
            <p:nvPr/>
          </p:nvSpPr>
          <p:spPr>
            <a:xfrm>
              <a:off x="6329158" y="4783356"/>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D2</a:t>
              </a:r>
              <a:endParaRPr lang="en-NL" dirty="0"/>
            </a:p>
          </p:txBody>
        </p:sp>
      </p:grpSp>
      <p:sp>
        <p:nvSpPr>
          <p:cNvPr id="52" name="Oval 51">
            <a:extLst>
              <a:ext uri="{FF2B5EF4-FFF2-40B4-BE49-F238E27FC236}">
                <a16:creationId xmlns:a16="http://schemas.microsoft.com/office/drawing/2014/main" id="{5DB080DE-2098-8B54-709D-F25DE05762D6}"/>
              </a:ext>
            </a:extLst>
          </p:cNvPr>
          <p:cNvSpPr/>
          <p:nvPr/>
        </p:nvSpPr>
        <p:spPr>
          <a:xfrm>
            <a:off x="4762739" y="5457825"/>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D3</a:t>
            </a:r>
            <a:endParaRPr lang="en-NL" dirty="0"/>
          </a:p>
        </p:txBody>
      </p:sp>
      <p:sp>
        <p:nvSpPr>
          <p:cNvPr id="18" name="Oval 17">
            <a:extLst>
              <a:ext uri="{FF2B5EF4-FFF2-40B4-BE49-F238E27FC236}">
                <a16:creationId xmlns:a16="http://schemas.microsoft.com/office/drawing/2014/main" id="{15161E4A-609B-2FDD-E5FC-05154F7F52DF}"/>
              </a:ext>
            </a:extLst>
          </p:cNvPr>
          <p:cNvSpPr/>
          <p:nvPr/>
        </p:nvSpPr>
        <p:spPr>
          <a:xfrm>
            <a:off x="7895578" y="5457825"/>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D4</a:t>
            </a:r>
            <a:endParaRPr lang="en-NL" dirty="0"/>
          </a:p>
        </p:txBody>
      </p:sp>
      <p:cxnSp>
        <p:nvCxnSpPr>
          <p:cNvPr id="7" name="Connector: Curved 6">
            <a:extLst>
              <a:ext uri="{FF2B5EF4-FFF2-40B4-BE49-F238E27FC236}">
                <a16:creationId xmlns:a16="http://schemas.microsoft.com/office/drawing/2014/main" id="{D5FF7738-1008-55DC-7DE5-D06729980694}"/>
              </a:ext>
            </a:extLst>
          </p:cNvPr>
          <p:cNvCxnSpPr/>
          <p:nvPr/>
        </p:nvCxnSpPr>
        <p:spPr>
          <a:xfrm rot="10800000">
            <a:off x="3401109" y="5164357"/>
            <a:ext cx="1361631" cy="498257"/>
          </a:xfrm>
          <a:prstGeom prst="curvedConnector2">
            <a:avLst/>
          </a:prstGeom>
          <a:ln w="38100" cap="rnd">
            <a:solidFill>
              <a:srgbClr val="00B050"/>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BA50B10-CA90-0F46-7B97-0C83880093C0}"/>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2</a:t>
            </a:r>
            <a:endParaRPr lang="en-NL" sz="1000" b="1" dirty="0"/>
          </a:p>
        </p:txBody>
      </p:sp>
    </p:spTree>
    <p:extLst>
      <p:ext uri="{BB962C8B-B14F-4D97-AF65-F5344CB8AC3E}">
        <p14:creationId xmlns:p14="http://schemas.microsoft.com/office/powerpoint/2010/main" val="14793147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35D3B-EE61-6AA1-00C8-67A8DC84D589}"/>
            </a:ext>
          </a:extLst>
        </p:cNvPr>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097D880E-D631-AA3C-4D29-8B76B936774B}"/>
              </a:ext>
            </a:extLst>
          </p:cNvPr>
          <p:cNvCxnSpPr/>
          <p:nvPr/>
        </p:nvCxnSpPr>
        <p:spPr>
          <a:xfrm>
            <a:off x="2440086" y="1662864"/>
            <a:ext cx="0" cy="3010736"/>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E82B11BE-B487-D153-6ED7-72C76CA0A7DC}"/>
              </a:ext>
            </a:extLst>
          </p:cNvPr>
          <p:cNvSpPr>
            <a:spLocks noGrp="1"/>
          </p:cNvSpPr>
          <p:nvPr>
            <p:ph type="title"/>
          </p:nvPr>
        </p:nvSpPr>
        <p:spPr/>
        <p:txBody>
          <a:bodyPr/>
          <a:lstStyle/>
          <a:p>
            <a:r>
              <a:rPr lang="en-US" sz="3200" dirty="0"/>
              <a:t>With Meanings: </a:t>
            </a:r>
            <a:br>
              <a:rPr lang="en-US" sz="3200" dirty="0"/>
            </a:br>
            <a:r>
              <a:rPr lang="en-US" sz="3200" dirty="0"/>
              <a:t>Hub-and-Spoke Model</a:t>
            </a:r>
            <a:endParaRPr lang="en-NL" sz="3200" dirty="0"/>
          </a:p>
        </p:txBody>
      </p:sp>
      <p:sp>
        <p:nvSpPr>
          <p:cNvPr id="4" name="Slide Number Placeholder 3">
            <a:extLst>
              <a:ext uri="{FF2B5EF4-FFF2-40B4-BE49-F238E27FC236}">
                <a16:creationId xmlns:a16="http://schemas.microsoft.com/office/drawing/2014/main" id="{59692907-34BE-C8E5-0886-2FC86B0EADCE}"/>
              </a:ext>
            </a:extLst>
          </p:cNvPr>
          <p:cNvSpPr>
            <a:spLocks noGrp="1"/>
          </p:cNvSpPr>
          <p:nvPr>
            <p:ph type="sldNum" sz="quarter" idx="12"/>
          </p:nvPr>
        </p:nvSpPr>
        <p:spPr/>
        <p:txBody>
          <a:bodyPr/>
          <a:lstStyle/>
          <a:p>
            <a:fld id="{4FAB73BC-B049-4115-A692-8D63A059BFB8}" type="slidenum">
              <a:rPr lang="en-US" smtClean="0"/>
              <a:pPr/>
              <a:t>27</a:t>
            </a:fld>
            <a:endParaRPr lang="en-US" dirty="0"/>
          </a:p>
        </p:txBody>
      </p:sp>
      <p:sp>
        <p:nvSpPr>
          <p:cNvPr id="30" name="Parallelogram 29">
            <a:extLst>
              <a:ext uri="{FF2B5EF4-FFF2-40B4-BE49-F238E27FC236}">
                <a16:creationId xmlns:a16="http://schemas.microsoft.com/office/drawing/2014/main" id="{097EB2BC-D1D1-8AD3-40AE-0C39CA3E318A}"/>
              </a:ext>
            </a:extLst>
          </p:cNvPr>
          <p:cNvSpPr/>
          <p:nvPr/>
        </p:nvSpPr>
        <p:spPr>
          <a:xfrm>
            <a:off x="982761" y="3153944"/>
            <a:ext cx="10229850" cy="1276350"/>
          </a:xfrm>
          <a:prstGeom prst="parallelogram">
            <a:avLst>
              <a:gd name="adj" fmla="val 113806"/>
            </a:avLst>
          </a:prstGeom>
          <a:solidFill>
            <a:srgbClr val="FFE4D9"/>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solidFill>
                <a:srgbClr val="FFE4D9"/>
              </a:solidFill>
            </a:endParaRPr>
          </a:p>
        </p:txBody>
      </p:sp>
      <p:sp>
        <p:nvSpPr>
          <p:cNvPr id="31" name="TextBox 30">
            <a:extLst>
              <a:ext uri="{FF2B5EF4-FFF2-40B4-BE49-F238E27FC236}">
                <a16:creationId xmlns:a16="http://schemas.microsoft.com/office/drawing/2014/main" id="{125825F0-8FA2-EB93-E4B7-4FF8189CEF8B}"/>
              </a:ext>
            </a:extLst>
          </p:cNvPr>
          <p:cNvSpPr txBox="1"/>
          <p:nvPr/>
        </p:nvSpPr>
        <p:spPr>
          <a:xfrm>
            <a:off x="1218930" y="4122517"/>
            <a:ext cx="1693092"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33" name="Parallelogram 32">
            <a:extLst>
              <a:ext uri="{FF2B5EF4-FFF2-40B4-BE49-F238E27FC236}">
                <a16:creationId xmlns:a16="http://schemas.microsoft.com/office/drawing/2014/main" id="{A8FC51EB-2760-529A-200C-4B7CEDCF6D56}"/>
              </a:ext>
            </a:extLst>
          </p:cNvPr>
          <p:cNvSpPr/>
          <p:nvPr/>
        </p:nvSpPr>
        <p:spPr>
          <a:xfrm>
            <a:off x="982761" y="4673600"/>
            <a:ext cx="10229850" cy="1276350"/>
          </a:xfrm>
          <a:prstGeom prst="parallelogram">
            <a:avLst>
              <a:gd name="adj" fmla="val 113806"/>
            </a:avLst>
          </a:prstGeom>
          <a:solidFill>
            <a:schemeClr val="accent4">
              <a:lumMod val="20000"/>
              <a:lumOff val="8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4" name="TextBox 33">
            <a:extLst>
              <a:ext uri="{FF2B5EF4-FFF2-40B4-BE49-F238E27FC236}">
                <a16:creationId xmlns:a16="http://schemas.microsoft.com/office/drawing/2014/main" id="{FC522E82-40E6-0C52-F1A4-36CD667BEF46}"/>
              </a:ext>
            </a:extLst>
          </p:cNvPr>
          <p:cNvSpPr txBox="1"/>
          <p:nvPr/>
        </p:nvSpPr>
        <p:spPr>
          <a:xfrm>
            <a:off x="1258204" y="5642173"/>
            <a:ext cx="1529586"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4"/>
                </a:solidFill>
              </a:rPr>
              <a:t>Dataset Columns</a:t>
            </a:r>
            <a:endParaRPr lang="en-NL" sz="1400" dirty="0">
              <a:solidFill>
                <a:schemeClr val="accent4"/>
              </a:solidFill>
            </a:endParaRPr>
          </a:p>
        </p:txBody>
      </p:sp>
      <p:cxnSp>
        <p:nvCxnSpPr>
          <p:cNvPr id="11" name="Straight Arrow Connector 10">
            <a:extLst>
              <a:ext uri="{FF2B5EF4-FFF2-40B4-BE49-F238E27FC236}">
                <a16:creationId xmlns:a16="http://schemas.microsoft.com/office/drawing/2014/main" id="{5D6E7F5F-C1AB-1C2C-E447-96AA9BB28CCD}"/>
              </a:ext>
            </a:extLst>
          </p:cNvPr>
          <p:cNvCxnSpPr>
            <a:cxnSpLocks/>
            <a:endCxn id="56" idx="3"/>
          </p:cNvCxnSpPr>
          <p:nvPr/>
        </p:nvCxnSpPr>
        <p:spPr>
          <a:xfrm flipV="1">
            <a:off x="3545914" y="3936925"/>
            <a:ext cx="876112" cy="877837"/>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E6C34410-3801-D32E-2A90-FFA94A109E9D}"/>
              </a:ext>
            </a:extLst>
          </p:cNvPr>
          <p:cNvCxnSpPr>
            <a:cxnSpLocks/>
            <a:endCxn id="56" idx="4"/>
          </p:cNvCxnSpPr>
          <p:nvPr/>
        </p:nvCxnSpPr>
        <p:spPr>
          <a:xfrm flipH="1" flipV="1">
            <a:off x="4566833" y="3996906"/>
            <a:ext cx="383508" cy="1541880"/>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3AD572AB-B27A-FD43-A894-D36DF9240636}"/>
              </a:ext>
            </a:extLst>
          </p:cNvPr>
          <p:cNvCxnSpPr>
            <a:cxnSpLocks/>
            <a:endCxn id="58" idx="4"/>
          </p:cNvCxnSpPr>
          <p:nvPr/>
        </p:nvCxnSpPr>
        <p:spPr>
          <a:xfrm flipH="1" flipV="1">
            <a:off x="6017115" y="3677819"/>
            <a:ext cx="495205" cy="1317092"/>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sp>
        <p:nvSpPr>
          <p:cNvPr id="56" name="Oval 55">
            <a:extLst>
              <a:ext uri="{FF2B5EF4-FFF2-40B4-BE49-F238E27FC236}">
                <a16:creationId xmlns:a16="http://schemas.microsoft.com/office/drawing/2014/main" id="{71770E14-9673-A86D-51D4-C13EBFB0A0F2}"/>
              </a:ext>
            </a:extLst>
          </p:cNvPr>
          <p:cNvSpPr/>
          <p:nvPr/>
        </p:nvSpPr>
        <p:spPr>
          <a:xfrm>
            <a:off x="4362045" y="3587331"/>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C1</a:t>
            </a:r>
            <a:endParaRPr lang="en-NL" dirty="0"/>
          </a:p>
        </p:txBody>
      </p:sp>
      <p:sp>
        <p:nvSpPr>
          <p:cNvPr id="16" name="Parallelogram 15">
            <a:extLst>
              <a:ext uri="{FF2B5EF4-FFF2-40B4-BE49-F238E27FC236}">
                <a16:creationId xmlns:a16="http://schemas.microsoft.com/office/drawing/2014/main" id="{F079C96C-9793-0F85-D6AA-A32413BB1B4E}"/>
              </a:ext>
            </a:extLst>
          </p:cNvPr>
          <p:cNvSpPr/>
          <p:nvPr/>
        </p:nvSpPr>
        <p:spPr>
          <a:xfrm>
            <a:off x="982761" y="1634289"/>
            <a:ext cx="10229850" cy="1276350"/>
          </a:xfrm>
          <a:prstGeom prst="parallelogram">
            <a:avLst>
              <a:gd name="adj" fmla="val 113806"/>
            </a:avLst>
          </a:prstGeom>
          <a:solidFill>
            <a:schemeClr val="accent1">
              <a:lumMod val="20000"/>
              <a:lumOff val="80000"/>
              <a:alpha val="95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7" name="TextBox 16">
            <a:extLst>
              <a:ext uri="{FF2B5EF4-FFF2-40B4-BE49-F238E27FC236}">
                <a16:creationId xmlns:a16="http://schemas.microsoft.com/office/drawing/2014/main" id="{F132F6BF-6D7F-91AC-A3B1-294F453206A7}"/>
              </a:ext>
            </a:extLst>
          </p:cNvPr>
          <p:cNvSpPr txBox="1"/>
          <p:nvPr/>
        </p:nvSpPr>
        <p:spPr>
          <a:xfrm>
            <a:off x="1352455" y="2602861"/>
            <a:ext cx="954107"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tx2">
                    <a:lumMod val="90000"/>
                    <a:lumOff val="10000"/>
                  </a:schemeClr>
                </a:solidFill>
              </a:rPr>
              <a:t>Meanings</a:t>
            </a:r>
            <a:endParaRPr lang="en-NL" sz="1400" dirty="0">
              <a:solidFill>
                <a:schemeClr val="tx2">
                  <a:lumMod val="90000"/>
                  <a:lumOff val="10000"/>
                </a:schemeClr>
              </a:solidFill>
            </a:endParaRPr>
          </a:p>
        </p:txBody>
      </p:sp>
      <p:cxnSp>
        <p:nvCxnSpPr>
          <p:cNvPr id="18" name="Straight Connector 17">
            <a:extLst>
              <a:ext uri="{FF2B5EF4-FFF2-40B4-BE49-F238E27FC236}">
                <a16:creationId xmlns:a16="http://schemas.microsoft.com/office/drawing/2014/main" id="{41F8B00F-A62C-E936-4069-41D3F210EF30}"/>
              </a:ext>
            </a:extLst>
          </p:cNvPr>
          <p:cNvCxnSpPr/>
          <p:nvPr/>
        </p:nvCxnSpPr>
        <p:spPr>
          <a:xfrm>
            <a:off x="982760" y="2939214"/>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13335FBF-4AD6-9A11-84B4-5989FE52256C}"/>
              </a:ext>
            </a:extLst>
          </p:cNvPr>
          <p:cNvCxnSpPr/>
          <p:nvPr/>
        </p:nvCxnSpPr>
        <p:spPr>
          <a:xfrm>
            <a:off x="11210279" y="1662864"/>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5DD88A9F-CD82-6102-3252-A0E8F41A9D96}"/>
              </a:ext>
            </a:extLst>
          </p:cNvPr>
          <p:cNvCxnSpPr/>
          <p:nvPr/>
        </p:nvCxnSpPr>
        <p:spPr>
          <a:xfrm>
            <a:off x="9762478" y="2939214"/>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8" name="Oval 7">
            <a:extLst>
              <a:ext uri="{FF2B5EF4-FFF2-40B4-BE49-F238E27FC236}">
                <a16:creationId xmlns:a16="http://schemas.microsoft.com/office/drawing/2014/main" id="{8BCB5587-875B-5519-E9C5-DEB10058A186}"/>
              </a:ext>
            </a:extLst>
          </p:cNvPr>
          <p:cNvSpPr/>
          <p:nvPr/>
        </p:nvSpPr>
        <p:spPr>
          <a:xfrm>
            <a:off x="4357605" y="2066869"/>
            <a:ext cx="409575" cy="409575"/>
          </a:xfrm>
          <a:prstGeom prst="ellipse">
            <a:avLst/>
          </a:prstGeom>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NL" sz="1700" dirty="0"/>
          </a:p>
        </p:txBody>
      </p:sp>
      <p:cxnSp>
        <p:nvCxnSpPr>
          <p:cNvPr id="10" name="Straight Arrow Connector 9">
            <a:extLst>
              <a:ext uri="{FF2B5EF4-FFF2-40B4-BE49-F238E27FC236}">
                <a16:creationId xmlns:a16="http://schemas.microsoft.com/office/drawing/2014/main" id="{A8A11A25-D86A-A8F9-3D2D-63E433D12613}"/>
              </a:ext>
            </a:extLst>
          </p:cNvPr>
          <p:cNvCxnSpPr>
            <a:cxnSpLocks/>
            <a:stCxn id="56" idx="0"/>
            <a:endCxn id="8" idx="4"/>
          </p:cNvCxnSpPr>
          <p:nvPr/>
        </p:nvCxnSpPr>
        <p:spPr>
          <a:xfrm flipH="1" flipV="1">
            <a:off x="4562393" y="2476444"/>
            <a:ext cx="4440" cy="1110887"/>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00715752-6768-6141-41C5-9E3BF5FF263E}"/>
              </a:ext>
            </a:extLst>
          </p:cNvPr>
          <p:cNvCxnSpPr>
            <a:cxnSpLocks/>
            <a:stCxn id="58" idx="1"/>
            <a:endCxn id="8" idx="5"/>
          </p:cNvCxnSpPr>
          <p:nvPr/>
        </p:nvCxnSpPr>
        <p:spPr>
          <a:xfrm flipH="1" flipV="1">
            <a:off x="4707199" y="2416463"/>
            <a:ext cx="1165109" cy="911762"/>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sp>
        <p:nvSpPr>
          <p:cNvPr id="58" name="Oval 57">
            <a:extLst>
              <a:ext uri="{FF2B5EF4-FFF2-40B4-BE49-F238E27FC236}">
                <a16:creationId xmlns:a16="http://schemas.microsoft.com/office/drawing/2014/main" id="{F09B0E71-2EB6-DE69-FBFD-8CF8378804B5}"/>
              </a:ext>
            </a:extLst>
          </p:cNvPr>
          <p:cNvSpPr/>
          <p:nvPr/>
        </p:nvSpPr>
        <p:spPr>
          <a:xfrm>
            <a:off x="5812327" y="326824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C2</a:t>
            </a:r>
            <a:endParaRPr lang="en-NL" dirty="0"/>
          </a:p>
        </p:txBody>
      </p:sp>
      <p:cxnSp>
        <p:nvCxnSpPr>
          <p:cNvPr id="46" name="Straight Arrow Connector 45">
            <a:extLst>
              <a:ext uri="{FF2B5EF4-FFF2-40B4-BE49-F238E27FC236}">
                <a16:creationId xmlns:a16="http://schemas.microsoft.com/office/drawing/2014/main" id="{C73708E2-0A55-FABF-A86D-29B772052B0D}"/>
              </a:ext>
            </a:extLst>
          </p:cNvPr>
          <p:cNvCxnSpPr>
            <a:cxnSpLocks/>
            <a:endCxn id="49" idx="4"/>
          </p:cNvCxnSpPr>
          <p:nvPr/>
        </p:nvCxnSpPr>
        <p:spPr>
          <a:xfrm flipH="1" flipV="1">
            <a:off x="7467397" y="4315994"/>
            <a:ext cx="632967" cy="1222792"/>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sp>
        <p:nvSpPr>
          <p:cNvPr id="49" name="Oval 48">
            <a:extLst>
              <a:ext uri="{FF2B5EF4-FFF2-40B4-BE49-F238E27FC236}">
                <a16:creationId xmlns:a16="http://schemas.microsoft.com/office/drawing/2014/main" id="{E87B8B80-F86D-F36D-1812-3907DF9E43BD}"/>
              </a:ext>
            </a:extLst>
          </p:cNvPr>
          <p:cNvSpPr/>
          <p:nvPr/>
        </p:nvSpPr>
        <p:spPr>
          <a:xfrm>
            <a:off x="7262609" y="3906419"/>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C3</a:t>
            </a:r>
            <a:endParaRPr lang="en-NL" dirty="0"/>
          </a:p>
        </p:txBody>
      </p:sp>
      <p:sp>
        <p:nvSpPr>
          <p:cNvPr id="51" name="Rectangle: Rounded Corners 50">
            <a:extLst>
              <a:ext uri="{FF2B5EF4-FFF2-40B4-BE49-F238E27FC236}">
                <a16:creationId xmlns:a16="http://schemas.microsoft.com/office/drawing/2014/main" id="{37B6437C-280D-7510-9EDA-5EBA385D9778}"/>
              </a:ext>
            </a:extLst>
          </p:cNvPr>
          <p:cNvSpPr/>
          <p:nvPr/>
        </p:nvSpPr>
        <p:spPr>
          <a:xfrm>
            <a:off x="6913015" y="1628775"/>
            <a:ext cx="4583660" cy="852489"/>
          </a:xfrm>
          <a:prstGeom prst="roundRect">
            <a:avLst>
              <a:gd name="adj" fmla="val 327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b="1" dirty="0"/>
              <a:t>Amir: </a:t>
            </a:r>
            <a:r>
              <a:rPr lang="en-US" i="1" dirty="0"/>
              <a:t>“Which of these datasets contains the variable that represents biological sex?”</a:t>
            </a:r>
            <a:endParaRPr lang="en-NL" dirty="0">
              <a:effectLst/>
            </a:endParaRPr>
          </a:p>
        </p:txBody>
      </p:sp>
      <p:cxnSp>
        <p:nvCxnSpPr>
          <p:cNvPr id="59" name="Straight Arrow Connector 58">
            <a:extLst>
              <a:ext uri="{FF2B5EF4-FFF2-40B4-BE49-F238E27FC236}">
                <a16:creationId xmlns:a16="http://schemas.microsoft.com/office/drawing/2014/main" id="{CEEFE5E2-29F4-A02F-4BB3-58EFE319AD2C}"/>
              </a:ext>
            </a:extLst>
          </p:cNvPr>
          <p:cNvCxnSpPr>
            <a:cxnSpLocks/>
          </p:cNvCxnSpPr>
          <p:nvPr/>
        </p:nvCxnSpPr>
        <p:spPr>
          <a:xfrm>
            <a:off x="4771620" y="3792119"/>
            <a:ext cx="2490989" cy="319088"/>
          </a:xfrm>
          <a:prstGeom prst="straightConnector1">
            <a:avLst/>
          </a:prstGeom>
          <a:ln w="38100" cap="rnd">
            <a:solidFill>
              <a:schemeClr val="accent6"/>
            </a:solidFill>
            <a:prstDash val="solid"/>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60" name="TextBox 59">
            <a:extLst>
              <a:ext uri="{FF2B5EF4-FFF2-40B4-BE49-F238E27FC236}">
                <a16:creationId xmlns:a16="http://schemas.microsoft.com/office/drawing/2014/main" id="{3CD341E6-CC1D-DB7F-3126-6AEF94FF431D}"/>
              </a:ext>
            </a:extLst>
          </p:cNvPr>
          <p:cNvSpPr txBox="1"/>
          <p:nvPr/>
        </p:nvSpPr>
        <p:spPr>
          <a:xfrm>
            <a:off x="4792668" y="3888383"/>
            <a:ext cx="1422184" cy="430887"/>
          </a:xfrm>
          <a:prstGeom prst="rect">
            <a:avLst/>
          </a:prstGeom>
          <a:noFill/>
        </p:spPr>
        <p:txBody>
          <a:bodyPr wrap="none" rtlCol="0">
            <a:spAutoFit/>
          </a:bodyPr>
          <a:lstStyle/>
          <a:p>
            <a:r>
              <a:rPr lang="en-US" sz="1100" dirty="0"/>
              <a:t>unreliable mapping</a:t>
            </a:r>
          </a:p>
          <a:p>
            <a:r>
              <a:rPr lang="en-US" sz="1100" dirty="0"/>
              <a:t>(externally provided)</a:t>
            </a:r>
            <a:endParaRPr lang="en-NL" sz="1100" dirty="0"/>
          </a:p>
        </p:txBody>
      </p:sp>
      <p:sp>
        <p:nvSpPr>
          <p:cNvPr id="62" name="Rectangle: Rounded Corners 61">
            <a:extLst>
              <a:ext uri="{FF2B5EF4-FFF2-40B4-BE49-F238E27FC236}">
                <a16:creationId xmlns:a16="http://schemas.microsoft.com/office/drawing/2014/main" id="{9F90191A-35A8-4AB8-9A1F-C80A26A5EBA4}"/>
              </a:ext>
            </a:extLst>
          </p:cNvPr>
          <p:cNvSpPr/>
          <p:nvPr/>
        </p:nvSpPr>
        <p:spPr>
          <a:xfrm>
            <a:off x="6913015" y="2613399"/>
            <a:ext cx="4583660" cy="852489"/>
          </a:xfrm>
          <a:prstGeom prst="roundRect">
            <a:avLst>
              <a:gd name="adj" fmla="val 3271"/>
            </a:avLst>
          </a:prstGeom>
          <a:ln w="25400">
            <a:solidFill>
              <a:schemeClr val="accent4"/>
            </a:solidFill>
          </a:ln>
        </p:spPr>
        <p:style>
          <a:lnRef idx="2">
            <a:schemeClr val="dk1"/>
          </a:lnRef>
          <a:fillRef idx="1">
            <a:schemeClr val="lt1"/>
          </a:fillRef>
          <a:effectRef idx="0">
            <a:schemeClr val="dk1"/>
          </a:effectRef>
          <a:fontRef idx="minor">
            <a:schemeClr val="dk1"/>
          </a:fontRef>
        </p:style>
        <p:txBody>
          <a:bodyPr rtlCol="0" anchor="ctr"/>
          <a:lstStyle/>
          <a:p>
            <a:pPr algn="r"/>
            <a:r>
              <a:rPr lang="en-US" sz="1400" dirty="0"/>
              <a:t>Explicit, precise, machine-processable meanings; </a:t>
            </a:r>
          </a:p>
          <a:p>
            <a:pPr algn="r"/>
            <a:r>
              <a:rPr lang="en-US" sz="1400" dirty="0"/>
              <a:t>a </a:t>
            </a:r>
            <a:r>
              <a:rPr lang="en-US" sz="1400" b="1" dirty="0"/>
              <a:t>hub-and-spoke model</a:t>
            </a:r>
            <a:r>
              <a:rPr lang="en-US" sz="1400" dirty="0"/>
              <a:t>; centralized querying; and reuse of available but unreliable mappings.</a:t>
            </a:r>
            <a:endParaRPr lang="en-NL" sz="1400" dirty="0">
              <a:effectLst/>
            </a:endParaRPr>
          </a:p>
        </p:txBody>
      </p:sp>
      <p:sp>
        <p:nvSpPr>
          <p:cNvPr id="63" name="TextBox 62">
            <a:extLst>
              <a:ext uri="{FF2B5EF4-FFF2-40B4-BE49-F238E27FC236}">
                <a16:creationId xmlns:a16="http://schemas.microsoft.com/office/drawing/2014/main" id="{5E9682F0-1E04-9C37-21E7-A5629A9630A5}"/>
              </a:ext>
            </a:extLst>
          </p:cNvPr>
          <p:cNvSpPr txBox="1"/>
          <p:nvPr/>
        </p:nvSpPr>
        <p:spPr>
          <a:xfrm>
            <a:off x="3783172" y="1745605"/>
            <a:ext cx="1558440" cy="369332"/>
          </a:xfrm>
          <a:prstGeom prst="rect">
            <a:avLst/>
          </a:prstGeom>
          <a:noFill/>
        </p:spPr>
        <p:txBody>
          <a:bodyPr wrap="none" rtlCol="0">
            <a:spAutoFit/>
          </a:bodyPr>
          <a:lstStyle/>
          <a:p>
            <a:r>
              <a:rPr lang="en-US" dirty="0"/>
              <a:t>Biological Sex</a:t>
            </a:r>
            <a:endParaRPr lang="en-NL" dirty="0"/>
          </a:p>
        </p:txBody>
      </p:sp>
      <p:cxnSp>
        <p:nvCxnSpPr>
          <p:cNvPr id="66" name="Straight Arrow Connector 65">
            <a:extLst>
              <a:ext uri="{FF2B5EF4-FFF2-40B4-BE49-F238E27FC236}">
                <a16:creationId xmlns:a16="http://schemas.microsoft.com/office/drawing/2014/main" id="{9D58EEC1-A0C6-B509-1581-588D24D45500}"/>
              </a:ext>
            </a:extLst>
          </p:cNvPr>
          <p:cNvCxnSpPr>
            <a:cxnSpLocks/>
            <a:stCxn id="72" idx="6"/>
            <a:endCxn id="73" idx="2"/>
          </p:cNvCxnSpPr>
          <p:nvPr/>
        </p:nvCxnSpPr>
        <p:spPr>
          <a:xfrm>
            <a:off x="3605895" y="4959569"/>
            <a:ext cx="2723263" cy="0"/>
          </a:xfrm>
          <a:prstGeom prst="straightConnector1">
            <a:avLst/>
          </a:prstGeom>
          <a:ln w="38100" cap="rnd">
            <a:solidFill>
              <a:schemeClr val="accent2"/>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2AE39AA4-1908-C8DF-3414-7A7FA4BF795B}"/>
              </a:ext>
            </a:extLst>
          </p:cNvPr>
          <p:cNvCxnSpPr>
            <a:cxnSpLocks/>
            <a:stCxn id="72" idx="5"/>
            <a:endCxn id="75" idx="2"/>
          </p:cNvCxnSpPr>
          <p:nvPr/>
        </p:nvCxnSpPr>
        <p:spPr>
          <a:xfrm>
            <a:off x="3545914" y="5104375"/>
            <a:ext cx="4349664" cy="558238"/>
          </a:xfrm>
          <a:prstGeom prst="straightConnector1">
            <a:avLst/>
          </a:prstGeom>
          <a:ln w="38100" cap="rnd">
            <a:solidFill>
              <a:schemeClr val="accent2"/>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14871BDB-9CF9-9B9D-ABAB-49CAB0FEF1C4}"/>
              </a:ext>
            </a:extLst>
          </p:cNvPr>
          <p:cNvCxnSpPr>
            <a:cxnSpLocks/>
            <a:stCxn id="74" idx="6"/>
            <a:endCxn id="75" idx="3"/>
          </p:cNvCxnSpPr>
          <p:nvPr/>
        </p:nvCxnSpPr>
        <p:spPr>
          <a:xfrm>
            <a:off x="5172314" y="5662613"/>
            <a:ext cx="2783245" cy="144806"/>
          </a:xfrm>
          <a:prstGeom prst="straightConnector1">
            <a:avLst/>
          </a:prstGeom>
          <a:ln w="38100" cap="rnd">
            <a:solidFill>
              <a:schemeClr val="accent2"/>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F906C8ED-4E92-8356-D8FA-1589AA44307D}"/>
              </a:ext>
            </a:extLst>
          </p:cNvPr>
          <p:cNvCxnSpPr>
            <a:cxnSpLocks/>
            <a:stCxn id="74" idx="7"/>
            <a:endCxn id="73" idx="3"/>
          </p:cNvCxnSpPr>
          <p:nvPr/>
        </p:nvCxnSpPr>
        <p:spPr>
          <a:xfrm flipV="1">
            <a:off x="5112333" y="5104375"/>
            <a:ext cx="1276806" cy="413431"/>
          </a:xfrm>
          <a:prstGeom prst="straightConnector1">
            <a:avLst/>
          </a:prstGeom>
          <a:ln w="38100" cap="rnd">
            <a:solidFill>
              <a:schemeClr val="accent2"/>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95B59489-F9BB-010A-3916-B0D644C66D23}"/>
              </a:ext>
            </a:extLst>
          </p:cNvPr>
          <p:cNvCxnSpPr>
            <a:cxnSpLocks/>
            <a:stCxn id="75" idx="1"/>
            <a:endCxn id="73" idx="6"/>
          </p:cNvCxnSpPr>
          <p:nvPr/>
        </p:nvCxnSpPr>
        <p:spPr>
          <a:xfrm flipH="1" flipV="1">
            <a:off x="6738733" y="4959569"/>
            <a:ext cx="1216826" cy="558237"/>
          </a:xfrm>
          <a:prstGeom prst="straightConnector1">
            <a:avLst/>
          </a:prstGeom>
          <a:ln w="38100" cap="rnd">
            <a:solidFill>
              <a:schemeClr val="accent2"/>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grpSp>
        <p:nvGrpSpPr>
          <p:cNvPr id="71" name="Group 70">
            <a:extLst>
              <a:ext uri="{FF2B5EF4-FFF2-40B4-BE49-F238E27FC236}">
                <a16:creationId xmlns:a16="http://schemas.microsoft.com/office/drawing/2014/main" id="{EE688922-6091-07E6-966D-992AE4ABB038}"/>
              </a:ext>
            </a:extLst>
          </p:cNvPr>
          <p:cNvGrpSpPr/>
          <p:nvPr/>
        </p:nvGrpSpPr>
        <p:grpSpPr>
          <a:xfrm>
            <a:off x="3196320" y="4754781"/>
            <a:ext cx="3542413" cy="409575"/>
            <a:chOff x="3196320" y="4783356"/>
            <a:chExt cx="3542413" cy="409575"/>
          </a:xfrm>
        </p:grpSpPr>
        <p:sp>
          <p:nvSpPr>
            <p:cNvPr id="72" name="Oval 71">
              <a:extLst>
                <a:ext uri="{FF2B5EF4-FFF2-40B4-BE49-F238E27FC236}">
                  <a16:creationId xmlns:a16="http://schemas.microsoft.com/office/drawing/2014/main" id="{E50E97AB-DCDE-5A5D-69C5-85F1BAA743CE}"/>
                </a:ext>
              </a:extLst>
            </p:cNvPr>
            <p:cNvSpPr/>
            <p:nvPr/>
          </p:nvSpPr>
          <p:spPr>
            <a:xfrm>
              <a:off x="3196320" y="4783356"/>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D1</a:t>
              </a:r>
              <a:endParaRPr lang="en-NL" dirty="0"/>
            </a:p>
          </p:txBody>
        </p:sp>
        <p:sp>
          <p:nvSpPr>
            <p:cNvPr id="73" name="Oval 72">
              <a:extLst>
                <a:ext uri="{FF2B5EF4-FFF2-40B4-BE49-F238E27FC236}">
                  <a16:creationId xmlns:a16="http://schemas.microsoft.com/office/drawing/2014/main" id="{706C9E34-F02B-41BE-6C46-A33B35AD9D59}"/>
                </a:ext>
              </a:extLst>
            </p:cNvPr>
            <p:cNvSpPr/>
            <p:nvPr/>
          </p:nvSpPr>
          <p:spPr>
            <a:xfrm>
              <a:off x="6329158" y="4783356"/>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D2</a:t>
              </a:r>
              <a:endParaRPr lang="en-NL" dirty="0"/>
            </a:p>
          </p:txBody>
        </p:sp>
      </p:grpSp>
      <p:sp>
        <p:nvSpPr>
          <p:cNvPr id="74" name="Oval 73">
            <a:extLst>
              <a:ext uri="{FF2B5EF4-FFF2-40B4-BE49-F238E27FC236}">
                <a16:creationId xmlns:a16="http://schemas.microsoft.com/office/drawing/2014/main" id="{38896AB9-E46E-6DFF-4E9F-49F6B8E6B859}"/>
              </a:ext>
            </a:extLst>
          </p:cNvPr>
          <p:cNvSpPr/>
          <p:nvPr/>
        </p:nvSpPr>
        <p:spPr>
          <a:xfrm>
            <a:off x="4762739" y="5457825"/>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D3</a:t>
            </a:r>
            <a:endParaRPr lang="en-NL" dirty="0"/>
          </a:p>
        </p:txBody>
      </p:sp>
      <p:sp>
        <p:nvSpPr>
          <p:cNvPr id="75" name="Oval 74">
            <a:extLst>
              <a:ext uri="{FF2B5EF4-FFF2-40B4-BE49-F238E27FC236}">
                <a16:creationId xmlns:a16="http://schemas.microsoft.com/office/drawing/2014/main" id="{22F64824-3BB9-C4BB-27E3-2F6A47F341A6}"/>
              </a:ext>
            </a:extLst>
          </p:cNvPr>
          <p:cNvSpPr/>
          <p:nvPr/>
        </p:nvSpPr>
        <p:spPr>
          <a:xfrm>
            <a:off x="7895578" y="5457825"/>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D4</a:t>
            </a:r>
            <a:endParaRPr lang="en-NL" dirty="0"/>
          </a:p>
        </p:txBody>
      </p:sp>
      <p:cxnSp>
        <p:nvCxnSpPr>
          <p:cNvPr id="76" name="Straight Arrow Connector 75">
            <a:extLst>
              <a:ext uri="{FF2B5EF4-FFF2-40B4-BE49-F238E27FC236}">
                <a16:creationId xmlns:a16="http://schemas.microsoft.com/office/drawing/2014/main" id="{D1EDF779-D1E7-9B05-5DF8-F425ECB2DE73}"/>
              </a:ext>
            </a:extLst>
          </p:cNvPr>
          <p:cNvCxnSpPr>
            <a:cxnSpLocks/>
          </p:cNvCxnSpPr>
          <p:nvPr/>
        </p:nvCxnSpPr>
        <p:spPr>
          <a:xfrm>
            <a:off x="6221902" y="3473032"/>
            <a:ext cx="1100688" cy="493368"/>
          </a:xfrm>
          <a:prstGeom prst="straightConnector1">
            <a:avLst/>
          </a:prstGeom>
          <a:ln w="38100" cap="rnd">
            <a:solidFill>
              <a:schemeClr val="accent2"/>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77" name="TextBox 76">
            <a:extLst>
              <a:ext uri="{FF2B5EF4-FFF2-40B4-BE49-F238E27FC236}">
                <a16:creationId xmlns:a16="http://schemas.microsoft.com/office/drawing/2014/main" id="{6DE14888-AF3C-F674-FEC5-39A879E2728A}"/>
              </a:ext>
            </a:extLst>
          </p:cNvPr>
          <p:cNvSpPr txBox="1"/>
          <p:nvPr/>
        </p:nvSpPr>
        <p:spPr>
          <a:xfrm>
            <a:off x="6795311" y="3547014"/>
            <a:ext cx="1225015" cy="261610"/>
          </a:xfrm>
          <a:prstGeom prst="rect">
            <a:avLst/>
          </a:prstGeom>
          <a:noFill/>
        </p:spPr>
        <p:txBody>
          <a:bodyPr wrap="none" rtlCol="0">
            <a:spAutoFit/>
          </a:bodyPr>
          <a:lstStyle/>
          <a:p>
            <a:r>
              <a:rPr lang="en-US" sz="1100" dirty="0"/>
              <a:t>inferred mapping</a:t>
            </a:r>
            <a:endParaRPr lang="en-NL" sz="1100" dirty="0"/>
          </a:p>
        </p:txBody>
      </p:sp>
      <p:cxnSp>
        <p:nvCxnSpPr>
          <p:cNvPr id="3" name="Connector: Curved 2">
            <a:extLst>
              <a:ext uri="{FF2B5EF4-FFF2-40B4-BE49-F238E27FC236}">
                <a16:creationId xmlns:a16="http://schemas.microsoft.com/office/drawing/2014/main" id="{EF2FDE2D-80BB-BDF8-3BF1-891FFF73812D}"/>
              </a:ext>
            </a:extLst>
          </p:cNvPr>
          <p:cNvCxnSpPr/>
          <p:nvPr/>
        </p:nvCxnSpPr>
        <p:spPr>
          <a:xfrm rot="10800000">
            <a:off x="3401109" y="5164357"/>
            <a:ext cx="1361631" cy="498257"/>
          </a:xfrm>
          <a:prstGeom prst="curvedConnector2">
            <a:avLst/>
          </a:prstGeom>
          <a:ln w="38100" cap="rnd">
            <a:solidFill>
              <a:srgbClr val="00B050"/>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6655ADC5-90D7-E226-F1BC-13DA1AA4E7F3}"/>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2</a:t>
            </a:r>
            <a:endParaRPr lang="en-NL" sz="1000" b="1" dirty="0"/>
          </a:p>
        </p:txBody>
      </p:sp>
    </p:spTree>
    <p:extLst>
      <p:ext uri="{BB962C8B-B14F-4D97-AF65-F5344CB8AC3E}">
        <p14:creationId xmlns:p14="http://schemas.microsoft.com/office/powerpoint/2010/main" val="4341642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9F91E-A1AA-5241-D9F2-7451470A1416}"/>
            </a:ext>
          </a:extLst>
        </p:cNvPr>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779D23B4-B715-FF22-6AE5-E84F3F4264A8}"/>
              </a:ext>
            </a:extLst>
          </p:cNvPr>
          <p:cNvCxnSpPr/>
          <p:nvPr/>
        </p:nvCxnSpPr>
        <p:spPr>
          <a:xfrm>
            <a:off x="2440086" y="1662864"/>
            <a:ext cx="0" cy="3010736"/>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967934DF-B9E8-B3A1-AAF9-F9970190107F}"/>
              </a:ext>
            </a:extLst>
          </p:cNvPr>
          <p:cNvSpPr>
            <a:spLocks noGrp="1"/>
          </p:cNvSpPr>
          <p:nvPr>
            <p:ph type="title"/>
          </p:nvPr>
        </p:nvSpPr>
        <p:spPr>
          <a:xfrm>
            <a:off x="695327" y="386001"/>
            <a:ext cx="9288459" cy="929259"/>
          </a:xfrm>
        </p:spPr>
        <p:txBody>
          <a:bodyPr/>
          <a:lstStyle/>
          <a:p>
            <a:r>
              <a:rPr lang="en-US" sz="3200" dirty="0"/>
              <a:t>Biological Sex Maps to One Valid Dataset Path</a:t>
            </a:r>
            <a:endParaRPr lang="en-NL" sz="3200" dirty="0"/>
          </a:p>
        </p:txBody>
      </p:sp>
      <p:sp>
        <p:nvSpPr>
          <p:cNvPr id="4" name="Slide Number Placeholder 3">
            <a:extLst>
              <a:ext uri="{FF2B5EF4-FFF2-40B4-BE49-F238E27FC236}">
                <a16:creationId xmlns:a16="http://schemas.microsoft.com/office/drawing/2014/main" id="{DC4C4603-A743-8AA9-5094-2C6D24AC63FD}"/>
              </a:ext>
            </a:extLst>
          </p:cNvPr>
          <p:cNvSpPr>
            <a:spLocks noGrp="1"/>
          </p:cNvSpPr>
          <p:nvPr>
            <p:ph type="sldNum" sz="quarter" idx="12"/>
          </p:nvPr>
        </p:nvSpPr>
        <p:spPr/>
        <p:txBody>
          <a:bodyPr/>
          <a:lstStyle/>
          <a:p>
            <a:fld id="{4FAB73BC-B049-4115-A692-8D63A059BFB8}" type="slidenum">
              <a:rPr lang="en-US" smtClean="0"/>
              <a:pPr/>
              <a:t>28</a:t>
            </a:fld>
            <a:endParaRPr lang="en-US" dirty="0"/>
          </a:p>
        </p:txBody>
      </p:sp>
      <p:sp>
        <p:nvSpPr>
          <p:cNvPr id="30" name="Parallelogram 29">
            <a:extLst>
              <a:ext uri="{FF2B5EF4-FFF2-40B4-BE49-F238E27FC236}">
                <a16:creationId xmlns:a16="http://schemas.microsoft.com/office/drawing/2014/main" id="{C707D5AC-FB37-5169-4581-400D96B8AA77}"/>
              </a:ext>
            </a:extLst>
          </p:cNvPr>
          <p:cNvSpPr/>
          <p:nvPr/>
        </p:nvSpPr>
        <p:spPr>
          <a:xfrm>
            <a:off x="982761" y="3153944"/>
            <a:ext cx="10229850" cy="1276350"/>
          </a:xfrm>
          <a:prstGeom prst="parallelogram">
            <a:avLst>
              <a:gd name="adj" fmla="val 113806"/>
            </a:avLst>
          </a:prstGeom>
          <a:solidFill>
            <a:srgbClr val="FFE4D9"/>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solidFill>
                <a:srgbClr val="FFE4D9"/>
              </a:solidFill>
            </a:endParaRPr>
          </a:p>
        </p:txBody>
      </p:sp>
      <p:sp>
        <p:nvSpPr>
          <p:cNvPr id="31" name="TextBox 30">
            <a:extLst>
              <a:ext uri="{FF2B5EF4-FFF2-40B4-BE49-F238E27FC236}">
                <a16:creationId xmlns:a16="http://schemas.microsoft.com/office/drawing/2014/main" id="{32CBA0D2-9C36-769C-904E-EC97D1C2F9E8}"/>
              </a:ext>
            </a:extLst>
          </p:cNvPr>
          <p:cNvSpPr txBox="1"/>
          <p:nvPr/>
        </p:nvSpPr>
        <p:spPr>
          <a:xfrm>
            <a:off x="1218930" y="4122517"/>
            <a:ext cx="1693092"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33" name="Parallelogram 32">
            <a:extLst>
              <a:ext uri="{FF2B5EF4-FFF2-40B4-BE49-F238E27FC236}">
                <a16:creationId xmlns:a16="http://schemas.microsoft.com/office/drawing/2014/main" id="{967D78B1-57C8-726F-9CC1-9BCC8F88D7EB}"/>
              </a:ext>
            </a:extLst>
          </p:cNvPr>
          <p:cNvSpPr/>
          <p:nvPr/>
        </p:nvSpPr>
        <p:spPr>
          <a:xfrm>
            <a:off x="982761" y="4673600"/>
            <a:ext cx="10229850" cy="1276350"/>
          </a:xfrm>
          <a:prstGeom prst="parallelogram">
            <a:avLst>
              <a:gd name="adj" fmla="val 113806"/>
            </a:avLst>
          </a:prstGeom>
          <a:solidFill>
            <a:schemeClr val="accent4">
              <a:lumMod val="20000"/>
              <a:lumOff val="8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4" name="TextBox 33">
            <a:extLst>
              <a:ext uri="{FF2B5EF4-FFF2-40B4-BE49-F238E27FC236}">
                <a16:creationId xmlns:a16="http://schemas.microsoft.com/office/drawing/2014/main" id="{7D07C8F1-CA8E-81CF-3502-6C75C650E43E}"/>
              </a:ext>
            </a:extLst>
          </p:cNvPr>
          <p:cNvSpPr txBox="1"/>
          <p:nvPr/>
        </p:nvSpPr>
        <p:spPr>
          <a:xfrm>
            <a:off x="1258204" y="5642173"/>
            <a:ext cx="1529586"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4"/>
                </a:solidFill>
              </a:rPr>
              <a:t>Dataset Columns</a:t>
            </a:r>
            <a:endParaRPr lang="en-NL" sz="1400" dirty="0">
              <a:solidFill>
                <a:schemeClr val="accent4"/>
              </a:solidFill>
            </a:endParaRPr>
          </a:p>
        </p:txBody>
      </p:sp>
      <p:sp>
        <p:nvSpPr>
          <p:cNvPr id="16" name="Parallelogram 15">
            <a:extLst>
              <a:ext uri="{FF2B5EF4-FFF2-40B4-BE49-F238E27FC236}">
                <a16:creationId xmlns:a16="http://schemas.microsoft.com/office/drawing/2014/main" id="{C1EBDB28-CEE0-E30C-0EDC-E8D86CE56F4A}"/>
              </a:ext>
            </a:extLst>
          </p:cNvPr>
          <p:cNvSpPr/>
          <p:nvPr/>
        </p:nvSpPr>
        <p:spPr>
          <a:xfrm>
            <a:off x="982761" y="1634289"/>
            <a:ext cx="10229850" cy="1276350"/>
          </a:xfrm>
          <a:prstGeom prst="parallelogram">
            <a:avLst>
              <a:gd name="adj" fmla="val 113806"/>
            </a:avLst>
          </a:prstGeom>
          <a:solidFill>
            <a:schemeClr val="accent1">
              <a:lumMod val="20000"/>
              <a:lumOff val="80000"/>
              <a:alpha val="95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7" name="TextBox 16">
            <a:extLst>
              <a:ext uri="{FF2B5EF4-FFF2-40B4-BE49-F238E27FC236}">
                <a16:creationId xmlns:a16="http://schemas.microsoft.com/office/drawing/2014/main" id="{92BEE8FF-A46C-614B-55C3-56D2C538D6E5}"/>
              </a:ext>
            </a:extLst>
          </p:cNvPr>
          <p:cNvSpPr txBox="1"/>
          <p:nvPr/>
        </p:nvSpPr>
        <p:spPr>
          <a:xfrm>
            <a:off x="1352455" y="2602861"/>
            <a:ext cx="954107"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tx2">
                    <a:lumMod val="90000"/>
                    <a:lumOff val="10000"/>
                  </a:schemeClr>
                </a:solidFill>
              </a:rPr>
              <a:t>Meanings</a:t>
            </a:r>
            <a:endParaRPr lang="en-NL" sz="1400" dirty="0">
              <a:solidFill>
                <a:schemeClr val="tx2">
                  <a:lumMod val="90000"/>
                  <a:lumOff val="10000"/>
                </a:schemeClr>
              </a:solidFill>
            </a:endParaRPr>
          </a:p>
        </p:txBody>
      </p:sp>
      <p:cxnSp>
        <p:nvCxnSpPr>
          <p:cNvPr id="18" name="Straight Connector 17">
            <a:extLst>
              <a:ext uri="{FF2B5EF4-FFF2-40B4-BE49-F238E27FC236}">
                <a16:creationId xmlns:a16="http://schemas.microsoft.com/office/drawing/2014/main" id="{64A1CA68-01DC-56FE-03EA-085021D96B7D}"/>
              </a:ext>
            </a:extLst>
          </p:cNvPr>
          <p:cNvCxnSpPr/>
          <p:nvPr/>
        </p:nvCxnSpPr>
        <p:spPr>
          <a:xfrm>
            <a:off x="982760" y="2939214"/>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F620033B-D9A0-0F20-FB78-70B525E82991}"/>
              </a:ext>
            </a:extLst>
          </p:cNvPr>
          <p:cNvCxnSpPr/>
          <p:nvPr/>
        </p:nvCxnSpPr>
        <p:spPr>
          <a:xfrm>
            <a:off x="11210279" y="1662864"/>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FF4C4FF0-B8BB-EF6A-3D88-C8F42E8E13EA}"/>
              </a:ext>
            </a:extLst>
          </p:cNvPr>
          <p:cNvCxnSpPr/>
          <p:nvPr/>
        </p:nvCxnSpPr>
        <p:spPr>
          <a:xfrm>
            <a:off x="9762478" y="2939214"/>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51" name="Rectangle: Rounded Corners 50">
            <a:extLst>
              <a:ext uri="{FF2B5EF4-FFF2-40B4-BE49-F238E27FC236}">
                <a16:creationId xmlns:a16="http://schemas.microsoft.com/office/drawing/2014/main" id="{F0549930-BEF4-EFF3-DDAD-A8458D419520}"/>
              </a:ext>
            </a:extLst>
          </p:cNvPr>
          <p:cNvSpPr/>
          <p:nvPr/>
        </p:nvSpPr>
        <p:spPr>
          <a:xfrm>
            <a:off x="6913015" y="1628775"/>
            <a:ext cx="4583660" cy="852489"/>
          </a:xfrm>
          <a:prstGeom prst="roundRect">
            <a:avLst>
              <a:gd name="adj" fmla="val 327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b="1" dirty="0"/>
              <a:t>Amir: </a:t>
            </a:r>
            <a:r>
              <a:rPr lang="en-US" i="1" dirty="0"/>
              <a:t>“Which of these datasets contains the variable that represents biological sex?”</a:t>
            </a:r>
            <a:endParaRPr lang="en-NL" dirty="0">
              <a:effectLst/>
            </a:endParaRPr>
          </a:p>
        </p:txBody>
      </p:sp>
      <p:sp>
        <p:nvSpPr>
          <p:cNvPr id="63" name="TextBox 62">
            <a:extLst>
              <a:ext uri="{FF2B5EF4-FFF2-40B4-BE49-F238E27FC236}">
                <a16:creationId xmlns:a16="http://schemas.microsoft.com/office/drawing/2014/main" id="{AD45B3C7-BF5A-7500-36F3-6A909BAA93E9}"/>
              </a:ext>
            </a:extLst>
          </p:cNvPr>
          <p:cNvSpPr txBox="1"/>
          <p:nvPr/>
        </p:nvSpPr>
        <p:spPr>
          <a:xfrm rot="18900000">
            <a:off x="2453833" y="2060473"/>
            <a:ext cx="719364" cy="276999"/>
          </a:xfrm>
          <a:prstGeom prst="rect">
            <a:avLst/>
          </a:prstGeom>
          <a:noFill/>
        </p:spPr>
        <p:txBody>
          <a:bodyPr wrap="none" rtlCol="0" anchor="ctr">
            <a:spAutoFit/>
          </a:bodyPr>
          <a:lstStyle/>
          <a:p>
            <a:pPr algn="ctr"/>
            <a:r>
              <a:rPr lang="en-US" sz="1200" dirty="0" err="1"/>
              <a:t>hrio:Sex</a:t>
            </a:r>
            <a:endParaRPr lang="en-NL" sz="1200" dirty="0"/>
          </a:p>
        </p:txBody>
      </p:sp>
      <p:sp>
        <p:nvSpPr>
          <p:cNvPr id="5" name="TextBox 4">
            <a:extLst>
              <a:ext uri="{FF2B5EF4-FFF2-40B4-BE49-F238E27FC236}">
                <a16:creationId xmlns:a16="http://schemas.microsoft.com/office/drawing/2014/main" id="{AEE52881-E650-697F-92D3-8C6C5A6F6461}"/>
              </a:ext>
            </a:extLst>
          </p:cNvPr>
          <p:cNvSpPr txBox="1"/>
          <p:nvPr/>
        </p:nvSpPr>
        <p:spPr>
          <a:xfrm rot="18900000">
            <a:off x="2075428" y="3553480"/>
            <a:ext cx="1476174" cy="276999"/>
          </a:xfrm>
          <a:prstGeom prst="rect">
            <a:avLst/>
          </a:prstGeom>
          <a:noFill/>
        </p:spPr>
        <p:txBody>
          <a:bodyPr wrap="square" anchor="ctr">
            <a:spAutoFit/>
          </a:bodyPr>
          <a:lstStyle/>
          <a:p>
            <a:pPr algn="ctr"/>
            <a:r>
              <a:rPr lang="en-NL" sz="1200" dirty="0" err="1"/>
              <a:t>care-sm:Sex</a:t>
            </a:r>
            <a:endParaRPr lang="en-NL" sz="1200" dirty="0"/>
          </a:p>
        </p:txBody>
      </p:sp>
      <p:sp>
        <p:nvSpPr>
          <p:cNvPr id="24" name="TextBox 23">
            <a:extLst>
              <a:ext uri="{FF2B5EF4-FFF2-40B4-BE49-F238E27FC236}">
                <a16:creationId xmlns:a16="http://schemas.microsoft.com/office/drawing/2014/main" id="{BCC9B9ED-044E-EBF4-2BC6-3801C3243A82}"/>
              </a:ext>
            </a:extLst>
          </p:cNvPr>
          <p:cNvSpPr txBox="1"/>
          <p:nvPr/>
        </p:nvSpPr>
        <p:spPr>
          <a:xfrm rot="18900000">
            <a:off x="3583037" y="2060473"/>
            <a:ext cx="1336456" cy="276999"/>
          </a:xfrm>
          <a:prstGeom prst="rect">
            <a:avLst/>
          </a:prstGeom>
          <a:noFill/>
        </p:spPr>
        <p:txBody>
          <a:bodyPr wrap="none" rtlCol="0" anchor="ctr">
            <a:spAutoFit/>
          </a:bodyPr>
          <a:lstStyle/>
          <a:p>
            <a:pPr algn="ctr"/>
            <a:r>
              <a:rPr lang="en-US" sz="1200" dirty="0" err="1"/>
              <a:t>hrio:LegalGender</a:t>
            </a:r>
            <a:endParaRPr lang="en-NL" sz="1200" dirty="0"/>
          </a:p>
        </p:txBody>
      </p:sp>
      <p:sp>
        <p:nvSpPr>
          <p:cNvPr id="54" name="TextBox 53">
            <a:extLst>
              <a:ext uri="{FF2B5EF4-FFF2-40B4-BE49-F238E27FC236}">
                <a16:creationId xmlns:a16="http://schemas.microsoft.com/office/drawing/2014/main" id="{27E9681B-232F-37C8-9838-431CA6718252}"/>
              </a:ext>
            </a:extLst>
          </p:cNvPr>
          <p:cNvSpPr txBox="1"/>
          <p:nvPr/>
        </p:nvSpPr>
        <p:spPr>
          <a:xfrm rot="18900000">
            <a:off x="3330532" y="3553480"/>
            <a:ext cx="1841466" cy="276999"/>
          </a:xfrm>
          <a:prstGeom prst="rect">
            <a:avLst/>
          </a:prstGeom>
          <a:noFill/>
        </p:spPr>
        <p:txBody>
          <a:bodyPr wrap="none" rtlCol="0" anchor="ctr">
            <a:spAutoFit/>
          </a:bodyPr>
          <a:lstStyle>
            <a:defPPr>
              <a:defRPr lang="en-US"/>
            </a:defPPr>
            <a:lvl1pPr algn="ctr">
              <a:defRPr sz="1400"/>
            </a:lvl1pPr>
          </a:lstStyle>
          <a:p>
            <a:r>
              <a:rPr lang="en-US" sz="1200" dirty="0" err="1"/>
              <a:t>hri-openehr:legal-gender</a:t>
            </a:r>
            <a:endParaRPr lang="en-NL" sz="1200" dirty="0"/>
          </a:p>
        </p:txBody>
      </p:sp>
      <p:sp>
        <p:nvSpPr>
          <p:cNvPr id="78" name="TextBox 77">
            <a:extLst>
              <a:ext uri="{FF2B5EF4-FFF2-40B4-BE49-F238E27FC236}">
                <a16:creationId xmlns:a16="http://schemas.microsoft.com/office/drawing/2014/main" id="{C75C405E-C20B-55B1-FE9C-907BE2DDD531}"/>
              </a:ext>
            </a:extLst>
          </p:cNvPr>
          <p:cNvSpPr txBox="1"/>
          <p:nvPr/>
        </p:nvSpPr>
        <p:spPr>
          <a:xfrm rot="18900000">
            <a:off x="5084765" y="3553480"/>
            <a:ext cx="1168590" cy="276999"/>
          </a:xfrm>
          <a:prstGeom prst="rect">
            <a:avLst/>
          </a:prstGeom>
          <a:noFill/>
        </p:spPr>
        <p:txBody>
          <a:bodyPr wrap="none" rtlCol="0" anchor="ctr">
            <a:spAutoFit/>
          </a:bodyPr>
          <a:lstStyle>
            <a:defPPr>
              <a:defRPr lang="en-US"/>
            </a:defPPr>
            <a:lvl1pPr algn="ctr">
              <a:defRPr sz="1400"/>
            </a:lvl1pPr>
          </a:lstStyle>
          <a:p>
            <a:r>
              <a:rPr lang="en-US" sz="1200" dirty="0"/>
              <a:t>loinc:107454-1</a:t>
            </a:r>
            <a:endParaRPr lang="en-NL" sz="1200" dirty="0"/>
          </a:p>
        </p:txBody>
      </p:sp>
      <p:sp>
        <p:nvSpPr>
          <p:cNvPr id="80" name="TextBox 79">
            <a:extLst>
              <a:ext uri="{FF2B5EF4-FFF2-40B4-BE49-F238E27FC236}">
                <a16:creationId xmlns:a16="http://schemas.microsoft.com/office/drawing/2014/main" id="{E690C8DC-4729-95F9-96A9-9685F3978D33}"/>
              </a:ext>
            </a:extLst>
          </p:cNvPr>
          <p:cNvSpPr txBox="1"/>
          <p:nvPr/>
        </p:nvSpPr>
        <p:spPr>
          <a:xfrm rot="18900000">
            <a:off x="2095883" y="5032729"/>
            <a:ext cx="1435265" cy="461665"/>
          </a:xfrm>
          <a:prstGeom prst="rect">
            <a:avLst/>
          </a:prstGeom>
          <a:noFill/>
        </p:spPr>
        <p:txBody>
          <a:bodyPr wrap="none" rtlCol="0" anchor="ctr">
            <a:spAutoFit/>
          </a:bodyPr>
          <a:lstStyle>
            <a:defPPr>
              <a:defRPr lang="en-US"/>
            </a:defPPr>
            <a:lvl1pPr algn="ctr">
              <a:defRPr sz="1400"/>
            </a:lvl1pPr>
          </a:lstStyle>
          <a:p>
            <a:r>
              <a:rPr lang="en-US" sz="1200" dirty="0"/>
              <a:t>NPR Demographic </a:t>
            </a:r>
          </a:p>
          <a:p>
            <a:r>
              <a:rPr lang="en-US" sz="1200" dirty="0"/>
              <a:t>Extract</a:t>
            </a:r>
            <a:endParaRPr lang="en-NL" sz="1200" dirty="0"/>
          </a:p>
        </p:txBody>
      </p:sp>
      <p:sp>
        <p:nvSpPr>
          <p:cNvPr id="3" name="TextBox 2">
            <a:extLst>
              <a:ext uri="{FF2B5EF4-FFF2-40B4-BE49-F238E27FC236}">
                <a16:creationId xmlns:a16="http://schemas.microsoft.com/office/drawing/2014/main" id="{D3185EB4-5AF2-4A95-8DE1-FFF6587A6847}"/>
              </a:ext>
            </a:extLst>
          </p:cNvPr>
          <p:cNvSpPr txBox="1"/>
          <p:nvPr/>
        </p:nvSpPr>
        <p:spPr>
          <a:xfrm rot="18900000">
            <a:off x="4862429" y="5032729"/>
            <a:ext cx="1613262" cy="461665"/>
          </a:xfrm>
          <a:prstGeom prst="rect">
            <a:avLst/>
          </a:prstGeom>
          <a:noFill/>
        </p:spPr>
        <p:txBody>
          <a:bodyPr wrap="none" rtlCol="0" anchor="ctr">
            <a:spAutoFit/>
          </a:bodyPr>
          <a:lstStyle>
            <a:defPPr>
              <a:defRPr lang="en-US"/>
            </a:defPPr>
            <a:lvl1pPr algn="ctr">
              <a:defRPr sz="1400"/>
            </a:lvl1pPr>
          </a:lstStyle>
          <a:p>
            <a:r>
              <a:rPr lang="en-US" sz="1200" dirty="0"/>
              <a:t>Administrative Intake </a:t>
            </a:r>
          </a:p>
          <a:p>
            <a:r>
              <a:rPr lang="en-US" sz="1200" dirty="0"/>
              <a:t>Extract</a:t>
            </a:r>
            <a:endParaRPr lang="en-NL" sz="1100" dirty="0">
              <a:effectLst/>
            </a:endParaRPr>
          </a:p>
        </p:txBody>
      </p:sp>
      <p:sp>
        <p:nvSpPr>
          <p:cNvPr id="6" name="TextBox 5">
            <a:extLst>
              <a:ext uri="{FF2B5EF4-FFF2-40B4-BE49-F238E27FC236}">
                <a16:creationId xmlns:a16="http://schemas.microsoft.com/office/drawing/2014/main" id="{8D77F5FB-9F08-32F7-E3D9-4698A3F57A7D}"/>
              </a:ext>
            </a:extLst>
          </p:cNvPr>
          <p:cNvSpPr txBox="1"/>
          <p:nvPr/>
        </p:nvSpPr>
        <p:spPr>
          <a:xfrm rot="18900000">
            <a:off x="3447680" y="5032729"/>
            <a:ext cx="1607170" cy="461665"/>
          </a:xfrm>
          <a:prstGeom prst="rect">
            <a:avLst/>
          </a:prstGeom>
          <a:noFill/>
        </p:spPr>
        <p:txBody>
          <a:bodyPr wrap="none" rtlCol="0" anchor="ctr">
            <a:spAutoFit/>
          </a:bodyPr>
          <a:lstStyle>
            <a:defPPr>
              <a:defRPr lang="en-US"/>
            </a:defPPr>
            <a:lvl1pPr algn="ctr">
              <a:defRPr sz="1400"/>
            </a:lvl1pPr>
          </a:lstStyle>
          <a:p>
            <a:r>
              <a:rPr lang="en-US" sz="1200" dirty="0"/>
              <a:t>Hospital Registration </a:t>
            </a:r>
          </a:p>
          <a:p>
            <a:r>
              <a:rPr lang="en-US" sz="1200" dirty="0"/>
              <a:t>Extract</a:t>
            </a:r>
            <a:endParaRPr lang="en-NL" sz="1200" dirty="0"/>
          </a:p>
        </p:txBody>
      </p:sp>
      <p:sp>
        <p:nvSpPr>
          <p:cNvPr id="12" name="TextBox 11">
            <a:extLst>
              <a:ext uri="{FF2B5EF4-FFF2-40B4-BE49-F238E27FC236}">
                <a16:creationId xmlns:a16="http://schemas.microsoft.com/office/drawing/2014/main" id="{0C97033C-BCAB-DDA3-8A50-7EAD21084898}"/>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2</a:t>
            </a:r>
            <a:endParaRPr lang="en-NL" sz="1000" b="1" dirty="0"/>
          </a:p>
        </p:txBody>
      </p:sp>
      <p:sp>
        <p:nvSpPr>
          <p:cNvPr id="56" name="Oval 55">
            <a:extLst>
              <a:ext uri="{FF2B5EF4-FFF2-40B4-BE49-F238E27FC236}">
                <a16:creationId xmlns:a16="http://schemas.microsoft.com/office/drawing/2014/main" id="{0B7B0DCA-082E-C2AD-985B-8B9E7463A8D5}"/>
              </a:ext>
            </a:extLst>
          </p:cNvPr>
          <p:cNvSpPr/>
          <p:nvPr/>
        </p:nvSpPr>
        <p:spPr>
          <a:xfrm>
            <a:off x="3060682" y="3587332"/>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endParaRPr lang="en-NL" dirty="0"/>
          </a:p>
        </p:txBody>
      </p:sp>
      <p:sp>
        <p:nvSpPr>
          <p:cNvPr id="8" name="Oval 7">
            <a:extLst>
              <a:ext uri="{FF2B5EF4-FFF2-40B4-BE49-F238E27FC236}">
                <a16:creationId xmlns:a16="http://schemas.microsoft.com/office/drawing/2014/main" id="{A3071136-00EC-2F46-F9E9-329A28CC9D62}"/>
              </a:ext>
            </a:extLst>
          </p:cNvPr>
          <p:cNvSpPr/>
          <p:nvPr/>
        </p:nvSpPr>
        <p:spPr>
          <a:xfrm>
            <a:off x="3054087" y="2067677"/>
            <a:ext cx="409575" cy="409575"/>
          </a:xfrm>
          <a:prstGeom prst="ellipse">
            <a:avLst/>
          </a:prstGeom>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NL" sz="1700" dirty="0"/>
          </a:p>
        </p:txBody>
      </p:sp>
      <p:sp>
        <p:nvSpPr>
          <p:cNvPr id="58" name="Oval 57">
            <a:extLst>
              <a:ext uri="{FF2B5EF4-FFF2-40B4-BE49-F238E27FC236}">
                <a16:creationId xmlns:a16="http://schemas.microsoft.com/office/drawing/2014/main" id="{71B10937-A892-DDBA-32FA-FBB7F3EB2B38}"/>
              </a:ext>
            </a:extLst>
          </p:cNvPr>
          <p:cNvSpPr/>
          <p:nvPr/>
        </p:nvSpPr>
        <p:spPr>
          <a:xfrm>
            <a:off x="4495812" y="3587332"/>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endParaRPr lang="en-NL" dirty="0"/>
          </a:p>
        </p:txBody>
      </p:sp>
      <p:sp>
        <p:nvSpPr>
          <p:cNvPr id="49" name="Oval 48">
            <a:extLst>
              <a:ext uri="{FF2B5EF4-FFF2-40B4-BE49-F238E27FC236}">
                <a16:creationId xmlns:a16="http://schemas.microsoft.com/office/drawing/2014/main" id="{169AAC76-0429-E3E2-049C-537303DFE815}"/>
              </a:ext>
            </a:extLst>
          </p:cNvPr>
          <p:cNvSpPr/>
          <p:nvPr/>
        </p:nvSpPr>
        <p:spPr>
          <a:xfrm>
            <a:off x="5930941" y="3587332"/>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endParaRPr lang="en-NL" dirty="0"/>
          </a:p>
        </p:txBody>
      </p:sp>
      <p:sp>
        <p:nvSpPr>
          <p:cNvPr id="72" name="Oval 71">
            <a:extLst>
              <a:ext uri="{FF2B5EF4-FFF2-40B4-BE49-F238E27FC236}">
                <a16:creationId xmlns:a16="http://schemas.microsoft.com/office/drawing/2014/main" id="{FCFCBD7A-F974-D53D-3188-FAD8FCE474AE}"/>
              </a:ext>
            </a:extLst>
          </p:cNvPr>
          <p:cNvSpPr/>
          <p:nvPr/>
        </p:nvSpPr>
        <p:spPr>
          <a:xfrm>
            <a:off x="3060682" y="5106988"/>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endParaRPr lang="en-NL" dirty="0"/>
          </a:p>
        </p:txBody>
      </p:sp>
      <p:sp>
        <p:nvSpPr>
          <p:cNvPr id="73" name="Oval 72">
            <a:extLst>
              <a:ext uri="{FF2B5EF4-FFF2-40B4-BE49-F238E27FC236}">
                <a16:creationId xmlns:a16="http://schemas.microsoft.com/office/drawing/2014/main" id="{6D212666-23C8-D986-69BB-037D8491896B}"/>
              </a:ext>
            </a:extLst>
          </p:cNvPr>
          <p:cNvSpPr/>
          <p:nvPr/>
        </p:nvSpPr>
        <p:spPr>
          <a:xfrm>
            <a:off x="4495812" y="5106988"/>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endParaRPr lang="en-NL" dirty="0"/>
          </a:p>
        </p:txBody>
      </p:sp>
      <p:sp>
        <p:nvSpPr>
          <p:cNvPr id="74" name="Oval 73">
            <a:extLst>
              <a:ext uri="{FF2B5EF4-FFF2-40B4-BE49-F238E27FC236}">
                <a16:creationId xmlns:a16="http://schemas.microsoft.com/office/drawing/2014/main" id="{5DFD85D3-69A0-AF34-97F7-0D58A0D2FEE4}"/>
              </a:ext>
            </a:extLst>
          </p:cNvPr>
          <p:cNvSpPr/>
          <p:nvPr/>
        </p:nvSpPr>
        <p:spPr>
          <a:xfrm>
            <a:off x="5930941" y="5106988"/>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endParaRPr lang="en-NL" dirty="0"/>
          </a:p>
        </p:txBody>
      </p:sp>
      <p:sp>
        <p:nvSpPr>
          <p:cNvPr id="21" name="Oval 20">
            <a:extLst>
              <a:ext uri="{FF2B5EF4-FFF2-40B4-BE49-F238E27FC236}">
                <a16:creationId xmlns:a16="http://schemas.microsoft.com/office/drawing/2014/main" id="{947D1DB6-7C40-2728-AF23-D6EC313C7791}"/>
              </a:ext>
            </a:extLst>
          </p:cNvPr>
          <p:cNvSpPr/>
          <p:nvPr/>
        </p:nvSpPr>
        <p:spPr>
          <a:xfrm>
            <a:off x="5930941" y="2067677"/>
            <a:ext cx="409575" cy="409575"/>
          </a:xfrm>
          <a:prstGeom prst="ellipse">
            <a:avLst/>
          </a:prstGeom>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NL" sz="1700" dirty="0"/>
          </a:p>
        </p:txBody>
      </p:sp>
      <p:cxnSp>
        <p:nvCxnSpPr>
          <p:cNvPr id="26" name="Straight Arrow Connector 25">
            <a:extLst>
              <a:ext uri="{FF2B5EF4-FFF2-40B4-BE49-F238E27FC236}">
                <a16:creationId xmlns:a16="http://schemas.microsoft.com/office/drawing/2014/main" id="{44F87943-2902-E1F6-FFF4-15DF9E33D30B}"/>
              </a:ext>
            </a:extLst>
          </p:cNvPr>
          <p:cNvCxnSpPr>
            <a:cxnSpLocks/>
            <a:stCxn id="56" idx="0"/>
            <a:endCxn id="8" idx="4"/>
          </p:cNvCxnSpPr>
          <p:nvPr/>
        </p:nvCxnSpPr>
        <p:spPr>
          <a:xfrm flipH="1" flipV="1">
            <a:off x="3258875" y="2477252"/>
            <a:ext cx="6595" cy="1110080"/>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54630E87-F154-9E4B-DEF6-C653DFCD241A}"/>
              </a:ext>
            </a:extLst>
          </p:cNvPr>
          <p:cNvCxnSpPr>
            <a:cxnSpLocks/>
            <a:stCxn id="58" idx="0"/>
            <a:endCxn id="88" idx="4"/>
          </p:cNvCxnSpPr>
          <p:nvPr/>
        </p:nvCxnSpPr>
        <p:spPr>
          <a:xfrm flipH="1" flipV="1">
            <a:off x="4700599" y="2477320"/>
            <a:ext cx="1" cy="1110012"/>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946E4C79-07AF-B131-88D8-B6CB2D85C9A4}"/>
              </a:ext>
            </a:extLst>
          </p:cNvPr>
          <p:cNvCxnSpPr>
            <a:cxnSpLocks/>
            <a:stCxn id="73" idx="0"/>
            <a:endCxn id="58" idx="4"/>
          </p:cNvCxnSpPr>
          <p:nvPr/>
        </p:nvCxnSpPr>
        <p:spPr>
          <a:xfrm flipV="1">
            <a:off x="4700600" y="3996907"/>
            <a:ext cx="0" cy="1110081"/>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F8579573-0543-75F3-D63D-D36557B33ED9}"/>
              </a:ext>
            </a:extLst>
          </p:cNvPr>
          <p:cNvCxnSpPr>
            <a:cxnSpLocks/>
            <a:stCxn id="72" idx="0"/>
            <a:endCxn id="56" idx="4"/>
          </p:cNvCxnSpPr>
          <p:nvPr/>
        </p:nvCxnSpPr>
        <p:spPr>
          <a:xfrm flipV="1">
            <a:off x="3265470" y="3996907"/>
            <a:ext cx="0" cy="1110081"/>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41665AC9-3ABF-17C3-4262-7D37E043D321}"/>
              </a:ext>
            </a:extLst>
          </p:cNvPr>
          <p:cNvCxnSpPr>
            <a:cxnSpLocks/>
            <a:stCxn id="49" idx="0"/>
            <a:endCxn id="21" idx="4"/>
          </p:cNvCxnSpPr>
          <p:nvPr/>
        </p:nvCxnSpPr>
        <p:spPr>
          <a:xfrm flipV="1">
            <a:off x="6135729" y="2477252"/>
            <a:ext cx="0" cy="1110080"/>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7DE4BA23-8C10-3B38-41B1-507CFCC0FB0C}"/>
              </a:ext>
            </a:extLst>
          </p:cNvPr>
          <p:cNvCxnSpPr>
            <a:cxnSpLocks/>
            <a:stCxn id="74" idx="0"/>
            <a:endCxn id="49" idx="4"/>
          </p:cNvCxnSpPr>
          <p:nvPr/>
        </p:nvCxnSpPr>
        <p:spPr>
          <a:xfrm flipV="1">
            <a:off x="6135729" y="3996907"/>
            <a:ext cx="0" cy="1110081"/>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sp>
        <p:nvSpPr>
          <p:cNvPr id="88" name="Oval 87">
            <a:extLst>
              <a:ext uri="{FF2B5EF4-FFF2-40B4-BE49-F238E27FC236}">
                <a16:creationId xmlns:a16="http://schemas.microsoft.com/office/drawing/2014/main" id="{96B361FE-DCDE-9B0F-CCC3-2159C3C72619}"/>
              </a:ext>
            </a:extLst>
          </p:cNvPr>
          <p:cNvSpPr/>
          <p:nvPr/>
        </p:nvSpPr>
        <p:spPr>
          <a:xfrm>
            <a:off x="4495811" y="2067745"/>
            <a:ext cx="409575" cy="409575"/>
          </a:xfrm>
          <a:prstGeom prst="ellipse">
            <a:avLst/>
          </a:prstGeom>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NL" sz="1700" dirty="0"/>
          </a:p>
        </p:txBody>
      </p:sp>
      <p:cxnSp>
        <p:nvCxnSpPr>
          <p:cNvPr id="13" name="Straight Arrow Connector 12">
            <a:extLst>
              <a:ext uri="{FF2B5EF4-FFF2-40B4-BE49-F238E27FC236}">
                <a16:creationId xmlns:a16="http://schemas.microsoft.com/office/drawing/2014/main" id="{3BD462AE-C4E5-94FE-3461-E6B1661A6996}"/>
              </a:ext>
            </a:extLst>
          </p:cNvPr>
          <p:cNvCxnSpPr>
            <a:cxnSpLocks/>
            <a:stCxn id="88" idx="6"/>
            <a:endCxn id="21" idx="2"/>
          </p:cNvCxnSpPr>
          <p:nvPr/>
        </p:nvCxnSpPr>
        <p:spPr>
          <a:xfrm flipV="1">
            <a:off x="4905386" y="2272465"/>
            <a:ext cx="1025555" cy="68"/>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6DC0B6C5-99DF-58BE-0127-C16FD0B81BDA}"/>
              </a:ext>
            </a:extLst>
          </p:cNvPr>
          <p:cNvSpPr txBox="1"/>
          <p:nvPr/>
        </p:nvSpPr>
        <p:spPr>
          <a:xfrm rot="18900000">
            <a:off x="4700814" y="2060473"/>
            <a:ext cx="1936492" cy="276999"/>
          </a:xfrm>
          <a:prstGeom prst="rect">
            <a:avLst/>
          </a:prstGeom>
          <a:noFill/>
        </p:spPr>
        <p:txBody>
          <a:bodyPr wrap="none" rtlCol="0" anchor="ctr">
            <a:spAutoFit/>
          </a:bodyPr>
          <a:lstStyle/>
          <a:p>
            <a:pPr algn="ctr"/>
            <a:r>
              <a:rPr lang="en-US" sz="1200" dirty="0" err="1"/>
              <a:t>hrio:AdministrativeGender</a:t>
            </a:r>
            <a:endParaRPr lang="en-NL" sz="1200" dirty="0"/>
          </a:p>
        </p:txBody>
      </p:sp>
    </p:spTree>
    <p:extLst>
      <p:ext uri="{BB962C8B-B14F-4D97-AF65-F5344CB8AC3E}">
        <p14:creationId xmlns:p14="http://schemas.microsoft.com/office/powerpoint/2010/main" val="2794653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5" presetClass="emph" presetSubtype="0" fill="hold" grpId="0" nodeType="withEffect">
                                  <p:stCondLst>
                                    <p:cond delay="0"/>
                                  </p:stCondLst>
                                  <p:childTnLst>
                                    <p:animClr clrSpc="hsl" dir="cw">
                                      <p:cBhvr override="childStyle">
                                        <p:cTn id="6" dur="500" fill="hold"/>
                                        <p:tgtEl>
                                          <p:spTgt spid="6"/>
                                        </p:tgtEl>
                                        <p:attrNameLst>
                                          <p:attrName>style.color</p:attrName>
                                        </p:attrNameLst>
                                      </p:cBhvr>
                                      <p:by>
                                        <p:hsl h="0" s="-70588" l="0"/>
                                      </p:by>
                                    </p:animClr>
                                    <p:animClr clrSpc="hsl" dir="cw">
                                      <p:cBhvr>
                                        <p:cTn id="7" dur="500" fill="hold"/>
                                        <p:tgtEl>
                                          <p:spTgt spid="6"/>
                                        </p:tgtEl>
                                        <p:attrNameLst>
                                          <p:attrName>fillcolor</p:attrName>
                                        </p:attrNameLst>
                                      </p:cBhvr>
                                      <p:by>
                                        <p:hsl h="0" s="-70588" l="0"/>
                                      </p:by>
                                    </p:animClr>
                                    <p:animClr clrSpc="hsl" dir="cw">
                                      <p:cBhvr>
                                        <p:cTn id="8" dur="500" fill="hold"/>
                                        <p:tgtEl>
                                          <p:spTgt spid="6"/>
                                        </p:tgtEl>
                                        <p:attrNameLst>
                                          <p:attrName>stroke.color</p:attrName>
                                        </p:attrNameLst>
                                      </p:cBhvr>
                                      <p:by>
                                        <p:hsl h="0" s="-70588" l="0"/>
                                      </p:by>
                                    </p:animClr>
                                    <p:set>
                                      <p:cBhvr>
                                        <p:cTn id="9" dur="500" fill="hold"/>
                                        <p:tgtEl>
                                          <p:spTgt spid="6"/>
                                        </p:tgtEl>
                                        <p:attrNameLst>
                                          <p:attrName>fill.type</p:attrName>
                                        </p:attrNameLst>
                                      </p:cBhvr>
                                      <p:to>
                                        <p:strVal val="solid"/>
                                      </p:to>
                                    </p:set>
                                  </p:childTnLst>
                                </p:cTn>
                              </p:par>
                              <p:par>
                                <p:cTn id="10" presetID="25" presetClass="emph" presetSubtype="0" fill="hold" grpId="0" nodeType="withEffect">
                                  <p:stCondLst>
                                    <p:cond delay="0"/>
                                  </p:stCondLst>
                                  <p:childTnLst>
                                    <p:animClr clrSpc="hsl" dir="cw">
                                      <p:cBhvr override="childStyle">
                                        <p:cTn id="11" dur="500" fill="hold"/>
                                        <p:tgtEl>
                                          <p:spTgt spid="3"/>
                                        </p:tgtEl>
                                        <p:attrNameLst>
                                          <p:attrName>style.color</p:attrName>
                                        </p:attrNameLst>
                                      </p:cBhvr>
                                      <p:by>
                                        <p:hsl h="0" s="-70588" l="0"/>
                                      </p:by>
                                    </p:animClr>
                                    <p:animClr clrSpc="hsl" dir="cw">
                                      <p:cBhvr>
                                        <p:cTn id="12" dur="500" fill="hold"/>
                                        <p:tgtEl>
                                          <p:spTgt spid="3"/>
                                        </p:tgtEl>
                                        <p:attrNameLst>
                                          <p:attrName>fillcolor</p:attrName>
                                        </p:attrNameLst>
                                      </p:cBhvr>
                                      <p:by>
                                        <p:hsl h="0" s="-70588" l="0"/>
                                      </p:by>
                                    </p:animClr>
                                    <p:animClr clrSpc="hsl" dir="cw">
                                      <p:cBhvr>
                                        <p:cTn id="13" dur="500" fill="hold"/>
                                        <p:tgtEl>
                                          <p:spTgt spid="3"/>
                                        </p:tgtEl>
                                        <p:attrNameLst>
                                          <p:attrName>stroke.color</p:attrName>
                                        </p:attrNameLst>
                                      </p:cBhvr>
                                      <p:by>
                                        <p:hsl h="0" s="-70588" l="0"/>
                                      </p:by>
                                    </p:animClr>
                                    <p:set>
                                      <p:cBhvr>
                                        <p:cTn id="14" dur="500" fill="hold"/>
                                        <p:tgtEl>
                                          <p:spTgt spid="3"/>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B8CA11-5C8D-775C-8F0F-CDB17A83499D}"/>
            </a:ext>
          </a:extLst>
        </p:cNvPr>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ED66E975-5AC0-A4BF-76B7-F0799EC84E56}"/>
              </a:ext>
            </a:extLst>
          </p:cNvPr>
          <p:cNvCxnSpPr/>
          <p:nvPr/>
        </p:nvCxnSpPr>
        <p:spPr>
          <a:xfrm>
            <a:off x="2440086" y="1662864"/>
            <a:ext cx="0" cy="3010736"/>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sp>
        <p:nvSpPr>
          <p:cNvPr id="4" name="Slide Number Placeholder 3">
            <a:extLst>
              <a:ext uri="{FF2B5EF4-FFF2-40B4-BE49-F238E27FC236}">
                <a16:creationId xmlns:a16="http://schemas.microsoft.com/office/drawing/2014/main" id="{77D08F68-C9F7-52A0-B8E6-6F6B8418D848}"/>
              </a:ext>
            </a:extLst>
          </p:cNvPr>
          <p:cNvSpPr>
            <a:spLocks noGrp="1"/>
          </p:cNvSpPr>
          <p:nvPr>
            <p:ph type="sldNum" sz="quarter" idx="12"/>
          </p:nvPr>
        </p:nvSpPr>
        <p:spPr/>
        <p:txBody>
          <a:bodyPr/>
          <a:lstStyle/>
          <a:p>
            <a:fld id="{4FAB73BC-B049-4115-A692-8D63A059BFB8}" type="slidenum">
              <a:rPr lang="en-US" smtClean="0"/>
              <a:pPr/>
              <a:t>29</a:t>
            </a:fld>
            <a:endParaRPr lang="en-US" dirty="0"/>
          </a:p>
        </p:txBody>
      </p:sp>
      <p:sp>
        <p:nvSpPr>
          <p:cNvPr id="30" name="Parallelogram 29">
            <a:extLst>
              <a:ext uri="{FF2B5EF4-FFF2-40B4-BE49-F238E27FC236}">
                <a16:creationId xmlns:a16="http://schemas.microsoft.com/office/drawing/2014/main" id="{D25B60D6-9784-7AFA-7A09-2B0D397DAA64}"/>
              </a:ext>
            </a:extLst>
          </p:cNvPr>
          <p:cNvSpPr/>
          <p:nvPr/>
        </p:nvSpPr>
        <p:spPr>
          <a:xfrm>
            <a:off x="982761" y="3153944"/>
            <a:ext cx="10229850" cy="1276350"/>
          </a:xfrm>
          <a:prstGeom prst="parallelogram">
            <a:avLst>
              <a:gd name="adj" fmla="val 113806"/>
            </a:avLst>
          </a:prstGeom>
          <a:solidFill>
            <a:srgbClr val="FFE4D9"/>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solidFill>
                <a:srgbClr val="FFE4D9"/>
              </a:solidFill>
            </a:endParaRPr>
          </a:p>
        </p:txBody>
      </p:sp>
      <p:sp>
        <p:nvSpPr>
          <p:cNvPr id="31" name="TextBox 30">
            <a:extLst>
              <a:ext uri="{FF2B5EF4-FFF2-40B4-BE49-F238E27FC236}">
                <a16:creationId xmlns:a16="http://schemas.microsoft.com/office/drawing/2014/main" id="{244983A9-1DB0-DFBF-A8DC-467E412EFD13}"/>
              </a:ext>
            </a:extLst>
          </p:cNvPr>
          <p:cNvSpPr txBox="1"/>
          <p:nvPr/>
        </p:nvSpPr>
        <p:spPr>
          <a:xfrm>
            <a:off x="1218930" y="4122517"/>
            <a:ext cx="1693092"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33" name="Parallelogram 32">
            <a:extLst>
              <a:ext uri="{FF2B5EF4-FFF2-40B4-BE49-F238E27FC236}">
                <a16:creationId xmlns:a16="http://schemas.microsoft.com/office/drawing/2014/main" id="{EC87AB75-4CBC-AFEE-60B9-963841ED4928}"/>
              </a:ext>
            </a:extLst>
          </p:cNvPr>
          <p:cNvSpPr/>
          <p:nvPr/>
        </p:nvSpPr>
        <p:spPr>
          <a:xfrm>
            <a:off x="982761" y="4673600"/>
            <a:ext cx="10229850" cy="1276350"/>
          </a:xfrm>
          <a:prstGeom prst="parallelogram">
            <a:avLst>
              <a:gd name="adj" fmla="val 113806"/>
            </a:avLst>
          </a:prstGeom>
          <a:solidFill>
            <a:schemeClr val="accent4">
              <a:lumMod val="20000"/>
              <a:lumOff val="8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4" name="TextBox 33">
            <a:extLst>
              <a:ext uri="{FF2B5EF4-FFF2-40B4-BE49-F238E27FC236}">
                <a16:creationId xmlns:a16="http://schemas.microsoft.com/office/drawing/2014/main" id="{73388A6C-01E6-8493-A5BE-DADF0DB6533A}"/>
              </a:ext>
            </a:extLst>
          </p:cNvPr>
          <p:cNvSpPr txBox="1"/>
          <p:nvPr/>
        </p:nvSpPr>
        <p:spPr>
          <a:xfrm>
            <a:off x="1258204" y="5642173"/>
            <a:ext cx="1529586"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4"/>
                </a:solidFill>
              </a:rPr>
              <a:t>Dataset Columns</a:t>
            </a:r>
            <a:endParaRPr lang="en-NL" sz="1400" dirty="0">
              <a:solidFill>
                <a:schemeClr val="accent4"/>
              </a:solidFill>
            </a:endParaRPr>
          </a:p>
        </p:txBody>
      </p:sp>
      <p:sp>
        <p:nvSpPr>
          <p:cNvPr id="16" name="Parallelogram 15">
            <a:extLst>
              <a:ext uri="{FF2B5EF4-FFF2-40B4-BE49-F238E27FC236}">
                <a16:creationId xmlns:a16="http://schemas.microsoft.com/office/drawing/2014/main" id="{D6526D84-2EFE-0316-A9A8-FBC50E61D5C7}"/>
              </a:ext>
            </a:extLst>
          </p:cNvPr>
          <p:cNvSpPr/>
          <p:nvPr/>
        </p:nvSpPr>
        <p:spPr>
          <a:xfrm>
            <a:off x="982761" y="1634289"/>
            <a:ext cx="10229850" cy="1276350"/>
          </a:xfrm>
          <a:prstGeom prst="parallelogram">
            <a:avLst>
              <a:gd name="adj" fmla="val 113806"/>
            </a:avLst>
          </a:prstGeom>
          <a:solidFill>
            <a:schemeClr val="accent1">
              <a:lumMod val="20000"/>
              <a:lumOff val="80000"/>
              <a:alpha val="95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7" name="TextBox 16">
            <a:extLst>
              <a:ext uri="{FF2B5EF4-FFF2-40B4-BE49-F238E27FC236}">
                <a16:creationId xmlns:a16="http://schemas.microsoft.com/office/drawing/2014/main" id="{D6332656-A6CA-58C3-6BFD-D1FB1D6744A6}"/>
              </a:ext>
            </a:extLst>
          </p:cNvPr>
          <p:cNvSpPr txBox="1"/>
          <p:nvPr/>
        </p:nvSpPr>
        <p:spPr>
          <a:xfrm>
            <a:off x="1352455" y="2602861"/>
            <a:ext cx="954107"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tx2">
                    <a:lumMod val="90000"/>
                    <a:lumOff val="10000"/>
                  </a:schemeClr>
                </a:solidFill>
              </a:rPr>
              <a:t>Meanings</a:t>
            </a:r>
            <a:endParaRPr lang="en-NL" sz="1400" dirty="0">
              <a:solidFill>
                <a:schemeClr val="tx2">
                  <a:lumMod val="90000"/>
                  <a:lumOff val="10000"/>
                </a:schemeClr>
              </a:solidFill>
            </a:endParaRPr>
          </a:p>
        </p:txBody>
      </p:sp>
      <p:cxnSp>
        <p:nvCxnSpPr>
          <p:cNvPr id="18" name="Straight Connector 17">
            <a:extLst>
              <a:ext uri="{FF2B5EF4-FFF2-40B4-BE49-F238E27FC236}">
                <a16:creationId xmlns:a16="http://schemas.microsoft.com/office/drawing/2014/main" id="{C9A1A95E-00DA-BC22-EC0B-41701E334471}"/>
              </a:ext>
            </a:extLst>
          </p:cNvPr>
          <p:cNvCxnSpPr/>
          <p:nvPr/>
        </p:nvCxnSpPr>
        <p:spPr>
          <a:xfrm>
            <a:off x="982760" y="2939214"/>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602C252D-8430-54EE-347A-1125B0669EBB}"/>
              </a:ext>
            </a:extLst>
          </p:cNvPr>
          <p:cNvCxnSpPr/>
          <p:nvPr/>
        </p:nvCxnSpPr>
        <p:spPr>
          <a:xfrm>
            <a:off x="11210279" y="1662864"/>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BC579C89-9735-30DE-EEA4-7C75CAD85D6E}"/>
              </a:ext>
            </a:extLst>
          </p:cNvPr>
          <p:cNvCxnSpPr/>
          <p:nvPr/>
        </p:nvCxnSpPr>
        <p:spPr>
          <a:xfrm>
            <a:off x="9762478" y="2939214"/>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51" name="Rectangle: Rounded Corners 50">
            <a:extLst>
              <a:ext uri="{FF2B5EF4-FFF2-40B4-BE49-F238E27FC236}">
                <a16:creationId xmlns:a16="http://schemas.microsoft.com/office/drawing/2014/main" id="{CB979A3E-5533-B629-0883-E5A1F29EDF17}"/>
              </a:ext>
            </a:extLst>
          </p:cNvPr>
          <p:cNvSpPr/>
          <p:nvPr/>
        </p:nvSpPr>
        <p:spPr>
          <a:xfrm>
            <a:off x="6913015" y="1628775"/>
            <a:ext cx="4583660" cy="852489"/>
          </a:xfrm>
          <a:prstGeom prst="roundRect">
            <a:avLst>
              <a:gd name="adj" fmla="val 327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b="1" dirty="0"/>
              <a:t>Amir: </a:t>
            </a:r>
            <a:r>
              <a:rPr lang="en-US" i="1" dirty="0"/>
              <a:t>“Which of these datasets contains the variable that represents biological sex?”</a:t>
            </a:r>
            <a:endParaRPr lang="en-NL" dirty="0">
              <a:effectLst/>
            </a:endParaRPr>
          </a:p>
        </p:txBody>
      </p:sp>
      <p:sp>
        <p:nvSpPr>
          <p:cNvPr id="63" name="TextBox 62">
            <a:extLst>
              <a:ext uri="{FF2B5EF4-FFF2-40B4-BE49-F238E27FC236}">
                <a16:creationId xmlns:a16="http://schemas.microsoft.com/office/drawing/2014/main" id="{560C7E2C-A697-0604-47A8-4BD70A214003}"/>
              </a:ext>
            </a:extLst>
          </p:cNvPr>
          <p:cNvSpPr txBox="1"/>
          <p:nvPr/>
        </p:nvSpPr>
        <p:spPr>
          <a:xfrm rot="18900000">
            <a:off x="2656871" y="1865401"/>
            <a:ext cx="719364" cy="276999"/>
          </a:xfrm>
          <a:prstGeom prst="rect">
            <a:avLst/>
          </a:prstGeom>
          <a:noFill/>
        </p:spPr>
        <p:txBody>
          <a:bodyPr wrap="none" rtlCol="0" anchor="ctr">
            <a:spAutoFit/>
          </a:bodyPr>
          <a:lstStyle/>
          <a:p>
            <a:pPr algn="ctr"/>
            <a:r>
              <a:rPr lang="en-US" sz="1200" dirty="0" err="1"/>
              <a:t>hrio:Sex</a:t>
            </a:r>
            <a:endParaRPr lang="en-NL" sz="1200" dirty="0"/>
          </a:p>
        </p:txBody>
      </p:sp>
      <p:sp>
        <p:nvSpPr>
          <p:cNvPr id="5" name="TextBox 4">
            <a:extLst>
              <a:ext uri="{FF2B5EF4-FFF2-40B4-BE49-F238E27FC236}">
                <a16:creationId xmlns:a16="http://schemas.microsoft.com/office/drawing/2014/main" id="{FE387EF8-8B00-EC38-8680-2A39288C9649}"/>
              </a:ext>
            </a:extLst>
          </p:cNvPr>
          <p:cNvSpPr txBox="1"/>
          <p:nvPr/>
        </p:nvSpPr>
        <p:spPr>
          <a:xfrm rot="18900000">
            <a:off x="2242007" y="3407260"/>
            <a:ext cx="1476174" cy="307777"/>
          </a:xfrm>
          <a:prstGeom prst="rect">
            <a:avLst/>
          </a:prstGeom>
          <a:noFill/>
        </p:spPr>
        <p:txBody>
          <a:bodyPr wrap="square" anchor="ctr">
            <a:spAutoFit/>
          </a:bodyPr>
          <a:lstStyle/>
          <a:p>
            <a:pPr algn="ctr"/>
            <a:r>
              <a:rPr lang="en-NL" sz="1400" dirty="0" err="1"/>
              <a:t>care-sm:Sex</a:t>
            </a:r>
            <a:endParaRPr lang="en-NL" sz="1400" dirty="0"/>
          </a:p>
        </p:txBody>
      </p:sp>
      <p:sp>
        <p:nvSpPr>
          <p:cNvPr id="24" name="TextBox 23">
            <a:extLst>
              <a:ext uri="{FF2B5EF4-FFF2-40B4-BE49-F238E27FC236}">
                <a16:creationId xmlns:a16="http://schemas.microsoft.com/office/drawing/2014/main" id="{ABD60AD1-34C2-4F87-564C-BA42ADA0E67E}"/>
              </a:ext>
            </a:extLst>
          </p:cNvPr>
          <p:cNvSpPr txBox="1"/>
          <p:nvPr/>
        </p:nvSpPr>
        <p:spPr>
          <a:xfrm rot="18900000">
            <a:off x="3490563" y="1865401"/>
            <a:ext cx="1936491" cy="276999"/>
          </a:xfrm>
          <a:prstGeom prst="rect">
            <a:avLst/>
          </a:prstGeom>
          <a:noFill/>
        </p:spPr>
        <p:txBody>
          <a:bodyPr wrap="none" rtlCol="0" anchor="ctr">
            <a:spAutoFit/>
          </a:bodyPr>
          <a:lstStyle/>
          <a:p>
            <a:pPr algn="ctr"/>
            <a:r>
              <a:rPr lang="en-US" sz="1200" dirty="0" err="1"/>
              <a:t>hrio:AdministrativeGender</a:t>
            </a:r>
            <a:endParaRPr lang="en-NL" sz="1200" dirty="0"/>
          </a:p>
        </p:txBody>
      </p:sp>
      <p:sp>
        <p:nvSpPr>
          <p:cNvPr id="25" name="TextBox 24">
            <a:extLst>
              <a:ext uri="{FF2B5EF4-FFF2-40B4-BE49-F238E27FC236}">
                <a16:creationId xmlns:a16="http://schemas.microsoft.com/office/drawing/2014/main" id="{E945F9FA-344D-D30C-76F7-63DE118F26D8}"/>
              </a:ext>
            </a:extLst>
          </p:cNvPr>
          <p:cNvSpPr txBox="1"/>
          <p:nvPr/>
        </p:nvSpPr>
        <p:spPr>
          <a:xfrm rot="18900000">
            <a:off x="4948253" y="1865401"/>
            <a:ext cx="1867819" cy="276999"/>
          </a:xfrm>
          <a:prstGeom prst="rect">
            <a:avLst/>
          </a:prstGeom>
          <a:noFill/>
        </p:spPr>
        <p:txBody>
          <a:bodyPr wrap="none" rtlCol="0" anchor="ctr">
            <a:spAutoFit/>
          </a:bodyPr>
          <a:lstStyle/>
          <a:p>
            <a:pPr algn="ctr"/>
            <a:r>
              <a:rPr lang="en-US" sz="1200" dirty="0" err="1"/>
              <a:t>hrio:SelfIdentifiedGender</a:t>
            </a:r>
            <a:endParaRPr lang="en-NL" sz="1200" dirty="0"/>
          </a:p>
        </p:txBody>
      </p:sp>
      <p:sp>
        <p:nvSpPr>
          <p:cNvPr id="54" name="TextBox 53">
            <a:extLst>
              <a:ext uri="{FF2B5EF4-FFF2-40B4-BE49-F238E27FC236}">
                <a16:creationId xmlns:a16="http://schemas.microsoft.com/office/drawing/2014/main" id="{BCCD1DE2-2F01-9AF8-F75D-4D71C26D2AE6}"/>
              </a:ext>
            </a:extLst>
          </p:cNvPr>
          <p:cNvSpPr txBox="1"/>
          <p:nvPr/>
        </p:nvSpPr>
        <p:spPr>
          <a:xfrm rot="18900000">
            <a:off x="3344428" y="3462827"/>
            <a:ext cx="1643590" cy="461665"/>
          </a:xfrm>
          <a:prstGeom prst="rect">
            <a:avLst/>
          </a:prstGeom>
          <a:noFill/>
        </p:spPr>
        <p:txBody>
          <a:bodyPr wrap="none" rtlCol="0" anchor="ctr">
            <a:spAutoFit/>
          </a:bodyPr>
          <a:lstStyle>
            <a:defPPr>
              <a:defRPr lang="en-US"/>
            </a:defPPr>
            <a:lvl1pPr algn="ctr">
              <a:defRPr sz="1400"/>
            </a:lvl1pPr>
          </a:lstStyle>
          <a:p>
            <a:r>
              <a:rPr lang="en-US" sz="1200" dirty="0" err="1"/>
              <a:t>hri-openehr</a:t>
            </a:r>
            <a:r>
              <a:rPr lang="en-US" sz="1200" dirty="0"/>
              <a:t>:</a:t>
            </a:r>
          </a:p>
          <a:p>
            <a:r>
              <a:rPr lang="en-US" sz="1200" dirty="0"/>
              <a:t>administrative-gender</a:t>
            </a:r>
            <a:endParaRPr lang="en-NL" sz="1200" dirty="0"/>
          </a:p>
        </p:txBody>
      </p:sp>
      <p:sp>
        <p:nvSpPr>
          <p:cNvPr id="78" name="TextBox 77">
            <a:extLst>
              <a:ext uri="{FF2B5EF4-FFF2-40B4-BE49-F238E27FC236}">
                <a16:creationId xmlns:a16="http://schemas.microsoft.com/office/drawing/2014/main" id="{35283DB5-37FC-5E52-1A0A-F44680272109}"/>
              </a:ext>
            </a:extLst>
          </p:cNvPr>
          <p:cNvSpPr txBox="1"/>
          <p:nvPr/>
        </p:nvSpPr>
        <p:spPr>
          <a:xfrm rot="18900000">
            <a:off x="4593310" y="3356499"/>
            <a:ext cx="2295820" cy="461665"/>
          </a:xfrm>
          <a:prstGeom prst="rect">
            <a:avLst/>
          </a:prstGeom>
          <a:noFill/>
        </p:spPr>
        <p:txBody>
          <a:bodyPr wrap="none" rtlCol="0" anchor="ctr">
            <a:spAutoFit/>
          </a:bodyPr>
          <a:lstStyle>
            <a:defPPr>
              <a:defRPr lang="en-US"/>
            </a:defPPr>
            <a:lvl1pPr algn="ctr">
              <a:defRPr sz="1400"/>
            </a:lvl1pPr>
          </a:lstStyle>
          <a:p>
            <a:r>
              <a:rPr lang="en-NL" sz="1200" dirty="0"/>
              <a:t>hri-fhir-r5:</a:t>
            </a:r>
          </a:p>
          <a:p>
            <a:r>
              <a:rPr lang="en-NL" sz="1200" dirty="0"/>
              <a:t>individual-gender-identity/value</a:t>
            </a:r>
          </a:p>
        </p:txBody>
      </p:sp>
      <p:sp>
        <p:nvSpPr>
          <p:cNvPr id="80" name="TextBox 79">
            <a:extLst>
              <a:ext uri="{FF2B5EF4-FFF2-40B4-BE49-F238E27FC236}">
                <a16:creationId xmlns:a16="http://schemas.microsoft.com/office/drawing/2014/main" id="{75B5F2C7-2AD3-1C3F-DAC3-36A86CA5D9FE}"/>
              </a:ext>
            </a:extLst>
          </p:cNvPr>
          <p:cNvSpPr txBox="1"/>
          <p:nvPr/>
        </p:nvSpPr>
        <p:spPr>
          <a:xfrm rot="18900000">
            <a:off x="2073489" y="4927054"/>
            <a:ext cx="1419235" cy="461665"/>
          </a:xfrm>
          <a:prstGeom prst="rect">
            <a:avLst/>
          </a:prstGeom>
          <a:noFill/>
        </p:spPr>
        <p:txBody>
          <a:bodyPr wrap="none" rtlCol="0" anchor="ctr">
            <a:spAutoFit/>
          </a:bodyPr>
          <a:lstStyle>
            <a:defPPr>
              <a:defRPr lang="en-US"/>
            </a:defPPr>
            <a:lvl1pPr algn="ctr">
              <a:defRPr sz="1400"/>
            </a:lvl1pPr>
          </a:lstStyle>
          <a:p>
            <a:r>
              <a:rPr lang="en-US" sz="1200" dirty="0"/>
              <a:t>BRP Demographic </a:t>
            </a:r>
          </a:p>
          <a:p>
            <a:r>
              <a:rPr lang="en-US" sz="1200" dirty="0"/>
              <a:t>Extract</a:t>
            </a:r>
            <a:endParaRPr lang="en-NL" sz="1200" dirty="0"/>
          </a:p>
        </p:txBody>
      </p:sp>
      <p:sp>
        <p:nvSpPr>
          <p:cNvPr id="82" name="TextBox 81">
            <a:extLst>
              <a:ext uri="{FF2B5EF4-FFF2-40B4-BE49-F238E27FC236}">
                <a16:creationId xmlns:a16="http://schemas.microsoft.com/office/drawing/2014/main" id="{8786ACA8-8AC9-6C64-63DD-9D649FCE5DDD}"/>
              </a:ext>
            </a:extLst>
          </p:cNvPr>
          <p:cNvSpPr txBox="1"/>
          <p:nvPr/>
        </p:nvSpPr>
        <p:spPr>
          <a:xfrm rot="18900000">
            <a:off x="4586448" y="5075475"/>
            <a:ext cx="1884875" cy="461665"/>
          </a:xfrm>
          <a:prstGeom prst="rect">
            <a:avLst/>
          </a:prstGeom>
          <a:noFill/>
        </p:spPr>
        <p:txBody>
          <a:bodyPr wrap="none" rtlCol="0" anchor="ctr">
            <a:spAutoFit/>
          </a:bodyPr>
          <a:lstStyle>
            <a:defPPr>
              <a:defRPr lang="en-US"/>
            </a:defPPr>
            <a:lvl1pPr algn="ctr">
              <a:defRPr sz="1400"/>
            </a:lvl1pPr>
          </a:lstStyle>
          <a:p>
            <a:r>
              <a:rPr lang="en-US" sz="1200" dirty="0"/>
              <a:t>Amsterdam UMC Gender </a:t>
            </a:r>
            <a:endParaRPr lang="en-NL" sz="1200" dirty="0"/>
          </a:p>
          <a:p>
            <a:r>
              <a:rPr lang="en-US" sz="1200" dirty="0"/>
              <a:t>Identity Intake Extract</a:t>
            </a:r>
            <a:endParaRPr lang="en-NL" sz="1200" dirty="0"/>
          </a:p>
        </p:txBody>
      </p:sp>
      <p:sp>
        <p:nvSpPr>
          <p:cNvPr id="84" name="TextBox 83">
            <a:extLst>
              <a:ext uri="{FF2B5EF4-FFF2-40B4-BE49-F238E27FC236}">
                <a16:creationId xmlns:a16="http://schemas.microsoft.com/office/drawing/2014/main" id="{4DD40B80-DC1A-DE7B-8473-8F2F589B547C}"/>
              </a:ext>
            </a:extLst>
          </p:cNvPr>
          <p:cNvSpPr txBox="1"/>
          <p:nvPr/>
        </p:nvSpPr>
        <p:spPr>
          <a:xfrm rot="18900000">
            <a:off x="3291817" y="5145860"/>
            <a:ext cx="1951175" cy="276999"/>
          </a:xfrm>
          <a:prstGeom prst="rect">
            <a:avLst/>
          </a:prstGeom>
          <a:noFill/>
        </p:spPr>
        <p:txBody>
          <a:bodyPr wrap="none" rtlCol="0" anchor="ctr">
            <a:spAutoFit/>
          </a:bodyPr>
          <a:lstStyle>
            <a:defPPr>
              <a:defRPr lang="en-US"/>
            </a:defPPr>
            <a:lvl1pPr algn="ctr">
              <a:defRPr sz="1400"/>
            </a:lvl1pPr>
          </a:lstStyle>
          <a:p>
            <a:r>
              <a:rPr lang="en-NL" sz="1200" dirty="0"/>
              <a:t>Administrative EHR Extract</a:t>
            </a:r>
          </a:p>
        </p:txBody>
      </p:sp>
      <p:sp>
        <p:nvSpPr>
          <p:cNvPr id="56" name="Oval 55">
            <a:extLst>
              <a:ext uri="{FF2B5EF4-FFF2-40B4-BE49-F238E27FC236}">
                <a16:creationId xmlns:a16="http://schemas.microsoft.com/office/drawing/2014/main" id="{0B98B3FD-16AB-AB4A-EF5A-FAB2DC5F1533}"/>
              </a:ext>
            </a:extLst>
          </p:cNvPr>
          <p:cNvSpPr/>
          <p:nvPr/>
        </p:nvSpPr>
        <p:spPr>
          <a:xfrm>
            <a:off x="3060682" y="3587332"/>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endParaRPr lang="en-NL" dirty="0"/>
          </a:p>
        </p:txBody>
      </p:sp>
      <p:sp>
        <p:nvSpPr>
          <p:cNvPr id="8" name="Oval 7">
            <a:extLst>
              <a:ext uri="{FF2B5EF4-FFF2-40B4-BE49-F238E27FC236}">
                <a16:creationId xmlns:a16="http://schemas.microsoft.com/office/drawing/2014/main" id="{FAF44478-B5D6-1755-CEE9-5C7B9E1CE8F5}"/>
              </a:ext>
            </a:extLst>
          </p:cNvPr>
          <p:cNvSpPr/>
          <p:nvPr/>
        </p:nvSpPr>
        <p:spPr>
          <a:xfrm>
            <a:off x="3054087" y="2067677"/>
            <a:ext cx="409575" cy="409575"/>
          </a:xfrm>
          <a:prstGeom prst="ellipse">
            <a:avLst/>
          </a:prstGeom>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NL" sz="1700" dirty="0"/>
          </a:p>
        </p:txBody>
      </p:sp>
      <p:sp>
        <p:nvSpPr>
          <p:cNvPr id="58" name="Oval 57">
            <a:extLst>
              <a:ext uri="{FF2B5EF4-FFF2-40B4-BE49-F238E27FC236}">
                <a16:creationId xmlns:a16="http://schemas.microsoft.com/office/drawing/2014/main" id="{2FD821DD-B685-85A4-5DD9-8F0DCC410317}"/>
              </a:ext>
            </a:extLst>
          </p:cNvPr>
          <p:cNvSpPr/>
          <p:nvPr/>
        </p:nvSpPr>
        <p:spPr>
          <a:xfrm>
            <a:off x="4495812" y="3587332"/>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endParaRPr lang="en-NL" dirty="0"/>
          </a:p>
        </p:txBody>
      </p:sp>
      <p:sp>
        <p:nvSpPr>
          <p:cNvPr id="49" name="Oval 48">
            <a:extLst>
              <a:ext uri="{FF2B5EF4-FFF2-40B4-BE49-F238E27FC236}">
                <a16:creationId xmlns:a16="http://schemas.microsoft.com/office/drawing/2014/main" id="{4FFF85B9-514A-6A75-66D9-97F0B0D15861}"/>
              </a:ext>
            </a:extLst>
          </p:cNvPr>
          <p:cNvSpPr/>
          <p:nvPr/>
        </p:nvSpPr>
        <p:spPr>
          <a:xfrm>
            <a:off x="5930941" y="3587332"/>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endParaRPr lang="en-NL" dirty="0"/>
          </a:p>
        </p:txBody>
      </p:sp>
      <p:sp>
        <p:nvSpPr>
          <p:cNvPr id="72" name="Oval 71">
            <a:extLst>
              <a:ext uri="{FF2B5EF4-FFF2-40B4-BE49-F238E27FC236}">
                <a16:creationId xmlns:a16="http://schemas.microsoft.com/office/drawing/2014/main" id="{5EEB0392-298E-FE11-A3D1-07604CE98D74}"/>
              </a:ext>
            </a:extLst>
          </p:cNvPr>
          <p:cNvSpPr/>
          <p:nvPr/>
        </p:nvSpPr>
        <p:spPr>
          <a:xfrm>
            <a:off x="3060682" y="5106988"/>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endParaRPr lang="en-NL" dirty="0"/>
          </a:p>
        </p:txBody>
      </p:sp>
      <p:sp>
        <p:nvSpPr>
          <p:cNvPr id="73" name="Oval 72">
            <a:extLst>
              <a:ext uri="{FF2B5EF4-FFF2-40B4-BE49-F238E27FC236}">
                <a16:creationId xmlns:a16="http://schemas.microsoft.com/office/drawing/2014/main" id="{D10CA3EB-57EA-9EDE-9378-199486D9151F}"/>
              </a:ext>
            </a:extLst>
          </p:cNvPr>
          <p:cNvSpPr/>
          <p:nvPr/>
        </p:nvSpPr>
        <p:spPr>
          <a:xfrm>
            <a:off x="4495812" y="5106988"/>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endParaRPr lang="en-NL" dirty="0"/>
          </a:p>
        </p:txBody>
      </p:sp>
      <p:sp>
        <p:nvSpPr>
          <p:cNvPr id="74" name="Oval 73">
            <a:extLst>
              <a:ext uri="{FF2B5EF4-FFF2-40B4-BE49-F238E27FC236}">
                <a16:creationId xmlns:a16="http://schemas.microsoft.com/office/drawing/2014/main" id="{5BB2A921-D0FB-0058-DBDF-1F7510DC3C22}"/>
              </a:ext>
            </a:extLst>
          </p:cNvPr>
          <p:cNvSpPr/>
          <p:nvPr/>
        </p:nvSpPr>
        <p:spPr>
          <a:xfrm>
            <a:off x="5930941" y="5106988"/>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endParaRPr lang="en-NL" dirty="0"/>
          </a:p>
        </p:txBody>
      </p:sp>
      <p:sp>
        <p:nvSpPr>
          <p:cNvPr id="14" name="Oval 13">
            <a:extLst>
              <a:ext uri="{FF2B5EF4-FFF2-40B4-BE49-F238E27FC236}">
                <a16:creationId xmlns:a16="http://schemas.microsoft.com/office/drawing/2014/main" id="{6DE178A5-793B-80CA-3D02-CECAC55131A6}"/>
              </a:ext>
            </a:extLst>
          </p:cNvPr>
          <p:cNvSpPr/>
          <p:nvPr/>
        </p:nvSpPr>
        <p:spPr>
          <a:xfrm>
            <a:off x="4495812" y="2067677"/>
            <a:ext cx="409575" cy="409575"/>
          </a:xfrm>
          <a:prstGeom prst="ellipse">
            <a:avLst/>
          </a:prstGeom>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NL" sz="1700" dirty="0"/>
          </a:p>
        </p:txBody>
      </p:sp>
      <p:sp>
        <p:nvSpPr>
          <p:cNvPr id="21" name="Oval 20">
            <a:extLst>
              <a:ext uri="{FF2B5EF4-FFF2-40B4-BE49-F238E27FC236}">
                <a16:creationId xmlns:a16="http://schemas.microsoft.com/office/drawing/2014/main" id="{D347F865-6E2B-E206-F8A8-EF33CFB38E90}"/>
              </a:ext>
            </a:extLst>
          </p:cNvPr>
          <p:cNvSpPr/>
          <p:nvPr/>
        </p:nvSpPr>
        <p:spPr>
          <a:xfrm>
            <a:off x="5930941" y="2067677"/>
            <a:ext cx="409575" cy="409575"/>
          </a:xfrm>
          <a:prstGeom prst="ellipse">
            <a:avLst/>
          </a:prstGeom>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NL" sz="1700" dirty="0"/>
          </a:p>
        </p:txBody>
      </p:sp>
      <p:cxnSp>
        <p:nvCxnSpPr>
          <p:cNvPr id="26" name="Straight Arrow Connector 25">
            <a:extLst>
              <a:ext uri="{FF2B5EF4-FFF2-40B4-BE49-F238E27FC236}">
                <a16:creationId xmlns:a16="http://schemas.microsoft.com/office/drawing/2014/main" id="{D63E727E-4D5F-D90C-DDC1-B0DC7ACA9A71}"/>
              </a:ext>
            </a:extLst>
          </p:cNvPr>
          <p:cNvCxnSpPr>
            <a:cxnSpLocks/>
            <a:stCxn id="56" idx="0"/>
            <a:endCxn id="8" idx="4"/>
          </p:cNvCxnSpPr>
          <p:nvPr/>
        </p:nvCxnSpPr>
        <p:spPr>
          <a:xfrm flipH="1" flipV="1">
            <a:off x="3258875" y="2477252"/>
            <a:ext cx="6595" cy="1110080"/>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B5D24E38-9242-A693-1E1C-1014F0DEAF28}"/>
              </a:ext>
            </a:extLst>
          </p:cNvPr>
          <p:cNvCxnSpPr>
            <a:cxnSpLocks/>
            <a:stCxn id="58" idx="0"/>
            <a:endCxn id="14" idx="4"/>
          </p:cNvCxnSpPr>
          <p:nvPr/>
        </p:nvCxnSpPr>
        <p:spPr>
          <a:xfrm flipV="1">
            <a:off x="4700600" y="2477252"/>
            <a:ext cx="0" cy="1110080"/>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FBD42EB9-BC16-2DF4-F67B-A2996117930C}"/>
              </a:ext>
            </a:extLst>
          </p:cNvPr>
          <p:cNvCxnSpPr>
            <a:cxnSpLocks/>
            <a:stCxn id="73" idx="0"/>
            <a:endCxn id="58" idx="4"/>
          </p:cNvCxnSpPr>
          <p:nvPr/>
        </p:nvCxnSpPr>
        <p:spPr>
          <a:xfrm flipV="1">
            <a:off x="4700600" y="3996907"/>
            <a:ext cx="0" cy="1110081"/>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C4688818-CE4C-A2A0-00CD-772354EFCF9C}"/>
              </a:ext>
            </a:extLst>
          </p:cNvPr>
          <p:cNvCxnSpPr>
            <a:cxnSpLocks/>
            <a:stCxn id="72" idx="0"/>
            <a:endCxn id="56" idx="4"/>
          </p:cNvCxnSpPr>
          <p:nvPr/>
        </p:nvCxnSpPr>
        <p:spPr>
          <a:xfrm flipV="1">
            <a:off x="3265470" y="3996907"/>
            <a:ext cx="0" cy="1110081"/>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3C576060-845E-C740-18A6-0B3FC5C04324}"/>
              </a:ext>
            </a:extLst>
          </p:cNvPr>
          <p:cNvCxnSpPr>
            <a:cxnSpLocks/>
            <a:stCxn id="49" idx="0"/>
            <a:endCxn id="21" idx="4"/>
          </p:cNvCxnSpPr>
          <p:nvPr/>
        </p:nvCxnSpPr>
        <p:spPr>
          <a:xfrm flipV="1">
            <a:off x="6135729" y="2477252"/>
            <a:ext cx="0" cy="1110080"/>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1694E898-821B-A6F2-0489-7F3F5E947063}"/>
              </a:ext>
            </a:extLst>
          </p:cNvPr>
          <p:cNvCxnSpPr>
            <a:cxnSpLocks/>
            <a:stCxn id="74" idx="0"/>
            <a:endCxn id="49" idx="4"/>
          </p:cNvCxnSpPr>
          <p:nvPr/>
        </p:nvCxnSpPr>
        <p:spPr>
          <a:xfrm flipV="1">
            <a:off x="6135729" y="3996907"/>
            <a:ext cx="0" cy="1110081"/>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sp>
        <p:nvSpPr>
          <p:cNvPr id="85" name="Rectangle: Rounded Corners 84">
            <a:extLst>
              <a:ext uri="{FF2B5EF4-FFF2-40B4-BE49-F238E27FC236}">
                <a16:creationId xmlns:a16="http://schemas.microsoft.com/office/drawing/2014/main" id="{7DA5B9E3-2E3B-00A2-B18D-7A6DF6E1CEEC}"/>
              </a:ext>
            </a:extLst>
          </p:cNvPr>
          <p:cNvSpPr/>
          <p:nvPr/>
        </p:nvSpPr>
        <p:spPr>
          <a:xfrm>
            <a:off x="2440086" y="1720223"/>
            <a:ext cx="1602378" cy="4102663"/>
          </a:xfrm>
          <a:prstGeom prst="roundRect">
            <a:avLst/>
          </a:prstGeom>
          <a:solidFill>
            <a:schemeClr val="accent3">
              <a:lumMod val="20000"/>
              <a:lumOff val="80000"/>
              <a:alpha val="5000"/>
            </a:schemeClr>
          </a:solidFill>
          <a:ln w="76200">
            <a:solidFill>
              <a:srgbClr val="00B050"/>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NL"/>
          </a:p>
        </p:txBody>
      </p:sp>
      <p:cxnSp>
        <p:nvCxnSpPr>
          <p:cNvPr id="6" name="Straight Arrow Connector 5">
            <a:extLst>
              <a:ext uri="{FF2B5EF4-FFF2-40B4-BE49-F238E27FC236}">
                <a16:creationId xmlns:a16="http://schemas.microsoft.com/office/drawing/2014/main" id="{709C6FDD-9437-C45A-D5E2-7C7D784D2E38}"/>
              </a:ext>
            </a:extLst>
          </p:cNvPr>
          <p:cNvCxnSpPr>
            <a:cxnSpLocks/>
          </p:cNvCxnSpPr>
          <p:nvPr/>
        </p:nvCxnSpPr>
        <p:spPr>
          <a:xfrm>
            <a:off x="1036926" y="2238375"/>
            <a:ext cx="1217515" cy="0"/>
          </a:xfrm>
          <a:prstGeom prst="straightConnector1">
            <a:avLst/>
          </a:prstGeom>
          <a:ln w="66675">
            <a:solidFill>
              <a:schemeClr val="accent2"/>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4295BAF5-8C11-8C60-C14E-7C849078238E}"/>
              </a:ext>
            </a:extLst>
          </p:cNvPr>
          <p:cNvCxnSpPr>
            <a:cxnSpLocks/>
          </p:cNvCxnSpPr>
          <p:nvPr/>
        </p:nvCxnSpPr>
        <p:spPr>
          <a:xfrm flipH="1">
            <a:off x="1036926" y="5238750"/>
            <a:ext cx="1217515" cy="0"/>
          </a:xfrm>
          <a:prstGeom prst="straightConnector1">
            <a:avLst/>
          </a:prstGeom>
          <a:ln w="66675">
            <a:solidFill>
              <a:schemeClr val="accent2"/>
            </a:solidFill>
            <a:tailEnd type="triangle" w="med" len="lg"/>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42E0D3D1-D81A-437D-8B0E-5A8D0DFC48ED}"/>
              </a:ext>
            </a:extLst>
          </p:cNvPr>
          <p:cNvSpPr txBox="1"/>
          <p:nvPr/>
        </p:nvSpPr>
        <p:spPr>
          <a:xfrm>
            <a:off x="1036926" y="1842473"/>
            <a:ext cx="731290" cy="369332"/>
          </a:xfrm>
          <a:prstGeom prst="rect">
            <a:avLst/>
          </a:prstGeom>
          <a:noFill/>
        </p:spPr>
        <p:txBody>
          <a:bodyPr wrap="none" rtlCol="0">
            <a:spAutoFit/>
          </a:bodyPr>
          <a:lstStyle/>
          <a:p>
            <a:r>
              <a:rPr lang="en-US" b="1" dirty="0"/>
              <a:t>input</a:t>
            </a:r>
            <a:endParaRPr lang="en-NL" b="1" dirty="0"/>
          </a:p>
        </p:txBody>
      </p:sp>
      <p:sp>
        <p:nvSpPr>
          <p:cNvPr id="11" name="TextBox 10">
            <a:extLst>
              <a:ext uri="{FF2B5EF4-FFF2-40B4-BE49-F238E27FC236}">
                <a16:creationId xmlns:a16="http://schemas.microsoft.com/office/drawing/2014/main" id="{E1ABCA6B-693C-3EF2-A895-1081760A96DB}"/>
              </a:ext>
            </a:extLst>
          </p:cNvPr>
          <p:cNvSpPr txBox="1"/>
          <p:nvPr/>
        </p:nvSpPr>
        <p:spPr>
          <a:xfrm>
            <a:off x="1037572" y="4833716"/>
            <a:ext cx="885179" cy="369332"/>
          </a:xfrm>
          <a:prstGeom prst="rect">
            <a:avLst/>
          </a:prstGeom>
          <a:noFill/>
        </p:spPr>
        <p:txBody>
          <a:bodyPr wrap="none" rtlCol="0">
            <a:spAutoFit/>
          </a:bodyPr>
          <a:lstStyle/>
          <a:p>
            <a:r>
              <a:rPr lang="en-US" b="1" dirty="0"/>
              <a:t>output</a:t>
            </a:r>
            <a:endParaRPr lang="en-NL" b="1" dirty="0"/>
          </a:p>
        </p:txBody>
      </p:sp>
      <p:sp>
        <p:nvSpPr>
          <p:cNvPr id="22" name="Title 1">
            <a:extLst>
              <a:ext uri="{FF2B5EF4-FFF2-40B4-BE49-F238E27FC236}">
                <a16:creationId xmlns:a16="http://schemas.microsoft.com/office/drawing/2014/main" id="{AA6DEFFF-F2F4-3029-8D17-9D7596D6D219}"/>
              </a:ext>
            </a:extLst>
          </p:cNvPr>
          <p:cNvSpPr>
            <a:spLocks noGrp="1"/>
          </p:cNvSpPr>
          <p:nvPr>
            <p:ph type="title"/>
          </p:nvPr>
        </p:nvSpPr>
        <p:spPr>
          <a:xfrm>
            <a:off x="695327" y="386001"/>
            <a:ext cx="9288459" cy="929259"/>
          </a:xfrm>
        </p:spPr>
        <p:txBody>
          <a:bodyPr/>
          <a:lstStyle/>
          <a:p>
            <a:r>
              <a:rPr lang="en-US" sz="3200" dirty="0"/>
              <a:t>Biological Sex Maps to One Valid Dataset Path</a:t>
            </a:r>
            <a:endParaRPr lang="en-NL" sz="3200" dirty="0"/>
          </a:p>
        </p:txBody>
      </p:sp>
      <p:sp>
        <p:nvSpPr>
          <p:cNvPr id="2" name="TextBox 1">
            <a:extLst>
              <a:ext uri="{FF2B5EF4-FFF2-40B4-BE49-F238E27FC236}">
                <a16:creationId xmlns:a16="http://schemas.microsoft.com/office/drawing/2014/main" id="{67E257B8-14C3-5231-5F50-91C84C6BD85F}"/>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2</a:t>
            </a:r>
            <a:endParaRPr lang="en-NL" sz="1000" b="1" dirty="0"/>
          </a:p>
        </p:txBody>
      </p:sp>
    </p:spTree>
    <p:extLst>
      <p:ext uri="{BB962C8B-B14F-4D97-AF65-F5344CB8AC3E}">
        <p14:creationId xmlns:p14="http://schemas.microsoft.com/office/powerpoint/2010/main" val="38487863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5" presetClass="emph" presetSubtype="0" fill="hold" grpId="0" nodeType="withEffect">
                                  <p:stCondLst>
                                    <p:cond delay="0"/>
                                  </p:stCondLst>
                                  <p:childTnLst>
                                    <p:animClr clrSpc="hsl" dir="cw">
                                      <p:cBhvr override="childStyle">
                                        <p:cTn id="6" dur="500" fill="hold"/>
                                        <p:tgtEl>
                                          <p:spTgt spid="78"/>
                                        </p:tgtEl>
                                        <p:attrNameLst>
                                          <p:attrName>style.color</p:attrName>
                                        </p:attrNameLst>
                                      </p:cBhvr>
                                      <p:by>
                                        <p:hsl h="0" s="-70588" l="0"/>
                                      </p:by>
                                    </p:animClr>
                                    <p:animClr clrSpc="hsl" dir="cw">
                                      <p:cBhvr>
                                        <p:cTn id="7" dur="500" fill="hold"/>
                                        <p:tgtEl>
                                          <p:spTgt spid="78"/>
                                        </p:tgtEl>
                                        <p:attrNameLst>
                                          <p:attrName>fillcolor</p:attrName>
                                        </p:attrNameLst>
                                      </p:cBhvr>
                                      <p:by>
                                        <p:hsl h="0" s="-70588" l="0"/>
                                      </p:by>
                                    </p:animClr>
                                    <p:animClr clrSpc="hsl" dir="cw">
                                      <p:cBhvr>
                                        <p:cTn id="8" dur="500" fill="hold"/>
                                        <p:tgtEl>
                                          <p:spTgt spid="78"/>
                                        </p:tgtEl>
                                        <p:attrNameLst>
                                          <p:attrName>stroke.color</p:attrName>
                                        </p:attrNameLst>
                                      </p:cBhvr>
                                      <p:by>
                                        <p:hsl h="0" s="-70588" l="0"/>
                                      </p:by>
                                    </p:animClr>
                                    <p:set>
                                      <p:cBhvr>
                                        <p:cTn id="9" dur="500" fill="hold"/>
                                        <p:tgtEl>
                                          <p:spTgt spid="78"/>
                                        </p:tgtEl>
                                        <p:attrNameLst>
                                          <p:attrName>fill.type</p:attrName>
                                        </p:attrNameLst>
                                      </p:cBhvr>
                                      <p:to>
                                        <p:strVal val="solid"/>
                                      </p:to>
                                    </p:set>
                                  </p:childTnLst>
                                </p:cTn>
                              </p:par>
                              <p:par>
                                <p:cTn id="10" presetID="25" presetClass="emph" presetSubtype="0" fill="hold" grpId="0" nodeType="withEffect">
                                  <p:stCondLst>
                                    <p:cond delay="0"/>
                                  </p:stCondLst>
                                  <p:childTnLst>
                                    <p:animClr clrSpc="hsl" dir="cw">
                                      <p:cBhvr override="childStyle">
                                        <p:cTn id="11" dur="500" fill="hold"/>
                                        <p:tgtEl>
                                          <p:spTgt spid="84"/>
                                        </p:tgtEl>
                                        <p:attrNameLst>
                                          <p:attrName>style.color</p:attrName>
                                        </p:attrNameLst>
                                      </p:cBhvr>
                                      <p:by>
                                        <p:hsl h="0" s="-70588" l="0"/>
                                      </p:by>
                                    </p:animClr>
                                    <p:animClr clrSpc="hsl" dir="cw">
                                      <p:cBhvr>
                                        <p:cTn id="12" dur="500" fill="hold"/>
                                        <p:tgtEl>
                                          <p:spTgt spid="84"/>
                                        </p:tgtEl>
                                        <p:attrNameLst>
                                          <p:attrName>fillcolor</p:attrName>
                                        </p:attrNameLst>
                                      </p:cBhvr>
                                      <p:by>
                                        <p:hsl h="0" s="-70588" l="0"/>
                                      </p:by>
                                    </p:animClr>
                                    <p:animClr clrSpc="hsl" dir="cw">
                                      <p:cBhvr>
                                        <p:cTn id="13" dur="500" fill="hold"/>
                                        <p:tgtEl>
                                          <p:spTgt spid="84"/>
                                        </p:tgtEl>
                                        <p:attrNameLst>
                                          <p:attrName>stroke.color</p:attrName>
                                        </p:attrNameLst>
                                      </p:cBhvr>
                                      <p:by>
                                        <p:hsl h="0" s="-70588" l="0"/>
                                      </p:by>
                                    </p:animClr>
                                    <p:set>
                                      <p:cBhvr>
                                        <p:cTn id="14" dur="500" fill="hold"/>
                                        <p:tgtEl>
                                          <p:spTgt spid="84"/>
                                        </p:tgtEl>
                                        <p:attrNameLst>
                                          <p:attrName>fill.type</p:attrName>
                                        </p:attrNameLst>
                                      </p:cBhvr>
                                      <p:to>
                                        <p:strVal val="solid"/>
                                      </p:to>
                                    </p:set>
                                  </p:childTnLst>
                                </p:cTn>
                              </p:par>
                              <p:par>
                                <p:cTn id="15" presetID="25" presetClass="emph" presetSubtype="0" fill="hold" grpId="0" nodeType="withEffect">
                                  <p:stCondLst>
                                    <p:cond delay="0"/>
                                  </p:stCondLst>
                                  <p:childTnLst>
                                    <p:animClr clrSpc="hsl" dir="cw">
                                      <p:cBhvr override="childStyle">
                                        <p:cTn id="16" dur="500" fill="hold"/>
                                        <p:tgtEl>
                                          <p:spTgt spid="58"/>
                                        </p:tgtEl>
                                        <p:attrNameLst>
                                          <p:attrName>style.color</p:attrName>
                                        </p:attrNameLst>
                                      </p:cBhvr>
                                      <p:by>
                                        <p:hsl h="0" s="-70588" l="0"/>
                                      </p:by>
                                    </p:animClr>
                                    <p:animClr clrSpc="hsl" dir="cw">
                                      <p:cBhvr>
                                        <p:cTn id="17" dur="500" fill="hold"/>
                                        <p:tgtEl>
                                          <p:spTgt spid="58"/>
                                        </p:tgtEl>
                                        <p:attrNameLst>
                                          <p:attrName>fillcolor</p:attrName>
                                        </p:attrNameLst>
                                      </p:cBhvr>
                                      <p:by>
                                        <p:hsl h="0" s="-70588" l="0"/>
                                      </p:by>
                                    </p:animClr>
                                    <p:animClr clrSpc="hsl" dir="cw">
                                      <p:cBhvr>
                                        <p:cTn id="18" dur="500" fill="hold"/>
                                        <p:tgtEl>
                                          <p:spTgt spid="58"/>
                                        </p:tgtEl>
                                        <p:attrNameLst>
                                          <p:attrName>stroke.color</p:attrName>
                                        </p:attrNameLst>
                                      </p:cBhvr>
                                      <p:by>
                                        <p:hsl h="0" s="-70588" l="0"/>
                                      </p:by>
                                    </p:animClr>
                                    <p:set>
                                      <p:cBhvr>
                                        <p:cTn id="19" dur="500" fill="hold"/>
                                        <p:tgtEl>
                                          <p:spTgt spid="58"/>
                                        </p:tgtEl>
                                        <p:attrNameLst>
                                          <p:attrName>fill.type</p:attrName>
                                        </p:attrNameLst>
                                      </p:cBhvr>
                                      <p:to>
                                        <p:strVal val="solid"/>
                                      </p:to>
                                    </p:set>
                                  </p:childTnLst>
                                </p:cTn>
                              </p:par>
                              <p:par>
                                <p:cTn id="20" presetID="25" presetClass="emph" presetSubtype="0" fill="hold" grpId="0" nodeType="withEffect">
                                  <p:stCondLst>
                                    <p:cond delay="0"/>
                                  </p:stCondLst>
                                  <p:childTnLst>
                                    <p:animClr clrSpc="hsl" dir="cw">
                                      <p:cBhvr override="childStyle">
                                        <p:cTn id="21" dur="500" fill="hold"/>
                                        <p:tgtEl>
                                          <p:spTgt spid="49"/>
                                        </p:tgtEl>
                                        <p:attrNameLst>
                                          <p:attrName>style.color</p:attrName>
                                        </p:attrNameLst>
                                      </p:cBhvr>
                                      <p:by>
                                        <p:hsl h="0" s="-70588" l="0"/>
                                      </p:by>
                                    </p:animClr>
                                    <p:animClr clrSpc="hsl" dir="cw">
                                      <p:cBhvr>
                                        <p:cTn id="22" dur="500" fill="hold"/>
                                        <p:tgtEl>
                                          <p:spTgt spid="49"/>
                                        </p:tgtEl>
                                        <p:attrNameLst>
                                          <p:attrName>fillcolor</p:attrName>
                                        </p:attrNameLst>
                                      </p:cBhvr>
                                      <p:by>
                                        <p:hsl h="0" s="-70588" l="0"/>
                                      </p:by>
                                    </p:animClr>
                                    <p:animClr clrSpc="hsl" dir="cw">
                                      <p:cBhvr>
                                        <p:cTn id="23" dur="500" fill="hold"/>
                                        <p:tgtEl>
                                          <p:spTgt spid="49"/>
                                        </p:tgtEl>
                                        <p:attrNameLst>
                                          <p:attrName>stroke.color</p:attrName>
                                        </p:attrNameLst>
                                      </p:cBhvr>
                                      <p:by>
                                        <p:hsl h="0" s="-70588" l="0"/>
                                      </p:by>
                                    </p:animClr>
                                    <p:set>
                                      <p:cBhvr>
                                        <p:cTn id="24" dur="500" fill="hold"/>
                                        <p:tgtEl>
                                          <p:spTgt spid="49"/>
                                        </p:tgtEl>
                                        <p:attrNameLst>
                                          <p:attrName>fill.type</p:attrName>
                                        </p:attrNameLst>
                                      </p:cBhvr>
                                      <p:to>
                                        <p:strVal val="solid"/>
                                      </p:to>
                                    </p:set>
                                  </p:childTnLst>
                                </p:cTn>
                              </p:par>
                              <p:par>
                                <p:cTn id="25" presetID="25" presetClass="emph" presetSubtype="0" fill="hold" grpId="0" nodeType="withEffect">
                                  <p:stCondLst>
                                    <p:cond delay="0"/>
                                  </p:stCondLst>
                                  <p:childTnLst>
                                    <p:animClr clrSpc="hsl" dir="cw">
                                      <p:cBhvr override="childStyle">
                                        <p:cTn id="26" dur="500" fill="hold"/>
                                        <p:tgtEl>
                                          <p:spTgt spid="73"/>
                                        </p:tgtEl>
                                        <p:attrNameLst>
                                          <p:attrName>style.color</p:attrName>
                                        </p:attrNameLst>
                                      </p:cBhvr>
                                      <p:by>
                                        <p:hsl h="0" s="-70588" l="0"/>
                                      </p:by>
                                    </p:animClr>
                                    <p:animClr clrSpc="hsl" dir="cw">
                                      <p:cBhvr>
                                        <p:cTn id="27" dur="500" fill="hold"/>
                                        <p:tgtEl>
                                          <p:spTgt spid="73"/>
                                        </p:tgtEl>
                                        <p:attrNameLst>
                                          <p:attrName>fillcolor</p:attrName>
                                        </p:attrNameLst>
                                      </p:cBhvr>
                                      <p:by>
                                        <p:hsl h="0" s="-70588" l="0"/>
                                      </p:by>
                                    </p:animClr>
                                    <p:animClr clrSpc="hsl" dir="cw">
                                      <p:cBhvr>
                                        <p:cTn id="28" dur="500" fill="hold"/>
                                        <p:tgtEl>
                                          <p:spTgt spid="73"/>
                                        </p:tgtEl>
                                        <p:attrNameLst>
                                          <p:attrName>stroke.color</p:attrName>
                                        </p:attrNameLst>
                                      </p:cBhvr>
                                      <p:by>
                                        <p:hsl h="0" s="-70588" l="0"/>
                                      </p:by>
                                    </p:animClr>
                                    <p:set>
                                      <p:cBhvr>
                                        <p:cTn id="29" dur="500" fill="hold"/>
                                        <p:tgtEl>
                                          <p:spTgt spid="73"/>
                                        </p:tgtEl>
                                        <p:attrNameLst>
                                          <p:attrName>fill.type</p:attrName>
                                        </p:attrNameLst>
                                      </p:cBhvr>
                                      <p:to>
                                        <p:strVal val="solid"/>
                                      </p:to>
                                    </p:set>
                                  </p:childTnLst>
                                </p:cTn>
                              </p:par>
                              <p:par>
                                <p:cTn id="30" presetID="25" presetClass="emph" presetSubtype="0" fill="hold" grpId="0" nodeType="withEffect">
                                  <p:stCondLst>
                                    <p:cond delay="0"/>
                                  </p:stCondLst>
                                  <p:childTnLst>
                                    <p:animClr clrSpc="hsl" dir="cw">
                                      <p:cBhvr override="childStyle">
                                        <p:cTn id="31" dur="500" fill="hold"/>
                                        <p:tgtEl>
                                          <p:spTgt spid="74"/>
                                        </p:tgtEl>
                                        <p:attrNameLst>
                                          <p:attrName>style.color</p:attrName>
                                        </p:attrNameLst>
                                      </p:cBhvr>
                                      <p:by>
                                        <p:hsl h="0" s="-70588" l="0"/>
                                      </p:by>
                                    </p:animClr>
                                    <p:animClr clrSpc="hsl" dir="cw">
                                      <p:cBhvr>
                                        <p:cTn id="32" dur="500" fill="hold"/>
                                        <p:tgtEl>
                                          <p:spTgt spid="74"/>
                                        </p:tgtEl>
                                        <p:attrNameLst>
                                          <p:attrName>fillcolor</p:attrName>
                                        </p:attrNameLst>
                                      </p:cBhvr>
                                      <p:by>
                                        <p:hsl h="0" s="-70588" l="0"/>
                                      </p:by>
                                    </p:animClr>
                                    <p:animClr clrSpc="hsl" dir="cw">
                                      <p:cBhvr>
                                        <p:cTn id="33" dur="500" fill="hold"/>
                                        <p:tgtEl>
                                          <p:spTgt spid="74"/>
                                        </p:tgtEl>
                                        <p:attrNameLst>
                                          <p:attrName>stroke.color</p:attrName>
                                        </p:attrNameLst>
                                      </p:cBhvr>
                                      <p:by>
                                        <p:hsl h="0" s="-70588" l="0"/>
                                      </p:by>
                                    </p:animClr>
                                    <p:set>
                                      <p:cBhvr>
                                        <p:cTn id="34" dur="500" fill="hold"/>
                                        <p:tgtEl>
                                          <p:spTgt spid="74"/>
                                        </p:tgtEl>
                                        <p:attrNameLst>
                                          <p:attrName>fill.type</p:attrName>
                                        </p:attrNameLst>
                                      </p:cBhvr>
                                      <p:to>
                                        <p:strVal val="solid"/>
                                      </p:to>
                                    </p:set>
                                  </p:childTnLst>
                                </p:cTn>
                              </p:par>
                              <p:par>
                                <p:cTn id="35" presetID="25" presetClass="emph" presetSubtype="0" fill="hold" grpId="0" nodeType="withEffect">
                                  <p:stCondLst>
                                    <p:cond delay="0"/>
                                  </p:stCondLst>
                                  <p:childTnLst>
                                    <p:animClr clrSpc="hsl" dir="cw">
                                      <p:cBhvr override="childStyle">
                                        <p:cTn id="36" dur="500" fill="hold"/>
                                        <p:tgtEl>
                                          <p:spTgt spid="14"/>
                                        </p:tgtEl>
                                        <p:attrNameLst>
                                          <p:attrName>style.color</p:attrName>
                                        </p:attrNameLst>
                                      </p:cBhvr>
                                      <p:by>
                                        <p:hsl h="0" s="-70588" l="0"/>
                                      </p:by>
                                    </p:animClr>
                                    <p:animClr clrSpc="hsl" dir="cw">
                                      <p:cBhvr>
                                        <p:cTn id="37" dur="500" fill="hold"/>
                                        <p:tgtEl>
                                          <p:spTgt spid="14"/>
                                        </p:tgtEl>
                                        <p:attrNameLst>
                                          <p:attrName>fillcolor</p:attrName>
                                        </p:attrNameLst>
                                      </p:cBhvr>
                                      <p:by>
                                        <p:hsl h="0" s="-70588" l="0"/>
                                      </p:by>
                                    </p:animClr>
                                    <p:animClr clrSpc="hsl" dir="cw">
                                      <p:cBhvr>
                                        <p:cTn id="38" dur="500" fill="hold"/>
                                        <p:tgtEl>
                                          <p:spTgt spid="14"/>
                                        </p:tgtEl>
                                        <p:attrNameLst>
                                          <p:attrName>stroke.color</p:attrName>
                                        </p:attrNameLst>
                                      </p:cBhvr>
                                      <p:by>
                                        <p:hsl h="0" s="-70588" l="0"/>
                                      </p:by>
                                    </p:animClr>
                                    <p:set>
                                      <p:cBhvr>
                                        <p:cTn id="39" dur="500" fill="hold"/>
                                        <p:tgtEl>
                                          <p:spTgt spid="14"/>
                                        </p:tgtEl>
                                        <p:attrNameLst>
                                          <p:attrName>fill.type</p:attrName>
                                        </p:attrNameLst>
                                      </p:cBhvr>
                                      <p:to>
                                        <p:strVal val="solid"/>
                                      </p:to>
                                    </p:set>
                                  </p:childTnLst>
                                </p:cTn>
                              </p:par>
                              <p:par>
                                <p:cTn id="40" presetID="25" presetClass="emph" presetSubtype="0" fill="hold" grpId="0" nodeType="withEffect">
                                  <p:stCondLst>
                                    <p:cond delay="0"/>
                                  </p:stCondLst>
                                  <p:childTnLst>
                                    <p:animClr clrSpc="hsl" dir="cw">
                                      <p:cBhvr override="childStyle">
                                        <p:cTn id="41" dur="500" fill="hold"/>
                                        <p:tgtEl>
                                          <p:spTgt spid="21"/>
                                        </p:tgtEl>
                                        <p:attrNameLst>
                                          <p:attrName>style.color</p:attrName>
                                        </p:attrNameLst>
                                      </p:cBhvr>
                                      <p:by>
                                        <p:hsl h="0" s="-70588" l="0"/>
                                      </p:by>
                                    </p:animClr>
                                    <p:animClr clrSpc="hsl" dir="cw">
                                      <p:cBhvr>
                                        <p:cTn id="42" dur="500" fill="hold"/>
                                        <p:tgtEl>
                                          <p:spTgt spid="21"/>
                                        </p:tgtEl>
                                        <p:attrNameLst>
                                          <p:attrName>fillcolor</p:attrName>
                                        </p:attrNameLst>
                                      </p:cBhvr>
                                      <p:by>
                                        <p:hsl h="0" s="-70588" l="0"/>
                                      </p:by>
                                    </p:animClr>
                                    <p:animClr clrSpc="hsl" dir="cw">
                                      <p:cBhvr>
                                        <p:cTn id="43" dur="500" fill="hold"/>
                                        <p:tgtEl>
                                          <p:spTgt spid="21"/>
                                        </p:tgtEl>
                                        <p:attrNameLst>
                                          <p:attrName>stroke.color</p:attrName>
                                        </p:attrNameLst>
                                      </p:cBhvr>
                                      <p:by>
                                        <p:hsl h="0" s="-70588" l="0"/>
                                      </p:by>
                                    </p:animClr>
                                    <p:set>
                                      <p:cBhvr>
                                        <p:cTn id="44" dur="500" fill="hold"/>
                                        <p:tgtEl>
                                          <p:spTgt spid="21"/>
                                        </p:tgtEl>
                                        <p:attrNameLst>
                                          <p:attrName>fill.type</p:attrName>
                                        </p:attrNameLst>
                                      </p:cBhvr>
                                      <p:to>
                                        <p:strVal val="solid"/>
                                      </p:to>
                                    </p:set>
                                  </p:childTnLst>
                                </p:cTn>
                              </p:par>
                              <p:par>
                                <p:cTn id="45" presetID="25" presetClass="emph" presetSubtype="0" fill="hold" nodeType="withEffect">
                                  <p:stCondLst>
                                    <p:cond delay="0"/>
                                  </p:stCondLst>
                                  <p:childTnLst>
                                    <p:animClr clrSpc="hsl" dir="cw">
                                      <p:cBhvr override="childStyle">
                                        <p:cTn id="46" dur="500" fill="hold"/>
                                        <p:tgtEl>
                                          <p:spTgt spid="27"/>
                                        </p:tgtEl>
                                        <p:attrNameLst>
                                          <p:attrName>style.color</p:attrName>
                                        </p:attrNameLst>
                                      </p:cBhvr>
                                      <p:by>
                                        <p:hsl h="0" s="-70588" l="0"/>
                                      </p:by>
                                    </p:animClr>
                                    <p:animClr clrSpc="hsl" dir="cw">
                                      <p:cBhvr>
                                        <p:cTn id="47" dur="500" fill="hold"/>
                                        <p:tgtEl>
                                          <p:spTgt spid="27"/>
                                        </p:tgtEl>
                                        <p:attrNameLst>
                                          <p:attrName>fillcolor</p:attrName>
                                        </p:attrNameLst>
                                      </p:cBhvr>
                                      <p:by>
                                        <p:hsl h="0" s="-70588" l="0"/>
                                      </p:by>
                                    </p:animClr>
                                    <p:animClr clrSpc="hsl" dir="cw">
                                      <p:cBhvr>
                                        <p:cTn id="48" dur="500" fill="hold"/>
                                        <p:tgtEl>
                                          <p:spTgt spid="27"/>
                                        </p:tgtEl>
                                        <p:attrNameLst>
                                          <p:attrName>stroke.color</p:attrName>
                                        </p:attrNameLst>
                                      </p:cBhvr>
                                      <p:by>
                                        <p:hsl h="0" s="-70588" l="0"/>
                                      </p:by>
                                    </p:animClr>
                                    <p:set>
                                      <p:cBhvr>
                                        <p:cTn id="49" dur="500" fill="hold"/>
                                        <p:tgtEl>
                                          <p:spTgt spid="27"/>
                                        </p:tgtEl>
                                        <p:attrNameLst>
                                          <p:attrName>fill.type</p:attrName>
                                        </p:attrNameLst>
                                      </p:cBhvr>
                                      <p:to>
                                        <p:strVal val="solid"/>
                                      </p:to>
                                    </p:set>
                                  </p:childTnLst>
                                </p:cTn>
                              </p:par>
                              <p:par>
                                <p:cTn id="50" presetID="25" presetClass="emph" presetSubtype="0" fill="hold" nodeType="withEffect">
                                  <p:stCondLst>
                                    <p:cond delay="0"/>
                                  </p:stCondLst>
                                  <p:childTnLst>
                                    <p:animClr clrSpc="hsl" dir="cw">
                                      <p:cBhvr override="childStyle">
                                        <p:cTn id="51" dur="500" fill="hold"/>
                                        <p:tgtEl>
                                          <p:spTgt spid="28"/>
                                        </p:tgtEl>
                                        <p:attrNameLst>
                                          <p:attrName>style.color</p:attrName>
                                        </p:attrNameLst>
                                      </p:cBhvr>
                                      <p:by>
                                        <p:hsl h="0" s="-70588" l="0"/>
                                      </p:by>
                                    </p:animClr>
                                    <p:animClr clrSpc="hsl" dir="cw">
                                      <p:cBhvr>
                                        <p:cTn id="52" dur="500" fill="hold"/>
                                        <p:tgtEl>
                                          <p:spTgt spid="28"/>
                                        </p:tgtEl>
                                        <p:attrNameLst>
                                          <p:attrName>fillcolor</p:attrName>
                                        </p:attrNameLst>
                                      </p:cBhvr>
                                      <p:by>
                                        <p:hsl h="0" s="-70588" l="0"/>
                                      </p:by>
                                    </p:animClr>
                                    <p:animClr clrSpc="hsl" dir="cw">
                                      <p:cBhvr>
                                        <p:cTn id="53" dur="500" fill="hold"/>
                                        <p:tgtEl>
                                          <p:spTgt spid="28"/>
                                        </p:tgtEl>
                                        <p:attrNameLst>
                                          <p:attrName>stroke.color</p:attrName>
                                        </p:attrNameLst>
                                      </p:cBhvr>
                                      <p:by>
                                        <p:hsl h="0" s="-70588" l="0"/>
                                      </p:by>
                                    </p:animClr>
                                    <p:set>
                                      <p:cBhvr>
                                        <p:cTn id="54" dur="500" fill="hold"/>
                                        <p:tgtEl>
                                          <p:spTgt spid="28"/>
                                        </p:tgtEl>
                                        <p:attrNameLst>
                                          <p:attrName>fill.type</p:attrName>
                                        </p:attrNameLst>
                                      </p:cBhvr>
                                      <p:to>
                                        <p:strVal val="solid"/>
                                      </p:to>
                                    </p:set>
                                  </p:childTnLst>
                                </p:cTn>
                              </p:par>
                              <p:par>
                                <p:cTn id="55" presetID="25" presetClass="emph" presetSubtype="0" fill="hold" nodeType="withEffect">
                                  <p:stCondLst>
                                    <p:cond delay="0"/>
                                  </p:stCondLst>
                                  <p:childTnLst>
                                    <p:animClr clrSpc="hsl" dir="cw">
                                      <p:cBhvr override="childStyle">
                                        <p:cTn id="56" dur="500" fill="hold"/>
                                        <p:tgtEl>
                                          <p:spTgt spid="44"/>
                                        </p:tgtEl>
                                        <p:attrNameLst>
                                          <p:attrName>style.color</p:attrName>
                                        </p:attrNameLst>
                                      </p:cBhvr>
                                      <p:by>
                                        <p:hsl h="0" s="-70588" l="0"/>
                                      </p:by>
                                    </p:animClr>
                                    <p:animClr clrSpc="hsl" dir="cw">
                                      <p:cBhvr>
                                        <p:cTn id="57" dur="500" fill="hold"/>
                                        <p:tgtEl>
                                          <p:spTgt spid="44"/>
                                        </p:tgtEl>
                                        <p:attrNameLst>
                                          <p:attrName>fillcolor</p:attrName>
                                        </p:attrNameLst>
                                      </p:cBhvr>
                                      <p:by>
                                        <p:hsl h="0" s="-70588" l="0"/>
                                      </p:by>
                                    </p:animClr>
                                    <p:animClr clrSpc="hsl" dir="cw">
                                      <p:cBhvr>
                                        <p:cTn id="58" dur="500" fill="hold"/>
                                        <p:tgtEl>
                                          <p:spTgt spid="44"/>
                                        </p:tgtEl>
                                        <p:attrNameLst>
                                          <p:attrName>stroke.color</p:attrName>
                                        </p:attrNameLst>
                                      </p:cBhvr>
                                      <p:by>
                                        <p:hsl h="0" s="-70588" l="0"/>
                                      </p:by>
                                    </p:animClr>
                                    <p:set>
                                      <p:cBhvr>
                                        <p:cTn id="59" dur="500" fill="hold"/>
                                        <p:tgtEl>
                                          <p:spTgt spid="44"/>
                                        </p:tgtEl>
                                        <p:attrNameLst>
                                          <p:attrName>fill.type</p:attrName>
                                        </p:attrNameLst>
                                      </p:cBhvr>
                                      <p:to>
                                        <p:strVal val="solid"/>
                                      </p:to>
                                    </p:set>
                                  </p:childTnLst>
                                </p:cTn>
                              </p:par>
                              <p:par>
                                <p:cTn id="60" presetID="25" presetClass="emph" presetSubtype="0" fill="hold" nodeType="withEffect">
                                  <p:stCondLst>
                                    <p:cond delay="0"/>
                                  </p:stCondLst>
                                  <p:childTnLst>
                                    <p:animClr clrSpc="hsl" dir="cw">
                                      <p:cBhvr override="childStyle">
                                        <p:cTn id="61" dur="500" fill="hold"/>
                                        <p:tgtEl>
                                          <p:spTgt spid="48"/>
                                        </p:tgtEl>
                                        <p:attrNameLst>
                                          <p:attrName>style.color</p:attrName>
                                        </p:attrNameLst>
                                      </p:cBhvr>
                                      <p:by>
                                        <p:hsl h="0" s="-70588" l="0"/>
                                      </p:by>
                                    </p:animClr>
                                    <p:animClr clrSpc="hsl" dir="cw">
                                      <p:cBhvr>
                                        <p:cTn id="62" dur="500" fill="hold"/>
                                        <p:tgtEl>
                                          <p:spTgt spid="48"/>
                                        </p:tgtEl>
                                        <p:attrNameLst>
                                          <p:attrName>fillcolor</p:attrName>
                                        </p:attrNameLst>
                                      </p:cBhvr>
                                      <p:by>
                                        <p:hsl h="0" s="-70588" l="0"/>
                                      </p:by>
                                    </p:animClr>
                                    <p:animClr clrSpc="hsl" dir="cw">
                                      <p:cBhvr>
                                        <p:cTn id="63" dur="500" fill="hold"/>
                                        <p:tgtEl>
                                          <p:spTgt spid="48"/>
                                        </p:tgtEl>
                                        <p:attrNameLst>
                                          <p:attrName>stroke.color</p:attrName>
                                        </p:attrNameLst>
                                      </p:cBhvr>
                                      <p:by>
                                        <p:hsl h="0" s="-70588" l="0"/>
                                      </p:by>
                                    </p:animClr>
                                    <p:set>
                                      <p:cBhvr>
                                        <p:cTn id="64" dur="500" fill="hold"/>
                                        <p:tgtEl>
                                          <p:spTgt spid="48"/>
                                        </p:tgtEl>
                                        <p:attrNameLst>
                                          <p:attrName>fill.type</p:attrName>
                                        </p:attrNameLst>
                                      </p:cBhvr>
                                      <p:to>
                                        <p:strVal val="solid"/>
                                      </p:to>
                                    </p:set>
                                  </p:childTnLst>
                                </p:cTn>
                              </p:par>
                              <p:par>
                                <p:cTn id="65" presetID="25" presetClass="emph" presetSubtype="0" fill="hold" grpId="0" nodeType="withEffect">
                                  <p:stCondLst>
                                    <p:cond delay="0"/>
                                  </p:stCondLst>
                                  <p:childTnLst>
                                    <p:animClr clrSpc="hsl" dir="cw">
                                      <p:cBhvr override="childStyle">
                                        <p:cTn id="66" dur="500" fill="hold"/>
                                        <p:tgtEl>
                                          <p:spTgt spid="24"/>
                                        </p:tgtEl>
                                        <p:attrNameLst>
                                          <p:attrName>style.color</p:attrName>
                                        </p:attrNameLst>
                                      </p:cBhvr>
                                      <p:by>
                                        <p:hsl h="0" s="-70588" l="0"/>
                                      </p:by>
                                    </p:animClr>
                                    <p:animClr clrSpc="hsl" dir="cw">
                                      <p:cBhvr>
                                        <p:cTn id="67" dur="500" fill="hold"/>
                                        <p:tgtEl>
                                          <p:spTgt spid="24"/>
                                        </p:tgtEl>
                                        <p:attrNameLst>
                                          <p:attrName>fillcolor</p:attrName>
                                        </p:attrNameLst>
                                      </p:cBhvr>
                                      <p:by>
                                        <p:hsl h="0" s="-70588" l="0"/>
                                      </p:by>
                                    </p:animClr>
                                    <p:animClr clrSpc="hsl" dir="cw">
                                      <p:cBhvr>
                                        <p:cTn id="68" dur="500" fill="hold"/>
                                        <p:tgtEl>
                                          <p:spTgt spid="24"/>
                                        </p:tgtEl>
                                        <p:attrNameLst>
                                          <p:attrName>stroke.color</p:attrName>
                                        </p:attrNameLst>
                                      </p:cBhvr>
                                      <p:by>
                                        <p:hsl h="0" s="-70588" l="0"/>
                                      </p:by>
                                    </p:animClr>
                                    <p:set>
                                      <p:cBhvr>
                                        <p:cTn id="69" dur="500" fill="hold"/>
                                        <p:tgtEl>
                                          <p:spTgt spid="24"/>
                                        </p:tgtEl>
                                        <p:attrNameLst>
                                          <p:attrName>fill.type</p:attrName>
                                        </p:attrNameLst>
                                      </p:cBhvr>
                                      <p:to>
                                        <p:strVal val="solid"/>
                                      </p:to>
                                    </p:set>
                                  </p:childTnLst>
                                </p:cTn>
                              </p:par>
                              <p:par>
                                <p:cTn id="70" presetID="25" presetClass="emph" presetSubtype="0" fill="hold" grpId="0" nodeType="withEffect">
                                  <p:stCondLst>
                                    <p:cond delay="0"/>
                                  </p:stCondLst>
                                  <p:childTnLst>
                                    <p:animClr clrSpc="hsl" dir="cw">
                                      <p:cBhvr override="childStyle">
                                        <p:cTn id="71" dur="500" fill="hold"/>
                                        <p:tgtEl>
                                          <p:spTgt spid="25"/>
                                        </p:tgtEl>
                                        <p:attrNameLst>
                                          <p:attrName>style.color</p:attrName>
                                        </p:attrNameLst>
                                      </p:cBhvr>
                                      <p:by>
                                        <p:hsl h="0" s="-70588" l="0"/>
                                      </p:by>
                                    </p:animClr>
                                    <p:animClr clrSpc="hsl" dir="cw">
                                      <p:cBhvr>
                                        <p:cTn id="72" dur="500" fill="hold"/>
                                        <p:tgtEl>
                                          <p:spTgt spid="25"/>
                                        </p:tgtEl>
                                        <p:attrNameLst>
                                          <p:attrName>fillcolor</p:attrName>
                                        </p:attrNameLst>
                                      </p:cBhvr>
                                      <p:by>
                                        <p:hsl h="0" s="-70588" l="0"/>
                                      </p:by>
                                    </p:animClr>
                                    <p:animClr clrSpc="hsl" dir="cw">
                                      <p:cBhvr>
                                        <p:cTn id="73" dur="500" fill="hold"/>
                                        <p:tgtEl>
                                          <p:spTgt spid="25"/>
                                        </p:tgtEl>
                                        <p:attrNameLst>
                                          <p:attrName>stroke.color</p:attrName>
                                        </p:attrNameLst>
                                      </p:cBhvr>
                                      <p:by>
                                        <p:hsl h="0" s="-70588" l="0"/>
                                      </p:by>
                                    </p:animClr>
                                    <p:set>
                                      <p:cBhvr>
                                        <p:cTn id="74" dur="500" fill="hold"/>
                                        <p:tgtEl>
                                          <p:spTgt spid="25"/>
                                        </p:tgtEl>
                                        <p:attrNameLst>
                                          <p:attrName>fill.type</p:attrName>
                                        </p:attrNameLst>
                                      </p:cBhvr>
                                      <p:to>
                                        <p:strVal val="solid"/>
                                      </p:to>
                                    </p:set>
                                  </p:childTnLst>
                                </p:cTn>
                              </p:par>
                              <p:par>
                                <p:cTn id="75" presetID="25" presetClass="emph" presetSubtype="0" fill="hold" grpId="0" nodeType="withEffect">
                                  <p:stCondLst>
                                    <p:cond delay="0"/>
                                  </p:stCondLst>
                                  <p:childTnLst>
                                    <p:animClr clrSpc="hsl" dir="cw">
                                      <p:cBhvr override="childStyle">
                                        <p:cTn id="76" dur="500" fill="hold"/>
                                        <p:tgtEl>
                                          <p:spTgt spid="54"/>
                                        </p:tgtEl>
                                        <p:attrNameLst>
                                          <p:attrName>style.color</p:attrName>
                                        </p:attrNameLst>
                                      </p:cBhvr>
                                      <p:by>
                                        <p:hsl h="0" s="-70588" l="0"/>
                                      </p:by>
                                    </p:animClr>
                                    <p:animClr clrSpc="hsl" dir="cw">
                                      <p:cBhvr>
                                        <p:cTn id="77" dur="500" fill="hold"/>
                                        <p:tgtEl>
                                          <p:spTgt spid="54"/>
                                        </p:tgtEl>
                                        <p:attrNameLst>
                                          <p:attrName>fillcolor</p:attrName>
                                        </p:attrNameLst>
                                      </p:cBhvr>
                                      <p:by>
                                        <p:hsl h="0" s="-70588" l="0"/>
                                      </p:by>
                                    </p:animClr>
                                    <p:animClr clrSpc="hsl" dir="cw">
                                      <p:cBhvr>
                                        <p:cTn id="78" dur="500" fill="hold"/>
                                        <p:tgtEl>
                                          <p:spTgt spid="54"/>
                                        </p:tgtEl>
                                        <p:attrNameLst>
                                          <p:attrName>stroke.color</p:attrName>
                                        </p:attrNameLst>
                                      </p:cBhvr>
                                      <p:by>
                                        <p:hsl h="0" s="-70588" l="0"/>
                                      </p:by>
                                    </p:animClr>
                                    <p:set>
                                      <p:cBhvr>
                                        <p:cTn id="79" dur="500" fill="hold"/>
                                        <p:tgtEl>
                                          <p:spTgt spid="54"/>
                                        </p:tgtEl>
                                        <p:attrNameLst>
                                          <p:attrName>fill.type</p:attrName>
                                        </p:attrNameLst>
                                      </p:cBhvr>
                                      <p:to>
                                        <p:strVal val="solid"/>
                                      </p:to>
                                    </p:set>
                                  </p:childTnLst>
                                </p:cTn>
                              </p:par>
                              <p:par>
                                <p:cTn id="80" presetID="25" presetClass="emph" presetSubtype="0" fill="hold" grpId="0" nodeType="withEffect">
                                  <p:stCondLst>
                                    <p:cond delay="0"/>
                                  </p:stCondLst>
                                  <p:childTnLst>
                                    <p:animClr clrSpc="hsl" dir="cw">
                                      <p:cBhvr override="childStyle">
                                        <p:cTn id="81" dur="500" fill="hold"/>
                                        <p:tgtEl>
                                          <p:spTgt spid="82"/>
                                        </p:tgtEl>
                                        <p:attrNameLst>
                                          <p:attrName>style.color</p:attrName>
                                        </p:attrNameLst>
                                      </p:cBhvr>
                                      <p:by>
                                        <p:hsl h="0" s="-70588" l="0"/>
                                      </p:by>
                                    </p:animClr>
                                    <p:animClr clrSpc="hsl" dir="cw">
                                      <p:cBhvr>
                                        <p:cTn id="82" dur="500" fill="hold"/>
                                        <p:tgtEl>
                                          <p:spTgt spid="82"/>
                                        </p:tgtEl>
                                        <p:attrNameLst>
                                          <p:attrName>fillcolor</p:attrName>
                                        </p:attrNameLst>
                                      </p:cBhvr>
                                      <p:by>
                                        <p:hsl h="0" s="-70588" l="0"/>
                                      </p:by>
                                    </p:animClr>
                                    <p:animClr clrSpc="hsl" dir="cw">
                                      <p:cBhvr>
                                        <p:cTn id="83" dur="500" fill="hold"/>
                                        <p:tgtEl>
                                          <p:spTgt spid="82"/>
                                        </p:tgtEl>
                                        <p:attrNameLst>
                                          <p:attrName>stroke.color</p:attrName>
                                        </p:attrNameLst>
                                      </p:cBhvr>
                                      <p:by>
                                        <p:hsl h="0" s="-70588" l="0"/>
                                      </p:by>
                                    </p:animClr>
                                    <p:set>
                                      <p:cBhvr>
                                        <p:cTn id="84" dur="500" fill="hold"/>
                                        <p:tgtEl>
                                          <p:spTgt spid="82"/>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p:bldP spid="54" grpId="0"/>
      <p:bldP spid="78" grpId="0"/>
      <p:bldP spid="82" grpId="0"/>
      <p:bldP spid="84" grpId="0"/>
      <p:bldP spid="58" grpId="0" animBg="1"/>
      <p:bldP spid="49" grpId="0" animBg="1"/>
      <p:bldP spid="73" grpId="0" animBg="1"/>
      <p:bldP spid="74" grpId="0" animBg="1"/>
      <p:bldP spid="14" grpId="0" animBg="1"/>
      <p:bldP spid="21"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B0846-F339-900B-A364-66EED4E5A079}"/>
              </a:ext>
            </a:extLst>
          </p:cNvPr>
          <p:cNvSpPr>
            <a:spLocks noGrp="1"/>
          </p:cNvSpPr>
          <p:nvPr>
            <p:ph type="title"/>
          </p:nvPr>
        </p:nvSpPr>
        <p:spPr>
          <a:xfrm>
            <a:off x="695327" y="386001"/>
            <a:ext cx="9288461" cy="929259"/>
          </a:xfrm>
        </p:spPr>
        <p:txBody>
          <a:bodyPr/>
          <a:lstStyle/>
          <a:p>
            <a:r>
              <a:rPr lang="en-US" sz="3200" dirty="0"/>
              <a:t>Querying Concepts Related to Biological Sex</a:t>
            </a:r>
            <a:endParaRPr lang="en-NL" sz="3200" dirty="0"/>
          </a:p>
        </p:txBody>
      </p:sp>
      <p:sp>
        <p:nvSpPr>
          <p:cNvPr id="3" name="Content Placeholder 2">
            <a:extLst>
              <a:ext uri="{FF2B5EF4-FFF2-40B4-BE49-F238E27FC236}">
                <a16:creationId xmlns:a16="http://schemas.microsoft.com/office/drawing/2014/main" id="{11B44E66-97C2-9EC1-B39A-D7D12710E15A}"/>
              </a:ext>
            </a:extLst>
          </p:cNvPr>
          <p:cNvSpPr>
            <a:spLocks noGrp="1"/>
          </p:cNvSpPr>
          <p:nvPr>
            <p:ph idx="1"/>
          </p:nvPr>
        </p:nvSpPr>
        <p:spPr/>
        <p:txBody>
          <a:bodyPr>
            <a:normAutofit fontScale="85000" lnSpcReduction="20000"/>
          </a:bodyPr>
          <a:lstStyle/>
          <a:p>
            <a:pPr indent="0">
              <a:lnSpc>
                <a:spcPct val="120000"/>
              </a:lnSpc>
              <a:spcBef>
                <a:spcPts val="0"/>
              </a:spcBef>
              <a:spcAft>
                <a:spcPts val="0"/>
              </a:spcAft>
              <a:buNone/>
            </a:pPr>
            <a:r>
              <a:rPr lang="en-US" sz="2100" dirty="0">
                <a:latin typeface="Courier New" panose="02070309020205020404" pitchFamily="49" charset="0"/>
                <a:cs typeface="Courier New" panose="02070309020205020404" pitchFamily="49" charset="0"/>
              </a:rPr>
              <a:t>PREFIX demo: &lt;https://w3id.org/health-ri/semantic-interoperability/schema/&gt;</a:t>
            </a:r>
          </a:p>
          <a:p>
            <a:pPr indent="0">
              <a:lnSpc>
                <a:spcPct val="120000"/>
              </a:lnSpc>
              <a:spcBef>
                <a:spcPts val="0"/>
              </a:spcBef>
              <a:spcAft>
                <a:spcPts val="0"/>
              </a:spcAft>
              <a:buNone/>
            </a:pPr>
            <a:r>
              <a:rPr lang="en-US" sz="2100" dirty="0">
                <a:latin typeface="Courier New" panose="02070309020205020404" pitchFamily="49" charset="0"/>
                <a:cs typeface="Courier New" panose="02070309020205020404" pitchFamily="49" charset="0"/>
              </a:rPr>
              <a:t>PREFIX </a:t>
            </a:r>
            <a:r>
              <a:rPr lang="en-US" sz="2100" dirty="0" err="1">
                <a:latin typeface="Courier New" panose="02070309020205020404" pitchFamily="49" charset="0"/>
                <a:cs typeface="Courier New" panose="02070309020205020404" pitchFamily="49" charset="0"/>
              </a:rPr>
              <a:t>hrio</a:t>
            </a:r>
            <a:r>
              <a:rPr lang="en-US" sz="2100" dirty="0">
                <a:latin typeface="Courier New" panose="02070309020205020404" pitchFamily="49" charset="0"/>
                <a:cs typeface="Courier New" panose="02070309020205020404" pitchFamily="49" charset="0"/>
              </a:rPr>
              <a:t>: &lt;https://w3id.org/health-ri/ontology/&gt;</a:t>
            </a:r>
          </a:p>
          <a:p>
            <a:pPr indent="0">
              <a:lnSpc>
                <a:spcPct val="120000"/>
              </a:lnSpc>
              <a:spcBef>
                <a:spcPts val="0"/>
              </a:spcBef>
              <a:spcAft>
                <a:spcPts val="0"/>
              </a:spcAft>
              <a:buNone/>
            </a:pPr>
            <a:endParaRPr lang="en-US" dirty="0">
              <a:latin typeface="Courier New" panose="02070309020205020404" pitchFamily="49" charset="0"/>
              <a:cs typeface="Courier New" panose="02070309020205020404" pitchFamily="49" charset="0"/>
            </a:endParaRPr>
          </a:p>
          <a:p>
            <a:pPr indent="0">
              <a:lnSpc>
                <a:spcPct val="120000"/>
              </a:lnSpc>
              <a:spcBef>
                <a:spcPts val="0"/>
              </a:spcBef>
              <a:spcAft>
                <a:spcPts val="0"/>
              </a:spcAft>
              <a:buNone/>
            </a:pPr>
            <a:r>
              <a:rPr lang="en-US" dirty="0">
                <a:latin typeface="Courier New" panose="02070309020205020404" pitchFamily="49" charset="0"/>
                <a:cs typeface="Courier New" panose="02070309020205020404" pitchFamily="49" charset="0"/>
              </a:rPr>
              <a:t>SELECT DISTINCT ?</a:t>
            </a:r>
            <a:r>
              <a:rPr lang="en-US" dirty="0" err="1">
                <a:latin typeface="Courier New" panose="02070309020205020404" pitchFamily="49" charset="0"/>
                <a:cs typeface="Courier New" panose="02070309020205020404" pitchFamily="49" charset="0"/>
              </a:rPr>
              <a:t>relatedConcept</a:t>
            </a:r>
            <a:r>
              <a:rPr lang="en-US" dirty="0">
                <a:latin typeface="Courier New" panose="02070309020205020404" pitchFamily="49" charset="0"/>
                <a:cs typeface="Courier New" panose="02070309020205020404" pitchFamily="49" charset="0"/>
              </a:rPr>
              <a:t> ?polarity</a:t>
            </a:r>
          </a:p>
          <a:p>
            <a:pPr indent="0">
              <a:lnSpc>
                <a:spcPct val="120000"/>
              </a:lnSpc>
              <a:spcBef>
                <a:spcPts val="0"/>
              </a:spcBef>
              <a:spcAft>
                <a:spcPts val="0"/>
              </a:spcAft>
              <a:buNone/>
            </a:pPr>
            <a:r>
              <a:rPr lang="en-US" dirty="0">
                <a:latin typeface="Courier New" panose="02070309020205020404" pitchFamily="49" charset="0"/>
                <a:cs typeface="Courier New" panose="02070309020205020404" pitchFamily="49" charset="0"/>
              </a:rPr>
              <a:t>WHERE {</a:t>
            </a:r>
          </a:p>
          <a:p>
            <a:pPr indent="0">
              <a:lnSpc>
                <a:spcPct val="120000"/>
              </a:lnSpc>
              <a:spcBef>
                <a:spcPts val="0"/>
              </a:spcBef>
              <a:spcAft>
                <a:spcPts val="0"/>
              </a:spcAft>
              <a:buNone/>
            </a:pPr>
            <a:r>
              <a:rPr lang="en-US" dirty="0">
                <a:latin typeface="Courier New" panose="02070309020205020404" pitchFamily="49" charset="0"/>
                <a:cs typeface="Courier New" panose="02070309020205020404" pitchFamily="49" charset="0"/>
              </a:rPr>
              <a:t>  VALUES ?</a:t>
            </a:r>
            <a:r>
              <a:rPr lang="en-US" dirty="0" err="1">
                <a:latin typeface="Courier New" panose="02070309020205020404" pitchFamily="49" charset="0"/>
                <a:cs typeface="Courier New" panose="02070309020205020404" pitchFamily="49" charset="0"/>
              </a:rPr>
              <a:t>focusConcept</a:t>
            </a:r>
            <a:r>
              <a:rPr lang="en-US" dirty="0">
                <a:latin typeface="Courier New" panose="02070309020205020404" pitchFamily="49" charset="0"/>
                <a:cs typeface="Courier New" panose="02070309020205020404" pitchFamily="49" charset="0"/>
              </a:rPr>
              <a:t> { </a:t>
            </a:r>
            <a:r>
              <a:rPr lang="en-US" b="1" dirty="0" err="1">
                <a:latin typeface="Courier New" panose="02070309020205020404" pitchFamily="49" charset="0"/>
                <a:cs typeface="Courier New" panose="02070309020205020404" pitchFamily="49" charset="0"/>
              </a:rPr>
              <a:t>hrio:Sex</a:t>
            </a:r>
            <a:r>
              <a:rPr lang="en-US" dirty="0">
                <a:latin typeface="Courier New" panose="02070309020205020404" pitchFamily="49" charset="0"/>
                <a:cs typeface="Courier New" panose="02070309020205020404" pitchFamily="49" charset="0"/>
              </a:rPr>
              <a:t> }</a:t>
            </a:r>
          </a:p>
          <a:p>
            <a:pPr indent="0">
              <a:lnSpc>
                <a:spcPct val="120000"/>
              </a:lnSpc>
              <a:spcBef>
                <a:spcPts val="0"/>
              </a:spcBef>
              <a:spcAft>
                <a:spcPts val="0"/>
              </a:spcAft>
              <a:buNone/>
            </a:pPr>
            <a:endParaRPr lang="en-US" dirty="0">
              <a:latin typeface="Courier New" panose="02070309020205020404" pitchFamily="49" charset="0"/>
              <a:cs typeface="Courier New" panose="02070309020205020404" pitchFamily="49" charset="0"/>
            </a:endParaRPr>
          </a:p>
          <a:p>
            <a:pPr indent="0">
              <a:lnSpc>
                <a:spcPct val="120000"/>
              </a:lnSpc>
              <a:spcBef>
                <a:spcPts val="0"/>
              </a:spcBef>
              <a:spcAft>
                <a:spcPts val="0"/>
              </a:spcAft>
              <a:buNone/>
            </a:pPr>
            <a:r>
              <a:rPr lang="en-US" dirty="0">
                <a:latin typeface="Courier New" panose="02070309020205020404" pitchFamily="49" charset="0"/>
                <a:cs typeface="Courier New" panose="02070309020205020404" pitchFamily="49" charset="0"/>
              </a:rPr>
              <a:t>  ?mapping a </a:t>
            </a:r>
            <a:r>
              <a:rPr lang="en-US" dirty="0" err="1">
                <a:latin typeface="Courier New" panose="02070309020205020404" pitchFamily="49" charset="0"/>
                <a:cs typeface="Courier New" panose="02070309020205020404" pitchFamily="49" charset="0"/>
              </a:rPr>
              <a:t>demo:Mapping</a:t>
            </a:r>
            <a:r>
              <a:rPr lang="en-US" dirty="0">
                <a:latin typeface="Courier New" panose="02070309020205020404" pitchFamily="49" charset="0"/>
                <a:cs typeface="Courier New" panose="02070309020205020404" pitchFamily="49" charset="0"/>
              </a:rPr>
              <a:t> ;</a:t>
            </a:r>
          </a:p>
          <a:p>
            <a:pPr indent="0">
              <a:lnSpc>
                <a:spcPct val="120000"/>
              </a:lnSpc>
              <a:spcBef>
                <a:spcPts val="0"/>
              </a:spcBef>
              <a:spcAft>
                <a:spcPts val="0"/>
              </a:spcAft>
              <a:buNone/>
            </a:pP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demo:hasMappingSource</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relatedConcept</a:t>
            </a:r>
            <a:r>
              <a:rPr lang="en-US" dirty="0">
                <a:latin typeface="Courier New" panose="02070309020205020404" pitchFamily="49" charset="0"/>
                <a:cs typeface="Courier New" panose="02070309020205020404" pitchFamily="49" charset="0"/>
              </a:rPr>
              <a:t> ;</a:t>
            </a:r>
          </a:p>
          <a:p>
            <a:pPr indent="0">
              <a:lnSpc>
                <a:spcPct val="120000"/>
              </a:lnSpc>
              <a:spcBef>
                <a:spcPts val="0"/>
              </a:spcBef>
              <a:spcAft>
                <a:spcPts val="0"/>
              </a:spcAft>
              <a:buNone/>
            </a:pP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demo:hasTargetOntologyConcept</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focusConcept</a:t>
            </a:r>
            <a:r>
              <a:rPr lang="en-US" dirty="0">
                <a:latin typeface="Courier New" panose="02070309020205020404" pitchFamily="49" charset="0"/>
                <a:cs typeface="Courier New" panose="02070309020205020404" pitchFamily="49" charset="0"/>
              </a:rPr>
              <a:t> ;</a:t>
            </a:r>
          </a:p>
          <a:p>
            <a:pPr indent="0">
              <a:lnSpc>
                <a:spcPct val="120000"/>
              </a:lnSpc>
              <a:spcBef>
                <a:spcPts val="0"/>
              </a:spcBef>
              <a:spcAft>
                <a:spcPts val="0"/>
              </a:spcAft>
              <a:buNone/>
            </a:pP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demo:hasPolarity</a:t>
            </a:r>
            <a:r>
              <a:rPr lang="en-US" dirty="0">
                <a:latin typeface="Courier New" panose="02070309020205020404" pitchFamily="49" charset="0"/>
                <a:cs typeface="Courier New" panose="02070309020205020404" pitchFamily="49" charset="0"/>
              </a:rPr>
              <a:t> ?polarity.</a:t>
            </a:r>
          </a:p>
          <a:p>
            <a:pPr indent="0">
              <a:lnSpc>
                <a:spcPct val="120000"/>
              </a:lnSpc>
              <a:spcBef>
                <a:spcPts val="0"/>
              </a:spcBef>
              <a:spcAft>
                <a:spcPts val="0"/>
              </a:spcAft>
              <a:buNone/>
            </a:pPr>
            <a:r>
              <a:rPr lang="en-US" dirty="0">
                <a:latin typeface="Courier New" panose="02070309020205020404" pitchFamily="49" charset="0"/>
                <a:cs typeface="Courier New" panose="02070309020205020404" pitchFamily="49" charset="0"/>
              </a:rPr>
              <a:t>}</a:t>
            </a:r>
          </a:p>
          <a:p>
            <a:pPr indent="0">
              <a:lnSpc>
                <a:spcPct val="120000"/>
              </a:lnSpc>
              <a:spcBef>
                <a:spcPts val="0"/>
              </a:spcBef>
              <a:spcAft>
                <a:spcPts val="0"/>
              </a:spcAft>
              <a:buNone/>
            </a:pPr>
            <a:r>
              <a:rPr lang="en-US" dirty="0">
                <a:latin typeface="Courier New" panose="02070309020205020404" pitchFamily="49" charset="0"/>
                <a:cs typeface="Courier New" panose="02070309020205020404" pitchFamily="49" charset="0"/>
              </a:rPr>
              <a:t>ORDER BY ?</a:t>
            </a:r>
            <a:r>
              <a:rPr lang="en-US" dirty="0" err="1">
                <a:latin typeface="Courier New" panose="02070309020205020404" pitchFamily="49" charset="0"/>
                <a:cs typeface="Courier New" panose="02070309020205020404" pitchFamily="49" charset="0"/>
              </a:rPr>
              <a:t>relatedConcept</a:t>
            </a:r>
            <a:r>
              <a:rPr lang="en-US" dirty="0">
                <a:latin typeface="Courier New" panose="02070309020205020404" pitchFamily="49" charset="0"/>
                <a:cs typeface="Courier New" panose="02070309020205020404" pitchFamily="49" charset="0"/>
              </a:rPr>
              <a:t> ?polarity</a:t>
            </a:r>
          </a:p>
          <a:p>
            <a:pPr indent="0">
              <a:lnSpc>
                <a:spcPct val="120000"/>
              </a:lnSpc>
              <a:spcBef>
                <a:spcPts val="0"/>
              </a:spcBef>
              <a:spcAft>
                <a:spcPts val="0"/>
              </a:spcAft>
              <a:buNone/>
            </a:pPr>
            <a:endParaRPr lang="en-NL" dirty="0">
              <a:latin typeface="Courier New" panose="02070309020205020404" pitchFamily="49" charset="0"/>
              <a:cs typeface="Courier New" panose="02070309020205020404" pitchFamily="49" charset="0"/>
            </a:endParaRPr>
          </a:p>
        </p:txBody>
      </p:sp>
      <p:sp>
        <p:nvSpPr>
          <p:cNvPr id="4" name="Slide Number Placeholder 3">
            <a:extLst>
              <a:ext uri="{FF2B5EF4-FFF2-40B4-BE49-F238E27FC236}">
                <a16:creationId xmlns:a16="http://schemas.microsoft.com/office/drawing/2014/main" id="{449F45AA-53F1-EC5F-070B-B0002AED2B6A}"/>
              </a:ext>
            </a:extLst>
          </p:cNvPr>
          <p:cNvSpPr>
            <a:spLocks noGrp="1"/>
          </p:cNvSpPr>
          <p:nvPr>
            <p:ph type="sldNum" sz="quarter" idx="12"/>
          </p:nvPr>
        </p:nvSpPr>
        <p:spPr/>
        <p:txBody>
          <a:bodyPr/>
          <a:lstStyle/>
          <a:p>
            <a:fld id="{4FAB73BC-B049-4115-A692-8D63A059BFB8}" type="slidenum">
              <a:rPr lang="en-US" smtClean="0"/>
              <a:pPr/>
              <a:t>30</a:t>
            </a:fld>
            <a:endParaRPr lang="en-US" dirty="0"/>
          </a:p>
        </p:txBody>
      </p:sp>
      <p:sp>
        <p:nvSpPr>
          <p:cNvPr id="5" name="TextBox 4">
            <a:extLst>
              <a:ext uri="{FF2B5EF4-FFF2-40B4-BE49-F238E27FC236}">
                <a16:creationId xmlns:a16="http://schemas.microsoft.com/office/drawing/2014/main" id="{1C30230D-D2A3-C37B-F738-DB509A1D2AFB}"/>
              </a:ext>
            </a:extLst>
          </p:cNvPr>
          <p:cNvSpPr txBox="1"/>
          <p:nvPr/>
        </p:nvSpPr>
        <p:spPr>
          <a:xfrm>
            <a:off x="10332219" y="5949950"/>
            <a:ext cx="1325204" cy="338554"/>
          </a:xfrm>
          <a:prstGeom prst="rect">
            <a:avLst/>
          </a:prstGeom>
          <a:noFill/>
        </p:spPr>
        <p:txBody>
          <a:bodyPr wrap="square">
            <a:spAutoFit/>
          </a:bodyPr>
          <a:lstStyle/>
          <a:p>
            <a:r>
              <a:rPr kumimoji="0" lang="en-US" sz="16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1</a:t>
            </a:r>
            <a:endParaRPr lang="en-NL" sz="1100" dirty="0"/>
          </a:p>
        </p:txBody>
      </p:sp>
    </p:spTree>
    <p:extLst>
      <p:ext uri="{BB962C8B-B14F-4D97-AF65-F5344CB8AC3E}">
        <p14:creationId xmlns:p14="http://schemas.microsoft.com/office/powerpoint/2010/main" val="296651029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51CBC2-4423-ABAF-78D4-A4E931834329}"/>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71C51D2-28DD-10A6-DEDD-3F864342A723}"/>
              </a:ext>
            </a:extLst>
          </p:cNvPr>
          <p:cNvSpPr>
            <a:spLocks noGrp="1"/>
          </p:cNvSpPr>
          <p:nvPr>
            <p:ph type="sldNum" sz="quarter" idx="12"/>
          </p:nvPr>
        </p:nvSpPr>
        <p:spPr/>
        <p:txBody>
          <a:bodyPr/>
          <a:lstStyle/>
          <a:p>
            <a:fld id="{4FAB73BC-B049-4115-A692-8D63A059BFB8}" type="slidenum">
              <a:rPr lang="en-US" smtClean="0"/>
              <a:pPr/>
              <a:t>31</a:t>
            </a:fld>
            <a:endParaRPr lang="en-US" dirty="0"/>
          </a:p>
        </p:txBody>
      </p:sp>
      <p:sp>
        <p:nvSpPr>
          <p:cNvPr id="14" name="TextBox 13">
            <a:extLst>
              <a:ext uri="{FF2B5EF4-FFF2-40B4-BE49-F238E27FC236}">
                <a16:creationId xmlns:a16="http://schemas.microsoft.com/office/drawing/2014/main" id="{BDA2AFD3-697A-3FE3-6AA8-121E26A0C866}"/>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a:t>
            </a:r>
            <a:r>
              <a:rPr lang="en-US" sz="1200" b="1" cap="small" spc="100" dirty="0">
                <a:solidFill>
                  <a:srgbClr val="000000">
                    <a:lumMod val="95000"/>
                    <a:lumOff val="5000"/>
                  </a:srgbClr>
                </a:solidFill>
                <a:latin typeface="Aptos" panose="020B0004020202020204" pitchFamily="34" charset="0"/>
                <a:ea typeface="+mj-ea"/>
                <a:cs typeface="+mj-cs"/>
              </a:rPr>
              <a:t>1</a:t>
            </a:r>
            <a:endParaRPr lang="en-NL" sz="1000" b="1" dirty="0"/>
          </a:p>
        </p:txBody>
      </p:sp>
      <p:sp>
        <p:nvSpPr>
          <p:cNvPr id="2" name="TextBox 1">
            <a:extLst>
              <a:ext uri="{FF2B5EF4-FFF2-40B4-BE49-F238E27FC236}">
                <a16:creationId xmlns:a16="http://schemas.microsoft.com/office/drawing/2014/main" id="{84FE4BF2-0EA8-E418-D6D2-2C50F7B556A0}"/>
              </a:ext>
            </a:extLst>
          </p:cNvPr>
          <p:cNvSpPr txBox="1"/>
          <p:nvPr/>
        </p:nvSpPr>
        <p:spPr>
          <a:xfrm>
            <a:off x="767089" y="546538"/>
            <a:ext cx="9988760" cy="923330"/>
          </a:xfrm>
          <a:prstGeom prst="rect">
            <a:avLst/>
          </a:prstGeom>
          <a:noFill/>
        </p:spPr>
        <p:txBody>
          <a:bodyPr wrap="none" rtlCol="0">
            <a:spAutoFit/>
          </a:bodyPr>
          <a:lstStyle/>
          <a:p>
            <a:r>
              <a:rPr lang="en-US" dirty="0">
                <a:solidFill>
                  <a:srgbClr val="FF0000"/>
                </a:solidFill>
              </a:rPr>
              <a:t>SCENARIO 2: Return all patients that are defined by social gender</a:t>
            </a:r>
          </a:p>
          <a:p>
            <a:r>
              <a:rPr lang="en-US" dirty="0">
                <a:solidFill>
                  <a:srgbClr val="FF0000"/>
                </a:solidFill>
              </a:rPr>
              <a:t>Query all patients that implement concepts that have meaning </a:t>
            </a:r>
            <a:r>
              <a:rPr lang="en-US" dirty="0" err="1">
                <a:solidFill>
                  <a:srgbClr val="FF0000"/>
                </a:solidFill>
              </a:rPr>
              <a:t>hrio:Gender</a:t>
            </a:r>
            <a:r>
              <a:rPr lang="en-US" dirty="0">
                <a:solidFill>
                  <a:srgbClr val="FF0000"/>
                </a:solidFill>
              </a:rPr>
              <a:t> or one of its subclasses</a:t>
            </a:r>
          </a:p>
          <a:p>
            <a:r>
              <a:rPr lang="en-US" dirty="0">
                <a:solidFill>
                  <a:srgbClr val="FF0000"/>
                </a:solidFill>
              </a:rPr>
              <a:t>Will return all instances from D2 and D3.</a:t>
            </a:r>
            <a:endParaRPr lang="en-NL" dirty="0">
              <a:solidFill>
                <a:srgbClr val="FF0000"/>
              </a:solidFill>
            </a:endParaRPr>
          </a:p>
        </p:txBody>
      </p:sp>
      <p:graphicFrame>
        <p:nvGraphicFramePr>
          <p:cNvPr id="5" name="Content Placeholder 4">
            <a:extLst>
              <a:ext uri="{FF2B5EF4-FFF2-40B4-BE49-F238E27FC236}">
                <a16:creationId xmlns:a16="http://schemas.microsoft.com/office/drawing/2014/main" id="{9E3B28CA-7850-69E7-7162-DD2AA03ECAF4}"/>
              </a:ext>
            </a:extLst>
          </p:cNvPr>
          <p:cNvGraphicFramePr>
            <a:graphicFrameLocks/>
          </p:cNvGraphicFramePr>
          <p:nvPr>
            <p:extLst>
              <p:ext uri="{D42A27DB-BD31-4B8C-83A1-F6EECF244321}">
                <p14:modId xmlns:p14="http://schemas.microsoft.com/office/powerpoint/2010/main" val="3217226190"/>
              </p:ext>
            </p:extLst>
          </p:nvPr>
        </p:nvGraphicFramePr>
        <p:xfrm>
          <a:off x="7878355" y="3118199"/>
          <a:ext cx="2811677" cy="1278051"/>
        </p:xfrm>
        <a:graphic>
          <a:graphicData uri="http://schemas.openxmlformats.org/drawingml/2006/table">
            <a:tbl>
              <a:tblPr firstRow="1" bandRow="1">
                <a:effectLst>
                  <a:outerShdw blurRad="50800" dist="38100" dir="2700000" algn="tl" rotWithShape="0">
                    <a:prstClr val="black">
                      <a:alpha val="40000"/>
                    </a:prstClr>
                  </a:outerShdw>
                </a:effectLst>
                <a:tableStyleId>{21E4AEA4-8DFA-4A89-87EB-49C32662AFE0}</a:tableStyleId>
              </a:tblPr>
              <a:tblGrid>
                <a:gridCol w="360000">
                  <a:extLst>
                    <a:ext uri="{9D8B030D-6E8A-4147-A177-3AD203B41FA5}">
                      <a16:colId xmlns:a16="http://schemas.microsoft.com/office/drawing/2014/main" val="979315127"/>
                    </a:ext>
                  </a:extLst>
                </a:gridCol>
                <a:gridCol w="1731677">
                  <a:extLst>
                    <a:ext uri="{9D8B030D-6E8A-4147-A177-3AD203B41FA5}">
                      <a16:colId xmlns:a16="http://schemas.microsoft.com/office/drawing/2014/main" val="2075302567"/>
                    </a:ext>
                  </a:extLst>
                </a:gridCol>
                <a:gridCol w="360000">
                  <a:extLst>
                    <a:ext uri="{9D8B030D-6E8A-4147-A177-3AD203B41FA5}">
                      <a16:colId xmlns:a16="http://schemas.microsoft.com/office/drawing/2014/main" val="660631070"/>
                    </a:ext>
                  </a:extLst>
                </a:gridCol>
                <a:gridCol w="360000">
                  <a:extLst>
                    <a:ext uri="{9D8B030D-6E8A-4147-A177-3AD203B41FA5}">
                      <a16:colId xmlns:a16="http://schemas.microsoft.com/office/drawing/2014/main" val="1525013378"/>
                    </a:ext>
                  </a:extLst>
                </a:gridCol>
              </a:tblGrid>
              <a:tr h="367200">
                <a:tc>
                  <a:txBody>
                    <a:bodyPr/>
                    <a:lstStyle/>
                    <a:p>
                      <a:pPr algn="l"/>
                      <a:endParaRPr lang="en-NL" sz="1100" dirty="0"/>
                    </a:p>
                  </a:txBody>
                  <a:tcPr marL="72000" anchor="ctr"/>
                </a:tc>
                <a:tc>
                  <a:txBody>
                    <a:bodyPr/>
                    <a:lstStyle/>
                    <a:p>
                      <a:pPr algn="l"/>
                      <a:r>
                        <a:rPr lang="en-US" sz="900" dirty="0" err="1"/>
                        <a:t>hri-openehr:legal-gender</a:t>
                      </a:r>
                      <a:endParaRPr lang="en-US" sz="900" dirty="0"/>
                    </a:p>
                    <a:p>
                      <a:pPr algn="l"/>
                      <a:r>
                        <a:rPr lang="en-US" sz="900" dirty="0"/>
                        <a:t>("Legal gender"@</a:t>
                      </a:r>
                      <a:r>
                        <a:rPr lang="en-US" sz="900" dirty="0" err="1"/>
                        <a:t>en</a:t>
                      </a:r>
                      <a:r>
                        <a:rPr lang="en-US" sz="900" dirty="0"/>
                        <a:t>)</a:t>
                      </a:r>
                      <a:endParaRPr lang="en-US" sz="850" dirty="0"/>
                    </a:p>
                  </a:txBody>
                  <a:tcPr marL="72000" marR="18000" marT="0" marB="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3012902903"/>
                  </a:ext>
                </a:extLst>
              </a:tr>
              <a:tr h="306000">
                <a:tc>
                  <a:txBody>
                    <a:bodyPr/>
                    <a:lstStyle/>
                    <a:p>
                      <a:pPr algn="l"/>
                      <a:endParaRPr lang="en-NL" sz="1100" dirty="0"/>
                    </a:p>
                  </a:txBody>
                  <a:tcPr marL="72000" anchor="ctr"/>
                </a:tc>
                <a:tc>
                  <a:txBody>
                    <a:bodyPr/>
                    <a:lstStyle/>
                    <a:p>
                      <a:pPr algn="l"/>
                      <a:r>
                        <a:rPr lang="en-US" sz="1100" b="1" dirty="0"/>
                        <a:t>female</a:t>
                      </a:r>
                      <a:endParaRPr lang="en-NL" sz="1100" b="1" dirty="0"/>
                    </a:p>
                  </a:txBody>
                  <a:tcPr marL="7200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1249708150"/>
                  </a:ext>
                </a:extLst>
              </a:tr>
              <a:tr h="306000">
                <a:tc>
                  <a:txBody>
                    <a:bodyPr/>
                    <a:lstStyle/>
                    <a:p>
                      <a:pPr algn="l"/>
                      <a:endParaRPr lang="en-NL" sz="1100" dirty="0"/>
                    </a:p>
                  </a:txBody>
                  <a:tcPr marL="72000" anchor="ctr"/>
                </a:tc>
                <a:tc>
                  <a:txBody>
                    <a:bodyPr/>
                    <a:lstStyle/>
                    <a:p>
                      <a:pPr algn="l"/>
                      <a:r>
                        <a:rPr lang="en-US" sz="1100" b="1" dirty="0"/>
                        <a:t>male</a:t>
                      </a:r>
                      <a:endParaRPr lang="en-NL" sz="1100" b="1" dirty="0"/>
                    </a:p>
                  </a:txBody>
                  <a:tcPr marL="7200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3850974854"/>
                  </a:ext>
                </a:extLst>
              </a:tr>
              <a:tr h="298851">
                <a:tc>
                  <a:txBody>
                    <a:bodyPr/>
                    <a:lstStyle/>
                    <a:p>
                      <a:pPr algn="l"/>
                      <a:endParaRPr lang="en-NL" sz="1100" dirty="0"/>
                    </a:p>
                  </a:txBody>
                  <a:tcPr marL="72000" anchor="ctr"/>
                </a:tc>
                <a:tc>
                  <a:txBody>
                    <a:bodyPr/>
                    <a:lstStyle/>
                    <a:p>
                      <a:pPr algn="l"/>
                      <a:r>
                        <a:rPr lang="en-US" sz="1100" b="1" dirty="0"/>
                        <a:t>nonbinary</a:t>
                      </a:r>
                      <a:endParaRPr lang="en-NL" sz="1100" b="1" dirty="0"/>
                    </a:p>
                  </a:txBody>
                  <a:tcPr marL="7200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6" name="Rectangle: Rounded Corners 5">
            <a:extLst>
              <a:ext uri="{FF2B5EF4-FFF2-40B4-BE49-F238E27FC236}">
                <a16:creationId xmlns:a16="http://schemas.microsoft.com/office/drawing/2014/main" id="{A5C61DC5-8EAE-FAC6-7755-2AF8A7911C93}"/>
              </a:ext>
            </a:extLst>
          </p:cNvPr>
          <p:cNvSpPr/>
          <p:nvPr/>
        </p:nvSpPr>
        <p:spPr>
          <a:xfrm>
            <a:off x="9580165" y="3764351"/>
            <a:ext cx="1642188" cy="710132"/>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NL"/>
          </a:p>
        </p:txBody>
      </p:sp>
      <p:graphicFrame>
        <p:nvGraphicFramePr>
          <p:cNvPr id="7" name="Content Placeholder 4">
            <a:extLst>
              <a:ext uri="{FF2B5EF4-FFF2-40B4-BE49-F238E27FC236}">
                <a16:creationId xmlns:a16="http://schemas.microsoft.com/office/drawing/2014/main" id="{A425FB8C-7985-C816-56F2-E97A8AD93C1F}"/>
              </a:ext>
            </a:extLst>
          </p:cNvPr>
          <p:cNvGraphicFramePr>
            <a:graphicFrameLocks/>
          </p:cNvGraphicFramePr>
          <p:nvPr>
            <p:extLst>
              <p:ext uri="{D42A27DB-BD31-4B8C-83A1-F6EECF244321}">
                <p14:modId xmlns:p14="http://schemas.microsoft.com/office/powerpoint/2010/main" val="1582770089"/>
              </p:ext>
            </p:extLst>
          </p:nvPr>
        </p:nvGraphicFramePr>
        <p:xfrm>
          <a:off x="7878355" y="4538762"/>
          <a:ext cx="2811600" cy="1285200"/>
        </p:xfrm>
        <a:graphic>
          <a:graphicData uri="http://schemas.openxmlformats.org/drawingml/2006/table">
            <a:tbl>
              <a:tblPr firstRow="1" bandRow="1">
                <a:effectLst>
                  <a:outerShdw blurRad="50800" dist="38100" dir="2700000" algn="tl" rotWithShape="0">
                    <a:prstClr val="black">
                      <a:alpha val="40000"/>
                    </a:prstClr>
                  </a:outerShdw>
                </a:effectLst>
                <a:tableStyleId>{00A15C55-8517-42AA-B614-E9B94910E393}</a:tableStyleId>
              </a:tblPr>
              <a:tblGrid>
                <a:gridCol w="360000">
                  <a:extLst>
                    <a:ext uri="{9D8B030D-6E8A-4147-A177-3AD203B41FA5}">
                      <a16:colId xmlns:a16="http://schemas.microsoft.com/office/drawing/2014/main" val="979315127"/>
                    </a:ext>
                  </a:extLst>
                </a:gridCol>
                <a:gridCol w="1731600">
                  <a:extLst>
                    <a:ext uri="{9D8B030D-6E8A-4147-A177-3AD203B41FA5}">
                      <a16:colId xmlns:a16="http://schemas.microsoft.com/office/drawing/2014/main" val="2075302567"/>
                    </a:ext>
                  </a:extLst>
                </a:gridCol>
                <a:gridCol w="360000">
                  <a:extLst>
                    <a:ext uri="{9D8B030D-6E8A-4147-A177-3AD203B41FA5}">
                      <a16:colId xmlns:a16="http://schemas.microsoft.com/office/drawing/2014/main" val="660631070"/>
                    </a:ext>
                  </a:extLst>
                </a:gridCol>
                <a:gridCol w="360000">
                  <a:extLst>
                    <a:ext uri="{9D8B030D-6E8A-4147-A177-3AD203B41FA5}">
                      <a16:colId xmlns:a16="http://schemas.microsoft.com/office/drawing/2014/main" val="1525013378"/>
                    </a:ext>
                  </a:extLst>
                </a:gridCol>
              </a:tblGrid>
              <a:tr h="367200">
                <a:tc>
                  <a:txBody>
                    <a:bodyPr/>
                    <a:lstStyle/>
                    <a:p>
                      <a:endParaRPr lang="en-NL" sz="1100" dirty="0"/>
                    </a:p>
                  </a:txBody>
                  <a:tcPr marL="72000" anchor="ctr"/>
                </a:tc>
                <a:tc>
                  <a:txBody>
                    <a:bodyPr/>
                    <a:lstStyle/>
                    <a:p>
                      <a:r>
                        <a:rPr lang="en-US" sz="900" dirty="0"/>
                        <a:t>loinc:107454-1</a:t>
                      </a:r>
                    </a:p>
                    <a:p>
                      <a:r>
                        <a:rPr lang="en-US" sz="900" dirty="0"/>
                        <a:t>("Administrative gender"@</a:t>
                      </a:r>
                      <a:r>
                        <a:rPr lang="en-US" sz="900" dirty="0" err="1"/>
                        <a:t>en</a:t>
                      </a:r>
                      <a:r>
                        <a:rPr lang="en-US" sz="900" dirty="0"/>
                        <a:t>)</a:t>
                      </a:r>
                      <a:endParaRPr lang="en-NL" sz="900" dirty="0"/>
                    </a:p>
                  </a:txBody>
                  <a:tcPr marL="72000" marR="0" marT="0" marB="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012902903"/>
                  </a:ext>
                </a:extLst>
              </a:tr>
              <a:tr h="306000">
                <a:tc>
                  <a:txBody>
                    <a:bodyPr/>
                    <a:lstStyle/>
                    <a:p>
                      <a:endParaRPr lang="en-NL" sz="1100" dirty="0"/>
                    </a:p>
                  </a:txBody>
                  <a:tcPr marL="72000" anchor="ctr"/>
                </a:tc>
                <a:tc>
                  <a:txBody>
                    <a:bodyPr/>
                    <a:lstStyle/>
                    <a:p>
                      <a:r>
                        <a:rPr lang="en-US" sz="1100" b="1" dirty="0"/>
                        <a:t>woman</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1249708150"/>
                  </a:ext>
                </a:extLst>
              </a:tr>
              <a:tr h="306000">
                <a:tc>
                  <a:txBody>
                    <a:bodyPr/>
                    <a:lstStyle/>
                    <a:p>
                      <a:endParaRPr lang="en-NL" sz="1100" dirty="0"/>
                    </a:p>
                  </a:txBody>
                  <a:tcPr marL="72000" anchor="ctr"/>
                </a:tc>
                <a:tc>
                  <a:txBody>
                    <a:bodyPr/>
                    <a:lstStyle/>
                    <a:p>
                      <a:r>
                        <a:rPr lang="en-US" sz="1100" b="1" dirty="0"/>
                        <a:t>man</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850974854"/>
                  </a:ext>
                </a:extLst>
              </a:tr>
              <a:tr h="306000">
                <a:tc>
                  <a:txBody>
                    <a:bodyPr/>
                    <a:lstStyle/>
                    <a:p>
                      <a:endParaRPr lang="en-NL" sz="1100" dirty="0"/>
                    </a:p>
                  </a:txBody>
                  <a:tcPr marL="72000" anchor="ctr"/>
                </a:tc>
                <a:tc>
                  <a:txBody>
                    <a:bodyPr/>
                    <a:lstStyle/>
                    <a:p>
                      <a:r>
                        <a:rPr lang="en-US" sz="1100" b="1" dirty="0"/>
                        <a:t>non-binary</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8" name="Rectangle: Rounded Corners 7">
            <a:extLst>
              <a:ext uri="{FF2B5EF4-FFF2-40B4-BE49-F238E27FC236}">
                <a16:creationId xmlns:a16="http://schemas.microsoft.com/office/drawing/2014/main" id="{9E542F2A-CFC1-3FB1-56D2-2C70025A49D4}"/>
              </a:ext>
            </a:extLst>
          </p:cNvPr>
          <p:cNvSpPr/>
          <p:nvPr/>
        </p:nvSpPr>
        <p:spPr>
          <a:xfrm>
            <a:off x="9580166" y="5182068"/>
            <a:ext cx="1642188" cy="710132"/>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en-NL"/>
          </a:p>
        </p:txBody>
      </p:sp>
      <p:graphicFrame>
        <p:nvGraphicFramePr>
          <p:cNvPr id="9" name="Content Placeholder 4">
            <a:extLst>
              <a:ext uri="{FF2B5EF4-FFF2-40B4-BE49-F238E27FC236}">
                <a16:creationId xmlns:a16="http://schemas.microsoft.com/office/drawing/2014/main" id="{A5D6260F-37FD-173F-A851-58879E8CA0A4}"/>
              </a:ext>
            </a:extLst>
          </p:cNvPr>
          <p:cNvGraphicFramePr>
            <a:graphicFrameLocks/>
          </p:cNvGraphicFramePr>
          <p:nvPr>
            <p:extLst>
              <p:ext uri="{D42A27DB-BD31-4B8C-83A1-F6EECF244321}">
                <p14:modId xmlns:p14="http://schemas.microsoft.com/office/powerpoint/2010/main" val="1648291245"/>
              </p:ext>
            </p:extLst>
          </p:nvPr>
        </p:nvGraphicFramePr>
        <p:xfrm>
          <a:off x="7878355" y="1695020"/>
          <a:ext cx="2811677" cy="128376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360000">
                  <a:extLst>
                    <a:ext uri="{9D8B030D-6E8A-4147-A177-3AD203B41FA5}">
                      <a16:colId xmlns:a16="http://schemas.microsoft.com/office/drawing/2014/main" val="979315127"/>
                    </a:ext>
                  </a:extLst>
                </a:gridCol>
                <a:gridCol w="1731677">
                  <a:extLst>
                    <a:ext uri="{9D8B030D-6E8A-4147-A177-3AD203B41FA5}">
                      <a16:colId xmlns:a16="http://schemas.microsoft.com/office/drawing/2014/main" val="2075302567"/>
                    </a:ext>
                  </a:extLst>
                </a:gridCol>
                <a:gridCol w="360000">
                  <a:extLst>
                    <a:ext uri="{9D8B030D-6E8A-4147-A177-3AD203B41FA5}">
                      <a16:colId xmlns:a16="http://schemas.microsoft.com/office/drawing/2014/main" val="660631070"/>
                    </a:ext>
                  </a:extLst>
                </a:gridCol>
                <a:gridCol w="360000">
                  <a:extLst>
                    <a:ext uri="{9D8B030D-6E8A-4147-A177-3AD203B41FA5}">
                      <a16:colId xmlns:a16="http://schemas.microsoft.com/office/drawing/2014/main" val="1525013378"/>
                    </a:ext>
                  </a:extLst>
                </a:gridCol>
              </a:tblGrid>
              <a:tr h="324000">
                <a:tc>
                  <a:txBody>
                    <a:bodyPr/>
                    <a:lstStyle/>
                    <a:p>
                      <a:endParaRPr lang="en-NL" sz="1100" dirty="0"/>
                    </a:p>
                  </a:txBody>
                  <a:tcPr marL="72000" anchor="ctr"/>
                </a:tc>
                <a:tc>
                  <a:txBody>
                    <a:bodyPr/>
                    <a:lstStyle/>
                    <a:p>
                      <a:r>
                        <a:rPr lang="en-US" sz="900" dirty="0" err="1"/>
                        <a:t>care-sm:Sex</a:t>
                      </a:r>
                      <a:endParaRPr lang="en-US" sz="900" dirty="0"/>
                    </a:p>
                    <a:p>
                      <a:r>
                        <a:rPr lang="en-US" sz="900" dirty="0"/>
                        <a:t>("Biological sex"@</a:t>
                      </a:r>
                      <a:r>
                        <a:rPr lang="en-US" sz="900" dirty="0" err="1"/>
                        <a:t>en</a:t>
                      </a:r>
                      <a:r>
                        <a:rPr lang="en-US" sz="900" dirty="0"/>
                        <a:t>)</a:t>
                      </a:r>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012902903"/>
                  </a:ext>
                </a:extLst>
              </a:tr>
              <a:tr h="306000">
                <a:tc>
                  <a:txBody>
                    <a:bodyPr/>
                    <a:lstStyle/>
                    <a:p>
                      <a:endParaRPr lang="en-NL" sz="1100" dirty="0"/>
                    </a:p>
                  </a:txBody>
                  <a:tcPr marL="72000" anchor="ctr"/>
                </a:tc>
                <a:tc>
                  <a:txBody>
                    <a:bodyPr/>
                    <a:lstStyle/>
                    <a:p>
                      <a:r>
                        <a:rPr lang="en-US" sz="1100" b="1" dirty="0"/>
                        <a:t>female</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1249708150"/>
                  </a:ext>
                </a:extLst>
              </a:tr>
              <a:tr h="306000">
                <a:tc>
                  <a:txBody>
                    <a:bodyPr/>
                    <a:lstStyle/>
                    <a:p>
                      <a:endParaRPr lang="en-NL" sz="1100" dirty="0"/>
                    </a:p>
                  </a:txBody>
                  <a:tcPr marL="72000" anchor="ctr"/>
                </a:tc>
                <a:tc>
                  <a:txBody>
                    <a:bodyPr/>
                    <a:lstStyle/>
                    <a:p>
                      <a:r>
                        <a:rPr lang="en-US" sz="1100" b="1" dirty="0"/>
                        <a:t>male</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850974854"/>
                  </a:ext>
                </a:extLst>
              </a:tr>
              <a:tr h="306000">
                <a:tc>
                  <a:txBody>
                    <a:bodyPr/>
                    <a:lstStyle/>
                    <a:p>
                      <a:endParaRPr lang="en-NL" sz="1100" dirty="0"/>
                    </a:p>
                  </a:txBody>
                  <a:tcPr marL="72000" anchor="ctr"/>
                </a:tc>
                <a:tc>
                  <a:txBody>
                    <a:bodyPr/>
                    <a:lstStyle/>
                    <a:p>
                      <a:r>
                        <a:rPr lang="en-US" sz="1100" b="1" dirty="0"/>
                        <a:t>female</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12" name="Rectangle: Rounded Corners 11">
            <a:extLst>
              <a:ext uri="{FF2B5EF4-FFF2-40B4-BE49-F238E27FC236}">
                <a16:creationId xmlns:a16="http://schemas.microsoft.com/office/drawing/2014/main" id="{7AE04EC5-2F55-E042-DC06-8875F6C0CE35}"/>
              </a:ext>
            </a:extLst>
          </p:cNvPr>
          <p:cNvSpPr/>
          <p:nvPr/>
        </p:nvSpPr>
        <p:spPr>
          <a:xfrm>
            <a:off x="9580165" y="2343789"/>
            <a:ext cx="1642188" cy="710132"/>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NL"/>
          </a:p>
        </p:txBody>
      </p:sp>
      <p:pic>
        <p:nvPicPr>
          <p:cNvPr id="17" name="Picture 16">
            <a:extLst>
              <a:ext uri="{FF2B5EF4-FFF2-40B4-BE49-F238E27FC236}">
                <a16:creationId xmlns:a16="http://schemas.microsoft.com/office/drawing/2014/main" id="{0C39E9BD-9BCC-9C6D-CF13-B73BE548C7A6}"/>
              </a:ext>
            </a:extLst>
          </p:cNvPr>
          <p:cNvPicPr>
            <a:picLocks noChangeAspect="1"/>
          </p:cNvPicPr>
          <p:nvPr/>
        </p:nvPicPr>
        <p:blipFill>
          <a:blip r:embed="rId2"/>
          <a:srcRect l="17222" t="33069" r="27186" b="41346"/>
          <a:stretch>
            <a:fillRect/>
          </a:stretch>
        </p:blipFill>
        <p:spPr>
          <a:xfrm>
            <a:off x="9681170" y="2477918"/>
            <a:ext cx="1440178" cy="441874"/>
          </a:xfrm>
          <a:prstGeom prst="rect">
            <a:avLst/>
          </a:prstGeom>
        </p:spPr>
      </p:pic>
      <p:pic>
        <p:nvPicPr>
          <p:cNvPr id="18" name="Picture 17">
            <a:extLst>
              <a:ext uri="{FF2B5EF4-FFF2-40B4-BE49-F238E27FC236}">
                <a16:creationId xmlns:a16="http://schemas.microsoft.com/office/drawing/2014/main" id="{3FEAACB7-E7A5-609F-D791-D93FC2A38536}"/>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25000"/>
                    </a14:imgEffect>
                    <a14:imgEffect>
                      <a14:brightnessContrast contrast="-40000"/>
                    </a14:imgEffect>
                  </a14:imgLayer>
                </a14:imgProps>
              </a:ext>
            </a:extLst>
          </a:blip>
          <a:srcRect l="22593" t="33818" r="26296" b="42564"/>
          <a:stretch>
            <a:fillRect/>
          </a:stretch>
        </p:blipFill>
        <p:spPr>
          <a:xfrm>
            <a:off x="9681259" y="3897611"/>
            <a:ext cx="1440000" cy="443613"/>
          </a:xfrm>
          <a:prstGeom prst="rect">
            <a:avLst/>
          </a:prstGeom>
        </p:spPr>
      </p:pic>
      <p:pic>
        <p:nvPicPr>
          <p:cNvPr id="23" name="Picture 22">
            <a:extLst>
              <a:ext uri="{FF2B5EF4-FFF2-40B4-BE49-F238E27FC236}">
                <a16:creationId xmlns:a16="http://schemas.microsoft.com/office/drawing/2014/main" id="{6ED094BF-015B-56E5-5EE0-BC60CB3A39E6}"/>
              </a:ext>
            </a:extLst>
          </p:cNvPr>
          <p:cNvPicPr>
            <a:picLocks noChangeAspect="1"/>
          </p:cNvPicPr>
          <p:nvPr/>
        </p:nvPicPr>
        <p:blipFill>
          <a:blip r:embed="rId5"/>
          <a:srcRect l="13027" t="27953" r="16204" b="38897"/>
          <a:stretch>
            <a:fillRect/>
          </a:stretch>
        </p:blipFill>
        <p:spPr>
          <a:xfrm>
            <a:off x="9681260" y="5312288"/>
            <a:ext cx="1440000" cy="449693"/>
          </a:xfrm>
          <a:prstGeom prst="rect">
            <a:avLst/>
          </a:prstGeom>
        </p:spPr>
      </p:pic>
    </p:spTree>
    <p:extLst>
      <p:ext uri="{BB962C8B-B14F-4D97-AF65-F5344CB8AC3E}">
        <p14:creationId xmlns:p14="http://schemas.microsoft.com/office/powerpoint/2010/main" val="173836728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BFD873-90F2-28F1-5430-7550780C13A8}"/>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AFB9B77B-6AED-DE79-EDE1-8A1A9AEB5C14}"/>
              </a:ext>
            </a:extLst>
          </p:cNvPr>
          <p:cNvPicPr>
            <a:picLocks noChangeAspect="1"/>
          </p:cNvPicPr>
          <p:nvPr/>
        </p:nvPicPr>
        <p:blipFill>
          <a:blip r:embed="rId3"/>
          <a:srcRect t="21286" b="18695"/>
          <a:stretch>
            <a:fillRect/>
          </a:stretch>
        </p:blipFill>
        <p:spPr>
          <a:xfrm>
            <a:off x="695325" y="1628775"/>
            <a:ext cx="10799546" cy="4321175"/>
          </a:xfrm>
          <a:prstGeom prst="rect">
            <a:avLst/>
          </a:prstGeom>
        </p:spPr>
      </p:pic>
      <p:sp>
        <p:nvSpPr>
          <p:cNvPr id="8" name="Rectangle 7">
            <a:extLst>
              <a:ext uri="{FF2B5EF4-FFF2-40B4-BE49-F238E27FC236}">
                <a16:creationId xmlns:a16="http://schemas.microsoft.com/office/drawing/2014/main" id="{A5CA737D-49F8-971F-8005-9868AD978408}"/>
              </a:ext>
            </a:extLst>
          </p:cNvPr>
          <p:cNvSpPr/>
          <p:nvPr/>
        </p:nvSpPr>
        <p:spPr>
          <a:xfrm>
            <a:off x="5136204" y="1628775"/>
            <a:ext cx="6350219" cy="4321175"/>
          </a:xfrm>
          <a:prstGeom prst="rect">
            <a:avLst/>
          </a:prstGeom>
          <a:solidFill>
            <a:schemeClr val="accent1">
              <a:lumMod val="20000"/>
              <a:lumOff val="80000"/>
              <a:alpha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60000" tIns="180000" rIns="180000" bIns="180000" rtlCol="0" anchor="ctr"/>
          <a:lstStyle/>
          <a:p>
            <a:endParaRPr lang="en-NL" sz="2000" i="1" dirty="0">
              <a:solidFill>
                <a:schemeClr val="tx1"/>
              </a:solidFill>
            </a:endParaRPr>
          </a:p>
        </p:txBody>
      </p:sp>
      <p:sp>
        <p:nvSpPr>
          <p:cNvPr id="2" name="Title 1">
            <a:extLst>
              <a:ext uri="{FF2B5EF4-FFF2-40B4-BE49-F238E27FC236}">
                <a16:creationId xmlns:a16="http://schemas.microsoft.com/office/drawing/2014/main" id="{A5623A95-6303-E5E0-2994-DFDDA215814B}"/>
              </a:ext>
            </a:extLst>
          </p:cNvPr>
          <p:cNvSpPr>
            <a:spLocks noGrp="1"/>
          </p:cNvSpPr>
          <p:nvPr>
            <p:ph type="title"/>
          </p:nvPr>
        </p:nvSpPr>
        <p:spPr/>
        <p:txBody>
          <a:bodyPr/>
          <a:lstStyle/>
          <a:p>
            <a:r>
              <a:rPr lang="en-US" dirty="0"/>
              <a:t>Scenario 3: Inspect what a selected column means</a:t>
            </a:r>
          </a:p>
        </p:txBody>
      </p:sp>
      <p:sp>
        <p:nvSpPr>
          <p:cNvPr id="7" name="Freeform: Shape 6">
            <a:extLst>
              <a:ext uri="{FF2B5EF4-FFF2-40B4-BE49-F238E27FC236}">
                <a16:creationId xmlns:a16="http://schemas.microsoft.com/office/drawing/2014/main" id="{E5604EFA-93CE-60FE-CCD7-3A935DBEA1B8}"/>
              </a:ext>
            </a:extLst>
          </p:cNvPr>
          <p:cNvSpPr/>
          <p:nvPr/>
        </p:nvSpPr>
        <p:spPr>
          <a:xfrm>
            <a:off x="7034190" y="3018630"/>
            <a:ext cx="371214" cy="91440"/>
          </a:xfrm>
          <a:custGeom>
            <a:avLst/>
            <a:gdLst>
              <a:gd name="csX0" fmla="*/ 0 w 371214"/>
              <a:gd name="csY0" fmla="*/ 45720 h 91440"/>
              <a:gd name="csX1" fmla="*/ 371214 w 371214"/>
              <a:gd name="csY1" fmla="*/ 45720 h 91440"/>
            </a:gdLst>
            <a:ahLst/>
            <a:cxnLst>
              <a:cxn ang="0">
                <a:pos x="csX0" y="csY0"/>
              </a:cxn>
              <a:cxn ang="0">
                <a:pos x="csX1" y="csY1"/>
              </a:cxn>
            </a:cxnLst>
            <a:rect l="l" t="t" r="r" b="b"/>
            <a:pathLst>
              <a:path w="371214" h="91440">
                <a:moveTo>
                  <a:pt x="0" y="45720"/>
                </a:moveTo>
                <a:lnTo>
                  <a:pt x="371214" y="45720"/>
                </a:lnTo>
              </a:path>
            </a:pathLst>
          </a:cu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88262" tIns="43711" rIns="188262" bIns="43711" numCol="1" spcCol="1270" anchor="ctr" anchorCtr="0">
            <a:noAutofit/>
          </a:bodyPr>
          <a:lstStyle/>
          <a:p>
            <a:pPr marL="0" lvl="0" indent="0" algn="ctr" defTabSz="222250">
              <a:lnSpc>
                <a:spcPct val="90000"/>
              </a:lnSpc>
              <a:spcBef>
                <a:spcPct val="0"/>
              </a:spcBef>
              <a:spcAft>
                <a:spcPct val="35000"/>
              </a:spcAft>
              <a:buNone/>
            </a:pPr>
            <a:endParaRPr lang="en-NL" sz="500" kern="1200"/>
          </a:p>
        </p:txBody>
      </p:sp>
      <p:sp>
        <p:nvSpPr>
          <p:cNvPr id="10" name="Freeform: Shape 9">
            <a:extLst>
              <a:ext uri="{FF2B5EF4-FFF2-40B4-BE49-F238E27FC236}">
                <a16:creationId xmlns:a16="http://schemas.microsoft.com/office/drawing/2014/main" id="{D9FD39E5-8D27-CC0F-720D-C81BE4F51C79}"/>
              </a:ext>
            </a:extLst>
          </p:cNvPr>
          <p:cNvSpPr/>
          <p:nvPr/>
        </p:nvSpPr>
        <p:spPr>
          <a:xfrm>
            <a:off x="9183022" y="3018630"/>
            <a:ext cx="371214" cy="91440"/>
          </a:xfrm>
          <a:custGeom>
            <a:avLst/>
            <a:gdLst>
              <a:gd name="csX0" fmla="*/ 0 w 371214"/>
              <a:gd name="csY0" fmla="*/ 45720 h 91440"/>
              <a:gd name="csX1" fmla="*/ 371214 w 371214"/>
              <a:gd name="csY1" fmla="*/ 45720 h 91440"/>
            </a:gdLst>
            <a:ahLst/>
            <a:cxnLst>
              <a:cxn ang="0">
                <a:pos x="csX0" y="csY0"/>
              </a:cxn>
              <a:cxn ang="0">
                <a:pos x="csX1" y="csY1"/>
              </a:cxn>
            </a:cxnLst>
            <a:rect l="l" t="t" r="r" b="b"/>
            <a:pathLst>
              <a:path w="371214" h="91440">
                <a:moveTo>
                  <a:pt x="0" y="45720"/>
                </a:moveTo>
                <a:lnTo>
                  <a:pt x="371214" y="45720"/>
                </a:lnTo>
              </a:path>
            </a:pathLst>
          </a:cu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88261" tIns="43711" rIns="188263" bIns="43711" numCol="1" spcCol="1270" anchor="ctr" anchorCtr="0">
            <a:noAutofit/>
          </a:bodyPr>
          <a:lstStyle/>
          <a:p>
            <a:pPr marL="0" lvl="0" indent="0" algn="ctr" defTabSz="222250">
              <a:lnSpc>
                <a:spcPct val="90000"/>
              </a:lnSpc>
              <a:spcBef>
                <a:spcPct val="0"/>
              </a:spcBef>
              <a:spcAft>
                <a:spcPct val="35000"/>
              </a:spcAft>
              <a:buNone/>
            </a:pPr>
            <a:endParaRPr lang="en-NL" sz="500" kern="1200"/>
          </a:p>
        </p:txBody>
      </p:sp>
      <p:sp>
        <p:nvSpPr>
          <p:cNvPr id="11" name="Freeform: Shape 10">
            <a:extLst>
              <a:ext uri="{FF2B5EF4-FFF2-40B4-BE49-F238E27FC236}">
                <a16:creationId xmlns:a16="http://schemas.microsoft.com/office/drawing/2014/main" id="{9C5C1B80-F733-9FA1-0D33-7CA684088C0B}"/>
              </a:ext>
            </a:extLst>
          </p:cNvPr>
          <p:cNvSpPr/>
          <p:nvPr/>
        </p:nvSpPr>
        <p:spPr>
          <a:xfrm>
            <a:off x="7437804" y="2540244"/>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lvl="0" defTabSz="400050">
              <a:lnSpc>
                <a:spcPct val="90000"/>
              </a:lnSpc>
              <a:spcBef>
                <a:spcPct val="0"/>
              </a:spcBef>
              <a:spcAft>
                <a:spcPct val="35000"/>
              </a:spcAft>
            </a:pPr>
            <a:r>
              <a:rPr lang="en-US" sz="900" b="1" dirty="0"/>
              <a:t>Scenario 2: </a:t>
            </a:r>
            <a:r>
              <a:rPr lang="en-US" sz="900" dirty="0"/>
              <a:t>Identify the dataset that represents the right meaning</a:t>
            </a:r>
            <a:endParaRPr lang="en-NL" sz="900" dirty="0"/>
          </a:p>
        </p:txBody>
      </p:sp>
      <p:sp>
        <p:nvSpPr>
          <p:cNvPr id="12" name="Freeform: Shape 11">
            <a:extLst>
              <a:ext uri="{FF2B5EF4-FFF2-40B4-BE49-F238E27FC236}">
                <a16:creationId xmlns:a16="http://schemas.microsoft.com/office/drawing/2014/main" id="{E2C04A77-97AF-3509-8FB7-B227D9554AC1}"/>
              </a:ext>
            </a:extLst>
          </p:cNvPr>
          <p:cNvSpPr/>
          <p:nvPr/>
        </p:nvSpPr>
        <p:spPr>
          <a:xfrm>
            <a:off x="6162481" y="3586655"/>
            <a:ext cx="4297663" cy="371214"/>
          </a:xfrm>
          <a:custGeom>
            <a:avLst/>
            <a:gdLst>
              <a:gd name="csX0" fmla="*/ 4297663 w 4297663"/>
              <a:gd name="csY0" fmla="*/ 0 h 371214"/>
              <a:gd name="csX1" fmla="*/ 4297663 w 4297663"/>
              <a:gd name="csY1" fmla="*/ 202707 h 371214"/>
              <a:gd name="csX2" fmla="*/ 0 w 4297663"/>
              <a:gd name="csY2" fmla="*/ 202707 h 371214"/>
              <a:gd name="csX3" fmla="*/ 0 w 4297663"/>
              <a:gd name="csY3" fmla="*/ 371214 h 371214"/>
            </a:gdLst>
            <a:ahLst/>
            <a:cxnLst>
              <a:cxn ang="0">
                <a:pos x="csX0" y="csY0"/>
              </a:cxn>
              <a:cxn ang="0">
                <a:pos x="csX1" y="csY1"/>
              </a:cxn>
              <a:cxn ang="0">
                <a:pos x="csX2" y="csY2"/>
              </a:cxn>
              <a:cxn ang="0">
                <a:pos x="csX3" y="csY3"/>
              </a:cxn>
            </a:cxnLst>
            <a:rect l="l" t="t" r="r" b="b"/>
            <a:pathLst>
              <a:path w="4297663" h="371214">
                <a:moveTo>
                  <a:pt x="4297663" y="0"/>
                </a:moveTo>
                <a:lnTo>
                  <a:pt x="4297663" y="202707"/>
                </a:lnTo>
                <a:lnTo>
                  <a:pt x="0" y="202707"/>
                </a:lnTo>
                <a:lnTo>
                  <a:pt x="0" y="371214"/>
                </a:lnTo>
              </a:path>
            </a:pathLst>
          </a:cu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2053622" tIns="183598" rIns="2053621" bIns="183598" numCol="1" spcCol="1270" anchor="ctr" anchorCtr="0">
            <a:noAutofit/>
          </a:bodyPr>
          <a:lstStyle/>
          <a:p>
            <a:pPr marL="0" lvl="0" indent="0" algn="ctr" defTabSz="222250">
              <a:lnSpc>
                <a:spcPct val="90000"/>
              </a:lnSpc>
              <a:spcBef>
                <a:spcPct val="0"/>
              </a:spcBef>
              <a:spcAft>
                <a:spcPct val="35000"/>
              </a:spcAft>
              <a:buNone/>
            </a:pPr>
            <a:endParaRPr lang="en-NL" sz="500" kern="1200"/>
          </a:p>
        </p:txBody>
      </p:sp>
      <p:sp>
        <p:nvSpPr>
          <p:cNvPr id="14" name="Freeform: Shape 13">
            <a:extLst>
              <a:ext uri="{FF2B5EF4-FFF2-40B4-BE49-F238E27FC236}">
                <a16:creationId xmlns:a16="http://schemas.microsoft.com/office/drawing/2014/main" id="{FF6A7404-7AF0-3369-41A7-832A821D8723}"/>
              </a:ext>
            </a:extLst>
          </p:cNvPr>
          <p:cNvSpPr/>
          <p:nvPr/>
        </p:nvSpPr>
        <p:spPr>
          <a:xfrm>
            <a:off x="7034190" y="4468654"/>
            <a:ext cx="371214" cy="91440"/>
          </a:xfrm>
          <a:custGeom>
            <a:avLst/>
            <a:gdLst>
              <a:gd name="csX0" fmla="*/ 0 w 371214"/>
              <a:gd name="csY0" fmla="*/ 45720 h 91440"/>
              <a:gd name="csX1" fmla="*/ 371214 w 371214"/>
              <a:gd name="csY1" fmla="*/ 45720 h 91440"/>
            </a:gdLst>
            <a:ahLst/>
            <a:cxnLst>
              <a:cxn ang="0">
                <a:pos x="csX0" y="csY0"/>
              </a:cxn>
              <a:cxn ang="0">
                <a:pos x="csX1" y="csY1"/>
              </a:cxn>
            </a:cxnLst>
            <a:rect l="l" t="t" r="r" b="b"/>
            <a:pathLst>
              <a:path w="371214" h="91440">
                <a:moveTo>
                  <a:pt x="0" y="45720"/>
                </a:moveTo>
                <a:lnTo>
                  <a:pt x="371214" y="45720"/>
                </a:lnTo>
              </a:path>
            </a:pathLst>
          </a:cu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88262" tIns="43711" rIns="188262" bIns="43711" numCol="1" spcCol="1270" anchor="ctr" anchorCtr="0">
            <a:noAutofit/>
          </a:bodyPr>
          <a:lstStyle/>
          <a:p>
            <a:pPr marL="0" lvl="0" indent="0" algn="ctr" defTabSz="222250">
              <a:lnSpc>
                <a:spcPct val="90000"/>
              </a:lnSpc>
              <a:spcBef>
                <a:spcPct val="0"/>
              </a:spcBef>
              <a:spcAft>
                <a:spcPct val="35000"/>
              </a:spcAft>
              <a:buNone/>
            </a:pPr>
            <a:endParaRPr lang="en-NL" sz="500" kern="1200"/>
          </a:p>
        </p:txBody>
      </p:sp>
      <p:sp>
        <p:nvSpPr>
          <p:cNvPr id="15" name="Freeform: Shape 14">
            <a:extLst>
              <a:ext uri="{FF2B5EF4-FFF2-40B4-BE49-F238E27FC236}">
                <a16:creationId xmlns:a16="http://schemas.microsoft.com/office/drawing/2014/main" id="{627129B5-0EB1-B984-549A-F8979CAD6C8A}"/>
              </a:ext>
            </a:extLst>
          </p:cNvPr>
          <p:cNvSpPr/>
          <p:nvPr/>
        </p:nvSpPr>
        <p:spPr>
          <a:xfrm>
            <a:off x="5288972" y="3990269"/>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marL="0" lvl="0" indent="0" algn="l" defTabSz="400050">
              <a:lnSpc>
                <a:spcPct val="90000"/>
              </a:lnSpc>
              <a:spcBef>
                <a:spcPct val="0"/>
              </a:spcBef>
              <a:spcAft>
                <a:spcPct val="35000"/>
              </a:spcAft>
              <a:buNone/>
            </a:pPr>
            <a:r>
              <a:rPr lang="en-US" sz="900" b="1" u="none" kern="1200" dirty="0"/>
              <a:t>Scenario 4:</a:t>
            </a:r>
            <a:r>
              <a:rPr lang="en-US" sz="900" b="0" u="none" kern="1200" dirty="0"/>
              <a:t> Formalize the semantic relation between two selected columns</a:t>
            </a:r>
            <a:endParaRPr lang="en-NL" sz="900" b="0" u="none" kern="1200" dirty="0"/>
          </a:p>
        </p:txBody>
      </p:sp>
      <p:sp>
        <p:nvSpPr>
          <p:cNvPr id="16" name="Freeform: Shape 15">
            <a:extLst>
              <a:ext uri="{FF2B5EF4-FFF2-40B4-BE49-F238E27FC236}">
                <a16:creationId xmlns:a16="http://schemas.microsoft.com/office/drawing/2014/main" id="{05B11B5A-6ADC-6678-B857-C2AAE2BF5D4D}"/>
              </a:ext>
            </a:extLst>
          </p:cNvPr>
          <p:cNvSpPr/>
          <p:nvPr/>
        </p:nvSpPr>
        <p:spPr>
          <a:xfrm>
            <a:off x="9183022" y="4468654"/>
            <a:ext cx="371214" cy="91440"/>
          </a:xfrm>
          <a:custGeom>
            <a:avLst/>
            <a:gdLst>
              <a:gd name="csX0" fmla="*/ 0 w 371214"/>
              <a:gd name="csY0" fmla="*/ 45720 h 91440"/>
              <a:gd name="csX1" fmla="*/ 371214 w 371214"/>
              <a:gd name="csY1" fmla="*/ 45720 h 91440"/>
            </a:gdLst>
            <a:ahLst/>
            <a:cxnLst>
              <a:cxn ang="0">
                <a:pos x="csX0" y="csY0"/>
              </a:cxn>
              <a:cxn ang="0">
                <a:pos x="csX1" y="csY1"/>
              </a:cxn>
            </a:cxnLst>
            <a:rect l="l" t="t" r="r" b="b"/>
            <a:pathLst>
              <a:path w="371214" h="91440">
                <a:moveTo>
                  <a:pt x="0" y="45720"/>
                </a:moveTo>
                <a:lnTo>
                  <a:pt x="371214" y="45720"/>
                </a:lnTo>
              </a:path>
            </a:pathLst>
          </a:cu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88261" tIns="43711" rIns="188263" bIns="43711" numCol="1" spcCol="1270" anchor="ctr" anchorCtr="0">
            <a:noAutofit/>
          </a:bodyPr>
          <a:lstStyle/>
          <a:p>
            <a:pPr marL="0" lvl="0" indent="0" algn="ctr" defTabSz="222250">
              <a:lnSpc>
                <a:spcPct val="90000"/>
              </a:lnSpc>
              <a:spcBef>
                <a:spcPct val="0"/>
              </a:spcBef>
              <a:spcAft>
                <a:spcPct val="35000"/>
              </a:spcAft>
              <a:buNone/>
            </a:pPr>
            <a:endParaRPr lang="en-NL" sz="500" kern="1200"/>
          </a:p>
        </p:txBody>
      </p:sp>
      <p:sp>
        <p:nvSpPr>
          <p:cNvPr id="17" name="Freeform: Shape 16">
            <a:extLst>
              <a:ext uri="{FF2B5EF4-FFF2-40B4-BE49-F238E27FC236}">
                <a16:creationId xmlns:a16="http://schemas.microsoft.com/office/drawing/2014/main" id="{E3767EED-F9EA-F4E6-DC65-2ECA4C854766}"/>
              </a:ext>
            </a:extLst>
          </p:cNvPr>
          <p:cNvSpPr/>
          <p:nvPr/>
        </p:nvSpPr>
        <p:spPr>
          <a:xfrm>
            <a:off x="7437804" y="3990269"/>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marL="0" lvl="0" indent="0" algn="l" defTabSz="400050">
              <a:lnSpc>
                <a:spcPct val="90000"/>
              </a:lnSpc>
              <a:spcBef>
                <a:spcPct val="0"/>
              </a:spcBef>
              <a:spcAft>
                <a:spcPct val="35000"/>
              </a:spcAft>
              <a:buNone/>
            </a:pPr>
            <a:r>
              <a:rPr lang="en-US" sz="900" b="1" u="none" kern="1200" dirty="0">
                <a:solidFill>
                  <a:schemeClr val="bg1"/>
                </a:solidFill>
              </a:rPr>
              <a:t>Scenario 5:</a:t>
            </a:r>
            <a:r>
              <a:rPr lang="en-US" sz="900" b="0" u="none" kern="1200" dirty="0">
                <a:solidFill>
                  <a:schemeClr val="bg1"/>
                </a:solidFill>
              </a:rPr>
              <a:t> </a:t>
            </a:r>
            <a:r>
              <a:rPr lang="en-US" sz="900" kern="1200" dirty="0">
                <a:solidFill>
                  <a:schemeClr val="bg1"/>
                </a:solidFill>
              </a:rPr>
              <a:t>Assess (re)use options around one selected concept</a:t>
            </a:r>
            <a:endParaRPr lang="en-NL" sz="900" kern="1200" dirty="0">
              <a:solidFill>
                <a:schemeClr val="bg1"/>
              </a:solidFill>
            </a:endParaRPr>
          </a:p>
        </p:txBody>
      </p:sp>
      <p:sp>
        <p:nvSpPr>
          <p:cNvPr id="18" name="Freeform: Shape 17">
            <a:extLst>
              <a:ext uri="{FF2B5EF4-FFF2-40B4-BE49-F238E27FC236}">
                <a16:creationId xmlns:a16="http://schemas.microsoft.com/office/drawing/2014/main" id="{1ECFCFC8-5CBF-55F7-5137-D68D92465A43}"/>
              </a:ext>
            </a:extLst>
          </p:cNvPr>
          <p:cNvSpPr/>
          <p:nvPr/>
        </p:nvSpPr>
        <p:spPr>
          <a:xfrm>
            <a:off x="9586636" y="3990269"/>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a:solidFill>
            <a:schemeClr val="accent3">
              <a:lumMod val="20000"/>
              <a:lumOff val="80000"/>
            </a:schemeClr>
          </a:solidFill>
          <a:ln>
            <a:solidFill>
              <a:schemeClr val="accent1"/>
            </a:solidFill>
          </a:ln>
        </p:spPr>
        <p:style>
          <a:lnRef idx="0">
            <a:scrgbClr r="0" g="0" b="0"/>
          </a:lnRef>
          <a:fillRef idx="3">
            <a:scrgbClr r="0" g="0" b="0"/>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marL="0" lvl="0" indent="0" algn="l" defTabSz="400050">
              <a:lnSpc>
                <a:spcPct val="90000"/>
              </a:lnSpc>
              <a:spcBef>
                <a:spcPct val="0"/>
              </a:spcBef>
              <a:spcAft>
                <a:spcPct val="35000"/>
              </a:spcAft>
              <a:buNone/>
            </a:pPr>
            <a:r>
              <a:rPr lang="en-US" sz="900" b="1" kern="1200" dirty="0">
                <a:solidFill>
                  <a:schemeClr val="accent1"/>
                </a:solidFill>
              </a:rPr>
              <a:t>Result:</a:t>
            </a:r>
            <a:r>
              <a:rPr lang="en-US" sz="900" kern="1200" dirty="0">
                <a:solidFill>
                  <a:schemeClr val="accent1"/>
                </a:solidFill>
              </a:rPr>
              <a:t> Amir could move from label-based guessing to a defensible decision, identifying which variable fits his study and which related concepts align, should be ruled out, or only partially overlap.</a:t>
            </a:r>
            <a:endParaRPr lang="en-NL" sz="900" kern="1200" dirty="0">
              <a:solidFill>
                <a:schemeClr val="accent1"/>
              </a:solidFill>
            </a:endParaRPr>
          </a:p>
        </p:txBody>
      </p:sp>
      <p:sp>
        <p:nvSpPr>
          <p:cNvPr id="4" name="Slide Number Placeholder 3">
            <a:extLst>
              <a:ext uri="{FF2B5EF4-FFF2-40B4-BE49-F238E27FC236}">
                <a16:creationId xmlns:a16="http://schemas.microsoft.com/office/drawing/2014/main" id="{CB9C3EF2-60AF-DDD4-6F2A-448905C87A63}"/>
              </a:ext>
            </a:extLst>
          </p:cNvPr>
          <p:cNvSpPr>
            <a:spLocks noGrp="1"/>
          </p:cNvSpPr>
          <p:nvPr>
            <p:ph type="sldNum" sz="quarter" idx="12"/>
          </p:nvPr>
        </p:nvSpPr>
        <p:spPr/>
        <p:txBody>
          <a:bodyPr/>
          <a:lstStyle/>
          <a:p>
            <a:fld id="{4FAB73BC-B049-4115-A692-8D63A059BFB8}" type="slidenum">
              <a:rPr lang="en-US" smtClean="0"/>
              <a:pPr/>
              <a:t>32</a:t>
            </a:fld>
            <a:endParaRPr lang="en-US" dirty="0"/>
          </a:p>
        </p:txBody>
      </p:sp>
      <p:sp>
        <p:nvSpPr>
          <p:cNvPr id="9" name="Freeform: Shape 8">
            <a:extLst>
              <a:ext uri="{FF2B5EF4-FFF2-40B4-BE49-F238E27FC236}">
                <a16:creationId xmlns:a16="http://schemas.microsoft.com/office/drawing/2014/main" id="{CD0B9145-03B8-1D38-D691-A3548441EA57}"/>
              </a:ext>
            </a:extLst>
          </p:cNvPr>
          <p:cNvSpPr/>
          <p:nvPr/>
        </p:nvSpPr>
        <p:spPr>
          <a:xfrm>
            <a:off x="5288972" y="2540244"/>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lvl="0" defTabSz="400050">
              <a:lnSpc>
                <a:spcPct val="90000"/>
              </a:lnSpc>
              <a:spcBef>
                <a:spcPct val="0"/>
              </a:spcBef>
              <a:spcAft>
                <a:spcPct val="35000"/>
              </a:spcAft>
            </a:pPr>
            <a:r>
              <a:rPr lang="it-IT" sz="900" b="1" dirty="0"/>
              <a:t>Scenario 1: </a:t>
            </a:r>
            <a:r>
              <a:rPr lang="en-US" sz="900" dirty="0"/>
              <a:t>Clarify Meanings Before Reuse</a:t>
            </a:r>
            <a:endParaRPr lang="en-NL" sz="900" dirty="0"/>
          </a:p>
        </p:txBody>
      </p:sp>
      <p:sp>
        <p:nvSpPr>
          <p:cNvPr id="13" name="Freeform: Shape 12">
            <a:extLst>
              <a:ext uri="{FF2B5EF4-FFF2-40B4-BE49-F238E27FC236}">
                <a16:creationId xmlns:a16="http://schemas.microsoft.com/office/drawing/2014/main" id="{04CA8B27-F175-D35B-EE96-674B4410E874}"/>
              </a:ext>
            </a:extLst>
          </p:cNvPr>
          <p:cNvSpPr/>
          <p:nvPr/>
        </p:nvSpPr>
        <p:spPr>
          <a:xfrm>
            <a:off x="9586636" y="2540244"/>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marL="0" lvl="0" indent="0" algn="l" defTabSz="400050">
              <a:lnSpc>
                <a:spcPct val="90000"/>
              </a:lnSpc>
              <a:spcBef>
                <a:spcPct val="0"/>
              </a:spcBef>
              <a:spcAft>
                <a:spcPct val="35000"/>
              </a:spcAft>
              <a:buNone/>
            </a:pPr>
            <a:r>
              <a:rPr lang="en-US" sz="900" b="1" u="none" kern="1200" dirty="0"/>
              <a:t>Scenario 3: </a:t>
            </a:r>
            <a:r>
              <a:rPr lang="en-US" sz="900" b="0" u="none" kern="1200" dirty="0"/>
              <a:t>Inspect what a selected column means</a:t>
            </a:r>
            <a:endParaRPr lang="en-NL" sz="900" b="0" u="none" kern="1200" dirty="0"/>
          </a:p>
        </p:txBody>
      </p:sp>
    </p:spTree>
    <p:extLst>
      <p:ext uri="{BB962C8B-B14F-4D97-AF65-F5344CB8AC3E}">
        <p14:creationId xmlns:p14="http://schemas.microsoft.com/office/powerpoint/2010/main" val="5197775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mph" presetSubtype="0" grpId="0" nodeType="withEffect">
                                  <p:stCondLst>
                                    <p:cond delay="0"/>
                                  </p:stCondLst>
                                  <p:childTnLst>
                                    <p:set>
                                      <p:cBhvr>
                                        <p:cTn id="6" dur="indefinite"/>
                                        <p:tgtEl>
                                          <p:spTgt spid="9"/>
                                        </p:tgtEl>
                                        <p:attrNameLst>
                                          <p:attrName>style.opacity</p:attrName>
                                        </p:attrNameLst>
                                      </p:cBhvr>
                                      <p:to>
                                        <p:strVal val="0.5"/>
                                      </p:to>
                                    </p:set>
                                    <p:animEffect filter="image" prLst="opacity: 0.5">
                                      <p:cBhvr rctx="IE">
                                        <p:cTn id="7" dur="indefinite"/>
                                        <p:tgtEl>
                                          <p:spTgt spid="9"/>
                                        </p:tgtEl>
                                      </p:cBhvr>
                                    </p:animEffect>
                                  </p:childTnLst>
                                </p:cTn>
                              </p:par>
                              <p:par>
                                <p:cTn id="8" presetID="9" presetClass="emph" presetSubtype="0" grpId="0" nodeType="withEffect">
                                  <p:stCondLst>
                                    <p:cond delay="0"/>
                                  </p:stCondLst>
                                  <p:childTnLst>
                                    <p:set>
                                      <p:cBhvr>
                                        <p:cTn id="9" dur="indefinite"/>
                                        <p:tgtEl>
                                          <p:spTgt spid="11"/>
                                        </p:tgtEl>
                                        <p:attrNameLst>
                                          <p:attrName>style.opacity</p:attrName>
                                        </p:attrNameLst>
                                      </p:cBhvr>
                                      <p:to>
                                        <p:strVal val="0.5"/>
                                      </p:to>
                                    </p:set>
                                    <p:animEffect filter="image" prLst="opacity: 0.5">
                                      <p:cBhvr rctx="IE">
                                        <p:cTn id="10" dur="indefinite"/>
                                        <p:tgtEl>
                                          <p:spTgt spid="11"/>
                                        </p:tgtEl>
                                      </p:cBhvr>
                                    </p:animEffect>
                                  </p:childTnLst>
                                </p:cTn>
                              </p:par>
                              <p:par>
                                <p:cTn id="11" presetID="6" presetClass="emph" presetSubtype="0" fill="hold" grpId="0" nodeType="withEffect">
                                  <p:stCondLst>
                                    <p:cond delay="0"/>
                                  </p:stCondLst>
                                  <p:childTnLst>
                                    <p:animScale>
                                      <p:cBhvr>
                                        <p:cTn id="12" dur="1000" fill="hold"/>
                                        <p:tgtEl>
                                          <p:spTgt spid="13"/>
                                        </p:tgtEl>
                                      </p:cBhvr>
                                      <p:by x="150000" y="150000"/>
                                    </p:animScale>
                                  </p:childTnLst>
                                </p:cTn>
                              </p:par>
                              <p:par>
                                <p:cTn id="13" presetID="9" presetClass="emph" presetSubtype="0" grpId="0" nodeType="withEffect">
                                  <p:stCondLst>
                                    <p:cond delay="0"/>
                                  </p:stCondLst>
                                  <p:childTnLst>
                                    <p:set>
                                      <p:cBhvr>
                                        <p:cTn id="14" dur="indefinite"/>
                                        <p:tgtEl>
                                          <p:spTgt spid="18"/>
                                        </p:tgtEl>
                                        <p:attrNameLst>
                                          <p:attrName>style.opacity</p:attrName>
                                        </p:attrNameLst>
                                      </p:cBhvr>
                                      <p:to>
                                        <p:strVal val="0.5"/>
                                      </p:to>
                                    </p:set>
                                    <p:animEffect filter="image" prLst="opacity: 0.5">
                                      <p:cBhvr rctx="IE">
                                        <p:cTn id="15" dur="indefinite"/>
                                        <p:tgtEl>
                                          <p:spTgt spid="18"/>
                                        </p:tgtEl>
                                      </p:cBhvr>
                                    </p:animEffect>
                                  </p:childTnLst>
                                </p:cTn>
                              </p:par>
                              <p:par>
                                <p:cTn id="16" presetID="9" presetClass="emph" presetSubtype="0" grpId="0" nodeType="withEffect">
                                  <p:stCondLst>
                                    <p:cond delay="0"/>
                                  </p:stCondLst>
                                  <p:childTnLst>
                                    <p:set>
                                      <p:cBhvr>
                                        <p:cTn id="17" dur="indefinite"/>
                                        <p:tgtEl>
                                          <p:spTgt spid="17"/>
                                        </p:tgtEl>
                                        <p:attrNameLst>
                                          <p:attrName>style.opacity</p:attrName>
                                        </p:attrNameLst>
                                      </p:cBhvr>
                                      <p:to>
                                        <p:strVal val="0.5"/>
                                      </p:to>
                                    </p:set>
                                    <p:animEffect filter="image" prLst="opacity: 0.5">
                                      <p:cBhvr rctx="IE">
                                        <p:cTn id="18" dur="indefinite"/>
                                        <p:tgtEl>
                                          <p:spTgt spid="17"/>
                                        </p:tgtEl>
                                      </p:cBhvr>
                                    </p:animEffect>
                                  </p:childTnLst>
                                </p:cTn>
                              </p:par>
                              <p:par>
                                <p:cTn id="19" presetID="9" presetClass="emph" presetSubtype="0" grpId="0" nodeType="withEffect">
                                  <p:stCondLst>
                                    <p:cond delay="0"/>
                                  </p:stCondLst>
                                  <p:childTnLst>
                                    <p:set>
                                      <p:cBhvr>
                                        <p:cTn id="20" dur="indefinite"/>
                                        <p:tgtEl>
                                          <p:spTgt spid="15"/>
                                        </p:tgtEl>
                                        <p:attrNameLst>
                                          <p:attrName>style.opacity</p:attrName>
                                        </p:attrNameLst>
                                      </p:cBhvr>
                                      <p:to>
                                        <p:strVal val="0.5"/>
                                      </p:to>
                                    </p:set>
                                    <p:animEffect filter="image" prLst="opacity: 0.5">
                                      <p:cBhvr rctx="IE">
                                        <p:cTn id="21" dur="indefinite"/>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5" grpId="0" animBg="1"/>
      <p:bldP spid="17" grpId="0" animBg="1"/>
      <p:bldP spid="18" grpId="0" animBg="1"/>
      <p:bldP spid="9" grpId="0" animBg="1"/>
      <p:bldP spid="13"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A62F5F-8615-D0C7-88A4-B9F74A22964A}"/>
              </a:ext>
            </a:extLst>
          </p:cNvPr>
          <p:cNvSpPr>
            <a:spLocks noGrp="1"/>
          </p:cNvSpPr>
          <p:nvPr>
            <p:ph type="title"/>
          </p:nvPr>
        </p:nvSpPr>
        <p:spPr/>
        <p:txBody>
          <a:bodyPr/>
          <a:lstStyle/>
          <a:p>
            <a:r>
              <a:rPr lang="en-US" sz="3600" dirty="0"/>
              <a:t>Amir’s Question and Challenge</a:t>
            </a:r>
            <a:endParaRPr lang="en-NL" sz="3600" dirty="0"/>
          </a:p>
        </p:txBody>
      </p:sp>
      <p:sp>
        <p:nvSpPr>
          <p:cNvPr id="3" name="Content Placeholder 2">
            <a:extLst>
              <a:ext uri="{FF2B5EF4-FFF2-40B4-BE49-F238E27FC236}">
                <a16:creationId xmlns:a16="http://schemas.microsoft.com/office/drawing/2014/main" id="{729B3D0B-1363-A4B5-C0F4-EC7295CC8CB8}"/>
              </a:ext>
            </a:extLst>
          </p:cNvPr>
          <p:cNvSpPr>
            <a:spLocks noGrp="1"/>
          </p:cNvSpPr>
          <p:nvPr>
            <p:ph idx="1"/>
          </p:nvPr>
        </p:nvSpPr>
        <p:spPr/>
        <p:txBody>
          <a:bodyPr/>
          <a:lstStyle/>
          <a:p>
            <a:endParaRPr lang="en-NL"/>
          </a:p>
        </p:txBody>
      </p:sp>
      <p:sp>
        <p:nvSpPr>
          <p:cNvPr id="4" name="Slide Number Placeholder 3">
            <a:extLst>
              <a:ext uri="{FF2B5EF4-FFF2-40B4-BE49-F238E27FC236}">
                <a16:creationId xmlns:a16="http://schemas.microsoft.com/office/drawing/2014/main" id="{B8A5BF31-17E1-1115-44FB-FBE3B964A4D6}"/>
              </a:ext>
            </a:extLst>
          </p:cNvPr>
          <p:cNvSpPr>
            <a:spLocks noGrp="1"/>
          </p:cNvSpPr>
          <p:nvPr>
            <p:ph type="sldNum" sz="quarter" idx="12"/>
          </p:nvPr>
        </p:nvSpPr>
        <p:spPr/>
        <p:txBody>
          <a:bodyPr/>
          <a:lstStyle/>
          <a:p>
            <a:fld id="{4FAB73BC-B049-4115-A692-8D63A059BFB8}" type="slidenum">
              <a:rPr lang="en-US" smtClean="0"/>
              <a:pPr/>
              <a:t>33</a:t>
            </a:fld>
            <a:endParaRPr lang="en-US" dirty="0"/>
          </a:p>
        </p:txBody>
      </p:sp>
      <p:sp>
        <p:nvSpPr>
          <p:cNvPr id="5" name="Rectangle: Rounded Corners 4">
            <a:extLst>
              <a:ext uri="{FF2B5EF4-FFF2-40B4-BE49-F238E27FC236}">
                <a16:creationId xmlns:a16="http://schemas.microsoft.com/office/drawing/2014/main" id="{4EC646CB-131C-F8FD-C979-342660468547}"/>
              </a:ext>
            </a:extLst>
          </p:cNvPr>
          <p:cNvSpPr/>
          <p:nvPr/>
        </p:nvSpPr>
        <p:spPr>
          <a:xfrm>
            <a:off x="695327" y="1637270"/>
            <a:ext cx="10801348" cy="4321175"/>
          </a:xfrm>
          <a:prstGeom prst="roundRect">
            <a:avLst>
              <a:gd name="adj" fmla="val 0"/>
            </a:avLst>
          </a:prstGeom>
          <a:solidFill>
            <a:schemeClr val="accent1">
              <a:lumMod val="20000"/>
              <a:lumOff val="80000"/>
            </a:schemeClr>
          </a:solidFill>
          <a:ln w="19050">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NL"/>
          </a:p>
        </p:txBody>
      </p:sp>
      <p:sp>
        <p:nvSpPr>
          <p:cNvPr id="21" name="Freeform: Shape 20">
            <a:extLst>
              <a:ext uri="{FF2B5EF4-FFF2-40B4-BE49-F238E27FC236}">
                <a16:creationId xmlns:a16="http://schemas.microsoft.com/office/drawing/2014/main" id="{4C913387-1E21-19D2-22BC-1056AE47149F}"/>
              </a:ext>
            </a:extLst>
          </p:cNvPr>
          <p:cNvSpPr/>
          <p:nvPr/>
        </p:nvSpPr>
        <p:spPr>
          <a:xfrm>
            <a:off x="960855" y="1882235"/>
            <a:ext cx="6293737" cy="1261697"/>
          </a:xfrm>
          <a:custGeom>
            <a:avLst/>
            <a:gdLst>
              <a:gd name="csX0" fmla="*/ 0 w 6696074"/>
              <a:gd name="csY0" fmla="*/ 0 h 1612800"/>
              <a:gd name="csX1" fmla="*/ 6696074 w 6696074"/>
              <a:gd name="csY1" fmla="*/ 0 h 1612800"/>
              <a:gd name="csX2" fmla="*/ 6696074 w 6696074"/>
              <a:gd name="csY2" fmla="*/ 1612800 h 1612800"/>
              <a:gd name="csX3" fmla="*/ 0 w 6696074"/>
              <a:gd name="csY3" fmla="*/ 1612800 h 1612800"/>
              <a:gd name="csX4" fmla="*/ 0 w 6696074"/>
              <a:gd name="csY4" fmla="*/ 0 h 1612800"/>
            </a:gdLst>
            <a:ahLst/>
            <a:cxnLst>
              <a:cxn ang="0">
                <a:pos x="csX0" y="csY0"/>
              </a:cxn>
              <a:cxn ang="0">
                <a:pos x="csX1" y="csY1"/>
              </a:cxn>
              <a:cxn ang="0">
                <a:pos x="csX2" y="csY2"/>
              </a:cxn>
              <a:cxn ang="0">
                <a:pos x="csX3" y="csY3"/>
              </a:cxn>
              <a:cxn ang="0">
                <a:pos x="csX4" y="csY4"/>
              </a:cxn>
            </a:cxnLst>
            <a:rect l="l" t="t" r="r" b="b"/>
            <a:pathLst>
              <a:path w="6696074" h="1612800">
                <a:moveTo>
                  <a:pt x="0" y="0"/>
                </a:moveTo>
                <a:lnTo>
                  <a:pt x="6696074" y="0"/>
                </a:lnTo>
                <a:lnTo>
                  <a:pt x="6696074" y="1612800"/>
                </a:lnTo>
                <a:lnTo>
                  <a:pt x="0" y="1612800"/>
                </a:lnTo>
                <a:lnTo>
                  <a:pt x="0" y="0"/>
                </a:lnTo>
                <a:close/>
              </a:path>
            </a:pathLst>
          </a:custGeom>
        </p:spPr>
        <p:style>
          <a:lnRef idx="1">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360000" tIns="360000" rIns="0" bIns="108000" numCol="1" spcCol="1270" anchor="t" anchorCtr="0">
            <a:noAutofit/>
          </a:bodyPr>
          <a:lstStyle/>
          <a:p>
            <a:pPr marL="171450" lvl="1" indent="-171450" defTabSz="711200">
              <a:lnSpc>
                <a:spcPct val="90000"/>
              </a:lnSpc>
              <a:spcBef>
                <a:spcPct val="0"/>
              </a:spcBef>
              <a:spcAft>
                <a:spcPts val="300"/>
              </a:spcAft>
              <a:buChar char="•"/>
            </a:pPr>
            <a:r>
              <a:rPr lang="en-US" sz="1400" dirty="0"/>
              <a:t>Understand what the column </a:t>
            </a:r>
            <a:r>
              <a:rPr lang="en-US" sz="1400" dirty="0">
                <a:latin typeface="Atkinson Hyperlegible" pitchFamily="2" charset="0"/>
              </a:rPr>
              <a:t>hri-fhir-r5:individual-gender-identity/value</a:t>
            </a:r>
            <a:r>
              <a:rPr lang="en-US" sz="1400" dirty="0"/>
              <a:t> actually means</a:t>
            </a:r>
          </a:p>
          <a:p>
            <a:pPr marL="171450" lvl="1" indent="-171450" defTabSz="711200">
              <a:lnSpc>
                <a:spcPct val="90000"/>
              </a:lnSpc>
              <a:spcBef>
                <a:spcPct val="0"/>
              </a:spcBef>
              <a:spcAft>
                <a:spcPts val="300"/>
              </a:spcAft>
              <a:buChar char="•"/>
            </a:pPr>
            <a:r>
              <a:rPr lang="en-US" sz="1400" dirty="0"/>
              <a:t>Confirm whether it is suitable for cohort stratification</a:t>
            </a:r>
          </a:p>
          <a:p>
            <a:pPr marL="171450" lvl="1" indent="-171450" defTabSz="711200">
              <a:lnSpc>
                <a:spcPct val="90000"/>
              </a:lnSpc>
              <a:spcBef>
                <a:spcPct val="0"/>
              </a:spcBef>
              <a:spcAft>
                <a:spcPts val="300"/>
              </a:spcAft>
              <a:buChar char="•"/>
            </a:pPr>
            <a:r>
              <a:rPr lang="en-US" sz="1400" dirty="0"/>
              <a:t>Reduce the risk of selecting the wrong column</a:t>
            </a:r>
            <a:endParaRPr lang="en-NL" sz="1400" kern="1200" dirty="0"/>
          </a:p>
        </p:txBody>
      </p:sp>
      <p:sp>
        <p:nvSpPr>
          <p:cNvPr id="22" name="Freeform: Shape 21">
            <a:extLst>
              <a:ext uri="{FF2B5EF4-FFF2-40B4-BE49-F238E27FC236}">
                <a16:creationId xmlns:a16="http://schemas.microsoft.com/office/drawing/2014/main" id="{7690C6B3-0E21-DE65-94A9-69956ACB27CC}"/>
              </a:ext>
            </a:extLst>
          </p:cNvPr>
          <p:cNvSpPr/>
          <p:nvPr/>
        </p:nvSpPr>
        <p:spPr>
          <a:xfrm>
            <a:off x="1085983" y="1744575"/>
            <a:ext cx="3163443" cy="392715"/>
          </a:xfrm>
          <a:custGeom>
            <a:avLst/>
            <a:gdLst>
              <a:gd name="csX0" fmla="*/ 0 w 4687251"/>
              <a:gd name="csY0" fmla="*/ 157443 h 944640"/>
              <a:gd name="csX1" fmla="*/ 157443 w 4687251"/>
              <a:gd name="csY1" fmla="*/ 0 h 944640"/>
              <a:gd name="csX2" fmla="*/ 4529808 w 4687251"/>
              <a:gd name="csY2" fmla="*/ 0 h 944640"/>
              <a:gd name="csX3" fmla="*/ 4687251 w 4687251"/>
              <a:gd name="csY3" fmla="*/ 157443 h 944640"/>
              <a:gd name="csX4" fmla="*/ 4687251 w 4687251"/>
              <a:gd name="csY4" fmla="*/ 787197 h 944640"/>
              <a:gd name="csX5" fmla="*/ 4529808 w 4687251"/>
              <a:gd name="csY5" fmla="*/ 944640 h 944640"/>
              <a:gd name="csX6" fmla="*/ 157443 w 4687251"/>
              <a:gd name="csY6" fmla="*/ 944640 h 944640"/>
              <a:gd name="csX7" fmla="*/ 0 w 4687251"/>
              <a:gd name="csY7" fmla="*/ 787197 h 944640"/>
              <a:gd name="csX8" fmla="*/ 0 w 4687251"/>
              <a:gd name="csY8" fmla="*/ 157443 h 9446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687251" h="944640">
                <a:moveTo>
                  <a:pt x="0" y="157443"/>
                </a:moveTo>
                <a:cubicBezTo>
                  <a:pt x="0" y="70490"/>
                  <a:pt x="70490" y="0"/>
                  <a:pt x="157443" y="0"/>
                </a:cubicBezTo>
                <a:lnTo>
                  <a:pt x="4529808" y="0"/>
                </a:lnTo>
                <a:cubicBezTo>
                  <a:pt x="4616761" y="0"/>
                  <a:pt x="4687251" y="70490"/>
                  <a:pt x="4687251" y="157443"/>
                </a:cubicBezTo>
                <a:lnTo>
                  <a:pt x="4687251" y="787197"/>
                </a:lnTo>
                <a:cubicBezTo>
                  <a:pt x="4687251" y="874150"/>
                  <a:pt x="4616761" y="944640"/>
                  <a:pt x="4529808" y="944640"/>
                </a:cubicBezTo>
                <a:lnTo>
                  <a:pt x="157443" y="944640"/>
                </a:lnTo>
                <a:cubicBezTo>
                  <a:pt x="70490" y="944640"/>
                  <a:pt x="0" y="874150"/>
                  <a:pt x="0" y="787197"/>
                </a:cubicBezTo>
                <a:lnTo>
                  <a:pt x="0" y="157443"/>
                </a:lnTo>
                <a:close/>
              </a:path>
            </a:pathLst>
          </a:custGeom>
        </p:spPr>
        <p:style>
          <a:lnRef idx="0">
            <a:schemeClr val="lt1">
              <a:hueOff val="0"/>
              <a:satOff val="0"/>
              <a:lumOff val="0"/>
              <a:alphaOff val="0"/>
            </a:schemeClr>
          </a:lnRef>
          <a:fillRef idx="3">
            <a:schemeClr val="accent4">
              <a:hueOff val="0"/>
              <a:satOff val="0"/>
              <a:lumOff val="0"/>
              <a:alphaOff val="0"/>
            </a:schemeClr>
          </a:fillRef>
          <a:effectRef idx="2">
            <a:schemeClr val="accent4">
              <a:hueOff val="0"/>
              <a:satOff val="0"/>
              <a:lumOff val="0"/>
              <a:alphaOff val="0"/>
            </a:schemeClr>
          </a:effectRef>
          <a:fontRef idx="minor">
            <a:schemeClr val="lt1"/>
          </a:fontRef>
        </p:style>
        <p:txBody>
          <a:bodyPr spcFirstLastPara="0" vert="horz" wrap="square" lIns="223281" tIns="46114" rIns="223281" bIns="46114" numCol="1" spcCol="1270" anchor="ctr" anchorCtr="0">
            <a:noAutofit/>
          </a:bodyPr>
          <a:lstStyle/>
          <a:p>
            <a:pPr marL="0" lvl="0" indent="0" algn="l" defTabSz="800100">
              <a:lnSpc>
                <a:spcPct val="90000"/>
              </a:lnSpc>
              <a:spcBef>
                <a:spcPct val="0"/>
              </a:spcBef>
              <a:spcAft>
                <a:spcPct val="35000"/>
              </a:spcAft>
              <a:buNone/>
            </a:pPr>
            <a:r>
              <a:rPr lang="en-US" sz="1800" kern="1200" dirty="0"/>
              <a:t>What Amir wants</a:t>
            </a:r>
            <a:endParaRPr lang="en-NL" sz="1800" kern="1200" dirty="0"/>
          </a:p>
        </p:txBody>
      </p:sp>
      <p:sp>
        <p:nvSpPr>
          <p:cNvPr id="23" name="Freeform: Shape 22">
            <a:extLst>
              <a:ext uri="{FF2B5EF4-FFF2-40B4-BE49-F238E27FC236}">
                <a16:creationId xmlns:a16="http://schemas.microsoft.com/office/drawing/2014/main" id="{1B73456A-B504-1E10-7FDC-309250685A01}"/>
              </a:ext>
            </a:extLst>
          </p:cNvPr>
          <p:cNvSpPr/>
          <p:nvPr/>
        </p:nvSpPr>
        <p:spPr>
          <a:xfrm>
            <a:off x="960855" y="3449062"/>
            <a:ext cx="6293737" cy="1261697"/>
          </a:xfrm>
          <a:custGeom>
            <a:avLst/>
            <a:gdLst>
              <a:gd name="csX0" fmla="*/ 0 w 6696074"/>
              <a:gd name="csY0" fmla="*/ 0 h 1537199"/>
              <a:gd name="csX1" fmla="*/ 6696074 w 6696074"/>
              <a:gd name="csY1" fmla="*/ 0 h 1537199"/>
              <a:gd name="csX2" fmla="*/ 6696074 w 6696074"/>
              <a:gd name="csY2" fmla="*/ 1537199 h 1537199"/>
              <a:gd name="csX3" fmla="*/ 0 w 6696074"/>
              <a:gd name="csY3" fmla="*/ 1537199 h 1537199"/>
              <a:gd name="csX4" fmla="*/ 0 w 6696074"/>
              <a:gd name="csY4" fmla="*/ 0 h 1537199"/>
            </a:gdLst>
            <a:ahLst/>
            <a:cxnLst>
              <a:cxn ang="0">
                <a:pos x="csX0" y="csY0"/>
              </a:cxn>
              <a:cxn ang="0">
                <a:pos x="csX1" y="csY1"/>
              </a:cxn>
              <a:cxn ang="0">
                <a:pos x="csX2" y="csY2"/>
              </a:cxn>
              <a:cxn ang="0">
                <a:pos x="csX3" y="csY3"/>
              </a:cxn>
              <a:cxn ang="0">
                <a:pos x="csX4" y="csY4"/>
              </a:cxn>
            </a:cxnLst>
            <a:rect l="l" t="t" r="r" b="b"/>
            <a:pathLst>
              <a:path w="6696074" h="1537199">
                <a:moveTo>
                  <a:pt x="0" y="0"/>
                </a:moveTo>
                <a:lnTo>
                  <a:pt x="6696074" y="0"/>
                </a:lnTo>
                <a:lnTo>
                  <a:pt x="6696074" y="1537199"/>
                </a:lnTo>
                <a:lnTo>
                  <a:pt x="0" y="1537199"/>
                </a:lnTo>
                <a:lnTo>
                  <a:pt x="0" y="0"/>
                </a:lnTo>
                <a:close/>
              </a:path>
            </a:pathLst>
          </a:custGeom>
        </p:spPr>
        <p:style>
          <a:lnRef idx="1">
            <a:schemeClr val="accent4">
              <a:hueOff val="-7382464"/>
              <a:satOff val="22475"/>
              <a:lumOff val="33922"/>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360000" tIns="360000" rIns="360000" bIns="108000" numCol="1" spcCol="1270" anchor="t" anchorCtr="0">
            <a:noAutofit/>
          </a:bodyPr>
          <a:lstStyle/>
          <a:p>
            <a:pPr marL="171450" lvl="1" indent="-171450" defTabSz="711200">
              <a:lnSpc>
                <a:spcPct val="90000"/>
              </a:lnSpc>
              <a:spcBef>
                <a:spcPct val="0"/>
              </a:spcBef>
              <a:spcAft>
                <a:spcPts val="600"/>
              </a:spcAft>
              <a:buChar char="•"/>
            </a:pPr>
            <a:r>
              <a:rPr lang="en-US" sz="1400" dirty="0"/>
              <a:t>Even after identifying the right dataset for biological sex, other columns still appear tempting.</a:t>
            </a:r>
          </a:p>
          <a:p>
            <a:pPr marL="171450" lvl="1" indent="-171450" defTabSz="711200">
              <a:lnSpc>
                <a:spcPct val="90000"/>
              </a:lnSpc>
              <a:spcBef>
                <a:spcPct val="0"/>
              </a:spcBef>
              <a:spcAft>
                <a:spcPts val="600"/>
              </a:spcAft>
              <a:buChar char="•"/>
            </a:pPr>
            <a:r>
              <a:rPr lang="en-US" sz="1400" dirty="0"/>
              <a:t>Amir cannot rely on names alone to tell whether this selected column matches his study variable or represents a different meaning.</a:t>
            </a:r>
            <a:endParaRPr lang="en-NL" sz="1400" kern="1200" dirty="0"/>
          </a:p>
        </p:txBody>
      </p:sp>
      <p:sp>
        <p:nvSpPr>
          <p:cNvPr id="24" name="Freeform: Shape 23">
            <a:extLst>
              <a:ext uri="{FF2B5EF4-FFF2-40B4-BE49-F238E27FC236}">
                <a16:creationId xmlns:a16="http://schemas.microsoft.com/office/drawing/2014/main" id="{1BD9C82C-67A7-835F-B2EE-AC9117A39A0A}"/>
              </a:ext>
            </a:extLst>
          </p:cNvPr>
          <p:cNvSpPr/>
          <p:nvPr/>
        </p:nvSpPr>
        <p:spPr>
          <a:xfrm>
            <a:off x="1085983" y="3281592"/>
            <a:ext cx="3163443" cy="392715"/>
          </a:xfrm>
          <a:custGeom>
            <a:avLst/>
            <a:gdLst>
              <a:gd name="csX0" fmla="*/ 0 w 4687251"/>
              <a:gd name="csY0" fmla="*/ 157443 h 944640"/>
              <a:gd name="csX1" fmla="*/ 157443 w 4687251"/>
              <a:gd name="csY1" fmla="*/ 0 h 944640"/>
              <a:gd name="csX2" fmla="*/ 4529808 w 4687251"/>
              <a:gd name="csY2" fmla="*/ 0 h 944640"/>
              <a:gd name="csX3" fmla="*/ 4687251 w 4687251"/>
              <a:gd name="csY3" fmla="*/ 157443 h 944640"/>
              <a:gd name="csX4" fmla="*/ 4687251 w 4687251"/>
              <a:gd name="csY4" fmla="*/ 787197 h 944640"/>
              <a:gd name="csX5" fmla="*/ 4529808 w 4687251"/>
              <a:gd name="csY5" fmla="*/ 944640 h 944640"/>
              <a:gd name="csX6" fmla="*/ 157443 w 4687251"/>
              <a:gd name="csY6" fmla="*/ 944640 h 944640"/>
              <a:gd name="csX7" fmla="*/ 0 w 4687251"/>
              <a:gd name="csY7" fmla="*/ 787197 h 944640"/>
              <a:gd name="csX8" fmla="*/ 0 w 4687251"/>
              <a:gd name="csY8" fmla="*/ 157443 h 9446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687251" h="944640">
                <a:moveTo>
                  <a:pt x="0" y="157443"/>
                </a:moveTo>
                <a:cubicBezTo>
                  <a:pt x="0" y="70490"/>
                  <a:pt x="70490" y="0"/>
                  <a:pt x="157443" y="0"/>
                </a:cubicBezTo>
                <a:lnTo>
                  <a:pt x="4529808" y="0"/>
                </a:lnTo>
                <a:cubicBezTo>
                  <a:pt x="4616761" y="0"/>
                  <a:pt x="4687251" y="70490"/>
                  <a:pt x="4687251" y="157443"/>
                </a:cubicBezTo>
                <a:lnTo>
                  <a:pt x="4687251" y="787197"/>
                </a:lnTo>
                <a:cubicBezTo>
                  <a:pt x="4687251" y="874150"/>
                  <a:pt x="4616761" y="944640"/>
                  <a:pt x="4529808" y="944640"/>
                </a:cubicBezTo>
                <a:lnTo>
                  <a:pt x="157443" y="944640"/>
                </a:lnTo>
                <a:cubicBezTo>
                  <a:pt x="70490" y="944640"/>
                  <a:pt x="0" y="874150"/>
                  <a:pt x="0" y="787197"/>
                </a:cubicBezTo>
                <a:lnTo>
                  <a:pt x="0" y="157443"/>
                </a:lnTo>
                <a:close/>
              </a:path>
            </a:pathLst>
          </a:custGeom>
        </p:spPr>
        <p:style>
          <a:lnRef idx="0">
            <a:schemeClr val="lt1">
              <a:hueOff val="0"/>
              <a:satOff val="0"/>
              <a:lumOff val="0"/>
              <a:alphaOff val="0"/>
            </a:schemeClr>
          </a:lnRef>
          <a:fillRef idx="3">
            <a:schemeClr val="accent4">
              <a:hueOff val="-7382464"/>
              <a:satOff val="22475"/>
              <a:lumOff val="33922"/>
              <a:alphaOff val="0"/>
            </a:schemeClr>
          </a:fillRef>
          <a:effectRef idx="2">
            <a:schemeClr val="accent4">
              <a:hueOff val="-7382464"/>
              <a:satOff val="22475"/>
              <a:lumOff val="33922"/>
              <a:alphaOff val="0"/>
            </a:schemeClr>
          </a:effectRef>
          <a:fontRef idx="minor">
            <a:schemeClr val="lt1"/>
          </a:fontRef>
        </p:style>
        <p:txBody>
          <a:bodyPr spcFirstLastPara="0" vert="horz" wrap="square" lIns="223281" tIns="46114" rIns="223281" bIns="46114" numCol="1" spcCol="1270" anchor="ctr" anchorCtr="0">
            <a:noAutofit/>
          </a:bodyPr>
          <a:lstStyle/>
          <a:p>
            <a:pPr marL="0" lvl="0" indent="0" algn="l" defTabSz="800100">
              <a:lnSpc>
                <a:spcPct val="90000"/>
              </a:lnSpc>
              <a:spcBef>
                <a:spcPct val="0"/>
              </a:spcBef>
              <a:spcAft>
                <a:spcPct val="35000"/>
              </a:spcAft>
              <a:buNone/>
            </a:pPr>
            <a:r>
              <a:rPr lang="en-US" sz="1800" kern="1200" dirty="0"/>
              <a:t>Amir’s challenge</a:t>
            </a:r>
            <a:endParaRPr lang="en-NL" sz="1800" kern="1200" dirty="0"/>
          </a:p>
        </p:txBody>
      </p:sp>
      <p:sp>
        <p:nvSpPr>
          <p:cNvPr id="25" name="TextBox 24">
            <a:extLst>
              <a:ext uri="{FF2B5EF4-FFF2-40B4-BE49-F238E27FC236}">
                <a16:creationId xmlns:a16="http://schemas.microsoft.com/office/drawing/2014/main" id="{F1A49FEC-8091-1214-04C3-4FADF0739AAE}"/>
              </a:ext>
            </a:extLst>
          </p:cNvPr>
          <p:cNvSpPr txBox="1"/>
          <p:nvPr/>
        </p:nvSpPr>
        <p:spPr>
          <a:xfrm>
            <a:off x="653368" y="4770467"/>
            <a:ext cx="6908709" cy="979069"/>
          </a:xfrm>
          <a:prstGeom prst="rect">
            <a:avLst/>
          </a:prstGeom>
          <a:noFill/>
        </p:spPr>
        <p:txBody>
          <a:bodyPr wrap="square" lIns="180000" tIns="180000" rIns="180000" bIns="180000" rtlCol="0">
            <a:spAutoFit/>
          </a:bodyPr>
          <a:lstStyle/>
          <a:p>
            <a:pPr algn="ctr"/>
            <a:r>
              <a:rPr lang="en-US" sz="2000" b="1" i="1" dirty="0"/>
              <a:t>“What is the actual meaning of the column </a:t>
            </a:r>
          </a:p>
          <a:p>
            <a:pPr algn="ctr"/>
            <a:r>
              <a:rPr lang="en-US" sz="2000" b="1" i="1" dirty="0">
                <a:latin typeface="Atkinson Hyperlegible" pitchFamily="2" charset="0"/>
              </a:rPr>
              <a:t>hri-fhir-r5:individual-gender-identity/value</a:t>
            </a:r>
            <a:r>
              <a:rPr lang="en-US" sz="2000" b="1" i="1" dirty="0"/>
              <a:t>?”</a:t>
            </a:r>
            <a:endParaRPr lang="en-US" sz="2000" i="1" dirty="0"/>
          </a:p>
        </p:txBody>
      </p:sp>
      <p:graphicFrame>
        <p:nvGraphicFramePr>
          <p:cNvPr id="6" name="Content Placeholder 4">
            <a:extLst>
              <a:ext uri="{FF2B5EF4-FFF2-40B4-BE49-F238E27FC236}">
                <a16:creationId xmlns:a16="http://schemas.microsoft.com/office/drawing/2014/main" id="{D2A6F969-3D75-E041-09C1-E0500750288A}"/>
              </a:ext>
            </a:extLst>
          </p:cNvPr>
          <p:cNvGraphicFramePr>
            <a:graphicFrameLocks/>
          </p:cNvGraphicFramePr>
          <p:nvPr>
            <p:extLst>
              <p:ext uri="{D42A27DB-BD31-4B8C-83A1-F6EECF244321}">
                <p14:modId xmlns:p14="http://schemas.microsoft.com/office/powerpoint/2010/main" val="3217226190"/>
              </p:ext>
            </p:extLst>
          </p:nvPr>
        </p:nvGraphicFramePr>
        <p:xfrm>
          <a:off x="7878355" y="3118199"/>
          <a:ext cx="2811677" cy="1278051"/>
        </p:xfrm>
        <a:graphic>
          <a:graphicData uri="http://schemas.openxmlformats.org/drawingml/2006/table">
            <a:tbl>
              <a:tblPr firstRow="1" bandRow="1">
                <a:effectLst>
                  <a:outerShdw blurRad="50800" dist="38100" dir="2700000" algn="tl" rotWithShape="0">
                    <a:prstClr val="black">
                      <a:alpha val="40000"/>
                    </a:prstClr>
                  </a:outerShdw>
                </a:effectLst>
                <a:tableStyleId>{21E4AEA4-8DFA-4A89-87EB-49C32662AFE0}</a:tableStyleId>
              </a:tblPr>
              <a:tblGrid>
                <a:gridCol w="360000">
                  <a:extLst>
                    <a:ext uri="{9D8B030D-6E8A-4147-A177-3AD203B41FA5}">
                      <a16:colId xmlns:a16="http://schemas.microsoft.com/office/drawing/2014/main" val="979315127"/>
                    </a:ext>
                  </a:extLst>
                </a:gridCol>
                <a:gridCol w="1731677">
                  <a:extLst>
                    <a:ext uri="{9D8B030D-6E8A-4147-A177-3AD203B41FA5}">
                      <a16:colId xmlns:a16="http://schemas.microsoft.com/office/drawing/2014/main" val="2075302567"/>
                    </a:ext>
                  </a:extLst>
                </a:gridCol>
                <a:gridCol w="360000">
                  <a:extLst>
                    <a:ext uri="{9D8B030D-6E8A-4147-A177-3AD203B41FA5}">
                      <a16:colId xmlns:a16="http://schemas.microsoft.com/office/drawing/2014/main" val="660631070"/>
                    </a:ext>
                  </a:extLst>
                </a:gridCol>
                <a:gridCol w="360000">
                  <a:extLst>
                    <a:ext uri="{9D8B030D-6E8A-4147-A177-3AD203B41FA5}">
                      <a16:colId xmlns:a16="http://schemas.microsoft.com/office/drawing/2014/main" val="1525013378"/>
                    </a:ext>
                  </a:extLst>
                </a:gridCol>
              </a:tblGrid>
              <a:tr h="367200">
                <a:tc>
                  <a:txBody>
                    <a:bodyPr/>
                    <a:lstStyle/>
                    <a:p>
                      <a:pPr algn="l"/>
                      <a:endParaRPr lang="en-NL" sz="1100" dirty="0"/>
                    </a:p>
                  </a:txBody>
                  <a:tcPr marL="72000" anchor="ctr"/>
                </a:tc>
                <a:tc>
                  <a:txBody>
                    <a:bodyPr/>
                    <a:lstStyle/>
                    <a:p>
                      <a:pPr algn="l"/>
                      <a:r>
                        <a:rPr lang="en-US" sz="900" dirty="0" err="1"/>
                        <a:t>hri-openehr:legal-gender</a:t>
                      </a:r>
                      <a:endParaRPr lang="en-US" sz="900" dirty="0"/>
                    </a:p>
                    <a:p>
                      <a:pPr algn="l"/>
                      <a:r>
                        <a:rPr lang="en-US" sz="900" dirty="0"/>
                        <a:t>("Legal gender"@</a:t>
                      </a:r>
                      <a:r>
                        <a:rPr lang="en-US" sz="900" dirty="0" err="1"/>
                        <a:t>en</a:t>
                      </a:r>
                      <a:r>
                        <a:rPr lang="en-US" sz="900" dirty="0"/>
                        <a:t>)</a:t>
                      </a:r>
                      <a:endParaRPr lang="en-US" sz="850" dirty="0"/>
                    </a:p>
                  </a:txBody>
                  <a:tcPr marL="72000" marR="18000" marT="0" marB="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3012902903"/>
                  </a:ext>
                </a:extLst>
              </a:tr>
              <a:tr h="306000">
                <a:tc>
                  <a:txBody>
                    <a:bodyPr/>
                    <a:lstStyle/>
                    <a:p>
                      <a:pPr algn="l"/>
                      <a:endParaRPr lang="en-NL" sz="1100" dirty="0"/>
                    </a:p>
                  </a:txBody>
                  <a:tcPr marL="72000" anchor="ctr"/>
                </a:tc>
                <a:tc>
                  <a:txBody>
                    <a:bodyPr/>
                    <a:lstStyle/>
                    <a:p>
                      <a:pPr algn="l"/>
                      <a:r>
                        <a:rPr lang="en-US" sz="1100" b="1" dirty="0"/>
                        <a:t>female</a:t>
                      </a:r>
                      <a:endParaRPr lang="en-NL" sz="1100" b="1" dirty="0"/>
                    </a:p>
                  </a:txBody>
                  <a:tcPr marL="7200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1249708150"/>
                  </a:ext>
                </a:extLst>
              </a:tr>
              <a:tr h="306000">
                <a:tc>
                  <a:txBody>
                    <a:bodyPr/>
                    <a:lstStyle/>
                    <a:p>
                      <a:pPr algn="l"/>
                      <a:endParaRPr lang="en-NL" sz="1100" dirty="0"/>
                    </a:p>
                  </a:txBody>
                  <a:tcPr marL="72000" anchor="ctr"/>
                </a:tc>
                <a:tc>
                  <a:txBody>
                    <a:bodyPr/>
                    <a:lstStyle/>
                    <a:p>
                      <a:pPr algn="l"/>
                      <a:r>
                        <a:rPr lang="en-US" sz="1100" b="1" dirty="0"/>
                        <a:t>male</a:t>
                      </a:r>
                      <a:endParaRPr lang="en-NL" sz="1100" b="1" dirty="0"/>
                    </a:p>
                  </a:txBody>
                  <a:tcPr marL="7200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3850974854"/>
                  </a:ext>
                </a:extLst>
              </a:tr>
              <a:tr h="298851">
                <a:tc>
                  <a:txBody>
                    <a:bodyPr/>
                    <a:lstStyle/>
                    <a:p>
                      <a:pPr algn="l"/>
                      <a:endParaRPr lang="en-NL" sz="1100" dirty="0"/>
                    </a:p>
                  </a:txBody>
                  <a:tcPr marL="72000" anchor="ctr"/>
                </a:tc>
                <a:tc>
                  <a:txBody>
                    <a:bodyPr/>
                    <a:lstStyle/>
                    <a:p>
                      <a:pPr algn="l"/>
                      <a:r>
                        <a:rPr lang="en-US" sz="1100" b="1" dirty="0"/>
                        <a:t>nonbinary</a:t>
                      </a:r>
                      <a:endParaRPr lang="en-NL" sz="1100" b="1" dirty="0"/>
                    </a:p>
                  </a:txBody>
                  <a:tcPr marL="7200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7" name="Rectangle: Rounded Corners 6">
            <a:extLst>
              <a:ext uri="{FF2B5EF4-FFF2-40B4-BE49-F238E27FC236}">
                <a16:creationId xmlns:a16="http://schemas.microsoft.com/office/drawing/2014/main" id="{03792AAF-EA4B-0EC5-D602-9ED9683C3EB7}"/>
              </a:ext>
            </a:extLst>
          </p:cNvPr>
          <p:cNvSpPr/>
          <p:nvPr/>
        </p:nvSpPr>
        <p:spPr>
          <a:xfrm>
            <a:off x="9580165" y="3764351"/>
            <a:ext cx="1642188" cy="710132"/>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NL"/>
          </a:p>
        </p:txBody>
      </p:sp>
      <p:graphicFrame>
        <p:nvGraphicFramePr>
          <p:cNvPr id="8" name="Content Placeholder 4">
            <a:extLst>
              <a:ext uri="{FF2B5EF4-FFF2-40B4-BE49-F238E27FC236}">
                <a16:creationId xmlns:a16="http://schemas.microsoft.com/office/drawing/2014/main" id="{D696582F-2BEB-774F-4CD5-594E1DAA0051}"/>
              </a:ext>
            </a:extLst>
          </p:cNvPr>
          <p:cNvGraphicFramePr>
            <a:graphicFrameLocks/>
          </p:cNvGraphicFramePr>
          <p:nvPr>
            <p:extLst>
              <p:ext uri="{D42A27DB-BD31-4B8C-83A1-F6EECF244321}">
                <p14:modId xmlns:p14="http://schemas.microsoft.com/office/powerpoint/2010/main" val="1582770089"/>
              </p:ext>
            </p:extLst>
          </p:nvPr>
        </p:nvGraphicFramePr>
        <p:xfrm>
          <a:off x="7878355" y="4538762"/>
          <a:ext cx="2811600" cy="1285200"/>
        </p:xfrm>
        <a:graphic>
          <a:graphicData uri="http://schemas.openxmlformats.org/drawingml/2006/table">
            <a:tbl>
              <a:tblPr firstRow="1" bandRow="1">
                <a:effectLst>
                  <a:outerShdw blurRad="50800" dist="38100" dir="2700000" algn="tl" rotWithShape="0">
                    <a:prstClr val="black">
                      <a:alpha val="40000"/>
                    </a:prstClr>
                  </a:outerShdw>
                </a:effectLst>
                <a:tableStyleId>{00A15C55-8517-42AA-B614-E9B94910E393}</a:tableStyleId>
              </a:tblPr>
              <a:tblGrid>
                <a:gridCol w="360000">
                  <a:extLst>
                    <a:ext uri="{9D8B030D-6E8A-4147-A177-3AD203B41FA5}">
                      <a16:colId xmlns:a16="http://schemas.microsoft.com/office/drawing/2014/main" val="979315127"/>
                    </a:ext>
                  </a:extLst>
                </a:gridCol>
                <a:gridCol w="1731600">
                  <a:extLst>
                    <a:ext uri="{9D8B030D-6E8A-4147-A177-3AD203B41FA5}">
                      <a16:colId xmlns:a16="http://schemas.microsoft.com/office/drawing/2014/main" val="2075302567"/>
                    </a:ext>
                  </a:extLst>
                </a:gridCol>
                <a:gridCol w="360000">
                  <a:extLst>
                    <a:ext uri="{9D8B030D-6E8A-4147-A177-3AD203B41FA5}">
                      <a16:colId xmlns:a16="http://schemas.microsoft.com/office/drawing/2014/main" val="660631070"/>
                    </a:ext>
                  </a:extLst>
                </a:gridCol>
                <a:gridCol w="360000">
                  <a:extLst>
                    <a:ext uri="{9D8B030D-6E8A-4147-A177-3AD203B41FA5}">
                      <a16:colId xmlns:a16="http://schemas.microsoft.com/office/drawing/2014/main" val="1525013378"/>
                    </a:ext>
                  </a:extLst>
                </a:gridCol>
              </a:tblGrid>
              <a:tr h="367200">
                <a:tc>
                  <a:txBody>
                    <a:bodyPr/>
                    <a:lstStyle/>
                    <a:p>
                      <a:endParaRPr lang="en-NL" sz="1100" dirty="0"/>
                    </a:p>
                  </a:txBody>
                  <a:tcPr marL="72000" anchor="ctr"/>
                </a:tc>
                <a:tc>
                  <a:txBody>
                    <a:bodyPr/>
                    <a:lstStyle/>
                    <a:p>
                      <a:r>
                        <a:rPr lang="en-US" sz="900" dirty="0"/>
                        <a:t>loinc:107454-1</a:t>
                      </a:r>
                    </a:p>
                    <a:p>
                      <a:r>
                        <a:rPr lang="en-US" sz="900" dirty="0"/>
                        <a:t>("Administrative gender"@</a:t>
                      </a:r>
                      <a:r>
                        <a:rPr lang="en-US" sz="900" dirty="0" err="1"/>
                        <a:t>en</a:t>
                      </a:r>
                      <a:r>
                        <a:rPr lang="en-US" sz="900" dirty="0"/>
                        <a:t>)</a:t>
                      </a:r>
                      <a:endParaRPr lang="en-NL" sz="900" dirty="0"/>
                    </a:p>
                  </a:txBody>
                  <a:tcPr marL="72000" marR="0" marT="0" marB="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012902903"/>
                  </a:ext>
                </a:extLst>
              </a:tr>
              <a:tr h="306000">
                <a:tc>
                  <a:txBody>
                    <a:bodyPr/>
                    <a:lstStyle/>
                    <a:p>
                      <a:endParaRPr lang="en-NL" sz="1100" dirty="0"/>
                    </a:p>
                  </a:txBody>
                  <a:tcPr marL="72000" anchor="ctr"/>
                </a:tc>
                <a:tc>
                  <a:txBody>
                    <a:bodyPr/>
                    <a:lstStyle/>
                    <a:p>
                      <a:r>
                        <a:rPr lang="en-US" sz="1100" b="1" dirty="0"/>
                        <a:t>woman</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1249708150"/>
                  </a:ext>
                </a:extLst>
              </a:tr>
              <a:tr h="306000">
                <a:tc>
                  <a:txBody>
                    <a:bodyPr/>
                    <a:lstStyle/>
                    <a:p>
                      <a:endParaRPr lang="en-NL" sz="1100" dirty="0"/>
                    </a:p>
                  </a:txBody>
                  <a:tcPr marL="72000" anchor="ctr"/>
                </a:tc>
                <a:tc>
                  <a:txBody>
                    <a:bodyPr/>
                    <a:lstStyle/>
                    <a:p>
                      <a:r>
                        <a:rPr lang="en-US" sz="1100" b="1" dirty="0"/>
                        <a:t>man</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850974854"/>
                  </a:ext>
                </a:extLst>
              </a:tr>
              <a:tr h="306000">
                <a:tc>
                  <a:txBody>
                    <a:bodyPr/>
                    <a:lstStyle/>
                    <a:p>
                      <a:endParaRPr lang="en-NL" sz="1100" dirty="0"/>
                    </a:p>
                  </a:txBody>
                  <a:tcPr marL="72000" anchor="ctr"/>
                </a:tc>
                <a:tc>
                  <a:txBody>
                    <a:bodyPr/>
                    <a:lstStyle/>
                    <a:p>
                      <a:r>
                        <a:rPr lang="en-US" sz="1100" b="1" dirty="0"/>
                        <a:t>non-binary</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9" name="Rectangle: Rounded Corners 8">
            <a:extLst>
              <a:ext uri="{FF2B5EF4-FFF2-40B4-BE49-F238E27FC236}">
                <a16:creationId xmlns:a16="http://schemas.microsoft.com/office/drawing/2014/main" id="{9D50E891-38D2-55A0-D73D-F60D51D042E4}"/>
              </a:ext>
            </a:extLst>
          </p:cNvPr>
          <p:cNvSpPr/>
          <p:nvPr/>
        </p:nvSpPr>
        <p:spPr>
          <a:xfrm>
            <a:off x="9580166" y="5182068"/>
            <a:ext cx="1642188" cy="710132"/>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en-NL"/>
          </a:p>
        </p:txBody>
      </p:sp>
      <p:graphicFrame>
        <p:nvGraphicFramePr>
          <p:cNvPr id="10" name="Content Placeholder 4">
            <a:extLst>
              <a:ext uri="{FF2B5EF4-FFF2-40B4-BE49-F238E27FC236}">
                <a16:creationId xmlns:a16="http://schemas.microsoft.com/office/drawing/2014/main" id="{AFCBABD6-59F0-F053-65D0-165F9FF24DAB}"/>
              </a:ext>
            </a:extLst>
          </p:cNvPr>
          <p:cNvGraphicFramePr>
            <a:graphicFrameLocks/>
          </p:cNvGraphicFramePr>
          <p:nvPr>
            <p:extLst>
              <p:ext uri="{D42A27DB-BD31-4B8C-83A1-F6EECF244321}">
                <p14:modId xmlns:p14="http://schemas.microsoft.com/office/powerpoint/2010/main" val="1648291245"/>
              </p:ext>
            </p:extLst>
          </p:nvPr>
        </p:nvGraphicFramePr>
        <p:xfrm>
          <a:off x="7878355" y="1695020"/>
          <a:ext cx="2811677" cy="128376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360000">
                  <a:extLst>
                    <a:ext uri="{9D8B030D-6E8A-4147-A177-3AD203B41FA5}">
                      <a16:colId xmlns:a16="http://schemas.microsoft.com/office/drawing/2014/main" val="979315127"/>
                    </a:ext>
                  </a:extLst>
                </a:gridCol>
                <a:gridCol w="1731677">
                  <a:extLst>
                    <a:ext uri="{9D8B030D-6E8A-4147-A177-3AD203B41FA5}">
                      <a16:colId xmlns:a16="http://schemas.microsoft.com/office/drawing/2014/main" val="2075302567"/>
                    </a:ext>
                  </a:extLst>
                </a:gridCol>
                <a:gridCol w="360000">
                  <a:extLst>
                    <a:ext uri="{9D8B030D-6E8A-4147-A177-3AD203B41FA5}">
                      <a16:colId xmlns:a16="http://schemas.microsoft.com/office/drawing/2014/main" val="660631070"/>
                    </a:ext>
                  </a:extLst>
                </a:gridCol>
                <a:gridCol w="360000">
                  <a:extLst>
                    <a:ext uri="{9D8B030D-6E8A-4147-A177-3AD203B41FA5}">
                      <a16:colId xmlns:a16="http://schemas.microsoft.com/office/drawing/2014/main" val="1525013378"/>
                    </a:ext>
                  </a:extLst>
                </a:gridCol>
              </a:tblGrid>
              <a:tr h="324000">
                <a:tc>
                  <a:txBody>
                    <a:bodyPr/>
                    <a:lstStyle/>
                    <a:p>
                      <a:endParaRPr lang="en-NL" sz="1100" dirty="0"/>
                    </a:p>
                  </a:txBody>
                  <a:tcPr marL="72000" anchor="ctr"/>
                </a:tc>
                <a:tc>
                  <a:txBody>
                    <a:bodyPr/>
                    <a:lstStyle/>
                    <a:p>
                      <a:r>
                        <a:rPr lang="en-US" sz="900" dirty="0" err="1"/>
                        <a:t>care-sm:Sex</a:t>
                      </a:r>
                      <a:endParaRPr lang="en-US" sz="900" dirty="0"/>
                    </a:p>
                    <a:p>
                      <a:r>
                        <a:rPr lang="en-US" sz="900" dirty="0"/>
                        <a:t>("Biological sex"@</a:t>
                      </a:r>
                      <a:r>
                        <a:rPr lang="en-US" sz="900" dirty="0" err="1"/>
                        <a:t>en</a:t>
                      </a:r>
                      <a:r>
                        <a:rPr lang="en-US" sz="900" dirty="0"/>
                        <a:t>)</a:t>
                      </a:r>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012902903"/>
                  </a:ext>
                </a:extLst>
              </a:tr>
              <a:tr h="306000">
                <a:tc>
                  <a:txBody>
                    <a:bodyPr/>
                    <a:lstStyle/>
                    <a:p>
                      <a:endParaRPr lang="en-NL" sz="1100" dirty="0"/>
                    </a:p>
                  </a:txBody>
                  <a:tcPr marL="72000" anchor="ctr"/>
                </a:tc>
                <a:tc>
                  <a:txBody>
                    <a:bodyPr/>
                    <a:lstStyle/>
                    <a:p>
                      <a:r>
                        <a:rPr lang="en-US" sz="1100" b="1" dirty="0"/>
                        <a:t>female</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1249708150"/>
                  </a:ext>
                </a:extLst>
              </a:tr>
              <a:tr h="306000">
                <a:tc>
                  <a:txBody>
                    <a:bodyPr/>
                    <a:lstStyle/>
                    <a:p>
                      <a:endParaRPr lang="en-NL" sz="1100" dirty="0"/>
                    </a:p>
                  </a:txBody>
                  <a:tcPr marL="72000" anchor="ctr"/>
                </a:tc>
                <a:tc>
                  <a:txBody>
                    <a:bodyPr/>
                    <a:lstStyle/>
                    <a:p>
                      <a:r>
                        <a:rPr lang="en-US" sz="1100" b="1" dirty="0"/>
                        <a:t>male</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850974854"/>
                  </a:ext>
                </a:extLst>
              </a:tr>
              <a:tr h="306000">
                <a:tc>
                  <a:txBody>
                    <a:bodyPr/>
                    <a:lstStyle/>
                    <a:p>
                      <a:endParaRPr lang="en-NL" sz="1100" dirty="0"/>
                    </a:p>
                  </a:txBody>
                  <a:tcPr marL="72000" anchor="ctr"/>
                </a:tc>
                <a:tc>
                  <a:txBody>
                    <a:bodyPr/>
                    <a:lstStyle/>
                    <a:p>
                      <a:r>
                        <a:rPr lang="en-US" sz="1100" b="1" dirty="0"/>
                        <a:t>female</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11" name="Rectangle: Rounded Corners 10">
            <a:extLst>
              <a:ext uri="{FF2B5EF4-FFF2-40B4-BE49-F238E27FC236}">
                <a16:creationId xmlns:a16="http://schemas.microsoft.com/office/drawing/2014/main" id="{A7DF60BD-093C-1411-D342-D45A8E42D464}"/>
              </a:ext>
            </a:extLst>
          </p:cNvPr>
          <p:cNvSpPr/>
          <p:nvPr/>
        </p:nvSpPr>
        <p:spPr>
          <a:xfrm>
            <a:off x="9580165" y="2343789"/>
            <a:ext cx="1642188" cy="710132"/>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NL"/>
          </a:p>
        </p:txBody>
      </p:sp>
      <p:pic>
        <p:nvPicPr>
          <p:cNvPr id="12" name="Picture 11">
            <a:extLst>
              <a:ext uri="{FF2B5EF4-FFF2-40B4-BE49-F238E27FC236}">
                <a16:creationId xmlns:a16="http://schemas.microsoft.com/office/drawing/2014/main" id="{AEE5653A-8AF3-7263-9E07-B7460EB44C70}"/>
              </a:ext>
            </a:extLst>
          </p:cNvPr>
          <p:cNvPicPr>
            <a:picLocks noChangeAspect="1"/>
          </p:cNvPicPr>
          <p:nvPr/>
        </p:nvPicPr>
        <p:blipFill>
          <a:blip r:embed="rId2"/>
          <a:srcRect l="17222" t="33069" r="27186" b="41346"/>
          <a:stretch>
            <a:fillRect/>
          </a:stretch>
        </p:blipFill>
        <p:spPr>
          <a:xfrm>
            <a:off x="9681170" y="2477918"/>
            <a:ext cx="1440178" cy="441874"/>
          </a:xfrm>
          <a:prstGeom prst="rect">
            <a:avLst/>
          </a:prstGeom>
        </p:spPr>
      </p:pic>
      <p:pic>
        <p:nvPicPr>
          <p:cNvPr id="13" name="Picture 12">
            <a:extLst>
              <a:ext uri="{FF2B5EF4-FFF2-40B4-BE49-F238E27FC236}">
                <a16:creationId xmlns:a16="http://schemas.microsoft.com/office/drawing/2014/main" id="{C9B27DF9-1BF0-2C95-B033-F7ABD95C3A21}"/>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25000"/>
                    </a14:imgEffect>
                    <a14:imgEffect>
                      <a14:brightnessContrast contrast="-40000"/>
                    </a14:imgEffect>
                  </a14:imgLayer>
                </a14:imgProps>
              </a:ext>
            </a:extLst>
          </a:blip>
          <a:srcRect l="22593" t="33818" r="26296" b="42564"/>
          <a:stretch>
            <a:fillRect/>
          </a:stretch>
        </p:blipFill>
        <p:spPr>
          <a:xfrm>
            <a:off x="9681259" y="3897611"/>
            <a:ext cx="1440000" cy="443613"/>
          </a:xfrm>
          <a:prstGeom prst="rect">
            <a:avLst/>
          </a:prstGeom>
        </p:spPr>
      </p:pic>
      <p:pic>
        <p:nvPicPr>
          <p:cNvPr id="14" name="Picture 13">
            <a:extLst>
              <a:ext uri="{FF2B5EF4-FFF2-40B4-BE49-F238E27FC236}">
                <a16:creationId xmlns:a16="http://schemas.microsoft.com/office/drawing/2014/main" id="{C13B2A7F-F3B5-6460-44C9-6A7EB397A54C}"/>
              </a:ext>
            </a:extLst>
          </p:cNvPr>
          <p:cNvPicPr>
            <a:picLocks noChangeAspect="1"/>
          </p:cNvPicPr>
          <p:nvPr/>
        </p:nvPicPr>
        <p:blipFill>
          <a:blip r:embed="rId5"/>
          <a:srcRect l="13027" t="27953" r="16204" b="38897"/>
          <a:stretch>
            <a:fillRect/>
          </a:stretch>
        </p:blipFill>
        <p:spPr>
          <a:xfrm>
            <a:off x="9681260" y="5312288"/>
            <a:ext cx="1440000" cy="449693"/>
          </a:xfrm>
          <a:prstGeom prst="rect">
            <a:avLst/>
          </a:prstGeom>
        </p:spPr>
      </p:pic>
    </p:spTree>
    <p:extLst>
      <p:ext uri="{BB962C8B-B14F-4D97-AF65-F5344CB8AC3E}">
        <p14:creationId xmlns:p14="http://schemas.microsoft.com/office/powerpoint/2010/main" val="85006788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8043B5-D157-B0FB-02CF-A20DFE4C051F}"/>
              </a:ext>
            </a:extLst>
          </p:cNvPr>
          <p:cNvSpPr>
            <a:spLocks noGrp="1"/>
          </p:cNvSpPr>
          <p:nvPr>
            <p:ph type="title"/>
          </p:nvPr>
        </p:nvSpPr>
        <p:spPr/>
        <p:txBody>
          <a:bodyPr/>
          <a:lstStyle/>
          <a:p>
            <a:r>
              <a:rPr lang="en-US" sz="3200" dirty="0"/>
              <a:t>Scenario 3 — Retrieve the Ontology Meanings of a Selected Concept</a:t>
            </a:r>
            <a:endParaRPr lang="en-NL" sz="3200" dirty="0"/>
          </a:p>
        </p:txBody>
      </p:sp>
      <p:sp>
        <p:nvSpPr>
          <p:cNvPr id="4" name="Slide Number Placeholder 3">
            <a:extLst>
              <a:ext uri="{FF2B5EF4-FFF2-40B4-BE49-F238E27FC236}">
                <a16:creationId xmlns:a16="http://schemas.microsoft.com/office/drawing/2014/main" id="{1E3B412C-FEC5-0FF3-144F-C661C0C0FC33}"/>
              </a:ext>
            </a:extLst>
          </p:cNvPr>
          <p:cNvSpPr>
            <a:spLocks noGrp="1"/>
          </p:cNvSpPr>
          <p:nvPr>
            <p:ph type="sldNum" sz="quarter" idx="12"/>
          </p:nvPr>
        </p:nvSpPr>
        <p:spPr/>
        <p:txBody>
          <a:bodyPr/>
          <a:lstStyle/>
          <a:p>
            <a:fld id="{4FAB73BC-B049-4115-A692-8D63A059BFB8}" type="slidenum">
              <a:rPr lang="en-US" smtClean="0"/>
              <a:pPr/>
              <a:t>34</a:t>
            </a:fld>
            <a:endParaRPr lang="en-US" dirty="0"/>
          </a:p>
        </p:txBody>
      </p:sp>
      <p:cxnSp>
        <p:nvCxnSpPr>
          <p:cNvPr id="11" name="Straight Connector 10">
            <a:extLst>
              <a:ext uri="{FF2B5EF4-FFF2-40B4-BE49-F238E27FC236}">
                <a16:creationId xmlns:a16="http://schemas.microsoft.com/office/drawing/2014/main" id="{291D01DB-1ACD-ED48-863B-E6548EE8DFC5}"/>
              </a:ext>
            </a:extLst>
          </p:cNvPr>
          <p:cNvCxnSpPr/>
          <p:nvPr/>
        </p:nvCxnSpPr>
        <p:spPr>
          <a:xfrm>
            <a:off x="2440086" y="1662864"/>
            <a:ext cx="0" cy="3010736"/>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sp>
        <p:nvSpPr>
          <p:cNvPr id="12" name="Parallelogram 11">
            <a:extLst>
              <a:ext uri="{FF2B5EF4-FFF2-40B4-BE49-F238E27FC236}">
                <a16:creationId xmlns:a16="http://schemas.microsoft.com/office/drawing/2014/main" id="{6C0C0ECB-0FBD-8C60-8735-E095140A37C3}"/>
              </a:ext>
            </a:extLst>
          </p:cNvPr>
          <p:cNvSpPr/>
          <p:nvPr/>
        </p:nvSpPr>
        <p:spPr>
          <a:xfrm>
            <a:off x="982761" y="3153944"/>
            <a:ext cx="10229850" cy="1276350"/>
          </a:xfrm>
          <a:prstGeom prst="parallelogram">
            <a:avLst>
              <a:gd name="adj" fmla="val 113806"/>
            </a:avLst>
          </a:prstGeom>
          <a:solidFill>
            <a:srgbClr val="FFE4D9"/>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solidFill>
                <a:srgbClr val="FFE4D9"/>
              </a:solidFill>
            </a:endParaRPr>
          </a:p>
        </p:txBody>
      </p:sp>
      <p:sp>
        <p:nvSpPr>
          <p:cNvPr id="13" name="TextBox 12">
            <a:extLst>
              <a:ext uri="{FF2B5EF4-FFF2-40B4-BE49-F238E27FC236}">
                <a16:creationId xmlns:a16="http://schemas.microsoft.com/office/drawing/2014/main" id="{55A43240-0EA6-2C8C-5B79-4048516FA646}"/>
              </a:ext>
            </a:extLst>
          </p:cNvPr>
          <p:cNvSpPr txBox="1"/>
          <p:nvPr/>
        </p:nvSpPr>
        <p:spPr>
          <a:xfrm>
            <a:off x="1218930" y="4122517"/>
            <a:ext cx="1693092"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14" name="Parallelogram 13">
            <a:extLst>
              <a:ext uri="{FF2B5EF4-FFF2-40B4-BE49-F238E27FC236}">
                <a16:creationId xmlns:a16="http://schemas.microsoft.com/office/drawing/2014/main" id="{E284C057-B608-D5D6-75DF-A0F92DF7B9A2}"/>
              </a:ext>
            </a:extLst>
          </p:cNvPr>
          <p:cNvSpPr/>
          <p:nvPr/>
        </p:nvSpPr>
        <p:spPr>
          <a:xfrm>
            <a:off x="982761" y="4673600"/>
            <a:ext cx="10229850" cy="1276350"/>
          </a:xfrm>
          <a:prstGeom prst="parallelogram">
            <a:avLst>
              <a:gd name="adj" fmla="val 113806"/>
            </a:avLst>
          </a:prstGeom>
          <a:solidFill>
            <a:schemeClr val="accent4">
              <a:lumMod val="20000"/>
              <a:lumOff val="8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AE6BE736-F9BC-DB69-EFF9-C6D21A1F1B87}"/>
              </a:ext>
            </a:extLst>
          </p:cNvPr>
          <p:cNvSpPr txBox="1"/>
          <p:nvPr/>
        </p:nvSpPr>
        <p:spPr>
          <a:xfrm>
            <a:off x="1258204" y="5642173"/>
            <a:ext cx="1529586"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4"/>
                </a:solidFill>
              </a:rPr>
              <a:t>Dataset Columns</a:t>
            </a:r>
            <a:endParaRPr lang="en-NL" sz="1400" dirty="0">
              <a:solidFill>
                <a:schemeClr val="accent4"/>
              </a:solidFill>
            </a:endParaRPr>
          </a:p>
        </p:txBody>
      </p:sp>
      <p:sp>
        <p:nvSpPr>
          <p:cNvPr id="16" name="Parallelogram 15">
            <a:extLst>
              <a:ext uri="{FF2B5EF4-FFF2-40B4-BE49-F238E27FC236}">
                <a16:creationId xmlns:a16="http://schemas.microsoft.com/office/drawing/2014/main" id="{06B11F08-AC55-80D5-5D7C-E745CDFB9844}"/>
              </a:ext>
            </a:extLst>
          </p:cNvPr>
          <p:cNvSpPr/>
          <p:nvPr/>
        </p:nvSpPr>
        <p:spPr>
          <a:xfrm>
            <a:off x="982761" y="1634289"/>
            <a:ext cx="10229850" cy="1276350"/>
          </a:xfrm>
          <a:prstGeom prst="parallelogram">
            <a:avLst>
              <a:gd name="adj" fmla="val 113806"/>
            </a:avLst>
          </a:prstGeom>
          <a:solidFill>
            <a:schemeClr val="accent1">
              <a:lumMod val="20000"/>
              <a:lumOff val="80000"/>
              <a:alpha val="95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7" name="TextBox 16">
            <a:extLst>
              <a:ext uri="{FF2B5EF4-FFF2-40B4-BE49-F238E27FC236}">
                <a16:creationId xmlns:a16="http://schemas.microsoft.com/office/drawing/2014/main" id="{A2B711E7-DE11-A871-3788-E96E7BB445EE}"/>
              </a:ext>
            </a:extLst>
          </p:cNvPr>
          <p:cNvSpPr txBox="1"/>
          <p:nvPr/>
        </p:nvSpPr>
        <p:spPr>
          <a:xfrm>
            <a:off x="1352455" y="2602861"/>
            <a:ext cx="954107"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tx2">
                    <a:lumMod val="90000"/>
                    <a:lumOff val="10000"/>
                  </a:schemeClr>
                </a:solidFill>
              </a:rPr>
              <a:t>Meanings</a:t>
            </a:r>
            <a:endParaRPr lang="en-NL" sz="1400" dirty="0">
              <a:solidFill>
                <a:schemeClr val="tx2">
                  <a:lumMod val="90000"/>
                  <a:lumOff val="10000"/>
                </a:schemeClr>
              </a:solidFill>
            </a:endParaRPr>
          </a:p>
        </p:txBody>
      </p:sp>
      <p:cxnSp>
        <p:nvCxnSpPr>
          <p:cNvPr id="18" name="Straight Connector 17">
            <a:extLst>
              <a:ext uri="{FF2B5EF4-FFF2-40B4-BE49-F238E27FC236}">
                <a16:creationId xmlns:a16="http://schemas.microsoft.com/office/drawing/2014/main" id="{081D7EC1-387E-50FB-7A9B-6BB4064A774E}"/>
              </a:ext>
            </a:extLst>
          </p:cNvPr>
          <p:cNvCxnSpPr/>
          <p:nvPr/>
        </p:nvCxnSpPr>
        <p:spPr>
          <a:xfrm>
            <a:off x="982760" y="2939214"/>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A8F2D0F7-8D5D-210A-D60A-A241429E82E2}"/>
              </a:ext>
            </a:extLst>
          </p:cNvPr>
          <p:cNvCxnSpPr/>
          <p:nvPr/>
        </p:nvCxnSpPr>
        <p:spPr>
          <a:xfrm>
            <a:off x="11210279" y="1662864"/>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B89400E4-2D81-A5CB-BF6D-4E14E80EB7A2}"/>
              </a:ext>
            </a:extLst>
          </p:cNvPr>
          <p:cNvCxnSpPr/>
          <p:nvPr/>
        </p:nvCxnSpPr>
        <p:spPr>
          <a:xfrm>
            <a:off x="9762478" y="2939214"/>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ACA53883-BE6B-1D9F-628F-64DE5557D369}"/>
              </a:ext>
            </a:extLst>
          </p:cNvPr>
          <p:cNvSpPr txBox="1"/>
          <p:nvPr/>
        </p:nvSpPr>
        <p:spPr>
          <a:xfrm rot="18900000">
            <a:off x="2656871" y="1865401"/>
            <a:ext cx="719364" cy="276999"/>
          </a:xfrm>
          <a:prstGeom prst="rect">
            <a:avLst/>
          </a:prstGeom>
          <a:noFill/>
        </p:spPr>
        <p:txBody>
          <a:bodyPr wrap="none" rtlCol="0" anchor="ctr">
            <a:spAutoFit/>
          </a:bodyPr>
          <a:lstStyle/>
          <a:p>
            <a:pPr algn="ctr"/>
            <a:r>
              <a:rPr lang="en-US" sz="1200" dirty="0" err="1"/>
              <a:t>hrio:Sex</a:t>
            </a:r>
            <a:endParaRPr lang="en-NL" sz="1200" dirty="0"/>
          </a:p>
        </p:txBody>
      </p:sp>
      <p:sp>
        <p:nvSpPr>
          <p:cNvPr id="23" name="TextBox 22">
            <a:extLst>
              <a:ext uri="{FF2B5EF4-FFF2-40B4-BE49-F238E27FC236}">
                <a16:creationId xmlns:a16="http://schemas.microsoft.com/office/drawing/2014/main" id="{634D1626-43AC-EB32-4454-25C1D6CA3089}"/>
              </a:ext>
            </a:extLst>
          </p:cNvPr>
          <p:cNvSpPr txBox="1"/>
          <p:nvPr/>
        </p:nvSpPr>
        <p:spPr>
          <a:xfrm rot="18900000">
            <a:off x="2242007" y="3407260"/>
            <a:ext cx="1476174" cy="307777"/>
          </a:xfrm>
          <a:prstGeom prst="rect">
            <a:avLst/>
          </a:prstGeom>
          <a:noFill/>
        </p:spPr>
        <p:txBody>
          <a:bodyPr wrap="square" anchor="ctr">
            <a:spAutoFit/>
          </a:bodyPr>
          <a:lstStyle/>
          <a:p>
            <a:pPr algn="ctr"/>
            <a:r>
              <a:rPr lang="en-NL" sz="1400" dirty="0" err="1"/>
              <a:t>care-sm:Sex</a:t>
            </a:r>
            <a:endParaRPr lang="en-NL" sz="1400" dirty="0"/>
          </a:p>
        </p:txBody>
      </p:sp>
      <p:sp>
        <p:nvSpPr>
          <p:cNvPr id="25" name="TextBox 24">
            <a:extLst>
              <a:ext uri="{FF2B5EF4-FFF2-40B4-BE49-F238E27FC236}">
                <a16:creationId xmlns:a16="http://schemas.microsoft.com/office/drawing/2014/main" id="{D8CA3C89-140B-AF52-0D64-E7D4D3534D4C}"/>
              </a:ext>
            </a:extLst>
          </p:cNvPr>
          <p:cNvSpPr txBox="1"/>
          <p:nvPr/>
        </p:nvSpPr>
        <p:spPr>
          <a:xfrm>
            <a:off x="7259527" y="3814059"/>
            <a:ext cx="2964209" cy="276999"/>
          </a:xfrm>
          <a:prstGeom prst="rect">
            <a:avLst/>
          </a:prstGeom>
          <a:noFill/>
        </p:spPr>
        <p:txBody>
          <a:bodyPr wrap="none" rtlCol="0" anchor="ctr">
            <a:spAutoFit/>
          </a:bodyPr>
          <a:lstStyle>
            <a:defPPr>
              <a:defRPr lang="en-US"/>
            </a:defPPr>
            <a:lvl1pPr algn="ctr">
              <a:defRPr sz="1400"/>
            </a:lvl1pPr>
          </a:lstStyle>
          <a:p>
            <a:r>
              <a:rPr lang="en-NL" sz="1200" dirty="0"/>
              <a:t>hri-fhir-r5:individual-gender-identity/value</a:t>
            </a:r>
          </a:p>
        </p:txBody>
      </p:sp>
      <p:sp>
        <p:nvSpPr>
          <p:cNvPr id="26" name="TextBox 25">
            <a:extLst>
              <a:ext uri="{FF2B5EF4-FFF2-40B4-BE49-F238E27FC236}">
                <a16:creationId xmlns:a16="http://schemas.microsoft.com/office/drawing/2014/main" id="{DF60B7FD-9842-A934-50BB-D0AF11F6DAB3}"/>
              </a:ext>
            </a:extLst>
          </p:cNvPr>
          <p:cNvSpPr txBox="1"/>
          <p:nvPr/>
        </p:nvSpPr>
        <p:spPr>
          <a:xfrm rot="18900000">
            <a:off x="2073489" y="4927054"/>
            <a:ext cx="1419235" cy="461665"/>
          </a:xfrm>
          <a:prstGeom prst="rect">
            <a:avLst/>
          </a:prstGeom>
          <a:noFill/>
        </p:spPr>
        <p:txBody>
          <a:bodyPr wrap="none" rtlCol="0" anchor="ctr">
            <a:spAutoFit/>
          </a:bodyPr>
          <a:lstStyle>
            <a:defPPr>
              <a:defRPr lang="en-US"/>
            </a:defPPr>
            <a:lvl1pPr algn="ctr">
              <a:defRPr sz="1400"/>
            </a:lvl1pPr>
          </a:lstStyle>
          <a:p>
            <a:r>
              <a:rPr lang="en-US" sz="1200" dirty="0"/>
              <a:t>BRP Demographic </a:t>
            </a:r>
          </a:p>
          <a:p>
            <a:r>
              <a:rPr lang="en-US" sz="1200" dirty="0"/>
              <a:t>Extract</a:t>
            </a:r>
            <a:endParaRPr lang="en-NL" sz="1200" dirty="0"/>
          </a:p>
        </p:txBody>
      </p:sp>
      <p:sp>
        <p:nvSpPr>
          <p:cNvPr id="29" name="Oval 28">
            <a:extLst>
              <a:ext uri="{FF2B5EF4-FFF2-40B4-BE49-F238E27FC236}">
                <a16:creationId xmlns:a16="http://schemas.microsoft.com/office/drawing/2014/main" id="{9184CF45-8403-5928-3357-DDE0643CBDB9}"/>
              </a:ext>
            </a:extLst>
          </p:cNvPr>
          <p:cNvSpPr/>
          <p:nvPr/>
        </p:nvSpPr>
        <p:spPr>
          <a:xfrm>
            <a:off x="3060682" y="3587332"/>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endParaRPr lang="en-NL" dirty="0"/>
          </a:p>
        </p:txBody>
      </p:sp>
      <p:sp>
        <p:nvSpPr>
          <p:cNvPr id="30" name="Oval 29">
            <a:extLst>
              <a:ext uri="{FF2B5EF4-FFF2-40B4-BE49-F238E27FC236}">
                <a16:creationId xmlns:a16="http://schemas.microsoft.com/office/drawing/2014/main" id="{DFA7BB60-3507-646E-C0E4-BB97F178D5F2}"/>
              </a:ext>
            </a:extLst>
          </p:cNvPr>
          <p:cNvSpPr/>
          <p:nvPr/>
        </p:nvSpPr>
        <p:spPr>
          <a:xfrm>
            <a:off x="3054087" y="2067677"/>
            <a:ext cx="409575" cy="409575"/>
          </a:xfrm>
          <a:prstGeom prst="ellipse">
            <a:avLst/>
          </a:prstGeom>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NL" sz="1700" dirty="0"/>
          </a:p>
        </p:txBody>
      </p:sp>
      <p:sp>
        <p:nvSpPr>
          <p:cNvPr id="32" name="Oval 31">
            <a:extLst>
              <a:ext uri="{FF2B5EF4-FFF2-40B4-BE49-F238E27FC236}">
                <a16:creationId xmlns:a16="http://schemas.microsoft.com/office/drawing/2014/main" id="{11C5C0F5-DBF1-D994-C014-CAE5267ED3AE}"/>
              </a:ext>
            </a:extLst>
          </p:cNvPr>
          <p:cNvSpPr/>
          <p:nvPr/>
        </p:nvSpPr>
        <p:spPr>
          <a:xfrm>
            <a:off x="5930941" y="3587332"/>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endParaRPr lang="en-NL" dirty="0"/>
          </a:p>
        </p:txBody>
      </p:sp>
      <p:sp>
        <p:nvSpPr>
          <p:cNvPr id="33" name="Oval 32">
            <a:extLst>
              <a:ext uri="{FF2B5EF4-FFF2-40B4-BE49-F238E27FC236}">
                <a16:creationId xmlns:a16="http://schemas.microsoft.com/office/drawing/2014/main" id="{D90D2030-773A-A819-3E12-C9978FF9F6E2}"/>
              </a:ext>
            </a:extLst>
          </p:cNvPr>
          <p:cNvSpPr/>
          <p:nvPr/>
        </p:nvSpPr>
        <p:spPr>
          <a:xfrm>
            <a:off x="3060682" y="5106988"/>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endParaRPr lang="en-NL" dirty="0"/>
          </a:p>
        </p:txBody>
      </p:sp>
      <p:sp>
        <p:nvSpPr>
          <p:cNvPr id="35" name="Oval 34">
            <a:extLst>
              <a:ext uri="{FF2B5EF4-FFF2-40B4-BE49-F238E27FC236}">
                <a16:creationId xmlns:a16="http://schemas.microsoft.com/office/drawing/2014/main" id="{21C74A8D-3A03-D4B9-120B-F42923866979}"/>
              </a:ext>
            </a:extLst>
          </p:cNvPr>
          <p:cNvSpPr/>
          <p:nvPr/>
        </p:nvSpPr>
        <p:spPr>
          <a:xfrm>
            <a:off x="5930941" y="5106988"/>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endParaRPr lang="en-NL" dirty="0"/>
          </a:p>
        </p:txBody>
      </p:sp>
      <p:sp>
        <p:nvSpPr>
          <p:cNvPr id="37" name="Oval 36">
            <a:extLst>
              <a:ext uri="{FF2B5EF4-FFF2-40B4-BE49-F238E27FC236}">
                <a16:creationId xmlns:a16="http://schemas.microsoft.com/office/drawing/2014/main" id="{616D000B-46FE-4684-3579-6A5E79FA4485}"/>
              </a:ext>
            </a:extLst>
          </p:cNvPr>
          <p:cNvSpPr/>
          <p:nvPr/>
        </p:nvSpPr>
        <p:spPr>
          <a:xfrm>
            <a:off x="5930941" y="2067677"/>
            <a:ext cx="409575" cy="409575"/>
          </a:xfrm>
          <a:prstGeom prst="ellipse">
            <a:avLst/>
          </a:prstGeom>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NL" sz="1700" dirty="0"/>
          </a:p>
        </p:txBody>
      </p:sp>
      <p:cxnSp>
        <p:nvCxnSpPr>
          <p:cNvPr id="38" name="Straight Arrow Connector 37">
            <a:extLst>
              <a:ext uri="{FF2B5EF4-FFF2-40B4-BE49-F238E27FC236}">
                <a16:creationId xmlns:a16="http://schemas.microsoft.com/office/drawing/2014/main" id="{5EB31633-4E28-D368-5085-70288CE6112F}"/>
              </a:ext>
            </a:extLst>
          </p:cNvPr>
          <p:cNvCxnSpPr>
            <a:cxnSpLocks/>
            <a:stCxn id="29" idx="0"/>
            <a:endCxn id="30" idx="4"/>
          </p:cNvCxnSpPr>
          <p:nvPr/>
        </p:nvCxnSpPr>
        <p:spPr>
          <a:xfrm flipH="1" flipV="1">
            <a:off x="3258875" y="2477252"/>
            <a:ext cx="6595" cy="1110080"/>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101712DD-DD14-5BE1-2400-465B7E4FB149}"/>
              </a:ext>
            </a:extLst>
          </p:cNvPr>
          <p:cNvCxnSpPr>
            <a:cxnSpLocks/>
            <a:stCxn id="33" idx="0"/>
            <a:endCxn id="29" idx="4"/>
          </p:cNvCxnSpPr>
          <p:nvPr/>
        </p:nvCxnSpPr>
        <p:spPr>
          <a:xfrm flipV="1">
            <a:off x="3265470" y="3996907"/>
            <a:ext cx="0" cy="1110081"/>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FD79430B-EFA1-AD0C-C211-C4D63A93CFFF}"/>
              </a:ext>
            </a:extLst>
          </p:cNvPr>
          <p:cNvCxnSpPr>
            <a:cxnSpLocks/>
            <a:stCxn id="32" idx="0"/>
            <a:endCxn id="37" idx="4"/>
          </p:cNvCxnSpPr>
          <p:nvPr/>
        </p:nvCxnSpPr>
        <p:spPr>
          <a:xfrm flipV="1">
            <a:off x="6135729" y="2477252"/>
            <a:ext cx="0" cy="1110080"/>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79D8BE2F-31A8-D0A2-5CA5-FAB67D149FAD}"/>
              </a:ext>
            </a:extLst>
          </p:cNvPr>
          <p:cNvCxnSpPr>
            <a:cxnSpLocks/>
            <a:stCxn id="35" idx="0"/>
            <a:endCxn id="32" idx="4"/>
          </p:cNvCxnSpPr>
          <p:nvPr/>
        </p:nvCxnSpPr>
        <p:spPr>
          <a:xfrm flipV="1">
            <a:off x="6135729" y="3996907"/>
            <a:ext cx="0" cy="1110081"/>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497515A1-FCAB-8139-D0E3-952F80B2142D}"/>
              </a:ext>
            </a:extLst>
          </p:cNvPr>
          <p:cNvSpPr txBox="1"/>
          <p:nvPr/>
        </p:nvSpPr>
        <p:spPr>
          <a:xfrm>
            <a:off x="7084986" y="3408697"/>
            <a:ext cx="731290" cy="369332"/>
          </a:xfrm>
          <a:prstGeom prst="rect">
            <a:avLst/>
          </a:prstGeom>
          <a:noFill/>
        </p:spPr>
        <p:txBody>
          <a:bodyPr wrap="none" rtlCol="0">
            <a:spAutoFit/>
          </a:bodyPr>
          <a:lstStyle/>
          <a:p>
            <a:r>
              <a:rPr lang="en-US" b="1" dirty="0"/>
              <a:t>input</a:t>
            </a:r>
            <a:endParaRPr lang="en-NL" b="1" dirty="0"/>
          </a:p>
        </p:txBody>
      </p:sp>
      <p:sp>
        <p:nvSpPr>
          <p:cNvPr id="48" name="TextBox 47">
            <a:extLst>
              <a:ext uri="{FF2B5EF4-FFF2-40B4-BE49-F238E27FC236}">
                <a16:creationId xmlns:a16="http://schemas.microsoft.com/office/drawing/2014/main" id="{31831BC0-8E11-9518-3A5E-560D11D29BE0}"/>
              </a:ext>
            </a:extLst>
          </p:cNvPr>
          <p:cNvSpPr txBox="1"/>
          <p:nvPr/>
        </p:nvSpPr>
        <p:spPr>
          <a:xfrm>
            <a:off x="6931097" y="1860860"/>
            <a:ext cx="885179" cy="369332"/>
          </a:xfrm>
          <a:prstGeom prst="rect">
            <a:avLst/>
          </a:prstGeom>
          <a:noFill/>
        </p:spPr>
        <p:txBody>
          <a:bodyPr wrap="none" rtlCol="0">
            <a:spAutoFit/>
          </a:bodyPr>
          <a:lstStyle/>
          <a:p>
            <a:r>
              <a:rPr lang="en-US" b="1" dirty="0"/>
              <a:t>output</a:t>
            </a:r>
            <a:endParaRPr lang="en-NL" b="1" dirty="0"/>
          </a:p>
        </p:txBody>
      </p:sp>
      <p:sp>
        <p:nvSpPr>
          <p:cNvPr id="52" name="TextBox 51">
            <a:extLst>
              <a:ext uri="{FF2B5EF4-FFF2-40B4-BE49-F238E27FC236}">
                <a16:creationId xmlns:a16="http://schemas.microsoft.com/office/drawing/2014/main" id="{460FF729-5B3F-2EA9-1806-32B1543CA91A}"/>
              </a:ext>
            </a:extLst>
          </p:cNvPr>
          <p:cNvSpPr txBox="1"/>
          <p:nvPr/>
        </p:nvSpPr>
        <p:spPr>
          <a:xfrm>
            <a:off x="7249479" y="2308241"/>
            <a:ext cx="1867819" cy="276999"/>
          </a:xfrm>
          <a:prstGeom prst="rect">
            <a:avLst/>
          </a:prstGeom>
          <a:noFill/>
        </p:spPr>
        <p:txBody>
          <a:bodyPr wrap="none" rtlCol="0" anchor="ctr">
            <a:spAutoFit/>
          </a:bodyPr>
          <a:lstStyle/>
          <a:p>
            <a:pPr algn="ctr"/>
            <a:r>
              <a:rPr lang="en-US" sz="1200" dirty="0" err="1"/>
              <a:t>hrio:SelfIdentifiedGender</a:t>
            </a:r>
            <a:endParaRPr lang="en-NL" sz="1200" dirty="0"/>
          </a:p>
        </p:txBody>
      </p:sp>
      <p:sp>
        <p:nvSpPr>
          <p:cNvPr id="21" name="Rectangle: Rounded Corners 20">
            <a:extLst>
              <a:ext uri="{FF2B5EF4-FFF2-40B4-BE49-F238E27FC236}">
                <a16:creationId xmlns:a16="http://schemas.microsoft.com/office/drawing/2014/main" id="{96EDCCC6-10BF-0597-DCED-ACE8FDB79544}"/>
              </a:ext>
            </a:extLst>
          </p:cNvPr>
          <p:cNvSpPr/>
          <p:nvPr/>
        </p:nvSpPr>
        <p:spPr>
          <a:xfrm>
            <a:off x="7528337" y="5090729"/>
            <a:ext cx="3968338" cy="852489"/>
          </a:xfrm>
          <a:prstGeom prst="roundRect">
            <a:avLst>
              <a:gd name="adj" fmla="val 327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1400" b="1" dirty="0"/>
              <a:t>Amir: </a:t>
            </a:r>
            <a:r>
              <a:rPr lang="en-US" sz="1400" i="1" dirty="0"/>
              <a:t>“What is the actual meaning of the column </a:t>
            </a:r>
          </a:p>
          <a:p>
            <a:pPr algn="r"/>
            <a:r>
              <a:rPr lang="en-US" sz="1400" i="1" dirty="0"/>
              <a:t>hi-fhir-r5:individual-gender-identity/value?”</a:t>
            </a:r>
            <a:endParaRPr lang="en-NL" sz="1400" dirty="0">
              <a:effectLst/>
            </a:endParaRPr>
          </a:p>
        </p:txBody>
      </p:sp>
      <p:cxnSp>
        <p:nvCxnSpPr>
          <p:cNvPr id="49" name="Straight Arrow Connector 48">
            <a:extLst>
              <a:ext uri="{FF2B5EF4-FFF2-40B4-BE49-F238E27FC236}">
                <a16:creationId xmlns:a16="http://schemas.microsoft.com/office/drawing/2014/main" id="{B376DF6E-4FC8-3B19-0763-68BC65F18318}"/>
              </a:ext>
            </a:extLst>
          </p:cNvPr>
          <p:cNvCxnSpPr>
            <a:cxnSpLocks/>
          </p:cNvCxnSpPr>
          <p:nvPr/>
        </p:nvCxnSpPr>
        <p:spPr>
          <a:xfrm>
            <a:off x="6505106" y="2262162"/>
            <a:ext cx="1217515" cy="0"/>
          </a:xfrm>
          <a:prstGeom prst="straightConnector1">
            <a:avLst/>
          </a:prstGeom>
          <a:ln w="66675">
            <a:solidFill>
              <a:schemeClr val="accent2"/>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69C2EF10-F780-3A2E-CB04-20B1FCB99790}"/>
              </a:ext>
            </a:extLst>
          </p:cNvPr>
          <p:cNvCxnSpPr>
            <a:cxnSpLocks/>
          </p:cNvCxnSpPr>
          <p:nvPr/>
        </p:nvCxnSpPr>
        <p:spPr>
          <a:xfrm flipH="1">
            <a:off x="6505106" y="3807994"/>
            <a:ext cx="1217515" cy="0"/>
          </a:xfrm>
          <a:prstGeom prst="straightConnector1">
            <a:avLst/>
          </a:prstGeom>
          <a:ln w="66675">
            <a:solidFill>
              <a:schemeClr val="accent2"/>
            </a:solidFill>
            <a:tailEnd type="triangle" w="med" len="lg"/>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D25C694D-6A0D-32DE-355F-9CEB818AC21A}"/>
              </a:ext>
            </a:extLst>
          </p:cNvPr>
          <p:cNvSpPr txBox="1"/>
          <p:nvPr/>
        </p:nvSpPr>
        <p:spPr>
          <a:xfrm rot="18900000">
            <a:off x="4586448" y="5075475"/>
            <a:ext cx="1884875" cy="461665"/>
          </a:xfrm>
          <a:prstGeom prst="rect">
            <a:avLst/>
          </a:prstGeom>
          <a:noFill/>
        </p:spPr>
        <p:txBody>
          <a:bodyPr wrap="none" rtlCol="0" anchor="ctr">
            <a:spAutoFit/>
          </a:bodyPr>
          <a:lstStyle>
            <a:defPPr>
              <a:defRPr lang="en-US"/>
            </a:defPPr>
            <a:lvl1pPr algn="ctr">
              <a:defRPr sz="1400"/>
            </a:lvl1pPr>
          </a:lstStyle>
          <a:p>
            <a:r>
              <a:rPr lang="en-US" sz="1200" dirty="0"/>
              <a:t>Amsterdam UMC Gender </a:t>
            </a:r>
            <a:endParaRPr lang="en-NL" sz="1200" dirty="0"/>
          </a:p>
          <a:p>
            <a:r>
              <a:rPr lang="en-US" sz="1200" dirty="0"/>
              <a:t>Identity Intake Extract</a:t>
            </a:r>
            <a:endParaRPr lang="en-NL" sz="1200" dirty="0"/>
          </a:p>
        </p:txBody>
      </p:sp>
      <p:cxnSp>
        <p:nvCxnSpPr>
          <p:cNvPr id="54" name="Connector: Curved 53">
            <a:extLst>
              <a:ext uri="{FF2B5EF4-FFF2-40B4-BE49-F238E27FC236}">
                <a16:creationId xmlns:a16="http://schemas.microsoft.com/office/drawing/2014/main" id="{0F9753DB-0704-7E06-044E-F1E4D509C49A}"/>
              </a:ext>
            </a:extLst>
          </p:cNvPr>
          <p:cNvCxnSpPr>
            <a:cxnSpLocks/>
            <a:stCxn id="30" idx="7"/>
            <a:endCxn id="37" idx="1"/>
          </p:cNvCxnSpPr>
          <p:nvPr/>
        </p:nvCxnSpPr>
        <p:spPr>
          <a:xfrm rot="5400000" flipH="1" flipV="1">
            <a:off x="4697301" y="834038"/>
            <a:ext cx="12700" cy="2587241"/>
          </a:xfrm>
          <a:prstGeom prst="curvedConnector3">
            <a:avLst>
              <a:gd name="adj1" fmla="val 2272291"/>
            </a:avLst>
          </a:prstGeom>
          <a:ln w="57150">
            <a:solidFill>
              <a:srgbClr val="E30614"/>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860D367D-2315-C2CB-7488-B517E3520A43}"/>
              </a:ext>
            </a:extLst>
          </p:cNvPr>
          <p:cNvSpPr txBox="1"/>
          <p:nvPr/>
        </p:nvSpPr>
        <p:spPr>
          <a:xfrm>
            <a:off x="3196451" y="1579015"/>
            <a:ext cx="2147511" cy="276999"/>
          </a:xfrm>
          <a:prstGeom prst="rect">
            <a:avLst/>
          </a:prstGeom>
          <a:noFill/>
        </p:spPr>
        <p:txBody>
          <a:bodyPr wrap="none" rtlCol="0">
            <a:spAutoFit/>
          </a:bodyPr>
          <a:lstStyle/>
          <a:p>
            <a:r>
              <a:rPr lang="en-US" sz="1200" dirty="0">
                <a:solidFill>
                  <a:schemeClr val="accent6"/>
                </a:solidFill>
              </a:rPr>
              <a:t>confirmed different meanings</a:t>
            </a:r>
            <a:endParaRPr lang="en-NL" sz="1200" dirty="0">
              <a:solidFill>
                <a:schemeClr val="accent6"/>
              </a:solidFill>
            </a:endParaRPr>
          </a:p>
        </p:txBody>
      </p:sp>
      <p:sp>
        <p:nvSpPr>
          <p:cNvPr id="44" name="Rectangle: Rounded Corners 43">
            <a:extLst>
              <a:ext uri="{FF2B5EF4-FFF2-40B4-BE49-F238E27FC236}">
                <a16:creationId xmlns:a16="http://schemas.microsoft.com/office/drawing/2014/main" id="{9AAE850B-796E-C0E0-07B9-E634F50D62B4}"/>
              </a:ext>
            </a:extLst>
          </p:cNvPr>
          <p:cNvSpPr/>
          <p:nvPr/>
        </p:nvSpPr>
        <p:spPr>
          <a:xfrm>
            <a:off x="5346293" y="1740787"/>
            <a:ext cx="1602378" cy="4102663"/>
          </a:xfrm>
          <a:prstGeom prst="roundRect">
            <a:avLst/>
          </a:prstGeom>
          <a:solidFill>
            <a:schemeClr val="accent3">
              <a:lumMod val="20000"/>
              <a:lumOff val="80000"/>
              <a:alpha val="5000"/>
            </a:schemeClr>
          </a:solidFill>
          <a:ln w="76200">
            <a:solidFill>
              <a:srgbClr val="00B050"/>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91481991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CE88E3-D049-8046-2CCA-CF597E1D4E13}"/>
              </a:ext>
            </a:extLst>
          </p:cNvPr>
          <p:cNvSpPr>
            <a:spLocks noGrp="1"/>
          </p:cNvSpPr>
          <p:nvPr>
            <p:ph type="title"/>
          </p:nvPr>
        </p:nvSpPr>
        <p:spPr/>
        <p:txBody>
          <a:bodyPr/>
          <a:lstStyle/>
          <a:p>
            <a:r>
              <a:rPr lang="en-US" dirty="0"/>
              <a:t>Scenario 3 — Retrieve the Ontology Meanings of a Selected Concept</a:t>
            </a:r>
            <a:endParaRPr lang="en-NL" dirty="0"/>
          </a:p>
        </p:txBody>
      </p:sp>
      <p:sp>
        <p:nvSpPr>
          <p:cNvPr id="3" name="Content Placeholder 2">
            <a:extLst>
              <a:ext uri="{FF2B5EF4-FFF2-40B4-BE49-F238E27FC236}">
                <a16:creationId xmlns:a16="http://schemas.microsoft.com/office/drawing/2014/main" id="{134AFC7D-F852-A590-0260-238D454B373E}"/>
              </a:ext>
            </a:extLst>
          </p:cNvPr>
          <p:cNvSpPr>
            <a:spLocks noGrp="1"/>
          </p:cNvSpPr>
          <p:nvPr>
            <p:ph idx="1"/>
          </p:nvPr>
        </p:nvSpPr>
        <p:spPr/>
        <p:txBody>
          <a:bodyPr>
            <a:normAutofit fontScale="92500" lnSpcReduction="10000"/>
          </a:bodyPr>
          <a:lstStyle/>
          <a:p>
            <a:pPr indent="0">
              <a:lnSpc>
                <a:spcPct val="120000"/>
              </a:lnSpc>
              <a:spcBef>
                <a:spcPts val="0"/>
              </a:spcBef>
              <a:spcAft>
                <a:spcPts val="300"/>
              </a:spcAft>
              <a:buNone/>
            </a:pPr>
            <a:r>
              <a:rPr lang="en-US" sz="1600" dirty="0">
                <a:latin typeface="Courier New" panose="02070309020205020404" pitchFamily="49" charset="0"/>
                <a:cs typeface="Courier New" panose="02070309020205020404" pitchFamily="49" charset="0"/>
              </a:rPr>
              <a:t>PREFIX hri-fhir-r5: &lt;https://data.health-ri.nl/id/fhir-r5/&gt;</a:t>
            </a:r>
          </a:p>
          <a:p>
            <a:pPr indent="0">
              <a:lnSpc>
                <a:spcPct val="120000"/>
              </a:lnSpc>
              <a:spcBef>
                <a:spcPts val="0"/>
              </a:spcBef>
              <a:spcAft>
                <a:spcPts val="300"/>
              </a:spcAft>
              <a:buNone/>
            </a:pPr>
            <a:endParaRPr lang="en-US" sz="1600" dirty="0">
              <a:latin typeface="Courier New" panose="02070309020205020404" pitchFamily="49" charset="0"/>
              <a:cs typeface="Courier New" panose="02070309020205020404" pitchFamily="49" charset="0"/>
            </a:endParaRPr>
          </a:p>
          <a:p>
            <a:pPr indent="0">
              <a:lnSpc>
                <a:spcPct val="120000"/>
              </a:lnSpc>
              <a:spcBef>
                <a:spcPts val="0"/>
              </a:spcBef>
              <a:spcAft>
                <a:spcPts val="300"/>
              </a:spcAft>
              <a:buNone/>
            </a:pPr>
            <a:r>
              <a:rPr lang="en-US" sz="1600" dirty="0">
                <a:latin typeface="Courier New" panose="02070309020205020404" pitchFamily="49" charset="0"/>
                <a:cs typeface="Courier New" panose="02070309020205020404" pitchFamily="49" charset="0"/>
              </a:rPr>
              <a:t>SELECT DISTINCT   ?</a:t>
            </a:r>
            <a:r>
              <a:rPr lang="en-US" sz="1600" dirty="0" err="1">
                <a:latin typeface="Courier New" panose="02070309020205020404" pitchFamily="49" charset="0"/>
                <a:cs typeface="Courier New" panose="02070309020205020404" pitchFamily="49" charset="0"/>
              </a:rPr>
              <a:t>ontologyConcept</a:t>
            </a:r>
            <a:r>
              <a:rPr lang="en-US" sz="1600" dirty="0">
                <a:latin typeface="Courier New" panose="02070309020205020404" pitchFamily="49" charset="0"/>
                <a:cs typeface="Courier New" panose="02070309020205020404" pitchFamily="49" charset="0"/>
              </a:rPr>
              <a:t>  ?polarity</a:t>
            </a:r>
          </a:p>
          <a:p>
            <a:pPr indent="0">
              <a:lnSpc>
                <a:spcPct val="120000"/>
              </a:lnSpc>
              <a:spcBef>
                <a:spcPts val="0"/>
              </a:spcBef>
              <a:spcAft>
                <a:spcPts val="300"/>
              </a:spcAft>
              <a:buNone/>
            </a:pPr>
            <a:r>
              <a:rPr lang="en-US" sz="1600" dirty="0">
                <a:latin typeface="Courier New" panose="02070309020205020404" pitchFamily="49" charset="0"/>
                <a:cs typeface="Courier New" panose="02070309020205020404" pitchFamily="49" charset="0"/>
              </a:rPr>
              <a:t>WHERE {</a:t>
            </a:r>
          </a:p>
          <a:p>
            <a:pPr indent="0">
              <a:lnSpc>
                <a:spcPct val="120000"/>
              </a:lnSpc>
              <a:spcBef>
                <a:spcPts val="0"/>
              </a:spcBef>
              <a:spcAft>
                <a:spcPts val="300"/>
              </a:spcAft>
              <a:buNone/>
            </a:pPr>
            <a:r>
              <a:rPr lang="en-US" sz="1600" dirty="0">
                <a:latin typeface="Courier New" panose="02070309020205020404" pitchFamily="49" charset="0"/>
                <a:cs typeface="Courier New" panose="02070309020205020404" pitchFamily="49" charset="0"/>
              </a:rPr>
              <a:t>  VALUES ?</a:t>
            </a:r>
            <a:r>
              <a:rPr lang="en-US" sz="1600" dirty="0" err="1">
                <a:latin typeface="Courier New" panose="02070309020205020404" pitchFamily="49" charset="0"/>
                <a:cs typeface="Courier New" panose="02070309020205020404" pitchFamily="49" charset="0"/>
              </a:rPr>
              <a:t>focusConcept</a:t>
            </a:r>
            <a:r>
              <a:rPr lang="en-US" sz="1600" dirty="0">
                <a:latin typeface="Courier New" panose="02070309020205020404" pitchFamily="49" charset="0"/>
                <a:cs typeface="Courier New" panose="02070309020205020404" pitchFamily="49" charset="0"/>
              </a:rPr>
              <a:t> { </a:t>
            </a:r>
            <a:r>
              <a:rPr lang="en-US" sz="1600" b="1" dirty="0">
                <a:latin typeface="Courier New" panose="02070309020205020404" pitchFamily="49" charset="0"/>
                <a:cs typeface="Courier New" panose="02070309020205020404" pitchFamily="49" charset="0"/>
              </a:rPr>
              <a:t>hri-fhir-r5:individual-gender-identity/value</a:t>
            </a:r>
            <a:r>
              <a:rPr lang="en-US" sz="1600" dirty="0">
                <a:latin typeface="Courier New" panose="02070309020205020404" pitchFamily="49" charset="0"/>
                <a:cs typeface="Courier New" panose="02070309020205020404" pitchFamily="49" charset="0"/>
              </a:rPr>
              <a:t> }</a:t>
            </a:r>
          </a:p>
          <a:p>
            <a:pPr indent="0">
              <a:lnSpc>
                <a:spcPct val="120000"/>
              </a:lnSpc>
              <a:spcBef>
                <a:spcPts val="0"/>
              </a:spcBef>
              <a:spcAft>
                <a:spcPts val="300"/>
              </a:spcAft>
              <a:buNone/>
            </a:pPr>
            <a:endParaRPr lang="en-US" sz="1600" dirty="0">
              <a:latin typeface="Courier New" panose="02070309020205020404" pitchFamily="49" charset="0"/>
              <a:cs typeface="Courier New" panose="02070309020205020404" pitchFamily="49" charset="0"/>
            </a:endParaRPr>
          </a:p>
          <a:p>
            <a:pPr indent="0">
              <a:lnSpc>
                <a:spcPct val="120000"/>
              </a:lnSpc>
              <a:spcBef>
                <a:spcPts val="0"/>
              </a:spcBef>
              <a:spcAft>
                <a:spcPts val="300"/>
              </a:spcAft>
              <a:buNone/>
            </a:pPr>
            <a:r>
              <a:rPr lang="en-US" sz="1600" dirty="0">
                <a:latin typeface="Courier New" panose="02070309020205020404" pitchFamily="49" charset="0"/>
                <a:cs typeface="Courier New" panose="02070309020205020404" pitchFamily="49" charset="0"/>
              </a:rPr>
              <a:t>  ?mapping a </a:t>
            </a:r>
            <a:r>
              <a:rPr lang="en-US" sz="1600" dirty="0" err="1">
                <a:latin typeface="Courier New" panose="02070309020205020404" pitchFamily="49" charset="0"/>
                <a:cs typeface="Courier New" panose="02070309020205020404" pitchFamily="49" charset="0"/>
              </a:rPr>
              <a:t>demo:Mapping</a:t>
            </a:r>
            <a:r>
              <a:rPr lang="en-US" sz="1600" dirty="0">
                <a:latin typeface="Courier New" panose="02070309020205020404" pitchFamily="49" charset="0"/>
                <a:cs typeface="Courier New" panose="02070309020205020404" pitchFamily="49" charset="0"/>
              </a:rPr>
              <a:t> ;</a:t>
            </a:r>
          </a:p>
          <a:p>
            <a:pPr indent="0">
              <a:lnSpc>
                <a:spcPct val="120000"/>
              </a:lnSpc>
              <a:spcBef>
                <a:spcPts val="0"/>
              </a:spcBef>
              <a:spcAft>
                <a:spcPts val="300"/>
              </a:spcAft>
              <a:buNone/>
            </a:pPr>
            <a:r>
              <a:rPr lang="en-US" sz="1600" dirty="0">
                <a:latin typeface="Courier New" panose="02070309020205020404" pitchFamily="49" charset="0"/>
                <a:cs typeface="Courier New" panose="02070309020205020404" pitchFamily="49" charset="0"/>
              </a:rPr>
              <a:t>           </a:t>
            </a:r>
            <a:r>
              <a:rPr lang="en-US" sz="1600" dirty="0" err="1">
                <a:latin typeface="Courier New" panose="02070309020205020404" pitchFamily="49" charset="0"/>
                <a:cs typeface="Courier New" panose="02070309020205020404" pitchFamily="49" charset="0"/>
              </a:rPr>
              <a:t>demo:hasMappingSource</a:t>
            </a:r>
            <a:r>
              <a:rPr lang="en-US" sz="1600" dirty="0">
                <a:latin typeface="Courier New" panose="02070309020205020404" pitchFamily="49" charset="0"/>
                <a:cs typeface="Courier New" panose="02070309020205020404" pitchFamily="49" charset="0"/>
              </a:rPr>
              <a:t> ?</a:t>
            </a:r>
            <a:r>
              <a:rPr lang="en-US" sz="1600" dirty="0" err="1">
                <a:latin typeface="Courier New" panose="02070309020205020404" pitchFamily="49" charset="0"/>
                <a:cs typeface="Courier New" panose="02070309020205020404" pitchFamily="49" charset="0"/>
              </a:rPr>
              <a:t>focusConcept</a:t>
            </a:r>
            <a:r>
              <a:rPr lang="en-US" sz="1600" dirty="0">
                <a:latin typeface="Courier New" panose="02070309020205020404" pitchFamily="49" charset="0"/>
                <a:cs typeface="Courier New" panose="02070309020205020404" pitchFamily="49" charset="0"/>
              </a:rPr>
              <a:t> ;</a:t>
            </a:r>
          </a:p>
          <a:p>
            <a:pPr indent="0">
              <a:lnSpc>
                <a:spcPct val="120000"/>
              </a:lnSpc>
              <a:spcBef>
                <a:spcPts val="0"/>
              </a:spcBef>
              <a:spcAft>
                <a:spcPts val="300"/>
              </a:spcAft>
              <a:buNone/>
            </a:pPr>
            <a:r>
              <a:rPr lang="en-US" sz="1600" dirty="0">
                <a:latin typeface="Courier New" panose="02070309020205020404" pitchFamily="49" charset="0"/>
                <a:cs typeface="Courier New" panose="02070309020205020404" pitchFamily="49" charset="0"/>
              </a:rPr>
              <a:t>           </a:t>
            </a:r>
            <a:r>
              <a:rPr lang="en-US" sz="1600" dirty="0" err="1">
                <a:latin typeface="Courier New" panose="02070309020205020404" pitchFamily="49" charset="0"/>
                <a:cs typeface="Courier New" panose="02070309020205020404" pitchFamily="49" charset="0"/>
              </a:rPr>
              <a:t>demo:hasTargetOntologyConcept</a:t>
            </a:r>
            <a:r>
              <a:rPr lang="en-US" sz="1600" dirty="0">
                <a:latin typeface="Courier New" panose="02070309020205020404" pitchFamily="49" charset="0"/>
                <a:cs typeface="Courier New" panose="02070309020205020404" pitchFamily="49" charset="0"/>
              </a:rPr>
              <a:t> ?</a:t>
            </a:r>
            <a:r>
              <a:rPr lang="en-US" sz="1600" dirty="0" err="1">
                <a:latin typeface="Courier New" panose="02070309020205020404" pitchFamily="49" charset="0"/>
                <a:cs typeface="Courier New" panose="02070309020205020404" pitchFamily="49" charset="0"/>
              </a:rPr>
              <a:t>ontologyConcept</a:t>
            </a:r>
            <a:r>
              <a:rPr lang="en-US" sz="1600" dirty="0">
                <a:latin typeface="Courier New" panose="02070309020205020404" pitchFamily="49" charset="0"/>
                <a:cs typeface="Courier New" panose="02070309020205020404" pitchFamily="49" charset="0"/>
              </a:rPr>
              <a:t> ;</a:t>
            </a:r>
          </a:p>
          <a:p>
            <a:pPr indent="0">
              <a:lnSpc>
                <a:spcPct val="120000"/>
              </a:lnSpc>
              <a:spcBef>
                <a:spcPts val="0"/>
              </a:spcBef>
              <a:spcAft>
                <a:spcPts val="300"/>
              </a:spcAft>
              <a:buNone/>
            </a:pPr>
            <a:r>
              <a:rPr lang="en-US" sz="1600" dirty="0">
                <a:latin typeface="Courier New" panose="02070309020205020404" pitchFamily="49" charset="0"/>
                <a:cs typeface="Courier New" panose="02070309020205020404" pitchFamily="49" charset="0"/>
              </a:rPr>
              <a:t>           </a:t>
            </a:r>
            <a:r>
              <a:rPr lang="en-US" sz="1600" dirty="0" err="1">
                <a:latin typeface="Courier New" panose="02070309020205020404" pitchFamily="49" charset="0"/>
                <a:cs typeface="Courier New" panose="02070309020205020404" pitchFamily="49" charset="0"/>
              </a:rPr>
              <a:t>demo:hasPolarity</a:t>
            </a:r>
            <a:r>
              <a:rPr lang="en-US" sz="1600" dirty="0">
                <a:latin typeface="Courier New" panose="02070309020205020404" pitchFamily="49" charset="0"/>
                <a:cs typeface="Courier New" panose="02070309020205020404" pitchFamily="49" charset="0"/>
              </a:rPr>
              <a:t> ?polarity .</a:t>
            </a:r>
          </a:p>
          <a:p>
            <a:pPr indent="0">
              <a:lnSpc>
                <a:spcPct val="120000"/>
              </a:lnSpc>
              <a:spcBef>
                <a:spcPts val="0"/>
              </a:spcBef>
              <a:spcAft>
                <a:spcPts val="300"/>
              </a:spcAft>
              <a:buNone/>
            </a:pPr>
            <a:endParaRPr lang="en-US" sz="1600" dirty="0">
              <a:latin typeface="Courier New" panose="02070309020205020404" pitchFamily="49" charset="0"/>
              <a:cs typeface="Courier New" panose="02070309020205020404" pitchFamily="49" charset="0"/>
            </a:endParaRPr>
          </a:p>
          <a:p>
            <a:pPr indent="0">
              <a:lnSpc>
                <a:spcPct val="120000"/>
              </a:lnSpc>
              <a:spcBef>
                <a:spcPts val="0"/>
              </a:spcBef>
              <a:spcAft>
                <a:spcPts val="300"/>
              </a:spcAft>
              <a:buNone/>
            </a:pPr>
            <a:r>
              <a:rPr lang="en-US" sz="1600" dirty="0">
                <a:latin typeface="Courier New" panose="02070309020205020404" pitchFamily="49" charset="0"/>
                <a:cs typeface="Courier New" panose="02070309020205020404" pitchFamily="49" charset="0"/>
              </a:rPr>
              <a:t>  VALUES ?polarity { </a:t>
            </a:r>
            <a:r>
              <a:rPr lang="en-US" sz="1600" dirty="0" err="1">
                <a:latin typeface="Courier New" panose="02070309020205020404" pitchFamily="49" charset="0"/>
                <a:cs typeface="Courier New" panose="02070309020205020404" pitchFamily="49" charset="0"/>
              </a:rPr>
              <a:t>demo:positive</a:t>
            </a:r>
            <a:r>
              <a:rPr lang="en-US" sz="1600" dirty="0">
                <a:latin typeface="Courier New" panose="02070309020205020404" pitchFamily="49" charset="0"/>
                <a:cs typeface="Courier New" panose="02070309020205020404" pitchFamily="49" charset="0"/>
              </a:rPr>
              <a:t> </a:t>
            </a:r>
            <a:r>
              <a:rPr lang="en-US" sz="1600" dirty="0" err="1">
                <a:latin typeface="Courier New" panose="02070309020205020404" pitchFamily="49" charset="0"/>
                <a:cs typeface="Courier New" panose="02070309020205020404" pitchFamily="49" charset="0"/>
              </a:rPr>
              <a:t>demo:negative</a:t>
            </a:r>
            <a:r>
              <a:rPr lang="en-US" sz="1600" dirty="0">
                <a:latin typeface="Courier New" panose="02070309020205020404" pitchFamily="49" charset="0"/>
                <a:cs typeface="Courier New" panose="02070309020205020404" pitchFamily="49" charset="0"/>
              </a:rPr>
              <a:t> }</a:t>
            </a:r>
          </a:p>
          <a:p>
            <a:pPr indent="0">
              <a:lnSpc>
                <a:spcPct val="120000"/>
              </a:lnSpc>
              <a:spcBef>
                <a:spcPts val="0"/>
              </a:spcBef>
              <a:spcAft>
                <a:spcPts val="300"/>
              </a:spcAft>
              <a:buNone/>
            </a:pPr>
            <a:r>
              <a:rPr lang="en-US" sz="1600" dirty="0">
                <a:latin typeface="Courier New" panose="02070309020205020404" pitchFamily="49" charset="0"/>
                <a:cs typeface="Courier New" panose="02070309020205020404" pitchFamily="49" charset="0"/>
              </a:rPr>
              <a:t>}</a:t>
            </a:r>
          </a:p>
          <a:p>
            <a:pPr indent="0">
              <a:lnSpc>
                <a:spcPct val="120000"/>
              </a:lnSpc>
              <a:spcBef>
                <a:spcPts val="0"/>
              </a:spcBef>
              <a:spcAft>
                <a:spcPts val="300"/>
              </a:spcAft>
              <a:buNone/>
            </a:pPr>
            <a:r>
              <a:rPr lang="en-US" sz="1600" dirty="0">
                <a:latin typeface="Courier New" panose="02070309020205020404" pitchFamily="49" charset="0"/>
                <a:cs typeface="Courier New" panose="02070309020205020404" pitchFamily="49" charset="0"/>
              </a:rPr>
              <a:t>ORDER BY ?</a:t>
            </a:r>
            <a:r>
              <a:rPr lang="en-US" sz="1600" dirty="0" err="1">
                <a:latin typeface="Courier New" panose="02070309020205020404" pitchFamily="49" charset="0"/>
                <a:cs typeface="Courier New" panose="02070309020205020404" pitchFamily="49" charset="0"/>
              </a:rPr>
              <a:t>ontologyConcept</a:t>
            </a:r>
            <a:r>
              <a:rPr lang="en-US" sz="1600" dirty="0">
                <a:latin typeface="Courier New" panose="02070309020205020404" pitchFamily="49" charset="0"/>
                <a:cs typeface="Courier New" panose="02070309020205020404" pitchFamily="49" charset="0"/>
              </a:rPr>
              <a:t> ?polarity</a:t>
            </a:r>
          </a:p>
        </p:txBody>
      </p:sp>
      <p:sp>
        <p:nvSpPr>
          <p:cNvPr id="4" name="Slide Number Placeholder 3">
            <a:extLst>
              <a:ext uri="{FF2B5EF4-FFF2-40B4-BE49-F238E27FC236}">
                <a16:creationId xmlns:a16="http://schemas.microsoft.com/office/drawing/2014/main" id="{E09139EF-763B-D181-906D-63EA1B5EBFEC}"/>
              </a:ext>
            </a:extLst>
          </p:cNvPr>
          <p:cNvSpPr>
            <a:spLocks noGrp="1"/>
          </p:cNvSpPr>
          <p:nvPr>
            <p:ph type="sldNum" sz="quarter" idx="12"/>
          </p:nvPr>
        </p:nvSpPr>
        <p:spPr/>
        <p:txBody>
          <a:bodyPr/>
          <a:lstStyle/>
          <a:p>
            <a:fld id="{4FAB73BC-B049-4115-A692-8D63A059BFB8}" type="slidenum">
              <a:rPr lang="en-US" smtClean="0"/>
              <a:pPr/>
              <a:t>35</a:t>
            </a:fld>
            <a:endParaRPr lang="en-US" dirty="0"/>
          </a:p>
        </p:txBody>
      </p:sp>
    </p:spTree>
    <p:extLst>
      <p:ext uri="{BB962C8B-B14F-4D97-AF65-F5344CB8AC3E}">
        <p14:creationId xmlns:p14="http://schemas.microsoft.com/office/powerpoint/2010/main" val="116102848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03ECCE-8FD0-845C-A9B9-8EE580A6F757}"/>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1D96DF5-188A-020A-84CA-F6A84824B4E8}"/>
              </a:ext>
            </a:extLst>
          </p:cNvPr>
          <p:cNvSpPr>
            <a:spLocks noGrp="1"/>
          </p:cNvSpPr>
          <p:nvPr>
            <p:ph type="sldNum" sz="quarter" idx="12"/>
          </p:nvPr>
        </p:nvSpPr>
        <p:spPr/>
        <p:txBody>
          <a:bodyPr/>
          <a:lstStyle/>
          <a:p>
            <a:fld id="{4FAB73BC-B049-4115-A692-8D63A059BFB8}" type="slidenum">
              <a:rPr lang="en-US" smtClean="0"/>
              <a:pPr/>
              <a:t>36</a:t>
            </a:fld>
            <a:endParaRPr lang="en-US" dirty="0"/>
          </a:p>
        </p:txBody>
      </p:sp>
      <p:sp>
        <p:nvSpPr>
          <p:cNvPr id="14" name="TextBox 13">
            <a:extLst>
              <a:ext uri="{FF2B5EF4-FFF2-40B4-BE49-F238E27FC236}">
                <a16:creationId xmlns:a16="http://schemas.microsoft.com/office/drawing/2014/main" id="{9BAE9925-3E07-9EAC-05A4-974EF31EE52D}"/>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a:t>
            </a:r>
            <a:r>
              <a:rPr lang="en-US" sz="1200" b="1" cap="small" spc="100" dirty="0">
                <a:solidFill>
                  <a:srgbClr val="000000">
                    <a:lumMod val="95000"/>
                    <a:lumOff val="5000"/>
                  </a:srgbClr>
                </a:solidFill>
                <a:latin typeface="Aptos" panose="020B0004020202020204" pitchFamily="34" charset="0"/>
                <a:ea typeface="+mj-ea"/>
                <a:cs typeface="+mj-cs"/>
              </a:rPr>
              <a:t>1</a:t>
            </a:r>
            <a:endParaRPr lang="en-NL" sz="1000" b="1" dirty="0"/>
          </a:p>
        </p:txBody>
      </p:sp>
      <p:sp>
        <p:nvSpPr>
          <p:cNvPr id="2" name="TextBox 1">
            <a:extLst>
              <a:ext uri="{FF2B5EF4-FFF2-40B4-BE49-F238E27FC236}">
                <a16:creationId xmlns:a16="http://schemas.microsoft.com/office/drawing/2014/main" id="{53020A06-80B3-D941-A23E-53D77D741687}"/>
              </a:ext>
            </a:extLst>
          </p:cNvPr>
          <p:cNvSpPr txBox="1"/>
          <p:nvPr/>
        </p:nvSpPr>
        <p:spPr>
          <a:xfrm>
            <a:off x="767089" y="546538"/>
            <a:ext cx="7916526" cy="646331"/>
          </a:xfrm>
          <a:prstGeom prst="rect">
            <a:avLst/>
          </a:prstGeom>
          <a:noFill/>
        </p:spPr>
        <p:txBody>
          <a:bodyPr wrap="none" rtlCol="0">
            <a:spAutoFit/>
          </a:bodyPr>
          <a:lstStyle/>
          <a:p>
            <a:r>
              <a:rPr lang="en-US" dirty="0">
                <a:solidFill>
                  <a:srgbClr val="FF0000"/>
                </a:solidFill>
              </a:rPr>
              <a:t>SCENARIO 3: Return the different types of meanings that all patients may have</a:t>
            </a:r>
          </a:p>
          <a:p>
            <a:r>
              <a:rPr lang="en-US" dirty="0">
                <a:solidFill>
                  <a:srgbClr val="FF0000"/>
                </a:solidFill>
              </a:rPr>
              <a:t>Will return </a:t>
            </a:r>
            <a:r>
              <a:rPr lang="en-US" dirty="0" err="1">
                <a:solidFill>
                  <a:srgbClr val="FF0000"/>
                </a:solidFill>
              </a:rPr>
              <a:t>hrio:Sex</a:t>
            </a:r>
            <a:r>
              <a:rPr lang="en-US" dirty="0">
                <a:solidFill>
                  <a:srgbClr val="FF0000"/>
                </a:solidFill>
              </a:rPr>
              <a:t>, </a:t>
            </a:r>
            <a:r>
              <a:rPr lang="en-US" dirty="0" err="1">
                <a:solidFill>
                  <a:srgbClr val="FF0000"/>
                </a:solidFill>
              </a:rPr>
              <a:t>hrio:AdministrativeGender</a:t>
            </a:r>
            <a:r>
              <a:rPr lang="en-US" dirty="0">
                <a:solidFill>
                  <a:srgbClr val="FF0000"/>
                </a:solidFill>
              </a:rPr>
              <a:t>, </a:t>
            </a:r>
            <a:r>
              <a:rPr lang="en-US" dirty="0" err="1">
                <a:solidFill>
                  <a:srgbClr val="FF0000"/>
                </a:solidFill>
              </a:rPr>
              <a:t>hrio:SelfIdentifiedGender</a:t>
            </a:r>
            <a:endParaRPr lang="en-US" dirty="0">
              <a:solidFill>
                <a:srgbClr val="FF0000"/>
              </a:solidFill>
            </a:endParaRPr>
          </a:p>
        </p:txBody>
      </p:sp>
      <p:sp>
        <p:nvSpPr>
          <p:cNvPr id="3" name="TextBox 2">
            <a:extLst>
              <a:ext uri="{FF2B5EF4-FFF2-40B4-BE49-F238E27FC236}">
                <a16:creationId xmlns:a16="http://schemas.microsoft.com/office/drawing/2014/main" id="{B0BF8F47-DFAE-085F-CE36-4AF42CA5D31C}"/>
              </a:ext>
            </a:extLst>
          </p:cNvPr>
          <p:cNvSpPr txBox="1"/>
          <p:nvPr/>
        </p:nvSpPr>
        <p:spPr>
          <a:xfrm>
            <a:off x="510568" y="1546399"/>
            <a:ext cx="6141746" cy="369332"/>
          </a:xfrm>
          <a:prstGeom prst="rect">
            <a:avLst/>
          </a:prstGeom>
          <a:noFill/>
        </p:spPr>
        <p:txBody>
          <a:bodyPr wrap="none" rtlCol="0">
            <a:spAutoFit/>
          </a:bodyPr>
          <a:lstStyle/>
          <a:p>
            <a:r>
              <a:rPr lang="en-US" dirty="0">
                <a:solidFill>
                  <a:srgbClr val="FF0000"/>
                </a:solidFill>
              </a:rPr>
              <a:t>SCENARIO 3: Return all patients, their concept and meaning</a:t>
            </a:r>
            <a:endParaRPr lang="en-NL" dirty="0">
              <a:solidFill>
                <a:srgbClr val="FF0000"/>
              </a:solidFill>
            </a:endParaRPr>
          </a:p>
        </p:txBody>
      </p:sp>
      <p:sp>
        <p:nvSpPr>
          <p:cNvPr id="5" name="TextBox 4">
            <a:extLst>
              <a:ext uri="{FF2B5EF4-FFF2-40B4-BE49-F238E27FC236}">
                <a16:creationId xmlns:a16="http://schemas.microsoft.com/office/drawing/2014/main" id="{262F7892-62F9-BFE9-E822-4568629301D8}"/>
              </a:ext>
            </a:extLst>
          </p:cNvPr>
          <p:cNvSpPr txBox="1"/>
          <p:nvPr/>
        </p:nvSpPr>
        <p:spPr>
          <a:xfrm>
            <a:off x="446204" y="2158399"/>
            <a:ext cx="7334380" cy="369332"/>
          </a:xfrm>
          <a:prstGeom prst="rect">
            <a:avLst/>
          </a:prstGeom>
          <a:noFill/>
        </p:spPr>
        <p:txBody>
          <a:bodyPr wrap="none" rtlCol="0">
            <a:spAutoFit/>
          </a:bodyPr>
          <a:lstStyle/>
          <a:p>
            <a:r>
              <a:rPr lang="en-US" dirty="0">
                <a:solidFill>
                  <a:srgbClr val="FF0000"/>
                </a:solidFill>
              </a:rPr>
              <a:t>SCENARIO 3: Return all {</a:t>
            </a:r>
            <a:r>
              <a:rPr lang="en-US" dirty="0" err="1">
                <a:solidFill>
                  <a:srgbClr val="FF0000"/>
                </a:solidFill>
              </a:rPr>
              <a:t>male|man</a:t>
            </a:r>
            <a:r>
              <a:rPr lang="en-US" dirty="0">
                <a:solidFill>
                  <a:srgbClr val="FF0000"/>
                </a:solidFill>
              </a:rPr>
              <a:t>} patients, their concept and meaning</a:t>
            </a:r>
            <a:endParaRPr lang="en-NL" dirty="0">
              <a:solidFill>
                <a:srgbClr val="FF0000"/>
              </a:solidFill>
            </a:endParaRPr>
          </a:p>
        </p:txBody>
      </p:sp>
      <p:graphicFrame>
        <p:nvGraphicFramePr>
          <p:cNvPr id="6" name="Content Placeholder 4">
            <a:extLst>
              <a:ext uri="{FF2B5EF4-FFF2-40B4-BE49-F238E27FC236}">
                <a16:creationId xmlns:a16="http://schemas.microsoft.com/office/drawing/2014/main" id="{D535906C-5F58-83D7-25D7-75A18C2A53AD}"/>
              </a:ext>
            </a:extLst>
          </p:cNvPr>
          <p:cNvGraphicFramePr>
            <a:graphicFrameLocks/>
          </p:cNvGraphicFramePr>
          <p:nvPr>
            <p:extLst>
              <p:ext uri="{D42A27DB-BD31-4B8C-83A1-F6EECF244321}">
                <p14:modId xmlns:p14="http://schemas.microsoft.com/office/powerpoint/2010/main" val="3217226190"/>
              </p:ext>
            </p:extLst>
          </p:nvPr>
        </p:nvGraphicFramePr>
        <p:xfrm>
          <a:off x="7878355" y="3118199"/>
          <a:ext cx="2811677" cy="1278051"/>
        </p:xfrm>
        <a:graphic>
          <a:graphicData uri="http://schemas.openxmlformats.org/drawingml/2006/table">
            <a:tbl>
              <a:tblPr firstRow="1" bandRow="1">
                <a:effectLst>
                  <a:outerShdw blurRad="50800" dist="38100" dir="2700000" algn="tl" rotWithShape="0">
                    <a:prstClr val="black">
                      <a:alpha val="40000"/>
                    </a:prstClr>
                  </a:outerShdw>
                </a:effectLst>
                <a:tableStyleId>{21E4AEA4-8DFA-4A89-87EB-49C32662AFE0}</a:tableStyleId>
              </a:tblPr>
              <a:tblGrid>
                <a:gridCol w="360000">
                  <a:extLst>
                    <a:ext uri="{9D8B030D-6E8A-4147-A177-3AD203B41FA5}">
                      <a16:colId xmlns:a16="http://schemas.microsoft.com/office/drawing/2014/main" val="979315127"/>
                    </a:ext>
                  </a:extLst>
                </a:gridCol>
                <a:gridCol w="1731677">
                  <a:extLst>
                    <a:ext uri="{9D8B030D-6E8A-4147-A177-3AD203B41FA5}">
                      <a16:colId xmlns:a16="http://schemas.microsoft.com/office/drawing/2014/main" val="2075302567"/>
                    </a:ext>
                  </a:extLst>
                </a:gridCol>
                <a:gridCol w="360000">
                  <a:extLst>
                    <a:ext uri="{9D8B030D-6E8A-4147-A177-3AD203B41FA5}">
                      <a16:colId xmlns:a16="http://schemas.microsoft.com/office/drawing/2014/main" val="660631070"/>
                    </a:ext>
                  </a:extLst>
                </a:gridCol>
                <a:gridCol w="360000">
                  <a:extLst>
                    <a:ext uri="{9D8B030D-6E8A-4147-A177-3AD203B41FA5}">
                      <a16:colId xmlns:a16="http://schemas.microsoft.com/office/drawing/2014/main" val="1525013378"/>
                    </a:ext>
                  </a:extLst>
                </a:gridCol>
              </a:tblGrid>
              <a:tr h="367200">
                <a:tc>
                  <a:txBody>
                    <a:bodyPr/>
                    <a:lstStyle/>
                    <a:p>
                      <a:pPr algn="l"/>
                      <a:endParaRPr lang="en-NL" sz="1100" dirty="0"/>
                    </a:p>
                  </a:txBody>
                  <a:tcPr marL="72000" anchor="ctr"/>
                </a:tc>
                <a:tc>
                  <a:txBody>
                    <a:bodyPr/>
                    <a:lstStyle/>
                    <a:p>
                      <a:pPr algn="l"/>
                      <a:r>
                        <a:rPr lang="en-US" sz="900" dirty="0" err="1"/>
                        <a:t>hri-openehr:legal-gender</a:t>
                      </a:r>
                      <a:endParaRPr lang="en-US" sz="900" dirty="0"/>
                    </a:p>
                    <a:p>
                      <a:pPr algn="l"/>
                      <a:r>
                        <a:rPr lang="en-US" sz="900" dirty="0"/>
                        <a:t>("Legal gender"@</a:t>
                      </a:r>
                      <a:r>
                        <a:rPr lang="en-US" sz="900" dirty="0" err="1"/>
                        <a:t>en</a:t>
                      </a:r>
                      <a:r>
                        <a:rPr lang="en-US" sz="900" dirty="0"/>
                        <a:t>)</a:t>
                      </a:r>
                      <a:endParaRPr lang="en-US" sz="850" dirty="0"/>
                    </a:p>
                  </a:txBody>
                  <a:tcPr marL="72000" marR="18000" marT="0" marB="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3012902903"/>
                  </a:ext>
                </a:extLst>
              </a:tr>
              <a:tr h="306000">
                <a:tc>
                  <a:txBody>
                    <a:bodyPr/>
                    <a:lstStyle/>
                    <a:p>
                      <a:pPr algn="l"/>
                      <a:endParaRPr lang="en-NL" sz="1100" dirty="0"/>
                    </a:p>
                  </a:txBody>
                  <a:tcPr marL="72000" anchor="ctr"/>
                </a:tc>
                <a:tc>
                  <a:txBody>
                    <a:bodyPr/>
                    <a:lstStyle/>
                    <a:p>
                      <a:pPr algn="l"/>
                      <a:r>
                        <a:rPr lang="en-US" sz="1100" b="1" dirty="0"/>
                        <a:t>female</a:t>
                      </a:r>
                      <a:endParaRPr lang="en-NL" sz="1100" b="1" dirty="0"/>
                    </a:p>
                  </a:txBody>
                  <a:tcPr marL="7200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1249708150"/>
                  </a:ext>
                </a:extLst>
              </a:tr>
              <a:tr h="306000">
                <a:tc>
                  <a:txBody>
                    <a:bodyPr/>
                    <a:lstStyle/>
                    <a:p>
                      <a:pPr algn="l"/>
                      <a:endParaRPr lang="en-NL" sz="1100" dirty="0"/>
                    </a:p>
                  </a:txBody>
                  <a:tcPr marL="72000" anchor="ctr"/>
                </a:tc>
                <a:tc>
                  <a:txBody>
                    <a:bodyPr/>
                    <a:lstStyle/>
                    <a:p>
                      <a:pPr algn="l"/>
                      <a:r>
                        <a:rPr lang="en-US" sz="1100" b="1" dirty="0"/>
                        <a:t>male</a:t>
                      </a:r>
                      <a:endParaRPr lang="en-NL" sz="1100" b="1" dirty="0"/>
                    </a:p>
                  </a:txBody>
                  <a:tcPr marL="7200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3850974854"/>
                  </a:ext>
                </a:extLst>
              </a:tr>
              <a:tr h="298851">
                <a:tc>
                  <a:txBody>
                    <a:bodyPr/>
                    <a:lstStyle/>
                    <a:p>
                      <a:pPr algn="l"/>
                      <a:endParaRPr lang="en-NL" sz="1100" dirty="0"/>
                    </a:p>
                  </a:txBody>
                  <a:tcPr marL="72000" anchor="ctr"/>
                </a:tc>
                <a:tc>
                  <a:txBody>
                    <a:bodyPr/>
                    <a:lstStyle/>
                    <a:p>
                      <a:pPr algn="l"/>
                      <a:r>
                        <a:rPr lang="en-US" sz="1100" b="1" dirty="0"/>
                        <a:t>nonbinary</a:t>
                      </a:r>
                      <a:endParaRPr lang="en-NL" sz="1100" b="1" dirty="0"/>
                    </a:p>
                  </a:txBody>
                  <a:tcPr marL="7200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7" name="Rectangle: Rounded Corners 6">
            <a:extLst>
              <a:ext uri="{FF2B5EF4-FFF2-40B4-BE49-F238E27FC236}">
                <a16:creationId xmlns:a16="http://schemas.microsoft.com/office/drawing/2014/main" id="{1EFF8872-5E47-D902-B682-B437C352B220}"/>
              </a:ext>
            </a:extLst>
          </p:cNvPr>
          <p:cNvSpPr/>
          <p:nvPr/>
        </p:nvSpPr>
        <p:spPr>
          <a:xfrm>
            <a:off x="9580165" y="3764351"/>
            <a:ext cx="1642188" cy="710132"/>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NL"/>
          </a:p>
        </p:txBody>
      </p:sp>
      <p:graphicFrame>
        <p:nvGraphicFramePr>
          <p:cNvPr id="8" name="Content Placeholder 4">
            <a:extLst>
              <a:ext uri="{FF2B5EF4-FFF2-40B4-BE49-F238E27FC236}">
                <a16:creationId xmlns:a16="http://schemas.microsoft.com/office/drawing/2014/main" id="{213D3187-86FC-99B5-9D5F-6A0C29E52B10}"/>
              </a:ext>
            </a:extLst>
          </p:cNvPr>
          <p:cNvGraphicFramePr>
            <a:graphicFrameLocks/>
          </p:cNvGraphicFramePr>
          <p:nvPr>
            <p:extLst>
              <p:ext uri="{D42A27DB-BD31-4B8C-83A1-F6EECF244321}">
                <p14:modId xmlns:p14="http://schemas.microsoft.com/office/powerpoint/2010/main" val="1582770089"/>
              </p:ext>
            </p:extLst>
          </p:nvPr>
        </p:nvGraphicFramePr>
        <p:xfrm>
          <a:off x="7878355" y="4538762"/>
          <a:ext cx="2811600" cy="1285200"/>
        </p:xfrm>
        <a:graphic>
          <a:graphicData uri="http://schemas.openxmlformats.org/drawingml/2006/table">
            <a:tbl>
              <a:tblPr firstRow="1" bandRow="1">
                <a:effectLst>
                  <a:outerShdw blurRad="50800" dist="38100" dir="2700000" algn="tl" rotWithShape="0">
                    <a:prstClr val="black">
                      <a:alpha val="40000"/>
                    </a:prstClr>
                  </a:outerShdw>
                </a:effectLst>
                <a:tableStyleId>{00A15C55-8517-42AA-B614-E9B94910E393}</a:tableStyleId>
              </a:tblPr>
              <a:tblGrid>
                <a:gridCol w="360000">
                  <a:extLst>
                    <a:ext uri="{9D8B030D-6E8A-4147-A177-3AD203B41FA5}">
                      <a16:colId xmlns:a16="http://schemas.microsoft.com/office/drawing/2014/main" val="979315127"/>
                    </a:ext>
                  </a:extLst>
                </a:gridCol>
                <a:gridCol w="1731600">
                  <a:extLst>
                    <a:ext uri="{9D8B030D-6E8A-4147-A177-3AD203B41FA5}">
                      <a16:colId xmlns:a16="http://schemas.microsoft.com/office/drawing/2014/main" val="2075302567"/>
                    </a:ext>
                  </a:extLst>
                </a:gridCol>
                <a:gridCol w="360000">
                  <a:extLst>
                    <a:ext uri="{9D8B030D-6E8A-4147-A177-3AD203B41FA5}">
                      <a16:colId xmlns:a16="http://schemas.microsoft.com/office/drawing/2014/main" val="660631070"/>
                    </a:ext>
                  </a:extLst>
                </a:gridCol>
                <a:gridCol w="360000">
                  <a:extLst>
                    <a:ext uri="{9D8B030D-6E8A-4147-A177-3AD203B41FA5}">
                      <a16:colId xmlns:a16="http://schemas.microsoft.com/office/drawing/2014/main" val="1525013378"/>
                    </a:ext>
                  </a:extLst>
                </a:gridCol>
              </a:tblGrid>
              <a:tr h="367200">
                <a:tc>
                  <a:txBody>
                    <a:bodyPr/>
                    <a:lstStyle/>
                    <a:p>
                      <a:endParaRPr lang="en-NL" sz="1100" dirty="0"/>
                    </a:p>
                  </a:txBody>
                  <a:tcPr marL="72000" anchor="ctr"/>
                </a:tc>
                <a:tc>
                  <a:txBody>
                    <a:bodyPr/>
                    <a:lstStyle/>
                    <a:p>
                      <a:r>
                        <a:rPr lang="en-US" sz="900" dirty="0"/>
                        <a:t>loinc:107454-1</a:t>
                      </a:r>
                    </a:p>
                    <a:p>
                      <a:r>
                        <a:rPr lang="en-US" sz="900" dirty="0"/>
                        <a:t>("Administrative gender"@</a:t>
                      </a:r>
                      <a:r>
                        <a:rPr lang="en-US" sz="900" dirty="0" err="1"/>
                        <a:t>en</a:t>
                      </a:r>
                      <a:r>
                        <a:rPr lang="en-US" sz="900" dirty="0"/>
                        <a:t>)</a:t>
                      </a:r>
                      <a:endParaRPr lang="en-NL" sz="900" dirty="0"/>
                    </a:p>
                  </a:txBody>
                  <a:tcPr marL="72000" marR="0" marT="0" marB="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012902903"/>
                  </a:ext>
                </a:extLst>
              </a:tr>
              <a:tr h="306000">
                <a:tc>
                  <a:txBody>
                    <a:bodyPr/>
                    <a:lstStyle/>
                    <a:p>
                      <a:endParaRPr lang="en-NL" sz="1100" dirty="0"/>
                    </a:p>
                  </a:txBody>
                  <a:tcPr marL="72000" anchor="ctr"/>
                </a:tc>
                <a:tc>
                  <a:txBody>
                    <a:bodyPr/>
                    <a:lstStyle/>
                    <a:p>
                      <a:r>
                        <a:rPr lang="en-US" sz="1100" b="1" dirty="0"/>
                        <a:t>woman</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1249708150"/>
                  </a:ext>
                </a:extLst>
              </a:tr>
              <a:tr h="306000">
                <a:tc>
                  <a:txBody>
                    <a:bodyPr/>
                    <a:lstStyle/>
                    <a:p>
                      <a:endParaRPr lang="en-NL" sz="1100" dirty="0"/>
                    </a:p>
                  </a:txBody>
                  <a:tcPr marL="72000" anchor="ctr"/>
                </a:tc>
                <a:tc>
                  <a:txBody>
                    <a:bodyPr/>
                    <a:lstStyle/>
                    <a:p>
                      <a:r>
                        <a:rPr lang="en-US" sz="1100" b="1" dirty="0"/>
                        <a:t>man</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850974854"/>
                  </a:ext>
                </a:extLst>
              </a:tr>
              <a:tr h="306000">
                <a:tc>
                  <a:txBody>
                    <a:bodyPr/>
                    <a:lstStyle/>
                    <a:p>
                      <a:endParaRPr lang="en-NL" sz="1100" dirty="0"/>
                    </a:p>
                  </a:txBody>
                  <a:tcPr marL="72000" anchor="ctr"/>
                </a:tc>
                <a:tc>
                  <a:txBody>
                    <a:bodyPr/>
                    <a:lstStyle/>
                    <a:p>
                      <a:r>
                        <a:rPr lang="en-US" sz="1100" b="1" dirty="0"/>
                        <a:t>non-binary</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9" name="Rectangle: Rounded Corners 8">
            <a:extLst>
              <a:ext uri="{FF2B5EF4-FFF2-40B4-BE49-F238E27FC236}">
                <a16:creationId xmlns:a16="http://schemas.microsoft.com/office/drawing/2014/main" id="{1DCCB257-097A-1C4D-0EC6-9D3559A6AE39}"/>
              </a:ext>
            </a:extLst>
          </p:cNvPr>
          <p:cNvSpPr/>
          <p:nvPr/>
        </p:nvSpPr>
        <p:spPr>
          <a:xfrm>
            <a:off x="9580166" y="5182068"/>
            <a:ext cx="1642188" cy="710132"/>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en-NL"/>
          </a:p>
        </p:txBody>
      </p:sp>
      <p:graphicFrame>
        <p:nvGraphicFramePr>
          <p:cNvPr id="12" name="Content Placeholder 4">
            <a:extLst>
              <a:ext uri="{FF2B5EF4-FFF2-40B4-BE49-F238E27FC236}">
                <a16:creationId xmlns:a16="http://schemas.microsoft.com/office/drawing/2014/main" id="{5A6692C0-72D6-6BBB-3CC4-A856C57616DA}"/>
              </a:ext>
            </a:extLst>
          </p:cNvPr>
          <p:cNvGraphicFramePr>
            <a:graphicFrameLocks/>
          </p:cNvGraphicFramePr>
          <p:nvPr>
            <p:extLst>
              <p:ext uri="{D42A27DB-BD31-4B8C-83A1-F6EECF244321}">
                <p14:modId xmlns:p14="http://schemas.microsoft.com/office/powerpoint/2010/main" val="1648291245"/>
              </p:ext>
            </p:extLst>
          </p:nvPr>
        </p:nvGraphicFramePr>
        <p:xfrm>
          <a:off x="7878355" y="1695020"/>
          <a:ext cx="2811677" cy="128376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360000">
                  <a:extLst>
                    <a:ext uri="{9D8B030D-6E8A-4147-A177-3AD203B41FA5}">
                      <a16:colId xmlns:a16="http://schemas.microsoft.com/office/drawing/2014/main" val="979315127"/>
                    </a:ext>
                  </a:extLst>
                </a:gridCol>
                <a:gridCol w="1731677">
                  <a:extLst>
                    <a:ext uri="{9D8B030D-6E8A-4147-A177-3AD203B41FA5}">
                      <a16:colId xmlns:a16="http://schemas.microsoft.com/office/drawing/2014/main" val="2075302567"/>
                    </a:ext>
                  </a:extLst>
                </a:gridCol>
                <a:gridCol w="360000">
                  <a:extLst>
                    <a:ext uri="{9D8B030D-6E8A-4147-A177-3AD203B41FA5}">
                      <a16:colId xmlns:a16="http://schemas.microsoft.com/office/drawing/2014/main" val="660631070"/>
                    </a:ext>
                  </a:extLst>
                </a:gridCol>
                <a:gridCol w="360000">
                  <a:extLst>
                    <a:ext uri="{9D8B030D-6E8A-4147-A177-3AD203B41FA5}">
                      <a16:colId xmlns:a16="http://schemas.microsoft.com/office/drawing/2014/main" val="1525013378"/>
                    </a:ext>
                  </a:extLst>
                </a:gridCol>
              </a:tblGrid>
              <a:tr h="324000">
                <a:tc>
                  <a:txBody>
                    <a:bodyPr/>
                    <a:lstStyle/>
                    <a:p>
                      <a:endParaRPr lang="en-NL" sz="1100" dirty="0"/>
                    </a:p>
                  </a:txBody>
                  <a:tcPr marL="72000" anchor="ctr"/>
                </a:tc>
                <a:tc>
                  <a:txBody>
                    <a:bodyPr/>
                    <a:lstStyle/>
                    <a:p>
                      <a:r>
                        <a:rPr lang="en-US" sz="900" dirty="0" err="1"/>
                        <a:t>care-sm:Sex</a:t>
                      </a:r>
                      <a:endParaRPr lang="en-US" sz="900" dirty="0"/>
                    </a:p>
                    <a:p>
                      <a:r>
                        <a:rPr lang="en-US" sz="900" dirty="0"/>
                        <a:t>("Biological sex"@</a:t>
                      </a:r>
                      <a:r>
                        <a:rPr lang="en-US" sz="900" dirty="0" err="1"/>
                        <a:t>en</a:t>
                      </a:r>
                      <a:r>
                        <a:rPr lang="en-US" sz="900" dirty="0"/>
                        <a:t>)</a:t>
                      </a:r>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012902903"/>
                  </a:ext>
                </a:extLst>
              </a:tr>
              <a:tr h="306000">
                <a:tc>
                  <a:txBody>
                    <a:bodyPr/>
                    <a:lstStyle/>
                    <a:p>
                      <a:endParaRPr lang="en-NL" sz="1100" dirty="0"/>
                    </a:p>
                  </a:txBody>
                  <a:tcPr marL="72000" anchor="ctr"/>
                </a:tc>
                <a:tc>
                  <a:txBody>
                    <a:bodyPr/>
                    <a:lstStyle/>
                    <a:p>
                      <a:r>
                        <a:rPr lang="en-US" sz="1100" b="1" dirty="0"/>
                        <a:t>female</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1249708150"/>
                  </a:ext>
                </a:extLst>
              </a:tr>
              <a:tr h="306000">
                <a:tc>
                  <a:txBody>
                    <a:bodyPr/>
                    <a:lstStyle/>
                    <a:p>
                      <a:endParaRPr lang="en-NL" sz="1100" dirty="0"/>
                    </a:p>
                  </a:txBody>
                  <a:tcPr marL="72000" anchor="ctr"/>
                </a:tc>
                <a:tc>
                  <a:txBody>
                    <a:bodyPr/>
                    <a:lstStyle/>
                    <a:p>
                      <a:r>
                        <a:rPr lang="en-US" sz="1100" b="1" dirty="0"/>
                        <a:t>male</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850974854"/>
                  </a:ext>
                </a:extLst>
              </a:tr>
              <a:tr h="306000">
                <a:tc>
                  <a:txBody>
                    <a:bodyPr/>
                    <a:lstStyle/>
                    <a:p>
                      <a:endParaRPr lang="en-NL" sz="1100" dirty="0"/>
                    </a:p>
                  </a:txBody>
                  <a:tcPr marL="72000" anchor="ctr"/>
                </a:tc>
                <a:tc>
                  <a:txBody>
                    <a:bodyPr/>
                    <a:lstStyle/>
                    <a:p>
                      <a:r>
                        <a:rPr lang="en-US" sz="1100" b="1" dirty="0"/>
                        <a:t>female</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17" name="Rectangle: Rounded Corners 16">
            <a:extLst>
              <a:ext uri="{FF2B5EF4-FFF2-40B4-BE49-F238E27FC236}">
                <a16:creationId xmlns:a16="http://schemas.microsoft.com/office/drawing/2014/main" id="{2E2A4495-623B-873A-55AA-2B9D54B21582}"/>
              </a:ext>
            </a:extLst>
          </p:cNvPr>
          <p:cNvSpPr/>
          <p:nvPr/>
        </p:nvSpPr>
        <p:spPr>
          <a:xfrm>
            <a:off x="9580165" y="2343789"/>
            <a:ext cx="1642188" cy="710132"/>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NL"/>
          </a:p>
        </p:txBody>
      </p:sp>
      <p:pic>
        <p:nvPicPr>
          <p:cNvPr id="18" name="Picture 17">
            <a:extLst>
              <a:ext uri="{FF2B5EF4-FFF2-40B4-BE49-F238E27FC236}">
                <a16:creationId xmlns:a16="http://schemas.microsoft.com/office/drawing/2014/main" id="{35412F50-C1A4-2257-7767-3AC011A60D36}"/>
              </a:ext>
            </a:extLst>
          </p:cNvPr>
          <p:cNvPicPr>
            <a:picLocks noChangeAspect="1"/>
          </p:cNvPicPr>
          <p:nvPr/>
        </p:nvPicPr>
        <p:blipFill>
          <a:blip r:embed="rId2"/>
          <a:srcRect l="17222" t="33069" r="27186" b="41346"/>
          <a:stretch>
            <a:fillRect/>
          </a:stretch>
        </p:blipFill>
        <p:spPr>
          <a:xfrm>
            <a:off x="9681170" y="2477918"/>
            <a:ext cx="1440178" cy="441874"/>
          </a:xfrm>
          <a:prstGeom prst="rect">
            <a:avLst/>
          </a:prstGeom>
        </p:spPr>
      </p:pic>
      <p:pic>
        <p:nvPicPr>
          <p:cNvPr id="23" name="Picture 22">
            <a:extLst>
              <a:ext uri="{FF2B5EF4-FFF2-40B4-BE49-F238E27FC236}">
                <a16:creationId xmlns:a16="http://schemas.microsoft.com/office/drawing/2014/main" id="{D52A1226-4478-3695-A6ED-F15FD7681BC6}"/>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25000"/>
                    </a14:imgEffect>
                    <a14:imgEffect>
                      <a14:brightnessContrast contrast="-40000"/>
                    </a14:imgEffect>
                  </a14:imgLayer>
                </a14:imgProps>
              </a:ext>
            </a:extLst>
          </a:blip>
          <a:srcRect l="22593" t="33818" r="26296" b="42564"/>
          <a:stretch>
            <a:fillRect/>
          </a:stretch>
        </p:blipFill>
        <p:spPr>
          <a:xfrm>
            <a:off x="9681259" y="3897611"/>
            <a:ext cx="1440000" cy="443613"/>
          </a:xfrm>
          <a:prstGeom prst="rect">
            <a:avLst/>
          </a:prstGeom>
        </p:spPr>
      </p:pic>
      <p:pic>
        <p:nvPicPr>
          <p:cNvPr id="24" name="Picture 23">
            <a:extLst>
              <a:ext uri="{FF2B5EF4-FFF2-40B4-BE49-F238E27FC236}">
                <a16:creationId xmlns:a16="http://schemas.microsoft.com/office/drawing/2014/main" id="{45ECB079-E7A4-7857-7B5F-391DD7898A22}"/>
              </a:ext>
            </a:extLst>
          </p:cNvPr>
          <p:cNvPicPr>
            <a:picLocks noChangeAspect="1"/>
          </p:cNvPicPr>
          <p:nvPr/>
        </p:nvPicPr>
        <p:blipFill>
          <a:blip r:embed="rId5"/>
          <a:srcRect l="13027" t="27953" r="16204" b="38897"/>
          <a:stretch>
            <a:fillRect/>
          </a:stretch>
        </p:blipFill>
        <p:spPr>
          <a:xfrm>
            <a:off x="9681260" y="5312288"/>
            <a:ext cx="1440000" cy="449693"/>
          </a:xfrm>
          <a:prstGeom prst="rect">
            <a:avLst/>
          </a:prstGeom>
        </p:spPr>
      </p:pic>
    </p:spTree>
    <p:extLst>
      <p:ext uri="{BB962C8B-B14F-4D97-AF65-F5344CB8AC3E}">
        <p14:creationId xmlns:p14="http://schemas.microsoft.com/office/powerpoint/2010/main" val="305678027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DACA3D-39C2-0540-48DC-54C72912A0A4}"/>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E86CA139-850D-F89B-F137-66F0F70D3CAE}"/>
              </a:ext>
            </a:extLst>
          </p:cNvPr>
          <p:cNvPicPr>
            <a:picLocks noChangeAspect="1"/>
          </p:cNvPicPr>
          <p:nvPr/>
        </p:nvPicPr>
        <p:blipFill>
          <a:blip r:embed="rId3"/>
          <a:srcRect t="21286" b="18695"/>
          <a:stretch>
            <a:fillRect/>
          </a:stretch>
        </p:blipFill>
        <p:spPr>
          <a:xfrm>
            <a:off x="695325" y="1628775"/>
            <a:ext cx="10799546" cy="4321175"/>
          </a:xfrm>
          <a:prstGeom prst="rect">
            <a:avLst/>
          </a:prstGeom>
        </p:spPr>
      </p:pic>
      <p:sp>
        <p:nvSpPr>
          <p:cNvPr id="8" name="Rectangle 7">
            <a:extLst>
              <a:ext uri="{FF2B5EF4-FFF2-40B4-BE49-F238E27FC236}">
                <a16:creationId xmlns:a16="http://schemas.microsoft.com/office/drawing/2014/main" id="{9BC62F97-31CC-B202-E449-5BE1E7DDDBF2}"/>
              </a:ext>
            </a:extLst>
          </p:cNvPr>
          <p:cNvSpPr/>
          <p:nvPr/>
        </p:nvSpPr>
        <p:spPr>
          <a:xfrm>
            <a:off x="5136204" y="1628775"/>
            <a:ext cx="6350219" cy="4321175"/>
          </a:xfrm>
          <a:prstGeom prst="rect">
            <a:avLst/>
          </a:prstGeom>
          <a:solidFill>
            <a:schemeClr val="accent1">
              <a:lumMod val="20000"/>
              <a:lumOff val="80000"/>
              <a:alpha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60000" tIns="180000" rIns="180000" bIns="180000" rtlCol="0" anchor="ctr"/>
          <a:lstStyle/>
          <a:p>
            <a:endParaRPr lang="en-NL" sz="2000" i="1" dirty="0">
              <a:solidFill>
                <a:schemeClr val="tx1"/>
              </a:solidFill>
            </a:endParaRPr>
          </a:p>
        </p:txBody>
      </p:sp>
      <p:sp>
        <p:nvSpPr>
          <p:cNvPr id="2" name="Title 1">
            <a:extLst>
              <a:ext uri="{FF2B5EF4-FFF2-40B4-BE49-F238E27FC236}">
                <a16:creationId xmlns:a16="http://schemas.microsoft.com/office/drawing/2014/main" id="{ABDF6B2B-6FE3-811F-8B73-D91BFA45730B}"/>
              </a:ext>
            </a:extLst>
          </p:cNvPr>
          <p:cNvSpPr>
            <a:spLocks noGrp="1"/>
          </p:cNvSpPr>
          <p:nvPr>
            <p:ph type="title"/>
          </p:nvPr>
        </p:nvSpPr>
        <p:spPr/>
        <p:txBody>
          <a:bodyPr/>
          <a:lstStyle/>
          <a:p>
            <a:r>
              <a:rPr lang="en-US" dirty="0"/>
              <a:t>Scenario 4: Formalize the semantic relation between two selected columns</a:t>
            </a:r>
          </a:p>
        </p:txBody>
      </p:sp>
      <p:sp>
        <p:nvSpPr>
          <p:cNvPr id="7" name="Freeform: Shape 6">
            <a:extLst>
              <a:ext uri="{FF2B5EF4-FFF2-40B4-BE49-F238E27FC236}">
                <a16:creationId xmlns:a16="http://schemas.microsoft.com/office/drawing/2014/main" id="{A48531B8-8106-B143-9E95-EB1DAFB7EFAC}"/>
              </a:ext>
            </a:extLst>
          </p:cNvPr>
          <p:cNvSpPr/>
          <p:nvPr/>
        </p:nvSpPr>
        <p:spPr>
          <a:xfrm>
            <a:off x="7034190" y="3018630"/>
            <a:ext cx="371214" cy="91440"/>
          </a:xfrm>
          <a:custGeom>
            <a:avLst/>
            <a:gdLst>
              <a:gd name="csX0" fmla="*/ 0 w 371214"/>
              <a:gd name="csY0" fmla="*/ 45720 h 91440"/>
              <a:gd name="csX1" fmla="*/ 371214 w 371214"/>
              <a:gd name="csY1" fmla="*/ 45720 h 91440"/>
            </a:gdLst>
            <a:ahLst/>
            <a:cxnLst>
              <a:cxn ang="0">
                <a:pos x="csX0" y="csY0"/>
              </a:cxn>
              <a:cxn ang="0">
                <a:pos x="csX1" y="csY1"/>
              </a:cxn>
            </a:cxnLst>
            <a:rect l="l" t="t" r="r" b="b"/>
            <a:pathLst>
              <a:path w="371214" h="91440">
                <a:moveTo>
                  <a:pt x="0" y="45720"/>
                </a:moveTo>
                <a:lnTo>
                  <a:pt x="371214" y="45720"/>
                </a:lnTo>
              </a:path>
            </a:pathLst>
          </a:cu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88262" tIns="43711" rIns="188262" bIns="43711" numCol="1" spcCol="1270" anchor="ctr" anchorCtr="0">
            <a:noAutofit/>
          </a:bodyPr>
          <a:lstStyle/>
          <a:p>
            <a:pPr marL="0" lvl="0" indent="0" algn="ctr" defTabSz="222250">
              <a:lnSpc>
                <a:spcPct val="90000"/>
              </a:lnSpc>
              <a:spcBef>
                <a:spcPct val="0"/>
              </a:spcBef>
              <a:spcAft>
                <a:spcPct val="35000"/>
              </a:spcAft>
              <a:buNone/>
            </a:pPr>
            <a:endParaRPr lang="en-NL" sz="500" kern="1200"/>
          </a:p>
        </p:txBody>
      </p:sp>
      <p:sp>
        <p:nvSpPr>
          <p:cNvPr id="10" name="Freeform: Shape 9">
            <a:extLst>
              <a:ext uri="{FF2B5EF4-FFF2-40B4-BE49-F238E27FC236}">
                <a16:creationId xmlns:a16="http://schemas.microsoft.com/office/drawing/2014/main" id="{909A1242-58FF-123A-363F-BA77B29749DF}"/>
              </a:ext>
            </a:extLst>
          </p:cNvPr>
          <p:cNvSpPr/>
          <p:nvPr/>
        </p:nvSpPr>
        <p:spPr>
          <a:xfrm>
            <a:off x="9183022" y="3018630"/>
            <a:ext cx="371214" cy="91440"/>
          </a:xfrm>
          <a:custGeom>
            <a:avLst/>
            <a:gdLst>
              <a:gd name="csX0" fmla="*/ 0 w 371214"/>
              <a:gd name="csY0" fmla="*/ 45720 h 91440"/>
              <a:gd name="csX1" fmla="*/ 371214 w 371214"/>
              <a:gd name="csY1" fmla="*/ 45720 h 91440"/>
            </a:gdLst>
            <a:ahLst/>
            <a:cxnLst>
              <a:cxn ang="0">
                <a:pos x="csX0" y="csY0"/>
              </a:cxn>
              <a:cxn ang="0">
                <a:pos x="csX1" y="csY1"/>
              </a:cxn>
            </a:cxnLst>
            <a:rect l="l" t="t" r="r" b="b"/>
            <a:pathLst>
              <a:path w="371214" h="91440">
                <a:moveTo>
                  <a:pt x="0" y="45720"/>
                </a:moveTo>
                <a:lnTo>
                  <a:pt x="371214" y="45720"/>
                </a:lnTo>
              </a:path>
            </a:pathLst>
          </a:cu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88261" tIns="43711" rIns="188263" bIns="43711" numCol="1" spcCol="1270" anchor="ctr" anchorCtr="0">
            <a:noAutofit/>
          </a:bodyPr>
          <a:lstStyle/>
          <a:p>
            <a:pPr marL="0" lvl="0" indent="0" algn="ctr" defTabSz="222250">
              <a:lnSpc>
                <a:spcPct val="90000"/>
              </a:lnSpc>
              <a:spcBef>
                <a:spcPct val="0"/>
              </a:spcBef>
              <a:spcAft>
                <a:spcPct val="35000"/>
              </a:spcAft>
              <a:buNone/>
            </a:pPr>
            <a:endParaRPr lang="en-NL" sz="500" kern="1200"/>
          </a:p>
        </p:txBody>
      </p:sp>
      <p:sp>
        <p:nvSpPr>
          <p:cNvPr id="11" name="Freeform: Shape 10">
            <a:extLst>
              <a:ext uri="{FF2B5EF4-FFF2-40B4-BE49-F238E27FC236}">
                <a16:creationId xmlns:a16="http://schemas.microsoft.com/office/drawing/2014/main" id="{43B3D893-F32D-16D4-7F15-6A32911C9868}"/>
              </a:ext>
            </a:extLst>
          </p:cNvPr>
          <p:cNvSpPr/>
          <p:nvPr/>
        </p:nvSpPr>
        <p:spPr>
          <a:xfrm>
            <a:off x="7437804" y="2540244"/>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lvl="0" defTabSz="400050">
              <a:lnSpc>
                <a:spcPct val="90000"/>
              </a:lnSpc>
              <a:spcBef>
                <a:spcPct val="0"/>
              </a:spcBef>
              <a:spcAft>
                <a:spcPct val="35000"/>
              </a:spcAft>
            </a:pPr>
            <a:r>
              <a:rPr lang="en-US" sz="900" b="1" dirty="0"/>
              <a:t>Scenario 2: </a:t>
            </a:r>
            <a:r>
              <a:rPr lang="en-US" sz="900" dirty="0"/>
              <a:t>Identify the dataset that represents the right meaning</a:t>
            </a:r>
            <a:endParaRPr lang="en-NL" sz="900" dirty="0"/>
          </a:p>
        </p:txBody>
      </p:sp>
      <p:sp>
        <p:nvSpPr>
          <p:cNvPr id="12" name="Freeform: Shape 11">
            <a:extLst>
              <a:ext uri="{FF2B5EF4-FFF2-40B4-BE49-F238E27FC236}">
                <a16:creationId xmlns:a16="http://schemas.microsoft.com/office/drawing/2014/main" id="{99B1ECF3-DCE8-082C-CC3F-48189DA04730}"/>
              </a:ext>
            </a:extLst>
          </p:cNvPr>
          <p:cNvSpPr/>
          <p:nvPr/>
        </p:nvSpPr>
        <p:spPr>
          <a:xfrm>
            <a:off x="6162481" y="3586655"/>
            <a:ext cx="4297663" cy="371214"/>
          </a:xfrm>
          <a:custGeom>
            <a:avLst/>
            <a:gdLst>
              <a:gd name="csX0" fmla="*/ 4297663 w 4297663"/>
              <a:gd name="csY0" fmla="*/ 0 h 371214"/>
              <a:gd name="csX1" fmla="*/ 4297663 w 4297663"/>
              <a:gd name="csY1" fmla="*/ 202707 h 371214"/>
              <a:gd name="csX2" fmla="*/ 0 w 4297663"/>
              <a:gd name="csY2" fmla="*/ 202707 h 371214"/>
              <a:gd name="csX3" fmla="*/ 0 w 4297663"/>
              <a:gd name="csY3" fmla="*/ 371214 h 371214"/>
            </a:gdLst>
            <a:ahLst/>
            <a:cxnLst>
              <a:cxn ang="0">
                <a:pos x="csX0" y="csY0"/>
              </a:cxn>
              <a:cxn ang="0">
                <a:pos x="csX1" y="csY1"/>
              </a:cxn>
              <a:cxn ang="0">
                <a:pos x="csX2" y="csY2"/>
              </a:cxn>
              <a:cxn ang="0">
                <a:pos x="csX3" y="csY3"/>
              </a:cxn>
            </a:cxnLst>
            <a:rect l="l" t="t" r="r" b="b"/>
            <a:pathLst>
              <a:path w="4297663" h="371214">
                <a:moveTo>
                  <a:pt x="4297663" y="0"/>
                </a:moveTo>
                <a:lnTo>
                  <a:pt x="4297663" y="202707"/>
                </a:lnTo>
                <a:lnTo>
                  <a:pt x="0" y="202707"/>
                </a:lnTo>
                <a:lnTo>
                  <a:pt x="0" y="371214"/>
                </a:lnTo>
              </a:path>
            </a:pathLst>
          </a:cu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2053622" tIns="183598" rIns="2053621" bIns="183598" numCol="1" spcCol="1270" anchor="ctr" anchorCtr="0">
            <a:noAutofit/>
          </a:bodyPr>
          <a:lstStyle/>
          <a:p>
            <a:pPr marL="0" lvl="0" indent="0" algn="ctr" defTabSz="222250">
              <a:lnSpc>
                <a:spcPct val="90000"/>
              </a:lnSpc>
              <a:spcBef>
                <a:spcPct val="0"/>
              </a:spcBef>
              <a:spcAft>
                <a:spcPct val="35000"/>
              </a:spcAft>
              <a:buNone/>
            </a:pPr>
            <a:endParaRPr lang="en-NL" sz="500" kern="1200"/>
          </a:p>
        </p:txBody>
      </p:sp>
      <p:sp>
        <p:nvSpPr>
          <p:cNvPr id="13" name="Freeform: Shape 12">
            <a:extLst>
              <a:ext uri="{FF2B5EF4-FFF2-40B4-BE49-F238E27FC236}">
                <a16:creationId xmlns:a16="http://schemas.microsoft.com/office/drawing/2014/main" id="{6B20FBB1-885C-5D8C-C61E-E0C245C3EA89}"/>
              </a:ext>
            </a:extLst>
          </p:cNvPr>
          <p:cNvSpPr/>
          <p:nvPr/>
        </p:nvSpPr>
        <p:spPr>
          <a:xfrm>
            <a:off x="9586636" y="2540244"/>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marL="0" lvl="0" indent="0" algn="l" defTabSz="400050">
              <a:lnSpc>
                <a:spcPct val="90000"/>
              </a:lnSpc>
              <a:spcBef>
                <a:spcPct val="0"/>
              </a:spcBef>
              <a:spcAft>
                <a:spcPct val="35000"/>
              </a:spcAft>
              <a:buNone/>
            </a:pPr>
            <a:r>
              <a:rPr lang="en-US" sz="900" b="1" u="none" kern="1200" dirty="0"/>
              <a:t>Scenario 3: </a:t>
            </a:r>
            <a:r>
              <a:rPr lang="en-US" sz="900" b="0" u="none" kern="1200" dirty="0"/>
              <a:t>Inspect what a selected column means</a:t>
            </a:r>
            <a:endParaRPr lang="en-NL" sz="900" b="0" u="none" kern="1200" dirty="0"/>
          </a:p>
        </p:txBody>
      </p:sp>
      <p:sp>
        <p:nvSpPr>
          <p:cNvPr id="14" name="Freeform: Shape 13">
            <a:extLst>
              <a:ext uri="{FF2B5EF4-FFF2-40B4-BE49-F238E27FC236}">
                <a16:creationId xmlns:a16="http://schemas.microsoft.com/office/drawing/2014/main" id="{B49BAD0A-DEA1-3414-D780-7A5750CDF383}"/>
              </a:ext>
            </a:extLst>
          </p:cNvPr>
          <p:cNvSpPr/>
          <p:nvPr/>
        </p:nvSpPr>
        <p:spPr>
          <a:xfrm>
            <a:off x="7034190" y="4468654"/>
            <a:ext cx="371214" cy="91440"/>
          </a:xfrm>
          <a:custGeom>
            <a:avLst/>
            <a:gdLst>
              <a:gd name="csX0" fmla="*/ 0 w 371214"/>
              <a:gd name="csY0" fmla="*/ 45720 h 91440"/>
              <a:gd name="csX1" fmla="*/ 371214 w 371214"/>
              <a:gd name="csY1" fmla="*/ 45720 h 91440"/>
            </a:gdLst>
            <a:ahLst/>
            <a:cxnLst>
              <a:cxn ang="0">
                <a:pos x="csX0" y="csY0"/>
              </a:cxn>
              <a:cxn ang="0">
                <a:pos x="csX1" y="csY1"/>
              </a:cxn>
            </a:cxnLst>
            <a:rect l="l" t="t" r="r" b="b"/>
            <a:pathLst>
              <a:path w="371214" h="91440">
                <a:moveTo>
                  <a:pt x="0" y="45720"/>
                </a:moveTo>
                <a:lnTo>
                  <a:pt x="371214" y="45720"/>
                </a:lnTo>
              </a:path>
            </a:pathLst>
          </a:cu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88262" tIns="43711" rIns="188262" bIns="43711" numCol="1" spcCol="1270" anchor="ctr" anchorCtr="0">
            <a:noAutofit/>
          </a:bodyPr>
          <a:lstStyle/>
          <a:p>
            <a:pPr marL="0" lvl="0" indent="0" algn="ctr" defTabSz="222250">
              <a:lnSpc>
                <a:spcPct val="90000"/>
              </a:lnSpc>
              <a:spcBef>
                <a:spcPct val="0"/>
              </a:spcBef>
              <a:spcAft>
                <a:spcPct val="35000"/>
              </a:spcAft>
              <a:buNone/>
            </a:pPr>
            <a:endParaRPr lang="en-NL" sz="500" kern="1200"/>
          </a:p>
        </p:txBody>
      </p:sp>
      <p:sp>
        <p:nvSpPr>
          <p:cNvPr id="16" name="Freeform: Shape 15">
            <a:extLst>
              <a:ext uri="{FF2B5EF4-FFF2-40B4-BE49-F238E27FC236}">
                <a16:creationId xmlns:a16="http://schemas.microsoft.com/office/drawing/2014/main" id="{68CF9D6B-1C50-1308-8631-2098C6749A02}"/>
              </a:ext>
            </a:extLst>
          </p:cNvPr>
          <p:cNvSpPr/>
          <p:nvPr/>
        </p:nvSpPr>
        <p:spPr>
          <a:xfrm>
            <a:off x="9183022" y="4468654"/>
            <a:ext cx="371214" cy="91440"/>
          </a:xfrm>
          <a:custGeom>
            <a:avLst/>
            <a:gdLst>
              <a:gd name="csX0" fmla="*/ 0 w 371214"/>
              <a:gd name="csY0" fmla="*/ 45720 h 91440"/>
              <a:gd name="csX1" fmla="*/ 371214 w 371214"/>
              <a:gd name="csY1" fmla="*/ 45720 h 91440"/>
            </a:gdLst>
            <a:ahLst/>
            <a:cxnLst>
              <a:cxn ang="0">
                <a:pos x="csX0" y="csY0"/>
              </a:cxn>
              <a:cxn ang="0">
                <a:pos x="csX1" y="csY1"/>
              </a:cxn>
            </a:cxnLst>
            <a:rect l="l" t="t" r="r" b="b"/>
            <a:pathLst>
              <a:path w="371214" h="91440">
                <a:moveTo>
                  <a:pt x="0" y="45720"/>
                </a:moveTo>
                <a:lnTo>
                  <a:pt x="371214" y="45720"/>
                </a:lnTo>
              </a:path>
            </a:pathLst>
          </a:cu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88261" tIns="43711" rIns="188263" bIns="43711" numCol="1" spcCol="1270" anchor="ctr" anchorCtr="0">
            <a:noAutofit/>
          </a:bodyPr>
          <a:lstStyle/>
          <a:p>
            <a:pPr marL="0" lvl="0" indent="0" algn="ctr" defTabSz="222250">
              <a:lnSpc>
                <a:spcPct val="90000"/>
              </a:lnSpc>
              <a:spcBef>
                <a:spcPct val="0"/>
              </a:spcBef>
              <a:spcAft>
                <a:spcPct val="35000"/>
              </a:spcAft>
              <a:buNone/>
            </a:pPr>
            <a:endParaRPr lang="en-NL" sz="500" kern="1200"/>
          </a:p>
        </p:txBody>
      </p:sp>
      <p:sp>
        <p:nvSpPr>
          <p:cNvPr id="17" name="Freeform: Shape 16">
            <a:extLst>
              <a:ext uri="{FF2B5EF4-FFF2-40B4-BE49-F238E27FC236}">
                <a16:creationId xmlns:a16="http://schemas.microsoft.com/office/drawing/2014/main" id="{BCCC5D08-6B01-79E8-BC4E-FEB6ACA2F9E3}"/>
              </a:ext>
            </a:extLst>
          </p:cNvPr>
          <p:cNvSpPr/>
          <p:nvPr/>
        </p:nvSpPr>
        <p:spPr>
          <a:xfrm>
            <a:off x="7437804" y="3990269"/>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marL="0" lvl="0" indent="0" algn="l" defTabSz="400050">
              <a:lnSpc>
                <a:spcPct val="90000"/>
              </a:lnSpc>
              <a:spcBef>
                <a:spcPct val="0"/>
              </a:spcBef>
              <a:spcAft>
                <a:spcPct val="35000"/>
              </a:spcAft>
              <a:buNone/>
            </a:pPr>
            <a:r>
              <a:rPr lang="en-US" sz="900" b="1" u="none" kern="1200" dirty="0">
                <a:solidFill>
                  <a:schemeClr val="bg1"/>
                </a:solidFill>
              </a:rPr>
              <a:t>Scenario 5:</a:t>
            </a:r>
            <a:r>
              <a:rPr lang="en-US" sz="900" b="0" u="none" kern="1200" dirty="0">
                <a:solidFill>
                  <a:schemeClr val="bg1"/>
                </a:solidFill>
              </a:rPr>
              <a:t> </a:t>
            </a:r>
            <a:r>
              <a:rPr lang="en-US" sz="900" kern="1200" dirty="0">
                <a:solidFill>
                  <a:schemeClr val="bg1"/>
                </a:solidFill>
              </a:rPr>
              <a:t>Assess (re)use options around one selected concept</a:t>
            </a:r>
            <a:endParaRPr lang="en-NL" sz="900" kern="1200" dirty="0">
              <a:solidFill>
                <a:schemeClr val="bg1"/>
              </a:solidFill>
            </a:endParaRPr>
          </a:p>
        </p:txBody>
      </p:sp>
      <p:sp>
        <p:nvSpPr>
          <p:cNvPr id="18" name="Freeform: Shape 17">
            <a:extLst>
              <a:ext uri="{FF2B5EF4-FFF2-40B4-BE49-F238E27FC236}">
                <a16:creationId xmlns:a16="http://schemas.microsoft.com/office/drawing/2014/main" id="{120EE120-9494-CD66-1B08-3549BDCAC937}"/>
              </a:ext>
            </a:extLst>
          </p:cNvPr>
          <p:cNvSpPr/>
          <p:nvPr/>
        </p:nvSpPr>
        <p:spPr>
          <a:xfrm>
            <a:off x="9586636" y="3990269"/>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a:solidFill>
            <a:schemeClr val="accent3">
              <a:lumMod val="20000"/>
              <a:lumOff val="80000"/>
            </a:schemeClr>
          </a:solidFill>
          <a:ln>
            <a:solidFill>
              <a:schemeClr val="accent1"/>
            </a:solidFill>
          </a:ln>
        </p:spPr>
        <p:style>
          <a:lnRef idx="0">
            <a:scrgbClr r="0" g="0" b="0"/>
          </a:lnRef>
          <a:fillRef idx="3">
            <a:scrgbClr r="0" g="0" b="0"/>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marL="0" lvl="0" indent="0" algn="l" defTabSz="400050">
              <a:lnSpc>
                <a:spcPct val="90000"/>
              </a:lnSpc>
              <a:spcBef>
                <a:spcPct val="0"/>
              </a:spcBef>
              <a:spcAft>
                <a:spcPct val="35000"/>
              </a:spcAft>
              <a:buNone/>
            </a:pPr>
            <a:r>
              <a:rPr lang="en-US" sz="900" b="1" kern="1200" dirty="0">
                <a:solidFill>
                  <a:schemeClr val="accent1"/>
                </a:solidFill>
              </a:rPr>
              <a:t>Result:</a:t>
            </a:r>
            <a:r>
              <a:rPr lang="en-US" sz="900" kern="1200" dirty="0">
                <a:solidFill>
                  <a:schemeClr val="accent1"/>
                </a:solidFill>
              </a:rPr>
              <a:t> Amir could move from label-based guessing to a defensible decision, identifying which variable fits his study and which related concepts align, should be ruled out, or only partially overlap.</a:t>
            </a:r>
            <a:endParaRPr lang="en-NL" sz="900" kern="1200" dirty="0">
              <a:solidFill>
                <a:schemeClr val="accent1"/>
              </a:solidFill>
            </a:endParaRPr>
          </a:p>
        </p:txBody>
      </p:sp>
      <p:sp>
        <p:nvSpPr>
          <p:cNvPr id="4" name="Slide Number Placeholder 3">
            <a:extLst>
              <a:ext uri="{FF2B5EF4-FFF2-40B4-BE49-F238E27FC236}">
                <a16:creationId xmlns:a16="http://schemas.microsoft.com/office/drawing/2014/main" id="{E2B96C7A-18B0-74B6-2924-304F68A5A0D3}"/>
              </a:ext>
            </a:extLst>
          </p:cNvPr>
          <p:cNvSpPr>
            <a:spLocks noGrp="1"/>
          </p:cNvSpPr>
          <p:nvPr>
            <p:ph type="sldNum" sz="quarter" idx="12"/>
          </p:nvPr>
        </p:nvSpPr>
        <p:spPr/>
        <p:txBody>
          <a:bodyPr/>
          <a:lstStyle/>
          <a:p>
            <a:fld id="{4FAB73BC-B049-4115-A692-8D63A059BFB8}" type="slidenum">
              <a:rPr lang="en-US" smtClean="0"/>
              <a:pPr/>
              <a:t>37</a:t>
            </a:fld>
            <a:endParaRPr lang="en-US" dirty="0"/>
          </a:p>
        </p:txBody>
      </p:sp>
      <p:sp>
        <p:nvSpPr>
          <p:cNvPr id="9" name="Freeform: Shape 8">
            <a:extLst>
              <a:ext uri="{FF2B5EF4-FFF2-40B4-BE49-F238E27FC236}">
                <a16:creationId xmlns:a16="http://schemas.microsoft.com/office/drawing/2014/main" id="{D525493C-8FA6-D260-FF98-13623284B2F4}"/>
              </a:ext>
            </a:extLst>
          </p:cNvPr>
          <p:cNvSpPr/>
          <p:nvPr/>
        </p:nvSpPr>
        <p:spPr>
          <a:xfrm>
            <a:off x="5288972" y="2540244"/>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lvl="0" defTabSz="400050">
              <a:lnSpc>
                <a:spcPct val="90000"/>
              </a:lnSpc>
              <a:spcBef>
                <a:spcPct val="0"/>
              </a:spcBef>
              <a:spcAft>
                <a:spcPct val="35000"/>
              </a:spcAft>
            </a:pPr>
            <a:r>
              <a:rPr lang="it-IT" sz="900" b="1" dirty="0"/>
              <a:t>Scenario 1: </a:t>
            </a:r>
            <a:r>
              <a:rPr lang="en-US" sz="900" dirty="0"/>
              <a:t>Clarify Meanings Before Reuse</a:t>
            </a:r>
            <a:endParaRPr lang="en-NL" sz="900" dirty="0"/>
          </a:p>
        </p:txBody>
      </p:sp>
      <p:sp>
        <p:nvSpPr>
          <p:cNvPr id="15" name="Freeform: Shape 14">
            <a:extLst>
              <a:ext uri="{FF2B5EF4-FFF2-40B4-BE49-F238E27FC236}">
                <a16:creationId xmlns:a16="http://schemas.microsoft.com/office/drawing/2014/main" id="{5BE7D75C-4F61-DB64-C7B6-82A8531F2309}"/>
              </a:ext>
            </a:extLst>
          </p:cNvPr>
          <p:cNvSpPr/>
          <p:nvPr/>
        </p:nvSpPr>
        <p:spPr>
          <a:xfrm>
            <a:off x="5288972" y="3990269"/>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marL="0" lvl="0" indent="0" algn="l" defTabSz="400050">
              <a:lnSpc>
                <a:spcPct val="90000"/>
              </a:lnSpc>
              <a:spcBef>
                <a:spcPct val="0"/>
              </a:spcBef>
              <a:spcAft>
                <a:spcPct val="35000"/>
              </a:spcAft>
              <a:buNone/>
            </a:pPr>
            <a:r>
              <a:rPr lang="en-US" sz="900" b="1" u="none" kern="1200" dirty="0"/>
              <a:t>Scenario 4:</a:t>
            </a:r>
            <a:r>
              <a:rPr lang="en-US" sz="900" b="0" u="none" kern="1200" dirty="0"/>
              <a:t> Formalize the semantic relation between two selected columns</a:t>
            </a:r>
            <a:endParaRPr lang="en-NL" sz="900" b="0" u="none" kern="1200" dirty="0"/>
          </a:p>
        </p:txBody>
      </p:sp>
    </p:spTree>
    <p:extLst>
      <p:ext uri="{BB962C8B-B14F-4D97-AF65-F5344CB8AC3E}">
        <p14:creationId xmlns:p14="http://schemas.microsoft.com/office/powerpoint/2010/main" val="26599015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mph" presetSubtype="0" grpId="0" nodeType="withEffect">
                                  <p:stCondLst>
                                    <p:cond delay="0"/>
                                  </p:stCondLst>
                                  <p:childTnLst>
                                    <p:set>
                                      <p:cBhvr>
                                        <p:cTn id="6" dur="indefinite"/>
                                        <p:tgtEl>
                                          <p:spTgt spid="9"/>
                                        </p:tgtEl>
                                        <p:attrNameLst>
                                          <p:attrName>style.opacity</p:attrName>
                                        </p:attrNameLst>
                                      </p:cBhvr>
                                      <p:to>
                                        <p:strVal val="0.5"/>
                                      </p:to>
                                    </p:set>
                                    <p:animEffect filter="image" prLst="opacity: 0.5">
                                      <p:cBhvr rctx="IE">
                                        <p:cTn id="7" dur="indefinite"/>
                                        <p:tgtEl>
                                          <p:spTgt spid="9"/>
                                        </p:tgtEl>
                                      </p:cBhvr>
                                    </p:animEffect>
                                  </p:childTnLst>
                                </p:cTn>
                              </p:par>
                              <p:par>
                                <p:cTn id="8" presetID="9" presetClass="emph" presetSubtype="0" grpId="0" nodeType="withEffect">
                                  <p:stCondLst>
                                    <p:cond delay="0"/>
                                  </p:stCondLst>
                                  <p:childTnLst>
                                    <p:set>
                                      <p:cBhvr>
                                        <p:cTn id="9" dur="indefinite"/>
                                        <p:tgtEl>
                                          <p:spTgt spid="11"/>
                                        </p:tgtEl>
                                        <p:attrNameLst>
                                          <p:attrName>style.opacity</p:attrName>
                                        </p:attrNameLst>
                                      </p:cBhvr>
                                      <p:to>
                                        <p:strVal val="0.5"/>
                                      </p:to>
                                    </p:set>
                                    <p:animEffect filter="image" prLst="opacity: 0.5">
                                      <p:cBhvr rctx="IE">
                                        <p:cTn id="10" dur="indefinite"/>
                                        <p:tgtEl>
                                          <p:spTgt spid="11"/>
                                        </p:tgtEl>
                                      </p:cBhvr>
                                    </p:animEffect>
                                  </p:childTnLst>
                                </p:cTn>
                              </p:par>
                              <p:par>
                                <p:cTn id="11" presetID="9" presetClass="emph" presetSubtype="0" grpId="0" nodeType="withEffect">
                                  <p:stCondLst>
                                    <p:cond delay="0"/>
                                  </p:stCondLst>
                                  <p:childTnLst>
                                    <p:set>
                                      <p:cBhvr>
                                        <p:cTn id="12" dur="indefinite"/>
                                        <p:tgtEl>
                                          <p:spTgt spid="13"/>
                                        </p:tgtEl>
                                        <p:attrNameLst>
                                          <p:attrName>style.opacity</p:attrName>
                                        </p:attrNameLst>
                                      </p:cBhvr>
                                      <p:to>
                                        <p:strVal val="0.5"/>
                                      </p:to>
                                    </p:set>
                                    <p:animEffect filter="image" prLst="opacity: 0.5">
                                      <p:cBhvr rctx="IE">
                                        <p:cTn id="13" dur="indefinite"/>
                                        <p:tgtEl>
                                          <p:spTgt spid="13"/>
                                        </p:tgtEl>
                                      </p:cBhvr>
                                    </p:animEffect>
                                  </p:childTnLst>
                                </p:cTn>
                              </p:par>
                              <p:par>
                                <p:cTn id="14" presetID="9" presetClass="emph" presetSubtype="0" grpId="0" nodeType="withEffect">
                                  <p:stCondLst>
                                    <p:cond delay="0"/>
                                  </p:stCondLst>
                                  <p:childTnLst>
                                    <p:set>
                                      <p:cBhvr>
                                        <p:cTn id="15" dur="indefinite"/>
                                        <p:tgtEl>
                                          <p:spTgt spid="18"/>
                                        </p:tgtEl>
                                        <p:attrNameLst>
                                          <p:attrName>style.opacity</p:attrName>
                                        </p:attrNameLst>
                                      </p:cBhvr>
                                      <p:to>
                                        <p:strVal val="0.5"/>
                                      </p:to>
                                    </p:set>
                                    <p:animEffect filter="image" prLst="opacity: 0.5">
                                      <p:cBhvr rctx="IE">
                                        <p:cTn id="16" dur="indefinite"/>
                                        <p:tgtEl>
                                          <p:spTgt spid="18"/>
                                        </p:tgtEl>
                                      </p:cBhvr>
                                    </p:animEffect>
                                  </p:childTnLst>
                                </p:cTn>
                              </p:par>
                              <p:par>
                                <p:cTn id="17" presetID="9" presetClass="emph" presetSubtype="0" grpId="0" nodeType="withEffect">
                                  <p:stCondLst>
                                    <p:cond delay="0"/>
                                  </p:stCondLst>
                                  <p:childTnLst>
                                    <p:set>
                                      <p:cBhvr>
                                        <p:cTn id="18" dur="indefinite"/>
                                        <p:tgtEl>
                                          <p:spTgt spid="17"/>
                                        </p:tgtEl>
                                        <p:attrNameLst>
                                          <p:attrName>style.opacity</p:attrName>
                                        </p:attrNameLst>
                                      </p:cBhvr>
                                      <p:to>
                                        <p:strVal val="0.5"/>
                                      </p:to>
                                    </p:set>
                                    <p:animEffect filter="image" prLst="opacity: 0.5">
                                      <p:cBhvr rctx="IE">
                                        <p:cTn id="19" dur="indefinite"/>
                                        <p:tgtEl>
                                          <p:spTgt spid="17"/>
                                        </p:tgtEl>
                                      </p:cBhvr>
                                    </p:animEffect>
                                  </p:childTnLst>
                                </p:cTn>
                              </p:par>
                              <p:par>
                                <p:cTn id="20" presetID="6" presetClass="emph" presetSubtype="0" fill="hold" grpId="0" nodeType="withEffect">
                                  <p:stCondLst>
                                    <p:cond delay="0"/>
                                  </p:stCondLst>
                                  <p:childTnLst>
                                    <p:animScale>
                                      <p:cBhvr>
                                        <p:cTn id="21" dur="1000" fill="hold"/>
                                        <p:tgtEl>
                                          <p:spTgt spid="15"/>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3" grpId="0" animBg="1"/>
      <p:bldP spid="17" grpId="0" animBg="1"/>
      <p:bldP spid="18" grpId="0" animBg="1"/>
      <p:bldP spid="9" grpId="0" animBg="1"/>
      <p:bldP spid="15"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9D3BB1-65EE-58D9-26DB-6D3E4138B4B9}"/>
              </a:ext>
            </a:extLst>
          </p:cNvPr>
          <p:cNvSpPr>
            <a:spLocks noGrp="1"/>
          </p:cNvSpPr>
          <p:nvPr>
            <p:ph type="title"/>
          </p:nvPr>
        </p:nvSpPr>
        <p:spPr/>
        <p:txBody>
          <a:bodyPr/>
          <a:lstStyle/>
          <a:p>
            <a:r>
              <a:rPr lang="en-US" sz="3600" dirty="0"/>
              <a:t>Amir’s Question and Challenge</a:t>
            </a:r>
            <a:endParaRPr lang="en-NL" sz="3600" dirty="0"/>
          </a:p>
        </p:txBody>
      </p:sp>
      <p:sp>
        <p:nvSpPr>
          <p:cNvPr id="3" name="Content Placeholder 2">
            <a:extLst>
              <a:ext uri="{FF2B5EF4-FFF2-40B4-BE49-F238E27FC236}">
                <a16:creationId xmlns:a16="http://schemas.microsoft.com/office/drawing/2014/main" id="{F0471432-21FA-F59B-051F-400AF78D86CF}"/>
              </a:ext>
            </a:extLst>
          </p:cNvPr>
          <p:cNvSpPr>
            <a:spLocks noGrp="1"/>
          </p:cNvSpPr>
          <p:nvPr>
            <p:ph idx="1"/>
          </p:nvPr>
        </p:nvSpPr>
        <p:spPr/>
        <p:txBody>
          <a:bodyPr/>
          <a:lstStyle/>
          <a:p>
            <a:endParaRPr lang="en-NL"/>
          </a:p>
        </p:txBody>
      </p:sp>
      <p:sp>
        <p:nvSpPr>
          <p:cNvPr id="4" name="Slide Number Placeholder 3">
            <a:extLst>
              <a:ext uri="{FF2B5EF4-FFF2-40B4-BE49-F238E27FC236}">
                <a16:creationId xmlns:a16="http://schemas.microsoft.com/office/drawing/2014/main" id="{093979EA-86FF-70FD-CCCB-2507861E5364}"/>
              </a:ext>
            </a:extLst>
          </p:cNvPr>
          <p:cNvSpPr>
            <a:spLocks noGrp="1"/>
          </p:cNvSpPr>
          <p:nvPr>
            <p:ph type="sldNum" sz="quarter" idx="12"/>
          </p:nvPr>
        </p:nvSpPr>
        <p:spPr/>
        <p:txBody>
          <a:bodyPr/>
          <a:lstStyle/>
          <a:p>
            <a:fld id="{4FAB73BC-B049-4115-A692-8D63A059BFB8}" type="slidenum">
              <a:rPr lang="en-US" smtClean="0"/>
              <a:pPr/>
              <a:t>38</a:t>
            </a:fld>
            <a:endParaRPr lang="en-US" dirty="0"/>
          </a:p>
        </p:txBody>
      </p:sp>
      <p:sp>
        <p:nvSpPr>
          <p:cNvPr id="5" name="Rectangle: Rounded Corners 4">
            <a:extLst>
              <a:ext uri="{FF2B5EF4-FFF2-40B4-BE49-F238E27FC236}">
                <a16:creationId xmlns:a16="http://schemas.microsoft.com/office/drawing/2014/main" id="{59E15946-CE33-3B2E-F30B-BC18043F5E18}"/>
              </a:ext>
            </a:extLst>
          </p:cNvPr>
          <p:cNvSpPr/>
          <p:nvPr/>
        </p:nvSpPr>
        <p:spPr>
          <a:xfrm>
            <a:off x="695327" y="1637270"/>
            <a:ext cx="10801348" cy="4321175"/>
          </a:xfrm>
          <a:prstGeom prst="roundRect">
            <a:avLst>
              <a:gd name="adj" fmla="val 0"/>
            </a:avLst>
          </a:prstGeom>
          <a:solidFill>
            <a:schemeClr val="accent1">
              <a:lumMod val="20000"/>
              <a:lumOff val="80000"/>
            </a:schemeClr>
          </a:solidFill>
          <a:ln w="19050">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NL"/>
          </a:p>
        </p:txBody>
      </p:sp>
      <p:sp>
        <p:nvSpPr>
          <p:cNvPr id="21" name="Freeform: Shape 20">
            <a:extLst>
              <a:ext uri="{FF2B5EF4-FFF2-40B4-BE49-F238E27FC236}">
                <a16:creationId xmlns:a16="http://schemas.microsoft.com/office/drawing/2014/main" id="{5133A5C5-2437-2569-7FE2-70179B6D1B75}"/>
              </a:ext>
            </a:extLst>
          </p:cNvPr>
          <p:cNvSpPr/>
          <p:nvPr/>
        </p:nvSpPr>
        <p:spPr>
          <a:xfrm>
            <a:off x="960855" y="1882235"/>
            <a:ext cx="6293737" cy="1261697"/>
          </a:xfrm>
          <a:custGeom>
            <a:avLst/>
            <a:gdLst>
              <a:gd name="csX0" fmla="*/ 0 w 6696074"/>
              <a:gd name="csY0" fmla="*/ 0 h 1612800"/>
              <a:gd name="csX1" fmla="*/ 6696074 w 6696074"/>
              <a:gd name="csY1" fmla="*/ 0 h 1612800"/>
              <a:gd name="csX2" fmla="*/ 6696074 w 6696074"/>
              <a:gd name="csY2" fmla="*/ 1612800 h 1612800"/>
              <a:gd name="csX3" fmla="*/ 0 w 6696074"/>
              <a:gd name="csY3" fmla="*/ 1612800 h 1612800"/>
              <a:gd name="csX4" fmla="*/ 0 w 6696074"/>
              <a:gd name="csY4" fmla="*/ 0 h 1612800"/>
            </a:gdLst>
            <a:ahLst/>
            <a:cxnLst>
              <a:cxn ang="0">
                <a:pos x="csX0" y="csY0"/>
              </a:cxn>
              <a:cxn ang="0">
                <a:pos x="csX1" y="csY1"/>
              </a:cxn>
              <a:cxn ang="0">
                <a:pos x="csX2" y="csY2"/>
              </a:cxn>
              <a:cxn ang="0">
                <a:pos x="csX3" y="csY3"/>
              </a:cxn>
              <a:cxn ang="0">
                <a:pos x="csX4" y="csY4"/>
              </a:cxn>
            </a:cxnLst>
            <a:rect l="l" t="t" r="r" b="b"/>
            <a:pathLst>
              <a:path w="6696074" h="1612800">
                <a:moveTo>
                  <a:pt x="0" y="0"/>
                </a:moveTo>
                <a:lnTo>
                  <a:pt x="6696074" y="0"/>
                </a:lnTo>
                <a:lnTo>
                  <a:pt x="6696074" y="1612800"/>
                </a:lnTo>
                <a:lnTo>
                  <a:pt x="0" y="1612800"/>
                </a:lnTo>
                <a:lnTo>
                  <a:pt x="0" y="0"/>
                </a:lnTo>
                <a:close/>
              </a:path>
            </a:pathLst>
          </a:custGeom>
        </p:spPr>
        <p:style>
          <a:lnRef idx="1">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360000" tIns="360000" rIns="108000" bIns="108000" numCol="1" spcCol="1270" anchor="t" anchorCtr="0">
            <a:noAutofit/>
          </a:bodyPr>
          <a:lstStyle/>
          <a:p>
            <a:pPr marL="171450" lvl="1" indent="-171450" defTabSz="711200">
              <a:lnSpc>
                <a:spcPct val="90000"/>
              </a:lnSpc>
              <a:spcBef>
                <a:spcPts val="300"/>
              </a:spcBef>
              <a:spcAft>
                <a:spcPts val="300"/>
              </a:spcAft>
              <a:buChar char="•"/>
            </a:pPr>
            <a:r>
              <a:rPr lang="en-US" sz="1400" dirty="0"/>
              <a:t>Verify the formal relation between two selected variables</a:t>
            </a:r>
          </a:p>
          <a:p>
            <a:pPr marL="171450" lvl="1" indent="-171450" defTabSz="711200">
              <a:lnSpc>
                <a:spcPct val="90000"/>
              </a:lnSpc>
              <a:spcBef>
                <a:spcPts val="300"/>
              </a:spcBef>
              <a:spcAft>
                <a:spcPts val="300"/>
              </a:spcAft>
              <a:buChar char="•"/>
            </a:pPr>
            <a:r>
              <a:rPr lang="en-US" sz="1400" dirty="0"/>
              <a:t>Translate semantic understanding into a documented reuse decision</a:t>
            </a:r>
          </a:p>
          <a:p>
            <a:pPr marL="171450" lvl="1" indent="-171450" defTabSz="711200">
              <a:lnSpc>
                <a:spcPct val="90000"/>
              </a:lnSpc>
              <a:spcBef>
                <a:spcPts val="300"/>
              </a:spcBef>
              <a:spcAft>
                <a:spcPts val="300"/>
              </a:spcAft>
              <a:buChar char="•"/>
            </a:pPr>
            <a:r>
              <a:rPr lang="en-US" sz="1400" dirty="0"/>
              <a:t>Make his inclusion and exclusion choices easier to explain and defend</a:t>
            </a:r>
          </a:p>
        </p:txBody>
      </p:sp>
      <p:sp>
        <p:nvSpPr>
          <p:cNvPr id="22" name="Freeform: Shape 21">
            <a:extLst>
              <a:ext uri="{FF2B5EF4-FFF2-40B4-BE49-F238E27FC236}">
                <a16:creationId xmlns:a16="http://schemas.microsoft.com/office/drawing/2014/main" id="{0D161CB3-7F99-23B6-FC04-50D38486208A}"/>
              </a:ext>
            </a:extLst>
          </p:cNvPr>
          <p:cNvSpPr/>
          <p:nvPr/>
        </p:nvSpPr>
        <p:spPr>
          <a:xfrm>
            <a:off x="1085983" y="1744575"/>
            <a:ext cx="3163443" cy="392715"/>
          </a:xfrm>
          <a:custGeom>
            <a:avLst/>
            <a:gdLst>
              <a:gd name="csX0" fmla="*/ 0 w 4687251"/>
              <a:gd name="csY0" fmla="*/ 157443 h 944640"/>
              <a:gd name="csX1" fmla="*/ 157443 w 4687251"/>
              <a:gd name="csY1" fmla="*/ 0 h 944640"/>
              <a:gd name="csX2" fmla="*/ 4529808 w 4687251"/>
              <a:gd name="csY2" fmla="*/ 0 h 944640"/>
              <a:gd name="csX3" fmla="*/ 4687251 w 4687251"/>
              <a:gd name="csY3" fmla="*/ 157443 h 944640"/>
              <a:gd name="csX4" fmla="*/ 4687251 w 4687251"/>
              <a:gd name="csY4" fmla="*/ 787197 h 944640"/>
              <a:gd name="csX5" fmla="*/ 4529808 w 4687251"/>
              <a:gd name="csY5" fmla="*/ 944640 h 944640"/>
              <a:gd name="csX6" fmla="*/ 157443 w 4687251"/>
              <a:gd name="csY6" fmla="*/ 944640 h 944640"/>
              <a:gd name="csX7" fmla="*/ 0 w 4687251"/>
              <a:gd name="csY7" fmla="*/ 787197 h 944640"/>
              <a:gd name="csX8" fmla="*/ 0 w 4687251"/>
              <a:gd name="csY8" fmla="*/ 157443 h 9446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687251" h="944640">
                <a:moveTo>
                  <a:pt x="0" y="157443"/>
                </a:moveTo>
                <a:cubicBezTo>
                  <a:pt x="0" y="70490"/>
                  <a:pt x="70490" y="0"/>
                  <a:pt x="157443" y="0"/>
                </a:cubicBezTo>
                <a:lnTo>
                  <a:pt x="4529808" y="0"/>
                </a:lnTo>
                <a:cubicBezTo>
                  <a:pt x="4616761" y="0"/>
                  <a:pt x="4687251" y="70490"/>
                  <a:pt x="4687251" y="157443"/>
                </a:cubicBezTo>
                <a:lnTo>
                  <a:pt x="4687251" y="787197"/>
                </a:lnTo>
                <a:cubicBezTo>
                  <a:pt x="4687251" y="874150"/>
                  <a:pt x="4616761" y="944640"/>
                  <a:pt x="4529808" y="944640"/>
                </a:cubicBezTo>
                <a:lnTo>
                  <a:pt x="157443" y="944640"/>
                </a:lnTo>
                <a:cubicBezTo>
                  <a:pt x="70490" y="944640"/>
                  <a:pt x="0" y="874150"/>
                  <a:pt x="0" y="787197"/>
                </a:cubicBezTo>
                <a:lnTo>
                  <a:pt x="0" y="157443"/>
                </a:lnTo>
                <a:close/>
              </a:path>
            </a:pathLst>
          </a:custGeom>
        </p:spPr>
        <p:style>
          <a:lnRef idx="0">
            <a:schemeClr val="lt1">
              <a:hueOff val="0"/>
              <a:satOff val="0"/>
              <a:lumOff val="0"/>
              <a:alphaOff val="0"/>
            </a:schemeClr>
          </a:lnRef>
          <a:fillRef idx="3">
            <a:schemeClr val="accent4">
              <a:hueOff val="0"/>
              <a:satOff val="0"/>
              <a:lumOff val="0"/>
              <a:alphaOff val="0"/>
            </a:schemeClr>
          </a:fillRef>
          <a:effectRef idx="2">
            <a:schemeClr val="accent4">
              <a:hueOff val="0"/>
              <a:satOff val="0"/>
              <a:lumOff val="0"/>
              <a:alphaOff val="0"/>
            </a:schemeClr>
          </a:effectRef>
          <a:fontRef idx="minor">
            <a:schemeClr val="lt1"/>
          </a:fontRef>
        </p:style>
        <p:txBody>
          <a:bodyPr spcFirstLastPara="0" vert="horz" wrap="square" lIns="223281" tIns="46114" rIns="223281" bIns="46114" numCol="1" spcCol="1270" anchor="ctr" anchorCtr="0">
            <a:noAutofit/>
          </a:bodyPr>
          <a:lstStyle/>
          <a:p>
            <a:pPr marL="0" lvl="0" indent="0" algn="l" defTabSz="800100">
              <a:lnSpc>
                <a:spcPct val="90000"/>
              </a:lnSpc>
              <a:spcBef>
                <a:spcPct val="0"/>
              </a:spcBef>
              <a:spcAft>
                <a:spcPct val="35000"/>
              </a:spcAft>
              <a:buNone/>
            </a:pPr>
            <a:r>
              <a:rPr lang="en-US" sz="1800" kern="1200" dirty="0"/>
              <a:t>What Amir wants</a:t>
            </a:r>
            <a:endParaRPr lang="en-NL" sz="1800" kern="1200" dirty="0"/>
          </a:p>
        </p:txBody>
      </p:sp>
      <p:sp>
        <p:nvSpPr>
          <p:cNvPr id="23" name="Freeform: Shape 22">
            <a:extLst>
              <a:ext uri="{FF2B5EF4-FFF2-40B4-BE49-F238E27FC236}">
                <a16:creationId xmlns:a16="http://schemas.microsoft.com/office/drawing/2014/main" id="{7A3610A3-F84F-45F3-B38A-4E885CC02DE1}"/>
              </a:ext>
            </a:extLst>
          </p:cNvPr>
          <p:cNvSpPr/>
          <p:nvPr/>
        </p:nvSpPr>
        <p:spPr>
          <a:xfrm>
            <a:off x="960855" y="3449062"/>
            <a:ext cx="6293737" cy="1261697"/>
          </a:xfrm>
          <a:custGeom>
            <a:avLst/>
            <a:gdLst>
              <a:gd name="csX0" fmla="*/ 0 w 6696074"/>
              <a:gd name="csY0" fmla="*/ 0 h 1537199"/>
              <a:gd name="csX1" fmla="*/ 6696074 w 6696074"/>
              <a:gd name="csY1" fmla="*/ 0 h 1537199"/>
              <a:gd name="csX2" fmla="*/ 6696074 w 6696074"/>
              <a:gd name="csY2" fmla="*/ 1537199 h 1537199"/>
              <a:gd name="csX3" fmla="*/ 0 w 6696074"/>
              <a:gd name="csY3" fmla="*/ 1537199 h 1537199"/>
              <a:gd name="csX4" fmla="*/ 0 w 6696074"/>
              <a:gd name="csY4" fmla="*/ 0 h 1537199"/>
            </a:gdLst>
            <a:ahLst/>
            <a:cxnLst>
              <a:cxn ang="0">
                <a:pos x="csX0" y="csY0"/>
              </a:cxn>
              <a:cxn ang="0">
                <a:pos x="csX1" y="csY1"/>
              </a:cxn>
              <a:cxn ang="0">
                <a:pos x="csX2" y="csY2"/>
              </a:cxn>
              <a:cxn ang="0">
                <a:pos x="csX3" y="csY3"/>
              </a:cxn>
              <a:cxn ang="0">
                <a:pos x="csX4" y="csY4"/>
              </a:cxn>
            </a:cxnLst>
            <a:rect l="l" t="t" r="r" b="b"/>
            <a:pathLst>
              <a:path w="6696074" h="1537199">
                <a:moveTo>
                  <a:pt x="0" y="0"/>
                </a:moveTo>
                <a:lnTo>
                  <a:pt x="6696074" y="0"/>
                </a:lnTo>
                <a:lnTo>
                  <a:pt x="6696074" y="1537199"/>
                </a:lnTo>
                <a:lnTo>
                  <a:pt x="0" y="1537199"/>
                </a:lnTo>
                <a:lnTo>
                  <a:pt x="0" y="0"/>
                </a:lnTo>
                <a:close/>
              </a:path>
            </a:pathLst>
          </a:custGeom>
        </p:spPr>
        <p:style>
          <a:lnRef idx="1">
            <a:schemeClr val="accent4">
              <a:hueOff val="-7382464"/>
              <a:satOff val="22475"/>
              <a:lumOff val="33922"/>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360000" tIns="360000" rIns="360000" bIns="108000" numCol="1" spcCol="1270" anchor="t" anchorCtr="0">
            <a:noAutofit/>
          </a:bodyPr>
          <a:lstStyle/>
          <a:p>
            <a:pPr marL="171450" lvl="1" indent="-171450" defTabSz="711200">
              <a:lnSpc>
                <a:spcPct val="90000"/>
              </a:lnSpc>
              <a:spcBef>
                <a:spcPct val="0"/>
              </a:spcBef>
              <a:spcAft>
                <a:spcPts val="600"/>
              </a:spcAft>
              <a:buChar char="•"/>
            </a:pPr>
            <a:r>
              <a:rPr lang="en-US" sz="1400" dirty="0"/>
              <a:t>The different meanings are now clear to Amir. However, to document the outcome of his analysis properly, he needs the semantic layer to state the formal relation between the two selected columns.</a:t>
            </a:r>
          </a:p>
        </p:txBody>
      </p:sp>
      <p:sp>
        <p:nvSpPr>
          <p:cNvPr id="24" name="Freeform: Shape 23">
            <a:extLst>
              <a:ext uri="{FF2B5EF4-FFF2-40B4-BE49-F238E27FC236}">
                <a16:creationId xmlns:a16="http://schemas.microsoft.com/office/drawing/2014/main" id="{51112F00-17E9-ECB6-4A00-874E638233BC}"/>
              </a:ext>
            </a:extLst>
          </p:cNvPr>
          <p:cNvSpPr/>
          <p:nvPr/>
        </p:nvSpPr>
        <p:spPr>
          <a:xfrm>
            <a:off x="1085983" y="3281592"/>
            <a:ext cx="3163443" cy="392715"/>
          </a:xfrm>
          <a:custGeom>
            <a:avLst/>
            <a:gdLst>
              <a:gd name="csX0" fmla="*/ 0 w 4687251"/>
              <a:gd name="csY0" fmla="*/ 157443 h 944640"/>
              <a:gd name="csX1" fmla="*/ 157443 w 4687251"/>
              <a:gd name="csY1" fmla="*/ 0 h 944640"/>
              <a:gd name="csX2" fmla="*/ 4529808 w 4687251"/>
              <a:gd name="csY2" fmla="*/ 0 h 944640"/>
              <a:gd name="csX3" fmla="*/ 4687251 w 4687251"/>
              <a:gd name="csY3" fmla="*/ 157443 h 944640"/>
              <a:gd name="csX4" fmla="*/ 4687251 w 4687251"/>
              <a:gd name="csY4" fmla="*/ 787197 h 944640"/>
              <a:gd name="csX5" fmla="*/ 4529808 w 4687251"/>
              <a:gd name="csY5" fmla="*/ 944640 h 944640"/>
              <a:gd name="csX6" fmla="*/ 157443 w 4687251"/>
              <a:gd name="csY6" fmla="*/ 944640 h 944640"/>
              <a:gd name="csX7" fmla="*/ 0 w 4687251"/>
              <a:gd name="csY7" fmla="*/ 787197 h 944640"/>
              <a:gd name="csX8" fmla="*/ 0 w 4687251"/>
              <a:gd name="csY8" fmla="*/ 157443 h 9446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687251" h="944640">
                <a:moveTo>
                  <a:pt x="0" y="157443"/>
                </a:moveTo>
                <a:cubicBezTo>
                  <a:pt x="0" y="70490"/>
                  <a:pt x="70490" y="0"/>
                  <a:pt x="157443" y="0"/>
                </a:cubicBezTo>
                <a:lnTo>
                  <a:pt x="4529808" y="0"/>
                </a:lnTo>
                <a:cubicBezTo>
                  <a:pt x="4616761" y="0"/>
                  <a:pt x="4687251" y="70490"/>
                  <a:pt x="4687251" y="157443"/>
                </a:cubicBezTo>
                <a:lnTo>
                  <a:pt x="4687251" y="787197"/>
                </a:lnTo>
                <a:cubicBezTo>
                  <a:pt x="4687251" y="874150"/>
                  <a:pt x="4616761" y="944640"/>
                  <a:pt x="4529808" y="944640"/>
                </a:cubicBezTo>
                <a:lnTo>
                  <a:pt x="157443" y="944640"/>
                </a:lnTo>
                <a:cubicBezTo>
                  <a:pt x="70490" y="944640"/>
                  <a:pt x="0" y="874150"/>
                  <a:pt x="0" y="787197"/>
                </a:cubicBezTo>
                <a:lnTo>
                  <a:pt x="0" y="157443"/>
                </a:lnTo>
                <a:close/>
              </a:path>
            </a:pathLst>
          </a:custGeom>
        </p:spPr>
        <p:style>
          <a:lnRef idx="0">
            <a:schemeClr val="lt1">
              <a:hueOff val="0"/>
              <a:satOff val="0"/>
              <a:lumOff val="0"/>
              <a:alphaOff val="0"/>
            </a:schemeClr>
          </a:lnRef>
          <a:fillRef idx="3">
            <a:schemeClr val="accent4">
              <a:hueOff val="-7382464"/>
              <a:satOff val="22475"/>
              <a:lumOff val="33922"/>
              <a:alphaOff val="0"/>
            </a:schemeClr>
          </a:fillRef>
          <a:effectRef idx="2">
            <a:schemeClr val="accent4">
              <a:hueOff val="-7382464"/>
              <a:satOff val="22475"/>
              <a:lumOff val="33922"/>
              <a:alphaOff val="0"/>
            </a:schemeClr>
          </a:effectRef>
          <a:fontRef idx="minor">
            <a:schemeClr val="lt1"/>
          </a:fontRef>
        </p:style>
        <p:txBody>
          <a:bodyPr spcFirstLastPara="0" vert="horz" wrap="square" lIns="223281" tIns="46114" rIns="223281" bIns="46114" numCol="1" spcCol="1270" anchor="ctr" anchorCtr="0">
            <a:noAutofit/>
          </a:bodyPr>
          <a:lstStyle/>
          <a:p>
            <a:pPr marL="0" lvl="0" indent="0" algn="l" defTabSz="800100">
              <a:lnSpc>
                <a:spcPct val="90000"/>
              </a:lnSpc>
              <a:spcBef>
                <a:spcPct val="0"/>
              </a:spcBef>
              <a:spcAft>
                <a:spcPct val="35000"/>
              </a:spcAft>
              <a:buNone/>
            </a:pPr>
            <a:r>
              <a:rPr lang="en-US" sz="1800" kern="1200" dirty="0"/>
              <a:t>Amir’s challenge</a:t>
            </a:r>
            <a:endParaRPr lang="en-NL" sz="1800" kern="1200" dirty="0"/>
          </a:p>
        </p:txBody>
      </p:sp>
      <p:sp>
        <p:nvSpPr>
          <p:cNvPr id="25" name="TextBox 24">
            <a:extLst>
              <a:ext uri="{FF2B5EF4-FFF2-40B4-BE49-F238E27FC236}">
                <a16:creationId xmlns:a16="http://schemas.microsoft.com/office/drawing/2014/main" id="{14614EA0-5FCF-A637-7A90-55B3E5F1C1E0}"/>
              </a:ext>
            </a:extLst>
          </p:cNvPr>
          <p:cNvSpPr txBox="1"/>
          <p:nvPr/>
        </p:nvSpPr>
        <p:spPr>
          <a:xfrm>
            <a:off x="653368" y="4770467"/>
            <a:ext cx="6908709" cy="979069"/>
          </a:xfrm>
          <a:prstGeom prst="rect">
            <a:avLst/>
          </a:prstGeom>
          <a:noFill/>
        </p:spPr>
        <p:txBody>
          <a:bodyPr wrap="square" lIns="180000" tIns="180000" rIns="180000" bIns="180000" rtlCol="0">
            <a:spAutoFit/>
          </a:bodyPr>
          <a:lstStyle/>
          <a:p>
            <a:pPr algn="ctr"/>
            <a:r>
              <a:rPr lang="en-US" sz="2000" b="1" i="1" dirty="0"/>
              <a:t>“What is the semantic relation between </a:t>
            </a:r>
            <a:r>
              <a:rPr lang="en-US" sz="2000" b="1" i="1" dirty="0" err="1">
                <a:latin typeface="Atkinson Hyperlegible" pitchFamily="2" charset="0"/>
              </a:rPr>
              <a:t>care-sm:Sex</a:t>
            </a:r>
            <a:r>
              <a:rPr lang="en-US" sz="2000" b="1" i="1" dirty="0"/>
              <a:t> and </a:t>
            </a:r>
            <a:r>
              <a:rPr lang="en-US" sz="2000" b="1" i="1" dirty="0">
                <a:latin typeface="Atkinson Hyperlegible" pitchFamily="2" charset="0"/>
              </a:rPr>
              <a:t>hri-fhir-r5:individual-gender-identity/value</a:t>
            </a:r>
            <a:r>
              <a:rPr lang="en-US" sz="2000" b="1" i="1" dirty="0"/>
              <a:t>?”</a:t>
            </a:r>
            <a:endParaRPr lang="en-US" sz="2000" i="1" dirty="0"/>
          </a:p>
        </p:txBody>
      </p:sp>
      <p:graphicFrame>
        <p:nvGraphicFramePr>
          <p:cNvPr id="6" name="Content Placeholder 4">
            <a:extLst>
              <a:ext uri="{FF2B5EF4-FFF2-40B4-BE49-F238E27FC236}">
                <a16:creationId xmlns:a16="http://schemas.microsoft.com/office/drawing/2014/main" id="{E32D8BC9-6643-DC7F-E2E1-62D2AFC5006B}"/>
              </a:ext>
            </a:extLst>
          </p:cNvPr>
          <p:cNvGraphicFramePr>
            <a:graphicFrameLocks/>
          </p:cNvGraphicFramePr>
          <p:nvPr>
            <p:extLst>
              <p:ext uri="{D42A27DB-BD31-4B8C-83A1-F6EECF244321}">
                <p14:modId xmlns:p14="http://schemas.microsoft.com/office/powerpoint/2010/main" val="3217226190"/>
              </p:ext>
            </p:extLst>
          </p:nvPr>
        </p:nvGraphicFramePr>
        <p:xfrm>
          <a:off x="7878355" y="3118199"/>
          <a:ext cx="2811677" cy="1278051"/>
        </p:xfrm>
        <a:graphic>
          <a:graphicData uri="http://schemas.openxmlformats.org/drawingml/2006/table">
            <a:tbl>
              <a:tblPr firstRow="1" bandRow="1">
                <a:effectLst>
                  <a:outerShdw blurRad="50800" dist="38100" dir="2700000" algn="tl" rotWithShape="0">
                    <a:prstClr val="black">
                      <a:alpha val="40000"/>
                    </a:prstClr>
                  </a:outerShdw>
                </a:effectLst>
                <a:tableStyleId>{21E4AEA4-8DFA-4A89-87EB-49C32662AFE0}</a:tableStyleId>
              </a:tblPr>
              <a:tblGrid>
                <a:gridCol w="360000">
                  <a:extLst>
                    <a:ext uri="{9D8B030D-6E8A-4147-A177-3AD203B41FA5}">
                      <a16:colId xmlns:a16="http://schemas.microsoft.com/office/drawing/2014/main" val="979315127"/>
                    </a:ext>
                  </a:extLst>
                </a:gridCol>
                <a:gridCol w="1731677">
                  <a:extLst>
                    <a:ext uri="{9D8B030D-6E8A-4147-A177-3AD203B41FA5}">
                      <a16:colId xmlns:a16="http://schemas.microsoft.com/office/drawing/2014/main" val="2075302567"/>
                    </a:ext>
                  </a:extLst>
                </a:gridCol>
                <a:gridCol w="360000">
                  <a:extLst>
                    <a:ext uri="{9D8B030D-6E8A-4147-A177-3AD203B41FA5}">
                      <a16:colId xmlns:a16="http://schemas.microsoft.com/office/drawing/2014/main" val="660631070"/>
                    </a:ext>
                  </a:extLst>
                </a:gridCol>
                <a:gridCol w="360000">
                  <a:extLst>
                    <a:ext uri="{9D8B030D-6E8A-4147-A177-3AD203B41FA5}">
                      <a16:colId xmlns:a16="http://schemas.microsoft.com/office/drawing/2014/main" val="1525013378"/>
                    </a:ext>
                  </a:extLst>
                </a:gridCol>
              </a:tblGrid>
              <a:tr h="367200">
                <a:tc>
                  <a:txBody>
                    <a:bodyPr/>
                    <a:lstStyle/>
                    <a:p>
                      <a:pPr algn="l"/>
                      <a:endParaRPr lang="en-NL" sz="1100" dirty="0"/>
                    </a:p>
                  </a:txBody>
                  <a:tcPr marL="72000" anchor="ctr"/>
                </a:tc>
                <a:tc>
                  <a:txBody>
                    <a:bodyPr/>
                    <a:lstStyle/>
                    <a:p>
                      <a:pPr algn="l"/>
                      <a:r>
                        <a:rPr lang="en-US" sz="900" dirty="0" err="1"/>
                        <a:t>hri-openehr:legal-gender</a:t>
                      </a:r>
                      <a:endParaRPr lang="en-US" sz="900" dirty="0"/>
                    </a:p>
                    <a:p>
                      <a:pPr algn="l"/>
                      <a:r>
                        <a:rPr lang="en-US" sz="900" dirty="0"/>
                        <a:t>("Legal gender"@</a:t>
                      </a:r>
                      <a:r>
                        <a:rPr lang="en-US" sz="900" dirty="0" err="1"/>
                        <a:t>en</a:t>
                      </a:r>
                      <a:r>
                        <a:rPr lang="en-US" sz="900" dirty="0"/>
                        <a:t>)</a:t>
                      </a:r>
                      <a:endParaRPr lang="en-US" sz="850" dirty="0"/>
                    </a:p>
                  </a:txBody>
                  <a:tcPr marL="72000" marR="18000" marT="0" marB="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3012902903"/>
                  </a:ext>
                </a:extLst>
              </a:tr>
              <a:tr h="306000">
                <a:tc>
                  <a:txBody>
                    <a:bodyPr/>
                    <a:lstStyle/>
                    <a:p>
                      <a:pPr algn="l"/>
                      <a:endParaRPr lang="en-NL" sz="1100" dirty="0"/>
                    </a:p>
                  </a:txBody>
                  <a:tcPr marL="72000" anchor="ctr"/>
                </a:tc>
                <a:tc>
                  <a:txBody>
                    <a:bodyPr/>
                    <a:lstStyle/>
                    <a:p>
                      <a:pPr algn="l"/>
                      <a:r>
                        <a:rPr lang="en-US" sz="1100" b="1" dirty="0"/>
                        <a:t>female</a:t>
                      </a:r>
                      <a:endParaRPr lang="en-NL" sz="1100" b="1" dirty="0"/>
                    </a:p>
                  </a:txBody>
                  <a:tcPr marL="7200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1249708150"/>
                  </a:ext>
                </a:extLst>
              </a:tr>
              <a:tr h="306000">
                <a:tc>
                  <a:txBody>
                    <a:bodyPr/>
                    <a:lstStyle/>
                    <a:p>
                      <a:pPr algn="l"/>
                      <a:endParaRPr lang="en-NL" sz="1100" dirty="0"/>
                    </a:p>
                  </a:txBody>
                  <a:tcPr marL="72000" anchor="ctr"/>
                </a:tc>
                <a:tc>
                  <a:txBody>
                    <a:bodyPr/>
                    <a:lstStyle/>
                    <a:p>
                      <a:pPr algn="l"/>
                      <a:r>
                        <a:rPr lang="en-US" sz="1100" b="1" dirty="0"/>
                        <a:t>male</a:t>
                      </a:r>
                      <a:endParaRPr lang="en-NL" sz="1100" b="1" dirty="0"/>
                    </a:p>
                  </a:txBody>
                  <a:tcPr marL="7200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3850974854"/>
                  </a:ext>
                </a:extLst>
              </a:tr>
              <a:tr h="298851">
                <a:tc>
                  <a:txBody>
                    <a:bodyPr/>
                    <a:lstStyle/>
                    <a:p>
                      <a:pPr algn="l"/>
                      <a:endParaRPr lang="en-NL" sz="1100" dirty="0"/>
                    </a:p>
                  </a:txBody>
                  <a:tcPr marL="72000" anchor="ctr"/>
                </a:tc>
                <a:tc>
                  <a:txBody>
                    <a:bodyPr/>
                    <a:lstStyle/>
                    <a:p>
                      <a:pPr algn="l"/>
                      <a:r>
                        <a:rPr lang="en-US" sz="1100" b="1" dirty="0"/>
                        <a:t>nonbinary</a:t>
                      </a:r>
                      <a:endParaRPr lang="en-NL" sz="1100" b="1" dirty="0"/>
                    </a:p>
                  </a:txBody>
                  <a:tcPr marL="7200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7" name="Rectangle: Rounded Corners 6">
            <a:extLst>
              <a:ext uri="{FF2B5EF4-FFF2-40B4-BE49-F238E27FC236}">
                <a16:creationId xmlns:a16="http://schemas.microsoft.com/office/drawing/2014/main" id="{EDACD304-F1C7-76FA-5823-8D19F30233CD}"/>
              </a:ext>
            </a:extLst>
          </p:cNvPr>
          <p:cNvSpPr/>
          <p:nvPr/>
        </p:nvSpPr>
        <p:spPr>
          <a:xfrm>
            <a:off x="9580165" y="3764351"/>
            <a:ext cx="1642188" cy="710132"/>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NL"/>
          </a:p>
        </p:txBody>
      </p:sp>
      <p:graphicFrame>
        <p:nvGraphicFramePr>
          <p:cNvPr id="8" name="Content Placeholder 4">
            <a:extLst>
              <a:ext uri="{FF2B5EF4-FFF2-40B4-BE49-F238E27FC236}">
                <a16:creationId xmlns:a16="http://schemas.microsoft.com/office/drawing/2014/main" id="{133DB6B6-8902-2266-70B5-323E25F0D3AA}"/>
              </a:ext>
            </a:extLst>
          </p:cNvPr>
          <p:cNvGraphicFramePr>
            <a:graphicFrameLocks/>
          </p:cNvGraphicFramePr>
          <p:nvPr>
            <p:extLst>
              <p:ext uri="{D42A27DB-BD31-4B8C-83A1-F6EECF244321}">
                <p14:modId xmlns:p14="http://schemas.microsoft.com/office/powerpoint/2010/main" val="1582770089"/>
              </p:ext>
            </p:extLst>
          </p:nvPr>
        </p:nvGraphicFramePr>
        <p:xfrm>
          <a:off x="7878355" y="4538762"/>
          <a:ext cx="2811600" cy="1285200"/>
        </p:xfrm>
        <a:graphic>
          <a:graphicData uri="http://schemas.openxmlformats.org/drawingml/2006/table">
            <a:tbl>
              <a:tblPr firstRow="1" bandRow="1">
                <a:effectLst>
                  <a:outerShdw blurRad="50800" dist="38100" dir="2700000" algn="tl" rotWithShape="0">
                    <a:prstClr val="black">
                      <a:alpha val="40000"/>
                    </a:prstClr>
                  </a:outerShdw>
                </a:effectLst>
                <a:tableStyleId>{00A15C55-8517-42AA-B614-E9B94910E393}</a:tableStyleId>
              </a:tblPr>
              <a:tblGrid>
                <a:gridCol w="360000">
                  <a:extLst>
                    <a:ext uri="{9D8B030D-6E8A-4147-A177-3AD203B41FA5}">
                      <a16:colId xmlns:a16="http://schemas.microsoft.com/office/drawing/2014/main" val="979315127"/>
                    </a:ext>
                  </a:extLst>
                </a:gridCol>
                <a:gridCol w="1731600">
                  <a:extLst>
                    <a:ext uri="{9D8B030D-6E8A-4147-A177-3AD203B41FA5}">
                      <a16:colId xmlns:a16="http://schemas.microsoft.com/office/drawing/2014/main" val="2075302567"/>
                    </a:ext>
                  </a:extLst>
                </a:gridCol>
                <a:gridCol w="360000">
                  <a:extLst>
                    <a:ext uri="{9D8B030D-6E8A-4147-A177-3AD203B41FA5}">
                      <a16:colId xmlns:a16="http://schemas.microsoft.com/office/drawing/2014/main" val="660631070"/>
                    </a:ext>
                  </a:extLst>
                </a:gridCol>
                <a:gridCol w="360000">
                  <a:extLst>
                    <a:ext uri="{9D8B030D-6E8A-4147-A177-3AD203B41FA5}">
                      <a16:colId xmlns:a16="http://schemas.microsoft.com/office/drawing/2014/main" val="1525013378"/>
                    </a:ext>
                  </a:extLst>
                </a:gridCol>
              </a:tblGrid>
              <a:tr h="367200">
                <a:tc>
                  <a:txBody>
                    <a:bodyPr/>
                    <a:lstStyle/>
                    <a:p>
                      <a:endParaRPr lang="en-NL" sz="1100" dirty="0"/>
                    </a:p>
                  </a:txBody>
                  <a:tcPr marL="72000" anchor="ctr"/>
                </a:tc>
                <a:tc>
                  <a:txBody>
                    <a:bodyPr/>
                    <a:lstStyle/>
                    <a:p>
                      <a:r>
                        <a:rPr lang="en-US" sz="900" dirty="0"/>
                        <a:t>loinc:107454-1</a:t>
                      </a:r>
                    </a:p>
                    <a:p>
                      <a:r>
                        <a:rPr lang="en-US" sz="900" dirty="0"/>
                        <a:t>("Administrative gender"@</a:t>
                      </a:r>
                      <a:r>
                        <a:rPr lang="en-US" sz="900" dirty="0" err="1"/>
                        <a:t>en</a:t>
                      </a:r>
                      <a:r>
                        <a:rPr lang="en-US" sz="900" dirty="0"/>
                        <a:t>)</a:t>
                      </a:r>
                      <a:endParaRPr lang="en-NL" sz="900" dirty="0"/>
                    </a:p>
                  </a:txBody>
                  <a:tcPr marL="72000" marR="0" marT="0" marB="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012902903"/>
                  </a:ext>
                </a:extLst>
              </a:tr>
              <a:tr h="306000">
                <a:tc>
                  <a:txBody>
                    <a:bodyPr/>
                    <a:lstStyle/>
                    <a:p>
                      <a:endParaRPr lang="en-NL" sz="1100" dirty="0"/>
                    </a:p>
                  </a:txBody>
                  <a:tcPr marL="72000" anchor="ctr"/>
                </a:tc>
                <a:tc>
                  <a:txBody>
                    <a:bodyPr/>
                    <a:lstStyle/>
                    <a:p>
                      <a:r>
                        <a:rPr lang="en-US" sz="1100" b="1" dirty="0"/>
                        <a:t>woman</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1249708150"/>
                  </a:ext>
                </a:extLst>
              </a:tr>
              <a:tr h="306000">
                <a:tc>
                  <a:txBody>
                    <a:bodyPr/>
                    <a:lstStyle/>
                    <a:p>
                      <a:endParaRPr lang="en-NL" sz="1100" dirty="0"/>
                    </a:p>
                  </a:txBody>
                  <a:tcPr marL="72000" anchor="ctr"/>
                </a:tc>
                <a:tc>
                  <a:txBody>
                    <a:bodyPr/>
                    <a:lstStyle/>
                    <a:p>
                      <a:r>
                        <a:rPr lang="en-US" sz="1100" b="1" dirty="0"/>
                        <a:t>man</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850974854"/>
                  </a:ext>
                </a:extLst>
              </a:tr>
              <a:tr h="306000">
                <a:tc>
                  <a:txBody>
                    <a:bodyPr/>
                    <a:lstStyle/>
                    <a:p>
                      <a:endParaRPr lang="en-NL" sz="1100" dirty="0"/>
                    </a:p>
                  </a:txBody>
                  <a:tcPr marL="72000" anchor="ctr"/>
                </a:tc>
                <a:tc>
                  <a:txBody>
                    <a:bodyPr/>
                    <a:lstStyle/>
                    <a:p>
                      <a:r>
                        <a:rPr lang="en-US" sz="1100" b="1" dirty="0"/>
                        <a:t>non-binary</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9" name="Rectangle: Rounded Corners 8">
            <a:extLst>
              <a:ext uri="{FF2B5EF4-FFF2-40B4-BE49-F238E27FC236}">
                <a16:creationId xmlns:a16="http://schemas.microsoft.com/office/drawing/2014/main" id="{C8BDFD25-A085-4581-491F-5F0669AD62A8}"/>
              </a:ext>
            </a:extLst>
          </p:cNvPr>
          <p:cNvSpPr/>
          <p:nvPr/>
        </p:nvSpPr>
        <p:spPr>
          <a:xfrm>
            <a:off x="9580166" y="5182068"/>
            <a:ext cx="1642188" cy="710132"/>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en-NL"/>
          </a:p>
        </p:txBody>
      </p:sp>
      <p:graphicFrame>
        <p:nvGraphicFramePr>
          <p:cNvPr id="10" name="Content Placeholder 4">
            <a:extLst>
              <a:ext uri="{FF2B5EF4-FFF2-40B4-BE49-F238E27FC236}">
                <a16:creationId xmlns:a16="http://schemas.microsoft.com/office/drawing/2014/main" id="{7F5C18D9-C6EF-FA6A-E562-8FB22A75E1A5}"/>
              </a:ext>
            </a:extLst>
          </p:cNvPr>
          <p:cNvGraphicFramePr>
            <a:graphicFrameLocks/>
          </p:cNvGraphicFramePr>
          <p:nvPr>
            <p:extLst>
              <p:ext uri="{D42A27DB-BD31-4B8C-83A1-F6EECF244321}">
                <p14:modId xmlns:p14="http://schemas.microsoft.com/office/powerpoint/2010/main" val="1648291245"/>
              </p:ext>
            </p:extLst>
          </p:nvPr>
        </p:nvGraphicFramePr>
        <p:xfrm>
          <a:off x="7878355" y="1695020"/>
          <a:ext cx="2811677" cy="128376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360000">
                  <a:extLst>
                    <a:ext uri="{9D8B030D-6E8A-4147-A177-3AD203B41FA5}">
                      <a16:colId xmlns:a16="http://schemas.microsoft.com/office/drawing/2014/main" val="979315127"/>
                    </a:ext>
                  </a:extLst>
                </a:gridCol>
                <a:gridCol w="1731677">
                  <a:extLst>
                    <a:ext uri="{9D8B030D-6E8A-4147-A177-3AD203B41FA5}">
                      <a16:colId xmlns:a16="http://schemas.microsoft.com/office/drawing/2014/main" val="2075302567"/>
                    </a:ext>
                  </a:extLst>
                </a:gridCol>
                <a:gridCol w="360000">
                  <a:extLst>
                    <a:ext uri="{9D8B030D-6E8A-4147-A177-3AD203B41FA5}">
                      <a16:colId xmlns:a16="http://schemas.microsoft.com/office/drawing/2014/main" val="660631070"/>
                    </a:ext>
                  </a:extLst>
                </a:gridCol>
                <a:gridCol w="360000">
                  <a:extLst>
                    <a:ext uri="{9D8B030D-6E8A-4147-A177-3AD203B41FA5}">
                      <a16:colId xmlns:a16="http://schemas.microsoft.com/office/drawing/2014/main" val="1525013378"/>
                    </a:ext>
                  </a:extLst>
                </a:gridCol>
              </a:tblGrid>
              <a:tr h="324000">
                <a:tc>
                  <a:txBody>
                    <a:bodyPr/>
                    <a:lstStyle/>
                    <a:p>
                      <a:endParaRPr lang="en-NL" sz="1100" dirty="0"/>
                    </a:p>
                  </a:txBody>
                  <a:tcPr marL="72000" anchor="ctr"/>
                </a:tc>
                <a:tc>
                  <a:txBody>
                    <a:bodyPr/>
                    <a:lstStyle/>
                    <a:p>
                      <a:r>
                        <a:rPr lang="en-US" sz="900" dirty="0" err="1"/>
                        <a:t>care-sm:Sex</a:t>
                      </a:r>
                      <a:endParaRPr lang="en-US" sz="900" dirty="0"/>
                    </a:p>
                    <a:p>
                      <a:r>
                        <a:rPr lang="en-US" sz="900" dirty="0"/>
                        <a:t>("Biological sex"@</a:t>
                      </a:r>
                      <a:r>
                        <a:rPr lang="en-US" sz="900" dirty="0" err="1"/>
                        <a:t>en</a:t>
                      </a:r>
                      <a:r>
                        <a:rPr lang="en-US" sz="900" dirty="0"/>
                        <a:t>)</a:t>
                      </a:r>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012902903"/>
                  </a:ext>
                </a:extLst>
              </a:tr>
              <a:tr h="306000">
                <a:tc>
                  <a:txBody>
                    <a:bodyPr/>
                    <a:lstStyle/>
                    <a:p>
                      <a:endParaRPr lang="en-NL" sz="1100" dirty="0"/>
                    </a:p>
                  </a:txBody>
                  <a:tcPr marL="72000" anchor="ctr"/>
                </a:tc>
                <a:tc>
                  <a:txBody>
                    <a:bodyPr/>
                    <a:lstStyle/>
                    <a:p>
                      <a:r>
                        <a:rPr lang="en-US" sz="1100" b="1" dirty="0"/>
                        <a:t>female</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1249708150"/>
                  </a:ext>
                </a:extLst>
              </a:tr>
              <a:tr h="306000">
                <a:tc>
                  <a:txBody>
                    <a:bodyPr/>
                    <a:lstStyle/>
                    <a:p>
                      <a:endParaRPr lang="en-NL" sz="1100" dirty="0"/>
                    </a:p>
                  </a:txBody>
                  <a:tcPr marL="72000" anchor="ctr"/>
                </a:tc>
                <a:tc>
                  <a:txBody>
                    <a:bodyPr/>
                    <a:lstStyle/>
                    <a:p>
                      <a:r>
                        <a:rPr lang="en-US" sz="1100" b="1" dirty="0"/>
                        <a:t>male</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850974854"/>
                  </a:ext>
                </a:extLst>
              </a:tr>
              <a:tr h="306000">
                <a:tc>
                  <a:txBody>
                    <a:bodyPr/>
                    <a:lstStyle/>
                    <a:p>
                      <a:endParaRPr lang="en-NL" sz="1100" dirty="0"/>
                    </a:p>
                  </a:txBody>
                  <a:tcPr marL="72000" anchor="ctr"/>
                </a:tc>
                <a:tc>
                  <a:txBody>
                    <a:bodyPr/>
                    <a:lstStyle/>
                    <a:p>
                      <a:r>
                        <a:rPr lang="en-US" sz="1100" b="1" dirty="0"/>
                        <a:t>female</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11" name="Rectangle: Rounded Corners 10">
            <a:extLst>
              <a:ext uri="{FF2B5EF4-FFF2-40B4-BE49-F238E27FC236}">
                <a16:creationId xmlns:a16="http://schemas.microsoft.com/office/drawing/2014/main" id="{9D7E9839-7F25-DC09-DEBD-C36713914004}"/>
              </a:ext>
            </a:extLst>
          </p:cNvPr>
          <p:cNvSpPr/>
          <p:nvPr/>
        </p:nvSpPr>
        <p:spPr>
          <a:xfrm>
            <a:off x="9580165" y="2343789"/>
            <a:ext cx="1642188" cy="710132"/>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NL"/>
          </a:p>
        </p:txBody>
      </p:sp>
      <p:pic>
        <p:nvPicPr>
          <p:cNvPr id="12" name="Picture 11">
            <a:extLst>
              <a:ext uri="{FF2B5EF4-FFF2-40B4-BE49-F238E27FC236}">
                <a16:creationId xmlns:a16="http://schemas.microsoft.com/office/drawing/2014/main" id="{96FD3603-007E-44A1-E9B3-1EF31DA4C8CE}"/>
              </a:ext>
            </a:extLst>
          </p:cNvPr>
          <p:cNvPicPr>
            <a:picLocks noChangeAspect="1"/>
          </p:cNvPicPr>
          <p:nvPr/>
        </p:nvPicPr>
        <p:blipFill>
          <a:blip r:embed="rId3"/>
          <a:srcRect l="17222" t="33069" r="27186" b="41346"/>
          <a:stretch>
            <a:fillRect/>
          </a:stretch>
        </p:blipFill>
        <p:spPr>
          <a:xfrm>
            <a:off x="9681170" y="2477918"/>
            <a:ext cx="1440178" cy="441874"/>
          </a:xfrm>
          <a:prstGeom prst="rect">
            <a:avLst/>
          </a:prstGeom>
        </p:spPr>
      </p:pic>
      <p:pic>
        <p:nvPicPr>
          <p:cNvPr id="13" name="Picture 12">
            <a:extLst>
              <a:ext uri="{FF2B5EF4-FFF2-40B4-BE49-F238E27FC236}">
                <a16:creationId xmlns:a16="http://schemas.microsoft.com/office/drawing/2014/main" id="{3453AC6B-419F-3267-DE4E-F40B1BDA5239}"/>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Effect>
                      <a14:brightnessContrast contrast="-40000"/>
                    </a14:imgEffect>
                  </a14:imgLayer>
                </a14:imgProps>
              </a:ext>
            </a:extLst>
          </a:blip>
          <a:srcRect l="22593" t="33818" r="26296" b="42564"/>
          <a:stretch>
            <a:fillRect/>
          </a:stretch>
        </p:blipFill>
        <p:spPr>
          <a:xfrm>
            <a:off x="9681259" y="3897611"/>
            <a:ext cx="1440000" cy="443613"/>
          </a:xfrm>
          <a:prstGeom prst="rect">
            <a:avLst/>
          </a:prstGeom>
        </p:spPr>
      </p:pic>
      <p:pic>
        <p:nvPicPr>
          <p:cNvPr id="14" name="Picture 13">
            <a:extLst>
              <a:ext uri="{FF2B5EF4-FFF2-40B4-BE49-F238E27FC236}">
                <a16:creationId xmlns:a16="http://schemas.microsoft.com/office/drawing/2014/main" id="{9143EB99-8645-6296-880B-B4A753C1443D}"/>
              </a:ext>
            </a:extLst>
          </p:cNvPr>
          <p:cNvPicPr>
            <a:picLocks noChangeAspect="1"/>
          </p:cNvPicPr>
          <p:nvPr/>
        </p:nvPicPr>
        <p:blipFill>
          <a:blip r:embed="rId6"/>
          <a:srcRect l="13027" t="27953" r="16204" b="38897"/>
          <a:stretch>
            <a:fillRect/>
          </a:stretch>
        </p:blipFill>
        <p:spPr>
          <a:xfrm>
            <a:off x="9681260" y="5312288"/>
            <a:ext cx="1440000" cy="449693"/>
          </a:xfrm>
          <a:prstGeom prst="rect">
            <a:avLst/>
          </a:prstGeom>
        </p:spPr>
      </p:pic>
    </p:spTree>
    <p:extLst>
      <p:ext uri="{BB962C8B-B14F-4D97-AF65-F5344CB8AC3E}">
        <p14:creationId xmlns:p14="http://schemas.microsoft.com/office/powerpoint/2010/main" val="109438284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DC39D7-E55E-60AC-73D9-C2E72B3B5E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160989-2B8D-3DC9-20C3-606CB2370A78}"/>
              </a:ext>
            </a:extLst>
          </p:cNvPr>
          <p:cNvSpPr>
            <a:spLocks noGrp="1"/>
          </p:cNvSpPr>
          <p:nvPr>
            <p:ph type="title"/>
          </p:nvPr>
        </p:nvSpPr>
        <p:spPr/>
        <p:txBody>
          <a:bodyPr/>
          <a:lstStyle/>
          <a:p>
            <a:r>
              <a:rPr lang="en-US" sz="3600" b="1" dirty="0"/>
              <a:t>Context:</a:t>
            </a:r>
            <a:r>
              <a:rPr lang="en-US" sz="3600" dirty="0"/>
              <a:t> Inference of Meaning-Relations</a:t>
            </a:r>
            <a:endParaRPr lang="en-NL" sz="3600" dirty="0"/>
          </a:p>
        </p:txBody>
      </p:sp>
      <p:sp>
        <p:nvSpPr>
          <p:cNvPr id="4" name="Slide Number Placeholder 3">
            <a:extLst>
              <a:ext uri="{FF2B5EF4-FFF2-40B4-BE49-F238E27FC236}">
                <a16:creationId xmlns:a16="http://schemas.microsoft.com/office/drawing/2014/main" id="{773F533D-E8C9-3C9F-A8DD-DACEF1E1D127}"/>
              </a:ext>
            </a:extLst>
          </p:cNvPr>
          <p:cNvSpPr>
            <a:spLocks noGrp="1"/>
          </p:cNvSpPr>
          <p:nvPr>
            <p:ph type="sldNum" sz="quarter" idx="12"/>
          </p:nvPr>
        </p:nvSpPr>
        <p:spPr/>
        <p:txBody>
          <a:bodyPr/>
          <a:lstStyle/>
          <a:p>
            <a:fld id="{4FAB73BC-B049-4115-A692-8D63A059BFB8}" type="slidenum">
              <a:rPr lang="en-US" smtClean="0"/>
              <a:pPr/>
              <a:t>39</a:t>
            </a:fld>
            <a:endParaRPr lang="en-US" dirty="0"/>
          </a:p>
        </p:txBody>
      </p:sp>
      <p:sp>
        <p:nvSpPr>
          <p:cNvPr id="151" name="Rectangle: Rounded Corners 150">
            <a:extLst>
              <a:ext uri="{FF2B5EF4-FFF2-40B4-BE49-F238E27FC236}">
                <a16:creationId xmlns:a16="http://schemas.microsoft.com/office/drawing/2014/main" id="{D1CF289D-C848-B0A0-7058-8CB5B0361CE1}"/>
              </a:ext>
            </a:extLst>
          </p:cNvPr>
          <p:cNvSpPr/>
          <p:nvPr/>
        </p:nvSpPr>
        <p:spPr>
          <a:xfrm>
            <a:off x="8929686" y="1628776"/>
            <a:ext cx="2566989" cy="3385352"/>
          </a:xfrm>
          <a:prstGeom prst="roundRect">
            <a:avLst>
              <a:gd name="adj" fmla="val 6444"/>
            </a:avLst>
          </a:prstGeom>
          <a:solidFill>
            <a:schemeClr val="dk1">
              <a:alpha val="1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NL"/>
          </a:p>
        </p:txBody>
      </p:sp>
      <p:sp>
        <p:nvSpPr>
          <p:cNvPr id="152" name="TextBox 151">
            <a:extLst>
              <a:ext uri="{FF2B5EF4-FFF2-40B4-BE49-F238E27FC236}">
                <a16:creationId xmlns:a16="http://schemas.microsoft.com/office/drawing/2014/main" id="{9A679FB3-D3AF-514C-8C06-DC5F93493923}"/>
              </a:ext>
            </a:extLst>
          </p:cNvPr>
          <p:cNvSpPr txBox="1"/>
          <p:nvPr/>
        </p:nvSpPr>
        <p:spPr>
          <a:xfrm>
            <a:off x="9679219" y="1849534"/>
            <a:ext cx="1067921" cy="400110"/>
          </a:xfrm>
          <a:prstGeom prst="rect">
            <a:avLst/>
          </a:prstGeom>
          <a:noFill/>
        </p:spPr>
        <p:txBody>
          <a:bodyPr wrap="none" rtlCol="0">
            <a:spAutoFit/>
          </a:bodyPr>
          <a:lstStyle/>
          <a:p>
            <a:r>
              <a:rPr lang="en-US" sz="2000" b="1" dirty="0">
                <a:latin typeface="Atkinson Hyperlegible" pitchFamily="2" charset="0"/>
              </a:rPr>
              <a:t>Legend</a:t>
            </a:r>
            <a:endParaRPr lang="en-NL" sz="2000" b="1" dirty="0">
              <a:latin typeface="Atkinson Hyperlegible" pitchFamily="2" charset="0"/>
            </a:endParaRPr>
          </a:p>
        </p:txBody>
      </p:sp>
      <p:grpSp>
        <p:nvGrpSpPr>
          <p:cNvPr id="153" name="Group 152">
            <a:extLst>
              <a:ext uri="{FF2B5EF4-FFF2-40B4-BE49-F238E27FC236}">
                <a16:creationId xmlns:a16="http://schemas.microsoft.com/office/drawing/2014/main" id="{21D72FBE-B199-7F11-3AA7-B2ECB83C0F91}"/>
              </a:ext>
            </a:extLst>
          </p:cNvPr>
          <p:cNvGrpSpPr/>
          <p:nvPr/>
        </p:nvGrpSpPr>
        <p:grpSpPr>
          <a:xfrm>
            <a:off x="9144854" y="2943379"/>
            <a:ext cx="2075363" cy="307777"/>
            <a:chOff x="9054421" y="2203891"/>
            <a:chExt cx="2075363" cy="307777"/>
          </a:xfrm>
        </p:grpSpPr>
        <p:cxnSp>
          <p:nvCxnSpPr>
            <p:cNvPr id="154" name="Straight Arrow Connector 153">
              <a:extLst>
                <a:ext uri="{FF2B5EF4-FFF2-40B4-BE49-F238E27FC236}">
                  <a16:creationId xmlns:a16="http://schemas.microsoft.com/office/drawing/2014/main" id="{3E450CB1-392F-AACE-A56F-6AB64777F9FD}"/>
                </a:ext>
              </a:extLst>
            </p:cNvPr>
            <p:cNvCxnSpPr>
              <a:cxnSpLocks/>
            </p:cNvCxnSpPr>
            <p:nvPr/>
          </p:nvCxnSpPr>
          <p:spPr>
            <a:xfrm>
              <a:off x="9054421" y="2357779"/>
              <a:ext cx="720000" cy="0"/>
            </a:xfrm>
            <a:prstGeom prst="straightConnector1">
              <a:avLst/>
            </a:prstGeom>
            <a:ln w="50800" cap="flat" cmpd="sng" algn="ctr">
              <a:solidFill>
                <a:schemeClr val="dk1"/>
              </a:solidFill>
              <a:prstDash val="solid"/>
              <a:round/>
              <a:headEnd type="none" w="med" len="med"/>
              <a:tailEnd type="triangle" w="lg" len="lg"/>
            </a:ln>
          </p:spPr>
          <p:style>
            <a:lnRef idx="0">
              <a:scrgbClr r="0" g="0" b="0"/>
            </a:lnRef>
            <a:fillRef idx="0">
              <a:scrgbClr r="0" g="0" b="0"/>
            </a:fillRef>
            <a:effectRef idx="0">
              <a:scrgbClr r="0" g="0" b="0"/>
            </a:effectRef>
            <a:fontRef idx="minor">
              <a:schemeClr val="tx1"/>
            </a:fontRef>
          </p:style>
        </p:cxnSp>
        <p:sp>
          <p:nvSpPr>
            <p:cNvPr id="155" name="TextBox 154">
              <a:extLst>
                <a:ext uri="{FF2B5EF4-FFF2-40B4-BE49-F238E27FC236}">
                  <a16:creationId xmlns:a16="http://schemas.microsoft.com/office/drawing/2014/main" id="{A3B6D7F0-CFFA-0872-30C5-708164441079}"/>
                </a:ext>
              </a:extLst>
            </p:cNvPr>
            <p:cNvSpPr txBox="1"/>
            <p:nvPr/>
          </p:nvSpPr>
          <p:spPr>
            <a:xfrm>
              <a:off x="9867900" y="2203891"/>
              <a:ext cx="1261884" cy="307777"/>
            </a:xfrm>
            <a:prstGeom prst="rect">
              <a:avLst/>
            </a:prstGeom>
            <a:noFill/>
          </p:spPr>
          <p:txBody>
            <a:bodyPr wrap="none" rtlCol="0">
              <a:spAutoFit/>
            </a:bodyPr>
            <a:lstStyle/>
            <a:p>
              <a:r>
                <a:rPr lang="en-US" sz="1400" dirty="0" err="1">
                  <a:latin typeface="Atkinson Hyperlegible" pitchFamily="2" charset="0"/>
                </a:rPr>
                <a:t>narrowerThan</a:t>
              </a:r>
              <a:endParaRPr lang="en-NL" sz="1400" dirty="0">
                <a:latin typeface="Atkinson Hyperlegible" pitchFamily="2" charset="0"/>
              </a:endParaRPr>
            </a:p>
          </p:txBody>
        </p:sp>
      </p:grpSp>
      <p:grpSp>
        <p:nvGrpSpPr>
          <p:cNvPr id="156" name="Group 155">
            <a:extLst>
              <a:ext uri="{FF2B5EF4-FFF2-40B4-BE49-F238E27FC236}">
                <a16:creationId xmlns:a16="http://schemas.microsoft.com/office/drawing/2014/main" id="{4FDA4EE6-E958-BC1B-944A-BD840F1713BB}"/>
              </a:ext>
            </a:extLst>
          </p:cNvPr>
          <p:cNvGrpSpPr/>
          <p:nvPr/>
        </p:nvGrpSpPr>
        <p:grpSpPr>
          <a:xfrm>
            <a:off x="9144854" y="2425004"/>
            <a:ext cx="1959947" cy="307777"/>
            <a:chOff x="9054421" y="2673280"/>
            <a:chExt cx="1959947" cy="307777"/>
          </a:xfrm>
        </p:grpSpPr>
        <p:cxnSp>
          <p:nvCxnSpPr>
            <p:cNvPr id="157" name="Straight Arrow Connector 156">
              <a:extLst>
                <a:ext uri="{FF2B5EF4-FFF2-40B4-BE49-F238E27FC236}">
                  <a16:creationId xmlns:a16="http://schemas.microsoft.com/office/drawing/2014/main" id="{830BFF9E-0093-3608-522F-CC0FE34D185F}"/>
                </a:ext>
              </a:extLst>
            </p:cNvPr>
            <p:cNvCxnSpPr>
              <a:cxnSpLocks/>
            </p:cNvCxnSpPr>
            <p:nvPr/>
          </p:nvCxnSpPr>
          <p:spPr>
            <a:xfrm>
              <a:off x="9054421" y="2827168"/>
              <a:ext cx="720000" cy="0"/>
            </a:xfrm>
            <a:prstGeom prst="straightConnector1">
              <a:avLst/>
            </a:prstGeom>
            <a:ln w="50800" cap="flat" cmpd="sng" algn="ctr">
              <a:solidFill>
                <a:schemeClr val="accent4"/>
              </a:solidFill>
              <a:prstDash val="solid"/>
              <a:round/>
              <a:headEnd type="none" w="med" len="med"/>
              <a:tailEnd type="triangle" w="lg" len="lg"/>
            </a:ln>
          </p:spPr>
          <p:style>
            <a:lnRef idx="0">
              <a:scrgbClr r="0" g="0" b="0"/>
            </a:lnRef>
            <a:fillRef idx="0">
              <a:scrgbClr r="0" g="0" b="0"/>
            </a:fillRef>
            <a:effectRef idx="0">
              <a:scrgbClr r="0" g="0" b="0"/>
            </a:effectRef>
            <a:fontRef idx="minor">
              <a:schemeClr val="tx1"/>
            </a:fontRef>
          </p:style>
        </p:cxnSp>
        <p:sp>
          <p:nvSpPr>
            <p:cNvPr id="158" name="TextBox 157">
              <a:extLst>
                <a:ext uri="{FF2B5EF4-FFF2-40B4-BE49-F238E27FC236}">
                  <a16:creationId xmlns:a16="http://schemas.microsoft.com/office/drawing/2014/main" id="{0EC28396-8621-C931-8C2A-A0D60E25A294}"/>
                </a:ext>
              </a:extLst>
            </p:cNvPr>
            <p:cNvSpPr txBox="1"/>
            <p:nvPr/>
          </p:nvSpPr>
          <p:spPr>
            <a:xfrm>
              <a:off x="9867900" y="2673280"/>
              <a:ext cx="1146468" cy="307777"/>
            </a:xfrm>
            <a:prstGeom prst="rect">
              <a:avLst/>
            </a:prstGeom>
            <a:noFill/>
          </p:spPr>
          <p:txBody>
            <a:bodyPr wrap="none" rtlCol="0">
              <a:spAutoFit/>
            </a:bodyPr>
            <a:lstStyle/>
            <a:p>
              <a:r>
                <a:rPr lang="en-US" sz="1400" dirty="0" err="1">
                  <a:latin typeface="Atkinson Hyperlegible" pitchFamily="2" charset="0"/>
                </a:rPr>
                <a:t>hasMeaning</a:t>
              </a:r>
              <a:endParaRPr lang="en-NL" sz="1400" dirty="0">
                <a:latin typeface="Atkinson Hyperlegible" pitchFamily="2" charset="0"/>
              </a:endParaRPr>
            </a:p>
          </p:txBody>
        </p:sp>
      </p:grpSp>
      <p:grpSp>
        <p:nvGrpSpPr>
          <p:cNvPr id="167" name="Group 166">
            <a:extLst>
              <a:ext uri="{FF2B5EF4-FFF2-40B4-BE49-F238E27FC236}">
                <a16:creationId xmlns:a16="http://schemas.microsoft.com/office/drawing/2014/main" id="{A2A0A2BB-9605-72DB-E35D-27216D7EADB5}"/>
              </a:ext>
            </a:extLst>
          </p:cNvPr>
          <p:cNvGrpSpPr/>
          <p:nvPr/>
        </p:nvGrpSpPr>
        <p:grpSpPr>
          <a:xfrm>
            <a:off x="9144854" y="3461754"/>
            <a:ext cx="1469428" cy="307777"/>
            <a:chOff x="9054421" y="3516808"/>
            <a:chExt cx="1469428" cy="307777"/>
          </a:xfrm>
        </p:grpSpPr>
        <p:cxnSp>
          <p:nvCxnSpPr>
            <p:cNvPr id="168" name="Straight Arrow Connector 167">
              <a:extLst>
                <a:ext uri="{FF2B5EF4-FFF2-40B4-BE49-F238E27FC236}">
                  <a16:creationId xmlns:a16="http://schemas.microsoft.com/office/drawing/2014/main" id="{D7A39D81-B355-4985-2FF8-0E32BF268BE9}"/>
                </a:ext>
              </a:extLst>
            </p:cNvPr>
            <p:cNvCxnSpPr>
              <a:cxnSpLocks/>
            </p:cNvCxnSpPr>
            <p:nvPr/>
          </p:nvCxnSpPr>
          <p:spPr>
            <a:xfrm>
              <a:off x="9054421" y="3670696"/>
              <a:ext cx="720000" cy="0"/>
            </a:xfrm>
            <a:prstGeom prst="straightConnector1">
              <a:avLst/>
            </a:prstGeom>
            <a:ln w="50800" cap="flat" cmpd="sng" algn="ctr">
              <a:solidFill>
                <a:schemeClr val="accent4"/>
              </a:solidFill>
              <a:prstDash val="solid"/>
              <a:round/>
              <a:headEnd type="triangle" w="lg" len="lg"/>
              <a:tailEnd type="triangle" w="lg" len="lg"/>
            </a:ln>
          </p:spPr>
          <p:style>
            <a:lnRef idx="0">
              <a:scrgbClr r="0" g="0" b="0"/>
            </a:lnRef>
            <a:fillRef idx="0">
              <a:scrgbClr r="0" g="0" b="0"/>
            </a:fillRef>
            <a:effectRef idx="0">
              <a:scrgbClr r="0" g="0" b="0"/>
            </a:effectRef>
            <a:fontRef idx="minor">
              <a:schemeClr val="tx1"/>
            </a:fontRef>
          </p:style>
        </p:cxnSp>
        <p:sp>
          <p:nvSpPr>
            <p:cNvPr id="169" name="TextBox 168">
              <a:extLst>
                <a:ext uri="{FF2B5EF4-FFF2-40B4-BE49-F238E27FC236}">
                  <a16:creationId xmlns:a16="http://schemas.microsoft.com/office/drawing/2014/main" id="{9414AF4F-9FA1-8A54-DC04-70022EE4A41B}"/>
                </a:ext>
              </a:extLst>
            </p:cNvPr>
            <p:cNvSpPr txBox="1"/>
            <p:nvPr/>
          </p:nvSpPr>
          <p:spPr>
            <a:xfrm>
              <a:off x="9867900" y="3516808"/>
              <a:ext cx="655949" cy="307777"/>
            </a:xfrm>
            <a:prstGeom prst="rect">
              <a:avLst/>
            </a:prstGeom>
            <a:noFill/>
          </p:spPr>
          <p:txBody>
            <a:bodyPr wrap="none" rtlCol="0">
              <a:spAutoFit/>
            </a:bodyPr>
            <a:lstStyle/>
            <a:p>
              <a:r>
                <a:rPr lang="en-US" sz="1400" dirty="0">
                  <a:latin typeface="Atkinson Hyperlegible" pitchFamily="2" charset="0"/>
                </a:rPr>
                <a:t>aligns</a:t>
              </a:r>
              <a:endParaRPr lang="en-NL" sz="1400" dirty="0">
                <a:latin typeface="Atkinson Hyperlegible" pitchFamily="2" charset="0"/>
              </a:endParaRPr>
            </a:p>
          </p:txBody>
        </p:sp>
      </p:grpSp>
      <p:grpSp>
        <p:nvGrpSpPr>
          <p:cNvPr id="170" name="Group 169">
            <a:extLst>
              <a:ext uri="{FF2B5EF4-FFF2-40B4-BE49-F238E27FC236}">
                <a16:creationId xmlns:a16="http://schemas.microsoft.com/office/drawing/2014/main" id="{7CACF496-1715-440D-AAE0-DE077834E4D0}"/>
              </a:ext>
            </a:extLst>
          </p:cNvPr>
          <p:cNvGrpSpPr/>
          <p:nvPr/>
        </p:nvGrpSpPr>
        <p:grpSpPr>
          <a:xfrm>
            <a:off x="9144854" y="3874830"/>
            <a:ext cx="1939108" cy="307777"/>
            <a:chOff x="9054421" y="4062397"/>
            <a:chExt cx="1939108" cy="307777"/>
          </a:xfrm>
        </p:grpSpPr>
        <p:cxnSp>
          <p:nvCxnSpPr>
            <p:cNvPr id="171" name="Straight Arrow Connector 170">
              <a:extLst>
                <a:ext uri="{FF2B5EF4-FFF2-40B4-BE49-F238E27FC236}">
                  <a16:creationId xmlns:a16="http://schemas.microsoft.com/office/drawing/2014/main" id="{794EEEE9-B4AF-B737-5C0E-F02E5EFB70CC}"/>
                </a:ext>
              </a:extLst>
            </p:cNvPr>
            <p:cNvCxnSpPr>
              <a:cxnSpLocks/>
            </p:cNvCxnSpPr>
            <p:nvPr/>
          </p:nvCxnSpPr>
          <p:spPr>
            <a:xfrm>
              <a:off x="9054421" y="4216285"/>
              <a:ext cx="720000" cy="0"/>
            </a:xfrm>
            <a:prstGeom prst="straightConnector1">
              <a:avLst/>
            </a:prstGeom>
            <a:ln w="50800" cap="flat" cmpd="sng" algn="ctr">
              <a:solidFill>
                <a:srgbClr val="C00000"/>
              </a:solidFill>
              <a:prstDash val="solid"/>
              <a:round/>
              <a:headEnd type="triangle" w="lg" len="lg"/>
              <a:tailEnd type="triangle" w="lg" len="lg"/>
            </a:ln>
          </p:spPr>
          <p:style>
            <a:lnRef idx="0">
              <a:scrgbClr r="0" g="0" b="0"/>
            </a:lnRef>
            <a:fillRef idx="0">
              <a:scrgbClr r="0" g="0" b="0"/>
            </a:fillRef>
            <a:effectRef idx="0">
              <a:scrgbClr r="0" g="0" b="0"/>
            </a:effectRef>
            <a:fontRef idx="minor">
              <a:schemeClr val="tx1"/>
            </a:fontRef>
          </p:style>
        </p:cxnSp>
        <p:sp>
          <p:nvSpPr>
            <p:cNvPr id="172" name="TextBox 171">
              <a:extLst>
                <a:ext uri="{FF2B5EF4-FFF2-40B4-BE49-F238E27FC236}">
                  <a16:creationId xmlns:a16="http://schemas.microsoft.com/office/drawing/2014/main" id="{EE59C976-A48B-F27B-5634-35A3FEC2B41E}"/>
                </a:ext>
              </a:extLst>
            </p:cNvPr>
            <p:cNvSpPr txBox="1"/>
            <p:nvPr/>
          </p:nvSpPr>
          <p:spPr>
            <a:xfrm>
              <a:off x="9867900" y="4062397"/>
              <a:ext cx="1125629" cy="307777"/>
            </a:xfrm>
            <a:prstGeom prst="rect">
              <a:avLst/>
            </a:prstGeom>
            <a:noFill/>
          </p:spPr>
          <p:txBody>
            <a:bodyPr wrap="none" rtlCol="0">
              <a:spAutoFit/>
            </a:bodyPr>
            <a:lstStyle/>
            <a:p>
              <a:r>
                <a:rPr lang="en-US" sz="1400" dirty="0" err="1">
                  <a:latin typeface="Atkinson Hyperlegible" pitchFamily="2" charset="0"/>
                </a:rPr>
                <a:t>cannotAlign</a:t>
              </a:r>
              <a:endParaRPr lang="en-NL" sz="1400" dirty="0">
                <a:latin typeface="Atkinson Hyperlegible" pitchFamily="2" charset="0"/>
              </a:endParaRPr>
            </a:p>
          </p:txBody>
        </p:sp>
      </p:grpSp>
      <p:grpSp>
        <p:nvGrpSpPr>
          <p:cNvPr id="173" name="Group 172">
            <a:extLst>
              <a:ext uri="{FF2B5EF4-FFF2-40B4-BE49-F238E27FC236}">
                <a16:creationId xmlns:a16="http://schemas.microsoft.com/office/drawing/2014/main" id="{9E9A301E-71C4-A030-A310-FC63F5C218F0}"/>
              </a:ext>
            </a:extLst>
          </p:cNvPr>
          <p:cNvGrpSpPr/>
          <p:nvPr/>
        </p:nvGrpSpPr>
        <p:grpSpPr>
          <a:xfrm>
            <a:off x="9144854" y="4393204"/>
            <a:ext cx="2024067" cy="307777"/>
            <a:chOff x="9054421" y="4360336"/>
            <a:chExt cx="2024067" cy="307777"/>
          </a:xfrm>
        </p:grpSpPr>
        <p:cxnSp>
          <p:nvCxnSpPr>
            <p:cNvPr id="174" name="Straight Arrow Connector 173">
              <a:extLst>
                <a:ext uri="{FF2B5EF4-FFF2-40B4-BE49-F238E27FC236}">
                  <a16:creationId xmlns:a16="http://schemas.microsoft.com/office/drawing/2014/main" id="{FFCD9AE8-195F-7488-1262-FA6C17919733}"/>
                </a:ext>
              </a:extLst>
            </p:cNvPr>
            <p:cNvCxnSpPr>
              <a:cxnSpLocks/>
            </p:cNvCxnSpPr>
            <p:nvPr/>
          </p:nvCxnSpPr>
          <p:spPr>
            <a:xfrm>
              <a:off x="9054421" y="4514224"/>
              <a:ext cx="720000" cy="0"/>
            </a:xfrm>
            <a:prstGeom prst="straightConnector1">
              <a:avLst/>
            </a:prstGeom>
            <a:ln w="50800" cap="flat" cmpd="sng" algn="ctr">
              <a:solidFill>
                <a:schemeClr val="accent2"/>
              </a:solidFill>
              <a:prstDash val="sysDot"/>
              <a:round/>
              <a:headEnd type="triangle" w="lg" len="lg"/>
              <a:tailEnd type="triangle" w="lg" len="lg"/>
            </a:ln>
          </p:spPr>
          <p:style>
            <a:lnRef idx="0">
              <a:scrgbClr r="0" g="0" b="0"/>
            </a:lnRef>
            <a:fillRef idx="0">
              <a:scrgbClr r="0" g="0" b="0"/>
            </a:fillRef>
            <a:effectRef idx="0">
              <a:scrgbClr r="0" g="0" b="0"/>
            </a:effectRef>
            <a:fontRef idx="minor">
              <a:schemeClr val="tx1"/>
            </a:fontRef>
          </p:style>
        </p:cxnSp>
        <p:sp>
          <p:nvSpPr>
            <p:cNvPr id="175" name="TextBox 174">
              <a:extLst>
                <a:ext uri="{FF2B5EF4-FFF2-40B4-BE49-F238E27FC236}">
                  <a16:creationId xmlns:a16="http://schemas.microsoft.com/office/drawing/2014/main" id="{E821B4B6-47D7-1DE4-47F4-0E44DE9DDAE5}"/>
                </a:ext>
              </a:extLst>
            </p:cNvPr>
            <p:cNvSpPr txBox="1"/>
            <p:nvPr/>
          </p:nvSpPr>
          <p:spPr>
            <a:xfrm>
              <a:off x="9867900" y="4360336"/>
              <a:ext cx="1210588" cy="307777"/>
            </a:xfrm>
            <a:prstGeom prst="rect">
              <a:avLst/>
            </a:prstGeom>
            <a:noFill/>
          </p:spPr>
          <p:txBody>
            <a:bodyPr wrap="none" rtlCol="0">
              <a:spAutoFit/>
            </a:bodyPr>
            <a:lstStyle/>
            <a:p>
              <a:r>
                <a:rPr lang="en-US" sz="1400" dirty="0" err="1">
                  <a:latin typeface="Atkinson Hyperlegible" pitchFamily="2" charset="0"/>
                </a:rPr>
                <a:t>partiallyAlign</a:t>
              </a:r>
              <a:endParaRPr lang="en-NL" sz="1400" dirty="0">
                <a:latin typeface="Atkinson Hyperlegible" pitchFamily="2" charset="0"/>
              </a:endParaRPr>
            </a:p>
          </p:txBody>
        </p:sp>
      </p:grpSp>
      <p:cxnSp>
        <p:nvCxnSpPr>
          <p:cNvPr id="176" name="Straight Connector 175">
            <a:extLst>
              <a:ext uri="{FF2B5EF4-FFF2-40B4-BE49-F238E27FC236}">
                <a16:creationId xmlns:a16="http://schemas.microsoft.com/office/drawing/2014/main" id="{5C5EDE4D-F71F-F86A-A922-F93747BD5026}"/>
              </a:ext>
            </a:extLst>
          </p:cNvPr>
          <p:cNvCxnSpPr>
            <a:cxnSpLocks/>
          </p:cNvCxnSpPr>
          <p:nvPr/>
        </p:nvCxnSpPr>
        <p:spPr>
          <a:xfrm flipH="1">
            <a:off x="9133653" y="4287906"/>
            <a:ext cx="216817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7" name="Straight Connector 176">
            <a:extLst>
              <a:ext uri="{FF2B5EF4-FFF2-40B4-BE49-F238E27FC236}">
                <a16:creationId xmlns:a16="http://schemas.microsoft.com/office/drawing/2014/main" id="{26ECE2F8-6EC2-01C2-BF76-F7D862361BEF}"/>
              </a:ext>
            </a:extLst>
          </p:cNvPr>
          <p:cNvCxnSpPr>
            <a:cxnSpLocks/>
          </p:cNvCxnSpPr>
          <p:nvPr/>
        </p:nvCxnSpPr>
        <p:spPr>
          <a:xfrm flipH="1">
            <a:off x="9133653" y="3356455"/>
            <a:ext cx="216817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8" name="Straight Connector 177">
            <a:extLst>
              <a:ext uri="{FF2B5EF4-FFF2-40B4-BE49-F238E27FC236}">
                <a16:creationId xmlns:a16="http://schemas.microsoft.com/office/drawing/2014/main" id="{2BD61364-8F2A-9726-AE17-33AD003E2817}"/>
              </a:ext>
            </a:extLst>
          </p:cNvPr>
          <p:cNvCxnSpPr>
            <a:cxnSpLocks/>
          </p:cNvCxnSpPr>
          <p:nvPr/>
        </p:nvCxnSpPr>
        <p:spPr>
          <a:xfrm flipH="1">
            <a:off x="9133653" y="2838080"/>
            <a:ext cx="216817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55A4BBE5-6A8E-783A-7E52-C8FCEB7E1A1A}"/>
              </a:ext>
            </a:extLst>
          </p:cNvPr>
          <p:cNvCxnSpPr>
            <a:cxnSpLocks/>
          </p:cNvCxnSpPr>
          <p:nvPr/>
        </p:nvCxnSpPr>
        <p:spPr>
          <a:xfrm>
            <a:off x="1876426" y="2126787"/>
            <a:ext cx="0" cy="2009445"/>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789F2910-3FA6-48BC-B55C-2CA36C836E99}"/>
              </a:ext>
            </a:extLst>
          </p:cNvPr>
          <p:cNvCxnSpPr>
            <a:cxnSpLocks/>
          </p:cNvCxnSpPr>
          <p:nvPr/>
        </p:nvCxnSpPr>
        <p:spPr>
          <a:xfrm>
            <a:off x="8722984" y="2126787"/>
            <a:ext cx="0" cy="2009445"/>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6" name="Parallelogram 5">
            <a:extLst>
              <a:ext uri="{FF2B5EF4-FFF2-40B4-BE49-F238E27FC236}">
                <a16:creationId xmlns:a16="http://schemas.microsoft.com/office/drawing/2014/main" id="{863089F7-5D7D-DE07-1759-85CEF7D6DB41}"/>
              </a:ext>
            </a:extLst>
          </p:cNvPr>
          <p:cNvSpPr/>
          <p:nvPr/>
        </p:nvSpPr>
        <p:spPr>
          <a:xfrm>
            <a:off x="695325" y="4136232"/>
            <a:ext cx="8039515" cy="1276350"/>
          </a:xfrm>
          <a:prstGeom prst="parallelogram">
            <a:avLst>
              <a:gd name="adj" fmla="val 92164"/>
            </a:avLst>
          </a:prstGeom>
          <a:solidFill>
            <a:srgbClr val="FFE4D9"/>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solidFill>
                <a:srgbClr val="FFE4D9"/>
              </a:solidFill>
            </a:endParaRPr>
          </a:p>
        </p:txBody>
      </p:sp>
      <p:sp>
        <p:nvSpPr>
          <p:cNvPr id="10" name="TextBox 9">
            <a:extLst>
              <a:ext uri="{FF2B5EF4-FFF2-40B4-BE49-F238E27FC236}">
                <a16:creationId xmlns:a16="http://schemas.microsoft.com/office/drawing/2014/main" id="{6E4F4DFB-DBC3-E704-9F22-18CAC105B8A9}"/>
              </a:ext>
            </a:extLst>
          </p:cNvPr>
          <p:cNvSpPr txBox="1"/>
          <p:nvPr/>
        </p:nvSpPr>
        <p:spPr>
          <a:xfrm>
            <a:off x="851925" y="5148560"/>
            <a:ext cx="2053199" cy="307777"/>
          </a:xfrm>
          <a:prstGeom prst="rect">
            <a:avLst/>
          </a:prstGeom>
          <a:noFill/>
        </p:spPr>
        <p:txBody>
          <a:bodyPr wrap="squar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11" name="Parallelogram 10">
            <a:extLst>
              <a:ext uri="{FF2B5EF4-FFF2-40B4-BE49-F238E27FC236}">
                <a16:creationId xmlns:a16="http://schemas.microsoft.com/office/drawing/2014/main" id="{84FAE185-C0E8-3298-C4C6-BA8617455796}"/>
              </a:ext>
            </a:extLst>
          </p:cNvPr>
          <p:cNvSpPr/>
          <p:nvPr/>
        </p:nvSpPr>
        <p:spPr>
          <a:xfrm>
            <a:off x="695325" y="2126787"/>
            <a:ext cx="8039515" cy="1276350"/>
          </a:xfrm>
          <a:prstGeom prst="parallelogram">
            <a:avLst>
              <a:gd name="adj" fmla="val 92164"/>
            </a:avLst>
          </a:prstGeom>
          <a:solidFill>
            <a:schemeClr val="accent1">
              <a:lumMod val="20000"/>
              <a:lumOff val="80000"/>
              <a:alpha val="95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7" name="TextBox 16">
            <a:extLst>
              <a:ext uri="{FF2B5EF4-FFF2-40B4-BE49-F238E27FC236}">
                <a16:creationId xmlns:a16="http://schemas.microsoft.com/office/drawing/2014/main" id="{E557DD23-EB18-9F72-FB1C-A72309B6DD42}"/>
              </a:ext>
            </a:extLst>
          </p:cNvPr>
          <p:cNvSpPr txBox="1"/>
          <p:nvPr/>
        </p:nvSpPr>
        <p:spPr>
          <a:xfrm>
            <a:off x="936945" y="3117237"/>
            <a:ext cx="1036943" cy="307777"/>
          </a:xfrm>
          <a:prstGeom prst="rect">
            <a:avLst/>
          </a:prstGeom>
          <a:noFill/>
        </p:spPr>
        <p:txBody>
          <a:bodyPr wrap="square" rtlCol="0">
            <a:spAutoFit/>
          </a:bodyPr>
          <a:lstStyle>
            <a:defPPr>
              <a:defRPr lang="en-NL"/>
            </a:defPPr>
            <a:lvl1pPr>
              <a:defRPr>
                <a:latin typeface="Atkinson Hyperlegible" pitchFamily="2" charset="0"/>
              </a:defRPr>
            </a:lvl1pPr>
          </a:lstStyle>
          <a:p>
            <a:r>
              <a:rPr lang="en-US" sz="1400" dirty="0">
                <a:solidFill>
                  <a:schemeClr val="tx2">
                    <a:lumMod val="90000"/>
                    <a:lumOff val="10000"/>
                  </a:schemeClr>
                </a:solidFill>
              </a:rPr>
              <a:t>Meanings</a:t>
            </a:r>
            <a:endParaRPr lang="en-NL" sz="1400" dirty="0">
              <a:solidFill>
                <a:schemeClr val="tx2">
                  <a:lumMod val="90000"/>
                  <a:lumOff val="10000"/>
                </a:schemeClr>
              </a:solidFill>
            </a:endParaRPr>
          </a:p>
        </p:txBody>
      </p:sp>
      <p:sp>
        <p:nvSpPr>
          <p:cNvPr id="26" name="Oval 25">
            <a:extLst>
              <a:ext uri="{FF2B5EF4-FFF2-40B4-BE49-F238E27FC236}">
                <a16:creationId xmlns:a16="http://schemas.microsoft.com/office/drawing/2014/main" id="{FF3F0498-A81E-AA6F-E3F0-4A2052D41077}"/>
              </a:ext>
            </a:extLst>
          </p:cNvPr>
          <p:cNvSpPr/>
          <p:nvPr/>
        </p:nvSpPr>
        <p:spPr>
          <a:xfrm>
            <a:off x="5272936" y="4531519"/>
            <a:ext cx="485775" cy="4857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NL"/>
          </a:p>
        </p:txBody>
      </p:sp>
      <p:sp>
        <p:nvSpPr>
          <p:cNvPr id="27" name="Oval 26">
            <a:extLst>
              <a:ext uri="{FF2B5EF4-FFF2-40B4-BE49-F238E27FC236}">
                <a16:creationId xmlns:a16="http://schemas.microsoft.com/office/drawing/2014/main" id="{DEBA144F-55CE-B50E-CE44-CE6D4BBAA3EB}"/>
              </a:ext>
            </a:extLst>
          </p:cNvPr>
          <p:cNvSpPr/>
          <p:nvPr/>
        </p:nvSpPr>
        <p:spPr>
          <a:xfrm>
            <a:off x="6922459" y="4531519"/>
            <a:ext cx="485775" cy="4857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NL"/>
          </a:p>
        </p:txBody>
      </p:sp>
      <p:cxnSp>
        <p:nvCxnSpPr>
          <p:cNvPr id="3" name="Straight Arrow Connector 2">
            <a:extLst>
              <a:ext uri="{FF2B5EF4-FFF2-40B4-BE49-F238E27FC236}">
                <a16:creationId xmlns:a16="http://schemas.microsoft.com/office/drawing/2014/main" id="{659E2AC8-10B2-8DD3-C04F-A7FD1C0D884F}"/>
              </a:ext>
            </a:extLst>
          </p:cNvPr>
          <p:cNvCxnSpPr>
            <a:cxnSpLocks/>
            <a:stCxn id="15" idx="6"/>
            <a:endCxn id="16" idx="2"/>
          </p:cNvCxnSpPr>
          <p:nvPr/>
        </p:nvCxnSpPr>
        <p:spPr>
          <a:xfrm>
            <a:off x="2459663" y="4774407"/>
            <a:ext cx="1163749" cy="0"/>
          </a:xfrm>
          <a:prstGeom prst="straightConnector1">
            <a:avLst/>
          </a:prstGeom>
          <a:ln w="50800" cap="flat" cmpd="sng" algn="ctr">
            <a:solidFill>
              <a:schemeClr val="accent4"/>
            </a:solidFill>
            <a:prstDash val="sysDot"/>
            <a:round/>
            <a:headEnd type="triangle" w="lg" len="lg"/>
            <a:tailEnd type="triangle" w="lg" len="lg"/>
          </a:ln>
        </p:spPr>
        <p:style>
          <a:lnRef idx="0">
            <a:scrgbClr r="0" g="0" b="0"/>
          </a:lnRef>
          <a:fillRef idx="0">
            <a:scrgbClr r="0" g="0" b="0"/>
          </a:fillRef>
          <a:effectRef idx="0">
            <a:scrgbClr r="0" g="0" b="0"/>
          </a:effectRef>
          <a:fontRef idx="minor">
            <a:schemeClr val="tx1"/>
          </a:fontRef>
        </p:style>
      </p:cxnSp>
      <p:cxnSp>
        <p:nvCxnSpPr>
          <p:cNvPr id="12" name="Straight Arrow Connector 11">
            <a:extLst>
              <a:ext uri="{FF2B5EF4-FFF2-40B4-BE49-F238E27FC236}">
                <a16:creationId xmlns:a16="http://schemas.microsoft.com/office/drawing/2014/main" id="{2F062E12-45FE-8E3C-70FB-443B4C10AFAA}"/>
              </a:ext>
            </a:extLst>
          </p:cNvPr>
          <p:cNvCxnSpPr>
            <a:cxnSpLocks/>
            <a:stCxn id="16" idx="6"/>
          </p:cNvCxnSpPr>
          <p:nvPr/>
        </p:nvCxnSpPr>
        <p:spPr>
          <a:xfrm>
            <a:off x="4109187" y="4774407"/>
            <a:ext cx="1160355" cy="0"/>
          </a:xfrm>
          <a:prstGeom prst="straightConnector1">
            <a:avLst/>
          </a:prstGeom>
          <a:ln w="50800" cap="flat" cmpd="sng" algn="ctr">
            <a:solidFill>
              <a:srgbClr val="C00000"/>
            </a:solidFill>
            <a:prstDash val="sysDot"/>
            <a:round/>
            <a:headEnd type="triangle" w="lg" len="lg"/>
            <a:tailEnd type="triangle" w="lg" len="lg"/>
          </a:ln>
        </p:spPr>
        <p:style>
          <a:lnRef idx="0">
            <a:scrgbClr r="0" g="0" b="0"/>
          </a:lnRef>
          <a:fillRef idx="0">
            <a:scrgbClr r="0" g="0" b="0"/>
          </a:fillRef>
          <a:effectRef idx="0">
            <a:scrgbClr r="0" g="0" b="0"/>
          </a:effectRef>
          <a:fontRef idx="minor">
            <a:schemeClr val="tx1"/>
          </a:fontRef>
        </p:style>
      </p:cxnSp>
      <p:cxnSp>
        <p:nvCxnSpPr>
          <p:cNvPr id="19" name="Straight Arrow Connector 18">
            <a:extLst>
              <a:ext uri="{FF2B5EF4-FFF2-40B4-BE49-F238E27FC236}">
                <a16:creationId xmlns:a16="http://schemas.microsoft.com/office/drawing/2014/main" id="{0AE43128-1A29-745D-F7E4-1961FBEE95AC}"/>
              </a:ext>
            </a:extLst>
          </p:cNvPr>
          <p:cNvCxnSpPr>
            <a:cxnSpLocks/>
            <a:stCxn id="26" idx="6"/>
            <a:endCxn id="27" idx="2"/>
          </p:cNvCxnSpPr>
          <p:nvPr/>
        </p:nvCxnSpPr>
        <p:spPr>
          <a:xfrm>
            <a:off x="5758711" y="4774407"/>
            <a:ext cx="1163748" cy="0"/>
          </a:xfrm>
          <a:prstGeom prst="straightConnector1">
            <a:avLst/>
          </a:prstGeom>
          <a:ln w="50800" cap="flat" cmpd="sng" algn="ctr">
            <a:solidFill>
              <a:schemeClr val="accent2"/>
            </a:solidFill>
            <a:prstDash val="sysDot"/>
            <a:round/>
            <a:headEnd type="triangle" w="lg" len="lg"/>
            <a:tailEnd type="triangle" w="lg" len="lg"/>
          </a:ln>
        </p:spPr>
        <p:style>
          <a:lnRef idx="0">
            <a:scrgbClr r="0" g="0" b="0"/>
          </a:lnRef>
          <a:fillRef idx="0">
            <a:scrgbClr r="0" g="0" b="0"/>
          </a:fillRef>
          <a:effectRef idx="0">
            <a:scrgbClr r="0" g="0" b="0"/>
          </a:effectRef>
          <a:fontRef idx="minor">
            <a:schemeClr val="tx1"/>
          </a:fontRef>
        </p:style>
      </p:cxnSp>
      <p:sp>
        <p:nvSpPr>
          <p:cNvPr id="13" name="Oval 12">
            <a:extLst>
              <a:ext uri="{FF2B5EF4-FFF2-40B4-BE49-F238E27FC236}">
                <a16:creationId xmlns:a16="http://schemas.microsoft.com/office/drawing/2014/main" id="{48AE2E7C-D0DF-2EA3-36A3-95BE38FB7F37}"/>
              </a:ext>
            </a:extLst>
          </p:cNvPr>
          <p:cNvSpPr/>
          <p:nvPr/>
        </p:nvSpPr>
        <p:spPr>
          <a:xfrm>
            <a:off x="2797287" y="2522075"/>
            <a:ext cx="485775" cy="4857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4" name="Oval 13">
            <a:extLst>
              <a:ext uri="{FF2B5EF4-FFF2-40B4-BE49-F238E27FC236}">
                <a16:creationId xmlns:a16="http://schemas.microsoft.com/office/drawing/2014/main" id="{CF431E80-5050-2E7F-4411-6B2B44A420FE}"/>
              </a:ext>
            </a:extLst>
          </p:cNvPr>
          <p:cNvSpPr/>
          <p:nvPr/>
        </p:nvSpPr>
        <p:spPr>
          <a:xfrm>
            <a:off x="5272936" y="2522075"/>
            <a:ext cx="485775" cy="4857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Oval 21">
            <a:extLst>
              <a:ext uri="{FF2B5EF4-FFF2-40B4-BE49-F238E27FC236}">
                <a16:creationId xmlns:a16="http://schemas.microsoft.com/office/drawing/2014/main" id="{F48C7FA4-5A6D-2D48-6560-B4E048D790CE}"/>
              </a:ext>
            </a:extLst>
          </p:cNvPr>
          <p:cNvSpPr/>
          <p:nvPr/>
        </p:nvSpPr>
        <p:spPr>
          <a:xfrm>
            <a:off x="6922459" y="2522075"/>
            <a:ext cx="485775" cy="4857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28" name="Straight Arrow Connector 27">
            <a:extLst>
              <a:ext uri="{FF2B5EF4-FFF2-40B4-BE49-F238E27FC236}">
                <a16:creationId xmlns:a16="http://schemas.microsoft.com/office/drawing/2014/main" id="{546DDD0F-7E58-6BA5-3E59-42575E786085}"/>
              </a:ext>
            </a:extLst>
          </p:cNvPr>
          <p:cNvCxnSpPr>
            <a:cxnSpLocks/>
            <a:stCxn id="14" idx="6"/>
            <a:endCxn id="22" idx="2"/>
          </p:cNvCxnSpPr>
          <p:nvPr/>
        </p:nvCxnSpPr>
        <p:spPr>
          <a:xfrm>
            <a:off x="5758711" y="2764963"/>
            <a:ext cx="1163748" cy="0"/>
          </a:xfrm>
          <a:prstGeom prst="straightConnector1">
            <a:avLst/>
          </a:prstGeom>
          <a:ln w="50800" cap="flat" cmpd="sng" algn="ctr">
            <a:solidFill>
              <a:schemeClr val="dk1"/>
            </a:solidFill>
            <a:prstDash val="solid"/>
            <a:round/>
            <a:headEnd type="none" w="med" len="med"/>
            <a:tailEnd type="triangle" w="lg" len="lg"/>
          </a:ln>
        </p:spPr>
        <p:style>
          <a:lnRef idx="0">
            <a:scrgbClr r="0" g="0" b="0"/>
          </a:lnRef>
          <a:fillRef idx="0">
            <a:scrgbClr r="0" g="0" b="0"/>
          </a:fillRef>
          <a:effectRef idx="0">
            <a:scrgbClr r="0" g="0" b="0"/>
          </a:effectRef>
          <a:fontRef idx="minor">
            <a:schemeClr val="tx1"/>
          </a:fontRef>
        </p:style>
      </p:cxnSp>
      <p:cxnSp>
        <p:nvCxnSpPr>
          <p:cNvPr id="18" name="Straight Arrow Connector 17">
            <a:extLst>
              <a:ext uri="{FF2B5EF4-FFF2-40B4-BE49-F238E27FC236}">
                <a16:creationId xmlns:a16="http://schemas.microsoft.com/office/drawing/2014/main" id="{48F6FCBC-12B7-0545-24BA-A2432DAE9AD8}"/>
              </a:ext>
            </a:extLst>
          </p:cNvPr>
          <p:cNvCxnSpPr>
            <a:cxnSpLocks/>
            <a:stCxn id="26" idx="0"/>
            <a:endCxn id="14" idx="4"/>
          </p:cNvCxnSpPr>
          <p:nvPr/>
        </p:nvCxnSpPr>
        <p:spPr>
          <a:xfrm flipV="1">
            <a:off x="5515824" y="3007850"/>
            <a:ext cx="0" cy="1523669"/>
          </a:xfrm>
          <a:prstGeom prst="straightConnector1">
            <a:avLst/>
          </a:prstGeom>
          <a:ln w="50800" cap="flat" cmpd="sng" algn="ctr">
            <a:solidFill>
              <a:schemeClr val="accent4"/>
            </a:solidFill>
            <a:prstDash val="solid"/>
            <a:round/>
            <a:headEnd type="none" w="med" len="med"/>
            <a:tailEnd type="triangle" w="lg" len="lg"/>
          </a:ln>
        </p:spPr>
        <p:style>
          <a:lnRef idx="0">
            <a:scrgbClr r="0" g="0" b="0"/>
          </a:lnRef>
          <a:fillRef idx="0">
            <a:scrgbClr r="0" g="0" b="0"/>
          </a:fillRef>
          <a:effectRef idx="0">
            <a:scrgbClr r="0" g="0" b="0"/>
          </a:effectRef>
          <a:fontRef idx="minor">
            <a:schemeClr val="tx1"/>
          </a:fontRef>
        </p:style>
      </p:cxnSp>
      <p:cxnSp>
        <p:nvCxnSpPr>
          <p:cNvPr id="24" name="Straight Arrow Connector 23">
            <a:extLst>
              <a:ext uri="{FF2B5EF4-FFF2-40B4-BE49-F238E27FC236}">
                <a16:creationId xmlns:a16="http://schemas.microsoft.com/office/drawing/2014/main" id="{74CC80C8-EE8E-D755-A829-44273BFAD191}"/>
              </a:ext>
            </a:extLst>
          </p:cNvPr>
          <p:cNvCxnSpPr>
            <a:cxnSpLocks/>
            <a:stCxn id="27" idx="0"/>
            <a:endCxn id="22" idx="4"/>
          </p:cNvCxnSpPr>
          <p:nvPr/>
        </p:nvCxnSpPr>
        <p:spPr>
          <a:xfrm flipV="1">
            <a:off x="7165347" y="3007850"/>
            <a:ext cx="0" cy="1523669"/>
          </a:xfrm>
          <a:prstGeom prst="straightConnector1">
            <a:avLst/>
          </a:prstGeom>
          <a:ln w="50800" cap="flat" cmpd="sng" algn="ctr">
            <a:solidFill>
              <a:schemeClr val="accent4"/>
            </a:solidFill>
            <a:prstDash val="solid"/>
            <a:round/>
            <a:headEnd type="none" w="med" len="med"/>
            <a:tailEnd type="triangle" w="lg" len="lg"/>
          </a:ln>
        </p:spPr>
        <p:style>
          <a:lnRef idx="0">
            <a:scrgbClr r="0" g="0" b="0"/>
          </a:lnRef>
          <a:fillRef idx="0">
            <a:scrgbClr r="0" g="0" b="0"/>
          </a:fillRef>
          <a:effectRef idx="0">
            <a:scrgbClr r="0" g="0" b="0"/>
          </a:effectRef>
          <a:fontRef idx="minor">
            <a:schemeClr val="tx1"/>
          </a:fontRef>
        </p:style>
      </p:cxnSp>
      <p:cxnSp>
        <p:nvCxnSpPr>
          <p:cNvPr id="30" name="Straight Arrow Connector 29">
            <a:extLst>
              <a:ext uri="{FF2B5EF4-FFF2-40B4-BE49-F238E27FC236}">
                <a16:creationId xmlns:a16="http://schemas.microsoft.com/office/drawing/2014/main" id="{07F465E9-385E-CC06-0238-0CFF41841625}"/>
              </a:ext>
            </a:extLst>
          </p:cNvPr>
          <p:cNvCxnSpPr>
            <a:cxnSpLocks/>
          </p:cNvCxnSpPr>
          <p:nvPr/>
        </p:nvCxnSpPr>
        <p:spPr>
          <a:xfrm flipH="1" flipV="1">
            <a:off x="3145878" y="3007850"/>
            <a:ext cx="717695" cy="1766556"/>
          </a:xfrm>
          <a:prstGeom prst="straightConnector1">
            <a:avLst/>
          </a:prstGeom>
          <a:ln w="50800" cap="flat" cmpd="sng" algn="ctr">
            <a:solidFill>
              <a:schemeClr val="accent4"/>
            </a:solidFill>
            <a:prstDash val="solid"/>
            <a:round/>
            <a:headEnd type="none" w="med" len="med"/>
            <a:tailEnd type="triangle" w="lg" len="lg"/>
          </a:ln>
        </p:spPr>
        <p:style>
          <a:lnRef idx="0">
            <a:scrgbClr r="0" g="0" b="0"/>
          </a:lnRef>
          <a:fillRef idx="0">
            <a:scrgbClr r="0" g="0" b="0"/>
          </a:fillRef>
          <a:effectRef idx="0">
            <a:scrgbClr r="0" g="0" b="0"/>
          </a:effectRef>
          <a:fontRef idx="minor">
            <a:schemeClr val="tx1"/>
          </a:fontRef>
        </p:style>
      </p:cxnSp>
      <p:cxnSp>
        <p:nvCxnSpPr>
          <p:cNvPr id="37" name="Straight Arrow Connector 36">
            <a:extLst>
              <a:ext uri="{FF2B5EF4-FFF2-40B4-BE49-F238E27FC236}">
                <a16:creationId xmlns:a16="http://schemas.microsoft.com/office/drawing/2014/main" id="{68911B7F-CD35-D341-5570-D44188685363}"/>
              </a:ext>
            </a:extLst>
          </p:cNvPr>
          <p:cNvCxnSpPr>
            <a:cxnSpLocks/>
          </p:cNvCxnSpPr>
          <p:nvPr/>
        </p:nvCxnSpPr>
        <p:spPr>
          <a:xfrm flipV="1">
            <a:off x="2205217" y="3007850"/>
            <a:ext cx="720124" cy="1766556"/>
          </a:xfrm>
          <a:prstGeom prst="straightConnector1">
            <a:avLst/>
          </a:prstGeom>
          <a:ln w="50800" cap="flat" cmpd="sng" algn="ctr">
            <a:solidFill>
              <a:schemeClr val="accent4"/>
            </a:solidFill>
            <a:prstDash val="solid"/>
            <a:round/>
            <a:headEnd type="none" w="med" len="med"/>
            <a:tailEnd type="triangle" w="lg" len="lg"/>
          </a:ln>
        </p:spPr>
        <p:style>
          <a:lnRef idx="0">
            <a:scrgbClr r="0" g="0" b="0"/>
          </a:lnRef>
          <a:fillRef idx="0">
            <a:scrgbClr r="0" g="0" b="0"/>
          </a:fillRef>
          <a:effectRef idx="0">
            <a:scrgbClr r="0" g="0" b="0"/>
          </a:effectRef>
          <a:fontRef idx="minor">
            <a:schemeClr val="tx1"/>
          </a:fontRef>
        </p:style>
      </p:cxnSp>
      <p:cxnSp>
        <p:nvCxnSpPr>
          <p:cNvPr id="23" name="Straight Connector 22">
            <a:extLst>
              <a:ext uri="{FF2B5EF4-FFF2-40B4-BE49-F238E27FC236}">
                <a16:creationId xmlns:a16="http://schemas.microsoft.com/office/drawing/2014/main" id="{AA77276F-93A6-0A42-1E26-97461E251A9C}"/>
              </a:ext>
            </a:extLst>
          </p:cNvPr>
          <p:cNvCxnSpPr>
            <a:cxnSpLocks/>
          </p:cNvCxnSpPr>
          <p:nvPr/>
        </p:nvCxnSpPr>
        <p:spPr>
          <a:xfrm>
            <a:off x="695325" y="3403137"/>
            <a:ext cx="0" cy="2035699"/>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23DA8504-3558-D0A5-018C-6B989DD973C7}"/>
              </a:ext>
            </a:extLst>
          </p:cNvPr>
          <p:cNvCxnSpPr>
            <a:cxnSpLocks/>
          </p:cNvCxnSpPr>
          <p:nvPr/>
        </p:nvCxnSpPr>
        <p:spPr>
          <a:xfrm>
            <a:off x="7550993" y="3403137"/>
            <a:ext cx="0" cy="2009445"/>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15" name="Oval 14">
            <a:extLst>
              <a:ext uri="{FF2B5EF4-FFF2-40B4-BE49-F238E27FC236}">
                <a16:creationId xmlns:a16="http://schemas.microsoft.com/office/drawing/2014/main" id="{A91B3DEF-1B04-99E8-1149-BE84A79D9653}"/>
              </a:ext>
            </a:extLst>
          </p:cNvPr>
          <p:cNvSpPr/>
          <p:nvPr/>
        </p:nvSpPr>
        <p:spPr>
          <a:xfrm>
            <a:off x="1973888" y="4531519"/>
            <a:ext cx="485775" cy="4857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NL"/>
          </a:p>
        </p:txBody>
      </p:sp>
      <p:sp>
        <p:nvSpPr>
          <p:cNvPr id="16" name="Oval 15">
            <a:extLst>
              <a:ext uri="{FF2B5EF4-FFF2-40B4-BE49-F238E27FC236}">
                <a16:creationId xmlns:a16="http://schemas.microsoft.com/office/drawing/2014/main" id="{FC714E8E-57D2-C4D8-9E2A-26CCF7D1CECD}"/>
              </a:ext>
            </a:extLst>
          </p:cNvPr>
          <p:cNvSpPr/>
          <p:nvPr/>
        </p:nvSpPr>
        <p:spPr>
          <a:xfrm>
            <a:off x="3623412" y="4531519"/>
            <a:ext cx="485775" cy="4857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267344004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7FC8EB-9F07-E37A-2F31-EC12D51A120F}"/>
            </a:ext>
          </a:extLst>
        </p:cNvPr>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929B8F6E-9684-11AE-6F3A-ACE6A6F1BDC8}"/>
              </a:ext>
            </a:extLst>
          </p:cNvPr>
          <p:cNvCxnSpPr/>
          <p:nvPr/>
        </p:nvCxnSpPr>
        <p:spPr>
          <a:xfrm>
            <a:off x="2440086" y="1662864"/>
            <a:ext cx="0" cy="3010736"/>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97C7A57E-10E5-1EC6-2EDC-68E68D2B9807}"/>
              </a:ext>
            </a:extLst>
          </p:cNvPr>
          <p:cNvSpPr>
            <a:spLocks noGrp="1"/>
          </p:cNvSpPr>
          <p:nvPr>
            <p:ph type="title"/>
          </p:nvPr>
        </p:nvSpPr>
        <p:spPr/>
        <p:txBody>
          <a:bodyPr/>
          <a:lstStyle/>
          <a:p>
            <a:r>
              <a:rPr lang="en-US" dirty="0"/>
              <a:t>Context: With HRI-SSI</a:t>
            </a:r>
            <a:endParaRPr lang="en-NL" dirty="0"/>
          </a:p>
        </p:txBody>
      </p:sp>
      <p:sp>
        <p:nvSpPr>
          <p:cNvPr id="4" name="Slide Number Placeholder 3">
            <a:extLst>
              <a:ext uri="{FF2B5EF4-FFF2-40B4-BE49-F238E27FC236}">
                <a16:creationId xmlns:a16="http://schemas.microsoft.com/office/drawing/2014/main" id="{DE222A59-A645-EC12-89A2-FEBB465635E4}"/>
              </a:ext>
            </a:extLst>
          </p:cNvPr>
          <p:cNvSpPr>
            <a:spLocks noGrp="1"/>
          </p:cNvSpPr>
          <p:nvPr>
            <p:ph type="sldNum" sz="quarter" idx="12"/>
          </p:nvPr>
        </p:nvSpPr>
        <p:spPr/>
        <p:txBody>
          <a:bodyPr/>
          <a:lstStyle/>
          <a:p>
            <a:fld id="{4FAB73BC-B049-4115-A692-8D63A059BFB8}" type="slidenum">
              <a:rPr lang="en-US" smtClean="0"/>
              <a:pPr/>
              <a:t>40</a:t>
            </a:fld>
            <a:endParaRPr lang="en-US" dirty="0"/>
          </a:p>
        </p:txBody>
      </p:sp>
      <p:sp>
        <p:nvSpPr>
          <p:cNvPr id="30" name="Parallelogram 29">
            <a:extLst>
              <a:ext uri="{FF2B5EF4-FFF2-40B4-BE49-F238E27FC236}">
                <a16:creationId xmlns:a16="http://schemas.microsoft.com/office/drawing/2014/main" id="{96A3C689-4B85-6C86-947B-339782AE8F74}"/>
              </a:ext>
            </a:extLst>
          </p:cNvPr>
          <p:cNvSpPr/>
          <p:nvPr/>
        </p:nvSpPr>
        <p:spPr>
          <a:xfrm>
            <a:off x="982761" y="3153944"/>
            <a:ext cx="10229850" cy="1276350"/>
          </a:xfrm>
          <a:prstGeom prst="parallelogram">
            <a:avLst>
              <a:gd name="adj" fmla="val 113806"/>
            </a:avLst>
          </a:prstGeom>
          <a:solidFill>
            <a:srgbClr val="FFE4D9"/>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solidFill>
                <a:srgbClr val="FFE4D9"/>
              </a:solidFill>
            </a:endParaRPr>
          </a:p>
        </p:txBody>
      </p:sp>
      <p:sp>
        <p:nvSpPr>
          <p:cNvPr id="31" name="TextBox 30">
            <a:extLst>
              <a:ext uri="{FF2B5EF4-FFF2-40B4-BE49-F238E27FC236}">
                <a16:creationId xmlns:a16="http://schemas.microsoft.com/office/drawing/2014/main" id="{13C4891A-1B79-5B92-ACF6-5C1249731485}"/>
              </a:ext>
            </a:extLst>
          </p:cNvPr>
          <p:cNvSpPr txBox="1"/>
          <p:nvPr/>
        </p:nvSpPr>
        <p:spPr>
          <a:xfrm>
            <a:off x="1218930" y="4122517"/>
            <a:ext cx="1693092"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33" name="Parallelogram 32">
            <a:extLst>
              <a:ext uri="{FF2B5EF4-FFF2-40B4-BE49-F238E27FC236}">
                <a16:creationId xmlns:a16="http://schemas.microsoft.com/office/drawing/2014/main" id="{4128824F-4CDF-3A29-DE28-8E47A029884D}"/>
              </a:ext>
            </a:extLst>
          </p:cNvPr>
          <p:cNvSpPr/>
          <p:nvPr/>
        </p:nvSpPr>
        <p:spPr>
          <a:xfrm>
            <a:off x="982761" y="4673600"/>
            <a:ext cx="10229850" cy="1276350"/>
          </a:xfrm>
          <a:prstGeom prst="parallelogram">
            <a:avLst>
              <a:gd name="adj" fmla="val 113806"/>
            </a:avLst>
          </a:prstGeom>
          <a:solidFill>
            <a:schemeClr val="accent4">
              <a:lumMod val="20000"/>
              <a:lumOff val="8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4" name="TextBox 33">
            <a:extLst>
              <a:ext uri="{FF2B5EF4-FFF2-40B4-BE49-F238E27FC236}">
                <a16:creationId xmlns:a16="http://schemas.microsoft.com/office/drawing/2014/main" id="{4D2E8991-D64C-6298-B8C2-498597802A56}"/>
              </a:ext>
            </a:extLst>
          </p:cNvPr>
          <p:cNvSpPr txBox="1"/>
          <p:nvPr/>
        </p:nvSpPr>
        <p:spPr>
          <a:xfrm>
            <a:off x="1258204" y="5642173"/>
            <a:ext cx="1614545"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4"/>
                </a:solidFill>
              </a:rPr>
              <a:t>Datasets Columns</a:t>
            </a:r>
            <a:endParaRPr lang="en-NL" sz="1400" dirty="0">
              <a:solidFill>
                <a:schemeClr val="accent4"/>
              </a:solidFill>
            </a:endParaRPr>
          </a:p>
        </p:txBody>
      </p:sp>
      <p:sp>
        <p:nvSpPr>
          <p:cNvPr id="16" name="Parallelogram 15">
            <a:extLst>
              <a:ext uri="{FF2B5EF4-FFF2-40B4-BE49-F238E27FC236}">
                <a16:creationId xmlns:a16="http://schemas.microsoft.com/office/drawing/2014/main" id="{9A9E7ECA-27B5-7B0B-5ABF-1F7C7225546F}"/>
              </a:ext>
            </a:extLst>
          </p:cNvPr>
          <p:cNvSpPr/>
          <p:nvPr/>
        </p:nvSpPr>
        <p:spPr>
          <a:xfrm>
            <a:off x="982761" y="1634289"/>
            <a:ext cx="10229850" cy="1276350"/>
          </a:xfrm>
          <a:prstGeom prst="parallelogram">
            <a:avLst>
              <a:gd name="adj" fmla="val 113806"/>
            </a:avLst>
          </a:prstGeom>
          <a:solidFill>
            <a:schemeClr val="accent1">
              <a:lumMod val="20000"/>
              <a:lumOff val="80000"/>
              <a:alpha val="95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7" name="TextBox 16">
            <a:extLst>
              <a:ext uri="{FF2B5EF4-FFF2-40B4-BE49-F238E27FC236}">
                <a16:creationId xmlns:a16="http://schemas.microsoft.com/office/drawing/2014/main" id="{3BBFF5F5-4D7D-F158-7B26-745535F82FA6}"/>
              </a:ext>
            </a:extLst>
          </p:cNvPr>
          <p:cNvSpPr txBox="1"/>
          <p:nvPr/>
        </p:nvSpPr>
        <p:spPr>
          <a:xfrm>
            <a:off x="1352455" y="2602861"/>
            <a:ext cx="954107"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tx2">
                    <a:lumMod val="90000"/>
                    <a:lumOff val="10000"/>
                  </a:schemeClr>
                </a:solidFill>
              </a:rPr>
              <a:t>Meanings</a:t>
            </a:r>
            <a:endParaRPr lang="en-NL" sz="1400" dirty="0">
              <a:solidFill>
                <a:schemeClr val="tx2">
                  <a:lumMod val="90000"/>
                  <a:lumOff val="10000"/>
                </a:schemeClr>
              </a:solidFill>
            </a:endParaRPr>
          </a:p>
        </p:txBody>
      </p:sp>
      <p:cxnSp>
        <p:nvCxnSpPr>
          <p:cNvPr id="18" name="Straight Connector 17">
            <a:extLst>
              <a:ext uri="{FF2B5EF4-FFF2-40B4-BE49-F238E27FC236}">
                <a16:creationId xmlns:a16="http://schemas.microsoft.com/office/drawing/2014/main" id="{9DA41521-73A0-3C5F-FC68-A35A0DCB2DA8}"/>
              </a:ext>
            </a:extLst>
          </p:cNvPr>
          <p:cNvCxnSpPr/>
          <p:nvPr/>
        </p:nvCxnSpPr>
        <p:spPr>
          <a:xfrm>
            <a:off x="982760" y="2939214"/>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561BCB92-87EB-5172-BC64-93582F46ADA0}"/>
              </a:ext>
            </a:extLst>
          </p:cNvPr>
          <p:cNvCxnSpPr/>
          <p:nvPr/>
        </p:nvCxnSpPr>
        <p:spPr>
          <a:xfrm>
            <a:off x="11210279" y="1662864"/>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0B7F61B9-BE5D-21C7-1177-2ACD71CE719A}"/>
              </a:ext>
            </a:extLst>
          </p:cNvPr>
          <p:cNvCxnSpPr/>
          <p:nvPr/>
        </p:nvCxnSpPr>
        <p:spPr>
          <a:xfrm>
            <a:off x="9762478" y="2939214"/>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63" name="TextBox 62">
            <a:extLst>
              <a:ext uri="{FF2B5EF4-FFF2-40B4-BE49-F238E27FC236}">
                <a16:creationId xmlns:a16="http://schemas.microsoft.com/office/drawing/2014/main" id="{4358AF6D-F46F-1CF0-3C3A-F9AA6F7C1A70}"/>
              </a:ext>
            </a:extLst>
          </p:cNvPr>
          <p:cNvSpPr txBox="1"/>
          <p:nvPr/>
        </p:nvSpPr>
        <p:spPr>
          <a:xfrm rot="18900000">
            <a:off x="2656871" y="1865401"/>
            <a:ext cx="719364" cy="276999"/>
          </a:xfrm>
          <a:prstGeom prst="rect">
            <a:avLst/>
          </a:prstGeom>
          <a:noFill/>
        </p:spPr>
        <p:txBody>
          <a:bodyPr wrap="none" rtlCol="0" anchor="ctr">
            <a:spAutoFit/>
          </a:bodyPr>
          <a:lstStyle/>
          <a:p>
            <a:pPr algn="ctr"/>
            <a:r>
              <a:rPr lang="en-US" sz="1200" dirty="0" err="1"/>
              <a:t>hrio:Sex</a:t>
            </a:r>
            <a:endParaRPr lang="en-NL" sz="1200" dirty="0"/>
          </a:p>
        </p:txBody>
      </p:sp>
      <p:sp>
        <p:nvSpPr>
          <p:cNvPr id="5" name="TextBox 4">
            <a:extLst>
              <a:ext uri="{FF2B5EF4-FFF2-40B4-BE49-F238E27FC236}">
                <a16:creationId xmlns:a16="http://schemas.microsoft.com/office/drawing/2014/main" id="{F6ED19F8-B9B0-077A-0333-2D08C1D26C84}"/>
              </a:ext>
            </a:extLst>
          </p:cNvPr>
          <p:cNvSpPr txBox="1"/>
          <p:nvPr/>
        </p:nvSpPr>
        <p:spPr>
          <a:xfrm rot="18900000">
            <a:off x="2242007" y="3407260"/>
            <a:ext cx="1476174" cy="307777"/>
          </a:xfrm>
          <a:prstGeom prst="rect">
            <a:avLst/>
          </a:prstGeom>
          <a:noFill/>
        </p:spPr>
        <p:txBody>
          <a:bodyPr wrap="square" anchor="ctr">
            <a:spAutoFit/>
          </a:bodyPr>
          <a:lstStyle/>
          <a:p>
            <a:pPr algn="ctr"/>
            <a:r>
              <a:rPr lang="en-NL" sz="1400" dirty="0" err="1"/>
              <a:t>care-sm:Sex</a:t>
            </a:r>
            <a:endParaRPr lang="en-NL" sz="1400" dirty="0"/>
          </a:p>
        </p:txBody>
      </p:sp>
      <p:sp>
        <p:nvSpPr>
          <p:cNvPr id="25" name="TextBox 24">
            <a:extLst>
              <a:ext uri="{FF2B5EF4-FFF2-40B4-BE49-F238E27FC236}">
                <a16:creationId xmlns:a16="http://schemas.microsoft.com/office/drawing/2014/main" id="{0A7C7E17-35B3-5E7A-D2FC-BEE413CFD959}"/>
              </a:ext>
            </a:extLst>
          </p:cNvPr>
          <p:cNvSpPr txBox="1"/>
          <p:nvPr/>
        </p:nvSpPr>
        <p:spPr>
          <a:xfrm rot="18900000">
            <a:off x="4948253" y="1865401"/>
            <a:ext cx="1867819" cy="276999"/>
          </a:xfrm>
          <a:prstGeom prst="rect">
            <a:avLst/>
          </a:prstGeom>
          <a:noFill/>
        </p:spPr>
        <p:txBody>
          <a:bodyPr wrap="none" rtlCol="0" anchor="ctr">
            <a:spAutoFit/>
          </a:bodyPr>
          <a:lstStyle/>
          <a:p>
            <a:pPr algn="ctr"/>
            <a:r>
              <a:rPr lang="en-US" sz="1200" dirty="0" err="1"/>
              <a:t>hrio:SelfIdentifiedGender</a:t>
            </a:r>
            <a:endParaRPr lang="en-NL" sz="1200" dirty="0"/>
          </a:p>
        </p:txBody>
      </p:sp>
      <p:sp>
        <p:nvSpPr>
          <p:cNvPr id="78" name="TextBox 77">
            <a:extLst>
              <a:ext uri="{FF2B5EF4-FFF2-40B4-BE49-F238E27FC236}">
                <a16:creationId xmlns:a16="http://schemas.microsoft.com/office/drawing/2014/main" id="{069434A3-884F-AE5B-F324-7469A61A2BA9}"/>
              </a:ext>
            </a:extLst>
          </p:cNvPr>
          <p:cNvSpPr txBox="1"/>
          <p:nvPr/>
        </p:nvSpPr>
        <p:spPr>
          <a:xfrm rot="18900000">
            <a:off x="4593310" y="3356499"/>
            <a:ext cx="2295820" cy="461665"/>
          </a:xfrm>
          <a:prstGeom prst="rect">
            <a:avLst/>
          </a:prstGeom>
          <a:noFill/>
        </p:spPr>
        <p:txBody>
          <a:bodyPr wrap="none" rtlCol="0" anchor="ctr">
            <a:spAutoFit/>
          </a:bodyPr>
          <a:lstStyle>
            <a:defPPr>
              <a:defRPr lang="en-US"/>
            </a:defPPr>
            <a:lvl1pPr algn="ctr">
              <a:defRPr sz="1400"/>
            </a:lvl1pPr>
          </a:lstStyle>
          <a:p>
            <a:r>
              <a:rPr lang="en-NL" sz="1200" dirty="0"/>
              <a:t>hri-fhir-r5:</a:t>
            </a:r>
          </a:p>
          <a:p>
            <a:r>
              <a:rPr lang="en-NL" sz="1200" dirty="0"/>
              <a:t>individual-gender-identity/value</a:t>
            </a:r>
          </a:p>
        </p:txBody>
      </p:sp>
      <p:sp>
        <p:nvSpPr>
          <p:cNvPr id="80" name="TextBox 79">
            <a:extLst>
              <a:ext uri="{FF2B5EF4-FFF2-40B4-BE49-F238E27FC236}">
                <a16:creationId xmlns:a16="http://schemas.microsoft.com/office/drawing/2014/main" id="{8DD8BAF3-2B13-A9DC-EC06-775BE2612EAF}"/>
              </a:ext>
            </a:extLst>
          </p:cNvPr>
          <p:cNvSpPr txBox="1"/>
          <p:nvPr/>
        </p:nvSpPr>
        <p:spPr>
          <a:xfrm rot="18900000">
            <a:off x="2073489" y="4927054"/>
            <a:ext cx="1419235" cy="461665"/>
          </a:xfrm>
          <a:prstGeom prst="rect">
            <a:avLst/>
          </a:prstGeom>
          <a:noFill/>
        </p:spPr>
        <p:txBody>
          <a:bodyPr wrap="none" rtlCol="0" anchor="ctr">
            <a:spAutoFit/>
          </a:bodyPr>
          <a:lstStyle>
            <a:defPPr>
              <a:defRPr lang="en-US"/>
            </a:defPPr>
            <a:lvl1pPr algn="ctr">
              <a:defRPr sz="1400"/>
            </a:lvl1pPr>
          </a:lstStyle>
          <a:p>
            <a:r>
              <a:rPr lang="en-US" sz="1200" dirty="0"/>
              <a:t>BRP Demographic </a:t>
            </a:r>
          </a:p>
          <a:p>
            <a:r>
              <a:rPr lang="en-US" sz="1200" dirty="0"/>
              <a:t>Extract</a:t>
            </a:r>
            <a:endParaRPr lang="en-NL" sz="1200" dirty="0"/>
          </a:p>
        </p:txBody>
      </p:sp>
      <p:sp>
        <p:nvSpPr>
          <p:cNvPr id="84" name="TextBox 83">
            <a:extLst>
              <a:ext uri="{FF2B5EF4-FFF2-40B4-BE49-F238E27FC236}">
                <a16:creationId xmlns:a16="http://schemas.microsoft.com/office/drawing/2014/main" id="{63008662-3D1F-5B31-D8C0-A6BAC3E46C35}"/>
              </a:ext>
            </a:extLst>
          </p:cNvPr>
          <p:cNvSpPr txBox="1"/>
          <p:nvPr/>
        </p:nvSpPr>
        <p:spPr>
          <a:xfrm rot="18900000">
            <a:off x="4741740" y="5134847"/>
            <a:ext cx="1951175" cy="276999"/>
          </a:xfrm>
          <a:prstGeom prst="rect">
            <a:avLst/>
          </a:prstGeom>
          <a:noFill/>
        </p:spPr>
        <p:txBody>
          <a:bodyPr wrap="none" rtlCol="0" anchor="ctr">
            <a:spAutoFit/>
          </a:bodyPr>
          <a:lstStyle>
            <a:defPPr>
              <a:defRPr lang="en-US"/>
            </a:defPPr>
            <a:lvl1pPr algn="ctr">
              <a:defRPr sz="1400"/>
            </a:lvl1pPr>
          </a:lstStyle>
          <a:p>
            <a:r>
              <a:rPr lang="en-NL" sz="1200" dirty="0"/>
              <a:t>Administrative EHR Extract</a:t>
            </a:r>
          </a:p>
        </p:txBody>
      </p:sp>
      <p:sp>
        <p:nvSpPr>
          <p:cNvPr id="56" name="Oval 55">
            <a:extLst>
              <a:ext uri="{FF2B5EF4-FFF2-40B4-BE49-F238E27FC236}">
                <a16:creationId xmlns:a16="http://schemas.microsoft.com/office/drawing/2014/main" id="{E0C5A796-C849-1D2E-0855-7E02D2DC0A68}"/>
              </a:ext>
            </a:extLst>
          </p:cNvPr>
          <p:cNvSpPr/>
          <p:nvPr/>
        </p:nvSpPr>
        <p:spPr>
          <a:xfrm>
            <a:off x="3060682" y="3587332"/>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endParaRPr lang="en-NL" dirty="0"/>
          </a:p>
        </p:txBody>
      </p:sp>
      <p:sp>
        <p:nvSpPr>
          <p:cNvPr id="8" name="Oval 7">
            <a:extLst>
              <a:ext uri="{FF2B5EF4-FFF2-40B4-BE49-F238E27FC236}">
                <a16:creationId xmlns:a16="http://schemas.microsoft.com/office/drawing/2014/main" id="{1FC2E693-2C7D-C6F4-5135-609B09758CE3}"/>
              </a:ext>
            </a:extLst>
          </p:cNvPr>
          <p:cNvSpPr/>
          <p:nvPr/>
        </p:nvSpPr>
        <p:spPr>
          <a:xfrm>
            <a:off x="3054087" y="2067677"/>
            <a:ext cx="409575" cy="409575"/>
          </a:xfrm>
          <a:prstGeom prst="ellipse">
            <a:avLst/>
          </a:prstGeom>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NL" sz="1700" dirty="0"/>
          </a:p>
        </p:txBody>
      </p:sp>
      <p:sp>
        <p:nvSpPr>
          <p:cNvPr id="49" name="Oval 48">
            <a:extLst>
              <a:ext uri="{FF2B5EF4-FFF2-40B4-BE49-F238E27FC236}">
                <a16:creationId xmlns:a16="http://schemas.microsoft.com/office/drawing/2014/main" id="{BD25D9C1-EDCD-D7A0-F231-B0BC82731C64}"/>
              </a:ext>
            </a:extLst>
          </p:cNvPr>
          <p:cNvSpPr/>
          <p:nvPr/>
        </p:nvSpPr>
        <p:spPr>
          <a:xfrm>
            <a:off x="5930941" y="3587332"/>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endParaRPr lang="en-NL" dirty="0"/>
          </a:p>
        </p:txBody>
      </p:sp>
      <p:sp>
        <p:nvSpPr>
          <p:cNvPr id="72" name="Oval 71">
            <a:extLst>
              <a:ext uri="{FF2B5EF4-FFF2-40B4-BE49-F238E27FC236}">
                <a16:creationId xmlns:a16="http://schemas.microsoft.com/office/drawing/2014/main" id="{D4851891-9313-E4B3-F4F9-1CEB87DB72D4}"/>
              </a:ext>
            </a:extLst>
          </p:cNvPr>
          <p:cNvSpPr/>
          <p:nvPr/>
        </p:nvSpPr>
        <p:spPr>
          <a:xfrm>
            <a:off x="3060682" y="5106988"/>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endParaRPr lang="en-NL" dirty="0"/>
          </a:p>
        </p:txBody>
      </p:sp>
      <p:sp>
        <p:nvSpPr>
          <p:cNvPr id="74" name="Oval 73">
            <a:extLst>
              <a:ext uri="{FF2B5EF4-FFF2-40B4-BE49-F238E27FC236}">
                <a16:creationId xmlns:a16="http://schemas.microsoft.com/office/drawing/2014/main" id="{F24F0E9D-797B-40E6-DE0E-469274A8A210}"/>
              </a:ext>
            </a:extLst>
          </p:cNvPr>
          <p:cNvSpPr/>
          <p:nvPr/>
        </p:nvSpPr>
        <p:spPr>
          <a:xfrm>
            <a:off x="5930941" y="5106988"/>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endParaRPr lang="en-NL" dirty="0"/>
          </a:p>
        </p:txBody>
      </p:sp>
      <p:sp>
        <p:nvSpPr>
          <p:cNvPr id="21" name="Oval 20">
            <a:extLst>
              <a:ext uri="{FF2B5EF4-FFF2-40B4-BE49-F238E27FC236}">
                <a16:creationId xmlns:a16="http://schemas.microsoft.com/office/drawing/2014/main" id="{4581DAE6-6940-41F2-F0D4-CE705D87594D}"/>
              </a:ext>
            </a:extLst>
          </p:cNvPr>
          <p:cNvSpPr/>
          <p:nvPr/>
        </p:nvSpPr>
        <p:spPr>
          <a:xfrm>
            <a:off x="5930941" y="2067677"/>
            <a:ext cx="409575" cy="409575"/>
          </a:xfrm>
          <a:prstGeom prst="ellipse">
            <a:avLst/>
          </a:prstGeom>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NL" sz="1700" dirty="0"/>
          </a:p>
        </p:txBody>
      </p:sp>
      <p:cxnSp>
        <p:nvCxnSpPr>
          <p:cNvPr id="26" name="Straight Arrow Connector 25">
            <a:extLst>
              <a:ext uri="{FF2B5EF4-FFF2-40B4-BE49-F238E27FC236}">
                <a16:creationId xmlns:a16="http://schemas.microsoft.com/office/drawing/2014/main" id="{07EF0E8A-A8CF-A30F-DBC2-EDBBA4D9F6E2}"/>
              </a:ext>
            </a:extLst>
          </p:cNvPr>
          <p:cNvCxnSpPr>
            <a:cxnSpLocks/>
            <a:stCxn id="56" idx="0"/>
            <a:endCxn id="8" idx="4"/>
          </p:cNvCxnSpPr>
          <p:nvPr/>
        </p:nvCxnSpPr>
        <p:spPr>
          <a:xfrm flipH="1" flipV="1">
            <a:off x="3258875" y="2477252"/>
            <a:ext cx="6595" cy="1110080"/>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74074FCD-30CF-FC01-412C-AB9391794929}"/>
              </a:ext>
            </a:extLst>
          </p:cNvPr>
          <p:cNvCxnSpPr>
            <a:cxnSpLocks/>
            <a:stCxn id="72" idx="0"/>
            <a:endCxn id="56" idx="4"/>
          </p:cNvCxnSpPr>
          <p:nvPr/>
        </p:nvCxnSpPr>
        <p:spPr>
          <a:xfrm flipV="1">
            <a:off x="3265470" y="3996907"/>
            <a:ext cx="0" cy="1110081"/>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D628CB98-3F95-D629-A2D6-9AD703AF4436}"/>
              </a:ext>
            </a:extLst>
          </p:cNvPr>
          <p:cNvCxnSpPr>
            <a:cxnSpLocks/>
            <a:stCxn id="49" idx="0"/>
            <a:endCxn id="21" idx="4"/>
          </p:cNvCxnSpPr>
          <p:nvPr/>
        </p:nvCxnSpPr>
        <p:spPr>
          <a:xfrm flipV="1">
            <a:off x="6135729" y="2477252"/>
            <a:ext cx="0" cy="1110080"/>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5D48AB52-ECCC-85D5-91FD-F213C08BF5B0}"/>
              </a:ext>
            </a:extLst>
          </p:cNvPr>
          <p:cNvCxnSpPr>
            <a:cxnSpLocks/>
            <a:stCxn id="74" idx="0"/>
            <a:endCxn id="49" idx="4"/>
          </p:cNvCxnSpPr>
          <p:nvPr/>
        </p:nvCxnSpPr>
        <p:spPr>
          <a:xfrm flipV="1">
            <a:off x="6135729" y="3996907"/>
            <a:ext cx="0" cy="1110081"/>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5B59F546-26B1-5546-C038-079ED087AC5A}"/>
              </a:ext>
            </a:extLst>
          </p:cNvPr>
          <p:cNvSpPr txBox="1"/>
          <p:nvPr/>
        </p:nvSpPr>
        <p:spPr>
          <a:xfrm>
            <a:off x="290482" y="3393461"/>
            <a:ext cx="731290" cy="369332"/>
          </a:xfrm>
          <a:prstGeom prst="rect">
            <a:avLst/>
          </a:prstGeom>
          <a:noFill/>
        </p:spPr>
        <p:txBody>
          <a:bodyPr wrap="none" rtlCol="0">
            <a:spAutoFit/>
          </a:bodyPr>
          <a:lstStyle/>
          <a:p>
            <a:r>
              <a:rPr lang="en-US" b="1" dirty="0"/>
              <a:t>input</a:t>
            </a:r>
            <a:endParaRPr lang="en-NL" b="1" dirty="0"/>
          </a:p>
        </p:txBody>
      </p:sp>
      <p:sp>
        <p:nvSpPr>
          <p:cNvPr id="3" name="Rectangle: Rounded Corners 2">
            <a:extLst>
              <a:ext uri="{FF2B5EF4-FFF2-40B4-BE49-F238E27FC236}">
                <a16:creationId xmlns:a16="http://schemas.microsoft.com/office/drawing/2014/main" id="{4B4EDA79-F778-FF57-93C8-ED022533026B}"/>
              </a:ext>
            </a:extLst>
          </p:cNvPr>
          <p:cNvSpPr/>
          <p:nvPr/>
        </p:nvSpPr>
        <p:spPr>
          <a:xfrm>
            <a:off x="2750555" y="3445825"/>
            <a:ext cx="3859449" cy="740739"/>
          </a:xfrm>
          <a:prstGeom prst="roundRect">
            <a:avLst/>
          </a:prstGeom>
          <a:solidFill>
            <a:schemeClr val="accent3">
              <a:lumMod val="20000"/>
              <a:lumOff val="80000"/>
              <a:alpha val="5000"/>
            </a:schemeClr>
          </a:solidFill>
          <a:ln w="76200">
            <a:solidFill>
              <a:srgbClr val="00B050"/>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NL"/>
          </a:p>
        </p:txBody>
      </p:sp>
      <p:sp>
        <p:nvSpPr>
          <p:cNvPr id="51" name="Rectangle: Rounded Corners 50">
            <a:extLst>
              <a:ext uri="{FF2B5EF4-FFF2-40B4-BE49-F238E27FC236}">
                <a16:creationId xmlns:a16="http://schemas.microsoft.com/office/drawing/2014/main" id="{73F8C961-223B-E697-4B2F-A6966AA61D1B}"/>
              </a:ext>
            </a:extLst>
          </p:cNvPr>
          <p:cNvSpPr/>
          <p:nvPr/>
        </p:nvSpPr>
        <p:spPr>
          <a:xfrm>
            <a:off x="6716139" y="1635120"/>
            <a:ext cx="4780536" cy="852489"/>
          </a:xfrm>
          <a:prstGeom prst="roundRect">
            <a:avLst>
              <a:gd name="adj" fmla="val 327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1400" b="1" dirty="0"/>
              <a:t>Amir: </a:t>
            </a:r>
            <a:r>
              <a:rPr lang="en-US" sz="1400" i="1" dirty="0"/>
              <a:t>“What is the semantic relation between </a:t>
            </a:r>
            <a:r>
              <a:rPr lang="en-US" sz="1400" i="1" dirty="0" err="1"/>
              <a:t>care-sm:Sex</a:t>
            </a:r>
            <a:endParaRPr lang="en-US" sz="1400" i="1" dirty="0"/>
          </a:p>
          <a:p>
            <a:pPr algn="r"/>
            <a:r>
              <a:rPr lang="en-US" sz="1400" i="1" dirty="0"/>
              <a:t> and hri-fhir-r5:individual-gender-identity/value?”</a:t>
            </a:r>
          </a:p>
        </p:txBody>
      </p:sp>
      <p:cxnSp>
        <p:nvCxnSpPr>
          <p:cNvPr id="13" name="Straight Arrow Connector 12">
            <a:extLst>
              <a:ext uri="{FF2B5EF4-FFF2-40B4-BE49-F238E27FC236}">
                <a16:creationId xmlns:a16="http://schemas.microsoft.com/office/drawing/2014/main" id="{0873FCF5-ED04-C64A-F51B-0EBDF61C0CF0}"/>
              </a:ext>
            </a:extLst>
          </p:cNvPr>
          <p:cNvCxnSpPr>
            <a:cxnSpLocks/>
          </p:cNvCxnSpPr>
          <p:nvPr/>
        </p:nvCxnSpPr>
        <p:spPr>
          <a:xfrm>
            <a:off x="3448106" y="3789363"/>
            <a:ext cx="2482835" cy="0"/>
          </a:xfrm>
          <a:prstGeom prst="straightConnector1">
            <a:avLst/>
          </a:prstGeom>
          <a:ln w="50800" cap="flat" cmpd="sng" algn="ctr">
            <a:solidFill>
              <a:srgbClr val="C00000"/>
            </a:solidFill>
            <a:prstDash val="sysDot"/>
            <a:round/>
            <a:headEnd type="triangle" w="lg" len="lg"/>
            <a:tailEnd type="triangle" w="lg" len="lg"/>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15717152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264552-D9D1-3084-0FE2-11C287BA878D}"/>
              </a:ext>
            </a:extLst>
          </p:cNvPr>
          <p:cNvSpPr>
            <a:spLocks noGrp="1"/>
          </p:cNvSpPr>
          <p:nvPr>
            <p:ph type="title"/>
          </p:nvPr>
        </p:nvSpPr>
        <p:spPr/>
        <p:txBody>
          <a:bodyPr/>
          <a:lstStyle/>
          <a:p>
            <a:r>
              <a:rPr lang="en-US" sz="3600" dirty="0"/>
              <a:t>Scenario 4 — Check the Existing Alignment Between Two Selected Concepts</a:t>
            </a:r>
            <a:endParaRPr lang="en-NL" sz="3600" dirty="0"/>
          </a:p>
        </p:txBody>
      </p:sp>
      <p:sp>
        <p:nvSpPr>
          <p:cNvPr id="3" name="Content Placeholder 2">
            <a:extLst>
              <a:ext uri="{FF2B5EF4-FFF2-40B4-BE49-F238E27FC236}">
                <a16:creationId xmlns:a16="http://schemas.microsoft.com/office/drawing/2014/main" id="{35DC15DD-EA5B-5C5E-9A70-2C82A5143E48}"/>
              </a:ext>
            </a:extLst>
          </p:cNvPr>
          <p:cNvSpPr>
            <a:spLocks noGrp="1"/>
          </p:cNvSpPr>
          <p:nvPr>
            <p:ph idx="1"/>
          </p:nvPr>
        </p:nvSpPr>
        <p:spPr/>
        <p:txBody>
          <a:bodyPr>
            <a:noAutofit/>
          </a:bodyPr>
          <a:lstStyle/>
          <a:p>
            <a:pPr indent="0">
              <a:lnSpc>
                <a:spcPct val="120000"/>
              </a:lnSpc>
              <a:spcBef>
                <a:spcPts val="0"/>
              </a:spcBef>
              <a:spcAft>
                <a:spcPts val="300"/>
              </a:spcAft>
              <a:buNone/>
            </a:pPr>
            <a:r>
              <a:rPr lang="en-US" sz="1400" dirty="0">
                <a:latin typeface="Courier New" panose="02070309020205020404" pitchFamily="49" charset="0"/>
                <a:cs typeface="Courier New" panose="02070309020205020404" pitchFamily="49" charset="0"/>
              </a:rPr>
              <a:t>SELECT DISTINCT ?</a:t>
            </a:r>
            <a:r>
              <a:rPr lang="en-US" sz="1400" dirty="0" err="1">
                <a:latin typeface="Courier New" panose="02070309020205020404" pitchFamily="49" charset="0"/>
                <a:cs typeface="Courier New" panose="02070309020205020404" pitchFamily="49" charset="0"/>
              </a:rPr>
              <a:t>relationType</a:t>
            </a:r>
            <a:endParaRPr lang="en-US" sz="1400" dirty="0">
              <a:latin typeface="Courier New" panose="02070309020205020404" pitchFamily="49" charset="0"/>
              <a:cs typeface="Courier New" panose="02070309020205020404" pitchFamily="49" charset="0"/>
            </a:endParaRPr>
          </a:p>
          <a:p>
            <a:pPr indent="0">
              <a:lnSpc>
                <a:spcPct val="120000"/>
              </a:lnSpc>
              <a:spcBef>
                <a:spcPts val="0"/>
              </a:spcBef>
              <a:spcAft>
                <a:spcPts val="300"/>
              </a:spcAft>
              <a:buNone/>
            </a:pPr>
            <a:r>
              <a:rPr lang="en-US" sz="1400" dirty="0">
                <a:latin typeface="Courier New" panose="02070309020205020404" pitchFamily="49" charset="0"/>
                <a:cs typeface="Courier New" panose="02070309020205020404" pitchFamily="49" charset="0"/>
              </a:rPr>
              <a:t>WHERE {</a:t>
            </a:r>
          </a:p>
          <a:p>
            <a:pPr indent="0">
              <a:lnSpc>
                <a:spcPct val="120000"/>
              </a:lnSpc>
              <a:spcBef>
                <a:spcPts val="0"/>
              </a:spcBef>
              <a:spcAft>
                <a:spcPts val="300"/>
              </a:spcAft>
              <a:buNone/>
            </a:pPr>
            <a:r>
              <a:rPr lang="en-US" sz="1400" dirty="0">
                <a:latin typeface="Courier New" panose="02070309020205020404" pitchFamily="49" charset="0"/>
                <a:cs typeface="Courier New" panose="02070309020205020404" pitchFamily="49" charset="0"/>
              </a:rPr>
              <a:t>  VALUES (?</a:t>
            </a:r>
            <a:r>
              <a:rPr lang="en-US" sz="1400" dirty="0" err="1">
                <a:latin typeface="Courier New" panose="02070309020205020404" pitchFamily="49" charset="0"/>
                <a:cs typeface="Courier New" panose="02070309020205020404" pitchFamily="49" charset="0"/>
              </a:rPr>
              <a:t>sourceConcept</a:t>
            </a: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targetConcept</a:t>
            </a:r>
            <a:r>
              <a:rPr lang="en-US" sz="1400" dirty="0">
                <a:latin typeface="Courier New" panose="02070309020205020404" pitchFamily="49" charset="0"/>
                <a:cs typeface="Courier New" panose="02070309020205020404" pitchFamily="49" charset="0"/>
              </a:rPr>
              <a:t>) {</a:t>
            </a:r>
          </a:p>
          <a:p>
            <a:pPr indent="0">
              <a:lnSpc>
                <a:spcPct val="120000"/>
              </a:lnSpc>
              <a:spcBef>
                <a:spcPts val="0"/>
              </a:spcBef>
              <a:spcAft>
                <a:spcPts val="300"/>
              </a:spcAft>
              <a:buNone/>
            </a:pPr>
            <a:r>
              <a:rPr lang="en-US" sz="1400" dirty="0">
                <a:latin typeface="Courier New" panose="02070309020205020404" pitchFamily="49" charset="0"/>
                <a:cs typeface="Courier New" panose="02070309020205020404" pitchFamily="49" charset="0"/>
              </a:rPr>
              <a:t>    (</a:t>
            </a:r>
            <a:r>
              <a:rPr lang="en-US" sz="1400" b="1" dirty="0">
                <a:latin typeface="Courier New" panose="02070309020205020404" pitchFamily="49" charset="0"/>
                <a:cs typeface="Courier New" panose="02070309020205020404" pitchFamily="49" charset="0"/>
              </a:rPr>
              <a:t>https://w3id.org/CARE-SM#Sex hri-fhir-r5:individual-gender-identity/value</a:t>
            </a:r>
            <a:r>
              <a:rPr lang="en-US" sz="1400" dirty="0">
                <a:latin typeface="Courier New" panose="02070309020205020404" pitchFamily="49" charset="0"/>
                <a:cs typeface="Courier New" panose="02070309020205020404" pitchFamily="49" charset="0"/>
              </a:rPr>
              <a:t>)</a:t>
            </a:r>
          </a:p>
          <a:p>
            <a:pPr indent="0">
              <a:lnSpc>
                <a:spcPct val="120000"/>
              </a:lnSpc>
              <a:spcBef>
                <a:spcPts val="0"/>
              </a:spcBef>
              <a:spcAft>
                <a:spcPts val="300"/>
              </a:spcAft>
              <a:buNone/>
            </a:pPr>
            <a:r>
              <a:rPr lang="en-US" sz="1400" dirty="0">
                <a:latin typeface="Courier New" panose="02070309020205020404" pitchFamily="49" charset="0"/>
                <a:cs typeface="Courier New" panose="02070309020205020404" pitchFamily="49" charset="0"/>
              </a:rPr>
              <a:t>  }</a:t>
            </a:r>
          </a:p>
          <a:p>
            <a:pPr indent="0">
              <a:lnSpc>
                <a:spcPct val="120000"/>
              </a:lnSpc>
              <a:spcBef>
                <a:spcPts val="0"/>
              </a:spcBef>
              <a:spcAft>
                <a:spcPts val="300"/>
              </a:spcAft>
              <a:buNone/>
            </a:pPr>
            <a:endParaRPr lang="en-US" sz="1400" dirty="0">
              <a:latin typeface="Courier New" panose="02070309020205020404" pitchFamily="49" charset="0"/>
              <a:cs typeface="Courier New" panose="02070309020205020404" pitchFamily="49" charset="0"/>
            </a:endParaRPr>
          </a:p>
          <a:p>
            <a:pPr indent="0">
              <a:lnSpc>
                <a:spcPct val="120000"/>
              </a:lnSpc>
              <a:spcBef>
                <a:spcPts val="0"/>
              </a:spcBef>
              <a:spcAft>
                <a:spcPts val="300"/>
              </a:spcAft>
              <a:buNone/>
            </a:pPr>
            <a:r>
              <a:rPr lang="en-US" sz="1400" dirty="0">
                <a:latin typeface="Courier New" panose="02070309020205020404" pitchFamily="49" charset="0"/>
                <a:cs typeface="Courier New" panose="02070309020205020404" pitchFamily="49" charset="0"/>
              </a:rPr>
              <a:t>  VALUES ?</a:t>
            </a:r>
            <a:r>
              <a:rPr lang="en-US" sz="1400" dirty="0" err="1">
                <a:latin typeface="Courier New" panose="02070309020205020404" pitchFamily="49" charset="0"/>
                <a:cs typeface="Courier New" panose="02070309020205020404" pitchFamily="49" charset="0"/>
              </a:rPr>
              <a:t>relationType</a:t>
            </a:r>
            <a:r>
              <a:rPr lang="en-US" sz="1400" dirty="0">
                <a:latin typeface="Courier New" panose="02070309020205020404" pitchFamily="49" charset="0"/>
                <a:cs typeface="Courier New" panose="02070309020205020404" pitchFamily="49" charset="0"/>
              </a:rPr>
              <a:t> {    </a:t>
            </a:r>
            <a:r>
              <a:rPr lang="en-US" sz="1400" dirty="0" err="1">
                <a:latin typeface="Courier New" panose="02070309020205020404" pitchFamily="49" charset="0"/>
                <a:cs typeface="Courier New" panose="02070309020205020404" pitchFamily="49" charset="0"/>
              </a:rPr>
              <a:t>demo:aligns</a:t>
            </a: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demo:mayAlign</a:t>
            </a: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demo:partiallyAligns</a:t>
            </a: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demo:cannotAlign</a:t>
            </a:r>
            <a:r>
              <a:rPr lang="en-US" sz="1400" dirty="0">
                <a:latin typeface="Courier New" panose="02070309020205020404" pitchFamily="49" charset="0"/>
                <a:cs typeface="Courier New" panose="02070309020205020404" pitchFamily="49" charset="0"/>
              </a:rPr>
              <a:t>  }</a:t>
            </a:r>
          </a:p>
          <a:p>
            <a:pPr indent="0">
              <a:lnSpc>
                <a:spcPct val="120000"/>
              </a:lnSpc>
              <a:spcBef>
                <a:spcPts val="0"/>
              </a:spcBef>
              <a:spcAft>
                <a:spcPts val="300"/>
              </a:spcAft>
              <a:buNone/>
            </a:pPr>
            <a:endParaRPr lang="en-US" sz="1400" dirty="0">
              <a:latin typeface="Courier New" panose="02070309020205020404" pitchFamily="49" charset="0"/>
              <a:cs typeface="Courier New" panose="02070309020205020404" pitchFamily="49" charset="0"/>
            </a:endParaRPr>
          </a:p>
          <a:p>
            <a:pPr indent="0">
              <a:lnSpc>
                <a:spcPct val="120000"/>
              </a:lnSpc>
              <a:spcBef>
                <a:spcPts val="0"/>
              </a:spcBef>
              <a:spcAft>
                <a:spcPts val="300"/>
              </a:spcAft>
              <a:buNone/>
            </a:pPr>
            <a:r>
              <a:rPr lang="en-US" sz="1400" dirty="0">
                <a:latin typeface="Courier New" panose="02070309020205020404" pitchFamily="49" charset="0"/>
                <a:cs typeface="Courier New" panose="02070309020205020404" pitchFamily="49" charset="0"/>
              </a:rPr>
              <a:t>  { ?</a:t>
            </a:r>
            <a:r>
              <a:rPr lang="en-US" sz="1400" dirty="0" err="1">
                <a:latin typeface="Courier New" panose="02070309020205020404" pitchFamily="49" charset="0"/>
                <a:cs typeface="Courier New" panose="02070309020205020404" pitchFamily="49" charset="0"/>
              </a:rPr>
              <a:t>sourceConcept</a:t>
            </a: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relationType</a:t>
            </a: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targetConcept</a:t>
            </a:r>
            <a:r>
              <a:rPr lang="en-US" sz="1400" dirty="0">
                <a:latin typeface="Courier New" panose="02070309020205020404" pitchFamily="49" charset="0"/>
                <a:cs typeface="Courier New" panose="02070309020205020404" pitchFamily="49" charset="0"/>
              </a:rPr>
              <a:t> }</a:t>
            </a:r>
          </a:p>
          <a:p>
            <a:pPr indent="0">
              <a:lnSpc>
                <a:spcPct val="120000"/>
              </a:lnSpc>
              <a:spcBef>
                <a:spcPts val="0"/>
              </a:spcBef>
              <a:spcAft>
                <a:spcPts val="300"/>
              </a:spcAft>
              <a:buNone/>
            </a:pPr>
            <a:r>
              <a:rPr lang="en-US" sz="1400" dirty="0">
                <a:latin typeface="Courier New" panose="02070309020205020404" pitchFamily="49" charset="0"/>
                <a:cs typeface="Courier New" panose="02070309020205020404" pitchFamily="49" charset="0"/>
              </a:rPr>
              <a:t>  UNION</a:t>
            </a:r>
          </a:p>
          <a:p>
            <a:pPr indent="0">
              <a:lnSpc>
                <a:spcPct val="120000"/>
              </a:lnSpc>
              <a:spcBef>
                <a:spcPts val="0"/>
              </a:spcBef>
              <a:spcAft>
                <a:spcPts val="300"/>
              </a:spcAft>
              <a:buNone/>
            </a:pPr>
            <a:r>
              <a:rPr lang="en-US" sz="1400" dirty="0">
                <a:latin typeface="Courier New" panose="02070309020205020404" pitchFamily="49" charset="0"/>
                <a:cs typeface="Courier New" panose="02070309020205020404" pitchFamily="49" charset="0"/>
              </a:rPr>
              <a:t>  { ?</a:t>
            </a:r>
            <a:r>
              <a:rPr lang="en-US" sz="1400" dirty="0" err="1">
                <a:latin typeface="Courier New" panose="02070309020205020404" pitchFamily="49" charset="0"/>
                <a:cs typeface="Courier New" panose="02070309020205020404" pitchFamily="49" charset="0"/>
              </a:rPr>
              <a:t>targetConcept</a:t>
            </a: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relationType</a:t>
            </a: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sourceConcept</a:t>
            </a:r>
            <a:r>
              <a:rPr lang="en-US" sz="1400" dirty="0">
                <a:latin typeface="Courier New" panose="02070309020205020404" pitchFamily="49" charset="0"/>
                <a:cs typeface="Courier New" panose="02070309020205020404" pitchFamily="49" charset="0"/>
              </a:rPr>
              <a:t> }</a:t>
            </a:r>
          </a:p>
          <a:p>
            <a:pPr indent="0">
              <a:lnSpc>
                <a:spcPct val="120000"/>
              </a:lnSpc>
              <a:spcBef>
                <a:spcPts val="0"/>
              </a:spcBef>
              <a:spcAft>
                <a:spcPts val="300"/>
              </a:spcAft>
              <a:buNone/>
            </a:pPr>
            <a:r>
              <a:rPr lang="en-US" sz="1400" dirty="0">
                <a:latin typeface="Courier New" panose="02070309020205020404" pitchFamily="49" charset="0"/>
                <a:cs typeface="Courier New" panose="02070309020205020404" pitchFamily="49" charset="0"/>
              </a:rPr>
              <a:t>}</a:t>
            </a:r>
          </a:p>
          <a:p>
            <a:pPr indent="0">
              <a:lnSpc>
                <a:spcPct val="120000"/>
              </a:lnSpc>
              <a:spcBef>
                <a:spcPts val="0"/>
              </a:spcBef>
              <a:spcAft>
                <a:spcPts val="300"/>
              </a:spcAft>
              <a:buNone/>
            </a:pPr>
            <a:r>
              <a:rPr lang="en-US" sz="1400" dirty="0">
                <a:latin typeface="Courier New" panose="02070309020205020404" pitchFamily="49" charset="0"/>
                <a:cs typeface="Courier New" panose="02070309020205020404" pitchFamily="49" charset="0"/>
              </a:rPr>
              <a:t>ORDER BY ?</a:t>
            </a:r>
            <a:r>
              <a:rPr lang="en-US" sz="1400" dirty="0" err="1">
                <a:latin typeface="Courier New" panose="02070309020205020404" pitchFamily="49" charset="0"/>
                <a:cs typeface="Courier New" panose="02070309020205020404" pitchFamily="49" charset="0"/>
              </a:rPr>
              <a:t>relationType</a:t>
            </a:r>
            <a:endParaRPr lang="en-NL" sz="1400" dirty="0">
              <a:latin typeface="Courier New" panose="02070309020205020404" pitchFamily="49" charset="0"/>
              <a:cs typeface="Courier New" panose="02070309020205020404" pitchFamily="49" charset="0"/>
            </a:endParaRPr>
          </a:p>
        </p:txBody>
      </p:sp>
      <p:sp>
        <p:nvSpPr>
          <p:cNvPr id="4" name="Slide Number Placeholder 3">
            <a:extLst>
              <a:ext uri="{FF2B5EF4-FFF2-40B4-BE49-F238E27FC236}">
                <a16:creationId xmlns:a16="http://schemas.microsoft.com/office/drawing/2014/main" id="{AE9852D4-300A-FA63-51B0-5884F5D905B5}"/>
              </a:ext>
            </a:extLst>
          </p:cNvPr>
          <p:cNvSpPr>
            <a:spLocks noGrp="1"/>
          </p:cNvSpPr>
          <p:nvPr>
            <p:ph type="sldNum" sz="quarter" idx="12"/>
          </p:nvPr>
        </p:nvSpPr>
        <p:spPr/>
        <p:txBody>
          <a:bodyPr/>
          <a:lstStyle/>
          <a:p>
            <a:fld id="{4FAB73BC-B049-4115-A692-8D63A059BFB8}" type="slidenum">
              <a:rPr lang="en-US" smtClean="0"/>
              <a:pPr/>
              <a:t>41</a:t>
            </a:fld>
            <a:endParaRPr lang="en-US" dirty="0"/>
          </a:p>
        </p:txBody>
      </p:sp>
    </p:spTree>
    <p:extLst>
      <p:ext uri="{BB962C8B-B14F-4D97-AF65-F5344CB8AC3E}">
        <p14:creationId xmlns:p14="http://schemas.microsoft.com/office/powerpoint/2010/main" val="206580407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AF2AE4-A0E6-F22E-B1CC-5A8291B2234B}"/>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EB5EE1B-984D-C941-3F07-AE5AFBDD4411}"/>
              </a:ext>
            </a:extLst>
          </p:cNvPr>
          <p:cNvSpPr>
            <a:spLocks noGrp="1"/>
          </p:cNvSpPr>
          <p:nvPr>
            <p:ph type="sldNum" sz="quarter" idx="12"/>
          </p:nvPr>
        </p:nvSpPr>
        <p:spPr/>
        <p:txBody>
          <a:bodyPr/>
          <a:lstStyle/>
          <a:p>
            <a:fld id="{4FAB73BC-B049-4115-A692-8D63A059BFB8}" type="slidenum">
              <a:rPr lang="en-US" smtClean="0"/>
              <a:pPr/>
              <a:t>42</a:t>
            </a:fld>
            <a:endParaRPr lang="en-US" dirty="0"/>
          </a:p>
        </p:txBody>
      </p:sp>
      <p:sp>
        <p:nvSpPr>
          <p:cNvPr id="14" name="TextBox 13">
            <a:extLst>
              <a:ext uri="{FF2B5EF4-FFF2-40B4-BE49-F238E27FC236}">
                <a16:creationId xmlns:a16="http://schemas.microsoft.com/office/drawing/2014/main" id="{1534A9B7-630C-2E22-9F26-B6F45B74D05D}"/>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a:t>
            </a:r>
            <a:r>
              <a:rPr lang="en-US" sz="1200" b="1" cap="small" spc="100" dirty="0">
                <a:solidFill>
                  <a:srgbClr val="000000">
                    <a:lumMod val="95000"/>
                    <a:lumOff val="5000"/>
                  </a:srgbClr>
                </a:solidFill>
                <a:latin typeface="Aptos" panose="020B0004020202020204" pitchFamily="34" charset="0"/>
                <a:ea typeface="+mj-ea"/>
                <a:cs typeface="+mj-cs"/>
              </a:rPr>
              <a:t>1</a:t>
            </a:r>
            <a:endParaRPr lang="en-NL" sz="1000" b="1" dirty="0"/>
          </a:p>
        </p:txBody>
      </p:sp>
      <p:sp>
        <p:nvSpPr>
          <p:cNvPr id="2" name="TextBox 1">
            <a:extLst>
              <a:ext uri="{FF2B5EF4-FFF2-40B4-BE49-F238E27FC236}">
                <a16:creationId xmlns:a16="http://schemas.microsoft.com/office/drawing/2014/main" id="{C03694F3-5C53-5686-E448-FD6CEDE07ADC}"/>
              </a:ext>
            </a:extLst>
          </p:cNvPr>
          <p:cNvSpPr txBox="1"/>
          <p:nvPr/>
        </p:nvSpPr>
        <p:spPr>
          <a:xfrm>
            <a:off x="767089" y="546538"/>
            <a:ext cx="7075848" cy="369332"/>
          </a:xfrm>
          <a:prstGeom prst="rect">
            <a:avLst/>
          </a:prstGeom>
          <a:noFill/>
        </p:spPr>
        <p:txBody>
          <a:bodyPr wrap="none" rtlCol="0">
            <a:spAutoFit/>
          </a:bodyPr>
          <a:lstStyle/>
          <a:p>
            <a:r>
              <a:rPr lang="en-US" dirty="0">
                <a:solidFill>
                  <a:srgbClr val="FF0000"/>
                </a:solidFill>
              </a:rPr>
              <a:t>SCENARIO 4: Can D1 with D2 interoperate? Returns YES, NO, PARTIAL</a:t>
            </a:r>
          </a:p>
        </p:txBody>
      </p:sp>
      <p:graphicFrame>
        <p:nvGraphicFramePr>
          <p:cNvPr id="6" name="Content Placeholder 4">
            <a:extLst>
              <a:ext uri="{FF2B5EF4-FFF2-40B4-BE49-F238E27FC236}">
                <a16:creationId xmlns:a16="http://schemas.microsoft.com/office/drawing/2014/main" id="{DA61D25D-A1EA-7F5E-DA8C-04A9BDBCBCAF}"/>
              </a:ext>
            </a:extLst>
          </p:cNvPr>
          <p:cNvGraphicFramePr>
            <a:graphicFrameLocks/>
          </p:cNvGraphicFramePr>
          <p:nvPr>
            <p:extLst>
              <p:ext uri="{D42A27DB-BD31-4B8C-83A1-F6EECF244321}">
                <p14:modId xmlns:p14="http://schemas.microsoft.com/office/powerpoint/2010/main" val="3217226190"/>
              </p:ext>
            </p:extLst>
          </p:nvPr>
        </p:nvGraphicFramePr>
        <p:xfrm>
          <a:off x="7878355" y="3118199"/>
          <a:ext cx="2811677" cy="1278051"/>
        </p:xfrm>
        <a:graphic>
          <a:graphicData uri="http://schemas.openxmlformats.org/drawingml/2006/table">
            <a:tbl>
              <a:tblPr firstRow="1" bandRow="1">
                <a:effectLst>
                  <a:outerShdw blurRad="50800" dist="38100" dir="2700000" algn="tl" rotWithShape="0">
                    <a:prstClr val="black">
                      <a:alpha val="40000"/>
                    </a:prstClr>
                  </a:outerShdw>
                </a:effectLst>
                <a:tableStyleId>{21E4AEA4-8DFA-4A89-87EB-49C32662AFE0}</a:tableStyleId>
              </a:tblPr>
              <a:tblGrid>
                <a:gridCol w="360000">
                  <a:extLst>
                    <a:ext uri="{9D8B030D-6E8A-4147-A177-3AD203B41FA5}">
                      <a16:colId xmlns:a16="http://schemas.microsoft.com/office/drawing/2014/main" val="979315127"/>
                    </a:ext>
                  </a:extLst>
                </a:gridCol>
                <a:gridCol w="1731677">
                  <a:extLst>
                    <a:ext uri="{9D8B030D-6E8A-4147-A177-3AD203B41FA5}">
                      <a16:colId xmlns:a16="http://schemas.microsoft.com/office/drawing/2014/main" val="2075302567"/>
                    </a:ext>
                  </a:extLst>
                </a:gridCol>
                <a:gridCol w="360000">
                  <a:extLst>
                    <a:ext uri="{9D8B030D-6E8A-4147-A177-3AD203B41FA5}">
                      <a16:colId xmlns:a16="http://schemas.microsoft.com/office/drawing/2014/main" val="660631070"/>
                    </a:ext>
                  </a:extLst>
                </a:gridCol>
                <a:gridCol w="360000">
                  <a:extLst>
                    <a:ext uri="{9D8B030D-6E8A-4147-A177-3AD203B41FA5}">
                      <a16:colId xmlns:a16="http://schemas.microsoft.com/office/drawing/2014/main" val="1525013378"/>
                    </a:ext>
                  </a:extLst>
                </a:gridCol>
              </a:tblGrid>
              <a:tr h="367200">
                <a:tc>
                  <a:txBody>
                    <a:bodyPr/>
                    <a:lstStyle/>
                    <a:p>
                      <a:pPr algn="l"/>
                      <a:endParaRPr lang="en-NL" sz="1100" dirty="0"/>
                    </a:p>
                  </a:txBody>
                  <a:tcPr marL="72000" anchor="ctr"/>
                </a:tc>
                <a:tc>
                  <a:txBody>
                    <a:bodyPr/>
                    <a:lstStyle/>
                    <a:p>
                      <a:pPr algn="l"/>
                      <a:r>
                        <a:rPr lang="en-US" sz="900" dirty="0" err="1"/>
                        <a:t>hri-openehr:legal-gender</a:t>
                      </a:r>
                      <a:endParaRPr lang="en-US" sz="900" dirty="0"/>
                    </a:p>
                    <a:p>
                      <a:pPr algn="l"/>
                      <a:r>
                        <a:rPr lang="en-US" sz="900" dirty="0"/>
                        <a:t>("Legal gender"@</a:t>
                      </a:r>
                      <a:r>
                        <a:rPr lang="en-US" sz="900" dirty="0" err="1"/>
                        <a:t>en</a:t>
                      </a:r>
                      <a:r>
                        <a:rPr lang="en-US" sz="900" dirty="0"/>
                        <a:t>)</a:t>
                      </a:r>
                      <a:endParaRPr lang="en-US" sz="850" dirty="0"/>
                    </a:p>
                  </a:txBody>
                  <a:tcPr marL="72000" marR="18000" marT="0" marB="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3012902903"/>
                  </a:ext>
                </a:extLst>
              </a:tr>
              <a:tr h="306000">
                <a:tc>
                  <a:txBody>
                    <a:bodyPr/>
                    <a:lstStyle/>
                    <a:p>
                      <a:pPr algn="l"/>
                      <a:endParaRPr lang="en-NL" sz="1100" dirty="0"/>
                    </a:p>
                  </a:txBody>
                  <a:tcPr marL="72000" anchor="ctr"/>
                </a:tc>
                <a:tc>
                  <a:txBody>
                    <a:bodyPr/>
                    <a:lstStyle/>
                    <a:p>
                      <a:pPr algn="l"/>
                      <a:r>
                        <a:rPr lang="en-US" sz="1100" b="1" dirty="0"/>
                        <a:t>female</a:t>
                      </a:r>
                      <a:endParaRPr lang="en-NL" sz="1100" b="1" dirty="0"/>
                    </a:p>
                  </a:txBody>
                  <a:tcPr marL="7200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1249708150"/>
                  </a:ext>
                </a:extLst>
              </a:tr>
              <a:tr h="306000">
                <a:tc>
                  <a:txBody>
                    <a:bodyPr/>
                    <a:lstStyle/>
                    <a:p>
                      <a:pPr algn="l"/>
                      <a:endParaRPr lang="en-NL" sz="1100" dirty="0"/>
                    </a:p>
                  </a:txBody>
                  <a:tcPr marL="72000" anchor="ctr"/>
                </a:tc>
                <a:tc>
                  <a:txBody>
                    <a:bodyPr/>
                    <a:lstStyle/>
                    <a:p>
                      <a:pPr algn="l"/>
                      <a:r>
                        <a:rPr lang="en-US" sz="1100" b="1" dirty="0"/>
                        <a:t>male</a:t>
                      </a:r>
                      <a:endParaRPr lang="en-NL" sz="1100" b="1" dirty="0"/>
                    </a:p>
                  </a:txBody>
                  <a:tcPr marL="7200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3850974854"/>
                  </a:ext>
                </a:extLst>
              </a:tr>
              <a:tr h="298851">
                <a:tc>
                  <a:txBody>
                    <a:bodyPr/>
                    <a:lstStyle/>
                    <a:p>
                      <a:pPr algn="l"/>
                      <a:endParaRPr lang="en-NL" sz="1100" dirty="0"/>
                    </a:p>
                  </a:txBody>
                  <a:tcPr marL="72000" anchor="ctr"/>
                </a:tc>
                <a:tc>
                  <a:txBody>
                    <a:bodyPr/>
                    <a:lstStyle/>
                    <a:p>
                      <a:pPr algn="l"/>
                      <a:r>
                        <a:rPr lang="en-US" sz="1100" b="1" dirty="0"/>
                        <a:t>nonbinary</a:t>
                      </a:r>
                      <a:endParaRPr lang="en-NL" sz="1100" b="1" dirty="0"/>
                    </a:p>
                  </a:txBody>
                  <a:tcPr marL="7200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7" name="Rectangle: Rounded Corners 6">
            <a:extLst>
              <a:ext uri="{FF2B5EF4-FFF2-40B4-BE49-F238E27FC236}">
                <a16:creationId xmlns:a16="http://schemas.microsoft.com/office/drawing/2014/main" id="{2EBEA00D-428E-DAB7-8080-4957BF0653C4}"/>
              </a:ext>
            </a:extLst>
          </p:cNvPr>
          <p:cNvSpPr/>
          <p:nvPr/>
        </p:nvSpPr>
        <p:spPr>
          <a:xfrm>
            <a:off x="9580165" y="3764351"/>
            <a:ext cx="1642188" cy="710132"/>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NL"/>
          </a:p>
        </p:txBody>
      </p:sp>
      <p:graphicFrame>
        <p:nvGraphicFramePr>
          <p:cNvPr id="8" name="Content Placeholder 4">
            <a:extLst>
              <a:ext uri="{FF2B5EF4-FFF2-40B4-BE49-F238E27FC236}">
                <a16:creationId xmlns:a16="http://schemas.microsoft.com/office/drawing/2014/main" id="{2D348F65-E8B2-6775-01E1-EDC0DB5A7626}"/>
              </a:ext>
            </a:extLst>
          </p:cNvPr>
          <p:cNvGraphicFramePr>
            <a:graphicFrameLocks/>
          </p:cNvGraphicFramePr>
          <p:nvPr>
            <p:extLst>
              <p:ext uri="{D42A27DB-BD31-4B8C-83A1-F6EECF244321}">
                <p14:modId xmlns:p14="http://schemas.microsoft.com/office/powerpoint/2010/main" val="1582770089"/>
              </p:ext>
            </p:extLst>
          </p:nvPr>
        </p:nvGraphicFramePr>
        <p:xfrm>
          <a:off x="7878355" y="4538762"/>
          <a:ext cx="2811600" cy="1285200"/>
        </p:xfrm>
        <a:graphic>
          <a:graphicData uri="http://schemas.openxmlformats.org/drawingml/2006/table">
            <a:tbl>
              <a:tblPr firstRow="1" bandRow="1">
                <a:effectLst>
                  <a:outerShdw blurRad="50800" dist="38100" dir="2700000" algn="tl" rotWithShape="0">
                    <a:prstClr val="black">
                      <a:alpha val="40000"/>
                    </a:prstClr>
                  </a:outerShdw>
                </a:effectLst>
                <a:tableStyleId>{00A15C55-8517-42AA-B614-E9B94910E393}</a:tableStyleId>
              </a:tblPr>
              <a:tblGrid>
                <a:gridCol w="360000">
                  <a:extLst>
                    <a:ext uri="{9D8B030D-6E8A-4147-A177-3AD203B41FA5}">
                      <a16:colId xmlns:a16="http://schemas.microsoft.com/office/drawing/2014/main" val="979315127"/>
                    </a:ext>
                  </a:extLst>
                </a:gridCol>
                <a:gridCol w="1731600">
                  <a:extLst>
                    <a:ext uri="{9D8B030D-6E8A-4147-A177-3AD203B41FA5}">
                      <a16:colId xmlns:a16="http://schemas.microsoft.com/office/drawing/2014/main" val="2075302567"/>
                    </a:ext>
                  </a:extLst>
                </a:gridCol>
                <a:gridCol w="360000">
                  <a:extLst>
                    <a:ext uri="{9D8B030D-6E8A-4147-A177-3AD203B41FA5}">
                      <a16:colId xmlns:a16="http://schemas.microsoft.com/office/drawing/2014/main" val="660631070"/>
                    </a:ext>
                  </a:extLst>
                </a:gridCol>
                <a:gridCol w="360000">
                  <a:extLst>
                    <a:ext uri="{9D8B030D-6E8A-4147-A177-3AD203B41FA5}">
                      <a16:colId xmlns:a16="http://schemas.microsoft.com/office/drawing/2014/main" val="1525013378"/>
                    </a:ext>
                  </a:extLst>
                </a:gridCol>
              </a:tblGrid>
              <a:tr h="367200">
                <a:tc>
                  <a:txBody>
                    <a:bodyPr/>
                    <a:lstStyle/>
                    <a:p>
                      <a:endParaRPr lang="en-NL" sz="1100" dirty="0"/>
                    </a:p>
                  </a:txBody>
                  <a:tcPr marL="72000" anchor="ctr"/>
                </a:tc>
                <a:tc>
                  <a:txBody>
                    <a:bodyPr/>
                    <a:lstStyle/>
                    <a:p>
                      <a:r>
                        <a:rPr lang="en-US" sz="900" dirty="0"/>
                        <a:t>loinc:107454-1</a:t>
                      </a:r>
                    </a:p>
                    <a:p>
                      <a:r>
                        <a:rPr lang="en-US" sz="900" dirty="0"/>
                        <a:t>("Administrative gender"@</a:t>
                      </a:r>
                      <a:r>
                        <a:rPr lang="en-US" sz="900" dirty="0" err="1"/>
                        <a:t>en</a:t>
                      </a:r>
                      <a:r>
                        <a:rPr lang="en-US" sz="900" dirty="0"/>
                        <a:t>)</a:t>
                      </a:r>
                      <a:endParaRPr lang="en-NL" sz="900" dirty="0"/>
                    </a:p>
                  </a:txBody>
                  <a:tcPr marL="72000" marR="0" marT="0" marB="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012902903"/>
                  </a:ext>
                </a:extLst>
              </a:tr>
              <a:tr h="306000">
                <a:tc>
                  <a:txBody>
                    <a:bodyPr/>
                    <a:lstStyle/>
                    <a:p>
                      <a:endParaRPr lang="en-NL" sz="1100" dirty="0"/>
                    </a:p>
                  </a:txBody>
                  <a:tcPr marL="72000" anchor="ctr"/>
                </a:tc>
                <a:tc>
                  <a:txBody>
                    <a:bodyPr/>
                    <a:lstStyle/>
                    <a:p>
                      <a:r>
                        <a:rPr lang="en-US" sz="1100" b="1" dirty="0"/>
                        <a:t>woman</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1249708150"/>
                  </a:ext>
                </a:extLst>
              </a:tr>
              <a:tr h="306000">
                <a:tc>
                  <a:txBody>
                    <a:bodyPr/>
                    <a:lstStyle/>
                    <a:p>
                      <a:endParaRPr lang="en-NL" sz="1100" dirty="0"/>
                    </a:p>
                  </a:txBody>
                  <a:tcPr marL="72000" anchor="ctr"/>
                </a:tc>
                <a:tc>
                  <a:txBody>
                    <a:bodyPr/>
                    <a:lstStyle/>
                    <a:p>
                      <a:r>
                        <a:rPr lang="en-US" sz="1100" b="1" dirty="0"/>
                        <a:t>man</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850974854"/>
                  </a:ext>
                </a:extLst>
              </a:tr>
              <a:tr h="306000">
                <a:tc>
                  <a:txBody>
                    <a:bodyPr/>
                    <a:lstStyle/>
                    <a:p>
                      <a:endParaRPr lang="en-NL" sz="1100" dirty="0"/>
                    </a:p>
                  </a:txBody>
                  <a:tcPr marL="72000" anchor="ctr"/>
                </a:tc>
                <a:tc>
                  <a:txBody>
                    <a:bodyPr/>
                    <a:lstStyle/>
                    <a:p>
                      <a:r>
                        <a:rPr lang="en-US" sz="1100" b="1" dirty="0"/>
                        <a:t>non-binary</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9" name="Rectangle: Rounded Corners 8">
            <a:extLst>
              <a:ext uri="{FF2B5EF4-FFF2-40B4-BE49-F238E27FC236}">
                <a16:creationId xmlns:a16="http://schemas.microsoft.com/office/drawing/2014/main" id="{8FA57980-BD93-F4C6-BAFF-C035AB687A18}"/>
              </a:ext>
            </a:extLst>
          </p:cNvPr>
          <p:cNvSpPr/>
          <p:nvPr/>
        </p:nvSpPr>
        <p:spPr>
          <a:xfrm>
            <a:off x="9580166" y="5182068"/>
            <a:ext cx="1642188" cy="710132"/>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en-NL"/>
          </a:p>
        </p:txBody>
      </p:sp>
      <p:graphicFrame>
        <p:nvGraphicFramePr>
          <p:cNvPr id="12" name="Content Placeholder 4">
            <a:extLst>
              <a:ext uri="{FF2B5EF4-FFF2-40B4-BE49-F238E27FC236}">
                <a16:creationId xmlns:a16="http://schemas.microsoft.com/office/drawing/2014/main" id="{7E43B1BF-5E2A-BCAE-E5AE-847199304939}"/>
              </a:ext>
            </a:extLst>
          </p:cNvPr>
          <p:cNvGraphicFramePr>
            <a:graphicFrameLocks/>
          </p:cNvGraphicFramePr>
          <p:nvPr>
            <p:extLst>
              <p:ext uri="{D42A27DB-BD31-4B8C-83A1-F6EECF244321}">
                <p14:modId xmlns:p14="http://schemas.microsoft.com/office/powerpoint/2010/main" val="1648291245"/>
              </p:ext>
            </p:extLst>
          </p:nvPr>
        </p:nvGraphicFramePr>
        <p:xfrm>
          <a:off x="7878355" y="1695020"/>
          <a:ext cx="2811677" cy="128376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360000">
                  <a:extLst>
                    <a:ext uri="{9D8B030D-6E8A-4147-A177-3AD203B41FA5}">
                      <a16:colId xmlns:a16="http://schemas.microsoft.com/office/drawing/2014/main" val="979315127"/>
                    </a:ext>
                  </a:extLst>
                </a:gridCol>
                <a:gridCol w="1731677">
                  <a:extLst>
                    <a:ext uri="{9D8B030D-6E8A-4147-A177-3AD203B41FA5}">
                      <a16:colId xmlns:a16="http://schemas.microsoft.com/office/drawing/2014/main" val="2075302567"/>
                    </a:ext>
                  </a:extLst>
                </a:gridCol>
                <a:gridCol w="360000">
                  <a:extLst>
                    <a:ext uri="{9D8B030D-6E8A-4147-A177-3AD203B41FA5}">
                      <a16:colId xmlns:a16="http://schemas.microsoft.com/office/drawing/2014/main" val="660631070"/>
                    </a:ext>
                  </a:extLst>
                </a:gridCol>
                <a:gridCol w="360000">
                  <a:extLst>
                    <a:ext uri="{9D8B030D-6E8A-4147-A177-3AD203B41FA5}">
                      <a16:colId xmlns:a16="http://schemas.microsoft.com/office/drawing/2014/main" val="1525013378"/>
                    </a:ext>
                  </a:extLst>
                </a:gridCol>
              </a:tblGrid>
              <a:tr h="324000">
                <a:tc>
                  <a:txBody>
                    <a:bodyPr/>
                    <a:lstStyle/>
                    <a:p>
                      <a:endParaRPr lang="en-NL" sz="1100" dirty="0"/>
                    </a:p>
                  </a:txBody>
                  <a:tcPr marL="72000" anchor="ctr"/>
                </a:tc>
                <a:tc>
                  <a:txBody>
                    <a:bodyPr/>
                    <a:lstStyle/>
                    <a:p>
                      <a:r>
                        <a:rPr lang="en-US" sz="900" dirty="0" err="1"/>
                        <a:t>care-sm:Sex</a:t>
                      </a:r>
                      <a:endParaRPr lang="en-US" sz="900" dirty="0"/>
                    </a:p>
                    <a:p>
                      <a:r>
                        <a:rPr lang="en-US" sz="900" dirty="0"/>
                        <a:t>("Biological sex"@</a:t>
                      </a:r>
                      <a:r>
                        <a:rPr lang="en-US" sz="900" dirty="0" err="1"/>
                        <a:t>en</a:t>
                      </a:r>
                      <a:r>
                        <a:rPr lang="en-US" sz="900" dirty="0"/>
                        <a:t>)</a:t>
                      </a:r>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012902903"/>
                  </a:ext>
                </a:extLst>
              </a:tr>
              <a:tr h="306000">
                <a:tc>
                  <a:txBody>
                    <a:bodyPr/>
                    <a:lstStyle/>
                    <a:p>
                      <a:endParaRPr lang="en-NL" sz="1100" dirty="0"/>
                    </a:p>
                  </a:txBody>
                  <a:tcPr marL="72000" anchor="ctr"/>
                </a:tc>
                <a:tc>
                  <a:txBody>
                    <a:bodyPr/>
                    <a:lstStyle/>
                    <a:p>
                      <a:r>
                        <a:rPr lang="en-US" sz="1100" b="1" dirty="0"/>
                        <a:t>female</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1249708150"/>
                  </a:ext>
                </a:extLst>
              </a:tr>
              <a:tr h="306000">
                <a:tc>
                  <a:txBody>
                    <a:bodyPr/>
                    <a:lstStyle/>
                    <a:p>
                      <a:endParaRPr lang="en-NL" sz="1100" dirty="0"/>
                    </a:p>
                  </a:txBody>
                  <a:tcPr marL="72000" anchor="ctr"/>
                </a:tc>
                <a:tc>
                  <a:txBody>
                    <a:bodyPr/>
                    <a:lstStyle/>
                    <a:p>
                      <a:r>
                        <a:rPr lang="en-US" sz="1100" b="1" dirty="0"/>
                        <a:t>male</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850974854"/>
                  </a:ext>
                </a:extLst>
              </a:tr>
              <a:tr h="306000">
                <a:tc>
                  <a:txBody>
                    <a:bodyPr/>
                    <a:lstStyle/>
                    <a:p>
                      <a:endParaRPr lang="en-NL" sz="1100" dirty="0"/>
                    </a:p>
                  </a:txBody>
                  <a:tcPr marL="72000" anchor="ctr"/>
                </a:tc>
                <a:tc>
                  <a:txBody>
                    <a:bodyPr/>
                    <a:lstStyle/>
                    <a:p>
                      <a:r>
                        <a:rPr lang="en-US" sz="1100" b="1" dirty="0"/>
                        <a:t>female</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17" name="Rectangle: Rounded Corners 16">
            <a:extLst>
              <a:ext uri="{FF2B5EF4-FFF2-40B4-BE49-F238E27FC236}">
                <a16:creationId xmlns:a16="http://schemas.microsoft.com/office/drawing/2014/main" id="{EECA803C-F39F-720E-F32B-526D7AB5B24C}"/>
              </a:ext>
            </a:extLst>
          </p:cNvPr>
          <p:cNvSpPr/>
          <p:nvPr/>
        </p:nvSpPr>
        <p:spPr>
          <a:xfrm>
            <a:off x="9580165" y="2343789"/>
            <a:ext cx="1642188" cy="710132"/>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NL"/>
          </a:p>
        </p:txBody>
      </p:sp>
      <p:pic>
        <p:nvPicPr>
          <p:cNvPr id="18" name="Picture 17">
            <a:extLst>
              <a:ext uri="{FF2B5EF4-FFF2-40B4-BE49-F238E27FC236}">
                <a16:creationId xmlns:a16="http://schemas.microsoft.com/office/drawing/2014/main" id="{E75F5AD9-E15F-26FC-C48C-70BE7CBACD34}"/>
              </a:ext>
            </a:extLst>
          </p:cNvPr>
          <p:cNvPicPr>
            <a:picLocks noChangeAspect="1"/>
          </p:cNvPicPr>
          <p:nvPr/>
        </p:nvPicPr>
        <p:blipFill>
          <a:blip r:embed="rId2"/>
          <a:srcRect l="17222" t="33069" r="27186" b="41346"/>
          <a:stretch>
            <a:fillRect/>
          </a:stretch>
        </p:blipFill>
        <p:spPr>
          <a:xfrm>
            <a:off x="9681170" y="2477918"/>
            <a:ext cx="1440178" cy="441874"/>
          </a:xfrm>
          <a:prstGeom prst="rect">
            <a:avLst/>
          </a:prstGeom>
        </p:spPr>
      </p:pic>
      <p:pic>
        <p:nvPicPr>
          <p:cNvPr id="23" name="Picture 22">
            <a:extLst>
              <a:ext uri="{FF2B5EF4-FFF2-40B4-BE49-F238E27FC236}">
                <a16:creationId xmlns:a16="http://schemas.microsoft.com/office/drawing/2014/main" id="{21B53BC9-ADC3-B874-FA2A-D480A6CF796C}"/>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25000"/>
                    </a14:imgEffect>
                    <a14:imgEffect>
                      <a14:brightnessContrast contrast="-40000"/>
                    </a14:imgEffect>
                  </a14:imgLayer>
                </a14:imgProps>
              </a:ext>
            </a:extLst>
          </a:blip>
          <a:srcRect l="22593" t="33818" r="26296" b="42564"/>
          <a:stretch>
            <a:fillRect/>
          </a:stretch>
        </p:blipFill>
        <p:spPr>
          <a:xfrm>
            <a:off x="9681259" y="3897611"/>
            <a:ext cx="1440000" cy="443613"/>
          </a:xfrm>
          <a:prstGeom prst="rect">
            <a:avLst/>
          </a:prstGeom>
        </p:spPr>
      </p:pic>
      <p:pic>
        <p:nvPicPr>
          <p:cNvPr id="24" name="Picture 23">
            <a:extLst>
              <a:ext uri="{FF2B5EF4-FFF2-40B4-BE49-F238E27FC236}">
                <a16:creationId xmlns:a16="http://schemas.microsoft.com/office/drawing/2014/main" id="{B9ED032F-4F54-5E42-B9A9-D9DC77852F39}"/>
              </a:ext>
            </a:extLst>
          </p:cNvPr>
          <p:cNvPicPr>
            <a:picLocks noChangeAspect="1"/>
          </p:cNvPicPr>
          <p:nvPr/>
        </p:nvPicPr>
        <p:blipFill>
          <a:blip r:embed="rId5"/>
          <a:srcRect l="13027" t="27953" r="16204" b="38897"/>
          <a:stretch>
            <a:fillRect/>
          </a:stretch>
        </p:blipFill>
        <p:spPr>
          <a:xfrm>
            <a:off x="9681260" y="5312288"/>
            <a:ext cx="1440000" cy="449693"/>
          </a:xfrm>
          <a:prstGeom prst="rect">
            <a:avLst/>
          </a:prstGeom>
        </p:spPr>
      </p:pic>
    </p:spTree>
    <p:extLst>
      <p:ext uri="{BB962C8B-B14F-4D97-AF65-F5344CB8AC3E}">
        <p14:creationId xmlns:p14="http://schemas.microsoft.com/office/powerpoint/2010/main" val="300085308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EE0B57-77F6-C5F8-171D-94B38AD5DA1A}"/>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52792F45-E637-EBB0-D8FB-13CEA2F298B4}"/>
              </a:ext>
            </a:extLst>
          </p:cNvPr>
          <p:cNvPicPr>
            <a:picLocks noChangeAspect="1"/>
          </p:cNvPicPr>
          <p:nvPr/>
        </p:nvPicPr>
        <p:blipFill>
          <a:blip r:embed="rId3"/>
          <a:srcRect t="21286" b="18695"/>
          <a:stretch>
            <a:fillRect/>
          </a:stretch>
        </p:blipFill>
        <p:spPr>
          <a:xfrm>
            <a:off x="695325" y="1628775"/>
            <a:ext cx="10799546" cy="4321175"/>
          </a:xfrm>
          <a:prstGeom prst="rect">
            <a:avLst/>
          </a:prstGeom>
        </p:spPr>
      </p:pic>
      <p:sp>
        <p:nvSpPr>
          <p:cNvPr id="8" name="Rectangle 7">
            <a:extLst>
              <a:ext uri="{FF2B5EF4-FFF2-40B4-BE49-F238E27FC236}">
                <a16:creationId xmlns:a16="http://schemas.microsoft.com/office/drawing/2014/main" id="{09C09AAB-097E-E2D1-67AD-DC62B3CF26B0}"/>
              </a:ext>
            </a:extLst>
          </p:cNvPr>
          <p:cNvSpPr/>
          <p:nvPr/>
        </p:nvSpPr>
        <p:spPr>
          <a:xfrm>
            <a:off x="5136204" y="1628775"/>
            <a:ext cx="6350219" cy="4321175"/>
          </a:xfrm>
          <a:prstGeom prst="rect">
            <a:avLst/>
          </a:prstGeom>
          <a:solidFill>
            <a:schemeClr val="accent1">
              <a:lumMod val="20000"/>
              <a:lumOff val="80000"/>
              <a:alpha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60000" tIns="180000" rIns="180000" bIns="180000" rtlCol="0" anchor="ctr"/>
          <a:lstStyle/>
          <a:p>
            <a:endParaRPr lang="en-NL" sz="2000" i="1" dirty="0">
              <a:solidFill>
                <a:schemeClr val="tx1"/>
              </a:solidFill>
            </a:endParaRPr>
          </a:p>
        </p:txBody>
      </p:sp>
      <p:sp>
        <p:nvSpPr>
          <p:cNvPr id="2" name="Title 1">
            <a:extLst>
              <a:ext uri="{FF2B5EF4-FFF2-40B4-BE49-F238E27FC236}">
                <a16:creationId xmlns:a16="http://schemas.microsoft.com/office/drawing/2014/main" id="{9235C372-85FE-CACD-A06B-7F3577AEC783}"/>
              </a:ext>
            </a:extLst>
          </p:cNvPr>
          <p:cNvSpPr>
            <a:spLocks noGrp="1"/>
          </p:cNvSpPr>
          <p:nvPr>
            <p:ph type="title"/>
          </p:nvPr>
        </p:nvSpPr>
        <p:spPr/>
        <p:txBody>
          <a:bodyPr/>
          <a:lstStyle/>
          <a:p>
            <a:r>
              <a:rPr lang="en-US" dirty="0"/>
              <a:t>Scenario 5: Assess (re)use options around one selected concept</a:t>
            </a:r>
          </a:p>
        </p:txBody>
      </p:sp>
      <p:sp>
        <p:nvSpPr>
          <p:cNvPr id="7" name="Freeform: Shape 6">
            <a:extLst>
              <a:ext uri="{FF2B5EF4-FFF2-40B4-BE49-F238E27FC236}">
                <a16:creationId xmlns:a16="http://schemas.microsoft.com/office/drawing/2014/main" id="{57A6EB2E-5649-68FF-751B-19F63077F0AB}"/>
              </a:ext>
            </a:extLst>
          </p:cNvPr>
          <p:cNvSpPr/>
          <p:nvPr/>
        </p:nvSpPr>
        <p:spPr>
          <a:xfrm>
            <a:off x="7034190" y="3018630"/>
            <a:ext cx="371214" cy="91440"/>
          </a:xfrm>
          <a:custGeom>
            <a:avLst/>
            <a:gdLst>
              <a:gd name="csX0" fmla="*/ 0 w 371214"/>
              <a:gd name="csY0" fmla="*/ 45720 h 91440"/>
              <a:gd name="csX1" fmla="*/ 371214 w 371214"/>
              <a:gd name="csY1" fmla="*/ 45720 h 91440"/>
            </a:gdLst>
            <a:ahLst/>
            <a:cxnLst>
              <a:cxn ang="0">
                <a:pos x="csX0" y="csY0"/>
              </a:cxn>
              <a:cxn ang="0">
                <a:pos x="csX1" y="csY1"/>
              </a:cxn>
            </a:cxnLst>
            <a:rect l="l" t="t" r="r" b="b"/>
            <a:pathLst>
              <a:path w="371214" h="91440">
                <a:moveTo>
                  <a:pt x="0" y="45720"/>
                </a:moveTo>
                <a:lnTo>
                  <a:pt x="371214" y="45720"/>
                </a:lnTo>
              </a:path>
            </a:pathLst>
          </a:cu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88262" tIns="43711" rIns="188262" bIns="43711" numCol="1" spcCol="1270" anchor="ctr" anchorCtr="0">
            <a:noAutofit/>
          </a:bodyPr>
          <a:lstStyle/>
          <a:p>
            <a:pPr marL="0" lvl="0" indent="0" algn="ctr" defTabSz="222250">
              <a:lnSpc>
                <a:spcPct val="90000"/>
              </a:lnSpc>
              <a:spcBef>
                <a:spcPct val="0"/>
              </a:spcBef>
              <a:spcAft>
                <a:spcPct val="35000"/>
              </a:spcAft>
              <a:buNone/>
            </a:pPr>
            <a:endParaRPr lang="en-NL" sz="500" kern="1200"/>
          </a:p>
        </p:txBody>
      </p:sp>
      <p:sp>
        <p:nvSpPr>
          <p:cNvPr id="10" name="Freeform: Shape 9">
            <a:extLst>
              <a:ext uri="{FF2B5EF4-FFF2-40B4-BE49-F238E27FC236}">
                <a16:creationId xmlns:a16="http://schemas.microsoft.com/office/drawing/2014/main" id="{AF4C78CE-CDFE-8141-6F81-4F6C4C8E93EF}"/>
              </a:ext>
            </a:extLst>
          </p:cNvPr>
          <p:cNvSpPr/>
          <p:nvPr/>
        </p:nvSpPr>
        <p:spPr>
          <a:xfrm>
            <a:off x="9183022" y="3018630"/>
            <a:ext cx="371214" cy="91440"/>
          </a:xfrm>
          <a:custGeom>
            <a:avLst/>
            <a:gdLst>
              <a:gd name="csX0" fmla="*/ 0 w 371214"/>
              <a:gd name="csY0" fmla="*/ 45720 h 91440"/>
              <a:gd name="csX1" fmla="*/ 371214 w 371214"/>
              <a:gd name="csY1" fmla="*/ 45720 h 91440"/>
            </a:gdLst>
            <a:ahLst/>
            <a:cxnLst>
              <a:cxn ang="0">
                <a:pos x="csX0" y="csY0"/>
              </a:cxn>
              <a:cxn ang="0">
                <a:pos x="csX1" y="csY1"/>
              </a:cxn>
            </a:cxnLst>
            <a:rect l="l" t="t" r="r" b="b"/>
            <a:pathLst>
              <a:path w="371214" h="91440">
                <a:moveTo>
                  <a:pt x="0" y="45720"/>
                </a:moveTo>
                <a:lnTo>
                  <a:pt x="371214" y="45720"/>
                </a:lnTo>
              </a:path>
            </a:pathLst>
          </a:cu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88261" tIns="43711" rIns="188263" bIns="43711" numCol="1" spcCol="1270" anchor="ctr" anchorCtr="0">
            <a:noAutofit/>
          </a:bodyPr>
          <a:lstStyle/>
          <a:p>
            <a:pPr marL="0" lvl="0" indent="0" algn="ctr" defTabSz="222250">
              <a:lnSpc>
                <a:spcPct val="90000"/>
              </a:lnSpc>
              <a:spcBef>
                <a:spcPct val="0"/>
              </a:spcBef>
              <a:spcAft>
                <a:spcPct val="35000"/>
              </a:spcAft>
              <a:buNone/>
            </a:pPr>
            <a:endParaRPr lang="en-NL" sz="500" kern="1200"/>
          </a:p>
        </p:txBody>
      </p:sp>
      <p:sp>
        <p:nvSpPr>
          <p:cNvPr id="11" name="Freeform: Shape 10">
            <a:extLst>
              <a:ext uri="{FF2B5EF4-FFF2-40B4-BE49-F238E27FC236}">
                <a16:creationId xmlns:a16="http://schemas.microsoft.com/office/drawing/2014/main" id="{B8EB98E6-8DE9-4ECF-90BD-13F29AD65259}"/>
              </a:ext>
            </a:extLst>
          </p:cNvPr>
          <p:cNvSpPr/>
          <p:nvPr/>
        </p:nvSpPr>
        <p:spPr>
          <a:xfrm>
            <a:off x="7437804" y="2540244"/>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lvl="0" defTabSz="400050">
              <a:lnSpc>
                <a:spcPct val="90000"/>
              </a:lnSpc>
              <a:spcBef>
                <a:spcPct val="0"/>
              </a:spcBef>
              <a:spcAft>
                <a:spcPct val="35000"/>
              </a:spcAft>
            </a:pPr>
            <a:r>
              <a:rPr lang="en-US" sz="900" b="1" dirty="0"/>
              <a:t>Scenario 2: </a:t>
            </a:r>
            <a:r>
              <a:rPr lang="en-US" sz="900" dirty="0"/>
              <a:t>Identify the dataset that represents the right meaning</a:t>
            </a:r>
            <a:endParaRPr lang="en-NL" sz="900" dirty="0"/>
          </a:p>
        </p:txBody>
      </p:sp>
      <p:sp>
        <p:nvSpPr>
          <p:cNvPr id="12" name="Freeform: Shape 11">
            <a:extLst>
              <a:ext uri="{FF2B5EF4-FFF2-40B4-BE49-F238E27FC236}">
                <a16:creationId xmlns:a16="http://schemas.microsoft.com/office/drawing/2014/main" id="{84D89C5F-A75D-6CE0-A069-BCB7FB683788}"/>
              </a:ext>
            </a:extLst>
          </p:cNvPr>
          <p:cNvSpPr/>
          <p:nvPr/>
        </p:nvSpPr>
        <p:spPr>
          <a:xfrm>
            <a:off x="6162481" y="3586655"/>
            <a:ext cx="4297663" cy="371214"/>
          </a:xfrm>
          <a:custGeom>
            <a:avLst/>
            <a:gdLst>
              <a:gd name="csX0" fmla="*/ 4297663 w 4297663"/>
              <a:gd name="csY0" fmla="*/ 0 h 371214"/>
              <a:gd name="csX1" fmla="*/ 4297663 w 4297663"/>
              <a:gd name="csY1" fmla="*/ 202707 h 371214"/>
              <a:gd name="csX2" fmla="*/ 0 w 4297663"/>
              <a:gd name="csY2" fmla="*/ 202707 h 371214"/>
              <a:gd name="csX3" fmla="*/ 0 w 4297663"/>
              <a:gd name="csY3" fmla="*/ 371214 h 371214"/>
            </a:gdLst>
            <a:ahLst/>
            <a:cxnLst>
              <a:cxn ang="0">
                <a:pos x="csX0" y="csY0"/>
              </a:cxn>
              <a:cxn ang="0">
                <a:pos x="csX1" y="csY1"/>
              </a:cxn>
              <a:cxn ang="0">
                <a:pos x="csX2" y="csY2"/>
              </a:cxn>
              <a:cxn ang="0">
                <a:pos x="csX3" y="csY3"/>
              </a:cxn>
            </a:cxnLst>
            <a:rect l="l" t="t" r="r" b="b"/>
            <a:pathLst>
              <a:path w="4297663" h="371214">
                <a:moveTo>
                  <a:pt x="4297663" y="0"/>
                </a:moveTo>
                <a:lnTo>
                  <a:pt x="4297663" y="202707"/>
                </a:lnTo>
                <a:lnTo>
                  <a:pt x="0" y="202707"/>
                </a:lnTo>
                <a:lnTo>
                  <a:pt x="0" y="371214"/>
                </a:lnTo>
              </a:path>
            </a:pathLst>
          </a:cu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2053622" tIns="183598" rIns="2053621" bIns="183598" numCol="1" spcCol="1270" anchor="ctr" anchorCtr="0">
            <a:noAutofit/>
          </a:bodyPr>
          <a:lstStyle/>
          <a:p>
            <a:pPr marL="0" lvl="0" indent="0" algn="ctr" defTabSz="222250">
              <a:lnSpc>
                <a:spcPct val="90000"/>
              </a:lnSpc>
              <a:spcBef>
                <a:spcPct val="0"/>
              </a:spcBef>
              <a:spcAft>
                <a:spcPct val="35000"/>
              </a:spcAft>
              <a:buNone/>
            </a:pPr>
            <a:endParaRPr lang="en-NL" sz="500" kern="1200"/>
          </a:p>
        </p:txBody>
      </p:sp>
      <p:sp>
        <p:nvSpPr>
          <p:cNvPr id="13" name="Freeform: Shape 12">
            <a:extLst>
              <a:ext uri="{FF2B5EF4-FFF2-40B4-BE49-F238E27FC236}">
                <a16:creationId xmlns:a16="http://schemas.microsoft.com/office/drawing/2014/main" id="{83A4827B-971D-4063-C5C3-7300205FE563}"/>
              </a:ext>
            </a:extLst>
          </p:cNvPr>
          <p:cNvSpPr/>
          <p:nvPr/>
        </p:nvSpPr>
        <p:spPr>
          <a:xfrm>
            <a:off x="9586636" y="2540244"/>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marL="0" lvl="0" indent="0" algn="l" defTabSz="400050">
              <a:lnSpc>
                <a:spcPct val="90000"/>
              </a:lnSpc>
              <a:spcBef>
                <a:spcPct val="0"/>
              </a:spcBef>
              <a:spcAft>
                <a:spcPct val="35000"/>
              </a:spcAft>
              <a:buNone/>
            </a:pPr>
            <a:r>
              <a:rPr lang="en-US" sz="900" b="1" u="none" kern="1200" dirty="0"/>
              <a:t>Scenario 3: </a:t>
            </a:r>
            <a:r>
              <a:rPr lang="en-US" sz="900" b="0" u="none" kern="1200" dirty="0"/>
              <a:t>Inspect what a selected column means</a:t>
            </a:r>
            <a:endParaRPr lang="en-NL" sz="900" b="0" u="none" kern="1200" dirty="0"/>
          </a:p>
        </p:txBody>
      </p:sp>
      <p:sp>
        <p:nvSpPr>
          <p:cNvPr id="14" name="Freeform: Shape 13">
            <a:extLst>
              <a:ext uri="{FF2B5EF4-FFF2-40B4-BE49-F238E27FC236}">
                <a16:creationId xmlns:a16="http://schemas.microsoft.com/office/drawing/2014/main" id="{0ABADB9B-BE70-D9C4-7DDA-2CA7F97A3EB8}"/>
              </a:ext>
            </a:extLst>
          </p:cNvPr>
          <p:cNvSpPr/>
          <p:nvPr/>
        </p:nvSpPr>
        <p:spPr>
          <a:xfrm>
            <a:off x="7034190" y="4468654"/>
            <a:ext cx="371214" cy="91440"/>
          </a:xfrm>
          <a:custGeom>
            <a:avLst/>
            <a:gdLst>
              <a:gd name="csX0" fmla="*/ 0 w 371214"/>
              <a:gd name="csY0" fmla="*/ 45720 h 91440"/>
              <a:gd name="csX1" fmla="*/ 371214 w 371214"/>
              <a:gd name="csY1" fmla="*/ 45720 h 91440"/>
            </a:gdLst>
            <a:ahLst/>
            <a:cxnLst>
              <a:cxn ang="0">
                <a:pos x="csX0" y="csY0"/>
              </a:cxn>
              <a:cxn ang="0">
                <a:pos x="csX1" y="csY1"/>
              </a:cxn>
            </a:cxnLst>
            <a:rect l="l" t="t" r="r" b="b"/>
            <a:pathLst>
              <a:path w="371214" h="91440">
                <a:moveTo>
                  <a:pt x="0" y="45720"/>
                </a:moveTo>
                <a:lnTo>
                  <a:pt x="371214" y="45720"/>
                </a:lnTo>
              </a:path>
            </a:pathLst>
          </a:cu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88262" tIns="43711" rIns="188262" bIns="43711" numCol="1" spcCol="1270" anchor="ctr" anchorCtr="0">
            <a:noAutofit/>
          </a:bodyPr>
          <a:lstStyle/>
          <a:p>
            <a:pPr marL="0" lvl="0" indent="0" algn="ctr" defTabSz="222250">
              <a:lnSpc>
                <a:spcPct val="90000"/>
              </a:lnSpc>
              <a:spcBef>
                <a:spcPct val="0"/>
              </a:spcBef>
              <a:spcAft>
                <a:spcPct val="35000"/>
              </a:spcAft>
              <a:buNone/>
            </a:pPr>
            <a:endParaRPr lang="en-NL" sz="500" kern="1200"/>
          </a:p>
        </p:txBody>
      </p:sp>
      <p:sp>
        <p:nvSpPr>
          <p:cNvPr id="15" name="Freeform: Shape 14">
            <a:extLst>
              <a:ext uri="{FF2B5EF4-FFF2-40B4-BE49-F238E27FC236}">
                <a16:creationId xmlns:a16="http://schemas.microsoft.com/office/drawing/2014/main" id="{5FA935C6-9C39-FF78-8C89-F10539D16BE4}"/>
              </a:ext>
            </a:extLst>
          </p:cNvPr>
          <p:cNvSpPr/>
          <p:nvPr/>
        </p:nvSpPr>
        <p:spPr>
          <a:xfrm>
            <a:off x="5288972" y="3990269"/>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marL="0" lvl="0" indent="0" algn="l" defTabSz="400050">
              <a:lnSpc>
                <a:spcPct val="90000"/>
              </a:lnSpc>
              <a:spcBef>
                <a:spcPct val="0"/>
              </a:spcBef>
              <a:spcAft>
                <a:spcPct val="35000"/>
              </a:spcAft>
              <a:buNone/>
            </a:pPr>
            <a:r>
              <a:rPr lang="en-US" sz="900" b="1" u="none" kern="1200" dirty="0"/>
              <a:t>Scenario 4:</a:t>
            </a:r>
            <a:r>
              <a:rPr lang="en-US" sz="900" b="0" u="none" kern="1200" dirty="0"/>
              <a:t> Formalize the semantic relation between two selected columns</a:t>
            </a:r>
            <a:endParaRPr lang="en-NL" sz="900" b="0" u="none" kern="1200" dirty="0"/>
          </a:p>
        </p:txBody>
      </p:sp>
      <p:sp>
        <p:nvSpPr>
          <p:cNvPr id="16" name="Freeform: Shape 15">
            <a:extLst>
              <a:ext uri="{FF2B5EF4-FFF2-40B4-BE49-F238E27FC236}">
                <a16:creationId xmlns:a16="http://schemas.microsoft.com/office/drawing/2014/main" id="{44A4F4E9-F7CA-AE5F-CF36-13679E22103A}"/>
              </a:ext>
            </a:extLst>
          </p:cNvPr>
          <p:cNvSpPr/>
          <p:nvPr/>
        </p:nvSpPr>
        <p:spPr>
          <a:xfrm>
            <a:off x="9183022" y="4468654"/>
            <a:ext cx="371214" cy="91440"/>
          </a:xfrm>
          <a:custGeom>
            <a:avLst/>
            <a:gdLst>
              <a:gd name="csX0" fmla="*/ 0 w 371214"/>
              <a:gd name="csY0" fmla="*/ 45720 h 91440"/>
              <a:gd name="csX1" fmla="*/ 371214 w 371214"/>
              <a:gd name="csY1" fmla="*/ 45720 h 91440"/>
            </a:gdLst>
            <a:ahLst/>
            <a:cxnLst>
              <a:cxn ang="0">
                <a:pos x="csX0" y="csY0"/>
              </a:cxn>
              <a:cxn ang="0">
                <a:pos x="csX1" y="csY1"/>
              </a:cxn>
            </a:cxnLst>
            <a:rect l="l" t="t" r="r" b="b"/>
            <a:pathLst>
              <a:path w="371214" h="91440">
                <a:moveTo>
                  <a:pt x="0" y="45720"/>
                </a:moveTo>
                <a:lnTo>
                  <a:pt x="371214" y="45720"/>
                </a:lnTo>
              </a:path>
            </a:pathLst>
          </a:cu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88261" tIns="43711" rIns="188263" bIns="43711" numCol="1" spcCol="1270" anchor="ctr" anchorCtr="0">
            <a:noAutofit/>
          </a:bodyPr>
          <a:lstStyle/>
          <a:p>
            <a:pPr marL="0" lvl="0" indent="0" algn="ctr" defTabSz="222250">
              <a:lnSpc>
                <a:spcPct val="90000"/>
              </a:lnSpc>
              <a:spcBef>
                <a:spcPct val="0"/>
              </a:spcBef>
              <a:spcAft>
                <a:spcPct val="35000"/>
              </a:spcAft>
              <a:buNone/>
            </a:pPr>
            <a:endParaRPr lang="en-NL" sz="500" kern="1200"/>
          </a:p>
        </p:txBody>
      </p:sp>
      <p:sp>
        <p:nvSpPr>
          <p:cNvPr id="18" name="Freeform: Shape 17">
            <a:extLst>
              <a:ext uri="{FF2B5EF4-FFF2-40B4-BE49-F238E27FC236}">
                <a16:creationId xmlns:a16="http://schemas.microsoft.com/office/drawing/2014/main" id="{EE029024-6F52-E717-3C80-CA470C8E898D}"/>
              </a:ext>
            </a:extLst>
          </p:cNvPr>
          <p:cNvSpPr/>
          <p:nvPr/>
        </p:nvSpPr>
        <p:spPr>
          <a:xfrm>
            <a:off x="9586636" y="3990269"/>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a:solidFill>
            <a:schemeClr val="accent3">
              <a:lumMod val="20000"/>
              <a:lumOff val="80000"/>
            </a:schemeClr>
          </a:solidFill>
          <a:ln>
            <a:solidFill>
              <a:schemeClr val="accent1"/>
            </a:solidFill>
          </a:ln>
        </p:spPr>
        <p:style>
          <a:lnRef idx="0">
            <a:scrgbClr r="0" g="0" b="0"/>
          </a:lnRef>
          <a:fillRef idx="3">
            <a:scrgbClr r="0" g="0" b="0"/>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marL="0" lvl="0" indent="0" algn="l" defTabSz="400050">
              <a:lnSpc>
                <a:spcPct val="90000"/>
              </a:lnSpc>
              <a:spcBef>
                <a:spcPct val="0"/>
              </a:spcBef>
              <a:spcAft>
                <a:spcPct val="35000"/>
              </a:spcAft>
              <a:buNone/>
            </a:pPr>
            <a:r>
              <a:rPr lang="en-US" sz="900" b="1" kern="1200" dirty="0">
                <a:solidFill>
                  <a:schemeClr val="accent1"/>
                </a:solidFill>
              </a:rPr>
              <a:t>Result:</a:t>
            </a:r>
            <a:r>
              <a:rPr lang="en-US" sz="900" kern="1200" dirty="0">
                <a:solidFill>
                  <a:schemeClr val="accent1"/>
                </a:solidFill>
              </a:rPr>
              <a:t> Amir could move from label-based guessing to a defensible decision, identifying which variable fits his study and which related concepts align, should be ruled out, or only partially overlap.</a:t>
            </a:r>
            <a:endParaRPr lang="en-NL" sz="900" kern="1200" dirty="0">
              <a:solidFill>
                <a:schemeClr val="accent1"/>
              </a:solidFill>
            </a:endParaRPr>
          </a:p>
        </p:txBody>
      </p:sp>
      <p:sp>
        <p:nvSpPr>
          <p:cNvPr id="4" name="Slide Number Placeholder 3">
            <a:extLst>
              <a:ext uri="{FF2B5EF4-FFF2-40B4-BE49-F238E27FC236}">
                <a16:creationId xmlns:a16="http://schemas.microsoft.com/office/drawing/2014/main" id="{7BBF9ACB-01EF-6EF9-A8DC-A8A66F94F970}"/>
              </a:ext>
            </a:extLst>
          </p:cNvPr>
          <p:cNvSpPr>
            <a:spLocks noGrp="1"/>
          </p:cNvSpPr>
          <p:nvPr>
            <p:ph type="sldNum" sz="quarter" idx="12"/>
          </p:nvPr>
        </p:nvSpPr>
        <p:spPr/>
        <p:txBody>
          <a:bodyPr/>
          <a:lstStyle/>
          <a:p>
            <a:fld id="{4FAB73BC-B049-4115-A692-8D63A059BFB8}" type="slidenum">
              <a:rPr lang="en-US" smtClean="0"/>
              <a:pPr/>
              <a:t>43</a:t>
            </a:fld>
            <a:endParaRPr lang="en-US" dirty="0"/>
          </a:p>
        </p:txBody>
      </p:sp>
      <p:sp>
        <p:nvSpPr>
          <p:cNvPr id="9" name="Freeform: Shape 8">
            <a:extLst>
              <a:ext uri="{FF2B5EF4-FFF2-40B4-BE49-F238E27FC236}">
                <a16:creationId xmlns:a16="http://schemas.microsoft.com/office/drawing/2014/main" id="{BC55DBC5-6670-A7E2-7605-7F619AE31101}"/>
              </a:ext>
            </a:extLst>
          </p:cNvPr>
          <p:cNvSpPr/>
          <p:nvPr/>
        </p:nvSpPr>
        <p:spPr>
          <a:xfrm>
            <a:off x="5288972" y="2540244"/>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lvl="0" defTabSz="400050">
              <a:lnSpc>
                <a:spcPct val="90000"/>
              </a:lnSpc>
              <a:spcBef>
                <a:spcPct val="0"/>
              </a:spcBef>
              <a:spcAft>
                <a:spcPct val="35000"/>
              </a:spcAft>
            </a:pPr>
            <a:r>
              <a:rPr lang="it-IT" sz="900" b="1" dirty="0"/>
              <a:t>Scenario 1: </a:t>
            </a:r>
            <a:r>
              <a:rPr lang="en-US" sz="900" dirty="0"/>
              <a:t>Clarify Meanings Before Reuse</a:t>
            </a:r>
            <a:endParaRPr lang="en-NL" sz="900" dirty="0"/>
          </a:p>
        </p:txBody>
      </p:sp>
      <p:sp>
        <p:nvSpPr>
          <p:cNvPr id="17" name="Freeform: Shape 16">
            <a:extLst>
              <a:ext uri="{FF2B5EF4-FFF2-40B4-BE49-F238E27FC236}">
                <a16:creationId xmlns:a16="http://schemas.microsoft.com/office/drawing/2014/main" id="{6B915EB9-EC4A-F0CF-FA36-D584DD46D42E}"/>
              </a:ext>
            </a:extLst>
          </p:cNvPr>
          <p:cNvSpPr/>
          <p:nvPr/>
        </p:nvSpPr>
        <p:spPr>
          <a:xfrm>
            <a:off x="7437804" y="3990269"/>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marL="0" lvl="0" indent="0" algn="l" defTabSz="400050">
              <a:lnSpc>
                <a:spcPct val="90000"/>
              </a:lnSpc>
              <a:spcBef>
                <a:spcPct val="0"/>
              </a:spcBef>
              <a:spcAft>
                <a:spcPct val="35000"/>
              </a:spcAft>
              <a:buNone/>
            </a:pPr>
            <a:r>
              <a:rPr lang="en-US" sz="900" b="1" u="none" kern="1200" dirty="0">
                <a:solidFill>
                  <a:schemeClr val="bg1"/>
                </a:solidFill>
              </a:rPr>
              <a:t>Scenario 5:</a:t>
            </a:r>
            <a:r>
              <a:rPr lang="en-US" sz="900" b="0" u="none" kern="1200" dirty="0">
                <a:solidFill>
                  <a:schemeClr val="bg1"/>
                </a:solidFill>
              </a:rPr>
              <a:t> </a:t>
            </a:r>
            <a:r>
              <a:rPr lang="en-US" sz="900" kern="1200" dirty="0">
                <a:solidFill>
                  <a:schemeClr val="bg1"/>
                </a:solidFill>
              </a:rPr>
              <a:t>Assess (re)use options around one selected concept</a:t>
            </a:r>
            <a:endParaRPr lang="en-NL" sz="900" kern="1200" dirty="0">
              <a:solidFill>
                <a:schemeClr val="bg1"/>
              </a:solidFill>
            </a:endParaRPr>
          </a:p>
        </p:txBody>
      </p:sp>
    </p:spTree>
    <p:extLst>
      <p:ext uri="{BB962C8B-B14F-4D97-AF65-F5344CB8AC3E}">
        <p14:creationId xmlns:p14="http://schemas.microsoft.com/office/powerpoint/2010/main" val="33889111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mph" presetSubtype="0" grpId="0" nodeType="withEffect">
                                  <p:stCondLst>
                                    <p:cond delay="0"/>
                                  </p:stCondLst>
                                  <p:childTnLst>
                                    <p:set>
                                      <p:cBhvr>
                                        <p:cTn id="6" dur="indefinite"/>
                                        <p:tgtEl>
                                          <p:spTgt spid="9"/>
                                        </p:tgtEl>
                                        <p:attrNameLst>
                                          <p:attrName>style.opacity</p:attrName>
                                        </p:attrNameLst>
                                      </p:cBhvr>
                                      <p:to>
                                        <p:strVal val="0.5"/>
                                      </p:to>
                                    </p:set>
                                    <p:animEffect filter="image" prLst="opacity: 0.5">
                                      <p:cBhvr rctx="IE">
                                        <p:cTn id="7" dur="indefinite"/>
                                        <p:tgtEl>
                                          <p:spTgt spid="9"/>
                                        </p:tgtEl>
                                      </p:cBhvr>
                                    </p:animEffect>
                                  </p:childTnLst>
                                </p:cTn>
                              </p:par>
                              <p:par>
                                <p:cTn id="8" presetID="9" presetClass="emph" presetSubtype="0" grpId="0" nodeType="withEffect">
                                  <p:stCondLst>
                                    <p:cond delay="0"/>
                                  </p:stCondLst>
                                  <p:childTnLst>
                                    <p:set>
                                      <p:cBhvr>
                                        <p:cTn id="9" dur="indefinite"/>
                                        <p:tgtEl>
                                          <p:spTgt spid="11"/>
                                        </p:tgtEl>
                                        <p:attrNameLst>
                                          <p:attrName>style.opacity</p:attrName>
                                        </p:attrNameLst>
                                      </p:cBhvr>
                                      <p:to>
                                        <p:strVal val="0.5"/>
                                      </p:to>
                                    </p:set>
                                    <p:animEffect filter="image" prLst="opacity: 0.5">
                                      <p:cBhvr rctx="IE">
                                        <p:cTn id="10" dur="indefinite"/>
                                        <p:tgtEl>
                                          <p:spTgt spid="11"/>
                                        </p:tgtEl>
                                      </p:cBhvr>
                                    </p:animEffect>
                                  </p:childTnLst>
                                </p:cTn>
                              </p:par>
                              <p:par>
                                <p:cTn id="11" presetID="9" presetClass="emph" presetSubtype="0" grpId="0" nodeType="withEffect">
                                  <p:stCondLst>
                                    <p:cond delay="0"/>
                                  </p:stCondLst>
                                  <p:childTnLst>
                                    <p:set>
                                      <p:cBhvr>
                                        <p:cTn id="12" dur="indefinite"/>
                                        <p:tgtEl>
                                          <p:spTgt spid="13"/>
                                        </p:tgtEl>
                                        <p:attrNameLst>
                                          <p:attrName>style.opacity</p:attrName>
                                        </p:attrNameLst>
                                      </p:cBhvr>
                                      <p:to>
                                        <p:strVal val="0.5"/>
                                      </p:to>
                                    </p:set>
                                    <p:animEffect filter="image" prLst="opacity: 0.5">
                                      <p:cBhvr rctx="IE">
                                        <p:cTn id="13" dur="indefinite"/>
                                        <p:tgtEl>
                                          <p:spTgt spid="13"/>
                                        </p:tgtEl>
                                      </p:cBhvr>
                                    </p:animEffect>
                                  </p:childTnLst>
                                </p:cTn>
                              </p:par>
                              <p:par>
                                <p:cTn id="14" presetID="9" presetClass="emph" presetSubtype="0" grpId="0" nodeType="withEffect">
                                  <p:stCondLst>
                                    <p:cond delay="0"/>
                                  </p:stCondLst>
                                  <p:childTnLst>
                                    <p:set>
                                      <p:cBhvr>
                                        <p:cTn id="15" dur="indefinite"/>
                                        <p:tgtEl>
                                          <p:spTgt spid="18"/>
                                        </p:tgtEl>
                                        <p:attrNameLst>
                                          <p:attrName>style.opacity</p:attrName>
                                        </p:attrNameLst>
                                      </p:cBhvr>
                                      <p:to>
                                        <p:strVal val="0.5"/>
                                      </p:to>
                                    </p:set>
                                    <p:animEffect filter="image" prLst="opacity: 0.5">
                                      <p:cBhvr rctx="IE">
                                        <p:cTn id="16" dur="indefinite"/>
                                        <p:tgtEl>
                                          <p:spTgt spid="18"/>
                                        </p:tgtEl>
                                      </p:cBhvr>
                                    </p:animEffect>
                                  </p:childTnLst>
                                </p:cTn>
                              </p:par>
                              <p:par>
                                <p:cTn id="17" presetID="6" presetClass="emph" presetSubtype="0" fill="hold" grpId="0" nodeType="withEffect">
                                  <p:stCondLst>
                                    <p:cond delay="0"/>
                                  </p:stCondLst>
                                  <p:childTnLst>
                                    <p:animScale>
                                      <p:cBhvr>
                                        <p:cTn id="18" dur="1000" fill="hold"/>
                                        <p:tgtEl>
                                          <p:spTgt spid="17"/>
                                        </p:tgtEl>
                                      </p:cBhvr>
                                      <p:by x="150000" y="150000"/>
                                    </p:animScale>
                                  </p:childTnLst>
                                </p:cTn>
                              </p:par>
                              <p:par>
                                <p:cTn id="19" presetID="9" presetClass="emph" presetSubtype="0" grpId="0" nodeType="withEffect">
                                  <p:stCondLst>
                                    <p:cond delay="0"/>
                                  </p:stCondLst>
                                  <p:childTnLst>
                                    <p:set>
                                      <p:cBhvr>
                                        <p:cTn id="20" dur="indefinite"/>
                                        <p:tgtEl>
                                          <p:spTgt spid="15"/>
                                        </p:tgtEl>
                                        <p:attrNameLst>
                                          <p:attrName>style.opacity</p:attrName>
                                        </p:attrNameLst>
                                      </p:cBhvr>
                                      <p:to>
                                        <p:strVal val="0.5"/>
                                      </p:to>
                                    </p:set>
                                    <p:animEffect filter="image" prLst="opacity: 0.5">
                                      <p:cBhvr rctx="IE">
                                        <p:cTn id="21" dur="indefinite"/>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3" grpId="0" animBg="1"/>
      <p:bldP spid="15" grpId="0" animBg="1"/>
      <p:bldP spid="18" grpId="0" animBg="1"/>
      <p:bldP spid="9" grpId="0" animBg="1"/>
      <p:bldP spid="17"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78EBAA-8024-F647-2DE4-584777886C2B}"/>
              </a:ext>
            </a:extLst>
          </p:cNvPr>
          <p:cNvSpPr>
            <a:spLocks noGrp="1"/>
          </p:cNvSpPr>
          <p:nvPr>
            <p:ph type="title"/>
          </p:nvPr>
        </p:nvSpPr>
        <p:spPr/>
        <p:txBody>
          <a:bodyPr/>
          <a:lstStyle/>
          <a:p>
            <a:r>
              <a:rPr lang="en-US" sz="3600" dirty="0"/>
              <a:t>Amir’s Question and Challenge</a:t>
            </a:r>
            <a:endParaRPr lang="en-NL" sz="3600" dirty="0"/>
          </a:p>
        </p:txBody>
      </p:sp>
      <p:sp>
        <p:nvSpPr>
          <p:cNvPr id="4" name="Slide Number Placeholder 3">
            <a:extLst>
              <a:ext uri="{FF2B5EF4-FFF2-40B4-BE49-F238E27FC236}">
                <a16:creationId xmlns:a16="http://schemas.microsoft.com/office/drawing/2014/main" id="{07519B32-346B-367B-D845-B523A52EDB51}"/>
              </a:ext>
            </a:extLst>
          </p:cNvPr>
          <p:cNvSpPr>
            <a:spLocks noGrp="1"/>
          </p:cNvSpPr>
          <p:nvPr>
            <p:ph type="sldNum" sz="quarter" idx="12"/>
          </p:nvPr>
        </p:nvSpPr>
        <p:spPr/>
        <p:txBody>
          <a:bodyPr/>
          <a:lstStyle/>
          <a:p>
            <a:fld id="{4FAB73BC-B049-4115-A692-8D63A059BFB8}" type="slidenum">
              <a:rPr lang="en-US" smtClean="0"/>
              <a:pPr/>
              <a:t>44</a:t>
            </a:fld>
            <a:endParaRPr lang="en-US" dirty="0"/>
          </a:p>
        </p:txBody>
      </p:sp>
      <p:sp>
        <p:nvSpPr>
          <p:cNvPr id="7" name="Rectangle: Rounded Corners 6">
            <a:extLst>
              <a:ext uri="{FF2B5EF4-FFF2-40B4-BE49-F238E27FC236}">
                <a16:creationId xmlns:a16="http://schemas.microsoft.com/office/drawing/2014/main" id="{69188B83-ABC6-90A1-BF13-28E5B5F773B8}"/>
              </a:ext>
            </a:extLst>
          </p:cNvPr>
          <p:cNvSpPr/>
          <p:nvPr/>
        </p:nvSpPr>
        <p:spPr>
          <a:xfrm>
            <a:off x="695327" y="1637270"/>
            <a:ext cx="10801348" cy="4321175"/>
          </a:xfrm>
          <a:prstGeom prst="roundRect">
            <a:avLst>
              <a:gd name="adj" fmla="val 0"/>
            </a:avLst>
          </a:prstGeom>
          <a:solidFill>
            <a:schemeClr val="accent1">
              <a:lumMod val="20000"/>
              <a:lumOff val="80000"/>
            </a:schemeClr>
          </a:solidFill>
          <a:ln w="19050">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NL"/>
          </a:p>
        </p:txBody>
      </p:sp>
      <p:pic>
        <p:nvPicPr>
          <p:cNvPr id="29" name="Content Placeholder 28">
            <a:extLst>
              <a:ext uri="{FF2B5EF4-FFF2-40B4-BE49-F238E27FC236}">
                <a16:creationId xmlns:a16="http://schemas.microsoft.com/office/drawing/2014/main" id="{22C4C089-CF15-213D-AE72-F13A2F7FD035}"/>
              </a:ext>
            </a:extLst>
          </p:cNvPr>
          <p:cNvPicPr>
            <a:picLocks noGrp="1" noChangeAspect="1"/>
          </p:cNvPicPr>
          <p:nvPr>
            <p:ph idx="1"/>
          </p:nvPr>
        </p:nvPicPr>
        <p:blipFill>
          <a:blip r:embed="rId2"/>
          <a:srcRect r="29220"/>
          <a:stretch>
            <a:fillRect/>
          </a:stretch>
        </p:blipFill>
        <p:spPr>
          <a:xfrm>
            <a:off x="6861080" y="1648231"/>
            <a:ext cx="4625865" cy="4301719"/>
          </a:xfrm>
          <a:prstGeom prst="rect">
            <a:avLst/>
          </a:prstGeom>
          <a:effectLst>
            <a:softEdge rad="31750"/>
          </a:effectLst>
        </p:spPr>
      </p:pic>
      <p:sp>
        <p:nvSpPr>
          <p:cNvPr id="23" name="Freeform: Shape 22">
            <a:extLst>
              <a:ext uri="{FF2B5EF4-FFF2-40B4-BE49-F238E27FC236}">
                <a16:creationId xmlns:a16="http://schemas.microsoft.com/office/drawing/2014/main" id="{3536A4A6-52E1-A261-CAFA-043786F1FBFA}"/>
              </a:ext>
            </a:extLst>
          </p:cNvPr>
          <p:cNvSpPr/>
          <p:nvPr/>
        </p:nvSpPr>
        <p:spPr>
          <a:xfrm>
            <a:off x="960855" y="1882234"/>
            <a:ext cx="7107971" cy="1353600"/>
          </a:xfrm>
          <a:custGeom>
            <a:avLst/>
            <a:gdLst>
              <a:gd name="csX0" fmla="*/ 0 w 6696074"/>
              <a:gd name="csY0" fmla="*/ 0 h 1612800"/>
              <a:gd name="csX1" fmla="*/ 6696074 w 6696074"/>
              <a:gd name="csY1" fmla="*/ 0 h 1612800"/>
              <a:gd name="csX2" fmla="*/ 6696074 w 6696074"/>
              <a:gd name="csY2" fmla="*/ 1612800 h 1612800"/>
              <a:gd name="csX3" fmla="*/ 0 w 6696074"/>
              <a:gd name="csY3" fmla="*/ 1612800 h 1612800"/>
              <a:gd name="csX4" fmla="*/ 0 w 6696074"/>
              <a:gd name="csY4" fmla="*/ 0 h 1612800"/>
            </a:gdLst>
            <a:ahLst/>
            <a:cxnLst>
              <a:cxn ang="0">
                <a:pos x="csX0" y="csY0"/>
              </a:cxn>
              <a:cxn ang="0">
                <a:pos x="csX1" y="csY1"/>
              </a:cxn>
              <a:cxn ang="0">
                <a:pos x="csX2" y="csY2"/>
              </a:cxn>
              <a:cxn ang="0">
                <a:pos x="csX3" y="csY3"/>
              </a:cxn>
              <a:cxn ang="0">
                <a:pos x="csX4" y="csY4"/>
              </a:cxn>
            </a:cxnLst>
            <a:rect l="l" t="t" r="r" b="b"/>
            <a:pathLst>
              <a:path w="6696074" h="1612800">
                <a:moveTo>
                  <a:pt x="0" y="0"/>
                </a:moveTo>
                <a:lnTo>
                  <a:pt x="6696074" y="0"/>
                </a:lnTo>
                <a:lnTo>
                  <a:pt x="6696074" y="1612800"/>
                </a:lnTo>
                <a:lnTo>
                  <a:pt x="0" y="1612800"/>
                </a:lnTo>
                <a:lnTo>
                  <a:pt x="0" y="0"/>
                </a:lnTo>
                <a:close/>
              </a:path>
            </a:pathLst>
          </a:custGeom>
        </p:spPr>
        <p:style>
          <a:lnRef idx="1">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360000" tIns="360000" rIns="180000" bIns="108000" numCol="1" spcCol="1270" anchor="t" anchorCtr="0">
            <a:noAutofit/>
          </a:bodyPr>
          <a:lstStyle/>
          <a:p>
            <a:pPr marL="171450" lvl="1" indent="-171450" defTabSz="711200">
              <a:spcBef>
                <a:spcPts val="300"/>
              </a:spcBef>
              <a:spcAft>
                <a:spcPts val="300"/>
              </a:spcAft>
              <a:buChar char="•"/>
            </a:pPr>
            <a:r>
              <a:rPr lang="en-US" sz="1400" dirty="0"/>
              <a:t>See all relevant semantic relations around his selected concept in one view</a:t>
            </a:r>
          </a:p>
          <a:p>
            <a:pPr marL="171450" lvl="1" indent="-171450" defTabSz="711200">
              <a:spcBef>
                <a:spcPts val="300"/>
              </a:spcBef>
              <a:spcAft>
                <a:spcPts val="300"/>
              </a:spcAft>
              <a:buChar char="•"/>
            </a:pPr>
            <a:r>
              <a:rPr lang="en-US" sz="1400" dirty="0"/>
              <a:t>Distinguish exact matches from invalid candidate connections and partial overlaps</a:t>
            </a:r>
          </a:p>
          <a:p>
            <a:pPr marL="171450" lvl="1" indent="-171450" defTabSz="711200">
              <a:spcBef>
                <a:spcPts val="300"/>
              </a:spcBef>
              <a:spcAft>
                <a:spcPts val="300"/>
              </a:spcAft>
              <a:buChar char="•"/>
            </a:pPr>
            <a:r>
              <a:rPr lang="en-US" sz="1400" dirty="0"/>
              <a:t>Make a defensible decision about which possible links are valid and which should be ruled out</a:t>
            </a:r>
          </a:p>
        </p:txBody>
      </p:sp>
      <p:sp>
        <p:nvSpPr>
          <p:cNvPr id="24" name="Freeform: Shape 23">
            <a:extLst>
              <a:ext uri="{FF2B5EF4-FFF2-40B4-BE49-F238E27FC236}">
                <a16:creationId xmlns:a16="http://schemas.microsoft.com/office/drawing/2014/main" id="{3251ED81-6750-C539-B075-B27DC4E277FC}"/>
              </a:ext>
            </a:extLst>
          </p:cNvPr>
          <p:cNvSpPr/>
          <p:nvPr/>
        </p:nvSpPr>
        <p:spPr>
          <a:xfrm>
            <a:off x="1085983" y="1744575"/>
            <a:ext cx="3163443" cy="392715"/>
          </a:xfrm>
          <a:custGeom>
            <a:avLst/>
            <a:gdLst>
              <a:gd name="csX0" fmla="*/ 0 w 4687251"/>
              <a:gd name="csY0" fmla="*/ 157443 h 944640"/>
              <a:gd name="csX1" fmla="*/ 157443 w 4687251"/>
              <a:gd name="csY1" fmla="*/ 0 h 944640"/>
              <a:gd name="csX2" fmla="*/ 4529808 w 4687251"/>
              <a:gd name="csY2" fmla="*/ 0 h 944640"/>
              <a:gd name="csX3" fmla="*/ 4687251 w 4687251"/>
              <a:gd name="csY3" fmla="*/ 157443 h 944640"/>
              <a:gd name="csX4" fmla="*/ 4687251 w 4687251"/>
              <a:gd name="csY4" fmla="*/ 787197 h 944640"/>
              <a:gd name="csX5" fmla="*/ 4529808 w 4687251"/>
              <a:gd name="csY5" fmla="*/ 944640 h 944640"/>
              <a:gd name="csX6" fmla="*/ 157443 w 4687251"/>
              <a:gd name="csY6" fmla="*/ 944640 h 944640"/>
              <a:gd name="csX7" fmla="*/ 0 w 4687251"/>
              <a:gd name="csY7" fmla="*/ 787197 h 944640"/>
              <a:gd name="csX8" fmla="*/ 0 w 4687251"/>
              <a:gd name="csY8" fmla="*/ 157443 h 9446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687251" h="944640">
                <a:moveTo>
                  <a:pt x="0" y="157443"/>
                </a:moveTo>
                <a:cubicBezTo>
                  <a:pt x="0" y="70490"/>
                  <a:pt x="70490" y="0"/>
                  <a:pt x="157443" y="0"/>
                </a:cubicBezTo>
                <a:lnTo>
                  <a:pt x="4529808" y="0"/>
                </a:lnTo>
                <a:cubicBezTo>
                  <a:pt x="4616761" y="0"/>
                  <a:pt x="4687251" y="70490"/>
                  <a:pt x="4687251" y="157443"/>
                </a:cubicBezTo>
                <a:lnTo>
                  <a:pt x="4687251" y="787197"/>
                </a:lnTo>
                <a:cubicBezTo>
                  <a:pt x="4687251" y="874150"/>
                  <a:pt x="4616761" y="944640"/>
                  <a:pt x="4529808" y="944640"/>
                </a:cubicBezTo>
                <a:lnTo>
                  <a:pt x="157443" y="944640"/>
                </a:lnTo>
                <a:cubicBezTo>
                  <a:pt x="70490" y="944640"/>
                  <a:pt x="0" y="874150"/>
                  <a:pt x="0" y="787197"/>
                </a:cubicBezTo>
                <a:lnTo>
                  <a:pt x="0" y="157443"/>
                </a:lnTo>
                <a:close/>
              </a:path>
            </a:pathLst>
          </a:custGeom>
        </p:spPr>
        <p:style>
          <a:lnRef idx="0">
            <a:schemeClr val="lt1">
              <a:hueOff val="0"/>
              <a:satOff val="0"/>
              <a:lumOff val="0"/>
              <a:alphaOff val="0"/>
            </a:schemeClr>
          </a:lnRef>
          <a:fillRef idx="3">
            <a:schemeClr val="accent4">
              <a:hueOff val="0"/>
              <a:satOff val="0"/>
              <a:lumOff val="0"/>
              <a:alphaOff val="0"/>
            </a:schemeClr>
          </a:fillRef>
          <a:effectRef idx="2">
            <a:schemeClr val="accent4">
              <a:hueOff val="0"/>
              <a:satOff val="0"/>
              <a:lumOff val="0"/>
              <a:alphaOff val="0"/>
            </a:schemeClr>
          </a:effectRef>
          <a:fontRef idx="minor">
            <a:schemeClr val="lt1"/>
          </a:fontRef>
        </p:style>
        <p:txBody>
          <a:bodyPr spcFirstLastPara="0" vert="horz" wrap="square" lIns="223281" tIns="46114" rIns="223281" bIns="46114" numCol="1" spcCol="1270" anchor="ctr" anchorCtr="0">
            <a:noAutofit/>
          </a:bodyPr>
          <a:lstStyle/>
          <a:p>
            <a:pPr marL="0" lvl="0" indent="0" algn="l" defTabSz="800100">
              <a:lnSpc>
                <a:spcPct val="90000"/>
              </a:lnSpc>
              <a:spcBef>
                <a:spcPct val="0"/>
              </a:spcBef>
              <a:spcAft>
                <a:spcPct val="35000"/>
              </a:spcAft>
              <a:buNone/>
            </a:pPr>
            <a:r>
              <a:rPr lang="en-US" sz="1800" kern="1200" dirty="0"/>
              <a:t>What Amir wants</a:t>
            </a:r>
            <a:endParaRPr lang="en-NL" sz="1800" kern="1200" dirty="0"/>
          </a:p>
        </p:txBody>
      </p:sp>
      <p:sp>
        <p:nvSpPr>
          <p:cNvPr id="25" name="Freeform: Shape 24">
            <a:extLst>
              <a:ext uri="{FF2B5EF4-FFF2-40B4-BE49-F238E27FC236}">
                <a16:creationId xmlns:a16="http://schemas.microsoft.com/office/drawing/2014/main" id="{F33D8FD0-5A78-AEFD-3DE7-32750F58FC37}"/>
              </a:ext>
            </a:extLst>
          </p:cNvPr>
          <p:cNvSpPr/>
          <p:nvPr/>
        </p:nvSpPr>
        <p:spPr>
          <a:xfrm>
            <a:off x="960855" y="3575523"/>
            <a:ext cx="7107971" cy="1354050"/>
          </a:xfrm>
          <a:custGeom>
            <a:avLst/>
            <a:gdLst>
              <a:gd name="csX0" fmla="*/ 0 w 6696074"/>
              <a:gd name="csY0" fmla="*/ 0 h 1537199"/>
              <a:gd name="csX1" fmla="*/ 6696074 w 6696074"/>
              <a:gd name="csY1" fmla="*/ 0 h 1537199"/>
              <a:gd name="csX2" fmla="*/ 6696074 w 6696074"/>
              <a:gd name="csY2" fmla="*/ 1537199 h 1537199"/>
              <a:gd name="csX3" fmla="*/ 0 w 6696074"/>
              <a:gd name="csY3" fmla="*/ 1537199 h 1537199"/>
              <a:gd name="csX4" fmla="*/ 0 w 6696074"/>
              <a:gd name="csY4" fmla="*/ 0 h 1537199"/>
            </a:gdLst>
            <a:ahLst/>
            <a:cxnLst>
              <a:cxn ang="0">
                <a:pos x="csX0" y="csY0"/>
              </a:cxn>
              <a:cxn ang="0">
                <a:pos x="csX1" y="csY1"/>
              </a:cxn>
              <a:cxn ang="0">
                <a:pos x="csX2" y="csY2"/>
              </a:cxn>
              <a:cxn ang="0">
                <a:pos x="csX3" y="csY3"/>
              </a:cxn>
              <a:cxn ang="0">
                <a:pos x="csX4" y="csY4"/>
              </a:cxn>
            </a:cxnLst>
            <a:rect l="l" t="t" r="r" b="b"/>
            <a:pathLst>
              <a:path w="6696074" h="1537199">
                <a:moveTo>
                  <a:pt x="0" y="0"/>
                </a:moveTo>
                <a:lnTo>
                  <a:pt x="6696074" y="0"/>
                </a:lnTo>
                <a:lnTo>
                  <a:pt x="6696074" y="1537199"/>
                </a:lnTo>
                <a:lnTo>
                  <a:pt x="0" y="1537199"/>
                </a:lnTo>
                <a:lnTo>
                  <a:pt x="0" y="0"/>
                </a:lnTo>
                <a:close/>
              </a:path>
            </a:pathLst>
          </a:custGeom>
        </p:spPr>
        <p:style>
          <a:lnRef idx="1">
            <a:schemeClr val="accent4">
              <a:hueOff val="-7382464"/>
              <a:satOff val="22475"/>
              <a:lumOff val="33922"/>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360000" tIns="360000" rIns="180000" bIns="108000" numCol="1" spcCol="1270" anchor="t" anchorCtr="0">
            <a:noAutofit/>
          </a:bodyPr>
          <a:lstStyle/>
          <a:p>
            <a:pPr marL="171450" lvl="1" indent="-171450" defTabSz="711200">
              <a:spcBef>
                <a:spcPts val="300"/>
              </a:spcBef>
              <a:spcAft>
                <a:spcPts val="300"/>
              </a:spcAft>
              <a:buChar char="•"/>
            </a:pPr>
            <a:r>
              <a:rPr lang="en-US" sz="1400" dirty="0"/>
              <a:t>A single pairwise comparison is no longer enough.</a:t>
            </a:r>
          </a:p>
          <a:p>
            <a:pPr marL="171450" lvl="1" indent="-171450" defTabSz="711200">
              <a:spcBef>
                <a:spcPts val="300"/>
              </a:spcBef>
              <a:spcAft>
                <a:spcPts val="300"/>
              </a:spcAft>
              <a:buChar char="•"/>
            </a:pPr>
            <a:r>
              <a:rPr lang="en-US" sz="1400" dirty="0"/>
              <a:t>What he needs now is not another isolated comparison, but a complete result showing which concepts align, which should be ruled out, and which only partially align with his selected variable.</a:t>
            </a:r>
          </a:p>
        </p:txBody>
      </p:sp>
      <p:sp>
        <p:nvSpPr>
          <p:cNvPr id="26" name="Freeform: Shape 25">
            <a:extLst>
              <a:ext uri="{FF2B5EF4-FFF2-40B4-BE49-F238E27FC236}">
                <a16:creationId xmlns:a16="http://schemas.microsoft.com/office/drawing/2014/main" id="{860BA01F-F636-C255-EBDA-7D1EC6F8AF87}"/>
              </a:ext>
            </a:extLst>
          </p:cNvPr>
          <p:cNvSpPr/>
          <p:nvPr/>
        </p:nvSpPr>
        <p:spPr>
          <a:xfrm>
            <a:off x="1085983" y="3408053"/>
            <a:ext cx="3163443" cy="392715"/>
          </a:xfrm>
          <a:custGeom>
            <a:avLst/>
            <a:gdLst>
              <a:gd name="csX0" fmla="*/ 0 w 4687251"/>
              <a:gd name="csY0" fmla="*/ 157443 h 944640"/>
              <a:gd name="csX1" fmla="*/ 157443 w 4687251"/>
              <a:gd name="csY1" fmla="*/ 0 h 944640"/>
              <a:gd name="csX2" fmla="*/ 4529808 w 4687251"/>
              <a:gd name="csY2" fmla="*/ 0 h 944640"/>
              <a:gd name="csX3" fmla="*/ 4687251 w 4687251"/>
              <a:gd name="csY3" fmla="*/ 157443 h 944640"/>
              <a:gd name="csX4" fmla="*/ 4687251 w 4687251"/>
              <a:gd name="csY4" fmla="*/ 787197 h 944640"/>
              <a:gd name="csX5" fmla="*/ 4529808 w 4687251"/>
              <a:gd name="csY5" fmla="*/ 944640 h 944640"/>
              <a:gd name="csX6" fmla="*/ 157443 w 4687251"/>
              <a:gd name="csY6" fmla="*/ 944640 h 944640"/>
              <a:gd name="csX7" fmla="*/ 0 w 4687251"/>
              <a:gd name="csY7" fmla="*/ 787197 h 944640"/>
              <a:gd name="csX8" fmla="*/ 0 w 4687251"/>
              <a:gd name="csY8" fmla="*/ 157443 h 9446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687251" h="944640">
                <a:moveTo>
                  <a:pt x="0" y="157443"/>
                </a:moveTo>
                <a:cubicBezTo>
                  <a:pt x="0" y="70490"/>
                  <a:pt x="70490" y="0"/>
                  <a:pt x="157443" y="0"/>
                </a:cubicBezTo>
                <a:lnTo>
                  <a:pt x="4529808" y="0"/>
                </a:lnTo>
                <a:cubicBezTo>
                  <a:pt x="4616761" y="0"/>
                  <a:pt x="4687251" y="70490"/>
                  <a:pt x="4687251" y="157443"/>
                </a:cubicBezTo>
                <a:lnTo>
                  <a:pt x="4687251" y="787197"/>
                </a:lnTo>
                <a:cubicBezTo>
                  <a:pt x="4687251" y="874150"/>
                  <a:pt x="4616761" y="944640"/>
                  <a:pt x="4529808" y="944640"/>
                </a:cubicBezTo>
                <a:lnTo>
                  <a:pt x="157443" y="944640"/>
                </a:lnTo>
                <a:cubicBezTo>
                  <a:pt x="70490" y="944640"/>
                  <a:pt x="0" y="874150"/>
                  <a:pt x="0" y="787197"/>
                </a:cubicBezTo>
                <a:lnTo>
                  <a:pt x="0" y="157443"/>
                </a:lnTo>
                <a:close/>
              </a:path>
            </a:pathLst>
          </a:custGeom>
        </p:spPr>
        <p:style>
          <a:lnRef idx="0">
            <a:schemeClr val="lt1">
              <a:hueOff val="0"/>
              <a:satOff val="0"/>
              <a:lumOff val="0"/>
              <a:alphaOff val="0"/>
            </a:schemeClr>
          </a:lnRef>
          <a:fillRef idx="3">
            <a:schemeClr val="accent4">
              <a:hueOff val="-7382464"/>
              <a:satOff val="22475"/>
              <a:lumOff val="33922"/>
              <a:alphaOff val="0"/>
            </a:schemeClr>
          </a:fillRef>
          <a:effectRef idx="2">
            <a:schemeClr val="accent4">
              <a:hueOff val="-7382464"/>
              <a:satOff val="22475"/>
              <a:lumOff val="33922"/>
              <a:alphaOff val="0"/>
            </a:schemeClr>
          </a:effectRef>
          <a:fontRef idx="minor">
            <a:schemeClr val="lt1"/>
          </a:fontRef>
        </p:style>
        <p:txBody>
          <a:bodyPr spcFirstLastPara="0" vert="horz" wrap="square" lIns="223281" tIns="46114" rIns="223281" bIns="46114" numCol="1" spcCol="1270" anchor="ctr" anchorCtr="0">
            <a:noAutofit/>
          </a:bodyPr>
          <a:lstStyle/>
          <a:p>
            <a:pPr marL="0" lvl="0" indent="0" algn="l" defTabSz="800100">
              <a:lnSpc>
                <a:spcPct val="90000"/>
              </a:lnSpc>
              <a:spcBef>
                <a:spcPct val="0"/>
              </a:spcBef>
              <a:spcAft>
                <a:spcPct val="35000"/>
              </a:spcAft>
              <a:buNone/>
            </a:pPr>
            <a:r>
              <a:rPr lang="en-US" sz="1800" kern="1200" dirty="0"/>
              <a:t>Amir’s challenge</a:t>
            </a:r>
            <a:endParaRPr lang="en-NL" sz="1800" kern="1200" dirty="0"/>
          </a:p>
        </p:txBody>
      </p:sp>
      <p:sp>
        <p:nvSpPr>
          <p:cNvPr id="27" name="TextBox 26">
            <a:extLst>
              <a:ext uri="{FF2B5EF4-FFF2-40B4-BE49-F238E27FC236}">
                <a16:creationId xmlns:a16="http://schemas.microsoft.com/office/drawing/2014/main" id="{38BE17B8-10E9-E28B-F8B2-F59C5D416292}"/>
              </a:ext>
            </a:extLst>
          </p:cNvPr>
          <p:cNvSpPr txBox="1"/>
          <p:nvPr/>
        </p:nvSpPr>
        <p:spPr>
          <a:xfrm>
            <a:off x="1210631" y="4961153"/>
            <a:ext cx="5135145" cy="979069"/>
          </a:xfrm>
          <a:prstGeom prst="rect">
            <a:avLst/>
          </a:prstGeom>
          <a:noFill/>
        </p:spPr>
        <p:txBody>
          <a:bodyPr wrap="square" lIns="180000" tIns="180000" rIns="180000" bIns="180000" rtlCol="0">
            <a:spAutoFit/>
          </a:bodyPr>
          <a:lstStyle/>
          <a:p>
            <a:pPr algn="ctr"/>
            <a:r>
              <a:rPr lang="en-US" sz="2000" b="1" i="1" dirty="0"/>
              <a:t>What is the (re)use landscape around </a:t>
            </a:r>
          </a:p>
          <a:p>
            <a:pPr algn="ctr"/>
            <a:r>
              <a:rPr lang="en-US" sz="2000" b="1" i="1" dirty="0"/>
              <a:t>my selected concept?</a:t>
            </a:r>
          </a:p>
        </p:txBody>
      </p:sp>
    </p:spTree>
    <p:extLst>
      <p:ext uri="{BB962C8B-B14F-4D97-AF65-F5344CB8AC3E}">
        <p14:creationId xmlns:p14="http://schemas.microsoft.com/office/powerpoint/2010/main" val="313262097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D97641-88C7-5F41-01E2-C4CCAE3A09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8500A0-5EF1-DBA1-E5C6-0AFC6A7290CD}"/>
              </a:ext>
            </a:extLst>
          </p:cNvPr>
          <p:cNvSpPr>
            <a:spLocks noGrp="1"/>
          </p:cNvSpPr>
          <p:nvPr>
            <p:ph type="title"/>
          </p:nvPr>
        </p:nvSpPr>
        <p:spPr/>
        <p:txBody>
          <a:bodyPr/>
          <a:lstStyle/>
          <a:p>
            <a:r>
              <a:rPr lang="en-US" dirty="0"/>
              <a:t>Context: Without HRI-SSI</a:t>
            </a:r>
            <a:endParaRPr lang="en-NL" dirty="0"/>
          </a:p>
        </p:txBody>
      </p:sp>
      <p:sp>
        <p:nvSpPr>
          <p:cNvPr id="4" name="Slide Number Placeholder 3">
            <a:extLst>
              <a:ext uri="{FF2B5EF4-FFF2-40B4-BE49-F238E27FC236}">
                <a16:creationId xmlns:a16="http://schemas.microsoft.com/office/drawing/2014/main" id="{9AE882A4-01FC-4349-BC36-5BD1F108915A}"/>
              </a:ext>
            </a:extLst>
          </p:cNvPr>
          <p:cNvSpPr>
            <a:spLocks noGrp="1"/>
          </p:cNvSpPr>
          <p:nvPr>
            <p:ph type="sldNum" sz="quarter" idx="12"/>
          </p:nvPr>
        </p:nvSpPr>
        <p:spPr/>
        <p:txBody>
          <a:bodyPr/>
          <a:lstStyle/>
          <a:p>
            <a:fld id="{4FAB73BC-B049-4115-A692-8D63A059BFB8}" type="slidenum">
              <a:rPr lang="en-US" smtClean="0"/>
              <a:pPr/>
              <a:t>45</a:t>
            </a:fld>
            <a:endParaRPr lang="en-US" dirty="0"/>
          </a:p>
        </p:txBody>
      </p:sp>
      <p:cxnSp>
        <p:nvCxnSpPr>
          <p:cNvPr id="25" name="Straight Connector 24">
            <a:extLst>
              <a:ext uri="{FF2B5EF4-FFF2-40B4-BE49-F238E27FC236}">
                <a16:creationId xmlns:a16="http://schemas.microsoft.com/office/drawing/2014/main" id="{252AC05B-B7CF-0B2D-368C-FDE28414D8A1}"/>
              </a:ext>
            </a:extLst>
          </p:cNvPr>
          <p:cNvCxnSpPr>
            <a:cxnSpLocks/>
          </p:cNvCxnSpPr>
          <p:nvPr/>
        </p:nvCxnSpPr>
        <p:spPr>
          <a:xfrm>
            <a:off x="2440086" y="3153944"/>
            <a:ext cx="0" cy="1519656"/>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sp>
        <p:nvSpPr>
          <p:cNvPr id="30" name="Parallelogram 29">
            <a:extLst>
              <a:ext uri="{FF2B5EF4-FFF2-40B4-BE49-F238E27FC236}">
                <a16:creationId xmlns:a16="http://schemas.microsoft.com/office/drawing/2014/main" id="{6ED251AA-E0CF-DC65-DD25-F79A03D01C8E}"/>
              </a:ext>
            </a:extLst>
          </p:cNvPr>
          <p:cNvSpPr/>
          <p:nvPr/>
        </p:nvSpPr>
        <p:spPr>
          <a:xfrm>
            <a:off x="982761" y="3153944"/>
            <a:ext cx="10229850" cy="1276350"/>
          </a:xfrm>
          <a:prstGeom prst="parallelogram">
            <a:avLst>
              <a:gd name="adj" fmla="val 113806"/>
            </a:avLst>
          </a:prstGeom>
          <a:solidFill>
            <a:srgbClr val="FFE4D9"/>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solidFill>
                <a:srgbClr val="FFE4D9"/>
              </a:solidFill>
            </a:endParaRPr>
          </a:p>
        </p:txBody>
      </p:sp>
      <p:sp>
        <p:nvSpPr>
          <p:cNvPr id="31" name="TextBox 30">
            <a:extLst>
              <a:ext uri="{FF2B5EF4-FFF2-40B4-BE49-F238E27FC236}">
                <a16:creationId xmlns:a16="http://schemas.microsoft.com/office/drawing/2014/main" id="{662B462A-68A2-FAF2-BA46-36415063F1F3}"/>
              </a:ext>
            </a:extLst>
          </p:cNvPr>
          <p:cNvSpPr txBox="1"/>
          <p:nvPr/>
        </p:nvSpPr>
        <p:spPr>
          <a:xfrm>
            <a:off x="1218930" y="4122517"/>
            <a:ext cx="1693092"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33" name="Parallelogram 32">
            <a:extLst>
              <a:ext uri="{FF2B5EF4-FFF2-40B4-BE49-F238E27FC236}">
                <a16:creationId xmlns:a16="http://schemas.microsoft.com/office/drawing/2014/main" id="{56508FD1-074A-A43B-072F-F310102A89F8}"/>
              </a:ext>
            </a:extLst>
          </p:cNvPr>
          <p:cNvSpPr/>
          <p:nvPr/>
        </p:nvSpPr>
        <p:spPr>
          <a:xfrm>
            <a:off x="982761" y="4673600"/>
            <a:ext cx="10229850" cy="1276350"/>
          </a:xfrm>
          <a:prstGeom prst="parallelogram">
            <a:avLst>
              <a:gd name="adj" fmla="val 113806"/>
            </a:avLst>
          </a:prstGeom>
          <a:solidFill>
            <a:schemeClr val="accent4">
              <a:lumMod val="20000"/>
              <a:lumOff val="8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4" name="TextBox 33">
            <a:extLst>
              <a:ext uri="{FF2B5EF4-FFF2-40B4-BE49-F238E27FC236}">
                <a16:creationId xmlns:a16="http://schemas.microsoft.com/office/drawing/2014/main" id="{62DB01DA-B538-EAB3-E8FC-8527F2F7B789}"/>
              </a:ext>
            </a:extLst>
          </p:cNvPr>
          <p:cNvSpPr txBox="1"/>
          <p:nvPr/>
        </p:nvSpPr>
        <p:spPr>
          <a:xfrm>
            <a:off x="1258204" y="5642173"/>
            <a:ext cx="1529586"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4"/>
                </a:solidFill>
              </a:rPr>
              <a:t>Dataset Columns</a:t>
            </a:r>
            <a:endParaRPr lang="en-NL" sz="1400" dirty="0">
              <a:solidFill>
                <a:schemeClr val="accent4"/>
              </a:solidFill>
            </a:endParaRPr>
          </a:p>
        </p:txBody>
      </p:sp>
      <p:cxnSp>
        <p:nvCxnSpPr>
          <p:cNvPr id="36" name="Straight Connector 35">
            <a:extLst>
              <a:ext uri="{FF2B5EF4-FFF2-40B4-BE49-F238E27FC236}">
                <a16:creationId xmlns:a16="http://schemas.microsoft.com/office/drawing/2014/main" id="{7E5CC826-EBE4-B2AD-99F6-0D8651B9E8D2}"/>
              </a:ext>
            </a:extLst>
          </p:cNvPr>
          <p:cNvCxnSpPr>
            <a:cxnSpLocks/>
          </p:cNvCxnSpPr>
          <p:nvPr/>
        </p:nvCxnSpPr>
        <p:spPr>
          <a:xfrm>
            <a:off x="983453" y="4430294"/>
            <a:ext cx="0" cy="151965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F96A3401-15C8-7ECF-ADBE-58E1F399B525}"/>
              </a:ext>
            </a:extLst>
          </p:cNvPr>
          <p:cNvCxnSpPr>
            <a:cxnSpLocks/>
          </p:cNvCxnSpPr>
          <p:nvPr/>
        </p:nvCxnSpPr>
        <p:spPr>
          <a:xfrm>
            <a:off x="11204086" y="3153944"/>
            <a:ext cx="0" cy="151965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D7F7729D-F9B8-54B3-2B72-3F247F1D8774}"/>
              </a:ext>
            </a:extLst>
          </p:cNvPr>
          <p:cNvCxnSpPr>
            <a:cxnSpLocks/>
          </p:cNvCxnSpPr>
          <p:nvPr/>
        </p:nvCxnSpPr>
        <p:spPr>
          <a:xfrm>
            <a:off x="9762478" y="4430294"/>
            <a:ext cx="0" cy="151965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35" name="Oval 34">
            <a:extLst>
              <a:ext uri="{FF2B5EF4-FFF2-40B4-BE49-F238E27FC236}">
                <a16:creationId xmlns:a16="http://schemas.microsoft.com/office/drawing/2014/main" id="{06826D63-7F9A-25CA-48C1-0A052F2F4165}"/>
              </a:ext>
            </a:extLst>
          </p:cNvPr>
          <p:cNvSpPr/>
          <p:nvPr/>
        </p:nvSpPr>
        <p:spPr>
          <a:xfrm>
            <a:off x="5127292" y="4889595"/>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D2</a:t>
            </a:r>
            <a:endParaRPr lang="en-NL" dirty="0"/>
          </a:p>
        </p:txBody>
      </p:sp>
      <p:sp>
        <p:nvSpPr>
          <p:cNvPr id="41" name="Oval 40">
            <a:extLst>
              <a:ext uri="{FF2B5EF4-FFF2-40B4-BE49-F238E27FC236}">
                <a16:creationId xmlns:a16="http://schemas.microsoft.com/office/drawing/2014/main" id="{24F38ABA-1593-7415-812F-3948E925E31E}"/>
              </a:ext>
            </a:extLst>
          </p:cNvPr>
          <p:cNvSpPr/>
          <p:nvPr/>
        </p:nvSpPr>
        <p:spPr>
          <a:xfrm>
            <a:off x="7337456" y="4809595"/>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D4</a:t>
            </a:r>
            <a:endParaRPr lang="en-NL" dirty="0"/>
          </a:p>
        </p:txBody>
      </p:sp>
      <p:sp>
        <p:nvSpPr>
          <p:cNvPr id="52" name="Oval 51">
            <a:extLst>
              <a:ext uri="{FF2B5EF4-FFF2-40B4-BE49-F238E27FC236}">
                <a16:creationId xmlns:a16="http://schemas.microsoft.com/office/drawing/2014/main" id="{B2E6ED86-A8E2-94C4-29DC-30ABE8A3584C}"/>
              </a:ext>
            </a:extLst>
          </p:cNvPr>
          <p:cNvSpPr/>
          <p:nvPr/>
        </p:nvSpPr>
        <p:spPr>
          <a:xfrm>
            <a:off x="6232374" y="5404380"/>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D3</a:t>
            </a:r>
            <a:endParaRPr lang="en-NL" dirty="0"/>
          </a:p>
        </p:txBody>
      </p:sp>
      <p:sp>
        <p:nvSpPr>
          <p:cNvPr id="18" name="Oval 17">
            <a:extLst>
              <a:ext uri="{FF2B5EF4-FFF2-40B4-BE49-F238E27FC236}">
                <a16:creationId xmlns:a16="http://schemas.microsoft.com/office/drawing/2014/main" id="{EDBD0B5C-D491-48E1-65D2-F7C7B8344433}"/>
              </a:ext>
            </a:extLst>
          </p:cNvPr>
          <p:cNvSpPr/>
          <p:nvPr/>
        </p:nvSpPr>
        <p:spPr>
          <a:xfrm>
            <a:off x="8442537" y="5404380"/>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D5</a:t>
            </a:r>
            <a:endParaRPr lang="en-NL" dirty="0"/>
          </a:p>
        </p:txBody>
      </p:sp>
      <p:sp>
        <p:nvSpPr>
          <p:cNvPr id="58" name="Oval 57">
            <a:extLst>
              <a:ext uri="{FF2B5EF4-FFF2-40B4-BE49-F238E27FC236}">
                <a16:creationId xmlns:a16="http://schemas.microsoft.com/office/drawing/2014/main" id="{46E75C05-387C-28D8-0F92-CC60FEF2A491}"/>
              </a:ext>
            </a:extLst>
          </p:cNvPr>
          <p:cNvSpPr/>
          <p:nvPr/>
        </p:nvSpPr>
        <p:spPr>
          <a:xfrm>
            <a:off x="5128780" y="3321583"/>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C2</a:t>
            </a:r>
            <a:endParaRPr lang="en-NL" dirty="0"/>
          </a:p>
        </p:txBody>
      </p:sp>
      <p:sp>
        <p:nvSpPr>
          <p:cNvPr id="13" name="Oval 12">
            <a:extLst>
              <a:ext uri="{FF2B5EF4-FFF2-40B4-BE49-F238E27FC236}">
                <a16:creationId xmlns:a16="http://schemas.microsoft.com/office/drawing/2014/main" id="{7CB5F6A2-D6FA-11DC-DE14-BB71D537C6BF}"/>
              </a:ext>
            </a:extLst>
          </p:cNvPr>
          <p:cNvSpPr/>
          <p:nvPr/>
        </p:nvSpPr>
        <p:spPr>
          <a:xfrm>
            <a:off x="7337952" y="3321583"/>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C4</a:t>
            </a:r>
            <a:endParaRPr lang="en-NL" dirty="0"/>
          </a:p>
        </p:txBody>
      </p:sp>
      <p:sp>
        <p:nvSpPr>
          <p:cNvPr id="16" name="Oval 15">
            <a:extLst>
              <a:ext uri="{FF2B5EF4-FFF2-40B4-BE49-F238E27FC236}">
                <a16:creationId xmlns:a16="http://schemas.microsoft.com/office/drawing/2014/main" id="{A3B1982D-2D12-1D1A-6064-F6AD080D0713}"/>
              </a:ext>
            </a:extLst>
          </p:cNvPr>
          <p:cNvSpPr/>
          <p:nvPr/>
        </p:nvSpPr>
        <p:spPr>
          <a:xfrm>
            <a:off x="9547126" y="3321583"/>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C6</a:t>
            </a:r>
            <a:endParaRPr lang="en-NL" dirty="0"/>
          </a:p>
        </p:txBody>
      </p:sp>
      <p:sp>
        <p:nvSpPr>
          <p:cNvPr id="21" name="Oval 20">
            <a:extLst>
              <a:ext uri="{FF2B5EF4-FFF2-40B4-BE49-F238E27FC236}">
                <a16:creationId xmlns:a16="http://schemas.microsoft.com/office/drawing/2014/main" id="{21BF444B-73FA-4791-61DC-1DD3564E55A0}"/>
              </a:ext>
            </a:extLst>
          </p:cNvPr>
          <p:cNvSpPr/>
          <p:nvPr/>
        </p:nvSpPr>
        <p:spPr>
          <a:xfrm>
            <a:off x="4024194" y="3853081"/>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C1</a:t>
            </a:r>
            <a:endParaRPr lang="en-NL" dirty="0"/>
          </a:p>
        </p:txBody>
      </p:sp>
      <p:sp>
        <p:nvSpPr>
          <p:cNvPr id="22" name="Oval 21">
            <a:extLst>
              <a:ext uri="{FF2B5EF4-FFF2-40B4-BE49-F238E27FC236}">
                <a16:creationId xmlns:a16="http://schemas.microsoft.com/office/drawing/2014/main" id="{3C6FECEC-24B6-89C3-DBF2-47ADBE556741}"/>
              </a:ext>
            </a:extLst>
          </p:cNvPr>
          <p:cNvSpPr/>
          <p:nvPr/>
        </p:nvSpPr>
        <p:spPr>
          <a:xfrm>
            <a:off x="6233366" y="3853081"/>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C3</a:t>
            </a:r>
            <a:endParaRPr lang="en-NL" dirty="0"/>
          </a:p>
        </p:txBody>
      </p:sp>
      <p:sp>
        <p:nvSpPr>
          <p:cNvPr id="24" name="Oval 23">
            <a:extLst>
              <a:ext uri="{FF2B5EF4-FFF2-40B4-BE49-F238E27FC236}">
                <a16:creationId xmlns:a16="http://schemas.microsoft.com/office/drawing/2014/main" id="{37D832C8-5110-5E98-6E33-BEBCEC448DE8}"/>
              </a:ext>
            </a:extLst>
          </p:cNvPr>
          <p:cNvSpPr/>
          <p:nvPr/>
        </p:nvSpPr>
        <p:spPr>
          <a:xfrm>
            <a:off x="8442538" y="3853081"/>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C5</a:t>
            </a:r>
            <a:endParaRPr lang="en-NL" dirty="0"/>
          </a:p>
        </p:txBody>
      </p:sp>
      <p:cxnSp>
        <p:nvCxnSpPr>
          <p:cNvPr id="29" name="Straight Arrow Connector 28">
            <a:extLst>
              <a:ext uri="{FF2B5EF4-FFF2-40B4-BE49-F238E27FC236}">
                <a16:creationId xmlns:a16="http://schemas.microsoft.com/office/drawing/2014/main" id="{8898A3A9-B1ED-F261-21CE-ECF5AD7B795D}"/>
              </a:ext>
            </a:extLst>
          </p:cNvPr>
          <p:cNvCxnSpPr>
            <a:cxnSpLocks/>
            <a:stCxn id="35" idx="0"/>
            <a:endCxn id="58" idx="4"/>
          </p:cNvCxnSpPr>
          <p:nvPr/>
        </p:nvCxnSpPr>
        <p:spPr>
          <a:xfrm flipV="1">
            <a:off x="5332080" y="3731158"/>
            <a:ext cx="1488" cy="1158437"/>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EADAC640-ED02-1952-0E85-F89490D60D0F}"/>
              </a:ext>
            </a:extLst>
          </p:cNvPr>
          <p:cNvCxnSpPr>
            <a:cxnSpLocks/>
            <a:stCxn id="52" idx="0"/>
            <a:endCxn id="58" idx="5"/>
          </p:cNvCxnSpPr>
          <p:nvPr/>
        </p:nvCxnSpPr>
        <p:spPr>
          <a:xfrm flipH="1" flipV="1">
            <a:off x="5478374" y="3671177"/>
            <a:ext cx="958788" cy="1733203"/>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0B13A111-96D7-4207-F27E-A72BC2F17F90}"/>
              </a:ext>
            </a:extLst>
          </p:cNvPr>
          <p:cNvCxnSpPr>
            <a:cxnSpLocks/>
            <a:stCxn id="41" idx="0"/>
            <a:endCxn id="13" idx="4"/>
          </p:cNvCxnSpPr>
          <p:nvPr/>
        </p:nvCxnSpPr>
        <p:spPr>
          <a:xfrm flipV="1">
            <a:off x="7542244" y="3731158"/>
            <a:ext cx="496" cy="1078437"/>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80D5F7FA-6B30-9E13-D15E-5A8A9DC7EA8C}"/>
              </a:ext>
            </a:extLst>
          </p:cNvPr>
          <p:cNvCxnSpPr>
            <a:cxnSpLocks/>
            <a:stCxn id="18" idx="0"/>
            <a:endCxn id="24" idx="4"/>
          </p:cNvCxnSpPr>
          <p:nvPr/>
        </p:nvCxnSpPr>
        <p:spPr>
          <a:xfrm flipV="1">
            <a:off x="8647325" y="4262656"/>
            <a:ext cx="1" cy="1141724"/>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id="{0DE6BA3E-B5A1-11A5-61FF-B35602943B3B}"/>
              </a:ext>
            </a:extLst>
          </p:cNvPr>
          <p:cNvSpPr txBox="1"/>
          <p:nvPr/>
        </p:nvSpPr>
        <p:spPr>
          <a:xfrm>
            <a:off x="1138136" y="1750979"/>
            <a:ext cx="5558701" cy="646331"/>
          </a:xfrm>
          <a:prstGeom prst="rect">
            <a:avLst/>
          </a:prstGeom>
          <a:noFill/>
        </p:spPr>
        <p:txBody>
          <a:bodyPr wrap="none" rtlCol="0">
            <a:spAutoFit/>
          </a:bodyPr>
          <a:lstStyle/>
          <a:p>
            <a:r>
              <a:rPr lang="en-US" dirty="0"/>
              <a:t>Can D1 and D2 interoperate? How can we check that? </a:t>
            </a:r>
          </a:p>
          <a:p>
            <a:r>
              <a:rPr lang="en-US" dirty="0"/>
              <a:t>We can rely on existing mappings and infer relations</a:t>
            </a:r>
            <a:endParaRPr lang="en-NL" dirty="0"/>
          </a:p>
        </p:txBody>
      </p:sp>
      <p:sp>
        <p:nvSpPr>
          <p:cNvPr id="62" name="Oval 61">
            <a:extLst>
              <a:ext uri="{FF2B5EF4-FFF2-40B4-BE49-F238E27FC236}">
                <a16:creationId xmlns:a16="http://schemas.microsoft.com/office/drawing/2014/main" id="{DAB40291-6946-2C6D-EF5D-28AB72913F75}"/>
              </a:ext>
            </a:extLst>
          </p:cNvPr>
          <p:cNvSpPr/>
          <p:nvPr/>
        </p:nvSpPr>
        <p:spPr>
          <a:xfrm>
            <a:off x="4024194" y="5404379"/>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D1</a:t>
            </a:r>
            <a:endParaRPr lang="en-NL" dirty="0"/>
          </a:p>
        </p:txBody>
      </p:sp>
      <p:cxnSp>
        <p:nvCxnSpPr>
          <p:cNvPr id="63" name="Straight Arrow Connector 62">
            <a:extLst>
              <a:ext uri="{FF2B5EF4-FFF2-40B4-BE49-F238E27FC236}">
                <a16:creationId xmlns:a16="http://schemas.microsoft.com/office/drawing/2014/main" id="{B9FE4858-089A-A6A2-5393-50351DE4ABE9}"/>
              </a:ext>
            </a:extLst>
          </p:cNvPr>
          <p:cNvCxnSpPr>
            <a:cxnSpLocks/>
            <a:stCxn id="62" idx="0"/>
            <a:endCxn id="21" idx="4"/>
          </p:cNvCxnSpPr>
          <p:nvPr/>
        </p:nvCxnSpPr>
        <p:spPr>
          <a:xfrm flipV="1">
            <a:off x="4228982" y="4262656"/>
            <a:ext cx="0" cy="1141723"/>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3332775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BD8EFB-CED5-8E12-F063-ABCB54E885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E5F39A-45F7-E726-423F-0B728FA50122}"/>
              </a:ext>
            </a:extLst>
          </p:cNvPr>
          <p:cNvSpPr>
            <a:spLocks noGrp="1"/>
          </p:cNvSpPr>
          <p:nvPr>
            <p:ph type="title"/>
          </p:nvPr>
        </p:nvSpPr>
        <p:spPr/>
        <p:txBody>
          <a:bodyPr/>
          <a:lstStyle/>
          <a:p>
            <a:r>
              <a:rPr lang="en-US" dirty="0"/>
              <a:t>Context: Without HRI-SSI</a:t>
            </a:r>
            <a:endParaRPr lang="en-NL" dirty="0"/>
          </a:p>
        </p:txBody>
      </p:sp>
      <p:sp>
        <p:nvSpPr>
          <p:cNvPr id="4" name="Slide Number Placeholder 3">
            <a:extLst>
              <a:ext uri="{FF2B5EF4-FFF2-40B4-BE49-F238E27FC236}">
                <a16:creationId xmlns:a16="http://schemas.microsoft.com/office/drawing/2014/main" id="{5CC63860-7EDA-8A43-1D18-5D1EA0E0D8D7}"/>
              </a:ext>
            </a:extLst>
          </p:cNvPr>
          <p:cNvSpPr>
            <a:spLocks noGrp="1"/>
          </p:cNvSpPr>
          <p:nvPr>
            <p:ph type="sldNum" sz="quarter" idx="12"/>
          </p:nvPr>
        </p:nvSpPr>
        <p:spPr/>
        <p:txBody>
          <a:bodyPr/>
          <a:lstStyle/>
          <a:p>
            <a:fld id="{4FAB73BC-B049-4115-A692-8D63A059BFB8}" type="slidenum">
              <a:rPr lang="en-US" smtClean="0"/>
              <a:pPr/>
              <a:t>46</a:t>
            </a:fld>
            <a:endParaRPr lang="en-US" dirty="0"/>
          </a:p>
        </p:txBody>
      </p:sp>
      <p:cxnSp>
        <p:nvCxnSpPr>
          <p:cNvPr id="25" name="Straight Connector 24">
            <a:extLst>
              <a:ext uri="{FF2B5EF4-FFF2-40B4-BE49-F238E27FC236}">
                <a16:creationId xmlns:a16="http://schemas.microsoft.com/office/drawing/2014/main" id="{F1B1B61F-1488-27FE-17A4-8388108E1594}"/>
              </a:ext>
            </a:extLst>
          </p:cNvPr>
          <p:cNvCxnSpPr>
            <a:cxnSpLocks/>
          </p:cNvCxnSpPr>
          <p:nvPr/>
        </p:nvCxnSpPr>
        <p:spPr>
          <a:xfrm>
            <a:off x="2440086" y="3153944"/>
            <a:ext cx="0" cy="1519656"/>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sp>
        <p:nvSpPr>
          <p:cNvPr id="30" name="Parallelogram 29">
            <a:extLst>
              <a:ext uri="{FF2B5EF4-FFF2-40B4-BE49-F238E27FC236}">
                <a16:creationId xmlns:a16="http://schemas.microsoft.com/office/drawing/2014/main" id="{3F7EDC4A-CA44-1E88-D416-A93AB6591626}"/>
              </a:ext>
            </a:extLst>
          </p:cNvPr>
          <p:cNvSpPr/>
          <p:nvPr/>
        </p:nvSpPr>
        <p:spPr>
          <a:xfrm>
            <a:off x="982761" y="3153944"/>
            <a:ext cx="10229850" cy="1276350"/>
          </a:xfrm>
          <a:prstGeom prst="parallelogram">
            <a:avLst>
              <a:gd name="adj" fmla="val 113806"/>
            </a:avLst>
          </a:prstGeom>
          <a:solidFill>
            <a:srgbClr val="FFE4D9"/>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solidFill>
                <a:srgbClr val="FFE4D9"/>
              </a:solidFill>
            </a:endParaRPr>
          </a:p>
        </p:txBody>
      </p:sp>
      <p:sp>
        <p:nvSpPr>
          <p:cNvPr id="31" name="TextBox 30">
            <a:extLst>
              <a:ext uri="{FF2B5EF4-FFF2-40B4-BE49-F238E27FC236}">
                <a16:creationId xmlns:a16="http://schemas.microsoft.com/office/drawing/2014/main" id="{FCFF5699-B1CC-9E50-914F-FEBF85AB33A9}"/>
              </a:ext>
            </a:extLst>
          </p:cNvPr>
          <p:cNvSpPr txBox="1"/>
          <p:nvPr/>
        </p:nvSpPr>
        <p:spPr>
          <a:xfrm>
            <a:off x="1218930" y="4122517"/>
            <a:ext cx="1693092"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33" name="Parallelogram 32">
            <a:extLst>
              <a:ext uri="{FF2B5EF4-FFF2-40B4-BE49-F238E27FC236}">
                <a16:creationId xmlns:a16="http://schemas.microsoft.com/office/drawing/2014/main" id="{F8C4E844-1710-2C99-3614-D4BC272F97E3}"/>
              </a:ext>
            </a:extLst>
          </p:cNvPr>
          <p:cNvSpPr/>
          <p:nvPr/>
        </p:nvSpPr>
        <p:spPr>
          <a:xfrm>
            <a:off x="982761" y="4673600"/>
            <a:ext cx="10229850" cy="1276350"/>
          </a:xfrm>
          <a:prstGeom prst="parallelogram">
            <a:avLst>
              <a:gd name="adj" fmla="val 113806"/>
            </a:avLst>
          </a:prstGeom>
          <a:solidFill>
            <a:schemeClr val="accent4">
              <a:lumMod val="20000"/>
              <a:lumOff val="8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4" name="TextBox 33">
            <a:extLst>
              <a:ext uri="{FF2B5EF4-FFF2-40B4-BE49-F238E27FC236}">
                <a16:creationId xmlns:a16="http://schemas.microsoft.com/office/drawing/2014/main" id="{B14CDC27-63D4-5E98-773A-9FA72BA51CCA}"/>
              </a:ext>
            </a:extLst>
          </p:cNvPr>
          <p:cNvSpPr txBox="1"/>
          <p:nvPr/>
        </p:nvSpPr>
        <p:spPr>
          <a:xfrm>
            <a:off x="1258204" y="5642173"/>
            <a:ext cx="1529586"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4"/>
                </a:solidFill>
              </a:rPr>
              <a:t>Dataset Columns</a:t>
            </a:r>
            <a:endParaRPr lang="en-NL" sz="1400" dirty="0">
              <a:solidFill>
                <a:schemeClr val="accent4"/>
              </a:solidFill>
            </a:endParaRPr>
          </a:p>
        </p:txBody>
      </p:sp>
      <p:cxnSp>
        <p:nvCxnSpPr>
          <p:cNvPr id="36" name="Straight Connector 35">
            <a:extLst>
              <a:ext uri="{FF2B5EF4-FFF2-40B4-BE49-F238E27FC236}">
                <a16:creationId xmlns:a16="http://schemas.microsoft.com/office/drawing/2014/main" id="{24436688-0A35-2DEE-394A-D7B48A5F6627}"/>
              </a:ext>
            </a:extLst>
          </p:cNvPr>
          <p:cNvCxnSpPr>
            <a:cxnSpLocks/>
          </p:cNvCxnSpPr>
          <p:nvPr/>
        </p:nvCxnSpPr>
        <p:spPr>
          <a:xfrm>
            <a:off x="983453" y="4430294"/>
            <a:ext cx="0" cy="151965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F0DD05D3-3464-399F-7FC6-B1DCB9C37AA1}"/>
              </a:ext>
            </a:extLst>
          </p:cNvPr>
          <p:cNvCxnSpPr>
            <a:cxnSpLocks/>
          </p:cNvCxnSpPr>
          <p:nvPr/>
        </p:nvCxnSpPr>
        <p:spPr>
          <a:xfrm>
            <a:off x="11204086" y="3153944"/>
            <a:ext cx="0" cy="151965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3A7D9E00-071F-20E6-CD0E-A87309E09A88}"/>
              </a:ext>
            </a:extLst>
          </p:cNvPr>
          <p:cNvCxnSpPr>
            <a:cxnSpLocks/>
          </p:cNvCxnSpPr>
          <p:nvPr/>
        </p:nvCxnSpPr>
        <p:spPr>
          <a:xfrm>
            <a:off x="9762478" y="4430294"/>
            <a:ext cx="0" cy="151965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35" name="Oval 34">
            <a:extLst>
              <a:ext uri="{FF2B5EF4-FFF2-40B4-BE49-F238E27FC236}">
                <a16:creationId xmlns:a16="http://schemas.microsoft.com/office/drawing/2014/main" id="{B6F2DFD0-44CA-2CB3-D2B5-D21FC275281F}"/>
              </a:ext>
            </a:extLst>
          </p:cNvPr>
          <p:cNvSpPr/>
          <p:nvPr/>
        </p:nvSpPr>
        <p:spPr>
          <a:xfrm>
            <a:off x="5127292" y="4889595"/>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D2</a:t>
            </a:r>
            <a:endParaRPr lang="en-NL" dirty="0"/>
          </a:p>
        </p:txBody>
      </p:sp>
      <p:sp>
        <p:nvSpPr>
          <p:cNvPr id="41" name="Oval 40">
            <a:extLst>
              <a:ext uri="{FF2B5EF4-FFF2-40B4-BE49-F238E27FC236}">
                <a16:creationId xmlns:a16="http://schemas.microsoft.com/office/drawing/2014/main" id="{50E23933-1802-0092-1BF8-D3BE6F84B7B2}"/>
              </a:ext>
            </a:extLst>
          </p:cNvPr>
          <p:cNvSpPr/>
          <p:nvPr/>
        </p:nvSpPr>
        <p:spPr>
          <a:xfrm>
            <a:off x="7337456" y="4809595"/>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D4</a:t>
            </a:r>
            <a:endParaRPr lang="en-NL" dirty="0"/>
          </a:p>
        </p:txBody>
      </p:sp>
      <p:sp>
        <p:nvSpPr>
          <p:cNvPr id="52" name="Oval 51">
            <a:extLst>
              <a:ext uri="{FF2B5EF4-FFF2-40B4-BE49-F238E27FC236}">
                <a16:creationId xmlns:a16="http://schemas.microsoft.com/office/drawing/2014/main" id="{088AA0F2-6010-EA63-77AB-331470BDC6D4}"/>
              </a:ext>
            </a:extLst>
          </p:cNvPr>
          <p:cNvSpPr/>
          <p:nvPr/>
        </p:nvSpPr>
        <p:spPr>
          <a:xfrm>
            <a:off x="6232374" y="5404380"/>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D3</a:t>
            </a:r>
            <a:endParaRPr lang="en-NL" dirty="0"/>
          </a:p>
        </p:txBody>
      </p:sp>
      <p:sp>
        <p:nvSpPr>
          <p:cNvPr id="18" name="Oval 17">
            <a:extLst>
              <a:ext uri="{FF2B5EF4-FFF2-40B4-BE49-F238E27FC236}">
                <a16:creationId xmlns:a16="http://schemas.microsoft.com/office/drawing/2014/main" id="{30BA3834-E7D6-E0D5-42BD-45B4BC503D8C}"/>
              </a:ext>
            </a:extLst>
          </p:cNvPr>
          <p:cNvSpPr/>
          <p:nvPr/>
        </p:nvSpPr>
        <p:spPr>
          <a:xfrm>
            <a:off x="8442537" y="5404380"/>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D5</a:t>
            </a:r>
            <a:endParaRPr lang="en-NL" dirty="0"/>
          </a:p>
        </p:txBody>
      </p:sp>
      <p:sp>
        <p:nvSpPr>
          <p:cNvPr id="58" name="Oval 57">
            <a:extLst>
              <a:ext uri="{FF2B5EF4-FFF2-40B4-BE49-F238E27FC236}">
                <a16:creationId xmlns:a16="http://schemas.microsoft.com/office/drawing/2014/main" id="{38F858FB-1E5D-EE12-3960-F03E90590259}"/>
              </a:ext>
            </a:extLst>
          </p:cNvPr>
          <p:cNvSpPr/>
          <p:nvPr/>
        </p:nvSpPr>
        <p:spPr>
          <a:xfrm>
            <a:off x="5128780" y="3321583"/>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C2</a:t>
            </a:r>
            <a:endParaRPr lang="en-NL" dirty="0"/>
          </a:p>
        </p:txBody>
      </p:sp>
      <p:sp>
        <p:nvSpPr>
          <p:cNvPr id="13" name="Oval 12">
            <a:extLst>
              <a:ext uri="{FF2B5EF4-FFF2-40B4-BE49-F238E27FC236}">
                <a16:creationId xmlns:a16="http://schemas.microsoft.com/office/drawing/2014/main" id="{6EFC4D33-CB60-DF73-7E77-90018F671C02}"/>
              </a:ext>
            </a:extLst>
          </p:cNvPr>
          <p:cNvSpPr/>
          <p:nvPr/>
        </p:nvSpPr>
        <p:spPr>
          <a:xfrm>
            <a:off x="7337952" y="3321583"/>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C4</a:t>
            </a:r>
            <a:endParaRPr lang="en-NL" dirty="0"/>
          </a:p>
        </p:txBody>
      </p:sp>
      <p:sp>
        <p:nvSpPr>
          <p:cNvPr id="16" name="Oval 15">
            <a:extLst>
              <a:ext uri="{FF2B5EF4-FFF2-40B4-BE49-F238E27FC236}">
                <a16:creationId xmlns:a16="http://schemas.microsoft.com/office/drawing/2014/main" id="{3136F82E-6B3D-3F42-224B-5B08E7675E67}"/>
              </a:ext>
            </a:extLst>
          </p:cNvPr>
          <p:cNvSpPr/>
          <p:nvPr/>
        </p:nvSpPr>
        <p:spPr>
          <a:xfrm>
            <a:off x="9547126" y="3321583"/>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C6</a:t>
            </a:r>
            <a:endParaRPr lang="en-NL" dirty="0"/>
          </a:p>
        </p:txBody>
      </p:sp>
      <p:sp>
        <p:nvSpPr>
          <p:cNvPr id="21" name="Oval 20">
            <a:extLst>
              <a:ext uri="{FF2B5EF4-FFF2-40B4-BE49-F238E27FC236}">
                <a16:creationId xmlns:a16="http://schemas.microsoft.com/office/drawing/2014/main" id="{487BBFA4-48B4-ACD0-B6C7-D8EEE54471DE}"/>
              </a:ext>
            </a:extLst>
          </p:cNvPr>
          <p:cNvSpPr/>
          <p:nvPr/>
        </p:nvSpPr>
        <p:spPr>
          <a:xfrm>
            <a:off x="4024194" y="3853081"/>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C1</a:t>
            </a:r>
            <a:endParaRPr lang="en-NL" dirty="0"/>
          </a:p>
        </p:txBody>
      </p:sp>
      <p:sp>
        <p:nvSpPr>
          <p:cNvPr id="22" name="Oval 21">
            <a:extLst>
              <a:ext uri="{FF2B5EF4-FFF2-40B4-BE49-F238E27FC236}">
                <a16:creationId xmlns:a16="http://schemas.microsoft.com/office/drawing/2014/main" id="{2D0BDFD9-3912-4126-4545-2C619C1BEAED}"/>
              </a:ext>
            </a:extLst>
          </p:cNvPr>
          <p:cNvSpPr/>
          <p:nvPr/>
        </p:nvSpPr>
        <p:spPr>
          <a:xfrm>
            <a:off x="6233366" y="3853081"/>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C3</a:t>
            </a:r>
            <a:endParaRPr lang="en-NL" dirty="0"/>
          </a:p>
        </p:txBody>
      </p:sp>
      <p:sp>
        <p:nvSpPr>
          <p:cNvPr id="24" name="Oval 23">
            <a:extLst>
              <a:ext uri="{FF2B5EF4-FFF2-40B4-BE49-F238E27FC236}">
                <a16:creationId xmlns:a16="http://schemas.microsoft.com/office/drawing/2014/main" id="{3ED2097A-CBE1-3A12-EAD1-ADA783D45F48}"/>
              </a:ext>
            </a:extLst>
          </p:cNvPr>
          <p:cNvSpPr/>
          <p:nvPr/>
        </p:nvSpPr>
        <p:spPr>
          <a:xfrm>
            <a:off x="8442538" y="3853081"/>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C5</a:t>
            </a:r>
            <a:endParaRPr lang="en-NL" dirty="0"/>
          </a:p>
        </p:txBody>
      </p:sp>
      <p:cxnSp>
        <p:nvCxnSpPr>
          <p:cNvPr id="29" name="Straight Arrow Connector 28">
            <a:extLst>
              <a:ext uri="{FF2B5EF4-FFF2-40B4-BE49-F238E27FC236}">
                <a16:creationId xmlns:a16="http://schemas.microsoft.com/office/drawing/2014/main" id="{6490D7F8-A40C-E619-ABB3-5EAAD7C66462}"/>
              </a:ext>
            </a:extLst>
          </p:cNvPr>
          <p:cNvCxnSpPr>
            <a:cxnSpLocks/>
            <a:stCxn id="35" idx="0"/>
            <a:endCxn id="58" idx="4"/>
          </p:cNvCxnSpPr>
          <p:nvPr/>
        </p:nvCxnSpPr>
        <p:spPr>
          <a:xfrm flipV="1">
            <a:off x="5332080" y="3731158"/>
            <a:ext cx="1488" cy="1158437"/>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DEA48C27-9837-D7E9-166E-476819A8BF08}"/>
              </a:ext>
            </a:extLst>
          </p:cNvPr>
          <p:cNvCxnSpPr>
            <a:cxnSpLocks/>
            <a:stCxn id="52" idx="0"/>
            <a:endCxn id="58" idx="5"/>
          </p:cNvCxnSpPr>
          <p:nvPr/>
        </p:nvCxnSpPr>
        <p:spPr>
          <a:xfrm flipH="1" flipV="1">
            <a:off x="5478374" y="3671177"/>
            <a:ext cx="958788" cy="1733203"/>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B8BB4B16-2598-7F92-0DFD-9B4183AFE1A5}"/>
              </a:ext>
            </a:extLst>
          </p:cNvPr>
          <p:cNvCxnSpPr>
            <a:cxnSpLocks/>
            <a:stCxn id="41" idx="0"/>
            <a:endCxn id="13" idx="4"/>
          </p:cNvCxnSpPr>
          <p:nvPr/>
        </p:nvCxnSpPr>
        <p:spPr>
          <a:xfrm flipV="1">
            <a:off x="7542244" y="3731158"/>
            <a:ext cx="496" cy="1078437"/>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05018E89-48C2-6A21-0AB1-A410045592D7}"/>
              </a:ext>
            </a:extLst>
          </p:cNvPr>
          <p:cNvCxnSpPr>
            <a:cxnSpLocks/>
            <a:stCxn id="18" idx="0"/>
            <a:endCxn id="24" idx="4"/>
          </p:cNvCxnSpPr>
          <p:nvPr/>
        </p:nvCxnSpPr>
        <p:spPr>
          <a:xfrm flipV="1">
            <a:off x="8647325" y="4262656"/>
            <a:ext cx="1" cy="1141724"/>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id="{AF641EB6-0A98-52AF-F267-69743E1B9EA6}"/>
              </a:ext>
            </a:extLst>
          </p:cNvPr>
          <p:cNvSpPr txBox="1"/>
          <p:nvPr/>
        </p:nvSpPr>
        <p:spPr>
          <a:xfrm>
            <a:off x="1138136" y="1750979"/>
            <a:ext cx="5558701" cy="646331"/>
          </a:xfrm>
          <a:prstGeom prst="rect">
            <a:avLst/>
          </a:prstGeom>
          <a:noFill/>
        </p:spPr>
        <p:txBody>
          <a:bodyPr wrap="none" rtlCol="0">
            <a:spAutoFit/>
          </a:bodyPr>
          <a:lstStyle/>
          <a:p>
            <a:r>
              <a:rPr lang="en-US" dirty="0">
                <a:solidFill>
                  <a:srgbClr val="FF0000"/>
                </a:solidFill>
              </a:rPr>
              <a:t>Can D1 and D2 interoperate? How can we check that? </a:t>
            </a:r>
          </a:p>
          <a:p>
            <a:r>
              <a:rPr lang="en-US" dirty="0">
                <a:solidFill>
                  <a:srgbClr val="FF0000"/>
                </a:solidFill>
              </a:rPr>
              <a:t>We can rely on existing mappings and infer relations</a:t>
            </a:r>
            <a:endParaRPr lang="en-NL" dirty="0">
              <a:solidFill>
                <a:srgbClr val="FF0000"/>
              </a:solidFill>
            </a:endParaRPr>
          </a:p>
        </p:txBody>
      </p:sp>
      <p:cxnSp>
        <p:nvCxnSpPr>
          <p:cNvPr id="8" name="Straight Arrow Connector 7">
            <a:extLst>
              <a:ext uri="{FF2B5EF4-FFF2-40B4-BE49-F238E27FC236}">
                <a16:creationId xmlns:a16="http://schemas.microsoft.com/office/drawing/2014/main" id="{DBE427E0-2FA7-E476-3F16-321440D326BE}"/>
              </a:ext>
            </a:extLst>
          </p:cNvPr>
          <p:cNvCxnSpPr>
            <a:cxnSpLocks/>
            <a:stCxn id="13" idx="2"/>
            <a:endCxn id="22" idx="7"/>
          </p:cNvCxnSpPr>
          <p:nvPr/>
        </p:nvCxnSpPr>
        <p:spPr>
          <a:xfrm flipH="1">
            <a:off x="6582960" y="3526371"/>
            <a:ext cx="754992" cy="386691"/>
          </a:xfrm>
          <a:prstGeom prst="straightConnector1">
            <a:avLst/>
          </a:prstGeom>
          <a:ln w="38100">
            <a:solidFill>
              <a:srgbClr val="00B050"/>
            </a:solidFill>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BA35B52E-FDCC-33B2-6C06-E79B1740502A}"/>
              </a:ext>
            </a:extLst>
          </p:cNvPr>
          <p:cNvCxnSpPr>
            <a:cxnSpLocks/>
            <a:stCxn id="22" idx="1"/>
            <a:endCxn id="58" idx="6"/>
          </p:cNvCxnSpPr>
          <p:nvPr/>
        </p:nvCxnSpPr>
        <p:spPr>
          <a:xfrm flipH="1" flipV="1">
            <a:off x="5538355" y="3526371"/>
            <a:ext cx="754992" cy="386691"/>
          </a:xfrm>
          <a:prstGeom prst="straightConnector1">
            <a:avLst/>
          </a:prstGeom>
          <a:ln w="38100">
            <a:solidFill>
              <a:srgbClr val="00B050"/>
            </a:solidFill>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43" name="Connector: Curved 42">
            <a:extLst>
              <a:ext uri="{FF2B5EF4-FFF2-40B4-BE49-F238E27FC236}">
                <a16:creationId xmlns:a16="http://schemas.microsoft.com/office/drawing/2014/main" id="{6E0493F5-AB16-2B77-17C3-DA9315A5F28B}"/>
              </a:ext>
            </a:extLst>
          </p:cNvPr>
          <p:cNvCxnSpPr>
            <a:cxnSpLocks/>
            <a:stCxn id="35" idx="4"/>
            <a:endCxn id="41" idx="4"/>
          </p:cNvCxnSpPr>
          <p:nvPr/>
        </p:nvCxnSpPr>
        <p:spPr>
          <a:xfrm rot="5400000" flipH="1" flipV="1">
            <a:off x="6397162" y="4154088"/>
            <a:ext cx="80000" cy="2210164"/>
          </a:xfrm>
          <a:prstGeom prst="curvedConnector3">
            <a:avLst>
              <a:gd name="adj1" fmla="val -1136920"/>
            </a:avLst>
          </a:prstGeom>
          <a:ln w="38100">
            <a:solidFill>
              <a:srgbClr val="00B050"/>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47" name="Connector: Curved 46">
            <a:extLst>
              <a:ext uri="{FF2B5EF4-FFF2-40B4-BE49-F238E27FC236}">
                <a16:creationId xmlns:a16="http://schemas.microsoft.com/office/drawing/2014/main" id="{4B16DFE3-B54A-F646-3B1E-C834DF86F4D4}"/>
              </a:ext>
            </a:extLst>
          </p:cNvPr>
          <p:cNvCxnSpPr>
            <a:cxnSpLocks/>
            <a:stCxn id="52" idx="6"/>
            <a:endCxn id="41" idx="3"/>
          </p:cNvCxnSpPr>
          <p:nvPr/>
        </p:nvCxnSpPr>
        <p:spPr>
          <a:xfrm flipV="1">
            <a:off x="6641949" y="5159189"/>
            <a:ext cx="755488" cy="449979"/>
          </a:xfrm>
          <a:prstGeom prst="curvedConnector2">
            <a:avLst/>
          </a:prstGeom>
          <a:ln w="38100">
            <a:solidFill>
              <a:srgbClr val="00B050"/>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59" name="Oval 58">
            <a:extLst>
              <a:ext uri="{FF2B5EF4-FFF2-40B4-BE49-F238E27FC236}">
                <a16:creationId xmlns:a16="http://schemas.microsoft.com/office/drawing/2014/main" id="{0316A8CE-ADF6-0471-79F1-04C1D326382B}"/>
              </a:ext>
            </a:extLst>
          </p:cNvPr>
          <p:cNvSpPr/>
          <p:nvPr/>
        </p:nvSpPr>
        <p:spPr>
          <a:xfrm>
            <a:off x="4024194" y="5404379"/>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D1</a:t>
            </a:r>
            <a:endParaRPr lang="en-NL" dirty="0"/>
          </a:p>
        </p:txBody>
      </p:sp>
      <p:cxnSp>
        <p:nvCxnSpPr>
          <p:cNvPr id="60" name="Straight Arrow Connector 59">
            <a:extLst>
              <a:ext uri="{FF2B5EF4-FFF2-40B4-BE49-F238E27FC236}">
                <a16:creationId xmlns:a16="http://schemas.microsoft.com/office/drawing/2014/main" id="{66ABD26D-DA0F-2193-6927-258837916996}"/>
              </a:ext>
            </a:extLst>
          </p:cNvPr>
          <p:cNvCxnSpPr>
            <a:cxnSpLocks/>
            <a:stCxn id="59" idx="0"/>
          </p:cNvCxnSpPr>
          <p:nvPr/>
        </p:nvCxnSpPr>
        <p:spPr>
          <a:xfrm flipV="1">
            <a:off x="4228982" y="4262656"/>
            <a:ext cx="0" cy="1141723"/>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61" name="Connector: Curved 60">
            <a:extLst>
              <a:ext uri="{FF2B5EF4-FFF2-40B4-BE49-F238E27FC236}">
                <a16:creationId xmlns:a16="http://schemas.microsoft.com/office/drawing/2014/main" id="{34C06751-A174-0E78-B504-0AD2DC97A9D6}"/>
              </a:ext>
            </a:extLst>
          </p:cNvPr>
          <p:cNvCxnSpPr>
            <a:cxnSpLocks/>
          </p:cNvCxnSpPr>
          <p:nvPr/>
        </p:nvCxnSpPr>
        <p:spPr>
          <a:xfrm rot="5400000" flipH="1" flipV="1">
            <a:off x="6438153" y="2421785"/>
            <a:ext cx="12700" cy="1919559"/>
          </a:xfrm>
          <a:prstGeom prst="curvedConnector3">
            <a:avLst>
              <a:gd name="adj1" fmla="val 893551"/>
            </a:avLst>
          </a:prstGeom>
          <a:ln w="38100">
            <a:solidFill>
              <a:srgbClr val="00B050"/>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62" name="Rectangle 61">
            <a:extLst>
              <a:ext uri="{FF2B5EF4-FFF2-40B4-BE49-F238E27FC236}">
                <a16:creationId xmlns:a16="http://schemas.microsoft.com/office/drawing/2014/main" id="{293F812D-983A-FF08-6204-40213F3617AE}"/>
              </a:ext>
            </a:extLst>
          </p:cNvPr>
          <p:cNvSpPr/>
          <p:nvPr/>
        </p:nvSpPr>
        <p:spPr>
          <a:xfrm>
            <a:off x="7616757" y="1225685"/>
            <a:ext cx="3879918" cy="1684953"/>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t>From C2: aligns C3 (asserted) and aligns C4 (inferred)</a:t>
            </a:r>
          </a:p>
        </p:txBody>
      </p:sp>
    </p:spTree>
    <p:extLst>
      <p:ext uri="{BB962C8B-B14F-4D97-AF65-F5344CB8AC3E}">
        <p14:creationId xmlns:p14="http://schemas.microsoft.com/office/powerpoint/2010/main" val="238193837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498080-2366-AFF3-13C6-6F694E1F8658}"/>
            </a:ext>
          </a:extLst>
        </p:cNvPr>
        <p:cNvGrpSpPr/>
        <p:nvPr/>
      </p:nvGrpSpPr>
      <p:grpSpPr>
        <a:xfrm>
          <a:off x="0" y="0"/>
          <a:ext cx="0" cy="0"/>
          <a:chOff x="0" y="0"/>
          <a:chExt cx="0" cy="0"/>
        </a:xfrm>
      </p:grpSpPr>
      <p:sp>
        <p:nvSpPr>
          <p:cNvPr id="30" name="Rectangle 29">
            <a:extLst>
              <a:ext uri="{FF2B5EF4-FFF2-40B4-BE49-F238E27FC236}">
                <a16:creationId xmlns:a16="http://schemas.microsoft.com/office/drawing/2014/main" id="{C7F94462-0D35-8502-A84B-DA7B2762F696}"/>
              </a:ext>
            </a:extLst>
          </p:cNvPr>
          <p:cNvSpPr/>
          <p:nvPr/>
        </p:nvSpPr>
        <p:spPr>
          <a:xfrm>
            <a:off x="695325" y="2320417"/>
            <a:ext cx="10801348" cy="3633279"/>
          </a:xfrm>
          <a:prstGeom prst="rect">
            <a:avLst/>
          </a:prstGeom>
          <a:solidFill>
            <a:schemeClr val="bg1">
              <a:lumMod val="95000"/>
            </a:schemeClr>
          </a:solidFill>
        </p:spPr>
        <p:style>
          <a:lnRef idx="2">
            <a:schemeClr val="lt1">
              <a:hueOff val="0"/>
              <a:satOff val="0"/>
              <a:lumOff val="0"/>
              <a:alphaOff val="0"/>
            </a:schemeClr>
          </a:lnRef>
          <a:fillRef idx="1">
            <a:schemeClr val="accent1">
              <a:tint val="50000"/>
              <a:hueOff val="0"/>
              <a:satOff val="0"/>
              <a:lumOff val="0"/>
              <a:alphaOff val="0"/>
            </a:schemeClr>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NL" dirty="0"/>
          </a:p>
        </p:txBody>
      </p:sp>
      <p:sp>
        <p:nvSpPr>
          <p:cNvPr id="2" name="Title 1">
            <a:extLst>
              <a:ext uri="{FF2B5EF4-FFF2-40B4-BE49-F238E27FC236}">
                <a16:creationId xmlns:a16="http://schemas.microsoft.com/office/drawing/2014/main" id="{3C5ECB35-E5A4-BFFC-F523-83F8743BE355}"/>
              </a:ext>
            </a:extLst>
          </p:cNvPr>
          <p:cNvSpPr>
            <a:spLocks noGrp="1"/>
          </p:cNvSpPr>
          <p:nvPr>
            <p:ph type="title"/>
          </p:nvPr>
        </p:nvSpPr>
        <p:spPr/>
        <p:txBody>
          <a:bodyPr/>
          <a:lstStyle/>
          <a:p>
            <a:r>
              <a:rPr lang="en-US" sz="3600" dirty="0"/>
              <a:t>The Health-RI SSSOM Mapping Set (HRIM)</a:t>
            </a:r>
            <a:endParaRPr lang="en-NL" sz="3600" dirty="0"/>
          </a:p>
        </p:txBody>
      </p:sp>
      <p:sp>
        <p:nvSpPr>
          <p:cNvPr id="4" name="Slide Number Placeholder 3">
            <a:extLst>
              <a:ext uri="{FF2B5EF4-FFF2-40B4-BE49-F238E27FC236}">
                <a16:creationId xmlns:a16="http://schemas.microsoft.com/office/drawing/2014/main" id="{1B496E3E-F772-D947-19D3-A44F004A46A4}"/>
              </a:ext>
            </a:extLst>
          </p:cNvPr>
          <p:cNvSpPr>
            <a:spLocks noGrp="1"/>
          </p:cNvSpPr>
          <p:nvPr>
            <p:ph type="sldNum" sz="quarter" idx="12"/>
          </p:nvPr>
        </p:nvSpPr>
        <p:spPr/>
        <p:txBody>
          <a:bodyPr/>
          <a:lstStyle/>
          <a:p>
            <a:fld id="{4FAB73BC-B049-4115-A692-8D63A059BFB8}" type="slidenum">
              <a:rPr lang="en-US" smtClean="0"/>
              <a:pPr/>
              <a:t>47</a:t>
            </a:fld>
            <a:endParaRPr lang="en-US" dirty="0"/>
          </a:p>
        </p:txBody>
      </p:sp>
      <p:sp>
        <p:nvSpPr>
          <p:cNvPr id="31" name="Freeform: Shape 30">
            <a:extLst>
              <a:ext uri="{FF2B5EF4-FFF2-40B4-BE49-F238E27FC236}">
                <a16:creationId xmlns:a16="http://schemas.microsoft.com/office/drawing/2014/main" id="{E67CFE1C-05BE-29E0-54D8-416EE2A21965}"/>
              </a:ext>
            </a:extLst>
          </p:cNvPr>
          <p:cNvSpPr/>
          <p:nvPr/>
        </p:nvSpPr>
        <p:spPr>
          <a:xfrm>
            <a:off x="695325" y="1627628"/>
            <a:ext cx="10801349" cy="625636"/>
          </a:xfrm>
          <a:custGeom>
            <a:avLst/>
            <a:gdLst>
              <a:gd name="csX0" fmla="*/ 0 w 4438051"/>
              <a:gd name="csY0" fmla="*/ 0 h 647514"/>
              <a:gd name="csX1" fmla="*/ 4438051 w 4438051"/>
              <a:gd name="csY1" fmla="*/ 0 h 647514"/>
              <a:gd name="csX2" fmla="*/ 4438051 w 4438051"/>
              <a:gd name="csY2" fmla="*/ 647514 h 647514"/>
              <a:gd name="csX3" fmla="*/ 0 w 4438051"/>
              <a:gd name="csY3" fmla="*/ 647514 h 647514"/>
              <a:gd name="csX4" fmla="*/ 0 w 4438051"/>
              <a:gd name="csY4" fmla="*/ 0 h 647514"/>
            </a:gdLst>
            <a:ahLst/>
            <a:cxnLst>
              <a:cxn ang="0">
                <a:pos x="csX0" y="csY0"/>
              </a:cxn>
              <a:cxn ang="0">
                <a:pos x="csX1" y="csY1"/>
              </a:cxn>
              <a:cxn ang="0">
                <a:pos x="csX2" y="csY2"/>
              </a:cxn>
              <a:cxn ang="0">
                <a:pos x="csX3" y="csY3"/>
              </a:cxn>
              <a:cxn ang="0">
                <a:pos x="csX4" y="csY4"/>
              </a:cxn>
            </a:cxnLst>
            <a:rect l="l" t="t" r="r" b="b"/>
            <a:pathLst>
              <a:path w="4438051" h="647514">
                <a:moveTo>
                  <a:pt x="0" y="0"/>
                </a:moveTo>
                <a:lnTo>
                  <a:pt x="4438051" y="0"/>
                </a:lnTo>
                <a:lnTo>
                  <a:pt x="4438051" y="647514"/>
                </a:lnTo>
                <a:lnTo>
                  <a:pt x="0" y="647514"/>
                </a:lnTo>
                <a:lnTo>
                  <a:pt x="0" y="0"/>
                </a:lnTo>
                <a:close/>
              </a:path>
            </a:pathLst>
          </a:cu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2000" b="1" kern="1200" dirty="0">
                <a:solidFill>
                  <a:schemeClr val="accent1"/>
                </a:solidFill>
              </a:rPr>
              <a:t>The Health-RI Semantic Interoperability Initiative</a:t>
            </a:r>
            <a:endParaRPr lang="en-NL" sz="2000" b="1" kern="1200" dirty="0"/>
          </a:p>
        </p:txBody>
      </p:sp>
      <p:sp>
        <p:nvSpPr>
          <p:cNvPr id="5" name="Callout: Bent Line with Border and Accent Bar 4">
            <a:extLst>
              <a:ext uri="{FF2B5EF4-FFF2-40B4-BE49-F238E27FC236}">
                <a16:creationId xmlns:a16="http://schemas.microsoft.com/office/drawing/2014/main" id="{0808F82A-75CF-0C59-C412-8F56F02B504E}"/>
              </a:ext>
            </a:extLst>
          </p:cNvPr>
          <p:cNvSpPr/>
          <p:nvPr/>
        </p:nvSpPr>
        <p:spPr>
          <a:xfrm flipH="1">
            <a:off x="2390284" y="2613062"/>
            <a:ext cx="1884698" cy="1089388"/>
          </a:xfrm>
          <a:prstGeom prst="accentBorderCallout2">
            <a:avLst>
              <a:gd name="adj1" fmla="val 18750"/>
              <a:gd name="adj2" fmla="val -8333"/>
              <a:gd name="adj3" fmla="val 18750"/>
              <a:gd name="adj4" fmla="val -16667"/>
              <a:gd name="adj5" fmla="val 69622"/>
              <a:gd name="adj6" fmla="val -52586"/>
            </a:avLst>
          </a:prstGeom>
          <a:solidFill>
            <a:schemeClr val="bg1">
              <a:lumMod val="95000"/>
            </a:schemeClr>
          </a:solidFill>
          <a:ln w="19050">
            <a:solidFill>
              <a:schemeClr val="bg1">
                <a:lumMod val="50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en-NL"/>
          </a:p>
        </p:txBody>
      </p:sp>
      <p:sp>
        <p:nvSpPr>
          <p:cNvPr id="6" name="Callout: Bent Line with Border and Accent Bar 5">
            <a:extLst>
              <a:ext uri="{FF2B5EF4-FFF2-40B4-BE49-F238E27FC236}">
                <a16:creationId xmlns:a16="http://schemas.microsoft.com/office/drawing/2014/main" id="{554B4DD9-3EA4-6D35-A297-FF85E11F133D}"/>
              </a:ext>
            </a:extLst>
          </p:cNvPr>
          <p:cNvSpPr/>
          <p:nvPr/>
        </p:nvSpPr>
        <p:spPr>
          <a:xfrm>
            <a:off x="7887488" y="4655497"/>
            <a:ext cx="1884699" cy="1089388"/>
          </a:xfrm>
          <a:prstGeom prst="accentBorderCallout2">
            <a:avLst>
              <a:gd name="adj1" fmla="val 84593"/>
              <a:gd name="adj2" fmla="val -7926"/>
              <a:gd name="adj3" fmla="val 84381"/>
              <a:gd name="adj4" fmla="val -21082"/>
              <a:gd name="adj5" fmla="val 32889"/>
              <a:gd name="adj6" fmla="val -54287"/>
            </a:avLst>
          </a:prstGeom>
          <a:solidFill>
            <a:schemeClr val="bg1">
              <a:lumMod val="95000"/>
            </a:schemeClr>
          </a:solidFill>
          <a:ln w="19050">
            <a:solidFill>
              <a:schemeClr val="bg1">
                <a:lumMod val="50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en-NL"/>
          </a:p>
        </p:txBody>
      </p:sp>
      <p:sp>
        <p:nvSpPr>
          <p:cNvPr id="7" name="Callout: Bent Line with Border and Accent Bar 6">
            <a:extLst>
              <a:ext uri="{FF2B5EF4-FFF2-40B4-BE49-F238E27FC236}">
                <a16:creationId xmlns:a16="http://schemas.microsoft.com/office/drawing/2014/main" id="{64FBB4FE-F396-4BC8-0400-27FCA03A6C6F}"/>
              </a:ext>
            </a:extLst>
          </p:cNvPr>
          <p:cNvSpPr/>
          <p:nvPr/>
        </p:nvSpPr>
        <p:spPr>
          <a:xfrm>
            <a:off x="7887488" y="2617427"/>
            <a:ext cx="1884698" cy="1089388"/>
          </a:xfrm>
          <a:prstGeom prst="accentBorderCallout2">
            <a:avLst>
              <a:gd name="adj1" fmla="val 18750"/>
              <a:gd name="adj2" fmla="val -8333"/>
              <a:gd name="adj3" fmla="val 18750"/>
              <a:gd name="adj4" fmla="val -16667"/>
              <a:gd name="adj5" fmla="val 69622"/>
              <a:gd name="adj6" fmla="val -52586"/>
            </a:avLst>
          </a:prstGeom>
          <a:solidFill>
            <a:schemeClr val="bg1">
              <a:lumMod val="95000"/>
            </a:schemeClr>
          </a:solidFill>
          <a:ln w="19050">
            <a:solidFill>
              <a:schemeClr val="bg1">
                <a:lumMod val="50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en-NL"/>
          </a:p>
        </p:txBody>
      </p:sp>
      <p:sp>
        <p:nvSpPr>
          <p:cNvPr id="9" name="Freeform: Shape 8">
            <a:extLst>
              <a:ext uri="{FF2B5EF4-FFF2-40B4-BE49-F238E27FC236}">
                <a16:creationId xmlns:a16="http://schemas.microsoft.com/office/drawing/2014/main" id="{9CAC72DF-C590-D43A-C602-5AAFDC2041CF}"/>
              </a:ext>
            </a:extLst>
          </p:cNvPr>
          <p:cNvSpPr/>
          <p:nvPr/>
        </p:nvSpPr>
        <p:spPr>
          <a:xfrm>
            <a:off x="4941618" y="2936040"/>
            <a:ext cx="2380471" cy="2380471"/>
          </a:xfrm>
          <a:custGeom>
            <a:avLst/>
            <a:gdLst>
              <a:gd name="connsiteX0" fmla="*/ 1920240 w 3840480"/>
              <a:gd name="connsiteY0" fmla="*/ 0 h 3840480"/>
              <a:gd name="connsiteX1" fmla="*/ 3583217 w 3840480"/>
              <a:gd name="connsiteY1" fmla="*/ 960120 h 3840480"/>
              <a:gd name="connsiteX2" fmla="*/ 3583217 w 3840480"/>
              <a:gd name="connsiteY2" fmla="*/ 2880360 h 3840480"/>
              <a:gd name="connsiteX3" fmla="*/ 1920240 w 3840480"/>
              <a:gd name="connsiteY3" fmla="*/ 1920240 h 3840480"/>
              <a:gd name="connsiteX4" fmla="*/ 1920240 w 3840480"/>
              <a:gd name="connsiteY4" fmla="*/ 0 h 3840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40480" h="3840480">
                <a:moveTo>
                  <a:pt x="1920240" y="0"/>
                </a:moveTo>
                <a:cubicBezTo>
                  <a:pt x="2606276" y="0"/>
                  <a:pt x="3240199" y="365996"/>
                  <a:pt x="3583217" y="960120"/>
                </a:cubicBezTo>
                <a:cubicBezTo>
                  <a:pt x="3926235" y="1554244"/>
                  <a:pt x="3926235" y="2286236"/>
                  <a:pt x="3583217" y="2880360"/>
                </a:cubicBezTo>
                <a:lnTo>
                  <a:pt x="1920240" y="1920240"/>
                </a:lnTo>
                <a:lnTo>
                  <a:pt x="1920240" y="0"/>
                </a:lnTo>
                <a:close/>
              </a:path>
            </a:pathLst>
          </a:cu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2054505" tIns="844296" rIns="475335" bIns="1914144" numCol="1" spcCol="1270" anchor="ctr" anchorCtr="0">
            <a:noAutofit/>
          </a:bodyPr>
          <a:lstStyle/>
          <a:p>
            <a:pPr marL="0" lvl="0" indent="0" algn="ctr" defTabSz="1066800">
              <a:lnSpc>
                <a:spcPct val="90000"/>
              </a:lnSpc>
              <a:spcBef>
                <a:spcPct val="0"/>
              </a:spcBef>
              <a:spcAft>
                <a:spcPct val="35000"/>
              </a:spcAft>
              <a:buNone/>
            </a:pPr>
            <a:endParaRPr lang="en-US" sz="2800" b="1" kern="1200" dirty="0">
              <a:latin typeface="Neue Haas Grotesk Text Pro Blac" panose="020B0504020202020204" pitchFamily="34" charset="0"/>
            </a:endParaRPr>
          </a:p>
        </p:txBody>
      </p:sp>
      <p:sp>
        <p:nvSpPr>
          <p:cNvPr id="10" name="Freeform: Shape 9">
            <a:extLst>
              <a:ext uri="{FF2B5EF4-FFF2-40B4-BE49-F238E27FC236}">
                <a16:creationId xmlns:a16="http://schemas.microsoft.com/office/drawing/2014/main" id="{16C9F30C-EF8F-48E6-CBB6-EA323A62B05F}"/>
              </a:ext>
            </a:extLst>
          </p:cNvPr>
          <p:cNvSpPr/>
          <p:nvPr/>
        </p:nvSpPr>
        <p:spPr>
          <a:xfrm>
            <a:off x="4895541" y="3015941"/>
            <a:ext cx="2380471" cy="2380471"/>
          </a:xfrm>
          <a:custGeom>
            <a:avLst/>
            <a:gdLst>
              <a:gd name="connsiteX0" fmla="*/ 3583217 w 3840480"/>
              <a:gd name="connsiteY0" fmla="*/ 2880360 h 3840480"/>
              <a:gd name="connsiteX1" fmla="*/ 1920240 w 3840480"/>
              <a:gd name="connsiteY1" fmla="*/ 3840480 h 3840480"/>
              <a:gd name="connsiteX2" fmla="*/ 257263 w 3840480"/>
              <a:gd name="connsiteY2" fmla="*/ 2880360 h 3840480"/>
              <a:gd name="connsiteX3" fmla="*/ 1920240 w 3840480"/>
              <a:gd name="connsiteY3" fmla="*/ 1920240 h 3840480"/>
              <a:gd name="connsiteX4" fmla="*/ 3583217 w 3840480"/>
              <a:gd name="connsiteY4" fmla="*/ 2880360 h 3840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40480" h="3840480">
                <a:moveTo>
                  <a:pt x="3583217" y="2880360"/>
                </a:moveTo>
                <a:cubicBezTo>
                  <a:pt x="3240199" y="3474484"/>
                  <a:pt x="2606276" y="3840480"/>
                  <a:pt x="1920240" y="3840480"/>
                </a:cubicBezTo>
                <a:cubicBezTo>
                  <a:pt x="1234204" y="3840480"/>
                  <a:pt x="600281" y="3474484"/>
                  <a:pt x="257263" y="2880360"/>
                </a:cubicBezTo>
                <a:lnTo>
                  <a:pt x="1920240" y="1920240"/>
                </a:lnTo>
                <a:lnTo>
                  <a:pt x="3583217" y="2880360"/>
                </a:lnTo>
                <a:close/>
              </a:path>
            </a:pathLst>
          </a:custGeom>
          <a:solidFill>
            <a:srgbClr val="00B0F0"/>
          </a:solidFill>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944880" tIns="2522221" rIns="899160" bIns="373379" numCol="1" spcCol="1270" anchor="t" anchorCtr="0">
            <a:noAutofit/>
          </a:bodyPr>
          <a:lstStyle/>
          <a:p>
            <a:pPr marL="0" lvl="0" indent="0" algn="ctr" defTabSz="1066800">
              <a:lnSpc>
                <a:spcPct val="90000"/>
              </a:lnSpc>
              <a:spcBef>
                <a:spcPct val="0"/>
              </a:spcBef>
              <a:spcAft>
                <a:spcPct val="35000"/>
              </a:spcAft>
              <a:buNone/>
            </a:pPr>
            <a:endParaRPr lang="en-NL" sz="2800" b="1" kern="1200" dirty="0">
              <a:latin typeface="Neue Haas Grotesk Text Pro Blac" panose="020B0504020202020204" pitchFamily="34" charset="0"/>
            </a:endParaRPr>
          </a:p>
        </p:txBody>
      </p:sp>
      <p:sp>
        <p:nvSpPr>
          <p:cNvPr id="11" name="Freeform: Shape 10">
            <a:extLst>
              <a:ext uri="{FF2B5EF4-FFF2-40B4-BE49-F238E27FC236}">
                <a16:creationId xmlns:a16="http://schemas.microsoft.com/office/drawing/2014/main" id="{521B417F-2C10-800F-A390-93C949947803}"/>
              </a:ext>
            </a:extLst>
          </p:cNvPr>
          <p:cNvSpPr/>
          <p:nvPr/>
        </p:nvSpPr>
        <p:spPr>
          <a:xfrm>
            <a:off x="4849464" y="2936040"/>
            <a:ext cx="2380471" cy="2380471"/>
          </a:xfrm>
          <a:custGeom>
            <a:avLst/>
            <a:gdLst>
              <a:gd name="connsiteX0" fmla="*/ 257263 w 3840480"/>
              <a:gd name="connsiteY0" fmla="*/ 2880360 h 3840480"/>
              <a:gd name="connsiteX1" fmla="*/ 257263 w 3840480"/>
              <a:gd name="connsiteY1" fmla="*/ 960120 h 3840480"/>
              <a:gd name="connsiteX2" fmla="*/ 1920240 w 3840480"/>
              <a:gd name="connsiteY2" fmla="*/ 0 h 3840480"/>
              <a:gd name="connsiteX3" fmla="*/ 1920240 w 3840480"/>
              <a:gd name="connsiteY3" fmla="*/ 1920240 h 3840480"/>
              <a:gd name="connsiteX4" fmla="*/ 257263 w 3840480"/>
              <a:gd name="connsiteY4" fmla="*/ 2880360 h 3840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40480" h="3840480">
                <a:moveTo>
                  <a:pt x="257263" y="2880360"/>
                </a:moveTo>
                <a:cubicBezTo>
                  <a:pt x="-85755" y="2286236"/>
                  <a:pt x="-85755" y="1554244"/>
                  <a:pt x="257263" y="960120"/>
                </a:cubicBezTo>
                <a:cubicBezTo>
                  <a:pt x="600281" y="365996"/>
                  <a:pt x="1234204" y="0"/>
                  <a:pt x="1920240" y="0"/>
                </a:cubicBezTo>
                <a:lnTo>
                  <a:pt x="1920240" y="1920240"/>
                </a:lnTo>
                <a:lnTo>
                  <a:pt x="257263" y="2880360"/>
                </a:lnTo>
                <a:close/>
              </a:path>
            </a:pathLst>
          </a:custGeom>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475336" tIns="844296" rIns="2054504" bIns="1914144" numCol="1" spcCol="1270" anchor="ctr" anchorCtr="0">
            <a:noAutofit/>
          </a:bodyPr>
          <a:lstStyle/>
          <a:p>
            <a:pPr marL="0" lvl="0" indent="0" algn="ctr" defTabSz="1066800">
              <a:lnSpc>
                <a:spcPct val="90000"/>
              </a:lnSpc>
              <a:spcBef>
                <a:spcPct val="0"/>
              </a:spcBef>
              <a:spcAft>
                <a:spcPct val="35000"/>
              </a:spcAft>
              <a:buNone/>
            </a:pPr>
            <a:endParaRPr lang="en-NL" sz="2400" kern="1200" dirty="0"/>
          </a:p>
        </p:txBody>
      </p:sp>
      <p:sp>
        <p:nvSpPr>
          <p:cNvPr id="12" name="Arrow: Circular 11">
            <a:extLst>
              <a:ext uri="{FF2B5EF4-FFF2-40B4-BE49-F238E27FC236}">
                <a16:creationId xmlns:a16="http://schemas.microsoft.com/office/drawing/2014/main" id="{5ECD7464-8319-8A5F-A92D-21424E4F3529}"/>
              </a:ext>
            </a:extLst>
          </p:cNvPr>
          <p:cNvSpPr/>
          <p:nvPr/>
        </p:nvSpPr>
        <p:spPr>
          <a:xfrm>
            <a:off x="4789899" y="2793218"/>
            <a:ext cx="2675196" cy="2675196"/>
          </a:xfrm>
          <a:prstGeom prst="circularArrow">
            <a:avLst>
              <a:gd name="adj1" fmla="val 5085"/>
              <a:gd name="adj2" fmla="val 327528"/>
              <a:gd name="adj3" fmla="val 1472472"/>
              <a:gd name="adj4" fmla="val 16199432"/>
              <a:gd name="adj5" fmla="val 5932"/>
            </a:avLst>
          </a:prstGeom>
          <a:solidFill>
            <a:schemeClr val="accent2">
              <a:lumMod val="50000"/>
            </a:schemeClr>
          </a:solidFill>
        </p:spPr>
        <p:style>
          <a:lnRef idx="0">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hueOff val="0"/>
              <a:satOff val="0"/>
              <a:lumOff val="0"/>
              <a:alphaOff val="0"/>
            </a:schemeClr>
          </a:fontRef>
        </p:style>
        <p:txBody>
          <a:bodyPr/>
          <a:lstStyle/>
          <a:p>
            <a:endParaRPr lang="en-NL"/>
          </a:p>
        </p:txBody>
      </p:sp>
      <p:sp>
        <p:nvSpPr>
          <p:cNvPr id="13" name="Arrow: Circular 12">
            <a:extLst>
              <a:ext uri="{FF2B5EF4-FFF2-40B4-BE49-F238E27FC236}">
                <a16:creationId xmlns:a16="http://schemas.microsoft.com/office/drawing/2014/main" id="{0B9B7D48-3CF7-7303-50A1-BA37E4535972}"/>
              </a:ext>
            </a:extLst>
          </p:cNvPr>
          <p:cNvSpPr/>
          <p:nvPr/>
        </p:nvSpPr>
        <p:spPr>
          <a:xfrm>
            <a:off x="4743638" y="2872979"/>
            <a:ext cx="2675196" cy="2675196"/>
          </a:xfrm>
          <a:prstGeom prst="circularArrow">
            <a:avLst>
              <a:gd name="adj1" fmla="val 5085"/>
              <a:gd name="adj2" fmla="val 327528"/>
              <a:gd name="adj3" fmla="val 8671970"/>
              <a:gd name="adj4" fmla="val 1800502"/>
              <a:gd name="adj5" fmla="val 5932"/>
            </a:avLst>
          </a:prstGeom>
          <a:solidFill>
            <a:srgbClr val="0070C0"/>
          </a:solidFill>
        </p:spPr>
        <p:style>
          <a:lnRef idx="0">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hueOff val="0"/>
              <a:satOff val="0"/>
              <a:lumOff val="0"/>
              <a:alphaOff val="0"/>
            </a:schemeClr>
          </a:fontRef>
        </p:style>
        <p:txBody>
          <a:bodyPr/>
          <a:lstStyle/>
          <a:p>
            <a:endParaRPr lang="en-NL"/>
          </a:p>
        </p:txBody>
      </p:sp>
      <p:sp>
        <p:nvSpPr>
          <p:cNvPr id="14" name="Arrow: Circular 13">
            <a:extLst>
              <a:ext uri="{FF2B5EF4-FFF2-40B4-BE49-F238E27FC236}">
                <a16:creationId xmlns:a16="http://schemas.microsoft.com/office/drawing/2014/main" id="{69B56034-928A-292B-86A8-62467E8292FD}"/>
              </a:ext>
            </a:extLst>
          </p:cNvPr>
          <p:cNvSpPr/>
          <p:nvPr/>
        </p:nvSpPr>
        <p:spPr>
          <a:xfrm>
            <a:off x="4697376" y="2793218"/>
            <a:ext cx="2675196" cy="2675196"/>
          </a:xfrm>
          <a:prstGeom prst="circularArrow">
            <a:avLst>
              <a:gd name="adj1" fmla="val 5085"/>
              <a:gd name="adj2" fmla="val 327528"/>
              <a:gd name="adj3" fmla="val 15873039"/>
              <a:gd name="adj4" fmla="val 9000000"/>
              <a:gd name="adj5" fmla="val 5932"/>
            </a:avLst>
          </a:prstGeom>
          <a:solidFill>
            <a:schemeClr val="accent4">
              <a:lumMod val="50000"/>
            </a:schemeClr>
          </a:solidFill>
          <a:ln w="38100">
            <a:noFill/>
            <a:prstDash val="solid"/>
          </a:ln>
        </p:spPr>
        <p: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hueOff val="0"/>
              <a:satOff val="0"/>
              <a:lumOff val="0"/>
              <a:alphaOff val="0"/>
            </a:schemeClr>
          </a:fontRef>
        </p:style>
        <p:txBody>
          <a:bodyPr/>
          <a:lstStyle/>
          <a:p>
            <a:endParaRPr lang="en-NL"/>
          </a:p>
        </p:txBody>
      </p:sp>
      <p:pic>
        <p:nvPicPr>
          <p:cNvPr id="15" name="Picture 2" descr="Logo vertical | OntoUML Community Portal">
            <a:extLst>
              <a:ext uri="{FF2B5EF4-FFF2-40B4-BE49-F238E27FC236}">
                <a16:creationId xmlns:a16="http://schemas.microsoft.com/office/drawing/2014/main" id="{5D5B4DD8-1180-823D-61B1-BDB27C75E6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70367" y="2833440"/>
            <a:ext cx="1718941" cy="657360"/>
          </a:xfrm>
          <a:prstGeom prst="rect">
            <a:avLst/>
          </a:prstGeom>
          <a:noFill/>
          <a:extLst>
            <a:ext uri="{909E8E84-426E-40DD-AFC4-6F175D3DCCD1}">
              <a14:hiddenFill xmlns:a14="http://schemas.microsoft.com/office/drawing/2010/main">
                <a:solidFill>
                  <a:srgbClr val="FFFFFF"/>
                </a:solidFill>
              </a14:hiddenFill>
            </a:ext>
          </a:extLst>
        </p:spPr>
      </p:pic>
      <p:grpSp>
        <p:nvGrpSpPr>
          <p:cNvPr id="16" name="Group 15">
            <a:extLst>
              <a:ext uri="{FF2B5EF4-FFF2-40B4-BE49-F238E27FC236}">
                <a16:creationId xmlns:a16="http://schemas.microsoft.com/office/drawing/2014/main" id="{6CCF28C5-9E2A-C02C-1CC3-B69D8FC474CC}"/>
              </a:ext>
            </a:extLst>
          </p:cNvPr>
          <p:cNvGrpSpPr/>
          <p:nvPr/>
        </p:nvGrpSpPr>
        <p:grpSpPr>
          <a:xfrm>
            <a:off x="8107224" y="4789911"/>
            <a:ext cx="1445229" cy="820560"/>
            <a:chOff x="6119493" y="4341725"/>
            <a:chExt cx="2393775" cy="1359120"/>
          </a:xfrm>
        </p:grpSpPr>
        <p:pic>
          <p:nvPicPr>
            <p:cNvPr id="17" name="Picture 12" descr="What is the Semantic Web? - Jean Delahousse">
              <a:extLst>
                <a:ext uri="{FF2B5EF4-FFF2-40B4-BE49-F238E27FC236}">
                  <a16:creationId xmlns:a16="http://schemas.microsoft.com/office/drawing/2014/main" id="{69316ABE-D80E-0A06-3A95-902C0C09A5C7}"/>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119493" y="4434598"/>
              <a:ext cx="1168843" cy="1266247"/>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4" descr="What is the Semantic Web? - Jean Delahousse">
              <a:extLst>
                <a:ext uri="{FF2B5EF4-FFF2-40B4-BE49-F238E27FC236}">
                  <a16:creationId xmlns:a16="http://schemas.microsoft.com/office/drawing/2014/main" id="{B8EB1F78-1F31-1B73-42A3-E91D5E921C87}"/>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344425" y="4341725"/>
              <a:ext cx="1168843" cy="1359120"/>
            </a:xfrm>
            <a:prstGeom prst="rect">
              <a:avLst/>
            </a:prstGeom>
            <a:noFill/>
            <a:extLst>
              <a:ext uri="{909E8E84-426E-40DD-AFC4-6F175D3DCCD1}">
                <a14:hiddenFill xmlns:a14="http://schemas.microsoft.com/office/drawing/2010/main">
                  <a:solidFill>
                    <a:srgbClr val="FFFFFF"/>
                  </a:solidFill>
                </a14:hiddenFill>
              </a:ext>
            </a:extLst>
          </p:spPr>
        </p:pic>
      </p:grpSp>
      <p:pic>
        <p:nvPicPr>
          <p:cNvPr id="19" name="Picture 2" descr="GitHub - mapping-commons/sssom: Simple Standard for Sharing Ontology  Mappings">
            <a:extLst>
              <a:ext uri="{FF2B5EF4-FFF2-40B4-BE49-F238E27FC236}">
                <a16:creationId xmlns:a16="http://schemas.microsoft.com/office/drawing/2014/main" id="{F5286962-8930-7FA4-781F-E982D43973C4}"/>
              </a:ext>
            </a:extLst>
          </p:cNvPr>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276707" y="2718885"/>
            <a:ext cx="2111854" cy="877740"/>
          </a:xfrm>
          <a:prstGeom prst="rect">
            <a:avLst/>
          </a:prstGeom>
          <a:noFill/>
          <a:extLst>
            <a:ext uri="{909E8E84-426E-40DD-AFC4-6F175D3DCCD1}">
              <a14:hiddenFill xmlns:a14="http://schemas.microsoft.com/office/drawing/2010/main">
                <a:solidFill>
                  <a:srgbClr val="FFFFFF"/>
                </a:solidFill>
              </a14:hiddenFill>
            </a:ext>
          </a:extLst>
        </p:spPr>
      </p:pic>
      <p:sp>
        <p:nvSpPr>
          <p:cNvPr id="20" name="TextBox 19">
            <a:extLst>
              <a:ext uri="{FF2B5EF4-FFF2-40B4-BE49-F238E27FC236}">
                <a16:creationId xmlns:a16="http://schemas.microsoft.com/office/drawing/2014/main" id="{CE943D18-5B75-261B-1EFD-97337C9C6A39}"/>
              </a:ext>
            </a:extLst>
          </p:cNvPr>
          <p:cNvSpPr txBox="1"/>
          <p:nvPr/>
        </p:nvSpPr>
        <p:spPr>
          <a:xfrm>
            <a:off x="5468718" y="4500304"/>
            <a:ext cx="1239827" cy="553998"/>
          </a:xfrm>
          <a:prstGeom prst="rect">
            <a:avLst/>
          </a:prstGeom>
          <a:noFill/>
        </p:spPr>
        <p:txBody>
          <a:bodyPr wrap="none" rtlCol="0">
            <a:spAutoFit/>
          </a:bodyPr>
          <a:lstStyle/>
          <a:p>
            <a:pPr algn="ctr"/>
            <a:r>
              <a:rPr lang="en-US" b="1" dirty="0">
                <a:ln>
                  <a:solidFill>
                    <a:schemeClr val="tx1">
                      <a:lumMod val="50000"/>
                      <a:lumOff val="50000"/>
                    </a:schemeClr>
                  </a:solidFill>
                </a:ln>
                <a:solidFill>
                  <a:schemeClr val="bg1"/>
                </a:solidFill>
                <a:latin typeface="Neue Haas Grotesk Text Pro Blac" panose="020B0504020202020204" pitchFamily="34" charset="0"/>
              </a:rPr>
              <a:t>HRIO</a:t>
            </a:r>
          </a:p>
          <a:p>
            <a:pPr algn="ctr"/>
            <a:r>
              <a:rPr lang="en-US" sz="1200" b="1" dirty="0">
                <a:ln>
                  <a:solidFill>
                    <a:schemeClr val="tx1">
                      <a:lumMod val="50000"/>
                      <a:lumOff val="50000"/>
                    </a:schemeClr>
                  </a:solidFill>
                </a:ln>
                <a:solidFill>
                  <a:schemeClr val="bg1"/>
                </a:solidFill>
              </a:rPr>
              <a:t>Computational</a:t>
            </a:r>
            <a:endParaRPr lang="en-NL" sz="1200" b="1" dirty="0">
              <a:ln>
                <a:solidFill>
                  <a:schemeClr val="tx1">
                    <a:lumMod val="50000"/>
                    <a:lumOff val="50000"/>
                  </a:schemeClr>
                </a:solidFill>
              </a:ln>
              <a:solidFill>
                <a:schemeClr val="bg1"/>
              </a:solidFill>
            </a:endParaRPr>
          </a:p>
        </p:txBody>
      </p:sp>
      <p:sp>
        <p:nvSpPr>
          <p:cNvPr id="21" name="TextBox 20">
            <a:extLst>
              <a:ext uri="{FF2B5EF4-FFF2-40B4-BE49-F238E27FC236}">
                <a16:creationId xmlns:a16="http://schemas.microsoft.com/office/drawing/2014/main" id="{DBB1F845-7792-4B99-1D25-10B7FFD99E8F}"/>
              </a:ext>
            </a:extLst>
          </p:cNvPr>
          <p:cNvSpPr txBox="1"/>
          <p:nvPr/>
        </p:nvSpPr>
        <p:spPr>
          <a:xfrm>
            <a:off x="6146123" y="3505364"/>
            <a:ext cx="1005404" cy="553998"/>
          </a:xfrm>
          <a:prstGeom prst="rect">
            <a:avLst/>
          </a:prstGeom>
          <a:noFill/>
        </p:spPr>
        <p:txBody>
          <a:bodyPr wrap="none" rtlCol="0">
            <a:spAutoFit/>
          </a:bodyPr>
          <a:lstStyle/>
          <a:p>
            <a:pPr algn="ctr"/>
            <a:r>
              <a:rPr lang="en-US" b="1" dirty="0">
                <a:ln>
                  <a:solidFill>
                    <a:schemeClr val="tx1">
                      <a:lumMod val="50000"/>
                      <a:lumOff val="50000"/>
                    </a:schemeClr>
                  </a:solidFill>
                </a:ln>
                <a:solidFill>
                  <a:schemeClr val="bg1"/>
                </a:solidFill>
                <a:latin typeface="Neue Haas Grotesk Text Pro Blac" panose="020B0504020202020204" pitchFamily="34" charset="0"/>
              </a:rPr>
              <a:t>HRIO</a:t>
            </a:r>
          </a:p>
          <a:p>
            <a:pPr algn="ctr"/>
            <a:r>
              <a:rPr lang="en-US" sz="1200" b="1" dirty="0">
                <a:ln>
                  <a:solidFill>
                    <a:schemeClr val="tx1">
                      <a:lumMod val="50000"/>
                      <a:lumOff val="50000"/>
                    </a:schemeClr>
                  </a:solidFill>
                </a:ln>
                <a:solidFill>
                  <a:schemeClr val="bg1"/>
                </a:solidFill>
              </a:rPr>
              <a:t>Conceptual</a:t>
            </a:r>
            <a:endParaRPr lang="en-NL" sz="1200" b="1" dirty="0">
              <a:ln>
                <a:solidFill>
                  <a:schemeClr val="tx1">
                    <a:lumMod val="50000"/>
                    <a:lumOff val="50000"/>
                  </a:schemeClr>
                </a:solidFill>
              </a:ln>
              <a:solidFill>
                <a:schemeClr val="bg1"/>
              </a:solidFill>
            </a:endParaRPr>
          </a:p>
        </p:txBody>
      </p:sp>
      <p:sp>
        <p:nvSpPr>
          <p:cNvPr id="22" name="TextBox 21">
            <a:extLst>
              <a:ext uri="{FF2B5EF4-FFF2-40B4-BE49-F238E27FC236}">
                <a16:creationId xmlns:a16="http://schemas.microsoft.com/office/drawing/2014/main" id="{0AA05F1B-6F4D-FADF-7B47-376F5388F600}"/>
              </a:ext>
            </a:extLst>
          </p:cNvPr>
          <p:cNvSpPr txBox="1"/>
          <p:nvPr/>
        </p:nvSpPr>
        <p:spPr>
          <a:xfrm>
            <a:off x="4968721" y="3505364"/>
            <a:ext cx="1048684" cy="553998"/>
          </a:xfrm>
          <a:prstGeom prst="rect">
            <a:avLst/>
          </a:prstGeom>
          <a:noFill/>
        </p:spPr>
        <p:txBody>
          <a:bodyPr wrap="none" rtlCol="0">
            <a:spAutoFit/>
          </a:bodyPr>
          <a:lstStyle/>
          <a:p>
            <a:pPr algn="ctr"/>
            <a:r>
              <a:rPr lang="en-US" b="1" dirty="0">
                <a:ln>
                  <a:solidFill>
                    <a:schemeClr val="tx1">
                      <a:lumMod val="50000"/>
                      <a:lumOff val="50000"/>
                    </a:schemeClr>
                  </a:solidFill>
                </a:ln>
                <a:solidFill>
                  <a:schemeClr val="bg1"/>
                </a:solidFill>
                <a:latin typeface="Neue Haas Grotesk Text Pro Blac" panose="020B0504020202020204" pitchFamily="34" charset="0"/>
              </a:rPr>
              <a:t>HRIM</a:t>
            </a:r>
          </a:p>
          <a:p>
            <a:pPr algn="ctr"/>
            <a:r>
              <a:rPr lang="en-US" sz="1200" b="1" dirty="0">
                <a:ln>
                  <a:solidFill>
                    <a:schemeClr val="tx1">
                      <a:lumMod val="50000"/>
                      <a:lumOff val="50000"/>
                    </a:schemeClr>
                  </a:solidFill>
                </a:ln>
                <a:solidFill>
                  <a:schemeClr val="bg1"/>
                </a:solidFill>
              </a:rPr>
              <a:t>Mapping Set</a:t>
            </a:r>
            <a:endParaRPr lang="en-NL" sz="1200" b="1" dirty="0">
              <a:ln>
                <a:solidFill>
                  <a:schemeClr val="tx1">
                    <a:lumMod val="50000"/>
                    <a:lumOff val="50000"/>
                  </a:schemeClr>
                </a:solidFill>
              </a:ln>
              <a:solidFill>
                <a:schemeClr val="bg1"/>
              </a:solidFill>
            </a:endParaRPr>
          </a:p>
        </p:txBody>
      </p:sp>
      <p:sp>
        <p:nvSpPr>
          <p:cNvPr id="24" name="Rectangle 23">
            <a:extLst>
              <a:ext uri="{FF2B5EF4-FFF2-40B4-BE49-F238E27FC236}">
                <a16:creationId xmlns:a16="http://schemas.microsoft.com/office/drawing/2014/main" id="{3D3C6131-9F96-C5AD-3DDF-155486C550B7}"/>
              </a:ext>
            </a:extLst>
          </p:cNvPr>
          <p:cNvSpPr/>
          <p:nvPr/>
        </p:nvSpPr>
        <p:spPr>
          <a:xfrm>
            <a:off x="2114546" y="2449937"/>
            <a:ext cx="4298350" cy="2360188"/>
          </a:xfrm>
          <a:custGeom>
            <a:avLst/>
            <a:gdLst>
              <a:gd name="csX0" fmla="*/ 0 w 3981455"/>
              <a:gd name="csY0" fmla="*/ 0 h 2339153"/>
              <a:gd name="csX1" fmla="*/ 3981455 w 3981455"/>
              <a:gd name="csY1" fmla="*/ 0 h 2339153"/>
              <a:gd name="csX2" fmla="*/ 3981455 w 3981455"/>
              <a:gd name="csY2" fmla="*/ 2339153 h 2339153"/>
              <a:gd name="csX3" fmla="*/ 0 w 3981455"/>
              <a:gd name="csY3" fmla="*/ 2339153 h 2339153"/>
              <a:gd name="csX4" fmla="*/ 0 w 3981455"/>
              <a:gd name="csY4" fmla="*/ 0 h 2339153"/>
              <a:gd name="csX0" fmla="*/ 0 w 3981455"/>
              <a:gd name="csY0" fmla="*/ 0 h 2339153"/>
              <a:gd name="csX1" fmla="*/ 3981455 w 3981455"/>
              <a:gd name="csY1" fmla="*/ 0 h 2339153"/>
              <a:gd name="csX2" fmla="*/ 3479011 w 3981455"/>
              <a:gd name="csY2" fmla="*/ 2001015 h 2339153"/>
              <a:gd name="csX3" fmla="*/ 0 w 3981455"/>
              <a:gd name="csY3" fmla="*/ 2339153 h 2339153"/>
              <a:gd name="csX4" fmla="*/ 0 w 3981455"/>
              <a:gd name="csY4" fmla="*/ 0 h 2339153"/>
              <a:gd name="csX0" fmla="*/ 0 w 3981455"/>
              <a:gd name="csY0" fmla="*/ 0 h 2339153"/>
              <a:gd name="csX1" fmla="*/ 3981455 w 3981455"/>
              <a:gd name="csY1" fmla="*/ 0 h 2339153"/>
              <a:gd name="csX2" fmla="*/ 3479011 w 3981455"/>
              <a:gd name="csY2" fmla="*/ 2001015 h 2339153"/>
              <a:gd name="csX3" fmla="*/ 0 w 3981455"/>
              <a:gd name="csY3" fmla="*/ 2339153 h 2339153"/>
              <a:gd name="csX4" fmla="*/ 0 w 3981455"/>
              <a:gd name="csY4" fmla="*/ 0 h 2339153"/>
              <a:gd name="csX0" fmla="*/ 0 w 3981455"/>
              <a:gd name="csY0" fmla="*/ 0 h 2339153"/>
              <a:gd name="csX1" fmla="*/ 3981455 w 3981455"/>
              <a:gd name="csY1" fmla="*/ 0 h 2339153"/>
              <a:gd name="csX2" fmla="*/ 3479011 w 3981455"/>
              <a:gd name="csY2" fmla="*/ 2001015 h 2339153"/>
              <a:gd name="csX3" fmla="*/ 0 w 3981455"/>
              <a:gd name="csY3" fmla="*/ 2339153 h 2339153"/>
              <a:gd name="csX4" fmla="*/ 0 w 3981455"/>
              <a:gd name="csY4" fmla="*/ 0 h 2339153"/>
              <a:gd name="csX0" fmla="*/ 0 w 3981455"/>
              <a:gd name="csY0" fmla="*/ 0 h 2359367"/>
              <a:gd name="csX1" fmla="*/ 3981455 w 3981455"/>
              <a:gd name="csY1" fmla="*/ 0 h 2359367"/>
              <a:gd name="csX2" fmla="*/ 3479011 w 3981455"/>
              <a:gd name="csY2" fmla="*/ 2001015 h 2359367"/>
              <a:gd name="csX3" fmla="*/ 2783686 w 3981455"/>
              <a:gd name="csY3" fmla="*/ 2359367 h 2359367"/>
              <a:gd name="csX4" fmla="*/ 0 w 3981455"/>
              <a:gd name="csY4" fmla="*/ 2339153 h 2359367"/>
              <a:gd name="csX5" fmla="*/ 0 w 3981455"/>
              <a:gd name="csY5" fmla="*/ 0 h 2359367"/>
              <a:gd name="csX0" fmla="*/ 0 w 4274275"/>
              <a:gd name="csY0" fmla="*/ 0 h 2359367"/>
              <a:gd name="csX1" fmla="*/ 3981455 w 4274275"/>
              <a:gd name="csY1" fmla="*/ 0 h 2359367"/>
              <a:gd name="csX2" fmla="*/ 3926686 w 4274275"/>
              <a:gd name="csY2" fmla="*/ 1683092 h 2359367"/>
              <a:gd name="csX3" fmla="*/ 3479011 w 4274275"/>
              <a:gd name="csY3" fmla="*/ 2001015 h 2359367"/>
              <a:gd name="csX4" fmla="*/ 2783686 w 4274275"/>
              <a:gd name="csY4" fmla="*/ 2359367 h 2359367"/>
              <a:gd name="csX5" fmla="*/ 0 w 4274275"/>
              <a:gd name="csY5" fmla="*/ 2339153 h 2359367"/>
              <a:gd name="csX6" fmla="*/ 0 w 4274275"/>
              <a:gd name="csY6" fmla="*/ 0 h 2359367"/>
              <a:gd name="csX0" fmla="*/ 0 w 4298867"/>
              <a:gd name="csY0" fmla="*/ 0 h 2359367"/>
              <a:gd name="csX1" fmla="*/ 3981455 w 4298867"/>
              <a:gd name="csY1" fmla="*/ 0 h 2359367"/>
              <a:gd name="csX2" fmla="*/ 3976693 w 4298867"/>
              <a:gd name="csY2" fmla="*/ 504373 h 2359367"/>
              <a:gd name="csX3" fmla="*/ 3926686 w 4298867"/>
              <a:gd name="csY3" fmla="*/ 1683092 h 2359367"/>
              <a:gd name="csX4" fmla="*/ 3479011 w 4298867"/>
              <a:gd name="csY4" fmla="*/ 2001015 h 2359367"/>
              <a:gd name="csX5" fmla="*/ 2783686 w 4298867"/>
              <a:gd name="csY5" fmla="*/ 2359367 h 2359367"/>
              <a:gd name="csX6" fmla="*/ 0 w 4298867"/>
              <a:gd name="csY6" fmla="*/ 2339153 h 2359367"/>
              <a:gd name="csX7" fmla="*/ 0 w 4298867"/>
              <a:gd name="csY7" fmla="*/ 0 h 2359367"/>
              <a:gd name="csX0" fmla="*/ 0 w 4301430"/>
              <a:gd name="csY0" fmla="*/ 0 h 2359367"/>
              <a:gd name="csX1" fmla="*/ 3981455 w 4301430"/>
              <a:gd name="csY1" fmla="*/ 0 h 2359367"/>
              <a:gd name="csX2" fmla="*/ 3986218 w 4301430"/>
              <a:gd name="csY2" fmla="*/ 97180 h 2359367"/>
              <a:gd name="csX3" fmla="*/ 3976693 w 4301430"/>
              <a:gd name="csY3" fmla="*/ 504373 h 2359367"/>
              <a:gd name="csX4" fmla="*/ 3926686 w 4301430"/>
              <a:gd name="csY4" fmla="*/ 1683092 h 2359367"/>
              <a:gd name="csX5" fmla="*/ 3479011 w 4301430"/>
              <a:gd name="csY5" fmla="*/ 2001015 h 2359367"/>
              <a:gd name="csX6" fmla="*/ 2783686 w 4301430"/>
              <a:gd name="csY6" fmla="*/ 2359367 h 2359367"/>
              <a:gd name="csX7" fmla="*/ 0 w 4301430"/>
              <a:gd name="csY7" fmla="*/ 2339153 h 2359367"/>
              <a:gd name="csX8" fmla="*/ 0 w 4301430"/>
              <a:gd name="csY8" fmla="*/ 0 h 2359367"/>
              <a:gd name="csX0" fmla="*/ 0 w 4298350"/>
              <a:gd name="csY0" fmla="*/ 821 h 2360188"/>
              <a:gd name="csX1" fmla="*/ 3981455 w 4298350"/>
              <a:gd name="csY1" fmla="*/ 821 h 2360188"/>
              <a:gd name="csX2" fmla="*/ 3974310 w 4298350"/>
              <a:gd name="csY2" fmla="*/ 9894 h 2360188"/>
              <a:gd name="csX3" fmla="*/ 3986218 w 4298350"/>
              <a:gd name="csY3" fmla="*/ 98001 h 2360188"/>
              <a:gd name="csX4" fmla="*/ 3976693 w 4298350"/>
              <a:gd name="csY4" fmla="*/ 505194 h 2360188"/>
              <a:gd name="csX5" fmla="*/ 3926686 w 4298350"/>
              <a:gd name="csY5" fmla="*/ 1683913 h 2360188"/>
              <a:gd name="csX6" fmla="*/ 3479011 w 4298350"/>
              <a:gd name="csY6" fmla="*/ 2001836 h 2360188"/>
              <a:gd name="csX7" fmla="*/ 2783686 w 4298350"/>
              <a:gd name="csY7" fmla="*/ 2360188 h 2360188"/>
              <a:gd name="csX8" fmla="*/ 0 w 4298350"/>
              <a:gd name="csY8" fmla="*/ 2339974 h 2360188"/>
              <a:gd name="csX9" fmla="*/ 0 w 4298350"/>
              <a:gd name="csY9" fmla="*/ 821 h 23601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4298350" h="2360188">
                <a:moveTo>
                  <a:pt x="0" y="821"/>
                </a:moveTo>
                <a:lnTo>
                  <a:pt x="3981455" y="821"/>
                </a:lnTo>
                <a:cubicBezTo>
                  <a:pt x="4699006" y="2730"/>
                  <a:pt x="3973516" y="-6303"/>
                  <a:pt x="3974310" y="9894"/>
                </a:cubicBezTo>
                <a:cubicBezTo>
                  <a:pt x="3975104" y="26091"/>
                  <a:pt x="4040986" y="15848"/>
                  <a:pt x="3986218" y="98001"/>
                </a:cubicBezTo>
                <a:cubicBezTo>
                  <a:pt x="3931450" y="180154"/>
                  <a:pt x="4039002" y="242463"/>
                  <a:pt x="3976693" y="505194"/>
                </a:cubicBezTo>
                <a:cubicBezTo>
                  <a:pt x="3914384" y="767925"/>
                  <a:pt x="4059242" y="1438441"/>
                  <a:pt x="3926686" y="1683913"/>
                </a:cubicBezTo>
                <a:cubicBezTo>
                  <a:pt x="3794130" y="1929385"/>
                  <a:pt x="3663955" y="1883170"/>
                  <a:pt x="3479011" y="2001836"/>
                </a:cubicBezTo>
                <a:cubicBezTo>
                  <a:pt x="3241680" y="2023655"/>
                  <a:pt x="3021017" y="2338369"/>
                  <a:pt x="2783686" y="2360188"/>
                </a:cubicBezTo>
                <a:lnTo>
                  <a:pt x="0" y="2339974"/>
                </a:lnTo>
                <a:lnTo>
                  <a:pt x="0" y="821"/>
                </a:lnTo>
                <a:close/>
              </a:path>
            </a:pathLst>
          </a:custGeom>
          <a:solidFill>
            <a:srgbClr val="F2F2F2">
              <a:alpha val="9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dirty="0"/>
          </a:p>
        </p:txBody>
      </p:sp>
      <p:grpSp>
        <p:nvGrpSpPr>
          <p:cNvPr id="8" name="Group 7">
            <a:extLst>
              <a:ext uri="{FF2B5EF4-FFF2-40B4-BE49-F238E27FC236}">
                <a16:creationId xmlns:a16="http://schemas.microsoft.com/office/drawing/2014/main" id="{80DB5062-FB77-AC46-B4E1-A1FBE9622B36}"/>
              </a:ext>
            </a:extLst>
          </p:cNvPr>
          <p:cNvGrpSpPr/>
          <p:nvPr/>
        </p:nvGrpSpPr>
        <p:grpSpPr>
          <a:xfrm>
            <a:off x="712060" y="4752929"/>
            <a:ext cx="4713886" cy="1224496"/>
            <a:chOff x="1089807" y="4326591"/>
            <a:chExt cx="4713886" cy="1224496"/>
          </a:xfrm>
        </p:grpSpPr>
        <p:sp>
          <p:nvSpPr>
            <p:cNvPr id="26" name="TextBox 25">
              <a:extLst>
                <a:ext uri="{FF2B5EF4-FFF2-40B4-BE49-F238E27FC236}">
                  <a16:creationId xmlns:a16="http://schemas.microsoft.com/office/drawing/2014/main" id="{5596AB1D-FB54-DE06-80C5-079A5DD8DFD4}"/>
                </a:ext>
              </a:extLst>
            </p:cNvPr>
            <p:cNvSpPr txBox="1"/>
            <p:nvPr/>
          </p:nvSpPr>
          <p:spPr>
            <a:xfrm>
              <a:off x="2252208" y="4683400"/>
              <a:ext cx="3551485" cy="584775"/>
            </a:xfrm>
            <a:prstGeom prst="rect">
              <a:avLst/>
            </a:prstGeom>
            <a:noFill/>
          </p:spPr>
          <p:txBody>
            <a:bodyPr wrap="none" rtlCol="0">
              <a:spAutoFit/>
            </a:bodyPr>
            <a:lstStyle/>
            <a:p>
              <a:r>
                <a:rPr lang="en-US" sz="1600" dirty="0">
                  <a:solidFill>
                    <a:srgbClr val="00B050"/>
                  </a:solidFill>
                </a:rPr>
                <a:t>Semantic mappings reveal </a:t>
              </a:r>
            </a:p>
            <a:p>
              <a:r>
                <a:rPr lang="en-US" sz="1600" dirty="0">
                  <a:solidFill>
                    <a:srgbClr val="00B050"/>
                  </a:solidFill>
                </a:rPr>
                <a:t>reusable connections across datasets</a:t>
              </a:r>
            </a:p>
          </p:txBody>
        </p:sp>
        <p:grpSp>
          <p:nvGrpSpPr>
            <p:cNvPr id="27" name="Group 26">
              <a:extLst>
                <a:ext uri="{FF2B5EF4-FFF2-40B4-BE49-F238E27FC236}">
                  <a16:creationId xmlns:a16="http://schemas.microsoft.com/office/drawing/2014/main" id="{48657752-0788-58DD-8AA5-8ED41C45D829}"/>
                </a:ext>
              </a:extLst>
            </p:cNvPr>
            <p:cNvGrpSpPr/>
            <p:nvPr/>
          </p:nvGrpSpPr>
          <p:grpSpPr>
            <a:xfrm>
              <a:off x="1089807" y="4326591"/>
              <a:ext cx="1224496" cy="1224496"/>
              <a:chOff x="1089807" y="4326591"/>
              <a:chExt cx="1224496" cy="1224496"/>
            </a:xfrm>
          </p:grpSpPr>
          <p:pic>
            <p:nvPicPr>
              <p:cNvPr id="35" name="Graphic 34" descr="Excellent with solid fill">
                <a:extLst>
                  <a:ext uri="{FF2B5EF4-FFF2-40B4-BE49-F238E27FC236}">
                    <a16:creationId xmlns:a16="http://schemas.microsoft.com/office/drawing/2014/main" id="{24250152-AF3D-88C7-698D-091721CB08B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89807" y="4326591"/>
                <a:ext cx="1224496" cy="1224496"/>
              </a:xfrm>
              <a:prstGeom prst="rect">
                <a:avLst/>
              </a:prstGeom>
            </p:spPr>
          </p:pic>
          <p:sp>
            <p:nvSpPr>
              <p:cNvPr id="39" name="TextBox 38">
                <a:extLst>
                  <a:ext uri="{FF2B5EF4-FFF2-40B4-BE49-F238E27FC236}">
                    <a16:creationId xmlns:a16="http://schemas.microsoft.com/office/drawing/2014/main" id="{AFFF3A90-7574-E7B3-5B6B-12CCB0475098}"/>
                  </a:ext>
                </a:extLst>
              </p:cNvPr>
              <p:cNvSpPr txBox="1"/>
              <p:nvPr/>
            </p:nvSpPr>
            <p:spPr>
              <a:xfrm>
                <a:off x="1527167" y="4708007"/>
                <a:ext cx="349776" cy="461665"/>
              </a:xfrm>
              <a:prstGeom prst="rect">
                <a:avLst/>
              </a:prstGeom>
              <a:noFill/>
            </p:spPr>
            <p:txBody>
              <a:bodyPr wrap="none" rtlCol="0">
                <a:spAutoFit/>
              </a:bodyPr>
              <a:lstStyle/>
              <a:p>
                <a:r>
                  <a:rPr lang="en-US" sz="2400" b="1" dirty="0">
                    <a:solidFill>
                      <a:schemeClr val="bg1"/>
                    </a:solidFill>
                  </a:rPr>
                  <a:t>3</a:t>
                </a:r>
                <a:endParaRPr lang="en-NL" sz="2400" b="1" dirty="0">
                  <a:solidFill>
                    <a:schemeClr val="bg1"/>
                  </a:solidFill>
                </a:endParaRPr>
              </a:p>
            </p:txBody>
          </p:sp>
        </p:grpSp>
      </p:grpSp>
    </p:spTree>
    <p:extLst>
      <p:ext uri="{BB962C8B-B14F-4D97-AF65-F5344CB8AC3E}">
        <p14:creationId xmlns:p14="http://schemas.microsoft.com/office/powerpoint/2010/main" val="8585633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xit" presetSubtype="0" fill="hold" grpId="0" nodeType="withEffect">
                                  <p:stCondLst>
                                    <p:cond delay="0"/>
                                  </p:stCondLst>
                                  <p:childTnLst>
                                    <p:animEffect transition="out" filter="fade">
                                      <p:cBhvr>
                                        <p:cTn id="6" dur="1000"/>
                                        <p:tgtEl>
                                          <p:spTgt spid="24"/>
                                        </p:tgtEl>
                                      </p:cBhvr>
                                    </p:animEffect>
                                    <p:set>
                                      <p:cBhvr>
                                        <p:cTn id="7" dur="1" fill="hold">
                                          <p:stCondLst>
                                            <p:cond delay="999"/>
                                          </p:stCondLst>
                                        </p:cTn>
                                        <p:tgtEl>
                                          <p:spTgt spid="24"/>
                                        </p:tgtEl>
                                        <p:attrNameLst>
                                          <p:attrName>style.visibility</p:attrName>
                                        </p:attrNameLst>
                                      </p:cBhvr>
                                      <p:to>
                                        <p:strVal val="hidden"/>
                                      </p:to>
                                    </p:se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8F556C-39A3-4BF1-61DB-971C2D1B7AF7}"/>
              </a:ext>
            </a:extLst>
          </p:cNvPr>
          <p:cNvSpPr>
            <a:spLocks noGrp="1"/>
          </p:cNvSpPr>
          <p:nvPr>
            <p:ph type="title"/>
          </p:nvPr>
        </p:nvSpPr>
        <p:spPr/>
        <p:txBody>
          <a:bodyPr/>
          <a:lstStyle/>
          <a:p>
            <a:r>
              <a:rPr lang="en-US" dirty="0"/>
              <a:t>Context: With HRI-SSI (aligns)</a:t>
            </a:r>
            <a:endParaRPr lang="en-NL" dirty="0"/>
          </a:p>
        </p:txBody>
      </p:sp>
      <p:sp>
        <p:nvSpPr>
          <p:cNvPr id="4" name="Slide Number Placeholder 3">
            <a:extLst>
              <a:ext uri="{FF2B5EF4-FFF2-40B4-BE49-F238E27FC236}">
                <a16:creationId xmlns:a16="http://schemas.microsoft.com/office/drawing/2014/main" id="{27432649-9CE9-D2F1-B399-68A37C7A3FFF}"/>
              </a:ext>
            </a:extLst>
          </p:cNvPr>
          <p:cNvSpPr>
            <a:spLocks noGrp="1"/>
          </p:cNvSpPr>
          <p:nvPr>
            <p:ph type="sldNum" sz="quarter" idx="12"/>
          </p:nvPr>
        </p:nvSpPr>
        <p:spPr/>
        <p:txBody>
          <a:bodyPr/>
          <a:lstStyle/>
          <a:p>
            <a:fld id="{4FAB73BC-B049-4115-A692-8D63A059BFB8}" type="slidenum">
              <a:rPr lang="en-US" smtClean="0"/>
              <a:pPr/>
              <a:t>48</a:t>
            </a:fld>
            <a:endParaRPr lang="en-US" dirty="0"/>
          </a:p>
        </p:txBody>
      </p:sp>
      <p:cxnSp>
        <p:nvCxnSpPr>
          <p:cNvPr id="34" name="Straight Connector 33">
            <a:extLst>
              <a:ext uri="{FF2B5EF4-FFF2-40B4-BE49-F238E27FC236}">
                <a16:creationId xmlns:a16="http://schemas.microsoft.com/office/drawing/2014/main" id="{16A16B0C-873D-940C-3505-41BB51B641A1}"/>
              </a:ext>
            </a:extLst>
          </p:cNvPr>
          <p:cNvCxnSpPr/>
          <p:nvPr/>
        </p:nvCxnSpPr>
        <p:spPr>
          <a:xfrm>
            <a:off x="2440086" y="1662864"/>
            <a:ext cx="0" cy="3010736"/>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sp>
        <p:nvSpPr>
          <p:cNvPr id="35" name="Parallelogram 34">
            <a:extLst>
              <a:ext uri="{FF2B5EF4-FFF2-40B4-BE49-F238E27FC236}">
                <a16:creationId xmlns:a16="http://schemas.microsoft.com/office/drawing/2014/main" id="{253EF4BD-F9DD-8EA5-E21B-FF28B36DBB96}"/>
              </a:ext>
            </a:extLst>
          </p:cNvPr>
          <p:cNvSpPr/>
          <p:nvPr/>
        </p:nvSpPr>
        <p:spPr>
          <a:xfrm>
            <a:off x="982761" y="3153944"/>
            <a:ext cx="10229850" cy="1276350"/>
          </a:xfrm>
          <a:prstGeom prst="parallelogram">
            <a:avLst>
              <a:gd name="adj" fmla="val 113806"/>
            </a:avLst>
          </a:prstGeom>
          <a:solidFill>
            <a:srgbClr val="FFE4D9"/>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solidFill>
                <a:srgbClr val="FFE4D9"/>
              </a:solidFill>
            </a:endParaRPr>
          </a:p>
        </p:txBody>
      </p:sp>
      <p:sp>
        <p:nvSpPr>
          <p:cNvPr id="36" name="TextBox 35">
            <a:extLst>
              <a:ext uri="{FF2B5EF4-FFF2-40B4-BE49-F238E27FC236}">
                <a16:creationId xmlns:a16="http://schemas.microsoft.com/office/drawing/2014/main" id="{8A96B853-35FE-6C94-5D49-5F991E5DCA82}"/>
              </a:ext>
            </a:extLst>
          </p:cNvPr>
          <p:cNvSpPr txBox="1"/>
          <p:nvPr/>
        </p:nvSpPr>
        <p:spPr>
          <a:xfrm>
            <a:off x="1218930" y="4122517"/>
            <a:ext cx="1693092"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37" name="Parallelogram 36">
            <a:extLst>
              <a:ext uri="{FF2B5EF4-FFF2-40B4-BE49-F238E27FC236}">
                <a16:creationId xmlns:a16="http://schemas.microsoft.com/office/drawing/2014/main" id="{7EB9FCBB-7BEC-4D3B-0D7B-2B74B0285868}"/>
              </a:ext>
            </a:extLst>
          </p:cNvPr>
          <p:cNvSpPr/>
          <p:nvPr/>
        </p:nvSpPr>
        <p:spPr>
          <a:xfrm>
            <a:off x="982761" y="4673600"/>
            <a:ext cx="10229850" cy="1276350"/>
          </a:xfrm>
          <a:prstGeom prst="parallelogram">
            <a:avLst>
              <a:gd name="adj" fmla="val 113806"/>
            </a:avLst>
          </a:prstGeom>
          <a:solidFill>
            <a:schemeClr val="accent4">
              <a:lumMod val="20000"/>
              <a:lumOff val="8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8" name="TextBox 37">
            <a:extLst>
              <a:ext uri="{FF2B5EF4-FFF2-40B4-BE49-F238E27FC236}">
                <a16:creationId xmlns:a16="http://schemas.microsoft.com/office/drawing/2014/main" id="{55A194CB-4856-0D92-7E68-255B7139DB5E}"/>
              </a:ext>
            </a:extLst>
          </p:cNvPr>
          <p:cNvSpPr txBox="1"/>
          <p:nvPr/>
        </p:nvSpPr>
        <p:spPr>
          <a:xfrm>
            <a:off x="1258204" y="5642173"/>
            <a:ext cx="1529586"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4"/>
                </a:solidFill>
              </a:rPr>
              <a:t>Dataset Columns</a:t>
            </a:r>
            <a:endParaRPr lang="en-NL" sz="1400" dirty="0">
              <a:solidFill>
                <a:schemeClr val="accent4"/>
              </a:solidFill>
            </a:endParaRPr>
          </a:p>
        </p:txBody>
      </p:sp>
      <p:sp>
        <p:nvSpPr>
          <p:cNvPr id="39" name="Parallelogram 38">
            <a:extLst>
              <a:ext uri="{FF2B5EF4-FFF2-40B4-BE49-F238E27FC236}">
                <a16:creationId xmlns:a16="http://schemas.microsoft.com/office/drawing/2014/main" id="{962E074C-C583-B7F5-DE57-58D5627D2801}"/>
              </a:ext>
            </a:extLst>
          </p:cNvPr>
          <p:cNvSpPr/>
          <p:nvPr/>
        </p:nvSpPr>
        <p:spPr>
          <a:xfrm>
            <a:off x="982761" y="1634289"/>
            <a:ext cx="10229850" cy="1276350"/>
          </a:xfrm>
          <a:prstGeom prst="parallelogram">
            <a:avLst>
              <a:gd name="adj" fmla="val 113806"/>
            </a:avLst>
          </a:prstGeom>
          <a:solidFill>
            <a:schemeClr val="accent1">
              <a:lumMod val="20000"/>
              <a:lumOff val="80000"/>
              <a:alpha val="95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0" name="TextBox 39">
            <a:extLst>
              <a:ext uri="{FF2B5EF4-FFF2-40B4-BE49-F238E27FC236}">
                <a16:creationId xmlns:a16="http://schemas.microsoft.com/office/drawing/2014/main" id="{8AD0A9C1-010A-D06F-FD1B-5772DD581FA3}"/>
              </a:ext>
            </a:extLst>
          </p:cNvPr>
          <p:cNvSpPr txBox="1"/>
          <p:nvPr/>
        </p:nvSpPr>
        <p:spPr>
          <a:xfrm>
            <a:off x="1352455" y="2602861"/>
            <a:ext cx="954107"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tx2">
                    <a:lumMod val="90000"/>
                    <a:lumOff val="10000"/>
                  </a:schemeClr>
                </a:solidFill>
              </a:rPr>
              <a:t>Meanings</a:t>
            </a:r>
            <a:endParaRPr lang="en-NL" sz="1400" dirty="0">
              <a:solidFill>
                <a:schemeClr val="tx2">
                  <a:lumMod val="90000"/>
                  <a:lumOff val="10000"/>
                </a:schemeClr>
              </a:solidFill>
            </a:endParaRPr>
          </a:p>
        </p:txBody>
      </p:sp>
      <p:cxnSp>
        <p:nvCxnSpPr>
          <p:cNvPr id="41" name="Straight Connector 40">
            <a:extLst>
              <a:ext uri="{FF2B5EF4-FFF2-40B4-BE49-F238E27FC236}">
                <a16:creationId xmlns:a16="http://schemas.microsoft.com/office/drawing/2014/main" id="{D07B587E-A069-0CA1-DD5D-A037E328FED7}"/>
              </a:ext>
            </a:extLst>
          </p:cNvPr>
          <p:cNvCxnSpPr/>
          <p:nvPr/>
        </p:nvCxnSpPr>
        <p:spPr>
          <a:xfrm>
            <a:off x="982760" y="2939214"/>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6C83766A-F64A-990C-6481-F1B8484EA84C}"/>
              </a:ext>
            </a:extLst>
          </p:cNvPr>
          <p:cNvCxnSpPr/>
          <p:nvPr/>
        </p:nvCxnSpPr>
        <p:spPr>
          <a:xfrm>
            <a:off x="11210279" y="1662864"/>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83" name="Straight Connector 82">
            <a:extLst>
              <a:ext uri="{FF2B5EF4-FFF2-40B4-BE49-F238E27FC236}">
                <a16:creationId xmlns:a16="http://schemas.microsoft.com/office/drawing/2014/main" id="{FC8669EF-5422-8A17-9717-0D5CCB6B905D}"/>
              </a:ext>
            </a:extLst>
          </p:cNvPr>
          <p:cNvCxnSpPr>
            <a:cxnSpLocks/>
          </p:cNvCxnSpPr>
          <p:nvPr/>
        </p:nvCxnSpPr>
        <p:spPr>
          <a:xfrm>
            <a:off x="11204086" y="3153944"/>
            <a:ext cx="0" cy="151965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84" name="Straight Connector 83">
            <a:extLst>
              <a:ext uri="{FF2B5EF4-FFF2-40B4-BE49-F238E27FC236}">
                <a16:creationId xmlns:a16="http://schemas.microsoft.com/office/drawing/2014/main" id="{A603AB4B-F9F8-817D-2A34-C4B88A9CC17D}"/>
              </a:ext>
            </a:extLst>
          </p:cNvPr>
          <p:cNvCxnSpPr>
            <a:cxnSpLocks/>
          </p:cNvCxnSpPr>
          <p:nvPr/>
        </p:nvCxnSpPr>
        <p:spPr>
          <a:xfrm>
            <a:off x="9762478" y="4430294"/>
            <a:ext cx="0" cy="151965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85" name="Oval 84">
            <a:extLst>
              <a:ext uri="{FF2B5EF4-FFF2-40B4-BE49-F238E27FC236}">
                <a16:creationId xmlns:a16="http://schemas.microsoft.com/office/drawing/2014/main" id="{1D8B7956-3A63-2909-3CF1-9F7DDB1131C7}"/>
              </a:ext>
            </a:extLst>
          </p:cNvPr>
          <p:cNvSpPr/>
          <p:nvPr/>
        </p:nvSpPr>
        <p:spPr>
          <a:xfrm>
            <a:off x="5127292" y="4889595"/>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D2</a:t>
            </a:r>
            <a:endParaRPr lang="en-NL" dirty="0"/>
          </a:p>
        </p:txBody>
      </p:sp>
      <p:sp>
        <p:nvSpPr>
          <p:cNvPr id="86" name="Oval 85">
            <a:extLst>
              <a:ext uri="{FF2B5EF4-FFF2-40B4-BE49-F238E27FC236}">
                <a16:creationId xmlns:a16="http://schemas.microsoft.com/office/drawing/2014/main" id="{B829FB39-40AD-E349-0544-BFEC11724DA3}"/>
              </a:ext>
            </a:extLst>
          </p:cNvPr>
          <p:cNvSpPr/>
          <p:nvPr/>
        </p:nvSpPr>
        <p:spPr>
          <a:xfrm>
            <a:off x="7337456" y="4809595"/>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D4</a:t>
            </a:r>
            <a:endParaRPr lang="en-NL" dirty="0"/>
          </a:p>
        </p:txBody>
      </p:sp>
      <p:sp>
        <p:nvSpPr>
          <p:cNvPr id="87" name="Oval 86">
            <a:extLst>
              <a:ext uri="{FF2B5EF4-FFF2-40B4-BE49-F238E27FC236}">
                <a16:creationId xmlns:a16="http://schemas.microsoft.com/office/drawing/2014/main" id="{6FCF700C-3C0A-4437-8A20-F309C55D17C9}"/>
              </a:ext>
            </a:extLst>
          </p:cNvPr>
          <p:cNvSpPr/>
          <p:nvPr/>
        </p:nvSpPr>
        <p:spPr>
          <a:xfrm>
            <a:off x="6232374" y="5404380"/>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D3</a:t>
            </a:r>
            <a:endParaRPr lang="en-NL" dirty="0"/>
          </a:p>
        </p:txBody>
      </p:sp>
      <p:sp>
        <p:nvSpPr>
          <p:cNvPr id="88" name="Oval 87">
            <a:extLst>
              <a:ext uri="{FF2B5EF4-FFF2-40B4-BE49-F238E27FC236}">
                <a16:creationId xmlns:a16="http://schemas.microsoft.com/office/drawing/2014/main" id="{3BA98DB1-D88A-FF7C-1A7C-A2F1C2BCD6E6}"/>
              </a:ext>
            </a:extLst>
          </p:cNvPr>
          <p:cNvSpPr/>
          <p:nvPr/>
        </p:nvSpPr>
        <p:spPr>
          <a:xfrm>
            <a:off x="8442537" y="5404380"/>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D5</a:t>
            </a:r>
            <a:endParaRPr lang="en-NL" dirty="0"/>
          </a:p>
        </p:txBody>
      </p:sp>
      <p:sp>
        <p:nvSpPr>
          <p:cNvPr id="89" name="Oval 88">
            <a:extLst>
              <a:ext uri="{FF2B5EF4-FFF2-40B4-BE49-F238E27FC236}">
                <a16:creationId xmlns:a16="http://schemas.microsoft.com/office/drawing/2014/main" id="{71797DF7-55A1-7B42-8A25-35D97497913E}"/>
              </a:ext>
            </a:extLst>
          </p:cNvPr>
          <p:cNvSpPr/>
          <p:nvPr/>
        </p:nvSpPr>
        <p:spPr>
          <a:xfrm>
            <a:off x="5128780" y="3321583"/>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C2</a:t>
            </a:r>
            <a:endParaRPr lang="en-NL" dirty="0"/>
          </a:p>
        </p:txBody>
      </p:sp>
      <p:sp>
        <p:nvSpPr>
          <p:cNvPr id="90" name="Oval 89">
            <a:extLst>
              <a:ext uri="{FF2B5EF4-FFF2-40B4-BE49-F238E27FC236}">
                <a16:creationId xmlns:a16="http://schemas.microsoft.com/office/drawing/2014/main" id="{0272FC71-080A-FF0E-E51B-7D329B42944F}"/>
              </a:ext>
            </a:extLst>
          </p:cNvPr>
          <p:cNvSpPr/>
          <p:nvPr/>
        </p:nvSpPr>
        <p:spPr>
          <a:xfrm>
            <a:off x="7337952" y="3321583"/>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C4</a:t>
            </a:r>
            <a:endParaRPr lang="en-NL" dirty="0"/>
          </a:p>
        </p:txBody>
      </p:sp>
      <p:sp>
        <p:nvSpPr>
          <p:cNvPr id="91" name="Oval 90">
            <a:extLst>
              <a:ext uri="{FF2B5EF4-FFF2-40B4-BE49-F238E27FC236}">
                <a16:creationId xmlns:a16="http://schemas.microsoft.com/office/drawing/2014/main" id="{8DA0114C-C3FE-51FD-7263-708425EA5D36}"/>
              </a:ext>
            </a:extLst>
          </p:cNvPr>
          <p:cNvSpPr/>
          <p:nvPr/>
        </p:nvSpPr>
        <p:spPr>
          <a:xfrm>
            <a:off x="9547126" y="3321583"/>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C6</a:t>
            </a:r>
            <a:endParaRPr lang="en-NL" dirty="0"/>
          </a:p>
        </p:txBody>
      </p:sp>
      <p:sp>
        <p:nvSpPr>
          <p:cNvPr id="92" name="Oval 91">
            <a:extLst>
              <a:ext uri="{FF2B5EF4-FFF2-40B4-BE49-F238E27FC236}">
                <a16:creationId xmlns:a16="http://schemas.microsoft.com/office/drawing/2014/main" id="{1A3F7B37-BCBF-D30F-C2E8-86DF3E717586}"/>
              </a:ext>
            </a:extLst>
          </p:cNvPr>
          <p:cNvSpPr/>
          <p:nvPr/>
        </p:nvSpPr>
        <p:spPr>
          <a:xfrm>
            <a:off x="4024194" y="3853081"/>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C1</a:t>
            </a:r>
            <a:endParaRPr lang="en-NL" dirty="0"/>
          </a:p>
        </p:txBody>
      </p:sp>
      <p:sp>
        <p:nvSpPr>
          <p:cNvPr id="93" name="Oval 92">
            <a:extLst>
              <a:ext uri="{FF2B5EF4-FFF2-40B4-BE49-F238E27FC236}">
                <a16:creationId xmlns:a16="http://schemas.microsoft.com/office/drawing/2014/main" id="{B6D205B1-C7B0-9AA8-FB78-F6F3DF1D6E46}"/>
              </a:ext>
            </a:extLst>
          </p:cNvPr>
          <p:cNvSpPr/>
          <p:nvPr/>
        </p:nvSpPr>
        <p:spPr>
          <a:xfrm>
            <a:off x="6233366" y="3853081"/>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C3</a:t>
            </a:r>
            <a:endParaRPr lang="en-NL" dirty="0"/>
          </a:p>
        </p:txBody>
      </p:sp>
      <p:sp>
        <p:nvSpPr>
          <p:cNvPr id="94" name="Oval 93">
            <a:extLst>
              <a:ext uri="{FF2B5EF4-FFF2-40B4-BE49-F238E27FC236}">
                <a16:creationId xmlns:a16="http://schemas.microsoft.com/office/drawing/2014/main" id="{39BEA599-9641-F348-34EF-E872D339D73A}"/>
              </a:ext>
            </a:extLst>
          </p:cNvPr>
          <p:cNvSpPr/>
          <p:nvPr/>
        </p:nvSpPr>
        <p:spPr>
          <a:xfrm>
            <a:off x="8442538" y="3853081"/>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C5</a:t>
            </a:r>
            <a:endParaRPr lang="en-NL" dirty="0"/>
          </a:p>
        </p:txBody>
      </p:sp>
      <p:cxnSp>
        <p:nvCxnSpPr>
          <p:cNvPr id="95" name="Straight Arrow Connector 94">
            <a:extLst>
              <a:ext uri="{FF2B5EF4-FFF2-40B4-BE49-F238E27FC236}">
                <a16:creationId xmlns:a16="http://schemas.microsoft.com/office/drawing/2014/main" id="{4EE6C5D6-7915-8863-87B3-46C95BE13632}"/>
              </a:ext>
            </a:extLst>
          </p:cNvPr>
          <p:cNvCxnSpPr>
            <a:cxnSpLocks/>
            <a:stCxn id="85" idx="0"/>
            <a:endCxn id="89" idx="4"/>
          </p:cNvCxnSpPr>
          <p:nvPr/>
        </p:nvCxnSpPr>
        <p:spPr>
          <a:xfrm flipV="1">
            <a:off x="5332080" y="3731158"/>
            <a:ext cx="1488" cy="1158437"/>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96" name="Straight Arrow Connector 95">
            <a:extLst>
              <a:ext uri="{FF2B5EF4-FFF2-40B4-BE49-F238E27FC236}">
                <a16:creationId xmlns:a16="http://schemas.microsoft.com/office/drawing/2014/main" id="{EA7775FE-C51B-55E2-A9AF-6C075A7F1585}"/>
              </a:ext>
            </a:extLst>
          </p:cNvPr>
          <p:cNvCxnSpPr>
            <a:cxnSpLocks/>
            <a:stCxn id="87" idx="0"/>
            <a:endCxn id="89" idx="5"/>
          </p:cNvCxnSpPr>
          <p:nvPr/>
        </p:nvCxnSpPr>
        <p:spPr>
          <a:xfrm flipH="1" flipV="1">
            <a:off x="5478374" y="3671177"/>
            <a:ext cx="958788" cy="1733203"/>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97" name="Straight Arrow Connector 96">
            <a:extLst>
              <a:ext uri="{FF2B5EF4-FFF2-40B4-BE49-F238E27FC236}">
                <a16:creationId xmlns:a16="http://schemas.microsoft.com/office/drawing/2014/main" id="{F99BB2FE-B833-1FBD-A17C-B0C62E6642FD}"/>
              </a:ext>
            </a:extLst>
          </p:cNvPr>
          <p:cNvCxnSpPr>
            <a:cxnSpLocks/>
            <a:stCxn id="86" idx="0"/>
            <a:endCxn id="90" idx="4"/>
          </p:cNvCxnSpPr>
          <p:nvPr/>
        </p:nvCxnSpPr>
        <p:spPr>
          <a:xfrm flipV="1">
            <a:off x="7542244" y="3731158"/>
            <a:ext cx="496" cy="1078437"/>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98" name="Straight Arrow Connector 97">
            <a:extLst>
              <a:ext uri="{FF2B5EF4-FFF2-40B4-BE49-F238E27FC236}">
                <a16:creationId xmlns:a16="http://schemas.microsoft.com/office/drawing/2014/main" id="{4263F8DB-CBA1-4B96-7E79-B1C056B734BD}"/>
              </a:ext>
            </a:extLst>
          </p:cNvPr>
          <p:cNvCxnSpPr>
            <a:cxnSpLocks/>
            <a:stCxn id="88" idx="0"/>
            <a:endCxn id="94" idx="4"/>
          </p:cNvCxnSpPr>
          <p:nvPr/>
        </p:nvCxnSpPr>
        <p:spPr>
          <a:xfrm flipV="1">
            <a:off x="8647325" y="4262656"/>
            <a:ext cx="1" cy="1141724"/>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99" name="Straight Arrow Connector 98">
            <a:extLst>
              <a:ext uri="{FF2B5EF4-FFF2-40B4-BE49-F238E27FC236}">
                <a16:creationId xmlns:a16="http://schemas.microsoft.com/office/drawing/2014/main" id="{0BAADD39-9D65-DDEF-E9A5-0E229E72E988}"/>
              </a:ext>
            </a:extLst>
          </p:cNvPr>
          <p:cNvCxnSpPr>
            <a:cxnSpLocks/>
            <a:stCxn id="90" idx="2"/>
            <a:endCxn id="93" idx="7"/>
          </p:cNvCxnSpPr>
          <p:nvPr/>
        </p:nvCxnSpPr>
        <p:spPr>
          <a:xfrm flipH="1">
            <a:off x="6582960" y="3526371"/>
            <a:ext cx="754992" cy="386691"/>
          </a:xfrm>
          <a:prstGeom prst="straightConnector1">
            <a:avLst/>
          </a:prstGeom>
          <a:ln w="38100">
            <a:solidFill>
              <a:srgbClr val="00B050"/>
            </a:solidFill>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00" name="Straight Arrow Connector 99">
            <a:extLst>
              <a:ext uri="{FF2B5EF4-FFF2-40B4-BE49-F238E27FC236}">
                <a16:creationId xmlns:a16="http://schemas.microsoft.com/office/drawing/2014/main" id="{71D46F25-57ED-CE45-CB1C-416DDC9500AD}"/>
              </a:ext>
            </a:extLst>
          </p:cNvPr>
          <p:cNvCxnSpPr>
            <a:cxnSpLocks/>
            <a:stCxn id="93" idx="1"/>
            <a:endCxn id="89" idx="6"/>
          </p:cNvCxnSpPr>
          <p:nvPr/>
        </p:nvCxnSpPr>
        <p:spPr>
          <a:xfrm flipH="1" flipV="1">
            <a:off x="5538355" y="3526371"/>
            <a:ext cx="754992" cy="386691"/>
          </a:xfrm>
          <a:prstGeom prst="straightConnector1">
            <a:avLst/>
          </a:prstGeom>
          <a:ln w="38100">
            <a:solidFill>
              <a:srgbClr val="00B050"/>
            </a:solidFill>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01" name="Connector: Curved 100">
            <a:extLst>
              <a:ext uri="{FF2B5EF4-FFF2-40B4-BE49-F238E27FC236}">
                <a16:creationId xmlns:a16="http://schemas.microsoft.com/office/drawing/2014/main" id="{28C21D2A-A743-C659-6C87-DEB314ED049D}"/>
              </a:ext>
            </a:extLst>
          </p:cNvPr>
          <p:cNvCxnSpPr>
            <a:cxnSpLocks/>
            <a:stCxn id="89" idx="7"/>
            <a:endCxn id="90" idx="1"/>
          </p:cNvCxnSpPr>
          <p:nvPr/>
        </p:nvCxnSpPr>
        <p:spPr>
          <a:xfrm rot="5400000" flipH="1" flipV="1">
            <a:off x="6438153" y="2421785"/>
            <a:ext cx="12700" cy="1919559"/>
          </a:xfrm>
          <a:prstGeom prst="curvedConnector3">
            <a:avLst>
              <a:gd name="adj1" fmla="val 893551"/>
            </a:avLst>
          </a:prstGeom>
          <a:ln w="38100">
            <a:solidFill>
              <a:srgbClr val="00B050"/>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02" name="Connector: Curved 101">
            <a:extLst>
              <a:ext uri="{FF2B5EF4-FFF2-40B4-BE49-F238E27FC236}">
                <a16:creationId xmlns:a16="http://schemas.microsoft.com/office/drawing/2014/main" id="{1479A94A-7D1D-FA1A-8DE7-9EDA745F3E01}"/>
              </a:ext>
            </a:extLst>
          </p:cNvPr>
          <p:cNvCxnSpPr>
            <a:cxnSpLocks/>
            <a:stCxn id="85" idx="4"/>
            <a:endCxn id="86" idx="4"/>
          </p:cNvCxnSpPr>
          <p:nvPr/>
        </p:nvCxnSpPr>
        <p:spPr>
          <a:xfrm rot="5400000" flipH="1" flipV="1">
            <a:off x="6397162" y="4154088"/>
            <a:ext cx="80000" cy="2210164"/>
          </a:xfrm>
          <a:prstGeom prst="curvedConnector3">
            <a:avLst>
              <a:gd name="adj1" fmla="val -1136920"/>
            </a:avLst>
          </a:prstGeom>
          <a:ln w="38100">
            <a:solidFill>
              <a:srgbClr val="00B050"/>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03" name="Connector: Curved 102">
            <a:extLst>
              <a:ext uri="{FF2B5EF4-FFF2-40B4-BE49-F238E27FC236}">
                <a16:creationId xmlns:a16="http://schemas.microsoft.com/office/drawing/2014/main" id="{396AC94C-25CA-BBD9-F21C-C4BACD884666}"/>
              </a:ext>
            </a:extLst>
          </p:cNvPr>
          <p:cNvCxnSpPr>
            <a:cxnSpLocks/>
            <a:stCxn id="87" idx="7"/>
            <a:endCxn id="86" idx="2"/>
          </p:cNvCxnSpPr>
          <p:nvPr/>
        </p:nvCxnSpPr>
        <p:spPr>
          <a:xfrm rot="5400000" flipH="1" flipV="1">
            <a:off x="6734723" y="4861628"/>
            <a:ext cx="449978" cy="755488"/>
          </a:xfrm>
          <a:prstGeom prst="curvedConnector2">
            <a:avLst/>
          </a:prstGeom>
          <a:ln w="38100">
            <a:solidFill>
              <a:srgbClr val="00B050"/>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104" name="Oval 103">
            <a:extLst>
              <a:ext uri="{FF2B5EF4-FFF2-40B4-BE49-F238E27FC236}">
                <a16:creationId xmlns:a16="http://schemas.microsoft.com/office/drawing/2014/main" id="{06CA1454-9591-F976-3A98-B1ECC119835A}"/>
              </a:ext>
            </a:extLst>
          </p:cNvPr>
          <p:cNvSpPr/>
          <p:nvPr/>
        </p:nvSpPr>
        <p:spPr>
          <a:xfrm>
            <a:off x="4024194" y="5404379"/>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D1</a:t>
            </a:r>
            <a:endParaRPr lang="en-NL" dirty="0"/>
          </a:p>
        </p:txBody>
      </p:sp>
      <p:cxnSp>
        <p:nvCxnSpPr>
          <p:cNvPr id="105" name="Straight Arrow Connector 104">
            <a:extLst>
              <a:ext uri="{FF2B5EF4-FFF2-40B4-BE49-F238E27FC236}">
                <a16:creationId xmlns:a16="http://schemas.microsoft.com/office/drawing/2014/main" id="{2EBD5965-61CB-26FC-B0F6-FD0B2312B0A4}"/>
              </a:ext>
            </a:extLst>
          </p:cNvPr>
          <p:cNvCxnSpPr>
            <a:cxnSpLocks/>
            <a:stCxn id="104" idx="0"/>
          </p:cNvCxnSpPr>
          <p:nvPr/>
        </p:nvCxnSpPr>
        <p:spPr>
          <a:xfrm flipV="1">
            <a:off x="4228982" y="4262656"/>
            <a:ext cx="0" cy="1141723"/>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sp>
        <p:nvSpPr>
          <p:cNvPr id="106" name="Oval 105">
            <a:extLst>
              <a:ext uri="{FF2B5EF4-FFF2-40B4-BE49-F238E27FC236}">
                <a16:creationId xmlns:a16="http://schemas.microsoft.com/office/drawing/2014/main" id="{5218DEF7-EFA8-17C0-4A2D-B374DB7F7590}"/>
              </a:ext>
            </a:extLst>
          </p:cNvPr>
          <p:cNvSpPr/>
          <p:nvPr/>
        </p:nvSpPr>
        <p:spPr>
          <a:xfrm>
            <a:off x="4024194" y="2067677"/>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dirty="0"/>
              <a:t>C1</a:t>
            </a:r>
            <a:endParaRPr lang="en-NL" dirty="0"/>
          </a:p>
        </p:txBody>
      </p:sp>
      <p:sp>
        <p:nvSpPr>
          <p:cNvPr id="107" name="Oval 106">
            <a:extLst>
              <a:ext uri="{FF2B5EF4-FFF2-40B4-BE49-F238E27FC236}">
                <a16:creationId xmlns:a16="http://schemas.microsoft.com/office/drawing/2014/main" id="{7510ED1C-8396-30B1-B8E7-CB7E3590E4E3}"/>
              </a:ext>
            </a:extLst>
          </p:cNvPr>
          <p:cNvSpPr/>
          <p:nvPr/>
        </p:nvSpPr>
        <p:spPr>
          <a:xfrm>
            <a:off x="6232373" y="2067677"/>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dirty="0"/>
              <a:t>C2</a:t>
            </a:r>
            <a:endParaRPr lang="en-NL" dirty="0"/>
          </a:p>
        </p:txBody>
      </p:sp>
      <p:sp>
        <p:nvSpPr>
          <p:cNvPr id="108" name="Oval 107">
            <a:extLst>
              <a:ext uri="{FF2B5EF4-FFF2-40B4-BE49-F238E27FC236}">
                <a16:creationId xmlns:a16="http://schemas.microsoft.com/office/drawing/2014/main" id="{D100D23D-2613-FBA4-0900-849E255FD1E2}"/>
              </a:ext>
            </a:extLst>
          </p:cNvPr>
          <p:cNvSpPr/>
          <p:nvPr/>
        </p:nvSpPr>
        <p:spPr>
          <a:xfrm>
            <a:off x="8440552" y="2067677"/>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dirty="0"/>
              <a:t>C3</a:t>
            </a:r>
            <a:endParaRPr lang="en-NL" dirty="0"/>
          </a:p>
        </p:txBody>
      </p:sp>
      <p:cxnSp>
        <p:nvCxnSpPr>
          <p:cNvPr id="109" name="Straight Arrow Connector 108">
            <a:extLst>
              <a:ext uri="{FF2B5EF4-FFF2-40B4-BE49-F238E27FC236}">
                <a16:creationId xmlns:a16="http://schemas.microsoft.com/office/drawing/2014/main" id="{0426A84B-A111-EFD2-A3F8-7285128803FE}"/>
              </a:ext>
            </a:extLst>
          </p:cNvPr>
          <p:cNvCxnSpPr>
            <a:cxnSpLocks/>
            <a:stCxn id="92" idx="0"/>
            <a:endCxn id="106" idx="4"/>
          </p:cNvCxnSpPr>
          <p:nvPr/>
        </p:nvCxnSpPr>
        <p:spPr>
          <a:xfrm flipV="1">
            <a:off x="4228982" y="2477252"/>
            <a:ext cx="0" cy="1375829"/>
          </a:xfrm>
          <a:prstGeom prst="straightConnector1">
            <a:avLst/>
          </a:prstGeom>
          <a:ln w="38100">
            <a:solidFill>
              <a:schemeClr val="accent4"/>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116" name="Straight Arrow Connector 115">
            <a:extLst>
              <a:ext uri="{FF2B5EF4-FFF2-40B4-BE49-F238E27FC236}">
                <a16:creationId xmlns:a16="http://schemas.microsoft.com/office/drawing/2014/main" id="{B8E6B282-3E4E-F7D1-C539-30F21DE48682}"/>
              </a:ext>
            </a:extLst>
          </p:cNvPr>
          <p:cNvCxnSpPr>
            <a:cxnSpLocks/>
            <a:stCxn id="91" idx="1"/>
            <a:endCxn id="108" idx="5"/>
          </p:cNvCxnSpPr>
          <p:nvPr/>
        </p:nvCxnSpPr>
        <p:spPr>
          <a:xfrm flipH="1" flipV="1">
            <a:off x="8790146" y="2417271"/>
            <a:ext cx="816961" cy="964293"/>
          </a:xfrm>
          <a:prstGeom prst="straightConnector1">
            <a:avLst/>
          </a:prstGeom>
          <a:ln w="38100">
            <a:solidFill>
              <a:schemeClr val="accent4"/>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121" name="Straight Arrow Connector 120">
            <a:extLst>
              <a:ext uri="{FF2B5EF4-FFF2-40B4-BE49-F238E27FC236}">
                <a16:creationId xmlns:a16="http://schemas.microsoft.com/office/drawing/2014/main" id="{5F4C5CDD-34B9-A23C-BFF7-066E22B8E5A0}"/>
              </a:ext>
            </a:extLst>
          </p:cNvPr>
          <p:cNvCxnSpPr>
            <a:cxnSpLocks/>
            <a:stCxn id="90" idx="0"/>
            <a:endCxn id="107" idx="5"/>
          </p:cNvCxnSpPr>
          <p:nvPr/>
        </p:nvCxnSpPr>
        <p:spPr>
          <a:xfrm flipH="1" flipV="1">
            <a:off x="6581967" y="2417271"/>
            <a:ext cx="960773" cy="904312"/>
          </a:xfrm>
          <a:prstGeom prst="straightConnector1">
            <a:avLst/>
          </a:prstGeom>
          <a:ln w="38100">
            <a:solidFill>
              <a:schemeClr val="accent4"/>
            </a:solidFill>
            <a:prstDash val="sysDash"/>
            <a:tailEnd type="triangle" w="lg" len="med"/>
          </a:ln>
        </p:spPr>
        <p:style>
          <a:lnRef idx="1">
            <a:schemeClr val="accent1"/>
          </a:lnRef>
          <a:fillRef idx="0">
            <a:schemeClr val="accent1"/>
          </a:fillRef>
          <a:effectRef idx="0">
            <a:schemeClr val="accent1"/>
          </a:effectRef>
          <a:fontRef idx="minor">
            <a:schemeClr val="tx1"/>
          </a:fontRef>
        </p:style>
      </p:cxnSp>
      <p:cxnSp>
        <p:nvCxnSpPr>
          <p:cNvPr id="126" name="Straight Arrow Connector 125">
            <a:extLst>
              <a:ext uri="{FF2B5EF4-FFF2-40B4-BE49-F238E27FC236}">
                <a16:creationId xmlns:a16="http://schemas.microsoft.com/office/drawing/2014/main" id="{E524B00D-DDA7-19E0-22FA-8436AE65DD76}"/>
              </a:ext>
            </a:extLst>
          </p:cNvPr>
          <p:cNvCxnSpPr>
            <a:cxnSpLocks/>
            <a:stCxn id="89" idx="0"/>
            <a:endCxn id="107" idx="3"/>
          </p:cNvCxnSpPr>
          <p:nvPr/>
        </p:nvCxnSpPr>
        <p:spPr>
          <a:xfrm flipV="1">
            <a:off x="5333568" y="2417271"/>
            <a:ext cx="958786" cy="904312"/>
          </a:xfrm>
          <a:prstGeom prst="straightConnector1">
            <a:avLst/>
          </a:prstGeom>
          <a:ln w="38100">
            <a:solidFill>
              <a:schemeClr val="accent4"/>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129" name="Straight Arrow Connector 128">
            <a:extLst>
              <a:ext uri="{FF2B5EF4-FFF2-40B4-BE49-F238E27FC236}">
                <a16:creationId xmlns:a16="http://schemas.microsoft.com/office/drawing/2014/main" id="{B115E763-C937-5C69-7E43-F6A94A0AC760}"/>
              </a:ext>
            </a:extLst>
          </p:cNvPr>
          <p:cNvCxnSpPr>
            <a:cxnSpLocks/>
            <a:stCxn id="94" idx="0"/>
            <a:endCxn id="108" idx="4"/>
          </p:cNvCxnSpPr>
          <p:nvPr/>
        </p:nvCxnSpPr>
        <p:spPr>
          <a:xfrm flipH="1" flipV="1">
            <a:off x="8645340" y="2477252"/>
            <a:ext cx="1986" cy="1375829"/>
          </a:xfrm>
          <a:prstGeom prst="straightConnector1">
            <a:avLst/>
          </a:prstGeom>
          <a:ln w="38100">
            <a:solidFill>
              <a:schemeClr val="accent4"/>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132" name="Connector: Curved 131">
            <a:extLst>
              <a:ext uri="{FF2B5EF4-FFF2-40B4-BE49-F238E27FC236}">
                <a16:creationId xmlns:a16="http://schemas.microsoft.com/office/drawing/2014/main" id="{C7CDBBC0-D72C-42FF-1765-DDD03AA8DDC3}"/>
              </a:ext>
            </a:extLst>
          </p:cNvPr>
          <p:cNvCxnSpPr>
            <a:cxnSpLocks/>
            <a:stCxn id="94" idx="6"/>
            <a:endCxn id="91" idx="4"/>
          </p:cNvCxnSpPr>
          <p:nvPr/>
        </p:nvCxnSpPr>
        <p:spPr>
          <a:xfrm flipV="1">
            <a:off x="8852113" y="3731158"/>
            <a:ext cx="899801" cy="326711"/>
          </a:xfrm>
          <a:prstGeom prst="curvedConnector2">
            <a:avLst/>
          </a:prstGeom>
          <a:ln w="38100">
            <a:solidFill>
              <a:srgbClr val="00B050"/>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35" name="Straight Arrow Connector 134">
            <a:extLst>
              <a:ext uri="{FF2B5EF4-FFF2-40B4-BE49-F238E27FC236}">
                <a16:creationId xmlns:a16="http://schemas.microsoft.com/office/drawing/2014/main" id="{7F0F3B2F-78F0-C24B-7B35-DF5E3ACC6231}"/>
              </a:ext>
            </a:extLst>
          </p:cNvPr>
          <p:cNvCxnSpPr>
            <a:cxnSpLocks/>
          </p:cNvCxnSpPr>
          <p:nvPr/>
        </p:nvCxnSpPr>
        <p:spPr>
          <a:xfrm flipH="1">
            <a:off x="4433769" y="2272465"/>
            <a:ext cx="1798604" cy="0"/>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sp>
        <p:nvSpPr>
          <p:cNvPr id="136" name="TextBox 135">
            <a:extLst>
              <a:ext uri="{FF2B5EF4-FFF2-40B4-BE49-F238E27FC236}">
                <a16:creationId xmlns:a16="http://schemas.microsoft.com/office/drawing/2014/main" id="{609D6C23-5C18-E415-C6B5-9666429002C4}"/>
              </a:ext>
            </a:extLst>
          </p:cNvPr>
          <p:cNvSpPr txBox="1"/>
          <p:nvPr/>
        </p:nvSpPr>
        <p:spPr>
          <a:xfrm>
            <a:off x="4650542" y="1804769"/>
            <a:ext cx="1377044" cy="461665"/>
          </a:xfrm>
          <a:prstGeom prst="rect">
            <a:avLst/>
          </a:prstGeom>
          <a:noFill/>
        </p:spPr>
        <p:txBody>
          <a:bodyPr wrap="none" rtlCol="0">
            <a:spAutoFit/>
          </a:bodyPr>
          <a:lstStyle/>
          <a:p>
            <a:pPr algn="ctr"/>
            <a:r>
              <a:rPr lang="en-US" sz="1200" dirty="0" err="1"/>
              <a:t>narrowerMeaning</a:t>
            </a:r>
            <a:r>
              <a:rPr lang="en-US" sz="1200" dirty="0"/>
              <a:t> </a:t>
            </a:r>
          </a:p>
          <a:p>
            <a:pPr algn="ctr"/>
            <a:r>
              <a:rPr lang="en-US" sz="1200" dirty="0"/>
              <a:t>(</a:t>
            </a:r>
            <a:r>
              <a:rPr lang="en-US" sz="1200" dirty="0" err="1"/>
              <a:t>subClassOf</a:t>
            </a:r>
            <a:r>
              <a:rPr lang="en-US" sz="1200" dirty="0"/>
              <a:t>)</a:t>
            </a:r>
            <a:endParaRPr lang="en-NL" sz="1200" dirty="0"/>
          </a:p>
        </p:txBody>
      </p:sp>
      <p:cxnSp>
        <p:nvCxnSpPr>
          <p:cNvPr id="140" name="Connector: Curved 139">
            <a:extLst>
              <a:ext uri="{FF2B5EF4-FFF2-40B4-BE49-F238E27FC236}">
                <a16:creationId xmlns:a16="http://schemas.microsoft.com/office/drawing/2014/main" id="{8AF6D522-2DCC-9F19-0F2B-DB7B759DC8B0}"/>
              </a:ext>
            </a:extLst>
          </p:cNvPr>
          <p:cNvCxnSpPr>
            <a:cxnSpLocks/>
            <a:stCxn id="85" idx="6"/>
            <a:endCxn id="87" idx="1"/>
          </p:cNvCxnSpPr>
          <p:nvPr/>
        </p:nvCxnSpPr>
        <p:spPr>
          <a:xfrm>
            <a:off x="5536867" y="5094383"/>
            <a:ext cx="755488" cy="369978"/>
          </a:xfrm>
          <a:prstGeom prst="curvedConnector2">
            <a:avLst/>
          </a:prstGeom>
          <a:ln w="38100">
            <a:solidFill>
              <a:srgbClr val="00B050"/>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802142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1"/>
                                        </p:tgtEl>
                                        <p:attrNameLst>
                                          <p:attrName>style.visibility</p:attrName>
                                        </p:attrNameLst>
                                      </p:cBhvr>
                                      <p:to>
                                        <p:strVal val="visible"/>
                                      </p:to>
                                    </p:set>
                                    <p:animEffect transition="in" filter="fade">
                                      <p:cBhvr>
                                        <p:cTn id="7" dur="1000"/>
                                        <p:tgtEl>
                                          <p:spTgt spid="121"/>
                                        </p:tgtEl>
                                      </p:cBhvr>
                                    </p:animEffect>
                                  </p:childTnLst>
                                </p:cTn>
                              </p:par>
                              <p:par>
                                <p:cTn id="8" presetID="10" presetClass="entr" presetSubtype="0" fill="hold" nodeType="withEffect">
                                  <p:stCondLst>
                                    <p:cond delay="0"/>
                                  </p:stCondLst>
                                  <p:childTnLst>
                                    <p:set>
                                      <p:cBhvr>
                                        <p:cTn id="9" dur="1" fill="hold">
                                          <p:stCondLst>
                                            <p:cond delay="0"/>
                                          </p:stCondLst>
                                        </p:cTn>
                                        <p:tgtEl>
                                          <p:spTgt spid="132"/>
                                        </p:tgtEl>
                                        <p:attrNameLst>
                                          <p:attrName>style.visibility</p:attrName>
                                        </p:attrNameLst>
                                      </p:cBhvr>
                                      <p:to>
                                        <p:strVal val="visible"/>
                                      </p:to>
                                    </p:set>
                                    <p:animEffect transition="in" filter="fade">
                                      <p:cBhvr>
                                        <p:cTn id="10" dur="1000"/>
                                        <p:tgtEl>
                                          <p:spTgt spid="1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CD1A86-5599-6455-BC07-D2E9A775E0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2244DC-FA4E-7FE2-5E4C-FA862B4E3658}"/>
              </a:ext>
            </a:extLst>
          </p:cNvPr>
          <p:cNvSpPr>
            <a:spLocks noGrp="1"/>
          </p:cNvSpPr>
          <p:nvPr>
            <p:ph type="title"/>
          </p:nvPr>
        </p:nvSpPr>
        <p:spPr/>
        <p:txBody>
          <a:bodyPr/>
          <a:lstStyle/>
          <a:p>
            <a:r>
              <a:rPr lang="en-US" dirty="0"/>
              <a:t>Context: With HRI-SSI (</a:t>
            </a:r>
            <a:r>
              <a:rPr lang="en-US" dirty="0" err="1"/>
              <a:t>cannotAlign</a:t>
            </a:r>
            <a:r>
              <a:rPr lang="en-US" dirty="0"/>
              <a:t>)</a:t>
            </a:r>
            <a:endParaRPr lang="en-NL" dirty="0"/>
          </a:p>
        </p:txBody>
      </p:sp>
      <p:sp>
        <p:nvSpPr>
          <p:cNvPr id="4" name="Slide Number Placeholder 3">
            <a:extLst>
              <a:ext uri="{FF2B5EF4-FFF2-40B4-BE49-F238E27FC236}">
                <a16:creationId xmlns:a16="http://schemas.microsoft.com/office/drawing/2014/main" id="{D2E45271-E24F-79DE-25A4-D653A079CAFE}"/>
              </a:ext>
            </a:extLst>
          </p:cNvPr>
          <p:cNvSpPr>
            <a:spLocks noGrp="1"/>
          </p:cNvSpPr>
          <p:nvPr>
            <p:ph type="sldNum" sz="quarter" idx="12"/>
          </p:nvPr>
        </p:nvSpPr>
        <p:spPr/>
        <p:txBody>
          <a:bodyPr/>
          <a:lstStyle/>
          <a:p>
            <a:fld id="{4FAB73BC-B049-4115-A692-8D63A059BFB8}" type="slidenum">
              <a:rPr lang="en-US" smtClean="0"/>
              <a:pPr/>
              <a:t>49</a:t>
            </a:fld>
            <a:endParaRPr lang="en-US" dirty="0"/>
          </a:p>
        </p:txBody>
      </p:sp>
      <p:cxnSp>
        <p:nvCxnSpPr>
          <p:cNvPr id="34" name="Straight Connector 33">
            <a:extLst>
              <a:ext uri="{FF2B5EF4-FFF2-40B4-BE49-F238E27FC236}">
                <a16:creationId xmlns:a16="http://schemas.microsoft.com/office/drawing/2014/main" id="{2E6AC33F-2DC6-BF6D-E2C7-D9306CD9E0E2}"/>
              </a:ext>
            </a:extLst>
          </p:cNvPr>
          <p:cNvCxnSpPr/>
          <p:nvPr/>
        </p:nvCxnSpPr>
        <p:spPr>
          <a:xfrm>
            <a:off x="2440086" y="1662864"/>
            <a:ext cx="0" cy="3010736"/>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sp>
        <p:nvSpPr>
          <p:cNvPr id="35" name="Parallelogram 34">
            <a:extLst>
              <a:ext uri="{FF2B5EF4-FFF2-40B4-BE49-F238E27FC236}">
                <a16:creationId xmlns:a16="http://schemas.microsoft.com/office/drawing/2014/main" id="{77941450-9105-C039-9740-1BF6F27FF4E2}"/>
              </a:ext>
            </a:extLst>
          </p:cNvPr>
          <p:cNvSpPr/>
          <p:nvPr/>
        </p:nvSpPr>
        <p:spPr>
          <a:xfrm>
            <a:off x="982761" y="3153944"/>
            <a:ext cx="10229850" cy="1276350"/>
          </a:xfrm>
          <a:prstGeom prst="parallelogram">
            <a:avLst>
              <a:gd name="adj" fmla="val 113806"/>
            </a:avLst>
          </a:prstGeom>
          <a:solidFill>
            <a:srgbClr val="FFE4D9"/>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solidFill>
                <a:srgbClr val="FFE4D9"/>
              </a:solidFill>
            </a:endParaRPr>
          </a:p>
        </p:txBody>
      </p:sp>
      <p:sp>
        <p:nvSpPr>
          <p:cNvPr id="36" name="TextBox 35">
            <a:extLst>
              <a:ext uri="{FF2B5EF4-FFF2-40B4-BE49-F238E27FC236}">
                <a16:creationId xmlns:a16="http://schemas.microsoft.com/office/drawing/2014/main" id="{DC94C473-8E72-639A-7951-1B933CF63A79}"/>
              </a:ext>
            </a:extLst>
          </p:cNvPr>
          <p:cNvSpPr txBox="1"/>
          <p:nvPr/>
        </p:nvSpPr>
        <p:spPr>
          <a:xfrm>
            <a:off x="1218930" y="4122517"/>
            <a:ext cx="1693092"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37" name="Parallelogram 36">
            <a:extLst>
              <a:ext uri="{FF2B5EF4-FFF2-40B4-BE49-F238E27FC236}">
                <a16:creationId xmlns:a16="http://schemas.microsoft.com/office/drawing/2014/main" id="{AFC05A1E-4987-20E4-981F-F4B14A2F46A3}"/>
              </a:ext>
            </a:extLst>
          </p:cNvPr>
          <p:cNvSpPr/>
          <p:nvPr/>
        </p:nvSpPr>
        <p:spPr>
          <a:xfrm>
            <a:off x="982761" y="4673600"/>
            <a:ext cx="10229850" cy="1276350"/>
          </a:xfrm>
          <a:prstGeom prst="parallelogram">
            <a:avLst>
              <a:gd name="adj" fmla="val 113806"/>
            </a:avLst>
          </a:prstGeom>
          <a:solidFill>
            <a:schemeClr val="accent4">
              <a:lumMod val="20000"/>
              <a:lumOff val="8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8" name="TextBox 37">
            <a:extLst>
              <a:ext uri="{FF2B5EF4-FFF2-40B4-BE49-F238E27FC236}">
                <a16:creationId xmlns:a16="http://schemas.microsoft.com/office/drawing/2014/main" id="{1E9B6003-E4DE-E06D-CF0B-45A44EAB5C70}"/>
              </a:ext>
            </a:extLst>
          </p:cNvPr>
          <p:cNvSpPr txBox="1"/>
          <p:nvPr/>
        </p:nvSpPr>
        <p:spPr>
          <a:xfrm>
            <a:off x="1258204" y="5642173"/>
            <a:ext cx="1614545"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4"/>
                </a:solidFill>
              </a:rPr>
              <a:t>Datasets Columns</a:t>
            </a:r>
            <a:endParaRPr lang="en-NL" sz="1400" dirty="0">
              <a:solidFill>
                <a:schemeClr val="accent4"/>
              </a:solidFill>
            </a:endParaRPr>
          </a:p>
        </p:txBody>
      </p:sp>
      <p:sp>
        <p:nvSpPr>
          <p:cNvPr id="39" name="Parallelogram 38">
            <a:extLst>
              <a:ext uri="{FF2B5EF4-FFF2-40B4-BE49-F238E27FC236}">
                <a16:creationId xmlns:a16="http://schemas.microsoft.com/office/drawing/2014/main" id="{9A94A24D-759A-D3A9-1B13-E8C899681655}"/>
              </a:ext>
            </a:extLst>
          </p:cNvPr>
          <p:cNvSpPr/>
          <p:nvPr/>
        </p:nvSpPr>
        <p:spPr>
          <a:xfrm>
            <a:off x="982761" y="1634289"/>
            <a:ext cx="10229850" cy="1276350"/>
          </a:xfrm>
          <a:prstGeom prst="parallelogram">
            <a:avLst>
              <a:gd name="adj" fmla="val 113806"/>
            </a:avLst>
          </a:prstGeom>
          <a:solidFill>
            <a:schemeClr val="accent1">
              <a:lumMod val="20000"/>
              <a:lumOff val="80000"/>
              <a:alpha val="95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0" name="TextBox 39">
            <a:extLst>
              <a:ext uri="{FF2B5EF4-FFF2-40B4-BE49-F238E27FC236}">
                <a16:creationId xmlns:a16="http://schemas.microsoft.com/office/drawing/2014/main" id="{E9190A11-9E6C-B5FF-159B-7B738B6C32AB}"/>
              </a:ext>
            </a:extLst>
          </p:cNvPr>
          <p:cNvSpPr txBox="1"/>
          <p:nvPr/>
        </p:nvSpPr>
        <p:spPr>
          <a:xfrm>
            <a:off x="1352455" y="2602861"/>
            <a:ext cx="954107"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tx2">
                    <a:lumMod val="90000"/>
                    <a:lumOff val="10000"/>
                  </a:schemeClr>
                </a:solidFill>
              </a:rPr>
              <a:t>Meanings</a:t>
            </a:r>
            <a:endParaRPr lang="en-NL" sz="1400" dirty="0">
              <a:solidFill>
                <a:schemeClr val="tx2">
                  <a:lumMod val="90000"/>
                  <a:lumOff val="10000"/>
                </a:schemeClr>
              </a:solidFill>
            </a:endParaRPr>
          </a:p>
        </p:txBody>
      </p:sp>
      <p:cxnSp>
        <p:nvCxnSpPr>
          <p:cNvPr id="41" name="Straight Connector 40">
            <a:extLst>
              <a:ext uri="{FF2B5EF4-FFF2-40B4-BE49-F238E27FC236}">
                <a16:creationId xmlns:a16="http://schemas.microsoft.com/office/drawing/2014/main" id="{D5626E38-11C7-64C4-245C-E9A2AE6538B4}"/>
              </a:ext>
            </a:extLst>
          </p:cNvPr>
          <p:cNvCxnSpPr/>
          <p:nvPr/>
        </p:nvCxnSpPr>
        <p:spPr>
          <a:xfrm>
            <a:off x="982760" y="2939214"/>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018EE820-1097-8D9F-5ACF-5EF864D7F954}"/>
              </a:ext>
            </a:extLst>
          </p:cNvPr>
          <p:cNvCxnSpPr/>
          <p:nvPr/>
        </p:nvCxnSpPr>
        <p:spPr>
          <a:xfrm>
            <a:off x="11210279" y="1662864"/>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83" name="Straight Connector 82">
            <a:extLst>
              <a:ext uri="{FF2B5EF4-FFF2-40B4-BE49-F238E27FC236}">
                <a16:creationId xmlns:a16="http://schemas.microsoft.com/office/drawing/2014/main" id="{3603A542-418E-58AD-9EBF-F7C50E27D78E}"/>
              </a:ext>
            </a:extLst>
          </p:cNvPr>
          <p:cNvCxnSpPr>
            <a:cxnSpLocks/>
          </p:cNvCxnSpPr>
          <p:nvPr/>
        </p:nvCxnSpPr>
        <p:spPr>
          <a:xfrm>
            <a:off x="11204086" y="3153944"/>
            <a:ext cx="0" cy="151965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84" name="Straight Connector 83">
            <a:extLst>
              <a:ext uri="{FF2B5EF4-FFF2-40B4-BE49-F238E27FC236}">
                <a16:creationId xmlns:a16="http://schemas.microsoft.com/office/drawing/2014/main" id="{72F8F154-B059-D05A-9E1A-79B2F9DFFF6E}"/>
              </a:ext>
            </a:extLst>
          </p:cNvPr>
          <p:cNvCxnSpPr>
            <a:cxnSpLocks/>
          </p:cNvCxnSpPr>
          <p:nvPr/>
        </p:nvCxnSpPr>
        <p:spPr>
          <a:xfrm>
            <a:off x="9762478" y="4430294"/>
            <a:ext cx="0" cy="151965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89" name="Oval 88">
            <a:extLst>
              <a:ext uri="{FF2B5EF4-FFF2-40B4-BE49-F238E27FC236}">
                <a16:creationId xmlns:a16="http://schemas.microsoft.com/office/drawing/2014/main" id="{F58F82B2-418E-910D-B984-26CD1C4D7442}"/>
              </a:ext>
            </a:extLst>
          </p:cNvPr>
          <p:cNvSpPr/>
          <p:nvPr/>
        </p:nvSpPr>
        <p:spPr>
          <a:xfrm>
            <a:off x="5128780" y="3321583"/>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C2</a:t>
            </a:r>
            <a:endParaRPr lang="en-NL" dirty="0"/>
          </a:p>
        </p:txBody>
      </p:sp>
      <p:sp>
        <p:nvSpPr>
          <p:cNvPr id="90" name="Oval 89">
            <a:extLst>
              <a:ext uri="{FF2B5EF4-FFF2-40B4-BE49-F238E27FC236}">
                <a16:creationId xmlns:a16="http://schemas.microsoft.com/office/drawing/2014/main" id="{42D742AD-FFF8-2349-97CC-6E0E7ADAE536}"/>
              </a:ext>
            </a:extLst>
          </p:cNvPr>
          <p:cNvSpPr/>
          <p:nvPr/>
        </p:nvSpPr>
        <p:spPr>
          <a:xfrm>
            <a:off x="7337952" y="3321583"/>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C4</a:t>
            </a:r>
            <a:endParaRPr lang="en-NL" dirty="0"/>
          </a:p>
        </p:txBody>
      </p:sp>
      <p:sp>
        <p:nvSpPr>
          <p:cNvPr id="91" name="Oval 90">
            <a:extLst>
              <a:ext uri="{FF2B5EF4-FFF2-40B4-BE49-F238E27FC236}">
                <a16:creationId xmlns:a16="http://schemas.microsoft.com/office/drawing/2014/main" id="{2E8CBC7D-FCCE-C6F5-4185-4C6CFE2BA67C}"/>
              </a:ext>
            </a:extLst>
          </p:cNvPr>
          <p:cNvSpPr/>
          <p:nvPr/>
        </p:nvSpPr>
        <p:spPr>
          <a:xfrm>
            <a:off x="9547126" y="3321583"/>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C6</a:t>
            </a:r>
            <a:endParaRPr lang="en-NL" dirty="0"/>
          </a:p>
        </p:txBody>
      </p:sp>
      <p:sp>
        <p:nvSpPr>
          <p:cNvPr id="92" name="Oval 91">
            <a:extLst>
              <a:ext uri="{FF2B5EF4-FFF2-40B4-BE49-F238E27FC236}">
                <a16:creationId xmlns:a16="http://schemas.microsoft.com/office/drawing/2014/main" id="{A4D12BB1-80B2-03D8-63E7-2E3F75B48EDC}"/>
              </a:ext>
            </a:extLst>
          </p:cNvPr>
          <p:cNvSpPr/>
          <p:nvPr/>
        </p:nvSpPr>
        <p:spPr>
          <a:xfrm>
            <a:off x="4024194" y="3853081"/>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C1</a:t>
            </a:r>
            <a:endParaRPr lang="en-NL" dirty="0"/>
          </a:p>
        </p:txBody>
      </p:sp>
      <p:sp>
        <p:nvSpPr>
          <p:cNvPr id="93" name="Oval 92">
            <a:extLst>
              <a:ext uri="{FF2B5EF4-FFF2-40B4-BE49-F238E27FC236}">
                <a16:creationId xmlns:a16="http://schemas.microsoft.com/office/drawing/2014/main" id="{4BD251BA-6CD3-81F6-7BC7-A634309C07DA}"/>
              </a:ext>
            </a:extLst>
          </p:cNvPr>
          <p:cNvSpPr/>
          <p:nvPr/>
        </p:nvSpPr>
        <p:spPr>
          <a:xfrm>
            <a:off x="6233366" y="3853081"/>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C3</a:t>
            </a:r>
            <a:endParaRPr lang="en-NL" dirty="0"/>
          </a:p>
        </p:txBody>
      </p:sp>
      <p:sp>
        <p:nvSpPr>
          <p:cNvPr id="94" name="Oval 93">
            <a:extLst>
              <a:ext uri="{FF2B5EF4-FFF2-40B4-BE49-F238E27FC236}">
                <a16:creationId xmlns:a16="http://schemas.microsoft.com/office/drawing/2014/main" id="{D73BE406-BFA2-40C5-A897-182AE6165C40}"/>
              </a:ext>
            </a:extLst>
          </p:cNvPr>
          <p:cNvSpPr/>
          <p:nvPr/>
        </p:nvSpPr>
        <p:spPr>
          <a:xfrm>
            <a:off x="8442538" y="3853081"/>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C5</a:t>
            </a:r>
            <a:endParaRPr lang="en-NL" dirty="0"/>
          </a:p>
        </p:txBody>
      </p:sp>
      <p:cxnSp>
        <p:nvCxnSpPr>
          <p:cNvPr id="95" name="Straight Arrow Connector 94">
            <a:extLst>
              <a:ext uri="{FF2B5EF4-FFF2-40B4-BE49-F238E27FC236}">
                <a16:creationId xmlns:a16="http://schemas.microsoft.com/office/drawing/2014/main" id="{D3AB243C-28C3-5E5E-222D-0C6071CB328F}"/>
              </a:ext>
            </a:extLst>
          </p:cNvPr>
          <p:cNvCxnSpPr>
            <a:cxnSpLocks/>
            <a:endCxn id="89" idx="4"/>
          </p:cNvCxnSpPr>
          <p:nvPr/>
        </p:nvCxnSpPr>
        <p:spPr>
          <a:xfrm flipV="1">
            <a:off x="5332080" y="3731158"/>
            <a:ext cx="1488" cy="1158437"/>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96" name="Straight Arrow Connector 95">
            <a:extLst>
              <a:ext uri="{FF2B5EF4-FFF2-40B4-BE49-F238E27FC236}">
                <a16:creationId xmlns:a16="http://schemas.microsoft.com/office/drawing/2014/main" id="{D27D71AB-D102-F37B-BFEA-5EE346D3B4D2}"/>
              </a:ext>
            </a:extLst>
          </p:cNvPr>
          <p:cNvCxnSpPr>
            <a:cxnSpLocks/>
            <a:endCxn id="89" idx="5"/>
          </p:cNvCxnSpPr>
          <p:nvPr/>
        </p:nvCxnSpPr>
        <p:spPr>
          <a:xfrm flipH="1" flipV="1">
            <a:off x="5478374" y="3671177"/>
            <a:ext cx="958788" cy="1733203"/>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97" name="Straight Arrow Connector 96">
            <a:extLst>
              <a:ext uri="{FF2B5EF4-FFF2-40B4-BE49-F238E27FC236}">
                <a16:creationId xmlns:a16="http://schemas.microsoft.com/office/drawing/2014/main" id="{8C1F61ED-B800-FD88-BF69-A902D1CC7FB1}"/>
              </a:ext>
            </a:extLst>
          </p:cNvPr>
          <p:cNvCxnSpPr>
            <a:cxnSpLocks/>
            <a:endCxn id="90" idx="4"/>
          </p:cNvCxnSpPr>
          <p:nvPr/>
        </p:nvCxnSpPr>
        <p:spPr>
          <a:xfrm flipV="1">
            <a:off x="7542244" y="3731158"/>
            <a:ext cx="496" cy="1078437"/>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98" name="Straight Arrow Connector 97">
            <a:extLst>
              <a:ext uri="{FF2B5EF4-FFF2-40B4-BE49-F238E27FC236}">
                <a16:creationId xmlns:a16="http://schemas.microsoft.com/office/drawing/2014/main" id="{619E86B2-1041-0CD3-F994-FD8DB92802A5}"/>
              </a:ext>
            </a:extLst>
          </p:cNvPr>
          <p:cNvCxnSpPr>
            <a:cxnSpLocks/>
            <a:endCxn id="94" idx="4"/>
          </p:cNvCxnSpPr>
          <p:nvPr/>
        </p:nvCxnSpPr>
        <p:spPr>
          <a:xfrm flipV="1">
            <a:off x="8647325" y="4262656"/>
            <a:ext cx="1" cy="1141724"/>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99" name="Straight Arrow Connector 98">
            <a:extLst>
              <a:ext uri="{FF2B5EF4-FFF2-40B4-BE49-F238E27FC236}">
                <a16:creationId xmlns:a16="http://schemas.microsoft.com/office/drawing/2014/main" id="{64B12C2B-97FA-37F7-A502-24F3A4BA1628}"/>
              </a:ext>
            </a:extLst>
          </p:cNvPr>
          <p:cNvCxnSpPr>
            <a:cxnSpLocks/>
            <a:stCxn id="90" idx="2"/>
            <a:endCxn id="93" idx="7"/>
          </p:cNvCxnSpPr>
          <p:nvPr/>
        </p:nvCxnSpPr>
        <p:spPr>
          <a:xfrm flipH="1">
            <a:off x="6582960" y="3526371"/>
            <a:ext cx="754992" cy="386691"/>
          </a:xfrm>
          <a:prstGeom prst="straightConnector1">
            <a:avLst/>
          </a:prstGeom>
          <a:ln w="38100">
            <a:solidFill>
              <a:srgbClr val="00B050"/>
            </a:solidFill>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00" name="Straight Arrow Connector 99">
            <a:extLst>
              <a:ext uri="{FF2B5EF4-FFF2-40B4-BE49-F238E27FC236}">
                <a16:creationId xmlns:a16="http://schemas.microsoft.com/office/drawing/2014/main" id="{E344A797-9E5D-4D46-7C5F-1F84098DC516}"/>
              </a:ext>
            </a:extLst>
          </p:cNvPr>
          <p:cNvCxnSpPr>
            <a:cxnSpLocks/>
            <a:stCxn id="93" idx="1"/>
            <a:endCxn id="89" idx="6"/>
          </p:cNvCxnSpPr>
          <p:nvPr/>
        </p:nvCxnSpPr>
        <p:spPr>
          <a:xfrm flipH="1" flipV="1">
            <a:off x="5538355" y="3526371"/>
            <a:ext cx="754992" cy="386691"/>
          </a:xfrm>
          <a:prstGeom prst="straightConnector1">
            <a:avLst/>
          </a:prstGeom>
          <a:ln w="38100">
            <a:solidFill>
              <a:srgbClr val="00B050"/>
            </a:solidFill>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01" name="Connector: Curved 100">
            <a:extLst>
              <a:ext uri="{FF2B5EF4-FFF2-40B4-BE49-F238E27FC236}">
                <a16:creationId xmlns:a16="http://schemas.microsoft.com/office/drawing/2014/main" id="{BAACECFF-BD62-710A-7FF9-3F739CBEADA5}"/>
              </a:ext>
            </a:extLst>
          </p:cNvPr>
          <p:cNvCxnSpPr>
            <a:cxnSpLocks/>
            <a:stCxn id="89" idx="7"/>
            <a:endCxn id="90" idx="1"/>
          </p:cNvCxnSpPr>
          <p:nvPr/>
        </p:nvCxnSpPr>
        <p:spPr>
          <a:xfrm rot="5400000" flipH="1" flipV="1">
            <a:off x="6438153" y="2421785"/>
            <a:ext cx="12700" cy="1919559"/>
          </a:xfrm>
          <a:prstGeom prst="curvedConnector3">
            <a:avLst>
              <a:gd name="adj1" fmla="val 893551"/>
            </a:avLst>
          </a:prstGeom>
          <a:ln w="38100">
            <a:solidFill>
              <a:srgbClr val="00B050"/>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104" name="Oval 103">
            <a:extLst>
              <a:ext uri="{FF2B5EF4-FFF2-40B4-BE49-F238E27FC236}">
                <a16:creationId xmlns:a16="http://schemas.microsoft.com/office/drawing/2014/main" id="{894FD91A-56BD-BD2F-A86C-BEADFA8038A6}"/>
              </a:ext>
            </a:extLst>
          </p:cNvPr>
          <p:cNvSpPr/>
          <p:nvPr/>
        </p:nvSpPr>
        <p:spPr>
          <a:xfrm>
            <a:off x="4024194" y="5404379"/>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D1</a:t>
            </a:r>
            <a:endParaRPr lang="en-NL" dirty="0"/>
          </a:p>
        </p:txBody>
      </p:sp>
      <p:cxnSp>
        <p:nvCxnSpPr>
          <p:cNvPr id="105" name="Straight Arrow Connector 104">
            <a:extLst>
              <a:ext uri="{FF2B5EF4-FFF2-40B4-BE49-F238E27FC236}">
                <a16:creationId xmlns:a16="http://schemas.microsoft.com/office/drawing/2014/main" id="{8CE68C81-C593-37A4-C685-AEA908FC48DA}"/>
              </a:ext>
            </a:extLst>
          </p:cNvPr>
          <p:cNvCxnSpPr>
            <a:cxnSpLocks/>
            <a:stCxn id="104" idx="0"/>
          </p:cNvCxnSpPr>
          <p:nvPr/>
        </p:nvCxnSpPr>
        <p:spPr>
          <a:xfrm flipV="1">
            <a:off x="4228982" y="4262656"/>
            <a:ext cx="0" cy="1141723"/>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sp>
        <p:nvSpPr>
          <p:cNvPr id="106" name="Oval 105">
            <a:extLst>
              <a:ext uri="{FF2B5EF4-FFF2-40B4-BE49-F238E27FC236}">
                <a16:creationId xmlns:a16="http://schemas.microsoft.com/office/drawing/2014/main" id="{9D854CF3-3A55-0328-16C0-28D638F29C61}"/>
              </a:ext>
            </a:extLst>
          </p:cNvPr>
          <p:cNvSpPr/>
          <p:nvPr/>
        </p:nvSpPr>
        <p:spPr>
          <a:xfrm>
            <a:off x="4024194" y="2067677"/>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dirty="0"/>
              <a:t>C1</a:t>
            </a:r>
            <a:endParaRPr lang="en-NL" dirty="0"/>
          </a:p>
        </p:txBody>
      </p:sp>
      <p:sp>
        <p:nvSpPr>
          <p:cNvPr id="107" name="Oval 106">
            <a:extLst>
              <a:ext uri="{FF2B5EF4-FFF2-40B4-BE49-F238E27FC236}">
                <a16:creationId xmlns:a16="http://schemas.microsoft.com/office/drawing/2014/main" id="{7C593463-7E04-B4F2-3FEB-4789A0808BD1}"/>
              </a:ext>
            </a:extLst>
          </p:cNvPr>
          <p:cNvSpPr/>
          <p:nvPr/>
        </p:nvSpPr>
        <p:spPr>
          <a:xfrm>
            <a:off x="6232373" y="2067677"/>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dirty="0"/>
              <a:t>C2</a:t>
            </a:r>
            <a:endParaRPr lang="en-NL" dirty="0"/>
          </a:p>
        </p:txBody>
      </p:sp>
      <p:sp>
        <p:nvSpPr>
          <p:cNvPr id="108" name="Oval 107">
            <a:extLst>
              <a:ext uri="{FF2B5EF4-FFF2-40B4-BE49-F238E27FC236}">
                <a16:creationId xmlns:a16="http://schemas.microsoft.com/office/drawing/2014/main" id="{E402C781-1778-6763-73AD-C952495739D6}"/>
              </a:ext>
            </a:extLst>
          </p:cNvPr>
          <p:cNvSpPr/>
          <p:nvPr/>
        </p:nvSpPr>
        <p:spPr>
          <a:xfrm>
            <a:off x="8440552" y="2067677"/>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dirty="0"/>
              <a:t>C3</a:t>
            </a:r>
            <a:endParaRPr lang="en-NL" dirty="0"/>
          </a:p>
        </p:txBody>
      </p:sp>
      <p:cxnSp>
        <p:nvCxnSpPr>
          <p:cNvPr id="109" name="Straight Arrow Connector 108">
            <a:extLst>
              <a:ext uri="{FF2B5EF4-FFF2-40B4-BE49-F238E27FC236}">
                <a16:creationId xmlns:a16="http://schemas.microsoft.com/office/drawing/2014/main" id="{5904A3A3-1369-DF93-5F95-AD74F545EFB0}"/>
              </a:ext>
            </a:extLst>
          </p:cNvPr>
          <p:cNvCxnSpPr>
            <a:cxnSpLocks/>
            <a:stCxn id="92" idx="0"/>
            <a:endCxn id="106" idx="4"/>
          </p:cNvCxnSpPr>
          <p:nvPr/>
        </p:nvCxnSpPr>
        <p:spPr>
          <a:xfrm flipV="1">
            <a:off x="4228982" y="2477252"/>
            <a:ext cx="0" cy="1375829"/>
          </a:xfrm>
          <a:prstGeom prst="straightConnector1">
            <a:avLst/>
          </a:prstGeom>
          <a:ln w="38100">
            <a:solidFill>
              <a:schemeClr val="accent4"/>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116" name="Straight Arrow Connector 115">
            <a:extLst>
              <a:ext uri="{FF2B5EF4-FFF2-40B4-BE49-F238E27FC236}">
                <a16:creationId xmlns:a16="http://schemas.microsoft.com/office/drawing/2014/main" id="{99D2B8C5-C081-8153-88CD-8A50BFC20E81}"/>
              </a:ext>
            </a:extLst>
          </p:cNvPr>
          <p:cNvCxnSpPr>
            <a:cxnSpLocks/>
            <a:stCxn id="91" idx="1"/>
            <a:endCxn id="108" idx="5"/>
          </p:cNvCxnSpPr>
          <p:nvPr/>
        </p:nvCxnSpPr>
        <p:spPr>
          <a:xfrm flipH="1" flipV="1">
            <a:off x="8790146" y="2417271"/>
            <a:ext cx="816961" cy="964293"/>
          </a:xfrm>
          <a:prstGeom prst="straightConnector1">
            <a:avLst/>
          </a:prstGeom>
          <a:ln w="38100">
            <a:solidFill>
              <a:schemeClr val="accent4"/>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121" name="Straight Arrow Connector 120">
            <a:extLst>
              <a:ext uri="{FF2B5EF4-FFF2-40B4-BE49-F238E27FC236}">
                <a16:creationId xmlns:a16="http://schemas.microsoft.com/office/drawing/2014/main" id="{F6171CDD-D94A-72C0-4A75-051B377C1C39}"/>
              </a:ext>
            </a:extLst>
          </p:cNvPr>
          <p:cNvCxnSpPr>
            <a:cxnSpLocks/>
            <a:stCxn id="90" idx="0"/>
            <a:endCxn id="107" idx="5"/>
          </p:cNvCxnSpPr>
          <p:nvPr/>
        </p:nvCxnSpPr>
        <p:spPr>
          <a:xfrm flipH="1" flipV="1">
            <a:off x="6581967" y="2417271"/>
            <a:ext cx="960773" cy="904312"/>
          </a:xfrm>
          <a:prstGeom prst="straightConnector1">
            <a:avLst/>
          </a:prstGeom>
          <a:ln w="38100">
            <a:solidFill>
              <a:schemeClr val="accent4"/>
            </a:solidFill>
            <a:prstDash val="sysDash"/>
            <a:tailEnd type="triangle" w="lg" len="med"/>
          </a:ln>
        </p:spPr>
        <p:style>
          <a:lnRef idx="1">
            <a:schemeClr val="accent1"/>
          </a:lnRef>
          <a:fillRef idx="0">
            <a:schemeClr val="accent1"/>
          </a:fillRef>
          <a:effectRef idx="0">
            <a:schemeClr val="accent1"/>
          </a:effectRef>
          <a:fontRef idx="minor">
            <a:schemeClr val="tx1"/>
          </a:fontRef>
        </p:style>
      </p:cxnSp>
      <p:cxnSp>
        <p:nvCxnSpPr>
          <p:cNvPr id="126" name="Straight Arrow Connector 125">
            <a:extLst>
              <a:ext uri="{FF2B5EF4-FFF2-40B4-BE49-F238E27FC236}">
                <a16:creationId xmlns:a16="http://schemas.microsoft.com/office/drawing/2014/main" id="{6233386C-E18E-55AD-CCB6-6E30F3F710EB}"/>
              </a:ext>
            </a:extLst>
          </p:cNvPr>
          <p:cNvCxnSpPr>
            <a:cxnSpLocks/>
            <a:stCxn id="89" idx="0"/>
            <a:endCxn id="107" idx="3"/>
          </p:cNvCxnSpPr>
          <p:nvPr/>
        </p:nvCxnSpPr>
        <p:spPr>
          <a:xfrm flipV="1">
            <a:off x="5333568" y="2417271"/>
            <a:ext cx="958786" cy="904312"/>
          </a:xfrm>
          <a:prstGeom prst="straightConnector1">
            <a:avLst/>
          </a:prstGeom>
          <a:ln w="38100">
            <a:solidFill>
              <a:schemeClr val="accent4"/>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129" name="Straight Arrow Connector 128">
            <a:extLst>
              <a:ext uri="{FF2B5EF4-FFF2-40B4-BE49-F238E27FC236}">
                <a16:creationId xmlns:a16="http://schemas.microsoft.com/office/drawing/2014/main" id="{FEF2DB99-E46E-44B9-A099-F31B2DEE317B}"/>
              </a:ext>
            </a:extLst>
          </p:cNvPr>
          <p:cNvCxnSpPr>
            <a:cxnSpLocks/>
            <a:stCxn id="94" idx="0"/>
            <a:endCxn id="108" idx="4"/>
          </p:cNvCxnSpPr>
          <p:nvPr/>
        </p:nvCxnSpPr>
        <p:spPr>
          <a:xfrm flipH="1" flipV="1">
            <a:off x="8645340" y="2477252"/>
            <a:ext cx="1986" cy="1375829"/>
          </a:xfrm>
          <a:prstGeom prst="straightConnector1">
            <a:avLst/>
          </a:prstGeom>
          <a:ln w="38100">
            <a:solidFill>
              <a:schemeClr val="accent4"/>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132" name="Connector: Curved 131">
            <a:extLst>
              <a:ext uri="{FF2B5EF4-FFF2-40B4-BE49-F238E27FC236}">
                <a16:creationId xmlns:a16="http://schemas.microsoft.com/office/drawing/2014/main" id="{639CF0F0-AAF4-E262-4C39-1B4CD38755F8}"/>
              </a:ext>
            </a:extLst>
          </p:cNvPr>
          <p:cNvCxnSpPr>
            <a:cxnSpLocks/>
            <a:stCxn id="94" idx="6"/>
            <a:endCxn id="91" idx="4"/>
          </p:cNvCxnSpPr>
          <p:nvPr/>
        </p:nvCxnSpPr>
        <p:spPr>
          <a:xfrm flipV="1">
            <a:off x="8852113" y="3731158"/>
            <a:ext cx="899801" cy="326711"/>
          </a:xfrm>
          <a:prstGeom prst="curvedConnector2">
            <a:avLst/>
          </a:prstGeom>
          <a:ln w="38100">
            <a:solidFill>
              <a:srgbClr val="00B050"/>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3E4A1FA1-9C5B-F659-B262-01360BB51106}"/>
              </a:ext>
            </a:extLst>
          </p:cNvPr>
          <p:cNvCxnSpPr>
            <a:cxnSpLocks/>
            <a:stCxn id="90" idx="7"/>
            <a:endCxn id="108" idx="3"/>
          </p:cNvCxnSpPr>
          <p:nvPr/>
        </p:nvCxnSpPr>
        <p:spPr>
          <a:xfrm flipV="1">
            <a:off x="7687546" y="2417271"/>
            <a:ext cx="812987" cy="964293"/>
          </a:xfrm>
          <a:prstGeom prst="straightConnector1">
            <a:avLst/>
          </a:prstGeom>
          <a:ln w="38100">
            <a:solidFill>
              <a:schemeClr val="accent6"/>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14" name="Connector: Curved 13">
            <a:extLst>
              <a:ext uri="{FF2B5EF4-FFF2-40B4-BE49-F238E27FC236}">
                <a16:creationId xmlns:a16="http://schemas.microsoft.com/office/drawing/2014/main" id="{E111425B-2E54-F37B-C231-A7ED2F296E01}"/>
              </a:ext>
            </a:extLst>
          </p:cNvPr>
          <p:cNvCxnSpPr>
            <a:cxnSpLocks/>
            <a:stCxn id="90" idx="5"/>
            <a:endCxn id="94" idx="2"/>
          </p:cNvCxnSpPr>
          <p:nvPr/>
        </p:nvCxnSpPr>
        <p:spPr>
          <a:xfrm rot="16200000" flipH="1">
            <a:off x="7871696" y="3487027"/>
            <a:ext cx="386692" cy="754992"/>
          </a:xfrm>
          <a:prstGeom prst="curvedConnector2">
            <a:avLst/>
          </a:prstGeom>
          <a:ln w="38100">
            <a:solidFill>
              <a:schemeClr val="accent6"/>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824E10CA-227C-0CD8-ABAD-05CAD931F6DA}"/>
              </a:ext>
            </a:extLst>
          </p:cNvPr>
          <p:cNvCxnSpPr>
            <a:cxnSpLocks/>
          </p:cNvCxnSpPr>
          <p:nvPr/>
        </p:nvCxnSpPr>
        <p:spPr>
          <a:xfrm flipH="1">
            <a:off x="4433769" y="2272465"/>
            <a:ext cx="1798604" cy="0"/>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A1F6868B-527A-3419-8AF9-CBBB52B7A84A}"/>
              </a:ext>
            </a:extLst>
          </p:cNvPr>
          <p:cNvSpPr txBox="1"/>
          <p:nvPr/>
        </p:nvSpPr>
        <p:spPr>
          <a:xfrm>
            <a:off x="4650542" y="1804769"/>
            <a:ext cx="1377044" cy="461665"/>
          </a:xfrm>
          <a:prstGeom prst="rect">
            <a:avLst/>
          </a:prstGeom>
          <a:noFill/>
        </p:spPr>
        <p:txBody>
          <a:bodyPr wrap="none" rtlCol="0">
            <a:spAutoFit/>
          </a:bodyPr>
          <a:lstStyle/>
          <a:p>
            <a:pPr algn="ctr"/>
            <a:r>
              <a:rPr lang="en-US" sz="1200" dirty="0" err="1"/>
              <a:t>narrowerMeaning</a:t>
            </a:r>
            <a:r>
              <a:rPr lang="en-US" sz="1200" dirty="0"/>
              <a:t> </a:t>
            </a:r>
          </a:p>
          <a:p>
            <a:pPr algn="ctr"/>
            <a:r>
              <a:rPr lang="en-US" sz="1200" dirty="0"/>
              <a:t>(</a:t>
            </a:r>
            <a:r>
              <a:rPr lang="en-US" sz="1200" dirty="0" err="1"/>
              <a:t>subClassOf</a:t>
            </a:r>
            <a:r>
              <a:rPr lang="en-US" sz="1200" dirty="0"/>
              <a:t>)</a:t>
            </a:r>
            <a:endParaRPr lang="en-NL" sz="1200" dirty="0"/>
          </a:p>
        </p:txBody>
      </p:sp>
      <p:cxnSp>
        <p:nvCxnSpPr>
          <p:cNvPr id="26" name="Straight Arrow Connector 25">
            <a:extLst>
              <a:ext uri="{FF2B5EF4-FFF2-40B4-BE49-F238E27FC236}">
                <a16:creationId xmlns:a16="http://schemas.microsoft.com/office/drawing/2014/main" id="{B1729FAE-4EDD-9AEF-DBA3-97D6F4AB9EFB}"/>
              </a:ext>
            </a:extLst>
          </p:cNvPr>
          <p:cNvCxnSpPr>
            <a:cxnSpLocks/>
            <a:stCxn id="91" idx="2"/>
            <a:endCxn id="90" idx="6"/>
          </p:cNvCxnSpPr>
          <p:nvPr/>
        </p:nvCxnSpPr>
        <p:spPr>
          <a:xfrm flipH="1">
            <a:off x="7747527" y="3526371"/>
            <a:ext cx="1799599" cy="0"/>
          </a:xfrm>
          <a:prstGeom prst="straightConnector1">
            <a:avLst/>
          </a:prstGeom>
          <a:ln w="38100">
            <a:solidFill>
              <a:schemeClr val="accent6"/>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A9651955-3406-E6EB-2EC0-A11CF4522D2D}"/>
              </a:ext>
            </a:extLst>
          </p:cNvPr>
          <p:cNvCxnSpPr>
            <a:cxnSpLocks/>
            <a:stCxn id="91" idx="3"/>
            <a:endCxn id="93" idx="6"/>
          </p:cNvCxnSpPr>
          <p:nvPr/>
        </p:nvCxnSpPr>
        <p:spPr>
          <a:xfrm flipH="1">
            <a:off x="6642941" y="3671177"/>
            <a:ext cx="2964166" cy="386692"/>
          </a:xfrm>
          <a:prstGeom prst="straightConnector1">
            <a:avLst/>
          </a:prstGeom>
          <a:ln w="38100">
            <a:solidFill>
              <a:schemeClr val="accent6"/>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33" name="Connector: Curved 32">
            <a:extLst>
              <a:ext uri="{FF2B5EF4-FFF2-40B4-BE49-F238E27FC236}">
                <a16:creationId xmlns:a16="http://schemas.microsoft.com/office/drawing/2014/main" id="{A479CDE6-8301-8BAF-A92D-06B81758086F}"/>
              </a:ext>
            </a:extLst>
          </p:cNvPr>
          <p:cNvCxnSpPr>
            <a:cxnSpLocks/>
            <a:stCxn id="89" idx="7"/>
            <a:endCxn id="91" idx="1"/>
          </p:cNvCxnSpPr>
          <p:nvPr/>
        </p:nvCxnSpPr>
        <p:spPr>
          <a:xfrm rot="5400000" flipH="1" flipV="1">
            <a:off x="7542740" y="1317198"/>
            <a:ext cx="12700" cy="4128733"/>
          </a:xfrm>
          <a:prstGeom prst="curvedConnector3">
            <a:avLst>
              <a:gd name="adj1" fmla="val 3114827"/>
            </a:avLst>
          </a:prstGeom>
          <a:ln w="38100">
            <a:solidFill>
              <a:schemeClr val="accent6"/>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49" name="Connector: Curved 48">
            <a:extLst>
              <a:ext uri="{FF2B5EF4-FFF2-40B4-BE49-F238E27FC236}">
                <a16:creationId xmlns:a16="http://schemas.microsoft.com/office/drawing/2014/main" id="{8188C730-CF27-E0A4-7879-73338E5C4693}"/>
              </a:ext>
            </a:extLst>
          </p:cNvPr>
          <p:cNvCxnSpPr>
            <a:cxnSpLocks/>
          </p:cNvCxnSpPr>
          <p:nvPr/>
        </p:nvCxnSpPr>
        <p:spPr>
          <a:xfrm rot="16200000" flipH="1">
            <a:off x="7542739" y="3242895"/>
            <a:ext cx="12700" cy="1919559"/>
          </a:xfrm>
          <a:prstGeom prst="curvedConnector3">
            <a:avLst>
              <a:gd name="adj1" fmla="val 2272291"/>
            </a:avLst>
          </a:prstGeom>
          <a:ln w="38100">
            <a:solidFill>
              <a:schemeClr val="accent6"/>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50" name="Connector: Curved 49">
            <a:extLst>
              <a:ext uri="{FF2B5EF4-FFF2-40B4-BE49-F238E27FC236}">
                <a16:creationId xmlns:a16="http://schemas.microsoft.com/office/drawing/2014/main" id="{D5E59D19-5E10-305C-2402-69FD1D959886}"/>
              </a:ext>
            </a:extLst>
          </p:cNvPr>
          <p:cNvCxnSpPr>
            <a:cxnSpLocks/>
          </p:cNvCxnSpPr>
          <p:nvPr/>
        </p:nvCxnSpPr>
        <p:spPr>
          <a:xfrm rot="16200000" flipH="1">
            <a:off x="6724698" y="2340028"/>
            <a:ext cx="531498" cy="3313758"/>
          </a:xfrm>
          <a:prstGeom prst="curvedConnector3">
            <a:avLst>
              <a:gd name="adj1" fmla="val 174125"/>
            </a:avLst>
          </a:prstGeom>
          <a:ln w="38100">
            <a:solidFill>
              <a:schemeClr val="accent6"/>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60" name="Oval 59">
            <a:extLst>
              <a:ext uri="{FF2B5EF4-FFF2-40B4-BE49-F238E27FC236}">
                <a16:creationId xmlns:a16="http://schemas.microsoft.com/office/drawing/2014/main" id="{418AE9E3-3D8B-EC80-AE4D-981212D78234}"/>
              </a:ext>
            </a:extLst>
          </p:cNvPr>
          <p:cNvSpPr/>
          <p:nvPr/>
        </p:nvSpPr>
        <p:spPr>
          <a:xfrm>
            <a:off x="5127292" y="4889595"/>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D2</a:t>
            </a:r>
            <a:endParaRPr lang="en-NL" dirty="0"/>
          </a:p>
        </p:txBody>
      </p:sp>
      <p:sp>
        <p:nvSpPr>
          <p:cNvPr id="61" name="Oval 60">
            <a:extLst>
              <a:ext uri="{FF2B5EF4-FFF2-40B4-BE49-F238E27FC236}">
                <a16:creationId xmlns:a16="http://schemas.microsoft.com/office/drawing/2014/main" id="{E5F7DBEC-5598-0DED-0017-E3DDE15F5644}"/>
              </a:ext>
            </a:extLst>
          </p:cNvPr>
          <p:cNvSpPr/>
          <p:nvPr/>
        </p:nvSpPr>
        <p:spPr>
          <a:xfrm>
            <a:off x="7337456" y="4809595"/>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D4</a:t>
            </a:r>
            <a:endParaRPr lang="en-NL" dirty="0"/>
          </a:p>
        </p:txBody>
      </p:sp>
      <p:sp>
        <p:nvSpPr>
          <p:cNvPr id="62" name="Oval 61">
            <a:extLst>
              <a:ext uri="{FF2B5EF4-FFF2-40B4-BE49-F238E27FC236}">
                <a16:creationId xmlns:a16="http://schemas.microsoft.com/office/drawing/2014/main" id="{FA943FC8-5082-769E-3AE2-715A126E0988}"/>
              </a:ext>
            </a:extLst>
          </p:cNvPr>
          <p:cNvSpPr/>
          <p:nvPr/>
        </p:nvSpPr>
        <p:spPr>
          <a:xfrm>
            <a:off x="6232374" y="5404380"/>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D3</a:t>
            </a:r>
            <a:endParaRPr lang="en-NL" dirty="0"/>
          </a:p>
        </p:txBody>
      </p:sp>
      <p:sp>
        <p:nvSpPr>
          <p:cNvPr id="63" name="Oval 62">
            <a:extLst>
              <a:ext uri="{FF2B5EF4-FFF2-40B4-BE49-F238E27FC236}">
                <a16:creationId xmlns:a16="http://schemas.microsoft.com/office/drawing/2014/main" id="{BC7A94EA-45BC-A387-3792-ECDB6CFC143C}"/>
              </a:ext>
            </a:extLst>
          </p:cNvPr>
          <p:cNvSpPr/>
          <p:nvPr/>
        </p:nvSpPr>
        <p:spPr>
          <a:xfrm>
            <a:off x="8442537" y="5404380"/>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D5</a:t>
            </a:r>
            <a:endParaRPr lang="en-NL" dirty="0"/>
          </a:p>
        </p:txBody>
      </p:sp>
      <p:cxnSp>
        <p:nvCxnSpPr>
          <p:cNvPr id="64" name="Connector: Curved 63">
            <a:extLst>
              <a:ext uri="{FF2B5EF4-FFF2-40B4-BE49-F238E27FC236}">
                <a16:creationId xmlns:a16="http://schemas.microsoft.com/office/drawing/2014/main" id="{B493B929-EC34-BD5B-2A74-EEC367221AC6}"/>
              </a:ext>
            </a:extLst>
          </p:cNvPr>
          <p:cNvCxnSpPr>
            <a:cxnSpLocks/>
            <a:stCxn id="60" idx="4"/>
            <a:endCxn id="61" idx="4"/>
          </p:cNvCxnSpPr>
          <p:nvPr/>
        </p:nvCxnSpPr>
        <p:spPr>
          <a:xfrm rot="5400000" flipH="1" flipV="1">
            <a:off x="6397162" y="4154088"/>
            <a:ext cx="80000" cy="2210164"/>
          </a:xfrm>
          <a:prstGeom prst="curvedConnector3">
            <a:avLst>
              <a:gd name="adj1" fmla="val -1136920"/>
            </a:avLst>
          </a:prstGeom>
          <a:ln w="38100">
            <a:solidFill>
              <a:srgbClr val="00B050"/>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65" name="Connector: Curved 64">
            <a:extLst>
              <a:ext uri="{FF2B5EF4-FFF2-40B4-BE49-F238E27FC236}">
                <a16:creationId xmlns:a16="http://schemas.microsoft.com/office/drawing/2014/main" id="{E740D741-44B7-BB64-3F6D-A1C87AC2A66F}"/>
              </a:ext>
            </a:extLst>
          </p:cNvPr>
          <p:cNvCxnSpPr>
            <a:cxnSpLocks/>
            <a:stCxn id="62" idx="7"/>
            <a:endCxn id="61" idx="2"/>
          </p:cNvCxnSpPr>
          <p:nvPr/>
        </p:nvCxnSpPr>
        <p:spPr>
          <a:xfrm rot="5400000" flipH="1" flipV="1">
            <a:off x="6734723" y="4861628"/>
            <a:ext cx="449978" cy="755488"/>
          </a:xfrm>
          <a:prstGeom prst="curvedConnector2">
            <a:avLst/>
          </a:prstGeom>
          <a:ln w="38100">
            <a:solidFill>
              <a:srgbClr val="00B050"/>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66" name="Connector: Curved 65">
            <a:extLst>
              <a:ext uri="{FF2B5EF4-FFF2-40B4-BE49-F238E27FC236}">
                <a16:creationId xmlns:a16="http://schemas.microsoft.com/office/drawing/2014/main" id="{0A8C2B34-31A0-11D9-EE94-1E25232459A1}"/>
              </a:ext>
            </a:extLst>
          </p:cNvPr>
          <p:cNvCxnSpPr>
            <a:cxnSpLocks/>
            <a:stCxn id="61" idx="6"/>
            <a:endCxn id="63" idx="1"/>
          </p:cNvCxnSpPr>
          <p:nvPr/>
        </p:nvCxnSpPr>
        <p:spPr>
          <a:xfrm>
            <a:off x="7747031" y="5014383"/>
            <a:ext cx="755487" cy="449978"/>
          </a:xfrm>
          <a:prstGeom prst="curvedConnector2">
            <a:avLst/>
          </a:prstGeom>
          <a:ln w="38100">
            <a:solidFill>
              <a:schemeClr val="accent6"/>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67" name="Connector: Curved 66">
            <a:extLst>
              <a:ext uri="{FF2B5EF4-FFF2-40B4-BE49-F238E27FC236}">
                <a16:creationId xmlns:a16="http://schemas.microsoft.com/office/drawing/2014/main" id="{29AAFB4C-D701-E9AD-A73E-EF69777C09C8}"/>
              </a:ext>
            </a:extLst>
          </p:cNvPr>
          <p:cNvCxnSpPr>
            <a:cxnSpLocks/>
            <a:stCxn id="60" idx="5"/>
            <a:endCxn id="63" idx="3"/>
          </p:cNvCxnSpPr>
          <p:nvPr/>
        </p:nvCxnSpPr>
        <p:spPr>
          <a:xfrm rot="16200000" flipH="1">
            <a:off x="6732310" y="3983765"/>
            <a:ext cx="514785" cy="3025632"/>
          </a:xfrm>
          <a:prstGeom prst="curvedConnector3">
            <a:avLst>
              <a:gd name="adj1" fmla="val 186293"/>
            </a:avLst>
          </a:prstGeom>
          <a:ln w="38100">
            <a:solidFill>
              <a:schemeClr val="accent6"/>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E160C5C0-EF0E-C9A8-3078-0507EB380118}"/>
              </a:ext>
            </a:extLst>
          </p:cNvPr>
          <p:cNvCxnSpPr>
            <a:cxnSpLocks/>
            <a:stCxn id="63" idx="2"/>
            <a:endCxn id="62" idx="6"/>
          </p:cNvCxnSpPr>
          <p:nvPr/>
        </p:nvCxnSpPr>
        <p:spPr>
          <a:xfrm flipH="1">
            <a:off x="6641949" y="5609168"/>
            <a:ext cx="1800588" cy="0"/>
          </a:xfrm>
          <a:prstGeom prst="straightConnector1">
            <a:avLst/>
          </a:prstGeom>
          <a:ln w="38100">
            <a:solidFill>
              <a:schemeClr val="accent6"/>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72" name="Connector: Curved 71">
            <a:extLst>
              <a:ext uri="{FF2B5EF4-FFF2-40B4-BE49-F238E27FC236}">
                <a16:creationId xmlns:a16="http://schemas.microsoft.com/office/drawing/2014/main" id="{44C63083-5F57-3A09-7D07-A479F2ABA39C}"/>
              </a:ext>
            </a:extLst>
          </p:cNvPr>
          <p:cNvCxnSpPr>
            <a:cxnSpLocks/>
          </p:cNvCxnSpPr>
          <p:nvPr/>
        </p:nvCxnSpPr>
        <p:spPr>
          <a:xfrm>
            <a:off x="5536867" y="5094383"/>
            <a:ext cx="755488" cy="369978"/>
          </a:xfrm>
          <a:prstGeom prst="curvedConnector2">
            <a:avLst/>
          </a:prstGeom>
          <a:ln w="38100">
            <a:solidFill>
              <a:srgbClr val="00B050"/>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914213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000"/>
                                        <p:tgtEl>
                                          <p:spTgt spid="14"/>
                                        </p:tgtEl>
                                      </p:cBhvr>
                                    </p:animEffect>
                                  </p:childTnLst>
                                </p:cTn>
                              </p:par>
                              <p:par>
                                <p:cTn id="8" presetID="10" presetClass="entr" presetSubtype="0" fill="hold" nodeType="withEffect">
                                  <p:stCondLst>
                                    <p:cond delay="0"/>
                                  </p:stCondLst>
                                  <p:childTnLst>
                                    <p:set>
                                      <p:cBhvr>
                                        <p:cTn id="9" dur="1" fill="hold">
                                          <p:stCondLst>
                                            <p:cond delay="0"/>
                                          </p:stCondLst>
                                        </p:cTn>
                                        <p:tgtEl>
                                          <p:spTgt spid="26"/>
                                        </p:tgtEl>
                                        <p:attrNameLst>
                                          <p:attrName>style.visibility</p:attrName>
                                        </p:attrNameLst>
                                      </p:cBhvr>
                                      <p:to>
                                        <p:strVal val="visible"/>
                                      </p:to>
                                    </p:set>
                                    <p:animEffect transition="in" filter="fade">
                                      <p:cBhvr>
                                        <p:cTn id="10" dur="1000"/>
                                        <p:tgtEl>
                                          <p:spTgt spid="26"/>
                                        </p:tgtEl>
                                      </p:cBhvr>
                                    </p:animEffect>
                                  </p:childTnLst>
                                </p:cTn>
                              </p:par>
                              <p:par>
                                <p:cTn id="11" presetID="10" presetClass="entr" presetSubtype="0" fill="hold" nodeType="withEffect">
                                  <p:stCondLst>
                                    <p:cond delay="0"/>
                                  </p:stCondLst>
                                  <p:childTnLst>
                                    <p:set>
                                      <p:cBhvr>
                                        <p:cTn id="12" dur="1" fill="hold">
                                          <p:stCondLst>
                                            <p:cond delay="0"/>
                                          </p:stCondLst>
                                        </p:cTn>
                                        <p:tgtEl>
                                          <p:spTgt spid="29"/>
                                        </p:tgtEl>
                                        <p:attrNameLst>
                                          <p:attrName>style.visibility</p:attrName>
                                        </p:attrNameLst>
                                      </p:cBhvr>
                                      <p:to>
                                        <p:strVal val="visible"/>
                                      </p:to>
                                    </p:set>
                                    <p:animEffect transition="in" filter="fade">
                                      <p:cBhvr>
                                        <p:cTn id="13" dur="1000"/>
                                        <p:tgtEl>
                                          <p:spTgt spid="29"/>
                                        </p:tgtEl>
                                      </p:cBhvr>
                                    </p:animEffect>
                                  </p:childTnLst>
                                </p:cTn>
                              </p:par>
                              <p:par>
                                <p:cTn id="14" presetID="10" presetClass="entr" presetSubtype="0" fill="hold" nodeType="withEffect">
                                  <p:stCondLst>
                                    <p:cond delay="0"/>
                                  </p:stCondLst>
                                  <p:childTnLst>
                                    <p:set>
                                      <p:cBhvr>
                                        <p:cTn id="15" dur="1" fill="hold">
                                          <p:stCondLst>
                                            <p:cond delay="0"/>
                                          </p:stCondLst>
                                        </p:cTn>
                                        <p:tgtEl>
                                          <p:spTgt spid="33"/>
                                        </p:tgtEl>
                                        <p:attrNameLst>
                                          <p:attrName>style.visibility</p:attrName>
                                        </p:attrNameLst>
                                      </p:cBhvr>
                                      <p:to>
                                        <p:strVal val="visible"/>
                                      </p:to>
                                    </p:set>
                                    <p:animEffect transition="in" filter="fade">
                                      <p:cBhvr>
                                        <p:cTn id="16" dur="1000"/>
                                        <p:tgtEl>
                                          <p:spTgt spid="33"/>
                                        </p:tgtEl>
                                      </p:cBhvr>
                                    </p:animEffect>
                                  </p:childTnLst>
                                </p:cTn>
                              </p:par>
                              <p:par>
                                <p:cTn id="17" presetID="10" presetClass="entr" presetSubtype="0" fill="hold" nodeType="withEffect">
                                  <p:stCondLst>
                                    <p:cond delay="0"/>
                                  </p:stCondLst>
                                  <p:childTnLst>
                                    <p:set>
                                      <p:cBhvr>
                                        <p:cTn id="18" dur="1" fill="hold">
                                          <p:stCondLst>
                                            <p:cond delay="0"/>
                                          </p:stCondLst>
                                        </p:cTn>
                                        <p:tgtEl>
                                          <p:spTgt spid="49"/>
                                        </p:tgtEl>
                                        <p:attrNameLst>
                                          <p:attrName>style.visibility</p:attrName>
                                        </p:attrNameLst>
                                      </p:cBhvr>
                                      <p:to>
                                        <p:strVal val="visible"/>
                                      </p:to>
                                    </p:set>
                                    <p:animEffect transition="in" filter="fade">
                                      <p:cBhvr>
                                        <p:cTn id="19" dur="1000"/>
                                        <p:tgtEl>
                                          <p:spTgt spid="49"/>
                                        </p:tgtEl>
                                      </p:cBhvr>
                                    </p:animEffect>
                                  </p:childTnLst>
                                </p:cTn>
                              </p:par>
                              <p:par>
                                <p:cTn id="20" presetID="10" presetClass="entr" presetSubtype="0" fill="hold" nodeType="withEffect">
                                  <p:stCondLst>
                                    <p:cond delay="0"/>
                                  </p:stCondLst>
                                  <p:childTnLst>
                                    <p:set>
                                      <p:cBhvr>
                                        <p:cTn id="21" dur="1" fill="hold">
                                          <p:stCondLst>
                                            <p:cond delay="0"/>
                                          </p:stCondLst>
                                        </p:cTn>
                                        <p:tgtEl>
                                          <p:spTgt spid="50"/>
                                        </p:tgtEl>
                                        <p:attrNameLst>
                                          <p:attrName>style.visibility</p:attrName>
                                        </p:attrNameLst>
                                      </p:cBhvr>
                                      <p:to>
                                        <p:strVal val="visible"/>
                                      </p:to>
                                    </p:set>
                                    <p:animEffect transition="in" filter="fade">
                                      <p:cBhvr>
                                        <p:cTn id="22" dur="10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F1EFA7-C4E3-5C92-19A2-70D74E8451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D3FDA9-381F-0D56-C936-099498DD8CE9}"/>
              </a:ext>
            </a:extLst>
          </p:cNvPr>
          <p:cNvSpPr>
            <a:spLocks noGrp="1"/>
          </p:cNvSpPr>
          <p:nvPr>
            <p:ph type="title"/>
          </p:nvPr>
        </p:nvSpPr>
        <p:spPr/>
        <p:txBody>
          <a:bodyPr/>
          <a:lstStyle/>
          <a:p>
            <a:r>
              <a:rPr lang="en-US" dirty="0"/>
              <a:t>Context: With HRI-SSI (</a:t>
            </a:r>
            <a:r>
              <a:rPr lang="en-US" dirty="0" err="1"/>
              <a:t>partiallyAlign</a:t>
            </a:r>
            <a:r>
              <a:rPr lang="en-US" dirty="0"/>
              <a:t>)</a:t>
            </a:r>
            <a:endParaRPr lang="en-NL" dirty="0"/>
          </a:p>
        </p:txBody>
      </p:sp>
      <p:sp>
        <p:nvSpPr>
          <p:cNvPr id="4" name="Slide Number Placeholder 3">
            <a:extLst>
              <a:ext uri="{FF2B5EF4-FFF2-40B4-BE49-F238E27FC236}">
                <a16:creationId xmlns:a16="http://schemas.microsoft.com/office/drawing/2014/main" id="{CDABFA3E-C5D0-881C-10BF-E494A3DE33E0}"/>
              </a:ext>
            </a:extLst>
          </p:cNvPr>
          <p:cNvSpPr>
            <a:spLocks noGrp="1"/>
          </p:cNvSpPr>
          <p:nvPr>
            <p:ph type="sldNum" sz="quarter" idx="12"/>
          </p:nvPr>
        </p:nvSpPr>
        <p:spPr/>
        <p:txBody>
          <a:bodyPr/>
          <a:lstStyle/>
          <a:p>
            <a:fld id="{4FAB73BC-B049-4115-A692-8D63A059BFB8}" type="slidenum">
              <a:rPr lang="en-US" smtClean="0"/>
              <a:pPr/>
              <a:t>50</a:t>
            </a:fld>
            <a:endParaRPr lang="en-US" dirty="0"/>
          </a:p>
        </p:txBody>
      </p:sp>
      <p:cxnSp>
        <p:nvCxnSpPr>
          <p:cNvPr id="34" name="Straight Connector 33">
            <a:extLst>
              <a:ext uri="{FF2B5EF4-FFF2-40B4-BE49-F238E27FC236}">
                <a16:creationId xmlns:a16="http://schemas.microsoft.com/office/drawing/2014/main" id="{B614D677-194E-C6E3-3D87-CED0AE037CE5}"/>
              </a:ext>
            </a:extLst>
          </p:cNvPr>
          <p:cNvCxnSpPr/>
          <p:nvPr/>
        </p:nvCxnSpPr>
        <p:spPr>
          <a:xfrm>
            <a:off x="2440086" y="1662864"/>
            <a:ext cx="0" cy="3010736"/>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sp>
        <p:nvSpPr>
          <p:cNvPr id="35" name="Parallelogram 34">
            <a:extLst>
              <a:ext uri="{FF2B5EF4-FFF2-40B4-BE49-F238E27FC236}">
                <a16:creationId xmlns:a16="http://schemas.microsoft.com/office/drawing/2014/main" id="{49BF3320-CB59-F8FC-3334-62457E3B534D}"/>
              </a:ext>
            </a:extLst>
          </p:cNvPr>
          <p:cNvSpPr/>
          <p:nvPr/>
        </p:nvSpPr>
        <p:spPr>
          <a:xfrm>
            <a:off x="982761" y="3153944"/>
            <a:ext cx="10229850" cy="1276350"/>
          </a:xfrm>
          <a:prstGeom prst="parallelogram">
            <a:avLst>
              <a:gd name="adj" fmla="val 113806"/>
            </a:avLst>
          </a:prstGeom>
          <a:solidFill>
            <a:srgbClr val="FFE4D9"/>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solidFill>
                <a:srgbClr val="FFE4D9"/>
              </a:solidFill>
            </a:endParaRPr>
          </a:p>
        </p:txBody>
      </p:sp>
      <p:sp>
        <p:nvSpPr>
          <p:cNvPr id="36" name="TextBox 35">
            <a:extLst>
              <a:ext uri="{FF2B5EF4-FFF2-40B4-BE49-F238E27FC236}">
                <a16:creationId xmlns:a16="http://schemas.microsoft.com/office/drawing/2014/main" id="{CDCA4C4A-1762-5BEA-1DC6-4F554EA2FE57}"/>
              </a:ext>
            </a:extLst>
          </p:cNvPr>
          <p:cNvSpPr txBox="1"/>
          <p:nvPr/>
        </p:nvSpPr>
        <p:spPr>
          <a:xfrm>
            <a:off x="1218930" y="4122517"/>
            <a:ext cx="1693092"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37" name="Parallelogram 36">
            <a:extLst>
              <a:ext uri="{FF2B5EF4-FFF2-40B4-BE49-F238E27FC236}">
                <a16:creationId xmlns:a16="http://schemas.microsoft.com/office/drawing/2014/main" id="{08EAE741-ECF4-FBCF-0213-F438BC2A59C3}"/>
              </a:ext>
            </a:extLst>
          </p:cNvPr>
          <p:cNvSpPr/>
          <p:nvPr/>
        </p:nvSpPr>
        <p:spPr>
          <a:xfrm>
            <a:off x="982761" y="4673600"/>
            <a:ext cx="10229850" cy="1276350"/>
          </a:xfrm>
          <a:prstGeom prst="parallelogram">
            <a:avLst>
              <a:gd name="adj" fmla="val 113806"/>
            </a:avLst>
          </a:prstGeom>
          <a:solidFill>
            <a:schemeClr val="accent4">
              <a:lumMod val="20000"/>
              <a:lumOff val="8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8" name="TextBox 37">
            <a:extLst>
              <a:ext uri="{FF2B5EF4-FFF2-40B4-BE49-F238E27FC236}">
                <a16:creationId xmlns:a16="http://schemas.microsoft.com/office/drawing/2014/main" id="{FC4DADE0-CA8C-22F1-2F27-2E79FB6EA1A4}"/>
              </a:ext>
            </a:extLst>
          </p:cNvPr>
          <p:cNvSpPr txBox="1"/>
          <p:nvPr/>
        </p:nvSpPr>
        <p:spPr>
          <a:xfrm>
            <a:off x="1258204" y="5642173"/>
            <a:ext cx="1529586"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4"/>
                </a:solidFill>
              </a:rPr>
              <a:t>Dataset Columns</a:t>
            </a:r>
            <a:endParaRPr lang="en-NL" sz="1400" dirty="0">
              <a:solidFill>
                <a:schemeClr val="accent4"/>
              </a:solidFill>
            </a:endParaRPr>
          </a:p>
        </p:txBody>
      </p:sp>
      <p:sp>
        <p:nvSpPr>
          <p:cNvPr id="39" name="Parallelogram 38">
            <a:extLst>
              <a:ext uri="{FF2B5EF4-FFF2-40B4-BE49-F238E27FC236}">
                <a16:creationId xmlns:a16="http://schemas.microsoft.com/office/drawing/2014/main" id="{00EE743C-347A-4D3E-52F3-FE695364E113}"/>
              </a:ext>
            </a:extLst>
          </p:cNvPr>
          <p:cNvSpPr/>
          <p:nvPr/>
        </p:nvSpPr>
        <p:spPr>
          <a:xfrm>
            <a:off x="982761" y="1634289"/>
            <a:ext cx="10229850" cy="1276350"/>
          </a:xfrm>
          <a:prstGeom prst="parallelogram">
            <a:avLst>
              <a:gd name="adj" fmla="val 113806"/>
            </a:avLst>
          </a:prstGeom>
          <a:solidFill>
            <a:schemeClr val="accent1">
              <a:lumMod val="20000"/>
              <a:lumOff val="80000"/>
              <a:alpha val="95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0" name="TextBox 39">
            <a:extLst>
              <a:ext uri="{FF2B5EF4-FFF2-40B4-BE49-F238E27FC236}">
                <a16:creationId xmlns:a16="http://schemas.microsoft.com/office/drawing/2014/main" id="{1CFB88BE-8903-CEC5-EC3A-0F861B878EA8}"/>
              </a:ext>
            </a:extLst>
          </p:cNvPr>
          <p:cNvSpPr txBox="1"/>
          <p:nvPr/>
        </p:nvSpPr>
        <p:spPr>
          <a:xfrm>
            <a:off x="1352455" y="2602861"/>
            <a:ext cx="954107"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tx2">
                    <a:lumMod val="90000"/>
                    <a:lumOff val="10000"/>
                  </a:schemeClr>
                </a:solidFill>
              </a:rPr>
              <a:t>Meanings</a:t>
            </a:r>
            <a:endParaRPr lang="en-NL" sz="1400" dirty="0">
              <a:solidFill>
                <a:schemeClr val="tx2">
                  <a:lumMod val="90000"/>
                  <a:lumOff val="10000"/>
                </a:schemeClr>
              </a:solidFill>
            </a:endParaRPr>
          </a:p>
        </p:txBody>
      </p:sp>
      <p:cxnSp>
        <p:nvCxnSpPr>
          <p:cNvPr id="41" name="Straight Connector 40">
            <a:extLst>
              <a:ext uri="{FF2B5EF4-FFF2-40B4-BE49-F238E27FC236}">
                <a16:creationId xmlns:a16="http://schemas.microsoft.com/office/drawing/2014/main" id="{C87E5879-968F-4845-A5B2-4668F02F02AF}"/>
              </a:ext>
            </a:extLst>
          </p:cNvPr>
          <p:cNvCxnSpPr/>
          <p:nvPr/>
        </p:nvCxnSpPr>
        <p:spPr>
          <a:xfrm>
            <a:off x="982760" y="2939214"/>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592D6D28-3039-7667-7582-954430B390F8}"/>
              </a:ext>
            </a:extLst>
          </p:cNvPr>
          <p:cNvCxnSpPr/>
          <p:nvPr/>
        </p:nvCxnSpPr>
        <p:spPr>
          <a:xfrm>
            <a:off x="11210279" y="1662864"/>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83" name="Straight Connector 82">
            <a:extLst>
              <a:ext uri="{FF2B5EF4-FFF2-40B4-BE49-F238E27FC236}">
                <a16:creationId xmlns:a16="http://schemas.microsoft.com/office/drawing/2014/main" id="{BE844174-38FF-700E-1862-37C9B47B584F}"/>
              </a:ext>
            </a:extLst>
          </p:cNvPr>
          <p:cNvCxnSpPr>
            <a:cxnSpLocks/>
          </p:cNvCxnSpPr>
          <p:nvPr/>
        </p:nvCxnSpPr>
        <p:spPr>
          <a:xfrm>
            <a:off x="11204086" y="3153944"/>
            <a:ext cx="0" cy="151965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84" name="Straight Connector 83">
            <a:extLst>
              <a:ext uri="{FF2B5EF4-FFF2-40B4-BE49-F238E27FC236}">
                <a16:creationId xmlns:a16="http://schemas.microsoft.com/office/drawing/2014/main" id="{728D8312-9F1F-9591-E458-CBB8924BE625}"/>
              </a:ext>
            </a:extLst>
          </p:cNvPr>
          <p:cNvCxnSpPr>
            <a:cxnSpLocks/>
          </p:cNvCxnSpPr>
          <p:nvPr/>
        </p:nvCxnSpPr>
        <p:spPr>
          <a:xfrm>
            <a:off x="9762478" y="4430294"/>
            <a:ext cx="0" cy="151965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85" name="Oval 84">
            <a:extLst>
              <a:ext uri="{FF2B5EF4-FFF2-40B4-BE49-F238E27FC236}">
                <a16:creationId xmlns:a16="http://schemas.microsoft.com/office/drawing/2014/main" id="{D899C138-4C60-C643-CDA8-EFBF5D6622B4}"/>
              </a:ext>
            </a:extLst>
          </p:cNvPr>
          <p:cNvSpPr/>
          <p:nvPr/>
        </p:nvSpPr>
        <p:spPr>
          <a:xfrm>
            <a:off x="5127292" y="4889595"/>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D2</a:t>
            </a:r>
            <a:endParaRPr lang="en-NL" dirty="0"/>
          </a:p>
        </p:txBody>
      </p:sp>
      <p:sp>
        <p:nvSpPr>
          <p:cNvPr id="86" name="Oval 85">
            <a:extLst>
              <a:ext uri="{FF2B5EF4-FFF2-40B4-BE49-F238E27FC236}">
                <a16:creationId xmlns:a16="http://schemas.microsoft.com/office/drawing/2014/main" id="{94C5D817-CBAC-25EB-04CF-29A04CC140EB}"/>
              </a:ext>
            </a:extLst>
          </p:cNvPr>
          <p:cNvSpPr/>
          <p:nvPr/>
        </p:nvSpPr>
        <p:spPr>
          <a:xfrm>
            <a:off x="7337456" y="4809595"/>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D4</a:t>
            </a:r>
            <a:endParaRPr lang="en-NL" dirty="0"/>
          </a:p>
        </p:txBody>
      </p:sp>
      <p:sp>
        <p:nvSpPr>
          <p:cNvPr id="87" name="Oval 86">
            <a:extLst>
              <a:ext uri="{FF2B5EF4-FFF2-40B4-BE49-F238E27FC236}">
                <a16:creationId xmlns:a16="http://schemas.microsoft.com/office/drawing/2014/main" id="{DC207796-0675-1A93-62D6-D1FFE7F07B9F}"/>
              </a:ext>
            </a:extLst>
          </p:cNvPr>
          <p:cNvSpPr/>
          <p:nvPr/>
        </p:nvSpPr>
        <p:spPr>
          <a:xfrm>
            <a:off x="6232374" y="5404380"/>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D3</a:t>
            </a:r>
            <a:endParaRPr lang="en-NL" dirty="0"/>
          </a:p>
        </p:txBody>
      </p:sp>
      <p:sp>
        <p:nvSpPr>
          <p:cNvPr id="88" name="Oval 87">
            <a:extLst>
              <a:ext uri="{FF2B5EF4-FFF2-40B4-BE49-F238E27FC236}">
                <a16:creationId xmlns:a16="http://schemas.microsoft.com/office/drawing/2014/main" id="{FCE41B9E-A0AE-CA31-869D-74FE2532D181}"/>
              </a:ext>
            </a:extLst>
          </p:cNvPr>
          <p:cNvSpPr/>
          <p:nvPr/>
        </p:nvSpPr>
        <p:spPr>
          <a:xfrm>
            <a:off x="8442537" y="5404380"/>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D5</a:t>
            </a:r>
            <a:endParaRPr lang="en-NL" dirty="0"/>
          </a:p>
        </p:txBody>
      </p:sp>
      <p:sp>
        <p:nvSpPr>
          <p:cNvPr id="89" name="Oval 88">
            <a:extLst>
              <a:ext uri="{FF2B5EF4-FFF2-40B4-BE49-F238E27FC236}">
                <a16:creationId xmlns:a16="http://schemas.microsoft.com/office/drawing/2014/main" id="{00A29400-3993-EBD3-B691-414945083A46}"/>
              </a:ext>
            </a:extLst>
          </p:cNvPr>
          <p:cNvSpPr/>
          <p:nvPr/>
        </p:nvSpPr>
        <p:spPr>
          <a:xfrm>
            <a:off x="5128780" y="3321583"/>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C2</a:t>
            </a:r>
            <a:endParaRPr lang="en-NL" dirty="0"/>
          </a:p>
        </p:txBody>
      </p:sp>
      <p:sp>
        <p:nvSpPr>
          <p:cNvPr id="90" name="Oval 89">
            <a:extLst>
              <a:ext uri="{FF2B5EF4-FFF2-40B4-BE49-F238E27FC236}">
                <a16:creationId xmlns:a16="http://schemas.microsoft.com/office/drawing/2014/main" id="{B98BA786-E3DD-AFCC-E6EC-68DAD560F0D3}"/>
              </a:ext>
            </a:extLst>
          </p:cNvPr>
          <p:cNvSpPr/>
          <p:nvPr/>
        </p:nvSpPr>
        <p:spPr>
          <a:xfrm>
            <a:off x="7337952" y="3321583"/>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C4</a:t>
            </a:r>
            <a:endParaRPr lang="en-NL" dirty="0"/>
          </a:p>
        </p:txBody>
      </p:sp>
      <p:sp>
        <p:nvSpPr>
          <p:cNvPr id="91" name="Oval 90">
            <a:extLst>
              <a:ext uri="{FF2B5EF4-FFF2-40B4-BE49-F238E27FC236}">
                <a16:creationId xmlns:a16="http://schemas.microsoft.com/office/drawing/2014/main" id="{53050DB5-FE01-8CAC-E8FC-088B6AF9F7C4}"/>
              </a:ext>
            </a:extLst>
          </p:cNvPr>
          <p:cNvSpPr/>
          <p:nvPr/>
        </p:nvSpPr>
        <p:spPr>
          <a:xfrm>
            <a:off x="9547126" y="3321583"/>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C6</a:t>
            </a:r>
            <a:endParaRPr lang="en-NL" dirty="0"/>
          </a:p>
        </p:txBody>
      </p:sp>
      <p:sp>
        <p:nvSpPr>
          <p:cNvPr id="92" name="Oval 91">
            <a:extLst>
              <a:ext uri="{FF2B5EF4-FFF2-40B4-BE49-F238E27FC236}">
                <a16:creationId xmlns:a16="http://schemas.microsoft.com/office/drawing/2014/main" id="{CC0080D6-D23F-EBD4-71C5-7E70A71E3FB9}"/>
              </a:ext>
            </a:extLst>
          </p:cNvPr>
          <p:cNvSpPr/>
          <p:nvPr/>
        </p:nvSpPr>
        <p:spPr>
          <a:xfrm>
            <a:off x="4024194" y="3853081"/>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C1</a:t>
            </a:r>
            <a:endParaRPr lang="en-NL" dirty="0"/>
          </a:p>
        </p:txBody>
      </p:sp>
      <p:sp>
        <p:nvSpPr>
          <p:cNvPr id="93" name="Oval 92">
            <a:extLst>
              <a:ext uri="{FF2B5EF4-FFF2-40B4-BE49-F238E27FC236}">
                <a16:creationId xmlns:a16="http://schemas.microsoft.com/office/drawing/2014/main" id="{AEE25DAC-E2A0-D2F8-D497-0116B9FEB617}"/>
              </a:ext>
            </a:extLst>
          </p:cNvPr>
          <p:cNvSpPr/>
          <p:nvPr/>
        </p:nvSpPr>
        <p:spPr>
          <a:xfrm>
            <a:off x="6233366" y="3853081"/>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C3</a:t>
            </a:r>
            <a:endParaRPr lang="en-NL" dirty="0"/>
          </a:p>
        </p:txBody>
      </p:sp>
      <p:sp>
        <p:nvSpPr>
          <p:cNvPr id="94" name="Oval 93">
            <a:extLst>
              <a:ext uri="{FF2B5EF4-FFF2-40B4-BE49-F238E27FC236}">
                <a16:creationId xmlns:a16="http://schemas.microsoft.com/office/drawing/2014/main" id="{CDDACAF1-D4C1-1963-7DD1-3ADCDBADA7B3}"/>
              </a:ext>
            </a:extLst>
          </p:cNvPr>
          <p:cNvSpPr/>
          <p:nvPr/>
        </p:nvSpPr>
        <p:spPr>
          <a:xfrm>
            <a:off x="8442538" y="3853081"/>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C5</a:t>
            </a:r>
            <a:endParaRPr lang="en-NL" dirty="0"/>
          </a:p>
        </p:txBody>
      </p:sp>
      <p:cxnSp>
        <p:nvCxnSpPr>
          <p:cNvPr id="95" name="Straight Arrow Connector 94">
            <a:extLst>
              <a:ext uri="{FF2B5EF4-FFF2-40B4-BE49-F238E27FC236}">
                <a16:creationId xmlns:a16="http://schemas.microsoft.com/office/drawing/2014/main" id="{0D050ADE-19CB-9D93-BF7A-6E844B3C883F}"/>
              </a:ext>
            </a:extLst>
          </p:cNvPr>
          <p:cNvCxnSpPr>
            <a:cxnSpLocks/>
            <a:stCxn id="85" idx="0"/>
            <a:endCxn id="89" idx="4"/>
          </p:cNvCxnSpPr>
          <p:nvPr/>
        </p:nvCxnSpPr>
        <p:spPr>
          <a:xfrm flipV="1">
            <a:off x="5332080" y="3731158"/>
            <a:ext cx="1488" cy="1158437"/>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96" name="Straight Arrow Connector 95">
            <a:extLst>
              <a:ext uri="{FF2B5EF4-FFF2-40B4-BE49-F238E27FC236}">
                <a16:creationId xmlns:a16="http://schemas.microsoft.com/office/drawing/2014/main" id="{3CB70CE9-F3D8-427F-8CA5-A097B6E93AAE}"/>
              </a:ext>
            </a:extLst>
          </p:cNvPr>
          <p:cNvCxnSpPr>
            <a:cxnSpLocks/>
            <a:stCxn id="87" idx="0"/>
            <a:endCxn id="89" idx="5"/>
          </p:cNvCxnSpPr>
          <p:nvPr/>
        </p:nvCxnSpPr>
        <p:spPr>
          <a:xfrm flipH="1" flipV="1">
            <a:off x="5478374" y="3671177"/>
            <a:ext cx="958788" cy="1733203"/>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97" name="Straight Arrow Connector 96">
            <a:extLst>
              <a:ext uri="{FF2B5EF4-FFF2-40B4-BE49-F238E27FC236}">
                <a16:creationId xmlns:a16="http://schemas.microsoft.com/office/drawing/2014/main" id="{211484D8-5A33-ACB0-F80D-C3513B058EA2}"/>
              </a:ext>
            </a:extLst>
          </p:cNvPr>
          <p:cNvCxnSpPr>
            <a:cxnSpLocks/>
            <a:stCxn id="86" idx="0"/>
            <a:endCxn id="90" idx="4"/>
          </p:cNvCxnSpPr>
          <p:nvPr/>
        </p:nvCxnSpPr>
        <p:spPr>
          <a:xfrm flipV="1">
            <a:off x="7542244" y="3731158"/>
            <a:ext cx="496" cy="1078437"/>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98" name="Straight Arrow Connector 97">
            <a:extLst>
              <a:ext uri="{FF2B5EF4-FFF2-40B4-BE49-F238E27FC236}">
                <a16:creationId xmlns:a16="http://schemas.microsoft.com/office/drawing/2014/main" id="{AF7ADAA2-B7C2-D61F-5DB3-4396A2A45796}"/>
              </a:ext>
            </a:extLst>
          </p:cNvPr>
          <p:cNvCxnSpPr>
            <a:cxnSpLocks/>
            <a:stCxn id="88" idx="0"/>
            <a:endCxn id="94" idx="4"/>
          </p:cNvCxnSpPr>
          <p:nvPr/>
        </p:nvCxnSpPr>
        <p:spPr>
          <a:xfrm flipV="1">
            <a:off x="8647325" y="4262656"/>
            <a:ext cx="1" cy="1141724"/>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99" name="Straight Arrow Connector 98">
            <a:extLst>
              <a:ext uri="{FF2B5EF4-FFF2-40B4-BE49-F238E27FC236}">
                <a16:creationId xmlns:a16="http://schemas.microsoft.com/office/drawing/2014/main" id="{EFF87A08-8DFB-7807-19A8-7870A5C9E80F}"/>
              </a:ext>
            </a:extLst>
          </p:cNvPr>
          <p:cNvCxnSpPr>
            <a:cxnSpLocks/>
            <a:stCxn id="90" idx="2"/>
            <a:endCxn id="93" idx="7"/>
          </p:cNvCxnSpPr>
          <p:nvPr/>
        </p:nvCxnSpPr>
        <p:spPr>
          <a:xfrm flipH="1">
            <a:off x="6582960" y="3526371"/>
            <a:ext cx="754992" cy="386691"/>
          </a:xfrm>
          <a:prstGeom prst="straightConnector1">
            <a:avLst/>
          </a:prstGeom>
          <a:ln w="38100">
            <a:solidFill>
              <a:srgbClr val="00B050"/>
            </a:solidFill>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00" name="Straight Arrow Connector 99">
            <a:extLst>
              <a:ext uri="{FF2B5EF4-FFF2-40B4-BE49-F238E27FC236}">
                <a16:creationId xmlns:a16="http://schemas.microsoft.com/office/drawing/2014/main" id="{3EAB2F2A-A760-3E14-7ACA-4DDE648015E8}"/>
              </a:ext>
            </a:extLst>
          </p:cNvPr>
          <p:cNvCxnSpPr>
            <a:cxnSpLocks/>
            <a:stCxn id="93" idx="1"/>
            <a:endCxn id="89" idx="6"/>
          </p:cNvCxnSpPr>
          <p:nvPr/>
        </p:nvCxnSpPr>
        <p:spPr>
          <a:xfrm flipH="1" flipV="1">
            <a:off x="5538355" y="3526371"/>
            <a:ext cx="754992" cy="386691"/>
          </a:xfrm>
          <a:prstGeom prst="straightConnector1">
            <a:avLst/>
          </a:prstGeom>
          <a:ln w="38100">
            <a:solidFill>
              <a:srgbClr val="00B050"/>
            </a:solidFill>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01" name="Connector: Curved 100">
            <a:extLst>
              <a:ext uri="{FF2B5EF4-FFF2-40B4-BE49-F238E27FC236}">
                <a16:creationId xmlns:a16="http://schemas.microsoft.com/office/drawing/2014/main" id="{3C7255E6-DE33-08E1-95C6-B0CBD5D1C04A}"/>
              </a:ext>
            </a:extLst>
          </p:cNvPr>
          <p:cNvCxnSpPr>
            <a:cxnSpLocks/>
            <a:stCxn id="89" idx="7"/>
            <a:endCxn id="90" idx="1"/>
          </p:cNvCxnSpPr>
          <p:nvPr/>
        </p:nvCxnSpPr>
        <p:spPr>
          <a:xfrm rot="5400000" flipH="1" flipV="1">
            <a:off x="6438153" y="2421785"/>
            <a:ext cx="12700" cy="1919559"/>
          </a:xfrm>
          <a:prstGeom prst="curvedConnector3">
            <a:avLst>
              <a:gd name="adj1" fmla="val 893551"/>
            </a:avLst>
          </a:prstGeom>
          <a:ln w="38100">
            <a:solidFill>
              <a:srgbClr val="00B050"/>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02" name="Connector: Curved 101">
            <a:extLst>
              <a:ext uri="{FF2B5EF4-FFF2-40B4-BE49-F238E27FC236}">
                <a16:creationId xmlns:a16="http://schemas.microsoft.com/office/drawing/2014/main" id="{71BBFF43-DC7C-7968-637C-E3ECE498E1D8}"/>
              </a:ext>
            </a:extLst>
          </p:cNvPr>
          <p:cNvCxnSpPr>
            <a:cxnSpLocks/>
            <a:stCxn id="85" idx="4"/>
            <a:endCxn id="86" idx="4"/>
          </p:cNvCxnSpPr>
          <p:nvPr/>
        </p:nvCxnSpPr>
        <p:spPr>
          <a:xfrm rot="5400000" flipH="1" flipV="1">
            <a:off x="6397162" y="4154088"/>
            <a:ext cx="80000" cy="2210164"/>
          </a:xfrm>
          <a:prstGeom prst="curvedConnector3">
            <a:avLst>
              <a:gd name="adj1" fmla="val -1136920"/>
            </a:avLst>
          </a:prstGeom>
          <a:ln w="38100">
            <a:solidFill>
              <a:srgbClr val="00B050"/>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03" name="Connector: Curved 102">
            <a:extLst>
              <a:ext uri="{FF2B5EF4-FFF2-40B4-BE49-F238E27FC236}">
                <a16:creationId xmlns:a16="http://schemas.microsoft.com/office/drawing/2014/main" id="{895DDF5B-9A98-CEB2-EC67-9E36DCDEDB13}"/>
              </a:ext>
            </a:extLst>
          </p:cNvPr>
          <p:cNvCxnSpPr>
            <a:cxnSpLocks/>
            <a:stCxn id="87" idx="7"/>
            <a:endCxn id="86" idx="2"/>
          </p:cNvCxnSpPr>
          <p:nvPr/>
        </p:nvCxnSpPr>
        <p:spPr>
          <a:xfrm rot="5400000" flipH="1" flipV="1">
            <a:off x="6734723" y="4861628"/>
            <a:ext cx="449978" cy="755488"/>
          </a:xfrm>
          <a:prstGeom prst="curvedConnector2">
            <a:avLst/>
          </a:prstGeom>
          <a:ln w="38100">
            <a:solidFill>
              <a:srgbClr val="00B050"/>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104" name="Oval 103">
            <a:extLst>
              <a:ext uri="{FF2B5EF4-FFF2-40B4-BE49-F238E27FC236}">
                <a16:creationId xmlns:a16="http://schemas.microsoft.com/office/drawing/2014/main" id="{9C0B30DD-C9BA-A842-9F0A-294139EAB545}"/>
              </a:ext>
            </a:extLst>
          </p:cNvPr>
          <p:cNvSpPr/>
          <p:nvPr/>
        </p:nvSpPr>
        <p:spPr>
          <a:xfrm>
            <a:off x="4024194" y="5404379"/>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D1</a:t>
            </a:r>
            <a:endParaRPr lang="en-NL" dirty="0"/>
          </a:p>
        </p:txBody>
      </p:sp>
      <p:cxnSp>
        <p:nvCxnSpPr>
          <p:cNvPr id="105" name="Straight Arrow Connector 104">
            <a:extLst>
              <a:ext uri="{FF2B5EF4-FFF2-40B4-BE49-F238E27FC236}">
                <a16:creationId xmlns:a16="http://schemas.microsoft.com/office/drawing/2014/main" id="{15A69CD9-CD36-CC80-7B13-C78182235DE6}"/>
              </a:ext>
            </a:extLst>
          </p:cNvPr>
          <p:cNvCxnSpPr>
            <a:cxnSpLocks/>
            <a:stCxn id="104" idx="0"/>
          </p:cNvCxnSpPr>
          <p:nvPr/>
        </p:nvCxnSpPr>
        <p:spPr>
          <a:xfrm flipV="1">
            <a:off x="4228982" y="4262656"/>
            <a:ext cx="0" cy="1141723"/>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sp>
        <p:nvSpPr>
          <p:cNvPr id="106" name="Oval 105">
            <a:extLst>
              <a:ext uri="{FF2B5EF4-FFF2-40B4-BE49-F238E27FC236}">
                <a16:creationId xmlns:a16="http://schemas.microsoft.com/office/drawing/2014/main" id="{3B204FCC-752F-D403-8A35-328192A14458}"/>
              </a:ext>
            </a:extLst>
          </p:cNvPr>
          <p:cNvSpPr/>
          <p:nvPr/>
        </p:nvSpPr>
        <p:spPr>
          <a:xfrm>
            <a:off x="4024194" y="2067677"/>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dirty="0"/>
              <a:t>C1</a:t>
            </a:r>
            <a:endParaRPr lang="en-NL" dirty="0"/>
          </a:p>
        </p:txBody>
      </p:sp>
      <p:sp>
        <p:nvSpPr>
          <p:cNvPr id="107" name="Oval 106">
            <a:extLst>
              <a:ext uri="{FF2B5EF4-FFF2-40B4-BE49-F238E27FC236}">
                <a16:creationId xmlns:a16="http://schemas.microsoft.com/office/drawing/2014/main" id="{E75E9C7A-3603-CA29-7C93-259019C93D4D}"/>
              </a:ext>
            </a:extLst>
          </p:cNvPr>
          <p:cNvSpPr/>
          <p:nvPr/>
        </p:nvSpPr>
        <p:spPr>
          <a:xfrm>
            <a:off x="6232373" y="2067677"/>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dirty="0"/>
              <a:t>C2</a:t>
            </a:r>
            <a:endParaRPr lang="en-NL" dirty="0"/>
          </a:p>
        </p:txBody>
      </p:sp>
      <p:sp>
        <p:nvSpPr>
          <p:cNvPr id="108" name="Oval 107">
            <a:extLst>
              <a:ext uri="{FF2B5EF4-FFF2-40B4-BE49-F238E27FC236}">
                <a16:creationId xmlns:a16="http://schemas.microsoft.com/office/drawing/2014/main" id="{D6899F1E-1D95-BBAA-8984-66310C53BB1A}"/>
              </a:ext>
            </a:extLst>
          </p:cNvPr>
          <p:cNvSpPr/>
          <p:nvPr/>
        </p:nvSpPr>
        <p:spPr>
          <a:xfrm>
            <a:off x="8440552" y="2067677"/>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dirty="0"/>
              <a:t>C3</a:t>
            </a:r>
            <a:endParaRPr lang="en-NL" dirty="0"/>
          </a:p>
        </p:txBody>
      </p:sp>
      <p:cxnSp>
        <p:nvCxnSpPr>
          <p:cNvPr id="109" name="Straight Arrow Connector 108">
            <a:extLst>
              <a:ext uri="{FF2B5EF4-FFF2-40B4-BE49-F238E27FC236}">
                <a16:creationId xmlns:a16="http://schemas.microsoft.com/office/drawing/2014/main" id="{B9A4818D-E1BF-A3C1-4811-9EADF911C409}"/>
              </a:ext>
            </a:extLst>
          </p:cNvPr>
          <p:cNvCxnSpPr>
            <a:cxnSpLocks/>
            <a:stCxn id="92" idx="0"/>
            <a:endCxn id="106" idx="4"/>
          </p:cNvCxnSpPr>
          <p:nvPr/>
        </p:nvCxnSpPr>
        <p:spPr>
          <a:xfrm flipV="1">
            <a:off x="4228982" y="2477252"/>
            <a:ext cx="0" cy="1375829"/>
          </a:xfrm>
          <a:prstGeom prst="straightConnector1">
            <a:avLst/>
          </a:prstGeom>
          <a:ln w="38100">
            <a:solidFill>
              <a:schemeClr val="accent4"/>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116" name="Straight Arrow Connector 115">
            <a:extLst>
              <a:ext uri="{FF2B5EF4-FFF2-40B4-BE49-F238E27FC236}">
                <a16:creationId xmlns:a16="http://schemas.microsoft.com/office/drawing/2014/main" id="{FF417779-05CA-AE0E-5BB2-76404BCC8B49}"/>
              </a:ext>
            </a:extLst>
          </p:cNvPr>
          <p:cNvCxnSpPr>
            <a:cxnSpLocks/>
            <a:stCxn id="91" idx="1"/>
            <a:endCxn id="108" idx="5"/>
          </p:cNvCxnSpPr>
          <p:nvPr/>
        </p:nvCxnSpPr>
        <p:spPr>
          <a:xfrm flipH="1" flipV="1">
            <a:off x="8790146" y="2417271"/>
            <a:ext cx="816961" cy="964293"/>
          </a:xfrm>
          <a:prstGeom prst="straightConnector1">
            <a:avLst/>
          </a:prstGeom>
          <a:ln w="38100">
            <a:solidFill>
              <a:schemeClr val="accent4"/>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121" name="Straight Arrow Connector 120">
            <a:extLst>
              <a:ext uri="{FF2B5EF4-FFF2-40B4-BE49-F238E27FC236}">
                <a16:creationId xmlns:a16="http://schemas.microsoft.com/office/drawing/2014/main" id="{987DB514-88E8-41A6-0E62-30E1BAAA097F}"/>
              </a:ext>
            </a:extLst>
          </p:cNvPr>
          <p:cNvCxnSpPr>
            <a:cxnSpLocks/>
            <a:stCxn id="90" idx="0"/>
            <a:endCxn id="107" idx="5"/>
          </p:cNvCxnSpPr>
          <p:nvPr/>
        </p:nvCxnSpPr>
        <p:spPr>
          <a:xfrm flipH="1" flipV="1">
            <a:off x="6581967" y="2417271"/>
            <a:ext cx="960773" cy="904312"/>
          </a:xfrm>
          <a:prstGeom prst="straightConnector1">
            <a:avLst/>
          </a:prstGeom>
          <a:ln w="38100">
            <a:solidFill>
              <a:schemeClr val="accent4"/>
            </a:solidFill>
            <a:prstDash val="sysDash"/>
            <a:tailEnd type="triangle" w="lg" len="med"/>
          </a:ln>
        </p:spPr>
        <p:style>
          <a:lnRef idx="1">
            <a:schemeClr val="accent1"/>
          </a:lnRef>
          <a:fillRef idx="0">
            <a:schemeClr val="accent1"/>
          </a:fillRef>
          <a:effectRef idx="0">
            <a:schemeClr val="accent1"/>
          </a:effectRef>
          <a:fontRef idx="minor">
            <a:schemeClr val="tx1"/>
          </a:fontRef>
        </p:style>
      </p:cxnSp>
      <p:cxnSp>
        <p:nvCxnSpPr>
          <p:cNvPr id="126" name="Straight Arrow Connector 125">
            <a:extLst>
              <a:ext uri="{FF2B5EF4-FFF2-40B4-BE49-F238E27FC236}">
                <a16:creationId xmlns:a16="http://schemas.microsoft.com/office/drawing/2014/main" id="{6169AE5D-9A20-4D55-714D-FFE2A5548DF9}"/>
              </a:ext>
            </a:extLst>
          </p:cNvPr>
          <p:cNvCxnSpPr>
            <a:cxnSpLocks/>
            <a:stCxn id="89" idx="0"/>
            <a:endCxn id="107" idx="3"/>
          </p:cNvCxnSpPr>
          <p:nvPr/>
        </p:nvCxnSpPr>
        <p:spPr>
          <a:xfrm flipV="1">
            <a:off x="5333568" y="2417271"/>
            <a:ext cx="958786" cy="904312"/>
          </a:xfrm>
          <a:prstGeom prst="straightConnector1">
            <a:avLst/>
          </a:prstGeom>
          <a:ln w="38100">
            <a:solidFill>
              <a:schemeClr val="accent4"/>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129" name="Straight Arrow Connector 128">
            <a:extLst>
              <a:ext uri="{FF2B5EF4-FFF2-40B4-BE49-F238E27FC236}">
                <a16:creationId xmlns:a16="http://schemas.microsoft.com/office/drawing/2014/main" id="{7E1C4D97-B2EF-F2E8-B1B7-B51397A3363B}"/>
              </a:ext>
            </a:extLst>
          </p:cNvPr>
          <p:cNvCxnSpPr>
            <a:cxnSpLocks/>
            <a:stCxn id="94" idx="0"/>
            <a:endCxn id="108" idx="4"/>
          </p:cNvCxnSpPr>
          <p:nvPr/>
        </p:nvCxnSpPr>
        <p:spPr>
          <a:xfrm flipH="1" flipV="1">
            <a:off x="8645340" y="2477252"/>
            <a:ext cx="1986" cy="1375829"/>
          </a:xfrm>
          <a:prstGeom prst="straightConnector1">
            <a:avLst/>
          </a:prstGeom>
          <a:ln w="38100">
            <a:solidFill>
              <a:schemeClr val="accent4"/>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132" name="Connector: Curved 131">
            <a:extLst>
              <a:ext uri="{FF2B5EF4-FFF2-40B4-BE49-F238E27FC236}">
                <a16:creationId xmlns:a16="http://schemas.microsoft.com/office/drawing/2014/main" id="{F4C250DC-2BFF-56EB-E73C-F2AA6A0F854C}"/>
              </a:ext>
            </a:extLst>
          </p:cNvPr>
          <p:cNvCxnSpPr>
            <a:cxnSpLocks/>
            <a:stCxn id="94" idx="6"/>
            <a:endCxn id="91" idx="4"/>
          </p:cNvCxnSpPr>
          <p:nvPr/>
        </p:nvCxnSpPr>
        <p:spPr>
          <a:xfrm flipV="1">
            <a:off x="8852113" y="3731158"/>
            <a:ext cx="899801" cy="326711"/>
          </a:xfrm>
          <a:prstGeom prst="curvedConnector2">
            <a:avLst/>
          </a:prstGeom>
          <a:ln w="38100">
            <a:solidFill>
              <a:srgbClr val="00B050"/>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074FFC84-27D4-0F7C-DC39-019182FB82DA}"/>
              </a:ext>
            </a:extLst>
          </p:cNvPr>
          <p:cNvCxnSpPr>
            <a:cxnSpLocks/>
            <a:stCxn id="90" idx="7"/>
            <a:endCxn id="108" idx="3"/>
          </p:cNvCxnSpPr>
          <p:nvPr/>
        </p:nvCxnSpPr>
        <p:spPr>
          <a:xfrm flipV="1">
            <a:off x="7687546" y="2417271"/>
            <a:ext cx="812987" cy="964293"/>
          </a:xfrm>
          <a:prstGeom prst="straightConnector1">
            <a:avLst/>
          </a:prstGeom>
          <a:ln w="38100">
            <a:solidFill>
              <a:schemeClr val="accent6"/>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14" name="Connector: Curved 13">
            <a:extLst>
              <a:ext uri="{FF2B5EF4-FFF2-40B4-BE49-F238E27FC236}">
                <a16:creationId xmlns:a16="http://schemas.microsoft.com/office/drawing/2014/main" id="{A391B41B-5221-318A-8AF8-F32DAB2BECE4}"/>
              </a:ext>
            </a:extLst>
          </p:cNvPr>
          <p:cNvCxnSpPr>
            <a:cxnSpLocks/>
            <a:stCxn id="90" idx="5"/>
            <a:endCxn id="94" idx="2"/>
          </p:cNvCxnSpPr>
          <p:nvPr/>
        </p:nvCxnSpPr>
        <p:spPr>
          <a:xfrm rot="16200000" flipH="1">
            <a:off x="7871696" y="3487027"/>
            <a:ext cx="386692" cy="754992"/>
          </a:xfrm>
          <a:prstGeom prst="curvedConnector2">
            <a:avLst/>
          </a:prstGeom>
          <a:ln w="38100">
            <a:solidFill>
              <a:schemeClr val="accent6"/>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3" name="Straight Arrow Connector 2">
            <a:extLst>
              <a:ext uri="{FF2B5EF4-FFF2-40B4-BE49-F238E27FC236}">
                <a16:creationId xmlns:a16="http://schemas.microsoft.com/office/drawing/2014/main" id="{84A9423F-0C0E-6699-232E-5A50B9DA8CF6}"/>
              </a:ext>
            </a:extLst>
          </p:cNvPr>
          <p:cNvCxnSpPr>
            <a:cxnSpLocks/>
            <a:stCxn id="107" idx="2"/>
            <a:endCxn id="106" idx="6"/>
          </p:cNvCxnSpPr>
          <p:nvPr/>
        </p:nvCxnSpPr>
        <p:spPr>
          <a:xfrm flipH="1">
            <a:off x="4433769" y="2272465"/>
            <a:ext cx="1798604" cy="0"/>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0B10DB33-B386-66AE-A006-029E985D246A}"/>
              </a:ext>
            </a:extLst>
          </p:cNvPr>
          <p:cNvSpPr txBox="1"/>
          <p:nvPr/>
        </p:nvSpPr>
        <p:spPr>
          <a:xfrm>
            <a:off x="4650542" y="1804769"/>
            <a:ext cx="1377044" cy="461665"/>
          </a:xfrm>
          <a:prstGeom prst="rect">
            <a:avLst/>
          </a:prstGeom>
          <a:noFill/>
        </p:spPr>
        <p:txBody>
          <a:bodyPr wrap="none" rtlCol="0">
            <a:spAutoFit/>
          </a:bodyPr>
          <a:lstStyle/>
          <a:p>
            <a:pPr algn="ctr"/>
            <a:r>
              <a:rPr lang="en-US" sz="1200" dirty="0" err="1"/>
              <a:t>narrowerMeaning</a:t>
            </a:r>
            <a:r>
              <a:rPr lang="en-US" sz="1200" dirty="0"/>
              <a:t> </a:t>
            </a:r>
          </a:p>
          <a:p>
            <a:pPr algn="ctr"/>
            <a:r>
              <a:rPr lang="en-US" sz="1200" dirty="0"/>
              <a:t>(</a:t>
            </a:r>
            <a:r>
              <a:rPr lang="en-US" sz="1200" dirty="0" err="1"/>
              <a:t>subClassOf</a:t>
            </a:r>
            <a:r>
              <a:rPr lang="en-US" sz="1200" dirty="0"/>
              <a:t>)</a:t>
            </a:r>
            <a:endParaRPr lang="en-NL" sz="1200" dirty="0"/>
          </a:p>
        </p:txBody>
      </p:sp>
      <p:cxnSp>
        <p:nvCxnSpPr>
          <p:cNvPr id="9" name="Connector: Curved 8">
            <a:extLst>
              <a:ext uri="{FF2B5EF4-FFF2-40B4-BE49-F238E27FC236}">
                <a16:creationId xmlns:a16="http://schemas.microsoft.com/office/drawing/2014/main" id="{FC0D8DA6-EF9D-47CF-AE84-C144B95A83A3}"/>
              </a:ext>
            </a:extLst>
          </p:cNvPr>
          <p:cNvCxnSpPr>
            <a:cxnSpLocks/>
            <a:stCxn id="92" idx="7"/>
            <a:endCxn id="89" idx="2"/>
          </p:cNvCxnSpPr>
          <p:nvPr/>
        </p:nvCxnSpPr>
        <p:spPr>
          <a:xfrm rot="5400000" flipH="1" flipV="1">
            <a:off x="4557939" y="3342221"/>
            <a:ext cx="386691" cy="754992"/>
          </a:xfrm>
          <a:prstGeom prst="curvedConnector2">
            <a:avLst/>
          </a:prstGeom>
          <a:ln w="38100">
            <a:solidFill>
              <a:schemeClr val="accent2"/>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AD8747A7-29C0-1290-D8EB-3529586C7CFB}"/>
              </a:ext>
            </a:extLst>
          </p:cNvPr>
          <p:cNvCxnSpPr>
            <a:cxnSpLocks/>
            <a:stCxn id="91" idx="2"/>
            <a:endCxn id="90" idx="6"/>
          </p:cNvCxnSpPr>
          <p:nvPr/>
        </p:nvCxnSpPr>
        <p:spPr>
          <a:xfrm flipH="1">
            <a:off x="7747527" y="3526371"/>
            <a:ext cx="1799599" cy="0"/>
          </a:xfrm>
          <a:prstGeom prst="straightConnector1">
            <a:avLst/>
          </a:prstGeom>
          <a:ln w="38100">
            <a:solidFill>
              <a:schemeClr val="accent6"/>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9" name="Connector: Curved 18">
            <a:extLst>
              <a:ext uri="{FF2B5EF4-FFF2-40B4-BE49-F238E27FC236}">
                <a16:creationId xmlns:a16="http://schemas.microsoft.com/office/drawing/2014/main" id="{D7A869A6-2820-84E1-264F-0AA6F9F9C1E0}"/>
              </a:ext>
            </a:extLst>
          </p:cNvPr>
          <p:cNvCxnSpPr>
            <a:cxnSpLocks/>
            <a:stCxn id="92" idx="5"/>
            <a:endCxn id="90" idx="3"/>
          </p:cNvCxnSpPr>
          <p:nvPr/>
        </p:nvCxnSpPr>
        <p:spPr>
          <a:xfrm rot="5400000" flipH="1" flipV="1">
            <a:off x="5620111" y="2424853"/>
            <a:ext cx="531498" cy="3024145"/>
          </a:xfrm>
          <a:prstGeom prst="curvedConnector3">
            <a:avLst>
              <a:gd name="adj1" fmla="val -54296"/>
            </a:avLst>
          </a:prstGeom>
          <a:ln w="38100">
            <a:solidFill>
              <a:schemeClr val="accent2"/>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CF2782AE-2CEF-DF80-D438-67A3600E56E7}"/>
              </a:ext>
            </a:extLst>
          </p:cNvPr>
          <p:cNvCxnSpPr>
            <a:cxnSpLocks/>
            <a:stCxn id="93" idx="2"/>
            <a:endCxn id="92" idx="6"/>
          </p:cNvCxnSpPr>
          <p:nvPr/>
        </p:nvCxnSpPr>
        <p:spPr>
          <a:xfrm flipH="1">
            <a:off x="4433769" y="4057869"/>
            <a:ext cx="1799597" cy="0"/>
          </a:xfrm>
          <a:prstGeom prst="straightConnector1">
            <a:avLst/>
          </a:prstGeom>
          <a:ln w="38100">
            <a:solidFill>
              <a:schemeClr val="accent2"/>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ECA9A339-DA3B-4469-2112-91FFA37DC4CE}"/>
              </a:ext>
            </a:extLst>
          </p:cNvPr>
          <p:cNvCxnSpPr>
            <a:cxnSpLocks/>
          </p:cNvCxnSpPr>
          <p:nvPr/>
        </p:nvCxnSpPr>
        <p:spPr>
          <a:xfrm flipH="1">
            <a:off x="7747527" y="3526371"/>
            <a:ext cx="1799599" cy="0"/>
          </a:xfrm>
          <a:prstGeom prst="straightConnector1">
            <a:avLst/>
          </a:prstGeom>
          <a:ln w="38100">
            <a:solidFill>
              <a:schemeClr val="accent6"/>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84F559B2-FB80-F21A-D645-B1C341819124}"/>
              </a:ext>
            </a:extLst>
          </p:cNvPr>
          <p:cNvCxnSpPr>
            <a:cxnSpLocks/>
          </p:cNvCxnSpPr>
          <p:nvPr/>
        </p:nvCxnSpPr>
        <p:spPr>
          <a:xfrm flipH="1">
            <a:off x="6642941" y="3671177"/>
            <a:ext cx="2964166" cy="386692"/>
          </a:xfrm>
          <a:prstGeom prst="straightConnector1">
            <a:avLst/>
          </a:prstGeom>
          <a:ln w="38100">
            <a:solidFill>
              <a:schemeClr val="accent6"/>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30" name="Connector: Curved 29">
            <a:extLst>
              <a:ext uri="{FF2B5EF4-FFF2-40B4-BE49-F238E27FC236}">
                <a16:creationId xmlns:a16="http://schemas.microsoft.com/office/drawing/2014/main" id="{4E1D4443-D83B-DE04-5A1F-6699EE16E897}"/>
              </a:ext>
            </a:extLst>
          </p:cNvPr>
          <p:cNvCxnSpPr>
            <a:cxnSpLocks/>
          </p:cNvCxnSpPr>
          <p:nvPr/>
        </p:nvCxnSpPr>
        <p:spPr>
          <a:xfrm rot="5400000" flipH="1" flipV="1">
            <a:off x="7542740" y="1317198"/>
            <a:ext cx="12700" cy="4128733"/>
          </a:xfrm>
          <a:prstGeom prst="curvedConnector3">
            <a:avLst>
              <a:gd name="adj1" fmla="val 3114827"/>
            </a:avLst>
          </a:prstGeom>
          <a:ln w="38100">
            <a:solidFill>
              <a:schemeClr val="accent6"/>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31" name="Connector: Curved 30">
            <a:extLst>
              <a:ext uri="{FF2B5EF4-FFF2-40B4-BE49-F238E27FC236}">
                <a16:creationId xmlns:a16="http://schemas.microsoft.com/office/drawing/2014/main" id="{3BE45184-36C7-94AA-59E0-D0678598185C}"/>
              </a:ext>
            </a:extLst>
          </p:cNvPr>
          <p:cNvCxnSpPr>
            <a:cxnSpLocks/>
          </p:cNvCxnSpPr>
          <p:nvPr/>
        </p:nvCxnSpPr>
        <p:spPr>
          <a:xfrm rot="16200000" flipH="1">
            <a:off x="7542739" y="3242895"/>
            <a:ext cx="12700" cy="1919559"/>
          </a:xfrm>
          <a:prstGeom prst="curvedConnector3">
            <a:avLst>
              <a:gd name="adj1" fmla="val 2272291"/>
            </a:avLst>
          </a:prstGeom>
          <a:ln w="38100">
            <a:solidFill>
              <a:schemeClr val="accent6"/>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32" name="Connector: Curved 31">
            <a:extLst>
              <a:ext uri="{FF2B5EF4-FFF2-40B4-BE49-F238E27FC236}">
                <a16:creationId xmlns:a16="http://schemas.microsoft.com/office/drawing/2014/main" id="{8C8BD65A-BA2B-B318-93D0-8C9856B58C79}"/>
              </a:ext>
            </a:extLst>
          </p:cNvPr>
          <p:cNvCxnSpPr>
            <a:cxnSpLocks/>
          </p:cNvCxnSpPr>
          <p:nvPr/>
        </p:nvCxnSpPr>
        <p:spPr>
          <a:xfrm rot="16200000" flipH="1">
            <a:off x="6724698" y="2340028"/>
            <a:ext cx="531498" cy="3313758"/>
          </a:xfrm>
          <a:prstGeom prst="curvedConnector3">
            <a:avLst>
              <a:gd name="adj1" fmla="val 174125"/>
            </a:avLst>
          </a:prstGeom>
          <a:ln w="38100">
            <a:solidFill>
              <a:schemeClr val="accent6"/>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33" name="Connector: Curved 32">
            <a:extLst>
              <a:ext uri="{FF2B5EF4-FFF2-40B4-BE49-F238E27FC236}">
                <a16:creationId xmlns:a16="http://schemas.microsoft.com/office/drawing/2014/main" id="{D0D060BF-600E-F3B0-521E-38BBC3EA1CFE}"/>
              </a:ext>
            </a:extLst>
          </p:cNvPr>
          <p:cNvCxnSpPr>
            <a:cxnSpLocks/>
            <a:stCxn id="86" idx="6"/>
            <a:endCxn id="88" idx="1"/>
          </p:cNvCxnSpPr>
          <p:nvPr/>
        </p:nvCxnSpPr>
        <p:spPr>
          <a:xfrm>
            <a:off x="7747031" y="5014383"/>
            <a:ext cx="755487" cy="449978"/>
          </a:xfrm>
          <a:prstGeom prst="curvedConnector2">
            <a:avLst/>
          </a:prstGeom>
          <a:ln w="38100">
            <a:solidFill>
              <a:schemeClr val="accent6"/>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46" name="Connector: Curved 45">
            <a:extLst>
              <a:ext uri="{FF2B5EF4-FFF2-40B4-BE49-F238E27FC236}">
                <a16:creationId xmlns:a16="http://schemas.microsoft.com/office/drawing/2014/main" id="{6FA8F6B7-9689-E3FB-FB08-33EB1CF4FA49}"/>
              </a:ext>
            </a:extLst>
          </p:cNvPr>
          <p:cNvCxnSpPr>
            <a:cxnSpLocks/>
            <a:stCxn id="85" idx="5"/>
            <a:endCxn id="88" idx="3"/>
          </p:cNvCxnSpPr>
          <p:nvPr/>
        </p:nvCxnSpPr>
        <p:spPr>
          <a:xfrm rot="16200000" flipH="1">
            <a:off x="6732310" y="3983765"/>
            <a:ext cx="514785" cy="3025632"/>
          </a:xfrm>
          <a:prstGeom prst="curvedConnector3">
            <a:avLst>
              <a:gd name="adj1" fmla="val 186293"/>
            </a:avLst>
          </a:prstGeom>
          <a:ln w="38100">
            <a:solidFill>
              <a:schemeClr val="accent6"/>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27B6FF37-C2A1-6FB9-93BA-DB9252968062}"/>
              </a:ext>
            </a:extLst>
          </p:cNvPr>
          <p:cNvCxnSpPr>
            <a:cxnSpLocks/>
            <a:stCxn id="88" idx="2"/>
            <a:endCxn id="87" idx="6"/>
          </p:cNvCxnSpPr>
          <p:nvPr/>
        </p:nvCxnSpPr>
        <p:spPr>
          <a:xfrm flipH="1">
            <a:off x="6641949" y="5609168"/>
            <a:ext cx="1800588" cy="0"/>
          </a:xfrm>
          <a:prstGeom prst="straightConnector1">
            <a:avLst/>
          </a:prstGeom>
          <a:ln w="38100">
            <a:solidFill>
              <a:schemeClr val="accent6"/>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68" name="Connector: Curved 67">
            <a:extLst>
              <a:ext uri="{FF2B5EF4-FFF2-40B4-BE49-F238E27FC236}">
                <a16:creationId xmlns:a16="http://schemas.microsoft.com/office/drawing/2014/main" id="{E634F1CA-E4BF-C8B2-668A-704CA6A17F1C}"/>
              </a:ext>
            </a:extLst>
          </p:cNvPr>
          <p:cNvCxnSpPr>
            <a:cxnSpLocks/>
          </p:cNvCxnSpPr>
          <p:nvPr/>
        </p:nvCxnSpPr>
        <p:spPr>
          <a:xfrm>
            <a:off x="5536867" y="5094383"/>
            <a:ext cx="755488" cy="369978"/>
          </a:xfrm>
          <a:prstGeom prst="curvedConnector2">
            <a:avLst/>
          </a:prstGeom>
          <a:ln w="38100">
            <a:solidFill>
              <a:srgbClr val="00B050"/>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58391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1000"/>
                                        <p:tgtEl>
                                          <p:spTgt spid="19"/>
                                        </p:tgtEl>
                                      </p:cBhvr>
                                    </p:animEffect>
                                  </p:childTnLst>
                                </p:cTn>
                              </p:par>
                              <p:par>
                                <p:cTn id="11" presetID="10" presetClass="entr" presetSubtype="0" fill="hold" nodeType="withEffect">
                                  <p:stCondLst>
                                    <p:cond delay="0"/>
                                  </p:stCondLst>
                                  <p:childTnLst>
                                    <p:set>
                                      <p:cBhvr>
                                        <p:cTn id="12" dur="1" fill="hold">
                                          <p:stCondLst>
                                            <p:cond delay="0"/>
                                          </p:stCondLst>
                                        </p:cTn>
                                        <p:tgtEl>
                                          <p:spTgt spid="25"/>
                                        </p:tgtEl>
                                        <p:attrNameLst>
                                          <p:attrName>style.visibility</p:attrName>
                                        </p:attrNameLst>
                                      </p:cBhvr>
                                      <p:to>
                                        <p:strVal val="visible"/>
                                      </p:to>
                                    </p:set>
                                    <p:animEffect transition="in" filter="fade">
                                      <p:cBhvr>
                                        <p:cTn id="13" dur="10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0B9A1A-BE79-E1EC-19D3-D00C7714F5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85A6F4-5BEB-0FC8-4888-0755BAFF1E3F}"/>
              </a:ext>
            </a:extLst>
          </p:cNvPr>
          <p:cNvSpPr>
            <a:spLocks noGrp="1"/>
          </p:cNvSpPr>
          <p:nvPr>
            <p:ph type="title"/>
          </p:nvPr>
        </p:nvSpPr>
        <p:spPr/>
        <p:txBody>
          <a:bodyPr/>
          <a:lstStyle/>
          <a:p>
            <a:r>
              <a:rPr lang="en-US" dirty="0"/>
              <a:t>Context: With HRI-SSI</a:t>
            </a:r>
            <a:br>
              <a:rPr lang="en-US" dirty="0"/>
            </a:br>
            <a:r>
              <a:rPr lang="en-US" dirty="0"/>
              <a:t>results</a:t>
            </a:r>
            <a:endParaRPr lang="en-NL" dirty="0"/>
          </a:p>
        </p:txBody>
      </p:sp>
      <p:sp>
        <p:nvSpPr>
          <p:cNvPr id="4" name="Slide Number Placeholder 3">
            <a:extLst>
              <a:ext uri="{FF2B5EF4-FFF2-40B4-BE49-F238E27FC236}">
                <a16:creationId xmlns:a16="http://schemas.microsoft.com/office/drawing/2014/main" id="{262BD44B-7E22-CF56-33D5-93C4D46F6131}"/>
              </a:ext>
            </a:extLst>
          </p:cNvPr>
          <p:cNvSpPr>
            <a:spLocks noGrp="1"/>
          </p:cNvSpPr>
          <p:nvPr>
            <p:ph type="sldNum" sz="quarter" idx="12"/>
          </p:nvPr>
        </p:nvSpPr>
        <p:spPr/>
        <p:txBody>
          <a:bodyPr/>
          <a:lstStyle/>
          <a:p>
            <a:fld id="{4FAB73BC-B049-4115-A692-8D63A059BFB8}" type="slidenum">
              <a:rPr lang="en-US" smtClean="0"/>
              <a:pPr/>
              <a:t>51</a:t>
            </a:fld>
            <a:endParaRPr lang="en-US" dirty="0"/>
          </a:p>
        </p:txBody>
      </p:sp>
      <p:cxnSp>
        <p:nvCxnSpPr>
          <p:cNvPr id="34" name="Straight Connector 33">
            <a:extLst>
              <a:ext uri="{FF2B5EF4-FFF2-40B4-BE49-F238E27FC236}">
                <a16:creationId xmlns:a16="http://schemas.microsoft.com/office/drawing/2014/main" id="{1E72D54F-3E8D-9B2D-5518-6B8446ED8FB2}"/>
              </a:ext>
            </a:extLst>
          </p:cNvPr>
          <p:cNvCxnSpPr/>
          <p:nvPr/>
        </p:nvCxnSpPr>
        <p:spPr>
          <a:xfrm>
            <a:off x="2440086" y="1662864"/>
            <a:ext cx="0" cy="3010736"/>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sp>
        <p:nvSpPr>
          <p:cNvPr id="35" name="Parallelogram 34">
            <a:extLst>
              <a:ext uri="{FF2B5EF4-FFF2-40B4-BE49-F238E27FC236}">
                <a16:creationId xmlns:a16="http://schemas.microsoft.com/office/drawing/2014/main" id="{3EB02EF3-8DF6-FB4F-C7B1-2A46BA169C7C}"/>
              </a:ext>
            </a:extLst>
          </p:cNvPr>
          <p:cNvSpPr/>
          <p:nvPr/>
        </p:nvSpPr>
        <p:spPr>
          <a:xfrm>
            <a:off x="982761" y="3153944"/>
            <a:ext cx="10229850" cy="1276350"/>
          </a:xfrm>
          <a:prstGeom prst="parallelogram">
            <a:avLst>
              <a:gd name="adj" fmla="val 113806"/>
            </a:avLst>
          </a:prstGeom>
          <a:solidFill>
            <a:srgbClr val="FFE4D9"/>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solidFill>
                <a:srgbClr val="FFE4D9"/>
              </a:solidFill>
            </a:endParaRPr>
          </a:p>
        </p:txBody>
      </p:sp>
      <p:sp>
        <p:nvSpPr>
          <p:cNvPr id="36" name="TextBox 35">
            <a:extLst>
              <a:ext uri="{FF2B5EF4-FFF2-40B4-BE49-F238E27FC236}">
                <a16:creationId xmlns:a16="http://schemas.microsoft.com/office/drawing/2014/main" id="{7E8C4E95-D178-DA04-59B5-E766602CBF7B}"/>
              </a:ext>
            </a:extLst>
          </p:cNvPr>
          <p:cNvSpPr txBox="1"/>
          <p:nvPr/>
        </p:nvSpPr>
        <p:spPr>
          <a:xfrm>
            <a:off x="1218930" y="4122517"/>
            <a:ext cx="1693092"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37" name="Parallelogram 36">
            <a:extLst>
              <a:ext uri="{FF2B5EF4-FFF2-40B4-BE49-F238E27FC236}">
                <a16:creationId xmlns:a16="http://schemas.microsoft.com/office/drawing/2014/main" id="{732CE187-333B-52C9-C09F-9C53A9FB1E2C}"/>
              </a:ext>
            </a:extLst>
          </p:cNvPr>
          <p:cNvSpPr/>
          <p:nvPr/>
        </p:nvSpPr>
        <p:spPr>
          <a:xfrm>
            <a:off x="982761" y="4673600"/>
            <a:ext cx="10229850" cy="1276350"/>
          </a:xfrm>
          <a:prstGeom prst="parallelogram">
            <a:avLst>
              <a:gd name="adj" fmla="val 113806"/>
            </a:avLst>
          </a:prstGeom>
          <a:solidFill>
            <a:schemeClr val="accent4">
              <a:lumMod val="20000"/>
              <a:lumOff val="8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8" name="TextBox 37">
            <a:extLst>
              <a:ext uri="{FF2B5EF4-FFF2-40B4-BE49-F238E27FC236}">
                <a16:creationId xmlns:a16="http://schemas.microsoft.com/office/drawing/2014/main" id="{A340192D-8C30-AB37-48B4-66D85AB45903}"/>
              </a:ext>
            </a:extLst>
          </p:cNvPr>
          <p:cNvSpPr txBox="1"/>
          <p:nvPr/>
        </p:nvSpPr>
        <p:spPr>
          <a:xfrm>
            <a:off x="1258204" y="5642173"/>
            <a:ext cx="1529586"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4"/>
                </a:solidFill>
              </a:rPr>
              <a:t>Dataset Columns</a:t>
            </a:r>
            <a:endParaRPr lang="en-NL" sz="1400" dirty="0">
              <a:solidFill>
                <a:schemeClr val="accent4"/>
              </a:solidFill>
            </a:endParaRPr>
          </a:p>
        </p:txBody>
      </p:sp>
      <p:sp>
        <p:nvSpPr>
          <p:cNvPr id="39" name="Parallelogram 38">
            <a:extLst>
              <a:ext uri="{FF2B5EF4-FFF2-40B4-BE49-F238E27FC236}">
                <a16:creationId xmlns:a16="http://schemas.microsoft.com/office/drawing/2014/main" id="{B6EE2E70-151D-88C3-501C-497410700B1B}"/>
              </a:ext>
            </a:extLst>
          </p:cNvPr>
          <p:cNvSpPr/>
          <p:nvPr/>
        </p:nvSpPr>
        <p:spPr>
          <a:xfrm>
            <a:off x="982761" y="1634289"/>
            <a:ext cx="10229850" cy="1276350"/>
          </a:xfrm>
          <a:prstGeom prst="parallelogram">
            <a:avLst>
              <a:gd name="adj" fmla="val 113806"/>
            </a:avLst>
          </a:prstGeom>
          <a:solidFill>
            <a:schemeClr val="accent1">
              <a:lumMod val="20000"/>
              <a:lumOff val="80000"/>
              <a:alpha val="95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0" name="TextBox 39">
            <a:extLst>
              <a:ext uri="{FF2B5EF4-FFF2-40B4-BE49-F238E27FC236}">
                <a16:creationId xmlns:a16="http://schemas.microsoft.com/office/drawing/2014/main" id="{82EFCBC6-15C8-ED11-1525-C5452B224B4B}"/>
              </a:ext>
            </a:extLst>
          </p:cNvPr>
          <p:cNvSpPr txBox="1"/>
          <p:nvPr/>
        </p:nvSpPr>
        <p:spPr>
          <a:xfrm>
            <a:off x="1352455" y="2602861"/>
            <a:ext cx="954107"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tx2">
                    <a:lumMod val="90000"/>
                    <a:lumOff val="10000"/>
                  </a:schemeClr>
                </a:solidFill>
              </a:rPr>
              <a:t>Meanings</a:t>
            </a:r>
            <a:endParaRPr lang="en-NL" sz="1400" dirty="0">
              <a:solidFill>
                <a:schemeClr val="tx2">
                  <a:lumMod val="90000"/>
                  <a:lumOff val="10000"/>
                </a:schemeClr>
              </a:solidFill>
            </a:endParaRPr>
          </a:p>
        </p:txBody>
      </p:sp>
      <p:cxnSp>
        <p:nvCxnSpPr>
          <p:cNvPr id="41" name="Straight Connector 40">
            <a:extLst>
              <a:ext uri="{FF2B5EF4-FFF2-40B4-BE49-F238E27FC236}">
                <a16:creationId xmlns:a16="http://schemas.microsoft.com/office/drawing/2014/main" id="{70C8DB80-5368-F09B-8E60-52CCFDFDFF15}"/>
              </a:ext>
            </a:extLst>
          </p:cNvPr>
          <p:cNvCxnSpPr/>
          <p:nvPr/>
        </p:nvCxnSpPr>
        <p:spPr>
          <a:xfrm>
            <a:off x="982760" y="2939214"/>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A0829780-21ED-5228-1E28-C20D7E4A04C0}"/>
              </a:ext>
            </a:extLst>
          </p:cNvPr>
          <p:cNvCxnSpPr/>
          <p:nvPr/>
        </p:nvCxnSpPr>
        <p:spPr>
          <a:xfrm>
            <a:off x="11210279" y="1662864"/>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83" name="Straight Connector 82">
            <a:extLst>
              <a:ext uri="{FF2B5EF4-FFF2-40B4-BE49-F238E27FC236}">
                <a16:creationId xmlns:a16="http://schemas.microsoft.com/office/drawing/2014/main" id="{D1FC4AC2-7764-C063-046E-0568EEC43033}"/>
              </a:ext>
            </a:extLst>
          </p:cNvPr>
          <p:cNvCxnSpPr>
            <a:cxnSpLocks/>
          </p:cNvCxnSpPr>
          <p:nvPr/>
        </p:nvCxnSpPr>
        <p:spPr>
          <a:xfrm>
            <a:off x="11204086" y="3153944"/>
            <a:ext cx="0" cy="151965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84" name="Straight Connector 83">
            <a:extLst>
              <a:ext uri="{FF2B5EF4-FFF2-40B4-BE49-F238E27FC236}">
                <a16:creationId xmlns:a16="http://schemas.microsoft.com/office/drawing/2014/main" id="{BB3DDCA2-CAB8-C4C4-D8B8-5214512487DD}"/>
              </a:ext>
            </a:extLst>
          </p:cNvPr>
          <p:cNvCxnSpPr>
            <a:cxnSpLocks/>
          </p:cNvCxnSpPr>
          <p:nvPr/>
        </p:nvCxnSpPr>
        <p:spPr>
          <a:xfrm>
            <a:off x="9762478" y="4430294"/>
            <a:ext cx="0" cy="151965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89" name="Oval 88">
            <a:extLst>
              <a:ext uri="{FF2B5EF4-FFF2-40B4-BE49-F238E27FC236}">
                <a16:creationId xmlns:a16="http://schemas.microsoft.com/office/drawing/2014/main" id="{CC9A4FCC-0F4A-A4A4-E6EE-2E2DA14AFDBB}"/>
              </a:ext>
            </a:extLst>
          </p:cNvPr>
          <p:cNvSpPr/>
          <p:nvPr/>
        </p:nvSpPr>
        <p:spPr>
          <a:xfrm>
            <a:off x="5128780" y="3321583"/>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C2</a:t>
            </a:r>
            <a:endParaRPr lang="en-NL" dirty="0"/>
          </a:p>
        </p:txBody>
      </p:sp>
      <p:sp>
        <p:nvSpPr>
          <p:cNvPr id="90" name="Oval 89">
            <a:extLst>
              <a:ext uri="{FF2B5EF4-FFF2-40B4-BE49-F238E27FC236}">
                <a16:creationId xmlns:a16="http://schemas.microsoft.com/office/drawing/2014/main" id="{8910EC56-9306-7EAA-2C63-8F53CEE1589A}"/>
              </a:ext>
            </a:extLst>
          </p:cNvPr>
          <p:cNvSpPr/>
          <p:nvPr/>
        </p:nvSpPr>
        <p:spPr>
          <a:xfrm>
            <a:off x="7337952" y="3321583"/>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C4</a:t>
            </a:r>
            <a:endParaRPr lang="en-NL" dirty="0"/>
          </a:p>
        </p:txBody>
      </p:sp>
      <p:sp>
        <p:nvSpPr>
          <p:cNvPr id="91" name="Oval 90">
            <a:extLst>
              <a:ext uri="{FF2B5EF4-FFF2-40B4-BE49-F238E27FC236}">
                <a16:creationId xmlns:a16="http://schemas.microsoft.com/office/drawing/2014/main" id="{F39B318F-ACC9-F0EA-AE27-84F0B2B03896}"/>
              </a:ext>
            </a:extLst>
          </p:cNvPr>
          <p:cNvSpPr/>
          <p:nvPr/>
        </p:nvSpPr>
        <p:spPr>
          <a:xfrm>
            <a:off x="9547126" y="3321583"/>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C6</a:t>
            </a:r>
            <a:endParaRPr lang="en-NL" dirty="0"/>
          </a:p>
        </p:txBody>
      </p:sp>
      <p:sp>
        <p:nvSpPr>
          <p:cNvPr id="92" name="Oval 91">
            <a:extLst>
              <a:ext uri="{FF2B5EF4-FFF2-40B4-BE49-F238E27FC236}">
                <a16:creationId xmlns:a16="http://schemas.microsoft.com/office/drawing/2014/main" id="{1C1F3ABA-4B01-AA0E-5FE8-6922C6F9D8D3}"/>
              </a:ext>
            </a:extLst>
          </p:cNvPr>
          <p:cNvSpPr/>
          <p:nvPr/>
        </p:nvSpPr>
        <p:spPr>
          <a:xfrm>
            <a:off x="4024194" y="3853081"/>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C1</a:t>
            </a:r>
            <a:endParaRPr lang="en-NL" dirty="0"/>
          </a:p>
        </p:txBody>
      </p:sp>
      <p:sp>
        <p:nvSpPr>
          <p:cNvPr id="93" name="Oval 92">
            <a:extLst>
              <a:ext uri="{FF2B5EF4-FFF2-40B4-BE49-F238E27FC236}">
                <a16:creationId xmlns:a16="http://schemas.microsoft.com/office/drawing/2014/main" id="{05AF1547-8CFC-70AC-96A8-83987D64E642}"/>
              </a:ext>
            </a:extLst>
          </p:cNvPr>
          <p:cNvSpPr/>
          <p:nvPr/>
        </p:nvSpPr>
        <p:spPr>
          <a:xfrm>
            <a:off x="6233366" y="3853081"/>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C3</a:t>
            </a:r>
            <a:endParaRPr lang="en-NL" dirty="0"/>
          </a:p>
        </p:txBody>
      </p:sp>
      <p:sp>
        <p:nvSpPr>
          <p:cNvPr id="94" name="Oval 93">
            <a:extLst>
              <a:ext uri="{FF2B5EF4-FFF2-40B4-BE49-F238E27FC236}">
                <a16:creationId xmlns:a16="http://schemas.microsoft.com/office/drawing/2014/main" id="{53730DA8-04F9-F95D-62F5-3CB6CAEFDD12}"/>
              </a:ext>
            </a:extLst>
          </p:cNvPr>
          <p:cNvSpPr/>
          <p:nvPr/>
        </p:nvSpPr>
        <p:spPr>
          <a:xfrm>
            <a:off x="8442538" y="3853081"/>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C5</a:t>
            </a:r>
            <a:endParaRPr lang="en-NL" dirty="0"/>
          </a:p>
        </p:txBody>
      </p:sp>
      <p:cxnSp>
        <p:nvCxnSpPr>
          <p:cNvPr id="95" name="Straight Arrow Connector 94">
            <a:extLst>
              <a:ext uri="{FF2B5EF4-FFF2-40B4-BE49-F238E27FC236}">
                <a16:creationId xmlns:a16="http://schemas.microsoft.com/office/drawing/2014/main" id="{9BB79CD1-9FE6-6B0D-9D58-5AFF6EC770B6}"/>
              </a:ext>
            </a:extLst>
          </p:cNvPr>
          <p:cNvCxnSpPr>
            <a:cxnSpLocks/>
            <a:endCxn id="89" idx="4"/>
          </p:cNvCxnSpPr>
          <p:nvPr/>
        </p:nvCxnSpPr>
        <p:spPr>
          <a:xfrm flipV="1">
            <a:off x="5332080" y="3731158"/>
            <a:ext cx="1488" cy="1158437"/>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96" name="Straight Arrow Connector 95">
            <a:extLst>
              <a:ext uri="{FF2B5EF4-FFF2-40B4-BE49-F238E27FC236}">
                <a16:creationId xmlns:a16="http://schemas.microsoft.com/office/drawing/2014/main" id="{A327C7D1-53F4-4494-2A17-D082495F9352}"/>
              </a:ext>
            </a:extLst>
          </p:cNvPr>
          <p:cNvCxnSpPr>
            <a:cxnSpLocks/>
            <a:endCxn id="89" idx="5"/>
          </p:cNvCxnSpPr>
          <p:nvPr/>
        </p:nvCxnSpPr>
        <p:spPr>
          <a:xfrm flipH="1" flipV="1">
            <a:off x="5478374" y="3671177"/>
            <a:ext cx="958788" cy="1733203"/>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97" name="Straight Arrow Connector 96">
            <a:extLst>
              <a:ext uri="{FF2B5EF4-FFF2-40B4-BE49-F238E27FC236}">
                <a16:creationId xmlns:a16="http://schemas.microsoft.com/office/drawing/2014/main" id="{CE7D7DD3-9BE0-4F71-A8C3-4BFB4F0A2B94}"/>
              </a:ext>
            </a:extLst>
          </p:cNvPr>
          <p:cNvCxnSpPr>
            <a:cxnSpLocks/>
            <a:endCxn id="90" idx="4"/>
          </p:cNvCxnSpPr>
          <p:nvPr/>
        </p:nvCxnSpPr>
        <p:spPr>
          <a:xfrm flipV="1">
            <a:off x="7542244" y="3731158"/>
            <a:ext cx="496" cy="1078437"/>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98" name="Straight Arrow Connector 97">
            <a:extLst>
              <a:ext uri="{FF2B5EF4-FFF2-40B4-BE49-F238E27FC236}">
                <a16:creationId xmlns:a16="http://schemas.microsoft.com/office/drawing/2014/main" id="{F192843C-60F1-6236-F46B-BD9F7D78088F}"/>
              </a:ext>
            </a:extLst>
          </p:cNvPr>
          <p:cNvCxnSpPr>
            <a:cxnSpLocks/>
            <a:endCxn id="94" idx="4"/>
          </p:cNvCxnSpPr>
          <p:nvPr/>
        </p:nvCxnSpPr>
        <p:spPr>
          <a:xfrm flipV="1">
            <a:off x="8647325" y="4262656"/>
            <a:ext cx="1" cy="1141724"/>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99" name="Straight Arrow Connector 98">
            <a:extLst>
              <a:ext uri="{FF2B5EF4-FFF2-40B4-BE49-F238E27FC236}">
                <a16:creationId xmlns:a16="http://schemas.microsoft.com/office/drawing/2014/main" id="{2C62C829-DD70-A617-FDB8-987B5F4ABB56}"/>
              </a:ext>
            </a:extLst>
          </p:cNvPr>
          <p:cNvCxnSpPr>
            <a:cxnSpLocks/>
            <a:stCxn id="90" idx="2"/>
            <a:endCxn id="93" idx="7"/>
          </p:cNvCxnSpPr>
          <p:nvPr/>
        </p:nvCxnSpPr>
        <p:spPr>
          <a:xfrm flipH="1">
            <a:off x="6582960" y="3526371"/>
            <a:ext cx="754992" cy="386691"/>
          </a:xfrm>
          <a:prstGeom prst="straightConnector1">
            <a:avLst/>
          </a:prstGeom>
          <a:ln w="38100">
            <a:solidFill>
              <a:srgbClr val="00B050"/>
            </a:solidFill>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00" name="Straight Arrow Connector 99">
            <a:extLst>
              <a:ext uri="{FF2B5EF4-FFF2-40B4-BE49-F238E27FC236}">
                <a16:creationId xmlns:a16="http://schemas.microsoft.com/office/drawing/2014/main" id="{FEB14B26-B73C-6DFE-0A8C-7577AE343229}"/>
              </a:ext>
            </a:extLst>
          </p:cNvPr>
          <p:cNvCxnSpPr>
            <a:cxnSpLocks/>
            <a:stCxn id="93" idx="1"/>
            <a:endCxn id="89" idx="6"/>
          </p:cNvCxnSpPr>
          <p:nvPr/>
        </p:nvCxnSpPr>
        <p:spPr>
          <a:xfrm flipH="1" flipV="1">
            <a:off x="5538355" y="3526371"/>
            <a:ext cx="754992" cy="386691"/>
          </a:xfrm>
          <a:prstGeom prst="straightConnector1">
            <a:avLst/>
          </a:prstGeom>
          <a:ln w="38100">
            <a:solidFill>
              <a:srgbClr val="00B050"/>
            </a:solidFill>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01" name="Connector: Curved 100">
            <a:extLst>
              <a:ext uri="{FF2B5EF4-FFF2-40B4-BE49-F238E27FC236}">
                <a16:creationId xmlns:a16="http://schemas.microsoft.com/office/drawing/2014/main" id="{A27B65D9-740C-3556-2072-33ACACD6FBAC}"/>
              </a:ext>
            </a:extLst>
          </p:cNvPr>
          <p:cNvCxnSpPr>
            <a:cxnSpLocks/>
            <a:stCxn id="89" idx="7"/>
            <a:endCxn id="90" idx="1"/>
          </p:cNvCxnSpPr>
          <p:nvPr/>
        </p:nvCxnSpPr>
        <p:spPr>
          <a:xfrm rot="5400000" flipH="1" flipV="1">
            <a:off x="6438153" y="2421785"/>
            <a:ext cx="12700" cy="1919559"/>
          </a:xfrm>
          <a:prstGeom prst="curvedConnector3">
            <a:avLst>
              <a:gd name="adj1" fmla="val 893551"/>
            </a:avLst>
          </a:prstGeom>
          <a:ln w="38100">
            <a:solidFill>
              <a:srgbClr val="00B050"/>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104" name="Oval 103">
            <a:extLst>
              <a:ext uri="{FF2B5EF4-FFF2-40B4-BE49-F238E27FC236}">
                <a16:creationId xmlns:a16="http://schemas.microsoft.com/office/drawing/2014/main" id="{BB66998F-BA85-02BD-47EE-B874E90728CF}"/>
              </a:ext>
            </a:extLst>
          </p:cNvPr>
          <p:cNvSpPr/>
          <p:nvPr/>
        </p:nvSpPr>
        <p:spPr>
          <a:xfrm>
            <a:off x="4024194" y="5404379"/>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D1</a:t>
            </a:r>
            <a:endParaRPr lang="en-NL" dirty="0"/>
          </a:p>
        </p:txBody>
      </p:sp>
      <p:cxnSp>
        <p:nvCxnSpPr>
          <p:cNvPr id="105" name="Straight Arrow Connector 104">
            <a:extLst>
              <a:ext uri="{FF2B5EF4-FFF2-40B4-BE49-F238E27FC236}">
                <a16:creationId xmlns:a16="http://schemas.microsoft.com/office/drawing/2014/main" id="{1E799F28-EE7E-5DCF-0C0B-EAE01BD70EC0}"/>
              </a:ext>
            </a:extLst>
          </p:cNvPr>
          <p:cNvCxnSpPr>
            <a:cxnSpLocks/>
            <a:stCxn id="104" idx="0"/>
          </p:cNvCxnSpPr>
          <p:nvPr/>
        </p:nvCxnSpPr>
        <p:spPr>
          <a:xfrm flipV="1">
            <a:off x="4228982" y="4262656"/>
            <a:ext cx="0" cy="1141723"/>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sp>
        <p:nvSpPr>
          <p:cNvPr id="106" name="Oval 105">
            <a:extLst>
              <a:ext uri="{FF2B5EF4-FFF2-40B4-BE49-F238E27FC236}">
                <a16:creationId xmlns:a16="http://schemas.microsoft.com/office/drawing/2014/main" id="{24AFD103-1504-C163-E76E-D7144869F668}"/>
              </a:ext>
            </a:extLst>
          </p:cNvPr>
          <p:cNvSpPr/>
          <p:nvPr/>
        </p:nvSpPr>
        <p:spPr>
          <a:xfrm>
            <a:off x="4024194" y="2067677"/>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dirty="0"/>
              <a:t>C1</a:t>
            </a:r>
            <a:endParaRPr lang="en-NL" dirty="0"/>
          </a:p>
        </p:txBody>
      </p:sp>
      <p:sp>
        <p:nvSpPr>
          <p:cNvPr id="107" name="Oval 106">
            <a:extLst>
              <a:ext uri="{FF2B5EF4-FFF2-40B4-BE49-F238E27FC236}">
                <a16:creationId xmlns:a16="http://schemas.microsoft.com/office/drawing/2014/main" id="{D90E12E8-864A-B703-C61D-892147BCC6C7}"/>
              </a:ext>
            </a:extLst>
          </p:cNvPr>
          <p:cNvSpPr/>
          <p:nvPr/>
        </p:nvSpPr>
        <p:spPr>
          <a:xfrm>
            <a:off x="6232373" y="2067677"/>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dirty="0"/>
              <a:t>C2</a:t>
            </a:r>
            <a:endParaRPr lang="en-NL" dirty="0"/>
          </a:p>
        </p:txBody>
      </p:sp>
      <p:sp>
        <p:nvSpPr>
          <p:cNvPr id="108" name="Oval 107">
            <a:extLst>
              <a:ext uri="{FF2B5EF4-FFF2-40B4-BE49-F238E27FC236}">
                <a16:creationId xmlns:a16="http://schemas.microsoft.com/office/drawing/2014/main" id="{96312F44-258C-39C3-CE9A-ED20972848A0}"/>
              </a:ext>
            </a:extLst>
          </p:cNvPr>
          <p:cNvSpPr/>
          <p:nvPr/>
        </p:nvSpPr>
        <p:spPr>
          <a:xfrm>
            <a:off x="8440552" y="2067677"/>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dirty="0"/>
              <a:t>C3</a:t>
            </a:r>
            <a:endParaRPr lang="en-NL" dirty="0"/>
          </a:p>
        </p:txBody>
      </p:sp>
      <p:cxnSp>
        <p:nvCxnSpPr>
          <p:cNvPr id="109" name="Straight Arrow Connector 108">
            <a:extLst>
              <a:ext uri="{FF2B5EF4-FFF2-40B4-BE49-F238E27FC236}">
                <a16:creationId xmlns:a16="http://schemas.microsoft.com/office/drawing/2014/main" id="{43C31B5E-8D0B-4D2B-A5E1-F6C7DA2A61EF}"/>
              </a:ext>
            </a:extLst>
          </p:cNvPr>
          <p:cNvCxnSpPr>
            <a:cxnSpLocks/>
            <a:stCxn id="92" idx="0"/>
            <a:endCxn id="106" idx="4"/>
          </p:cNvCxnSpPr>
          <p:nvPr/>
        </p:nvCxnSpPr>
        <p:spPr>
          <a:xfrm flipV="1">
            <a:off x="4228982" y="2477252"/>
            <a:ext cx="0" cy="1375829"/>
          </a:xfrm>
          <a:prstGeom prst="straightConnector1">
            <a:avLst/>
          </a:prstGeom>
          <a:ln w="38100">
            <a:solidFill>
              <a:schemeClr val="accent4"/>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116" name="Straight Arrow Connector 115">
            <a:extLst>
              <a:ext uri="{FF2B5EF4-FFF2-40B4-BE49-F238E27FC236}">
                <a16:creationId xmlns:a16="http://schemas.microsoft.com/office/drawing/2014/main" id="{8A5E33EE-C926-DE5A-8175-1FD229EE92B5}"/>
              </a:ext>
            </a:extLst>
          </p:cNvPr>
          <p:cNvCxnSpPr>
            <a:cxnSpLocks/>
            <a:stCxn id="91" idx="1"/>
            <a:endCxn id="108" idx="5"/>
          </p:cNvCxnSpPr>
          <p:nvPr/>
        </p:nvCxnSpPr>
        <p:spPr>
          <a:xfrm flipH="1" flipV="1">
            <a:off x="8790146" y="2417271"/>
            <a:ext cx="816961" cy="964293"/>
          </a:xfrm>
          <a:prstGeom prst="straightConnector1">
            <a:avLst/>
          </a:prstGeom>
          <a:ln w="38100">
            <a:solidFill>
              <a:schemeClr val="accent4"/>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121" name="Straight Arrow Connector 120">
            <a:extLst>
              <a:ext uri="{FF2B5EF4-FFF2-40B4-BE49-F238E27FC236}">
                <a16:creationId xmlns:a16="http://schemas.microsoft.com/office/drawing/2014/main" id="{5D53BB36-4BC4-AE1D-6AA1-884AF6D35C9D}"/>
              </a:ext>
            </a:extLst>
          </p:cNvPr>
          <p:cNvCxnSpPr>
            <a:cxnSpLocks/>
            <a:stCxn id="90" idx="0"/>
            <a:endCxn id="107" idx="5"/>
          </p:cNvCxnSpPr>
          <p:nvPr/>
        </p:nvCxnSpPr>
        <p:spPr>
          <a:xfrm flipH="1" flipV="1">
            <a:off x="6581967" y="2417271"/>
            <a:ext cx="960773" cy="904312"/>
          </a:xfrm>
          <a:prstGeom prst="straightConnector1">
            <a:avLst/>
          </a:prstGeom>
          <a:ln w="38100">
            <a:solidFill>
              <a:schemeClr val="accent4"/>
            </a:solidFill>
            <a:prstDash val="sysDash"/>
            <a:tailEnd type="triangle" w="lg" len="med"/>
          </a:ln>
        </p:spPr>
        <p:style>
          <a:lnRef idx="1">
            <a:schemeClr val="accent1"/>
          </a:lnRef>
          <a:fillRef idx="0">
            <a:schemeClr val="accent1"/>
          </a:fillRef>
          <a:effectRef idx="0">
            <a:schemeClr val="accent1"/>
          </a:effectRef>
          <a:fontRef idx="minor">
            <a:schemeClr val="tx1"/>
          </a:fontRef>
        </p:style>
      </p:cxnSp>
      <p:cxnSp>
        <p:nvCxnSpPr>
          <p:cNvPr id="126" name="Straight Arrow Connector 125">
            <a:extLst>
              <a:ext uri="{FF2B5EF4-FFF2-40B4-BE49-F238E27FC236}">
                <a16:creationId xmlns:a16="http://schemas.microsoft.com/office/drawing/2014/main" id="{247667CE-6CAC-B803-F628-64995C90544D}"/>
              </a:ext>
            </a:extLst>
          </p:cNvPr>
          <p:cNvCxnSpPr>
            <a:cxnSpLocks/>
            <a:stCxn id="89" idx="0"/>
            <a:endCxn id="107" idx="3"/>
          </p:cNvCxnSpPr>
          <p:nvPr/>
        </p:nvCxnSpPr>
        <p:spPr>
          <a:xfrm flipV="1">
            <a:off x="5333568" y="2417271"/>
            <a:ext cx="958786" cy="904312"/>
          </a:xfrm>
          <a:prstGeom prst="straightConnector1">
            <a:avLst/>
          </a:prstGeom>
          <a:ln w="38100">
            <a:solidFill>
              <a:schemeClr val="accent4"/>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129" name="Straight Arrow Connector 128">
            <a:extLst>
              <a:ext uri="{FF2B5EF4-FFF2-40B4-BE49-F238E27FC236}">
                <a16:creationId xmlns:a16="http://schemas.microsoft.com/office/drawing/2014/main" id="{5ADA3514-7927-B65E-50FA-BD0DF47EC60A}"/>
              </a:ext>
            </a:extLst>
          </p:cNvPr>
          <p:cNvCxnSpPr>
            <a:cxnSpLocks/>
            <a:stCxn id="94" idx="0"/>
            <a:endCxn id="108" idx="4"/>
          </p:cNvCxnSpPr>
          <p:nvPr/>
        </p:nvCxnSpPr>
        <p:spPr>
          <a:xfrm flipH="1" flipV="1">
            <a:off x="8645340" y="2477252"/>
            <a:ext cx="1986" cy="1375829"/>
          </a:xfrm>
          <a:prstGeom prst="straightConnector1">
            <a:avLst/>
          </a:prstGeom>
          <a:ln w="38100">
            <a:solidFill>
              <a:schemeClr val="accent4"/>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132" name="Connector: Curved 131">
            <a:extLst>
              <a:ext uri="{FF2B5EF4-FFF2-40B4-BE49-F238E27FC236}">
                <a16:creationId xmlns:a16="http://schemas.microsoft.com/office/drawing/2014/main" id="{679E8A83-EB0C-B6A9-CCFC-598E435E1375}"/>
              </a:ext>
            </a:extLst>
          </p:cNvPr>
          <p:cNvCxnSpPr>
            <a:cxnSpLocks/>
            <a:stCxn id="94" idx="6"/>
            <a:endCxn id="91" idx="4"/>
          </p:cNvCxnSpPr>
          <p:nvPr/>
        </p:nvCxnSpPr>
        <p:spPr>
          <a:xfrm flipV="1">
            <a:off x="8852113" y="3731158"/>
            <a:ext cx="899801" cy="326711"/>
          </a:xfrm>
          <a:prstGeom prst="curvedConnector2">
            <a:avLst/>
          </a:prstGeom>
          <a:ln w="38100">
            <a:solidFill>
              <a:srgbClr val="00B050"/>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115E7697-89C5-6B57-5C32-BFAE5CDEF094}"/>
              </a:ext>
            </a:extLst>
          </p:cNvPr>
          <p:cNvCxnSpPr>
            <a:cxnSpLocks/>
            <a:stCxn id="90" idx="7"/>
            <a:endCxn id="108" idx="3"/>
          </p:cNvCxnSpPr>
          <p:nvPr/>
        </p:nvCxnSpPr>
        <p:spPr>
          <a:xfrm flipV="1">
            <a:off x="7687546" y="2417271"/>
            <a:ext cx="812987" cy="964293"/>
          </a:xfrm>
          <a:prstGeom prst="straightConnector1">
            <a:avLst/>
          </a:prstGeom>
          <a:ln w="38100">
            <a:solidFill>
              <a:schemeClr val="accent6"/>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14" name="Connector: Curved 13">
            <a:extLst>
              <a:ext uri="{FF2B5EF4-FFF2-40B4-BE49-F238E27FC236}">
                <a16:creationId xmlns:a16="http://schemas.microsoft.com/office/drawing/2014/main" id="{505A6EEF-2C5F-A5A0-867E-E284753D41EE}"/>
              </a:ext>
            </a:extLst>
          </p:cNvPr>
          <p:cNvCxnSpPr>
            <a:cxnSpLocks/>
            <a:stCxn id="90" idx="5"/>
            <a:endCxn id="94" idx="2"/>
          </p:cNvCxnSpPr>
          <p:nvPr/>
        </p:nvCxnSpPr>
        <p:spPr>
          <a:xfrm rot="16200000" flipH="1">
            <a:off x="7871696" y="3487027"/>
            <a:ext cx="386692" cy="754992"/>
          </a:xfrm>
          <a:prstGeom prst="curvedConnector2">
            <a:avLst/>
          </a:prstGeom>
          <a:ln w="38100">
            <a:solidFill>
              <a:schemeClr val="accent6"/>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3" name="Straight Arrow Connector 2">
            <a:extLst>
              <a:ext uri="{FF2B5EF4-FFF2-40B4-BE49-F238E27FC236}">
                <a16:creationId xmlns:a16="http://schemas.microsoft.com/office/drawing/2014/main" id="{1927913E-B669-74F7-8CF4-C1FA67CC85C3}"/>
              </a:ext>
            </a:extLst>
          </p:cNvPr>
          <p:cNvCxnSpPr>
            <a:cxnSpLocks/>
            <a:stCxn id="107" idx="2"/>
            <a:endCxn id="106" idx="6"/>
          </p:cNvCxnSpPr>
          <p:nvPr/>
        </p:nvCxnSpPr>
        <p:spPr>
          <a:xfrm flipH="1">
            <a:off x="4433769" y="2272465"/>
            <a:ext cx="1798604" cy="0"/>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62E5BF70-A87E-C644-9FDE-29A09A702167}"/>
              </a:ext>
            </a:extLst>
          </p:cNvPr>
          <p:cNvSpPr txBox="1"/>
          <p:nvPr/>
        </p:nvSpPr>
        <p:spPr>
          <a:xfrm>
            <a:off x="4650542" y="1804769"/>
            <a:ext cx="1377044" cy="461665"/>
          </a:xfrm>
          <a:prstGeom prst="rect">
            <a:avLst/>
          </a:prstGeom>
          <a:noFill/>
        </p:spPr>
        <p:txBody>
          <a:bodyPr wrap="none" rtlCol="0">
            <a:spAutoFit/>
          </a:bodyPr>
          <a:lstStyle/>
          <a:p>
            <a:pPr algn="ctr"/>
            <a:r>
              <a:rPr lang="en-US" sz="1200" dirty="0" err="1"/>
              <a:t>narrowerMeaning</a:t>
            </a:r>
            <a:r>
              <a:rPr lang="en-US" sz="1200" dirty="0"/>
              <a:t> </a:t>
            </a:r>
          </a:p>
          <a:p>
            <a:pPr algn="ctr"/>
            <a:r>
              <a:rPr lang="en-US" sz="1200" dirty="0"/>
              <a:t>(</a:t>
            </a:r>
            <a:r>
              <a:rPr lang="en-US" sz="1200" dirty="0" err="1"/>
              <a:t>subClassOf</a:t>
            </a:r>
            <a:r>
              <a:rPr lang="en-US" sz="1200" dirty="0"/>
              <a:t>)</a:t>
            </a:r>
            <a:endParaRPr lang="en-NL" sz="1200" dirty="0"/>
          </a:p>
        </p:txBody>
      </p:sp>
      <p:cxnSp>
        <p:nvCxnSpPr>
          <p:cNvPr id="9" name="Connector: Curved 8">
            <a:extLst>
              <a:ext uri="{FF2B5EF4-FFF2-40B4-BE49-F238E27FC236}">
                <a16:creationId xmlns:a16="http://schemas.microsoft.com/office/drawing/2014/main" id="{6F5FD211-C108-C9E4-D7FD-22453C2DC4C1}"/>
              </a:ext>
            </a:extLst>
          </p:cNvPr>
          <p:cNvCxnSpPr>
            <a:cxnSpLocks/>
            <a:stCxn id="92" idx="7"/>
            <a:endCxn id="89" idx="2"/>
          </p:cNvCxnSpPr>
          <p:nvPr/>
        </p:nvCxnSpPr>
        <p:spPr>
          <a:xfrm rot="5400000" flipH="1" flipV="1">
            <a:off x="4557939" y="3342221"/>
            <a:ext cx="386691" cy="754992"/>
          </a:xfrm>
          <a:prstGeom prst="curvedConnector2">
            <a:avLst/>
          </a:prstGeom>
          <a:ln w="38100">
            <a:solidFill>
              <a:schemeClr val="accent2"/>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6A758997-AD3B-C058-64C1-E4DA2732CC8C}"/>
              </a:ext>
            </a:extLst>
          </p:cNvPr>
          <p:cNvCxnSpPr>
            <a:cxnSpLocks/>
            <a:stCxn id="91" idx="2"/>
            <a:endCxn id="90" idx="6"/>
          </p:cNvCxnSpPr>
          <p:nvPr/>
        </p:nvCxnSpPr>
        <p:spPr>
          <a:xfrm flipH="1">
            <a:off x="7747527" y="3526371"/>
            <a:ext cx="1799599" cy="0"/>
          </a:xfrm>
          <a:prstGeom prst="straightConnector1">
            <a:avLst/>
          </a:prstGeom>
          <a:ln w="38100">
            <a:solidFill>
              <a:schemeClr val="accent6"/>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9" name="Connector: Curved 18">
            <a:extLst>
              <a:ext uri="{FF2B5EF4-FFF2-40B4-BE49-F238E27FC236}">
                <a16:creationId xmlns:a16="http://schemas.microsoft.com/office/drawing/2014/main" id="{3981D06E-7188-5359-D8CF-D702D324B5AD}"/>
              </a:ext>
            </a:extLst>
          </p:cNvPr>
          <p:cNvCxnSpPr>
            <a:cxnSpLocks/>
            <a:stCxn id="92" idx="5"/>
            <a:endCxn id="90" idx="3"/>
          </p:cNvCxnSpPr>
          <p:nvPr/>
        </p:nvCxnSpPr>
        <p:spPr>
          <a:xfrm rot="5400000" flipH="1" flipV="1">
            <a:off x="5620111" y="2424853"/>
            <a:ext cx="531498" cy="3024145"/>
          </a:xfrm>
          <a:prstGeom prst="curvedConnector3">
            <a:avLst>
              <a:gd name="adj1" fmla="val -54296"/>
            </a:avLst>
          </a:prstGeom>
          <a:ln w="38100">
            <a:solidFill>
              <a:schemeClr val="accent2"/>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56E34D83-62A7-2763-E884-CF2DDBCEE0C5}"/>
              </a:ext>
            </a:extLst>
          </p:cNvPr>
          <p:cNvCxnSpPr>
            <a:cxnSpLocks/>
            <a:stCxn id="93" idx="2"/>
            <a:endCxn id="92" idx="6"/>
          </p:cNvCxnSpPr>
          <p:nvPr/>
        </p:nvCxnSpPr>
        <p:spPr>
          <a:xfrm flipH="1">
            <a:off x="4433769" y="4057869"/>
            <a:ext cx="1799597" cy="0"/>
          </a:xfrm>
          <a:prstGeom prst="straightConnector1">
            <a:avLst/>
          </a:prstGeom>
          <a:ln w="38100">
            <a:solidFill>
              <a:schemeClr val="accent2"/>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5" name="Straight Arrow Connector 4">
            <a:extLst>
              <a:ext uri="{FF2B5EF4-FFF2-40B4-BE49-F238E27FC236}">
                <a16:creationId xmlns:a16="http://schemas.microsoft.com/office/drawing/2014/main" id="{5D64E08E-F28E-40A3-DA74-286613391F99}"/>
              </a:ext>
            </a:extLst>
          </p:cNvPr>
          <p:cNvCxnSpPr>
            <a:cxnSpLocks/>
          </p:cNvCxnSpPr>
          <p:nvPr/>
        </p:nvCxnSpPr>
        <p:spPr>
          <a:xfrm flipH="1">
            <a:off x="7747527" y="3526371"/>
            <a:ext cx="1799599" cy="0"/>
          </a:xfrm>
          <a:prstGeom prst="straightConnector1">
            <a:avLst/>
          </a:prstGeom>
          <a:ln w="38100">
            <a:solidFill>
              <a:schemeClr val="accent6"/>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9FC1C44E-C6DD-3064-98B7-B8C04CEDCC79}"/>
              </a:ext>
            </a:extLst>
          </p:cNvPr>
          <p:cNvCxnSpPr>
            <a:cxnSpLocks/>
          </p:cNvCxnSpPr>
          <p:nvPr/>
        </p:nvCxnSpPr>
        <p:spPr>
          <a:xfrm flipH="1">
            <a:off x="6642941" y="3671177"/>
            <a:ext cx="2964166" cy="386692"/>
          </a:xfrm>
          <a:prstGeom prst="straightConnector1">
            <a:avLst/>
          </a:prstGeom>
          <a:ln w="38100">
            <a:solidFill>
              <a:schemeClr val="accent6"/>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0" name="Connector: Curved 9">
            <a:extLst>
              <a:ext uri="{FF2B5EF4-FFF2-40B4-BE49-F238E27FC236}">
                <a16:creationId xmlns:a16="http://schemas.microsoft.com/office/drawing/2014/main" id="{5F4C14CD-DDBD-023E-B667-C504DDACC4A6}"/>
              </a:ext>
            </a:extLst>
          </p:cNvPr>
          <p:cNvCxnSpPr>
            <a:cxnSpLocks/>
          </p:cNvCxnSpPr>
          <p:nvPr/>
        </p:nvCxnSpPr>
        <p:spPr>
          <a:xfrm rot="5400000" flipH="1" flipV="1">
            <a:off x="7542740" y="1317198"/>
            <a:ext cx="12700" cy="4128733"/>
          </a:xfrm>
          <a:prstGeom prst="curvedConnector3">
            <a:avLst>
              <a:gd name="adj1" fmla="val 3114827"/>
            </a:avLst>
          </a:prstGeom>
          <a:ln w="38100">
            <a:solidFill>
              <a:schemeClr val="accent6"/>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7E5A3D2F-3778-4969-977B-5BFEF81E4B66}"/>
              </a:ext>
            </a:extLst>
          </p:cNvPr>
          <p:cNvSpPr/>
          <p:nvPr/>
        </p:nvSpPr>
        <p:spPr>
          <a:xfrm>
            <a:off x="7616757" y="1225685"/>
            <a:ext cx="3879918" cy="1684953"/>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t>From C2: </a:t>
            </a:r>
          </a:p>
          <a:p>
            <a:pPr algn="ctr"/>
            <a:r>
              <a:rPr lang="en-US" dirty="0"/>
              <a:t>aligns C3 (asserted) and aligns C4 (inferred)</a:t>
            </a:r>
          </a:p>
          <a:p>
            <a:pPr algn="ctr"/>
            <a:r>
              <a:rPr lang="en-US" dirty="0" err="1"/>
              <a:t>cannotAlign</a:t>
            </a:r>
            <a:r>
              <a:rPr lang="en-US" dirty="0"/>
              <a:t> C5 and C6 (inferred)</a:t>
            </a:r>
          </a:p>
          <a:p>
            <a:pPr algn="ctr"/>
            <a:r>
              <a:rPr lang="en-US" dirty="0" err="1"/>
              <a:t>partiallyAligns</a:t>
            </a:r>
            <a:r>
              <a:rPr lang="en-US" dirty="0"/>
              <a:t> C1(inferred)</a:t>
            </a:r>
          </a:p>
        </p:txBody>
      </p:sp>
      <p:cxnSp>
        <p:nvCxnSpPr>
          <p:cNvPr id="13" name="Connector: Curved 12">
            <a:extLst>
              <a:ext uri="{FF2B5EF4-FFF2-40B4-BE49-F238E27FC236}">
                <a16:creationId xmlns:a16="http://schemas.microsoft.com/office/drawing/2014/main" id="{72615D64-41CB-F731-A9E0-160851E524D6}"/>
              </a:ext>
            </a:extLst>
          </p:cNvPr>
          <p:cNvCxnSpPr>
            <a:cxnSpLocks/>
            <a:stCxn id="93" idx="5"/>
            <a:endCxn id="94" idx="3"/>
          </p:cNvCxnSpPr>
          <p:nvPr/>
        </p:nvCxnSpPr>
        <p:spPr>
          <a:xfrm rot="16200000" flipH="1">
            <a:off x="7542739" y="3242895"/>
            <a:ext cx="12700" cy="1919559"/>
          </a:xfrm>
          <a:prstGeom prst="curvedConnector3">
            <a:avLst>
              <a:gd name="adj1" fmla="val 2272291"/>
            </a:avLst>
          </a:prstGeom>
          <a:ln w="38100">
            <a:solidFill>
              <a:schemeClr val="accent6"/>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7" name="Connector: Curved 16">
            <a:extLst>
              <a:ext uri="{FF2B5EF4-FFF2-40B4-BE49-F238E27FC236}">
                <a16:creationId xmlns:a16="http://schemas.microsoft.com/office/drawing/2014/main" id="{D5435FB8-7213-4CDE-FCB2-EAF568369443}"/>
              </a:ext>
            </a:extLst>
          </p:cNvPr>
          <p:cNvCxnSpPr>
            <a:cxnSpLocks/>
            <a:stCxn id="89" idx="4"/>
            <a:endCxn id="94" idx="4"/>
          </p:cNvCxnSpPr>
          <p:nvPr/>
        </p:nvCxnSpPr>
        <p:spPr>
          <a:xfrm rot="16200000" flipH="1">
            <a:off x="6724698" y="2340028"/>
            <a:ext cx="531498" cy="3313758"/>
          </a:xfrm>
          <a:prstGeom prst="curvedConnector3">
            <a:avLst>
              <a:gd name="adj1" fmla="val 174125"/>
            </a:avLst>
          </a:prstGeom>
          <a:ln w="38100">
            <a:solidFill>
              <a:schemeClr val="accent6"/>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26" name="Oval 25">
            <a:extLst>
              <a:ext uri="{FF2B5EF4-FFF2-40B4-BE49-F238E27FC236}">
                <a16:creationId xmlns:a16="http://schemas.microsoft.com/office/drawing/2014/main" id="{1DBB8AE5-7672-28B2-4816-3CF416992656}"/>
              </a:ext>
            </a:extLst>
          </p:cNvPr>
          <p:cNvSpPr/>
          <p:nvPr/>
        </p:nvSpPr>
        <p:spPr>
          <a:xfrm>
            <a:off x="5127292" y="4889595"/>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D2</a:t>
            </a:r>
            <a:endParaRPr lang="en-NL" dirty="0"/>
          </a:p>
        </p:txBody>
      </p:sp>
      <p:sp>
        <p:nvSpPr>
          <p:cNvPr id="27" name="Oval 26">
            <a:extLst>
              <a:ext uri="{FF2B5EF4-FFF2-40B4-BE49-F238E27FC236}">
                <a16:creationId xmlns:a16="http://schemas.microsoft.com/office/drawing/2014/main" id="{F7DB32C4-F178-8E52-531D-958E06B54E80}"/>
              </a:ext>
            </a:extLst>
          </p:cNvPr>
          <p:cNvSpPr/>
          <p:nvPr/>
        </p:nvSpPr>
        <p:spPr>
          <a:xfrm>
            <a:off x="7337456" y="4809595"/>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D4</a:t>
            </a:r>
            <a:endParaRPr lang="en-NL" dirty="0"/>
          </a:p>
        </p:txBody>
      </p:sp>
      <p:sp>
        <p:nvSpPr>
          <p:cNvPr id="28" name="Oval 27">
            <a:extLst>
              <a:ext uri="{FF2B5EF4-FFF2-40B4-BE49-F238E27FC236}">
                <a16:creationId xmlns:a16="http://schemas.microsoft.com/office/drawing/2014/main" id="{E7BBB796-29E4-8BBC-5ED1-B0ECFE22502E}"/>
              </a:ext>
            </a:extLst>
          </p:cNvPr>
          <p:cNvSpPr/>
          <p:nvPr/>
        </p:nvSpPr>
        <p:spPr>
          <a:xfrm>
            <a:off x="6232374" y="5404380"/>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D3</a:t>
            </a:r>
            <a:endParaRPr lang="en-NL" dirty="0"/>
          </a:p>
        </p:txBody>
      </p:sp>
      <p:sp>
        <p:nvSpPr>
          <p:cNvPr id="29" name="Oval 28">
            <a:extLst>
              <a:ext uri="{FF2B5EF4-FFF2-40B4-BE49-F238E27FC236}">
                <a16:creationId xmlns:a16="http://schemas.microsoft.com/office/drawing/2014/main" id="{5983C216-5D1D-3A7F-F5AD-BB8859A0DA25}"/>
              </a:ext>
            </a:extLst>
          </p:cNvPr>
          <p:cNvSpPr/>
          <p:nvPr/>
        </p:nvSpPr>
        <p:spPr>
          <a:xfrm>
            <a:off x="8442537" y="5404380"/>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D5</a:t>
            </a:r>
            <a:endParaRPr lang="en-NL" dirty="0"/>
          </a:p>
        </p:txBody>
      </p:sp>
      <p:cxnSp>
        <p:nvCxnSpPr>
          <p:cNvPr id="30" name="Connector: Curved 29">
            <a:extLst>
              <a:ext uri="{FF2B5EF4-FFF2-40B4-BE49-F238E27FC236}">
                <a16:creationId xmlns:a16="http://schemas.microsoft.com/office/drawing/2014/main" id="{BC9AC005-A5CC-45CD-8F4D-A2CE0FC61B00}"/>
              </a:ext>
            </a:extLst>
          </p:cNvPr>
          <p:cNvCxnSpPr>
            <a:cxnSpLocks/>
            <a:stCxn id="26" idx="4"/>
            <a:endCxn id="27" idx="4"/>
          </p:cNvCxnSpPr>
          <p:nvPr/>
        </p:nvCxnSpPr>
        <p:spPr>
          <a:xfrm rot="5400000" flipH="1" flipV="1">
            <a:off x="6397162" y="4154088"/>
            <a:ext cx="80000" cy="2210164"/>
          </a:xfrm>
          <a:prstGeom prst="curvedConnector3">
            <a:avLst>
              <a:gd name="adj1" fmla="val -1136920"/>
            </a:avLst>
          </a:prstGeom>
          <a:ln w="38100">
            <a:solidFill>
              <a:srgbClr val="00B050"/>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31" name="Connector: Curved 30">
            <a:extLst>
              <a:ext uri="{FF2B5EF4-FFF2-40B4-BE49-F238E27FC236}">
                <a16:creationId xmlns:a16="http://schemas.microsoft.com/office/drawing/2014/main" id="{295EE206-74D4-2EC6-EFC5-4424ECCD3884}"/>
              </a:ext>
            </a:extLst>
          </p:cNvPr>
          <p:cNvCxnSpPr>
            <a:cxnSpLocks/>
            <a:stCxn id="28" idx="7"/>
            <a:endCxn id="27" idx="2"/>
          </p:cNvCxnSpPr>
          <p:nvPr/>
        </p:nvCxnSpPr>
        <p:spPr>
          <a:xfrm rot="5400000" flipH="1" flipV="1">
            <a:off x="6734723" y="4861628"/>
            <a:ext cx="449978" cy="755488"/>
          </a:xfrm>
          <a:prstGeom prst="curvedConnector2">
            <a:avLst/>
          </a:prstGeom>
          <a:ln w="38100">
            <a:solidFill>
              <a:srgbClr val="00B050"/>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32" name="Connector: Curved 31">
            <a:extLst>
              <a:ext uri="{FF2B5EF4-FFF2-40B4-BE49-F238E27FC236}">
                <a16:creationId xmlns:a16="http://schemas.microsoft.com/office/drawing/2014/main" id="{A71ECC22-E132-B167-B96D-7C320E8A65B1}"/>
              </a:ext>
            </a:extLst>
          </p:cNvPr>
          <p:cNvCxnSpPr>
            <a:cxnSpLocks/>
            <a:stCxn id="27" idx="6"/>
            <a:endCxn id="29" idx="1"/>
          </p:cNvCxnSpPr>
          <p:nvPr/>
        </p:nvCxnSpPr>
        <p:spPr>
          <a:xfrm>
            <a:off x="7747031" y="5014383"/>
            <a:ext cx="755487" cy="449978"/>
          </a:xfrm>
          <a:prstGeom prst="curvedConnector2">
            <a:avLst/>
          </a:prstGeom>
          <a:ln w="38100">
            <a:solidFill>
              <a:schemeClr val="accent6"/>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33" name="Connector: Curved 32">
            <a:extLst>
              <a:ext uri="{FF2B5EF4-FFF2-40B4-BE49-F238E27FC236}">
                <a16:creationId xmlns:a16="http://schemas.microsoft.com/office/drawing/2014/main" id="{420D4750-2630-D430-1841-0C1A1A06BB93}"/>
              </a:ext>
            </a:extLst>
          </p:cNvPr>
          <p:cNvCxnSpPr>
            <a:cxnSpLocks/>
            <a:stCxn id="26" idx="5"/>
            <a:endCxn id="29" idx="3"/>
          </p:cNvCxnSpPr>
          <p:nvPr/>
        </p:nvCxnSpPr>
        <p:spPr>
          <a:xfrm rot="16200000" flipH="1">
            <a:off x="6732310" y="3983765"/>
            <a:ext cx="514785" cy="3025632"/>
          </a:xfrm>
          <a:prstGeom prst="curvedConnector3">
            <a:avLst>
              <a:gd name="adj1" fmla="val 186293"/>
            </a:avLst>
          </a:prstGeom>
          <a:ln w="38100">
            <a:solidFill>
              <a:schemeClr val="accent6"/>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EF6761F4-8438-BDD9-19D8-361AF4D7C6F9}"/>
              </a:ext>
            </a:extLst>
          </p:cNvPr>
          <p:cNvCxnSpPr>
            <a:cxnSpLocks/>
            <a:stCxn id="29" idx="2"/>
            <a:endCxn id="28" idx="6"/>
          </p:cNvCxnSpPr>
          <p:nvPr/>
        </p:nvCxnSpPr>
        <p:spPr>
          <a:xfrm flipH="1">
            <a:off x="6641949" y="5609168"/>
            <a:ext cx="1800588" cy="0"/>
          </a:xfrm>
          <a:prstGeom prst="straightConnector1">
            <a:avLst/>
          </a:prstGeom>
          <a:ln w="38100">
            <a:solidFill>
              <a:schemeClr val="accent6"/>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44" name="Connector: Curved 43">
            <a:extLst>
              <a:ext uri="{FF2B5EF4-FFF2-40B4-BE49-F238E27FC236}">
                <a16:creationId xmlns:a16="http://schemas.microsoft.com/office/drawing/2014/main" id="{5965D5BF-CC86-3042-0871-25BD1B5AEA09}"/>
              </a:ext>
            </a:extLst>
          </p:cNvPr>
          <p:cNvCxnSpPr>
            <a:cxnSpLocks/>
          </p:cNvCxnSpPr>
          <p:nvPr/>
        </p:nvCxnSpPr>
        <p:spPr>
          <a:xfrm>
            <a:off x="5536867" y="5094383"/>
            <a:ext cx="755488" cy="369978"/>
          </a:xfrm>
          <a:prstGeom prst="curvedConnector2">
            <a:avLst/>
          </a:prstGeom>
          <a:ln w="38100">
            <a:solidFill>
              <a:srgbClr val="00B050"/>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833836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1000"/>
                                        <p:tgtEl>
                                          <p:spTgt spid="19"/>
                                        </p:tgtEl>
                                      </p:cBhvr>
                                    </p:animEffect>
                                  </p:childTnLst>
                                </p:cTn>
                              </p:par>
                              <p:par>
                                <p:cTn id="11" presetID="10" presetClass="entr" presetSubtype="0" fill="hold" nodeType="withEffect">
                                  <p:stCondLst>
                                    <p:cond delay="0"/>
                                  </p:stCondLst>
                                  <p:childTnLst>
                                    <p:set>
                                      <p:cBhvr>
                                        <p:cTn id="12" dur="1" fill="hold">
                                          <p:stCondLst>
                                            <p:cond delay="0"/>
                                          </p:stCondLst>
                                        </p:cTn>
                                        <p:tgtEl>
                                          <p:spTgt spid="25"/>
                                        </p:tgtEl>
                                        <p:attrNameLst>
                                          <p:attrName>style.visibility</p:attrName>
                                        </p:attrNameLst>
                                      </p:cBhvr>
                                      <p:to>
                                        <p:strVal val="visible"/>
                                      </p:to>
                                    </p:set>
                                    <p:animEffect transition="in" filter="fade">
                                      <p:cBhvr>
                                        <p:cTn id="13" dur="10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4669F-F152-D3CE-29B9-FE4AA37B6D1F}"/>
              </a:ext>
            </a:extLst>
          </p:cNvPr>
          <p:cNvSpPr>
            <a:spLocks noGrp="1"/>
          </p:cNvSpPr>
          <p:nvPr>
            <p:ph type="title"/>
          </p:nvPr>
        </p:nvSpPr>
        <p:spPr/>
        <p:txBody>
          <a:bodyPr/>
          <a:lstStyle/>
          <a:p>
            <a:r>
              <a:rPr lang="en-US" dirty="0"/>
              <a:t>Scenario 5: query</a:t>
            </a:r>
            <a:endParaRPr lang="en-NL" dirty="0"/>
          </a:p>
        </p:txBody>
      </p:sp>
      <p:sp>
        <p:nvSpPr>
          <p:cNvPr id="3" name="Content Placeholder 2">
            <a:extLst>
              <a:ext uri="{FF2B5EF4-FFF2-40B4-BE49-F238E27FC236}">
                <a16:creationId xmlns:a16="http://schemas.microsoft.com/office/drawing/2014/main" id="{5185D016-C534-A920-3010-84940079AF56}"/>
              </a:ext>
            </a:extLst>
          </p:cNvPr>
          <p:cNvSpPr>
            <a:spLocks noGrp="1"/>
          </p:cNvSpPr>
          <p:nvPr>
            <p:ph idx="1"/>
          </p:nvPr>
        </p:nvSpPr>
        <p:spPr/>
        <p:txBody>
          <a:bodyPr>
            <a:normAutofit fontScale="70000" lnSpcReduction="20000"/>
          </a:bodyPr>
          <a:lstStyle/>
          <a:p>
            <a:pPr indent="0">
              <a:lnSpc>
                <a:spcPct val="120000"/>
              </a:lnSpc>
              <a:spcBef>
                <a:spcPts val="0"/>
              </a:spcBef>
              <a:spcAft>
                <a:spcPts val="300"/>
              </a:spcAft>
              <a:buNone/>
            </a:pPr>
            <a:r>
              <a:rPr lang="en-US" dirty="0">
                <a:latin typeface="Courier New" panose="02070309020205020404" pitchFamily="49" charset="0"/>
                <a:ea typeface="Calibri" panose="020F0502020204030204" pitchFamily="34" charset="0"/>
                <a:cs typeface="Courier New" panose="02070309020205020404" pitchFamily="49" charset="0"/>
              </a:rPr>
              <a:t>SELECT DISTINCT</a:t>
            </a:r>
          </a:p>
          <a:p>
            <a:pPr indent="0">
              <a:lnSpc>
                <a:spcPct val="120000"/>
              </a:lnSpc>
              <a:spcBef>
                <a:spcPts val="0"/>
              </a:spcBef>
              <a:spcAft>
                <a:spcPts val="300"/>
              </a:spcAft>
              <a:buNone/>
            </a:pPr>
            <a:r>
              <a:rPr lang="en-US" dirty="0">
                <a:latin typeface="Courier New" panose="02070309020205020404" pitchFamily="49" charset="0"/>
                <a:ea typeface="Calibri" panose="020F0502020204030204" pitchFamily="34" charset="0"/>
                <a:cs typeface="Courier New" panose="02070309020205020404" pitchFamily="49" charset="0"/>
              </a:rPr>
              <a:t>  ?</a:t>
            </a:r>
            <a:r>
              <a:rPr lang="en-US" dirty="0" err="1">
                <a:latin typeface="Courier New" panose="02070309020205020404" pitchFamily="49" charset="0"/>
                <a:ea typeface="Calibri" panose="020F0502020204030204" pitchFamily="34" charset="0"/>
                <a:cs typeface="Courier New" panose="02070309020205020404" pitchFamily="49" charset="0"/>
              </a:rPr>
              <a:t>relatedConcept</a:t>
            </a:r>
            <a:r>
              <a:rPr lang="en-US" dirty="0">
                <a:latin typeface="Courier New" panose="02070309020205020404" pitchFamily="49" charset="0"/>
                <a:ea typeface="Calibri" panose="020F0502020204030204" pitchFamily="34" charset="0"/>
                <a:cs typeface="Courier New" panose="02070309020205020404" pitchFamily="49" charset="0"/>
              </a:rPr>
              <a:t>  ?</a:t>
            </a:r>
            <a:r>
              <a:rPr lang="en-US" dirty="0" err="1">
                <a:latin typeface="Courier New" panose="02070309020205020404" pitchFamily="49" charset="0"/>
                <a:ea typeface="Calibri" panose="020F0502020204030204" pitchFamily="34" charset="0"/>
                <a:cs typeface="Courier New" panose="02070309020205020404" pitchFamily="49" charset="0"/>
              </a:rPr>
              <a:t>relationType</a:t>
            </a:r>
            <a:endParaRPr lang="en-US" dirty="0">
              <a:latin typeface="Courier New" panose="02070309020205020404" pitchFamily="49" charset="0"/>
              <a:ea typeface="Calibri" panose="020F0502020204030204" pitchFamily="34" charset="0"/>
              <a:cs typeface="Courier New" panose="02070309020205020404" pitchFamily="49" charset="0"/>
            </a:endParaRPr>
          </a:p>
          <a:p>
            <a:pPr indent="0">
              <a:lnSpc>
                <a:spcPct val="120000"/>
              </a:lnSpc>
              <a:spcBef>
                <a:spcPts val="0"/>
              </a:spcBef>
              <a:spcAft>
                <a:spcPts val="300"/>
              </a:spcAft>
              <a:buNone/>
            </a:pPr>
            <a:r>
              <a:rPr lang="en-US" dirty="0">
                <a:latin typeface="Courier New" panose="02070309020205020404" pitchFamily="49" charset="0"/>
                <a:ea typeface="Calibri" panose="020F0502020204030204" pitchFamily="34" charset="0"/>
                <a:cs typeface="Courier New" panose="02070309020205020404" pitchFamily="49" charset="0"/>
              </a:rPr>
              <a:t>WHERE {</a:t>
            </a:r>
          </a:p>
          <a:p>
            <a:pPr indent="0">
              <a:lnSpc>
                <a:spcPct val="120000"/>
              </a:lnSpc>
              <a:spcBef>
                <a:spcPts val="0"/>
              </a:spcBef>
              <a:spcAft>
                <a:spcPts val="300"/>
              </a:spcAft>
              <a:buNone/>
            </a:pPr>
            <a:r>
              <a:rPr lang="en-US" dirty="0">
                <a:latin typeface="Courier New" panose="02070309020205020404" pitchFamily="49" charset="0"/>
                <a:ea typeface="Calibri" panose="020F0502020204030204" pitchFamily="34" charset="0"/>
                <a:cs typeface="Courier New" panose="02070309020205020404" pitchFamily="49" charset="0"/>
              </a:rPr>
              <a:t>  VALUES ?</a:t>
            </a:r>
            <a:r>
              <a:rPr lang="en-US" dirty="0" err="1">
                <a:latin typeface="Courier New" panose="02070309020205020404" pitchFamily="49" charset="0"/>
                <a:ea typeface="Calibri" panose="020F0502020204030204" pitchFamily="34" charset="0"/>
                <a:cs typeface="Courier New" panose="02070309020205020404" pitchFamily="49" charset="0"/>
              </a:rPr>
              <a:t>focusConcept</a:t>
            </a:r>
            <a:r>
              <a:rPr lang="en-US" dirty="0">
                <a:latin typeface="Courier New" panose="02070309020205020404" pitchFamily="49" charset="0"/>
                <a:ea typeface="Calibri" panose="020F0502020204030204" pitchFamily="34" charset="0"/>
                <a:cs typeface="Courier New" panose="02070309020205020404" pitchFamily="49" charset="0"/>
              </a:rPr>
              <a:t> {</a:t>
            </a:r>
          </a:p>
          <a:p>
            <a:pPr indent="0">
              <a:lnSpc>
                <a:spcPct val="120000"/>
              </a:lnSpc>
              <a:spcBef>
                <a:spcPts val="0"/>
              </a:spcBef>
              <a:spcAft>
                <a:spcPts val="300"/>
              </a:spcAft>
              <a:buNone/>
            </a:pPr>
            <a:r>
              <a:rPr lang="en-US" dirty="0">
                <a:latin typeface="Courier New" panose="02070309020205020404" pitchFamily="49" charset="0"/>
                <a:ea typeface="Calibri" panose="020F0502020204030204" pitchFamily="34" charset="0"/>
                <a:cs typeface="Courier New" panose="02070309020205020404" pitchFamily="49" charset="0"/>
              </a:rPr>
              <a:t>    </a:t>
            </a:r>
            <a:r>
              <a:rPr lang="en-US" b="1" dirty="0">
                <a:latin typeface="Courier New" panose="02070309020205020404" pitchFamily="49" charset="0"/>
                <a:ea typeface="Calibri" panose="020F0502020204030204" pitchFamily="34" charset="0"/>
                <a:cs typeface="Courier New" panose="02070309020205020404" pitchFamily="49" charset="0"/>
              </a:rPr>
              <a:t>&lt;FOCUS_CONCEPT_URI&gt;</a:t>
            </a:r>
          </a:p>
          <a:p>
            <a:pPr indent="0">
              <a:lnSpc>
                <a:spcPct val="120000"/>
              </a:lnSpc>
              <a:spcBef>
                <a:spcPts val="0"/>
              </a:spcBef>
              <a:spcAft>
                <a:spcPts val="300"/>
              </a:spcAft>
              <a:buNone/>
            </a:pPr>
            <a:r>
              <a:rPr lang="en-US" dirty="0">
                <a:latin typeface="Courier New" panose="02070309020205020404" pitchFamily="49" charset="0"/>
                <a:ea typeface="Calibri" panose="020F0502020204030204" pitchFamily="34" charset="0"/>
                <a:cs typeface="Courier New" panose="02070309020205020404" pitchFamily="49" charset="0"/>
              </a:rPr>
              <a:t>  }</a:t>
            </a:r>
          </a:p>
          <a:p>
            <a:pPr indent="0">
              <a:lnSpc>
                <a:spcPct val="120000"/>
              </a:lnSpc>
              <a:spcBef>
                <a:spcPts val="0"/>
              </a:spcBef>
              <a:spcAft>
                <a:spcPts val="300"/>
              </a:spcAft>
              <a:buNone/>
            </a:pPr>
            <a:endParaRPr lang="en-US" dirty="0">
              <a:latin typeface="Courier New" panose="02070309020205020404" pitchFamily="49" charset="0"/>
              <a:ea typeface="Calibri" panose="020F0502020204030204" pitchFamily="34" charset="0"/>
              <a:cs typeface="Courier New" panose="02070309020205020404" pitchFamily="49" charset="0"/>
            </a:endParaRPr>
          </a:p>
          <a:p>
            <a:pPr indent="0">
              <a:lnSpc>
                <a:spcPct val="120000"/>
              </a:lnSpc>
              <a:spcBef>
                <a:spcPts val="0"/>
              </a:spcBef>
              <a:spcAft>
                <a:spcPts val="300"/>
              </a:spcAft>
              <a:buNone/>
            </a:pPr>
            <a:r>
              <a:rPr lang="en-US" dirty="0">
                <a:latin typeface="Courier New" panose="02070309020205020404" pitchFamily="49" charset="0"/>
                <a:ea typeface="Calibri" panose="020F0502020204030204" pitchFamily="34" charset="0"/>
                <a:cs typeface="Courier New" panose="02070309020205020404" pitchFamily="49" charset="0"/>
              </a:rPr>
              <a:t>  VALUES ?</a:t>
            </a:r>
            <a:r>
              <a:rPr lang="en-US" dirty="0" err="1">
                <a:latin typeface="Courier New" panose="02070309020205020404" pitchFamily="49" charset="0"/>
                <a:ea typeface="Calibri" panose="020F0502020204030204" pitchFamily="34" charset="0"/>
                <a:cs typeface="Courier New" panose="02070309020205020404" pitchFamily="49" charset="0"/>
              </a:rPr>
              <a:t>relationType</a:t>
            </a:r>
            <a:r>
              <a:rPr lang="en-US" dirty="0">
                <a:latin typeface="Courier New" panose="02070309020205020404" pitchFamily="49" charset="0"/>
                <a:ea typeface="Calibri" panose="020F0502020204030204" pitchFamily="34" charset="0"/>
                <a:cs typeface="Courier New" panose="02070309020205020404" pitchFamily="49" charset="0"/>
              </a:rPr>
              <a:t> {    </a:t>
            </a:r>
            <a:r>
              <a:rPr lang="en-US" dirty="0" err="1">
                <a:latin typeface="Courier New" panose="02070309020205020404" pitchFamily="49" charset="0"/>
                <a:ea typeface="Calibri" panose="020F0502020204030204" pitchFamily="34" charset="0"/>
                <a:cs typeface="Courier New" panose="02070309020205020404" pitchFamily="49" charset="0"/>
              </a:rPr>
              <a:t>demo:aligns</a:t>
            </a:r>
            <a:r>
              <a:rPr lang="en-US" dirty="0">
                <a:latin typeface="Courier New" panose="02070309020205020404" pitchFamily="49" charset="0"/>
                <a:ea typeface="Calibri" panose="020F0502020204030204" pitchFamily="34" charset="0"/>
                <a:cs typeface="Courier New" panose="02070309020205020404" pitchFamily="49" charset="0"/>
              </a:rPr>
              <a:t>    </a:t>
            </a:r>
            <a:r>
              <a:rPr lang="en-US" dirty="0" err="1">
                <a:latin typeface="Courier New" panose="02070309020205020404" pitchFamily="49" charset="0"/>
                <a:ea typeface="Calibri" panose="020F0502020204030204" pitchFamily="34" charset="0"/>
                <a:cs typeface="Courier New" panose="02070309020205020404" pitchFamily="49" charset="0"/>
              </a:rPr>
              <a:t>demo:partiallyAligns</a:t>
            </a:r>
            <a:r>
              <a:rPr lang="en-US" dirty="0">
                <a:latin typeface="Courier New" panose="02070309020205020404" pitchFamily="49" charset="0"/>
                <a:ea typeface="Calibri" panose="020F0502020204030204" pitchFamily="34" charset="0"/>
                <a:cs typeface="Courier New" panose="02070309020205020404" pitchFamily="49" charset="0"/>
              </a:rPr>
              <a:t>    </a:t>
            </a:r>
            <a:r>
              <a:rPr lang="en-US" dirty="0" err="1">
                <a:latin typeface="Courier New" panose="02070309020205020404" pitchFamily="49" charset="0"/>
                <a:ea typeface="Calibri" panose="020F0502020204030204" pitchFamily="34" charset="0"/>
                <a:cs typeface="Courier New" panose="02070309020205020404" pitchFamily="49" charset="0"/>
              </a:rPr>
              <a:t>demo:cannotAlign</a:t>
            </a:r>
            <a:r>
              <a:rPr lang="en-US" dirty="0">
                <a:latin typeface="Courier New" panose="02070309020205020404" pitchFamily="49" charset="0"/>
                <a:ea typeface="Calibri" panose="020F0502020204030204" pitchFamily="34" charset="0"/>
                <a:cs typeface="Courier New" panose="02070309020205020404" pitchFamily="49" charset="0"/>
              </a:rPr>
              <a:t>  }</a:t>
            </a:r>
          </a:p>
          <a:p>
            <a:pPr indent="0">
              <a:lnSpc>
                <a:spcPct val="120000"/>
              </a:lnSpc>
              <a:spcBef>
                <a:spcPts val="0"/>
              </a:spcBef>
              <a:spcAft>
                <a:spcPts val="300"/>
              </a:spcAft>
              <a:buNone/>
            </a:pPr>
            <a:endParaRPr lang="en-US" dirty="0">
              <a:latin typeface="Courier New" panose="02070309020205020404" pitchFamily="49" charset="0"/>
              <a:ea typeface="Calibri" panose="020F0502020204030204" pitchFamily="34" charset="0"/>
              <a:cs typeface="Courier New" panose="02070309020205020404" pitchFamily="49" charset="0"/>
            </a:endParaRPr>
          </a:p>
          <a:p>
            <a:pPr indent="0">
              <a:lnSpc>
                <a:spcPct val="120000"/>
              </a:lnSpc>
              <a:spcBef>
                <a:spcPts val="0"/>
              </a:spcBef>
              <a:spcAft>
                <a:spcPts val="300"/>
              </a:spcAft>
              <a:buNone/>
            </a:pPr>
            <a:r>
              <a:rPr lang="en-US" dirty="0">
                <a:latin typeface="Courier New" panose="02070309020205020404" pitchFamily="49" charset="0"/>
                <a:ea typeface="Calibri" panose="020F0502020204030204" pitchFamily="34" charset="0"/>
                <a:cs typeface="Courier New" panose="02070309020205020404" pitchFamily="49" charset="0"/>
              </a:rPr>
              <a:t>  ?</a:t>
            </a:r>
            <a:r>
              <a:rPr lang="en-US" dirty="0" err="1">
                <a:latin typeface="Courier New" panose="02070309020205020404" pitchFamily="49" charset="0"/>
                <a:ea typeface="Calibri" panose="020F0502020204030204" pitchFamily="34" charset="0"/>
                <a:cs typeface="Courier New" panose="02070309020205020404" pitchFamily="49" charset="0"/>
              </a:rPr>
              <a:t>focusConcept</a:t>
            </a:r>
            <a:r>
              <a:rPr lang="en-US" dirty="0">
                <a:latin typeface="Courier New" panose="02070309020205020404" pitchFamily="49" charset="0"/>
                <a:ea typeface="Calibri" panose="020F0502020204030204" pitchFamily="34" charset="0"/>
                <a:cs typeface="Courier New" panose="02070309020205020404" pitchFamily="49" charset="0"/>
              </a:rPr>
              <a:t> ?</a:t>
            </a:r>
            <a:r>
              <a:rPr lang="en-US" dirty="0" err="1">
                <a:latin typeface="Courier New" panose="02070309020205020404" pitchFamily="49" charset="0"/>
                <a:ea typeface="Calibri" panose="020F0502020204030204" pitchFamily="34" charset="0"/>
                <a:cs typeface="Courier New" panose="02070309020205020404" pitchFamily="49" charset="0"/>
              </a:rPr>
              <a:t>relationType</a:t>
            </a:r>
            <a:r>
              <a:rPr lang="en-US" dirty="0">
                <a:latin typeface="Courier New" panose="02070309020205020404" pitchFamily="49" charset="0"/>
                <a:ea typeface="Calibri" panose="020F0502020204030204" pitchFamily="34" charset="0"/>
                <a:cs typeface="Courier New" panose="02070309020205020404" pitchFamily="49" charset="0"/>
              </a:rPr>
              <a:t> ?</a:t>
            </a:r>
            <a:r>
              <a:rPr lang="en-US" dirty="0" err="1">
                <a:latin typeface="Courier New" panose="02070309020205020404" pitchFamily="49" charset="0"/>
                <a:ea typeface="Calibri" panose="020F0502020204030204" pitchFamily="34" charset="0"/>
                <a:cs typeface="Courier New" panose="02070309020205020404" pitchFamily="49" charset="0"/>
              </a:rPr>
              <a:t>relatedConcept</a:t>
            </a:r>
            <a:r>
              <a:rPr lang="en-US" dirty="0">
                <a:latin typeface="Courier New" panose="02070309020205020404" pitchFamily="49" charset="0"/>
                <a:ea typeface="Calibri" panose="020F0502020204030204" pitchFamily="34" charset="0"/>
                <a:cs typeface="Courier New" panose="02070309020205020404" pitchFamily="49" charset="0"/>
              </a:rPr>
              <a:t> .</a:t>
            </a:r>
          </a:p>
          <a:p>
            <a:pPr indent="0">
              <a:lnSpc>
                <a:spcPct val="120000"/>
              </a:lnSpc>
              <a:spcBef>
                <a:spcPts val="0"/>
              </a:spcBef>
              <a:spcAft>
                <a:spcPts val="300"/>
              </a:spcAft>
              <a:buNone/>
            </a:pPr>
            <a:r>
              <a:rPr lang="en-US" dirty="0">
                <a:latin typeface="Courier New" panose="02070309020205020404" pitchFamily="49" charset="0"/>
                <a:ea typeface="Calibri" panose="020F0502020204030204" pitchFamily="34" charset="0"/>
                <a:cs typeface="Courier New" panose="02070309020205020404" pitchFamily="49" charset="0"/>
              </a:rPr>
              <a:t>  FILTER(?</a:t>
            </a:r>
            <a:r>
              <a:rPr lang="en-US" dirty="0" err="1">
                <a:latin typeface="Courier New" panose="02070309020205020404" pitchFamily="49" charset="0"/>
                <a:ea typeface="Calibri" panose="020F0502020204030204" pitchFamily="34" charset="0"/>
                <a:cs typeface="Courier New" panose="02070309020205020404" pitchFamily="49" charset="0"/>
              </a:rPr>
              <a:t>relatedConcept</a:t>
            </a:r>
            <a:r>
              <a:rPr lang="en-US" dirty="0">
                <a:latin typeface="Courier New" panose="02070309020205020404" pitchFamily="49" charset="0"/>
                <a:ea typeface="Calibri" panose="020F0502020204030204" pitchFamily="34" charset="0"/>
                <a:cs typeface="Courier New" panose="02070309020205020404" pitchFamily="49" charset="0"/>
              </a:rPr>
              <a:t> != ?</a:t>
            </a:r>
            <a:r>
              <a:rPr lang="en-US" dirty="0" err="1">
                <a:latin typeface="Courier New" panose="02070309020205020404" pitchFamily="49" charset="0"/>
                <a:ea typeface="Calibri" panose="020F0502020204030204" pitchFamily="34" charset="0"/>
                <a:cs typeface="Courier New" panose="02070309020205020404" pitchFamily="49" charset="0"/>
              </a:rPr>
              <a:t>focusConcept</a:t>
            </a:r>
            <a:r>
              <a:rPr lang="en-US" dirty="0">
                <a:latin typeface="Courier New" panose="02070309020205020404" pitchFamily="49" charset="0"/>
                <a:ea typeface="Calibri" panose="020F0502020204030204" pitchFamily="34" charset="0"/>
                <a:cs typeface="Courier New" panose="02070309020205020404" pitchFamily="49" charset="0"/>
              </a:rPr>
              <a:t>)</a:t>
            </a:r>
          </a:p>
          <a:p>
            <a:pPr indent="0">
              <a:lnSpc>
                <a:spcPct val="120000"/>
              </a:lnSpc>
              <a:spcBef>
                <a:spcPts val="0"/>
              </a:spcBef>
              <a:spcAft>
                <a:spcPts val="300"/>
              </a:spcAft>
              <a:buNone/>
            </a:pPr>
            <a:r>
              <a:rPr lang="en-US" dirty="0">
                <a:latin typeface="Courier New" panose="02070309020205020404" pitchFamily="49" charset="0"/>
                <a:ea typeface="Calibri" panose="020F0502020204030204" pitchFamily="34" charset="0"/>
                <a:cs typeface="Courier New" panose="02070309020205020404" pitchFamily="49" charset="0"/>
              </a:rPr>
              <a:t>}</a:t>
            </a:r>
          </a:p>
          <a:p>
            <a:pPr indent="0">
              <a:lnSpc>
                <a:spcPct val="120000"/>
              </a:lnSpc>
              <a:spcBef>
                <a:spcPts val="0"/>
              </a:spcBef>
              <a:spcAft>
                <a:spcPts val="300"/>
              </a:spcAft>
              <a:buNone/>
            </a:pPr>
            <a:r>
              <a:rPr lang="en-US" dirty="0">
                <a:latin typeface="Courier New" panose="02070309020205020404" pitchFamily="49" charset="0"/>
                <a:ea typeface="Calibri" panose="020F0502020204030204" pitchFamily="34" charset="0"/>
                <a:cs typeface="Courier New" panose="02070309020205020404" pitchFamily="49" charset="0"/>
              </a:rPr>
              <a:t>ORDER BY ?</a:t>
            </a:r>
            <a:r>
              <a:rPr lang="en-US" dirty="0" err="1">
                <a:latin typeface="Courier New" panose="02070309020205020404" pitchFamily="49" charset="0"/>
                <a:ea typeface="Calibri" panose="020F0502020204030204" pitchFamily="34" charset="0"/>
                <a:cs typeface="Courier New" panose="02070309020205020404" pitchFamily="49" charset="0"/>
              </a:rPr>
              <a:t>relationType</a:t>
            </a:r>
            <a:r>
              <a:rPr lang="en-US" dirty="0">
                <a:latin typeface="Courier New" panose="02070309020205020404" pitchFamily="49" charset="0"/>
                <a:ea typeface="Calibri" panose="020F0502020204030204" pitchFamily="34" charset="0"/>
                <a:cs typeface="Courier New" panose="02070309020205020404" pitchFamily="49" charset="0"/>
              </a:rPr>
              <a:t> ?</a:t>
            </a:r>
            <a:r>
              <a:rPr lang="en-US" dirty="0" err="1">
                <a:latin typeface="Courier New" panose="02070309020205020404" pitchFamily="49" charset="0"/>
                <a:ea typeface="Calibri" panose="020F0502020204030204" pitchFamily="34" charset="0"/>
                <a:cs typeface="Courier New" panose="02070309020205020404" pitchFamily="49" charset="0"/>
              </a:rPr>
              <a:t>relatedConcept</a:t>
            </a:r>
            <a:endParaRPr lang="en-NL" dirty="0">
              <a:latin typeface="Courier New" panose="02070309020205020404" pitchFamily="49" charset="0"/>
              <a:ea typeface="Calibri" panose="020F0502020204030204" pitchFamily="34" charset="0"/>
              <a:cs typeface="Courier New" panose="02070309020205020404" pitchFamily="49" charset="0"/>
            </a:endParaRPr>
          </a:p>
        </p:txBody>
      </p:sp>
      <p:sp>
        <p:nvSpPr>
          <p:cNvPr id="4" name="Slide Number Placeholder 3">
            <a:extLst>
              <a:ext uri="{FF2B5EF4-FFF2-40B4-BE49-F238E27FC236}">
                <a16:creationId xmlns:a16="http://schemas.microsoft.com/office/drawing/2014/main" id="{A00D2013-DCFA-1585-EA4D-0BE0BC6D1242}"/>
              </a:ext>
            </a:extLst>
          </p:cNvPr>
          <p:cNvSpPr>
            <a:spLocks noGrp="1"/>
          </p:cNvSpPr>
          <p:nvPr>
            <p:ph type="sldNum" sz="quarter" idx="12"/>
          </p:nvPr>
        </p:nvSpPr>
        <p:spPr/>
        <p:txBody>
          <a:bodyPr/>
          <a:lstStyle/>
          <a:p>
            <a:fld id="{4FAB73BC-B049-4115-A692-8D63A059BFB8}" type="slidenum">
              <a:rPr lang="en-US" smtClean="0"/>
              <a:pPr/>
              <a:t>52</a:t>
            </a:fld>
            <a:endParaRPr lang="en-US" dirty="0"/>
          </a:p>
        </p:txBody>
      </p:sp>
    </p:spTree>
    <p:extLst>
      <p:ext uri="{BB962C8B-B14F-4D97-AF65-F5344CB8AC3E}">
        <p14:creationId xmlns:p14="http://schemas.microsoft.com/office/powerpoint/2010/main" val="363707922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637A0F-8F39-E4B3-B7ED-01CF87B8B584}"/>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8025951-E055-923E-D412-AB43DC8622F8}"/>
              </a:ext>
            </a:extLst>
          </p:cNvPr>
          <p:cNvSpPr>
            <a:spLocks noGrp="1"/>
          </p:cNvSpPr>
          <p:nvPr>
            <p:ph type="sldNum" sz="quarter" idx="12"/>
          </p:nvPr>
        </p:nvSpPr>
        <p:spPr/>
        <p:txBody>
          <a:bodyPr/>
          <a:lstStyle/>
          <a:p>
            <a:fld id="{4FAB73BC-B049-4115-A692-8D63A059BFB8}" type="slidenum">
              <a:rPr lang="en-US" smtClean="0"/>
              <a:pPr/>
              <a:t>53</a:t>
            </a:fld>
            <a:endParaRPr lang="en-US" dirty="0"/>
          </a:p>
        </p:txBody>
      </p:sp>
      <p:sp>
        <p:nvSpPr>
          <p:cNvPr id="14" name="TextBox 13">
            <a:extLst>
              <a:ext uri="{FF2B5EF4-FFF2-40B4-BE49-F238E27FC236}">
                <a16:creationId xmlns:a16="http://schemas.microsoft.com/office/drawing/2014/main" id="{A75ED8A3-78C8-8BEF-9D2A-8BABE1A3FE3F}"/>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2</a:t>
            </a:r>
            <a:endParaRPr lang="en-NL" sz="1000" b="1" dirty="0"/>
          </a:p>
        </p:txBody>
      </p:sp>
      <p:sp>
        <p:nvSpPr>
          <p:cNvPr id="2" name="TextBox 1">
            <a:extLst>
              <a:ext uri="{FF2B5EF4-FFF2-40B4-BE49-F238E27FC236}">
                <a16:creationId xmlns:a16="http://schemas.microsoft.com/office/drawing/2014/main" id="{1E2C5752-6E18-93FC-49A4-4863D5439689}"/>
              </a:ext>
            </a:extLst>
          </p:cNvPr>
          <p:cNvSpPr txBox="1"/>
          <p:nvPr/>
        </p:nvSpPr>
        <p:spPr>
          <a:xfrm>
            <a:off x="767089" y="546538"/>
            <a:ext cx="12555040" cy="1200329"/>
          </a:xfrm>
          <a:prstGeom prst="rect">
            <a:avLst/>
          </a:prstGeom>
          <a:noFill/>
        </p:spPr>
        <p:txBody>
          <a:bodyPr wrap="none" rtlCol="0">
            <a:spAutoFit/>
          </a:bodyPr>
          <a:lstStyle/>
          <a:p>
            <a:r>
              <a:rPr lang="en-US" dirty="0">
                <a:solidFill>
                  <a:schemeClr val="accent2"/>
                </a:solidFill>
              </a:rPr>
              <a:t>SCENARIO 5: With which datasets can D1 interoperate (CHECK FOR ALIGNS)?</a:t>
            </a:r>
          </a:p>
          <a:p>
            <a:r>
              <a:rPr lang="en-US" dirty="0">
                <a:solidFill>
                  <a:schemeClr val="accent2"/>
                </a:solidFill>
              </a:rPr>
              <a:t>SCENARIO 5: What are potential candidates for D1 interoperability (check for PARTIAL)?</a:t>
            </a:r>
          </a:p>
          <a:p>
            <a:r>
              <a:rPr lang="en-US" dirty="0">
                <a:solidFill>
                  <a:srgbClr val="FF0000"/>
                </a:solidFill>
              </a:rPr>
              <a:t>SCENARIO 5: Return all patients from datasets that implements the same concept that my variable </a:t>
            </a:r>
            <a:r>
              <a:rPr lang="en-US" dirty="0" err="1">
                <a:solidFill>
                  <a:srgbClr val="FF0000"/>
                </a:solidFill>
              </a:rPr>
              <a:t>care-sm:Sex</a:t>
            </a:r>
            <a:r>
              <a:rPr lang="en-US" dirty="0">
                <a:solidFill>
                  <a:srgbClr val="FF0000"/>
                </a:solidFill>
              </a:rPr>
              <a:t> implements.</a:t>
            </a:r>
          </a:p>
          <a:p>
            <a:r>
              <a:rPr lang="en-US" dirty="0">
                <a:solidFill>
                  <a:srgbClr val="FF0000"/>
                </a:solidFill>
              </a:rPr>
              <a:t>	returns: id, datasets</a:t>
            </a:r>
          </a:p>
        </p:txBody>
      </p:sp>
      <p:graphicFrame>
        <p:nvGraphicFramePr>
          <p:cNvPr id="3" name="Content Placeholder 4">
            <a:extLst>
              <a:ext uri="{FF2B5EF4-FFF2-40B4-BE49-F238E27FC236}">
                <a16:creationId xmlns:a16="http://schemas.microsoft.com/office/drawing/2014/main" id="{582F82F4-789C-DACC-CB55-42879A8560D1}"/>
              </a:ext>
            </a:extLst>
          </p:cNvPr>
          <p:cNvGraphicFramePr>
            <a:graphicFrameLocks/>
          </p:cNvGraphicFramePr>
          <p:nvPr>
            <p:extLst>
              <p:ext uri="{D42A27DB-BD31-4B8C-83A1-F6EECF244321}">
                <p14:modId xmlns:p14="http://schemas.microsoft.com/office/powerpoint/2010/main" val="3217226190"/>
              </p:ext>
            </p:extLst>
          </p:nvPr>
        </p:nvGraphicFramePr>
        <p:xfrm>
          <a:off x="7878355" y="3118199"/>
          <a:ext cx="2811677" cy="1278051"/>
        </p:xfrm>
        <a:graphic>
          <a:graphicData uri="http://schemas.openxmlformats.org/drawingml/2006/table">
            <a:tbl>
              <a:tblPr firstRow="1" bandRow="1">
                <a:effectLst>
                  <a:outerShdw blurRad="50800" dist="38100" dir="2700000" algn="tl" rotWithShape="0">
                    <a:prstClr val="black">
                      <a:alpha val="40000"/>
                    </a:prstClr>
                  </a:outerShdw>
                </a:effectLst>
                <a:tableStyleId>{21E4AEA4-8DFA-4A89-87EB-49C32662AFE0}</a:tableStyleId>
              </a:tblPr>
              <a:tblGrid>
                <a:gridCol w="360000">
                  <a:extLst>
                    <a:ext uri="{9D8B030D-6E8A-4147-A177-3AD203B41FA5}">
                      <a16:colId xmlns:a16="http://schemas.microsoft.com/office/drawing/2014/main" val="979315127"/>
                    </a:ext>
                  </a:extLst>
                </a:gridCol>
                <a:gridCol w="1731677">
                  <a:extLst>
                    <a:ext uri="{9D8B030D-6E8A-4147-A177-3AD203B41FA5}">
                      <a16:colId xmlns:a16="http://schemas.microsoft.com/office/drawing/2014/main" val="2075302567"/>
                    </a:ext>
                  </a:extLst>
                </a:gridCol>
                <a:gridCol w="360000">
                  <a:extLst>
                    <a:ext uri="{9D8B030D-6E8A-4147-A177-3AD203B41FA5}">
                      <a16:colId xmlns:a16="http://schemas.microsoft.com/office/drawing/2014/main" val="660631070"/>
                    </a:ext>
                  </a:extLst>
                </a:gridCol>
                <a:gridCol w="360000">
                  <a:extLst>
                    <a:ext uri="{9D8B030D-6E8A-4147-A177-3AD203B41FA5}">
                      <a16:colId xmlns:a16="http://schemas.microsoft.com/office/drawing/2014/main" val="1525013378"/>
                    </a:ext>
                  </a:extLst>
                </a:gridCol>
              </a:tblGrid>
              <a:tr h="367200">
                <a:tc>
                  <a:txBody>
                    <a:bodyPr/>
                    <a:lstStyle/>
                    <a:p>
                      <a:pPr algn="l"/>
                      <a:endParaRPr lang="en-NL" sz="1100" dirty="0"/>
                    </a:p>
                  </a:txBody>
                  <a:tcPr marL="72000" anchor="ctr"/>
                </a:tc>
                <a:tc>
                  <a:txBody>
                    <a:bodyPr/>
                    <a:lstStyle/>
                    <a:p>
                      <a:pPr algn="l"/>
                      <a:r>
                        <a:rPr lang="en-US" sz="900" dirty="0" err="1"/>
                        <a:t>hri-openehr:legal-gender</a:t>
                      </a:r>
                      <a:endParaRPr lang="en-US" sz="900" dirty="0"/>
                    </a:p>
                    <a:p>
                      <a:pPr algn="l"/>
                      <a:r>
                        <a:rPr lang="en-US" sz="900" dirty="0"/>
                        <a:t>("Legal gender"@</a:t>
                      </a:r>
                      <a:r>
                        <a:rPr lang="en-US" sz="900" dirty="0" err="1"/>
                        <a:t>en</a:t>
                      </a:r>
                      <a:r>
                        <a:rPr lang="en-US" sz="900" dirty="0"/>
                        <a:t>)</a:t>
                      </a:r>
                      <a:endParaRPr lang="en-US" sz="850" dirty="0"/>
                    </a:p>
                  </a:txBody>
                  <a:tcPr marL="72000" marR="18000" marT="0" marB="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3012902903"/>
                  </a:ext>
                </a:extLst>
              </a:tr>
              <a:tr h="306000">
                <a:tc>
                  <a:txBody>
                    <a:bodyPr/>
                    <a:lstStyle/>
                    <a:p>
                      <a:pPr algn="l"/>
                      <a:endParaRPr lang="en-NL" sz="1100" dirty="0"/>
                    </a:p>
                  </a:txBody>
                  <a:tcPr marL="72000" anchor="ctr"/>
                </a:tc>
                <a:tc>
                  <a:txBody>
                    <a:bodyPr/>
                    <a:lstStyle/>
                    <a:p>
                      <a:pPr algn="l"/>
                      <a:r>
                        <a:rPr lang="en-US" sz="1100" b="1" dirty="0"/>
                        <a:t>female</a:t>
                      </a:r>
                      <a:endParaRPr lang="en-NL" sz="1100" b="1" dirty="0"/>
                    </a:p>
                  </a:txBody>
                  <a:tcPr marL="7200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1249708150"/>
                  </a:ext>
                </a:extLst>
              </a:tr>
              <a:tr h="306000">
                <a:tc>
                  <a:txBody>
                    <a:bodyPr/>
                    <a:lstStyle/>
                    <a:p>
                      <a:pPr algn="l"/>
                      <a:endParaRPr lang="en-NL" sz="1100" dirty="0"/>
                    </a:p>
                  </a:txBody>
                  <a:tcPr marL="72000" anchor="ctr"/>
                </a:tc>
                <a:tc>
                  <a:txBody>
                    <a:bodyPr/>
                    <a:lstStyle/>
                    <a:p>
                      <a:pPr algn="l"/>
                      <a:r>
                        <a:rPr lang="en-US" sz="1100" b="1" dirty="0"/>
                        <a:t>male</a:t>
                      </a:r>
                      <a:endParaRPr lang="en-NL" sz="1100" b="1" dirty="0"/>
                    </a:p>
                  </a:txBody>
                  <a:tcPr marL="7200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3850974854"/>
                  </a:ext>
                </a:extLst>
              </a:tr>
              <a:tr h="298851">
                <a:tc>
                  <a:txBody>
                    <a:bodyPr/>
                    <a:lstStyle/>
                    <a:p>
                      <a:pPr algn="l"/>
                      <a:endParaRPr lang="en-NL" sz="1100" dirty="0"/>
                    </a:p>
                  </a:txBody>
                  <a:tcPr marL="72000" anchor="ctr"/>
                </a:tc>
                <a:tc>
                  <a:txBody>
                    <a:bodyPr/>
                    <a:lstStyle/>
                    <a:p>
                      <a:pPr algn="l"/>
                      <a:r>
                        <a:rPr lang="en-US" sz="1100" b="1" dirty="0"/>
                        <a:t>nonbinary</a:t>
                      </a:r>
                      <a:endParaRPr lang="en-NL" sz="1100" b="1" dirty="0"/>
                    </a:p>
                  </a:txBody>
                  <a:tcPr marL="7200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5" name="Rectangle: Rounded Corners 4">
            <a:extLst>
              <a:ext uri="{FF2B5EF4-FFF2-40B4-BE49-F238E27FC236}">
                <a16:creationId xmlns:a16="http://schemas.microsoft.com/office/drawing/2014/main" id="{446D862E-1122-C7AE-B420-790842B4A3B1}"/>
              </a:ext>
            </a:extLst>
          </p:cNvPr>
          <p:cNvSpPr/>
          <p:nvPr/>
        </p:nvSpPr>
        <p:spPr>
          <a:xfrm>
            <a:off x="9580165" y="3764351"/>
            <a:ext cx="1642188" cy="710132"/>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NL"/>
          </a:p>
        </p:txBody>
      </p:sp>
      <p:graphicFrame>
        <p:nvGraphicFramePr>
          <p:cNvPr id="6" name="Content Placeholder 4">
            <a:extLst>
              <a:ext uri="{FF2B5EF4-FFF2-40B4-BE49-F238E27FC236}">
                <a16:creationId xmlns:a16="http://schemas.microsoft.com/office/drawing/2014/main" id="{01CAD3B1-5A70-FAFF-DF32-936C3783CDD8}"/>
              </a:ext>
            </a:extLst>
          </p:cNvPr>
          <p:cNvGraphicFramePr>
            <a:graphicFrameLocks/>
          </p:cNvGraphicFramePr>
          <p:nvPr>
            <p:extLst>
              <p:ext uri="{D42A27DB-BD31-4B8C-83A1-F6EECF244321}">
                <p14:modId xmlns:p14="http://schemas.microsoft.com/office/powerpoint/2010/main" val="1582770089"/>
              </p:ext>
            </p:extLst>
          </p:nvPr>
        </p:nvGraphicFramePr>
        <p:xfrm>
          <a:off x="7878355" y="4538762"/>
          <a:ext cx="2811600" cy="1285200"/>
        </p:xfrm>
        <a:graphic>
          <a:graphicData uri="http://schemas.openxmlformats.org/drawingml/2006/table">
            <a:tbl>
              <a:tblPr firstRow="1" bandRow="1">
                <a:effectLst>
                  <a:outerShdw blurRad="50800" dist="38100" dir="2700000" algn="tl" rotWithShape="0">
                    <a:prstClr val="black">
                      <a:alpha val="40000"/>
                    </a:prstClr>
                  </a:outerShdw>
                </a:effectLst>
                <a:tableStyleId>{00A15C55-8517-42AA-B614-E9B94910E393}</a:tableStyleId>
              </a:tblPr>
              <a:tblGrid>
                <a:gridCol w="360000">
                  <a:extLst>
                    <a:ext uri="{9D8B030D-6E8A-4147-A177-3AD203B41FA5}">
                      <a16:colId xmlns:a16="http://schemas.microsoft.com/office/drawing/2014/main" val="979315127"/>
                    </a:ext>
                  </a:extLst>
                </a:gridCol>
                <a:gridCol w="1731600">
                  <a:extLst>
                    <a:ext uri="{9D8B030D-6E8A-4147-A177-3AD203B41FA5}">
                      <a16:colId xmlns:a16="http://schemas.microsoft.com/office/drawing/2014/main" val="2075302567"/>
                    </a:ext>
                  </a:extLst>
                </a:gridCol>
                <a:gridCol w="360000">
                  <a:extLst>
                    <a:ext uri="{9D8B030D-6E8A-4147-A177-3AD203B41FA5}">
                      <a16:colId xmlns:a16="http://schemas.microsoft.com/office/drawing/2014/main" val="660631070"/>
                    </a:ext>
                  </a:extLst>
                </a:gridCol>
                <a:gridCol w="360000">
                  <a:extLst>
                    <a:ext uri="{9D8B030D-6E8A-4147-A177-3AD203B41FA5}">
                      <a16:colId xmlns:a16="http://schemas.microsoft.com/office/drawing/2014/main" val="1525013378"/>
                    </a:ext>
                  </a:extLst>
                </a:gridCol>
              </a:tblGrid>
              <a:tr h="367200">
                <a:tc>
                  <a:txBody>
                    <a:bodyPr/>
                    <a:lstStyle/>
                    <a:p>
                      <a:endParaRPr lang="en-NL" sz="1100" dirty="0"/>
                    </a:p>
                  </a:txBody>
                  <a:tcPr marL="72000" anchor="ctr"/>
                </a:tc>
                <a:tc>
                  <a:txBody>
                    <a:bodyPr/>
                    <a:lstStyle/>
                    <a:p>
                      <a:r>
                        <a:rPr lang="en-US" sz="900" dirty="0"/>
                        <a:t>loinc:107454-1</a:t>
                      </a:r>
                    </a:p>
                    <a:p>
                      <a:r>
                        <a:rPr lang="en-US" sz="900" dirty="0"/>
                        <a:t>("Administrative gender"@</a:t>
                      </a:r>
                      <a:r>
                        <a:rPr lang="en-US" sz="900" dirty="0" err="1"/>
                        <a:t>en</a:t>
                      </a:r>
                      <a:r>
                        <a:rPr lang="en-US" sz="900" dirty="0"/>
                        <a:t>)</a:t>
                      </a:r>
                      <a:endParaRPr lang="en-NL" sz="900" dirty="0"/>
                    </a:p>
                  </a:txBody>
                  <a:tcPr marL="72000" marR="0" marT="0" marB="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012902903"/>
                  </a:ext>
                </a:extLst>
              </a:tr>
              <a:tr h="306000">
                <a:tc>
                  <a:txBody>
                    <a:bodyPr/>
                    <a:lstStyle/>
                    <a:p>
                      <a:endParaRPr lang="en-NL" sz="1100" dirty="0"/>
                    </a:p>
                  </a:txBody>
                  <a:tcPr marL="72000" anchor="ctr"/>
                </a:tc>
                <a:tc>
                  <a:txBody>
                    <a:bodyPr/>
                    <a:lstStyle/>
                    <a:p>
                      <a:r>
                        <a:rPr lang="en-US" sz="1100" b="1" dirty="0"/>
                        <a:t>woman</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1249708150"/>
                  </a:ext>
                </a:extLst>
              </a:tr>
              <a:tr h="306000">
                <a:tc>
                  <a:txBody>
                    <a:bodyPr/>
                    <a:lstStyle/>
                    <a:p>
                      <a:endParaRPr lang="en-NL" sz="1100" dirty="0"/>
                    </a:p>
                  </a:txBody>
                  <a:tcPr marL="72000" anchor="ctr"/>
                </a:tc>
                <a:tc>
                  <a:txBody>
                    <a:bodyPr/>
                    <a:lstStyle/>
                    <a:p>
                      <a:r>
                        <a:rPr lang="en-US" sz="1100" b="1" dirty="0"/>
                        <a:t>man</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850974854"/>
                  </a:ext>
                </a:extLst>
              </a:tr>
              <a:tr h="306000">
                <a:tc>
                  <a:txBody>
                    <a:bodyPr/>
                    <a:lstStyle/>
                    <a:p>
                      <a:endParaRPr lang="en-NL" sz="1100" dirty="0"/>
                    </a:p>
                  </a:txBody>
                  <a:tcPr marL="72000" anchor="ctr"/>
                </a:tc>
                <a:tc>
                  <a:txBody>
                    <a:bodyPr/>
                    <a:lstStyle/>
                    <a:p>
                      <a:r>
                        <a:rPr lang="en-US" sz="1100" b="1" dirty="0"/>
                        <a:t>non-binary</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7" name="Rectangle: Rounded Corners 6">
            <a:extLst>
              <a:ext uri="{FF2B5EF4-FFF2-40B4-BE49-F238E27FC236}">
                <a16:creationId xmlns:a16="http://schemas.microsoft.com/office/drawing/2014/main" id="{509198F8-9F85-CBE8-86B2-CED0E629ACFD}"/>
              </a:ext>
            </a:extLst>
          </p:cNvPr>
          <p:cNvSpPr/>
          <p:nvPr/>
        </p:nvSpPr>
        <p:spPr>
          <a:xfrm>
            <a:off x="9580166" y="5182068"/>
            <a:ext cx="1642188" cy="710132"/>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en-NL"/>
          </a:p>
        </p:txBody>
      </p:sp>
      <p:graphicFrame>
        <p:nvGraphicFramePr>
          <p:cNvPr id="8" name="Content Placeholder 4">
            <a:extLst>
              <a:ext uri="{FF2B5EF4-FFF2-40B4-BE49-F238E27FC236}">
                <a16:creationId xmlns:a16="http://schemas.microsoft.com/office/drawing/2014/main" id="{F18F7E48-AEF4-F841-0A8C-25BB9734CDC1}"/>
              </a:ext>
            </a:extLst>
          </p:cNvPr>
          <p:cNvGraphicFramePr>
            <a:graphicFrameLocks/>
          </p:cNvGraphicFramePr>
          <p:nvPr>
            <p:extLst>
              <p:ext uri="{D42A27DB-BD31-4B8C-83A1-F6EECF244321}">
                <p14:modId xmlns:p14="http://schemas.microsoft.com/office/powerpoint/2010/main" val="1648291245"/>
              </p:ext>
            </p:extLst>
          </p:nvPr>
        </p:nvGraphicFramePr>
        <p:xfrm>
          <a:off x="7878355" y="1695020"/>
          <a:ext cx="2811677" cy="128376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360000">
                  <a:extLst>
                    <a:ext uri="{9D8B030D-6E8A-4147-A177-3AD203B41FA5}">
                      <a16:colId xmlns:a16="http://schemas.microsoft.com/office/drawing/2014/main" val="979315127"/>
                    </a:ext>
                  </a:extLst>
                </a:gridCol>
                <a:gridCol w="1731677">
                  <a:extLst>
                    <a:ext uri="{9D8B030D-6E8A-4147-A177-3AD203B41FA5}">
                      <a16:colId xmlns:a16="http://schemas.microsoft.com/office/drawing/2014/main" val="2075302567"/>
                    </a:ext>
                  </a:extLst>
                </a:gridCol>
                <a:gridCol w="360000">
                  <a:extLst>
                    <a:ext uri="{9D8B030D-6E8A-4147-A177-3AD203B41FA5}">
                      <a16:colId xmlns:a16="http://schemas.microsoft.com/office/drawing/2014/main" val="660631070"/>
                    </a:ext>
                  </a:extLst>
                </a:gridCol>
                <a:gridCol w="360000">
                  <a:extLst>
                    <a:ext uri="{9D8B030D-6E8A-4147-A177-3AD203B41FA5}">
                      <a16:colId xmlns:a16="http://schemas.microsoft.com/office/drawing/2014/main" val="1525013378"/>
                    </a:ext>
                  </a:extLst>
                </a:gridCol>
              </a:tblGrid>
              <a:tr h="324000">
                <a:tc>
                  <a:txBody>
                    <a:bodyPr/>
                    <a:lstStyle/>
                    <a:p>
                      <a:endParaRPr lang="en-NL" sz="1100" dirty="0"/>
                    </a:p>
                  </a:txBody>
                  <a:tcPr marL="72000" anchor="ctr"/>
                </a:tc>
                <a:tc>
                  <a:txBody>
                    <a:bodyPr/>
                    <a:lstStyle/>
                    <a:p>
                      <a:r>
                        <a:rPr lang="en-US" sz="900" dirty="0" err="1"/>
                        <a:t>care-sm:Sex</a:t>
                      </a:r>
                      <a:endParaRPr lang="en-US" sz="900" dirty="0"/>
                    </a:p>
                    <a:p>
                      <a:r>
                        <a:rPr lang="en-US" sz="900" dirty="0"/>
                        <a:t>("Biological sex"@</a:t>
                      </a:r>
                      <a:r>
                        <a:rPr lang="en-US" sz="900" dirty="0" err="1"/>
                        <a:t>en</a:t>
                      </a:r>
                      <a:r>
                        <a:rPr lang="en-US" sz="900" dirty="0"/>
                        <a:t>)</a:t>
                      </a:r>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012902903"/>
                  </a:ext>
                </a:extLst>
              </a:tr>
              <a:tr h="306000">
                <a:tc>
                  <a:txBody>
                    <a:bodyPr/>
                    <a:lstStyle/>
                    <a:p>
                      <a:endParaRPr lang="en-NL" sz="1100" dirty="0"/>
                    </a:p>
                  </a:txBody>
                  <a:tcPr marL="72000" anchor="ctr"/>
                </a:tc>
                <a:tc>
                  <a:txBody>
                    <a:bodyPr/>
                    <a:lstStyle/>
                    <a:p>
                      <a:r>
                        <a:rPr lang="en-US" sz="1100" b="1" dirty="0"/>
                        <a:t>female</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1249708150"/>
                  </a:ext>
                </a:extLst>
              </a:tr>
              <a:tr h="306000">
                <a:tc>
                  <a:txBody>
                    <a:bodyPr/>
                    <a:lstStyle/>
                    <a:p>
                      <a:endParaRPr lang="en-NL" sz="1100" dirty="0"/>
                    </a:p>
                  </a:txBody>
                  <a:tcPr marL="72000" anchor="ctr"/>
                </a:tc>
                <a:tc>
                  <a:txBody>
                    <a:bodyPr/>
                    <a:lstStyle/>
                    <a:p>
                      <a:r>
                        <a:rPr lang="en-US" sz="1100" b="1" dirty="0"/>
                        <a:t>male</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850974854"/>
                  </a:ext>
                </a:extLst>
              </a:tr>
              <a:tr h="306000">
                <a:tc>
                  <a:txBody>
                    <a:bodyPr/>
                    <a:lstStyle/>
                    <a:p>
                      <a:endParaRPr lang="en-NL" sz="1100" dirty="0"/>
                    </a:p>
                  </a:txBody>
                  <a:tcPr marL="72000" anchor="ctr"/>
                </a:tc>
                <a:tc>
                  <a:txBody>
                    <a:bodyPr/>
                    <a:lstStyle/>
                    <a:p>
                      <a:r>
                        <a:rPr lang="en-US" sz="1100" b="1" dirty="0"/>
                        <a:t>female</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9" name="Rectangle: Rounded Corners 8">
            <a:extLst>
              <a:ext uri="{FF2B5EF4-FFF2-40B4-BE49-F238E27FC236}">
                <a16:creationId xmlns:a16="http://schemas.microsoft.com/office/drawing/2014/main" id="{C6196D12-65E9-0137-4486-A8CAD127FBC0}"/>
              </a:ext>
            </a:extLst>
          </p:cNvPr>
          <p:cNvSpPr/>
          <p:nvPr/>
        </p:nvSpPr>
        <p:spPr>
          <a:xfrm>
            <a:off x="9580165" y="2343789"/>
            <a:ext cx="1642188" cy="710132"/>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NL"/>
          </a:p>
        </p:txBody>
      </p:sp>
      <p:pic>
        <p:nvPicPr>
          <p:cNvPr id="12" name="Picture 11">
            <a:extLst>
              <a:ext uri="{FF2B5EF4-FFF2-40B4-BE49-F238E27FC236}">
                <a16:creationId xmlns:a16="http://schemas.microsoft.com/office/drawing/2014/main" id="{EB27837C-BF92-FB60-B59F-192C2C3CDFE1}"/>
              </a:ext>
            </a:extLst>
          </p:cNvPr>
          <p:cNvPicPr>
            <a:picLocks noChangeAspect="1"/>
          </p:cNvPicPr>
          <p:nvPr/>
        </p:nvPicPr>
        <p:blipFill>
          <a:blip r:embed="rId2"/>
          <a:srcRect l="17222" t="33069" r="27186" b="41346"/>
          <a:stretch>
            <a:fillRect/>
          </a:stretch>
        </p:blipFill>
        <p:spPr>
          <a:xfrm>
            <a:off x="9681170" y="2477918"/>
            <a:ext cx="1440178" cy="441874"/>
          </a:xfrm>
          <a:prstGeom prst="rect">
            <a:avLst/>
          </a:prstGeom>
        </p:spPr>
      </p:pic>
      <p:pic>
        <p:nvPicPr>
          <p:cNvPr id="17" name="Picture 16">
            <a:extLst>
              <a:ext uri="{FF2B5EF4-FFF2-40B4-BE49-F238E27FC236}">
                <a16:creationId xmlns:a16="http://schemas.microsoft.com/office/drawing/2014/main" id="{DBD6FCC4-EF99-FEB9-4294-4A8BF663398D}"/>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25000"/>
                    </a14:imgEffect>
                    <a14:imgEffect>
                      <a14:brightnessContrast contrast="-40000"/>
                    </a14:imgEffect>
                  </a14:imgLayer>
                </a14:imgProps>
              </a:ext>
            </a:extLst>
          </a:blip>
          <a:srcRect l="22593" t="33818" r="26296" b="42564"/>
          <a:stretch>
            <a:fillRect/>
          </a:stretch>
        </p:blipFill>
        <p:spPr>
          <a:xfrm>
            <a:off x="9681259" y="3897611"/>
            <a:ext cx="1440000" cy="443613"/>
          </a:xfrm>
          <a:prstGeom prst="rect">
            <a:avLst/>
          </a:prstGeom>
        </p:spPr>
      </p:pic>
      <p:pic>
        <p:nvPicPr>
          <p:cNvPr id="18" name="Picture 17">
            <a:extLst>
              <a:ext uri="{FF2B5EF4-FFF2-40B4-BE49-F238E27FC236}">
                <a16:creationId xmlns:a16="http://schemas.microsoft.com/office/drawing/2014/main" id="{DCCBEDB3-66FA-3AA0-2A26-899F44850788}"/>
              </a:ext>
            </a:extLst>
          </p:cNvPr>
          <p:cNvPicPr>
            <a:picLocks noChangeAspect="1"/>
          </p:cNvPicPr>
          <p:nvPr/>
        </p:nvPicPr>
        <p:blipFill>
          <a:blip r:embed="rId5"/>
          <a:srcRect l="13027" t="27953" r="16204" b="38897"/>
          <a:stretch>
            <a:fillRect/>
          </a:stretch>
        </p:blipFill>
        <p:spPr>
          <a:xfrm>
            <a:off x="9681260" y="5312288"/>
            <a:ext cx="1440000" cy="449693"/>
          </a:xfrm>
          <a:prstGeom prst="rect">
            <a:avLst/>
          </a:prstGeom>
        </p:spPr>
      </p:pic>
    </p:spTree>
    <p:extLst>
      <p:ext uri="{BB962C8B-B14F-4D97-AF65-F5344CB8AC3E}">
        <p14:creationId xmlns:p14="http://schemas.microsoft.com/office/powerpoint/2010/main" val="402107073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2B675-F091-5B68-0456-8962BA9BFFF0}"/>
              </a:ext>
            </a:extLst>
          </p:cNvPr>
          <p:cNvSpPr>
            <a:spLocks noGrp="1"/>
          </p:cNvSpPr>
          <p:nvPr>
            <p:ph type="title"/>
          </p:nvPr>
        </p:nvSpPr>
        <p:spPr/>
        <p:txBody>
          <a:bodyPr/>
          <a:lstStyle/>
          <a:p>
            <a:r>
              <a:rPr lang="en-US" dirty="0"/>
              <a:t>Amir’s Story</a:t>
            </a:r>
            <a:endParaRPr lang="en-NL" dirty="0"/>
          </a:p>
        </p:txBody>
      </p:sp>
      <p:graphicFrame>
        <p:nvGraphicFramePr>
          <p:cNvPr id="5" name="Content Placeholder 4">
            <a:extLst>
              <a:ext uri="{FF2B5EF4-FFF2-40B4-BE49-F238E27FC236}">
                <a16:creationId xmlns:a16="http://schemas.microsoft.com/office/drawing/2014/main" id="{8E4F2EB9-2061-D893-FCB8-E47639FAA129}"/>
              </a:ext>
            </a:extLst>
          </p:cNvPr>
          <p:cNvGraphicFramePr>
            <a:graphicFrameLocks noGrp="1"/>
          </p:cNvGraphicFramePr>
          <p:nvPr>
            <p:ph idx="1"/>
            <p:extLst>
              <p:ext uri="{D42A27DB-BD31-4B8C-83A1-F6EECF244321}">
                <p14:modId xmlns:p14="http://schemas.microsoft.com/office/powerpoint/2010/main" val="1102280084"/>
              </p:ext>
            </p:extLst>
          </p:nvPr>
        </p:nvGraphicFramePr>
        <p:xfrm>
          <a:off x="695325" y="1628775"/>
          <a:ext cx="10801350" cy="43211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Slide Number Placeholder 3">
            <a:extLst>
              <a:ext uri="{FF2B5EF4-FFF2-40B4-BE49-F238E27FC236}">
                <a16:creationId xmlns:a16="http://schemas.microsoft.com/office/drawing/2014/main" id="{E3678EBA-1229-1E9B-E6F0-2A855660BCF1}"/>
              </a:ext>
            </a:extLst>
          </p:cNvPr>
          <p:cNvSpPr>
            <a:spLocks noGrp="1"/>
          </p:cNvSpPr>
          <p:nvPr>
            <p:ph type="sldNum" sz="quarter" idx="12"/>
          </p:nvPr>
        </p:nvSpPr>
        <p:spPr/>
        <p:txBody>
          <a:bodyPr/>
          <a:lstStyle/>
          <a:p>
            <a:fld id="{4FAB73BC-B049-4115-A692-8D63A059BFB8}" type="slidenum">
              <a:rPr lang="en-US" smtClean="0"/>
              <a:pPr/>
              <a:t>54</a:t>
            </a:fld>
            <a:endParaRPr lang="en-US" dirty="0"/>
          </a:p>
        </p:txBody>
      </p:sp>
      <p:pic>
        <p:nvPicPr>
          <p:cNvPr id="7" name="Graphic 6" descr="Checkmark with solid fill">
            <a:extLst>
              <a:ext uri="{FF2B5EF4-FFF2-40B4-BE49-F238E27FC236}">
                <a16:creationId xmlns:a16="http://schemas.microsoft.com/office/drawing/2014/main" id="{BA0C532E-C8A1-0755-6A0A-D467959A4D10}"/>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314359" y="4953471"/>
            <a:ext cx="1182316" cy="1182316"/>
          </a:xfrm>
          <a:prstGeom prst="rect">
            <a:avLst/>
          </a:prstGeom>
        </p:spPr>
      </p:pic>
    </p:spTree>
    <p:extLst>
      <p:ext uri="{BB962C8B-B14F-4D97-AF65-F5344CB8AC3E}">
        <p14:creationId xmlns:p14="http://schemas.microsoft.com/office/powerpoint/2010/main" val="422876357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352B5D-D6E0-4B10-DC86-D7AE90E108F9}"/>
            </a:ext>
          </a:extLst>
        </p:cNvPr>
        <p:cNvGrpSpPr/>
        <p:nvPr/>
      </p:nvGrpSpPr>
      <p:grpSpPr>
        <a:xfrm>
          <a:off x="0" y="0"/>
          <a:ext cx="0" cy="0"/>
          <a:chOff x="0" y="0"/>
          <a:chExt cx="0" cy="0"/>
        </a:xfrm>
      </p:grpSpPr>
      <p:pic>
        <p:nvPicPr>
          <p:cNvPr id="13" name="Picture 12">
            <a:extLst>
              <a:ext uri="{FF2B5EF4-FFF2-40B4-BE49-F238E27FC236}">
                <a16:creationId xmlns:a16="http://schemas.microsoft.com/office/drawing/2014/main" id="{A265C701-FDBA-8DEC-E428-AC533D601D10}"/>
              </a:ext>
            </a:extLst>
          </p:cNvPr>
          <p:cNvPicPr>
            <a:picLocks noChangeAspect="1"/>
          </p:cNvPicPr>
          <p:nvPr/>
        </p:nvPicPr>
        <p:blipFill>
          <a:blip r:embed="rId3"/>
          <a:srcRect t="21286" b="18695"/>
          <a:stretch>
            <a:fillRect/>
          </a:stretch>
        </p:blipFill>
        <p:spPr>
          <a:xfrm>
            <a:off x="695325" y="1628775"/>
            <a:ext cx="10799546" cy="4321175"/>
          </a:xfrm>
          <a:prstGeom prst="rect">
            <a:avLst/>
          </a:prstGeom>
        </p:spPr>
      </p:pic>
      <p:sp>
        <p:nvSpPr>
          <p:cNvPr id="2" name="Title 1">
            <a:extLst>
              <a:ext uri="{FF2B5EF4-FFF2-40B4-BE49-F238E27FC236}">
                <a16:creationId xmlns:a16="http://schemas.microsoft.com/office/drawing/2014/main" id="{94824228-3B36-9CA2-13BD-C774EF649815}"/>
              </a:ext>
            </a:extLst>
          </p:cNvPr>
          <p:cNvSpPr>
            <a:spLocks noGrp="1"/>
          </p:cNvSpPr>
          <p:nvPr>
            <p:ph type="title"/>
          </p:nvPr>
        </p:nvSpPr>
        <p:spPr/>
        <p:txBody>
          <a:bodyPr/>
          <a:lstStyle/>
          <a:p>
            <a:r>
              <a:rPr lang="en-US" b="1" dirty="0"/>
              <a:t>User 2:</a:t>
            </a:r>
            <a:r>
              <a:rPr lang="en-US" dirty="0"/>
              <a:t> Inge de Boer — Data Steward</a:t>
            </a:r>
            <a:endParaRPr lang="en-NL" dirty="0"/>
          </a:p>
        </p:txBody>
      </p:sp>
      <p:sp>
        <p:nvSpPr>
          <p:cNvPr id="4" name="Slide Number Placeholder 3">
            <a:extLst>
              <a:ext uri="{FF2B5EF4-FFF2-40B4-BE49-F238E27FC236}">
                <a16:creationId xmlns:a16="http://schemas.microsoft.com/office/drawing/2014/main" id="{4C4E8C4B-8778-916F-0D64-6E8EAE100DB8}"/>
              </a:ext>
            </a:extLst>
          </p:cNvPr>
          <p:cNvSpPr>
            <a:spLocks noGrp="1"/>
          </p:cNvSpPr>
          <p:nvPr>
            <p:ph type="sldNum" sz="quarter" idx="12"/>
          </p:nvPr>
        </p:nvSpPr>
        <p:spPr/>
        <p:txBody>
          <a:bodyPr/>
          <a:lstStyle/>
          <a:p>
            <a:fld id="{4FAB73BC-B049-4115-A692-8D63A059BFB8}" type="slidenum">
              <a:rPr lang="en-US" smtClean="0"/>
              <a:pPr/>
              <a:t>55</a:t>
            </a:fld>
            <a:endParaRPr lang="en-US" dirty="0"/>
          </a:p>
        </p:txBody>
      </p:sp>
      <p:sp>
        <p:nvSpPr>
          <p:cNvPr id="16" name="TextBox 15">
            <a:extLst>
              <a:ext uri="{FF2B5EF4-FFF2-40B4-BE49-F238E27FC236}">
                <a16:creationId xmlns:a16="http://schemas.microsoft.com/office/drawing/2014/main" id="{626BFB3F-9797-5DF7-1BB9-901F82C7EDE0}"/>
              </a:ext>
            </a:extLst>
          </p:cNvPr>
          <p:cNvSpPr txBox="1"/>
          <p:nvPr/>
        </p:nvSpPr>
        <p:spPr>
          <a:xfrm>
            <a:off x="695326" y="5488285"/>
            <a:ext cx="5398870" cy="461665"/>
          </a:xfrm>
          <a:prstGeom prst="rect">
            <a:avLst/>
          </a:prstGeom>
          <a:solidFill>
            <a:schemeClr val="accent1">
              <a:lumMod val="20000"/>
              <a:lumOff val="80000"/>
            </a:schemeClr>
          </a:solidFill>
          <a:ln>
            <a:noFill/>
          </a:ln>
          <a:effectLst/>
          <a:scene3d>
            <a:camera prst="orthographicFront">
              <a:rot lat="0" lon="0" rev="0"/>
            </a:camera>
            <a:lightRig rig="contrasting" dir="t">
              <a:rot lat="0" lon="0" rev="7800000"/>
            </a:lightRig>
          </a:scene3d>
          <a:sp3d>
            <a:bevelT w="139700" h="139700"/>
          </a:sp3d>
        </p:spPr>
        <p:txBody>
          <a:bodyPr wrap="square" rtlCol="0">
            <a:spAutoFit/>
          </a:bodyPr>
          <a:lstStyle/>
          <a:p>
            <a:pPr algn="ctr"/>
            <a:r>
              <a:rPr lang="en-US" sz="2400" b="1" dirty="0">
                <a:solidFill>
                  <a:schemeClr val="accent1">
                    <a:lumMod val="50000"/>
                  </a:schemeClr>
                </a:solidFill>
              </a:rPr>
              <a:t>Dr. Amir Hassan — Researcher</a:t>
            </a:r>
            <a:endParaRPr lang="en-US" sz="2400" dirty="0">
              <a:solidFill>
                <a:schemeClr val="accent1">
                  <a:lumMod val="50000"/>
                </a:schemeClr>
              </a:solidFill>
            </a:endParaRPr>
          </a:p>
        </p:txBody>
      </p:sp>
      <p:sp>
        <p:nvSpPr>
          <p:cNvPr id="18" name="Rectangle 17">
            <a:extLst>
              <a:ext uri="{FF2B5EF4-FFF2-40B4-BE49-F238E27FC236}">
                <a16:creationId xmlns:a16="http://schemas.microsoft.com/office/drawing/2014/main" id="{2D857812-2748-7430-A9D0-764695061A71}"/>
              </a:ext>
            </a:extLst>
          </p:cNvPr>
          <p:cNvSpPr/>
          <p:nvPr/>
        </p:nvSpPr>
        <p:spPr>
          <a:xfrm>
            <a:off x="693521" y="1636394"/>
            <a:ext cx="5400000" cy="4320000"/>
          </a:xfrm>
          <a:prstGeom prst="rect">
            <a:avLst/>
          </a:prstGeom>
          <a:solidFill>
            <a:schemeClr val="accent2">
              <a:lumMod val="20000"/>
              <a:lumOff val="80000"/>
              <a:alpha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80000" tIns="180000" rIns="360000" bIns="180000" rtlCol="0" anchor="ctr"/>
          <a:lstStyle/>
          <a:p>
            <a:pPr algn="r"/>
            <a:r>
              <a:rPr lang="en-US" sz="2000" b="1" i="1" dirty="0">
                <a:solidFill>
                  <a:schemeClr val="tx1"/>
                </a:solidFill>
              </a:rPr>
              <a:t>Inge</a:t>
            </a:r>
            <a:r>
              <a:rPr lang="en-US" sz="2000" i="1" dirty="0">
                <a:solidFill>
                  <a:schemeClr val="tx1"/>
                </a:solidFill>
              </a:rPr>
              <a:t> is responsible for curating dataset metadata and semantic mappings across institutions and needs to ensure that sex/gender-related variables are described accurately.</a:t>
            </a:r>
          </a:p>
          <a:p>
            <a:pPr algn="r"/>
            <a:endParaRPr lang="en-US" sz="1200" i="1" dirty="0">
              <a:solidFill>
                <a:schemeClr val="tx1"/>
              </a:solidFill>
            </a:endParaRPr>
          </a:p>
          <a:p>
            <a:pPr algn="r"/>
            <a:r>
              <a:rPr lang="en-US" sz="2000" i="1" dirty="0">
                <a:solidFill>
                  <a:schemeClr val="tx1"/>
                </a:solidFill>
              </a:rPr>
              <a:t>Before publishing or reusing mappings, she must verify whether similar-looking variables actually mean the same thing, detect inconsistencies, and prevent unsafe alignments from propagating across the semantic layer.</a:t>
            </a:r>
            <a:endParaRPr lang="en-NL" sz="2000" i="1" dirty="0">
              <a:solidFill>
                <a:schemeClr val="tx1"/>
              </a:solidFill>
            </a:endParaRPr>
          </a:p>
        </p:txBody>
      </p:sp>
    </p:spTree>
    <p:extLst>
      <p:ext uri="{BB962C8B-B14F-4D97-AF65-F5344CB8AC3E}">
        <p14:creationId xmlns:p14="http://schemas.microsoft.com/office/powerpoint/2010/main" val="32478221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911B9-9472-A2D2-A3C7-8432070DBAA5}"/>
            </a:ext>
          </a:extLst>
        </p:cNvPr>
        <p:cNvGrpSpPr/>
        <p:nvPr/>
      </p:nvGrpSpPr>
      <p:grpSpPr>
        <a:xfrm>
          <a:off x="0" y="0"/>
          <a:ext cx="0" cy="0"/>
          <a:chOff x="0" y="0"/>
          <a:chExt cx="0" cy="0"/>
        </a:xfrm>
      </p:grpSpPr>
      <p:pic>
        <p:nvPicPr>
          <p:cNvPr id="13" name="Picture 12">
            <a:extLst>
              <a:ext uri="{FF2B5EF4-FFF2-40B4-BE49-F238E27FC236}">
                <a16:creationId xmlns:a16="http://schemas.microsoft.com/office/drawing/2014/main" id="{38749D1B-6037-91DC-BCEA-F2091920008B}"/>
              </a:ext>
            </a:extLst>
          </p:cNvPr>
          <p:cNvPicPr>
            <a:picLocks noChangeAspect="1"/>
          </p:cNvPicPr>
          <p:nvPr/>
        </p:nvPicPr>
        <p:blipFill>
          <a:blip r:embed="rId2"/>
          <a:srcRect t="21286" b="18695"/>
          <a:stretch>
            <a:fillRect/>
          </a:stretch>
        </p:blipFill>
        <p:spPr>
          <a:xfrm>
            <a:off x="695325" y="1628775"/>
            <a:ext cx="10799546" cy="4321175"/>
          </a:xfrm>
          <a:prstGeom prst="rect">
            <a:avLst/>
          </a:prstGeom>
        </p:spPr>
      </p:pic>
      <p:sp>
        <p:nvSpPr>
          <p:cNvPr id="2" name="Title 1">
            <a:extLst>
              <a:ext uri="{FF2B5EF4-FFF2-40B4-BE49-F238E27FC236}">
                <a16:creationId xmlns:a16="http://schemas.microsoft.com/office/drawing/2014/main" id="{0D96D646-9694-E14C-C149-2B600D3AB5C5}"/>
              </a:ext>
            </a:extLst>
          </p:cNvPr>
          <p:cNvSpPr>
            <a:spLocks noGrp="1"/>
          </p:cNvSpPr>
          <p:nvPr>
            <p:ph type="title"/>
          </p:nvPr>
        </p:nvSpPr>
        <p:spPr/>
        <p:txBody>
          <a:bodyPr/>
          <a:lstStyle/>
          <a:p>
            <a:r>
              <a:rPr lang="en-US" b="1" dirty="0"/>
              <a:t>User:</a:t>
            </a:r>
            <a:r>
              <a:rPr lang="en-US" dirty="0"/>
              <a:t> Inge de Boer — Data Steward</a:t>
            </a:r>
            <a:endParaRPr lang="en-NL" dirty="0"/>
          </a:p>
        </p:txBody>
      </p:sp>
      <p:sp>
        <p:nvSpPr>
          <p:cNvPr id="4" name="Slide Number Placeholder 3">
            <a:extLst>
              <a:ext uri="{FF2B5EF4-FFF2-40B4-BE49-F238E27FC236}">
                <a16:creationId xmlns:a16="http://schemas.microsoft.com/office/drawing/2014/main" id="{1E16D039-9E6A-B69F-E082-7BB301D7B16C}"/>
              </a:ext>
            </a:extLst>
          </p:cNvPr>
          <p:cNvSpPr>
            <a:spLocks noGrp="1"/>
          </p:cNvSpPr>
          <p:nvPr>
            <p:ph type="sldNum" sz="quarter" idx="12"/>
          </p:nvPr>
        </p:nvSpPr>
        <p:spPr/>
        <p:txBody>
          <a:bodyPr/>
          <a:lstStyle/>
          <a:p>
            <a:fld id="{4FAB73BC-B049-4115-A692-8D63A059BFB8}" type="slidenum">
              <a:rPr lang="en-US" smtClean="0"/>
              <a:pPr/>
              <a:t>56</a:t>
            </a:fld>
            <a:endParaRPr lang="en-US" dirty="0"/>
          </a:p>
        </p:txBody>
      </p:sp>
      <p:sp>
        <p:nvSpPr>
          <p:cNvPr id="16" name="TextBox 15">
            <a:extLst>
              <a:ext uri="{FF2B5EF4-FFF2-40B4-BE49-F238E27FC236}">
                <a16:creationId xmlns:a16="http://schemas.microsoft.com/office/drawing/2014/main" id="{6268A5AE-87A2-5D2B-7BB8-5644EFE291CE}"/>
              </a:ext>
            </a:extLst>
          </p:cNvPr>
          <p:cNvSpPr txBox="1"/>
          <p:nvPr/>
        </p:nvSpPr>
        <p:spPr>
          <a:xfrm>
            <a:off x="695326" y="5488285"/>
            <a:ext cx="5398870" cy="461665"/>
          </a:xfrm>
          <a:prstGeom prst="rect">
            <a:avLst/>
          </a:prstGeom>
          <a:solidFill>
            <a:schemeClr val="accent1">
              <a:lumMod val="20000"/>
              <a:lumOff val="80000"/>
            </a:schemeClr>
          </a:solidFill>
          <a:ln>
            <a:noFill/>
          </a:ln>
          <a:effectLst/>
          <a:scene3d>
            <a:camera prst="orthographicFront">
              <a:rot lat="0" lon="0" rev="0"/>
            </a:camera>
            <a:lightRig rig="contrasting" dir="t">
              <a:rot lat="0" lon="0" rev="7800000"/>
            </a:lightRig>
          </a:scene3d>
          <a:sp3d>
            <a:bevelT w="139700" h="139700"/>
          </a:sp3d>
        </p:spPr>
        <p:txBody>
          <a:bodyPr wrap="square" rtlCol="0">
            <a:spAutoFit/>
          </a:bodyPr>
          <a:lstStyle/>
          <a:p>
            <a:pPr algn="ctr"/>
            <a:r>
              <a:rPr lang="en-US" sz="2400" b="1" dirty="0">
                <a:solidFill>
                  <a:schemeClr val="accent1">
                    <a:lumMod val="50000"/>
                  </a:schemeClr>
                </a:solidFill>
              </a:rPr>
              <a:t>Dr. Amir Hassan — Researcher</a:t>
            </a:r>
            <a:endParaRPr lang="en-US" sz="2400" dirty="0">
              <a:solidFill>
                <a:schemeClr val="accent1">
                  <a:lumMod val="50000"/>
                </a:schemeClr>
              </a:solidFill>
            </a:endParaRPr>
          </a:p>
        </p:txBody>
      </p:sp>
      <p:sp>
        <p:nvSpPr>
          <p:cNvPr id="18" name="Rectangle 17">
            <a:extLst>
              <a:ext uri="{FF2B5EF4-FFF2-40B4-BE49-F238E27FC236}">
                <a16:creationId xmlns:a16="http://schemas.microsoft.com/office/drawing/2014/main" id="{804CD5CF-71EF-A0B3-4C10-7AFD480AFFF7}"/>
              </a:ext>
            </a:extLst>
          </p:cNvPr>
          <p:cNvSpPr/>
          <p:nvPr/>
        </p:nvSpPr>
        <p:spPr>
          <a:xfrm>
            <a:off x="693521" y="1636394"/>
            <a:ext cx="5400000" cy="4320000"/>
          </a:xfrm>
          <a:prstGeom prst="rect">
            <a:avLst/>
          </a:prstGeom>
          <a:solidFill>
            <a:schemeClr val="accent2">
              <a:lumMod val="20000"/>
              <a:lumOff val="80000"/>
              <a:alpha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80000" tIns="180000" rIns="360000" bIns="180000" rtlCol="0" anchor="ctr"/>
          <a:lstStyle/>
          <a:p>
            <a:pPr algn="r"/>
            <a:endParaRPr lang="en-NL" sz="2000" i="1" dirty="0">
              <a:solidFill>
                <a:schemeClr val="tx1"/>
              </a:solidFill>
            </a:endParaRPr>
          </a:p>
        </p:txBody>
      </p:sp>
      <p:graphicFrame>
        <p:nvGraphicFramePr>
          <p:cNvPr id="3" name="Content Placeholder 4">
            <a:extLst>
              <a:ext uri="{FF2B5EF4-FFF2-40B4-BE49-F238E27FC236}">
                <a16:creationId xmlns:a16="http://schemas.microsoft.com/office/drawing/2014/main" id="{A7EE1EB2-965B-0887-04F6-9153C5F595BC}"/>
              </a:ext>
            </a:extLst>
          </p:cNvPr>
          <p:cNvGraphicFramePr>
            <a:graphicFrameLocks noGrp="1"/>
          </p:cNvGraphicFramePr>
          <p:nvPr>
            <p:ph idx="1"/>
          </p:nvPr>
        </p:nvGraphicFramePr>
        <p:xfrm>
          <a:off x="1082189" y="1845998"/>
          <a:ext cx="4622665" cy="390079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Star: 32 Points 4">
            <a:extLst>
              <a:ext uri="{FF2B5EF4-FFF2-40B4-BE49-F238E27FC236}">
                <a16:creationId xmlns:a16="http://schemas.microsoft.com/office/drawing/2014/main" id="{8D2833FA-584E-52D8-95DA-8F2D66A88609}"/>
              </a:ext>
            </a:extLst>
          </p:cNvPr>
          <p:cNvSpPr/>
          <p:nvPr/>
        </p:nvSpPr>
        <p:spPr>
          <a:xfrm>
            <a:off x="3060244" y="1989565"/>
            <a:ext cx="6076474" cy="3498720"/>
          </a:xfrm>
          <a:prstGeom prst="star32">
            <a:avLst/>
          </a:prstGeom>
          <a:solidFill>
            <a:srgbClr val="FF0000"/>
          </a:solidFill>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4800" dirty="0"/>
              <a:t>TO BE UPDATED</a:t>
            </a:r>
            <a:endParaRPr lang="en-NL" sz="4800" dirty="0"/>
          </a:p>
        </p:txBody>
      </p:sp>
    </p:spTree>
    <p:extLst>
      <p:ext uri="{BB962C8B-B14F-4D97-AF65-F5344CB8AC3E}">
        <p14:creationId xmlns:p14="http://schemas.microsoft.com/office/powerpoint/2010/main" val="75081703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28F9A5-A620-0490-6BB3-45DF6843C08C}"/>
              </a:ext>
            </a:extLst>
          </p:cNvPr>
          <p:cNvSpPr>
            <a:spLocks noGrp="1"/>
          </p:cNvSpPr>
          <p:nvPr>
            <p:ph type="title"/>
          </p:nvPr>
        </p:nvSpPr>
        <p:spPr/>
        <p:txBody>
          <a:bodyPr/>
          <a:lstStyle/>
          <a:p>
            <a:r>
              <a:rPr lang="en-US" sz="3200" dirty="0"/>
              <a:t>Scenario 6 — Check the Consistency of a Selected Concept</a:t>
            </a:r>
            <a:endParaRPr lang="en-NL" sz="3200" dirty="0"/>
          </a:p>
        </p:txBody>
      </p:sp>
      <p:sp>
        <p:nvSpPr>
          <p:cNvPr id="3" name="Content Placeholder 2">
            <a:extLst>
              <a:ext uri="{FF2B5EF4-FFF2-40B4-BE49-F238E27FC236}">
                <a16:creationId xmlns:a16="http://schemas.microsoft.com/office/drawing/2014/main" id="{FBF01119-2B7B-E735-B12C-98880F3ED418}"/>
              </a:ext>
            </a:extLst>
          </p:cNvPr>
          <p:cNvSpPr>
            <a:spLocks noGrp="1"/>
          </p:cNvSpPr>
          <p:nvPr>
            <p:ph idx="1"/>
          </p:nvPr>
        </p:nvSpPr>
        <p:spPr/>
        <p:txBody>
          <a:bodyPr/>
          <a:lstStyle/>
          <a:p>
            <a:endParaRPr lang="en-NL"/>
          </a:p>
        </p:txBody>
      </p:sp>
      <p:sp>
        <p:nvSpPr>
          <p:cNvPr id="4" name="Slide Number Placeholder 3">
            <a:extLst>
              <a:ext uri="{FF2B5EF4-FFF2-40B4-BE49-F238E27FC236}">
                <a16:creationId xmlns:a16="http://schemas.microsoft.com/office/drawing/2014/main" id="{BAD7732C-70BE-7FE0-19B1-98882DC6327A}"/>
              </a:ext>
            </a:extLst>
          </p:cNvPr>
          <p:cNvSpPr>
            <a:spLocks noGrp="1"/>
          </p:cNvSpPr>
          <p:nvPr>
            <p:ph type="sldNum" sz="quarter" idx="12"/>
          </p:nvPr>
        </p:nvSpPr>
        <p:spPr/>
        <p:txBody>
          <a:bodyPr/>
          <a:lstStyle/>
          <a:p>
            <a:fld id="{4FAB73BC-B049-4115-A692-8D63A059BFB8}" type="slidenum">
              <a:rPr lang="en-US" smtClean="0"/>
              <a:pPr/>
              <a:t>57</a:t>
            </a:fld>
            <a:endParaRPr lang="en-US" dirty="0"/>
          </a:p>
        </p:txBody>
      </p:sp>
      <p:sp>
        <p:nvSpPr>
          <p:cNvPr id="5" name="Rectangle: Rounded Corners 4">
            <a:extLst>
              <a:ext uri="{FF2B5EF4-FFF2-40B4-BE49-F238E27FC236}">
                <a16:creationId xmlns:a16="http://schemas.microsoft.com/office/drawing/2014/main" id="{5A1E7B85-CAB2-62A3-771D-39305BED4F19}"/>
              </a:ext>
            </a:extLst>
          </p:cNvPr>
          <p:cNvSpPr/>
          <p:nvPr/>
        </p:nvSpPr>
        <p:spPr>
          <a:xfrm>
            <a:off x="695327" y="1637270"/>
            <a:ext cx="10801348" cy="4321175"/>
          </a:xfrm>
          <a:prstGeom prst="roundRect">
            <a:avLst>
              <a:gd name="adj" fmla="val 0"/>
            </a:avLst>
          </a:prstGeom>
          <a:solidFill>
            <a:schemeClr val="accent2">
              <a:lumMod val="20000"/>
              <a:lumOff val="80000"/>
            </a:schemeClr>
          </a:solidFill>
          <a:ln w="19050">
            <a:solidFill>
              <a:schemeClr val="accent2"/>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NL"/>
          </a:p>
        </p:txBody>
      </p:sp>
      <p:sp>
        <p:nvSpPr>
          <p:cNvPr id="21" name="Freeform: Shape 20">
            <a:extLst>
              <a:ext uri="{FF2B5EF4-FFF2-40B4-BE49-F238E27FC236}">
                <a16:creationId xmlns:a16="http://schemas.microsoft.com/office/drawing/2014/main" id="{562BE9BD-D128-6439-808A-07110B6C413E}"/>
              </a:ext>
            </a:extLst>
          </p:cNvPr>
          <p:cNvSpPr/>
          <p:nvPr/>
        </p:nvSpPr>
        <p:spPr>
          <a:xfrm>
            <a:off x="960855" y="1882236"/>
            <a:ext cx="6293737" cy="1190448"/>
          </a:xfrm>
          <a:custGeom>
            <a:avLst/>
            <a:gdLst>
              <a:gd name="csX0" fmla="*/ 0 w 6696074"/>
              <a:gd name="csY0" fmla="*/ 0 h 1612800"/>
              <a:gd name="csX1" fmla="*/ 6696074 w 6696074"/>
              <a:gd name="csY1" fmla="*/ 0 h 1612800"/>
              <a:gd name="csX2" fmla="*/ 6696074 w 6696074"/>
              <a:gd name="csY2" fmla="*/ 1612800 h 1612800"/>
              <a:gd name="csX3" fmla="*/ 0 w 6696074"/>
              <a:gd name="csY3" fmla="*/ 1612800 h 1612800"/>
              <a:gd name="csX4" fmla="*/ 0 w 6696074"/>
              <a:gd name="csY4" fmla="*/ 0 h 1612800"/>
            </a:gdLst>
            <a:ahLst/>
            <a:cxnLst>
              <a:cxn ang="0">
                <a:pos x="csX0" y="csY0"/>
              </a:cxn>
              <a:cxn ang="0">
                <a:pos x="csX1" y="csY1"/>
              </a:cxn>
              <a:cxn ang="0">
                <a:pos x="csX2" y="csY2"/>
              </a:cxn>
              <a:cxn ang="0">
                <a:pos x="csX3" y="csY3"/>
              </a:cxn>
              <a:cxn ang="0">
                <a:pos x="csX4" y="csY4"/>
              </a:cxn>
            </a:cxnLst>
            <a:rect l="l" t="t" r="r" b="b"/>
            <a:pathLst>
              <a:path w="6696074" h="1612800">
                <a:moveTo>
                  <a:pt x="0" y="0"/>
                </a:moveTo>
                <a:lnTo>
                  <a:pt x="6696074" y="0"/>
                </a:lnTo>
                <a:lnTo>
                  <a:pt x="6696074" y="1612800"/>
                </a:lnTo>
                <a:lnTo>
                  <a:pt x="0" y="1612800"/>
                </a:lnTo>
                <a:lnTo>
                  <a:pt x="0" y="0"/>
                </a:lnTo>
                <a:close/>
              </a:path>
            </a:pathLst>
          </a:custGeom>
        </p:spPr>
        <p:style>
          <a:lnRef idx="1">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360000" tIns="360000" rIns="360000" bIns="108000" numCol="1" spcCol="1270" anchor="t" anchorCtr="0">
            <a:noAutofit/>
          </a:bodyPr>
          <a:lstStyle/>
          <a:p>
            <a:pPr marL="171450" lvl="1" indent="-171450" defTabSz="711200">
              <a:spcBef>
                <a:spcPct val="0"/>
              </a:spcBef>
              <a:spcAft>
                <a:spcPts val="300"/>
              </a:spcAft>
              <a:buChar char="•"/>
            </a:pPr>
            <a:r>
              <a:rPr lang="en-US" sz="1400" dirty="0">
                <a:solidFill>
                  <a:schemeClr val="tx1"/>
                </a:solidFill>
              </a:rPr>
              <a:t>Check whether a selected data element carries a coherent meaning</a:t>
            </a:r>
          </a:p>
          <a:p>
            <a:pPr marL="171450" lvl="1" indent="-171450" defTabSz="711200">
              <a:spcBef>
                <a:spcPct val="0"/>
              </a:spcBef>
              <a:spcAft>
                <a:spcPts val="300"/>
              </a:spcAft>
              <a:buChar char="•"/>
            </a:pPr>
            <a:r>
              <a:rPr lang="en-US" sz="1400" dirty="0">
                <a:solidFill>
                  <a:schemeClr val="tx1"/>
                </a:solidFill>
              </a:rPr>
              <a:t>Verify that its mappings are safe to publish and reuse</a:t>
            </a:r>
          </a:p>
          <a:p>
            <a:pPr marL="171450" lvl="1" indent="-171450" defTabSz="711200">
              <a:spcBef>
                <a:spcPct val="0"/>
              </a:spcBef>
              <a:spcAft>
                <a:spcPts val="300"/>
              </a:spcAft>
              <a:buChar char="•"/>
            </a:pPr>
            <a:r>
              <a:rPr lang="en-US" sz="1400" dirty="0">
                <a:solidFill>
                  <a:schemeClr val="tx1"/>
                </a:solidFill>
              </a:rPr>
              <a:t>Use the result to support a defensible curation decision</a:t>
            </a:r>
            <a:endParaRPr lang="en-NL" sz="1400" kern="1200" dirty="0">
              <a:solidFill>
                <a:schemeClr val="tx1"/>
              </a:solidFill>
            </a:endParaRPr>
          </a:p>
        </p:txBody>
      </p:sp>
      <p:sp>
        <p:nvSpPr>
          <p:cNvPr id="22" name="Freeform: Shape 21">
            <a:extLst>
              <a:ext uri="{FF2B5EF4-FFF2-40B4-BE49-F238E27FC236}">
                <a16:creationId xmlns:a16="http://schemas.microsoft.com/office/drawing/2014/main" id="{84077732-C4E3-87CB-4CB7-BD0E29201DD6}"/>
              </a:ext>
            </a:extLst>
          </p:cNvPr>
          <p:cNvSpPr/>
          <p:nvPr/>
        </p:nvSpPr>
        <p:spPr>
          <a:xfrm>
            <a:off x="1085983" y="1744575"/>
            <a:ext cx="3163443" cy="392715"/>
          </a:xfrm>
          <a:custGeom>
            <a:avLst/>
            <a:gdLst>
              <a:gd name="csX0" fmla="*/ 0 w 4687251"/>
              <a:gd name="csY0" fmla="*/ 157443 h 944640"/>
              <a:gd name="csX1" fmla="*/ 157443 w 4687251"/>
              <a:gd name="csY1" fmla="*/ 0 h 944640"/>
              <a:gd name="csX2" fmla="*/ 4529808 w 4687251"/>
              <a:gd name="csY2" fmla="*/ 0 h 944640"/>
              <a:gd name="csX3" fmla="*/ 4687251 w 4687251"/>
              <a:gd name="csY3" fmla="*/ 157443 h 944640"/>
              <a:gd name="csX4" fmla="*/ 4687251 w 4687251"/>
              <a:gd name="csY4" fmla="*/ 787197 h 944640"/>
              <a:gd name="csX5" fmla="*/ 4529808 w 4687251"/>
              <a:gd name="csY5" fmla="*/ 944640 h 944640"/>
              <a:gd name="csX6" fmla="*/ 157443 w 4687251"/>
              <a:gd name="csY6" fmla="*/ 944640 h 944640"/>
              <a:gd name="csX7" fmla="*/ 0 w 4687251"/>
              <a:gd name="csY7" fmla="*/ 787197 h 944640"/>
              <a:gd name="csX8" fmla="*/ 0 w 4687251"/>
              <a:gd name="csY8" fmla="*/ 157443 h 9446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687251" h="944640">
                <a:moveTo>
                  <a:pt x="0" y="157443"/>
                </a:moveTo>
                <a:cubicBezTo>
                  <a:pt x="0" y="70490"/>
                  <a:pt x="70490" y="0"/>
                  <a:pt x="157443" y="0"/>
                </a:cubicBezTo>
                <a:lnTo>
                  <a:pt x="4529808" y="0"/>
                </a:lnTo>
                <a:cubicBezTo>
                  <a:pt x="4616761" y="0"/>
                  <a:pt x="4687251" y="70490"/>
                  <a:pt x="4687251" y="157443"/>
                </a:cubicBezTo>
                <a:lnTo>
                  <a:pt x="4687251" y="787197"/>
                </a:lnTo>
                <a:cubicBezTo>
                  <a:pt x="4687251" y="874150"/>
                  <a:pt x="4616761" y="944640"/>
                  <a:pt x="4529808" y="944640"/>
                </a:cubicBezTo>
                <a:lnTo>
                  <a:pt x="157443" y="944640"/>
                </a:lnTo>
                <a:cubicBezTo>
                  <a:pt x="70490" y="944640"/>
                  <a:pt x="0" y="874150"/>
                  <a:pt x="0" y="787197"/>
                </a:cubicBezTo>
                <a:lnTo>
                  <a:pt x="0" y="157443"/>
                </a:lnTo>
                <a:close/>
              </a:path>
            </a:pathLst>
          </a:custGeom>
        </p:spPr>
        <p:style>
          <a:lnRef idx="0">
            <a:schemeClr val="lt1">
              <a:hueOff val="0"/>
              <a:satOff val="0"/>
              <a:lumOff val="0"/>
              <a:alphaOff val="0"/>
            </a:schemeClr>
          </a:lnRef>
          <a:fillRef idx="3">
            <a:schemeClr val="accent4">
              <a:hueOff val="0"/>
              <a:satOff val="0"/>
              <a:lumOff val="0"/>
              <a:alphaOff val="0"/>
            </a:schemeClr>
          </a:fillRef>
          <a:effectRef idx="2">
            <a:schemeClr val="accent4">
              <a:hueOff val="0"/>
              <a:satOff val="0"/>
              <a:lumOff val="0"/>
              <a:alphaOff val="0"/>
            </a:schemeClr>
          </a:effectRef>
          <a:fontRef idx="minor">
            <a:schemeClr val="lt1"/>
          </a:fontRef>
        </p:style>
        <p:txBody>
          <a:bodyPr spcFirstLastPara="0" vert="horz" wrap="square" lIns="223281" tIns="46114" rIns="223281" bIns="46114" numCol="1" spcCol="1270" anchor="ctr" anchorCtr="0">
            <a:noAutofit/>
          </a:bodyPr>
          <a:lstStyle/>
          <a:p>
            <a:pPr marL="0" lvl="0" indent="0" algn="l" defTabSz="800100">
              <a:lnSpc>
                <a:spcPct val="90000"/>
              </a:lnSpc>
              <a:spcBef>
                <a:spcPct val="0"/>
              </a:spcBef>
              <a:spcAft>
                <a:spcPct val="35000"/>
              </a:spcAft>
              <a:buNone/>
            </a:pPr>
            <a:r>
              <a:rPr lang="en-US" sz="1800" kern="1200" dirty="0"/>
              <a:t>What Inge wants</a:t>
            </a:r>
            <a:endParaRPr lang="en-NL" sz="1800" kern="1200" dirty="0"/>
          </a:p>
        </p:txBody>
      </p:sp>
      <p:sp>
        <p:nvSpPr>
          <p:cNvPr id="23" name="Freeform: Shape 22">
            <a:extLst>
              <a:ext uri="{FF2B5EF4-FFF2-40B4-BE49-F238E27FC236}">
                <a16:creationId xmlns:a16="http://schemas.microsoft.com/office/drawing/2014/main" id="{73995ED6-3477-36B6-D8E4-1C4143582D91}"/>
              </a:ext>
            </a:extLst>
          </p:cNvPr>
          <p:cNvSpPr/>
          <p:nvPr/>
        </p:nvSpPr>
        <p:spPr>
          <a:xfrm>
            <a:off x="960855" y="3371238"/>
            <a:ext cx="6293737" cy="1390734"/>
          </a:xfrm>
          <a:custGeom>
            <a:avLst/>
            <a:gdLst>
              <a:gd name="csX0" fmla="*/ 0 w 6696074"/>
              <a:gd name="csY0" fmla="*/ 0 h 1537199"/>
              <a:gd name="csX1" fmla="*/ 6696074 w 6696074"/>
              <a:gd name="csY1" fmla="*/ 0 h 1537199"/>
              <a:gd name="csX2" fmla="*/ 6696074 w 6696074"/>
              <a:gd name="csY2" fmla="*/ 1537199 h 1537199"/>
              <a:gd name="csX3" fmla="*/ 0 w 6696074"/>
              <a:gd name="csY3" fmla="*/ 1537199 h 1537199"/>
              <a:gd name="csX4" fmla="*/ 0 w 6696074"/>
              <a:gd name="csY4" fmla="*/ 0 h 1537199"/>
            </a:gdLst>
            <a:ahLst/>
            <a:cxnLst>
              <a:cxn ang="0">
                <a:pos x="csX0" y="csY0"/>
              </a:cxn>
              <a:cxn ang="0">
                <a:pos x="csX1" y="csY1"/>
              </a:cxn>
              <a:cxn ang="0">
                <a:pos x="csX2" y="csY2"/>
              </a:cxn>
              <a:cxn ang="0">
                <a:pos x="csX3" y="csY3"/>
              </a:cxn>
              <a:cxn ang="0">
                <a:pos x="csX4" y="csY4"/>
              </a:cxn>
            </a:cxnLst>
            <a:rect l="l" t="t" r="r" b="b"/>
            <a:pathLst>
              <a:path w="6696074" h="1537199">
                <a:moveTo>
                  <a:pt x="0" y="0"/>
                </a:moveTo>
                <a:lnTo>
                  <a:pt x="6696074" y="0"/>
                </a:lnTo>
                <a:lnTo>
                  <a:pt x="6696074" y="1537199"/>
                </a:lnTo>
                <a:lnTo>
                  <a:pt x="0" y="1537199"/>
                </a:lnTo>
                <a:lnTo>
                  <a:pt x="0" y="0"/>
                </a:lnTo>
                <a:close/>
              </a:path>
            </a:pathLst>
          </a:custGeom>
        </p:spPr>
        <p:style>
          <a:lnRef idx="1">
            <a:schemeClr val="accent4">
              <a:hueOff val="-7382464"/>
              <a:satOff val="22475"/>
              <a:lumOff val="33922"/>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360000" tIns="360000" rIns="360000" bIns="108000" numCol="1" spcCol="1270" anchor="t" anchorCtr="0">
            <a:noAutofit/>
          </a:bodyPr>
          <a:lstStyle/>
          <a:p>
            <a:pPr marL="171450" lvl="1" indent="-171450" defTabSz="711200">
              <a:spcBef>
                <a:spcPct val="0"/>
              </a:spcBef>
              <a:spcAft>
                <a:spcPts val="300"/>
              </a:spcAft>
              <a:buChar char="•"/>
            </a:pPr>
            <a:r>
              <a:rPr lang="en-US" sz="1400" dirty="0">
                <a:solidFill>
                  <a:schemeClr val="tx1"/>
                </a:solidFill>
              </a:rPr>
              <a:t>Inge cannot rely on labels or prior assumptions to judge whether a selected concept is safe.</a:t>
            </a:r>
          </a:p>
          <a:p>
            <a:pPr marL="171450" lvl="1" indent="-171450" defTabSz="711200">
              <a:spcBef>
                <a:spcPct val="0"/>
              </a:spcBef>
              <a:spcAft>
                <a:spcPts val="300"/>
              </a:spcAft>
              <a:buChar char="•"/>
            </a:pPr>
            <a:r>
              <a:rPr lang="en-US" sz="1400" dirty="0">
                <a:solidFill>
                  <a:schemeClr val="tx1"/>
                </a:solidFill>
              </a:rPr>
              <a:t>What she needs now is a consistency check that shows whether the concept carries conflicting meanings that could undermine reuse.</a:t>
            </a:r>
            <a:endParaRPr lang="en-NL" sz="1400" kern="1200" dirty="0">
              <a:solidFill>
                <a:schemeClr val="tx1"/>
              </a:solidFill>
            </a:endParaRPr>
          </a:p>
        </p:txBody>
      </p:sp>
      <p:sp>
        <p:nvSpPr>
          <p:cNvPr id="24" name="Freeform: Shape 23">
            <a:extLst>
              <a:ext uri="{FF2B5EF4-FFF2-40B4-BE49-F238E27FC236}">
                <a16:creationId xmlns:a16="http://schemas.microsoft.com/office/drawing/2014/main" id="{FECA7593-25C7-4922-7778-0D5C105AC96D}"/>
              </a:ext>
            </a:extLst>
          </p:cNvPr>
          <p:cNvSpPr/>
          <p:nvPr/>
        </p:nvSpPr>
        <p:spPr>
          <a:xfrm>
            <a:off x="1085983" y="3203768"/>
            <a:ext cx="3163443" cy="392715"/>
          </a:xfrm>
          <a:custGeom>
            <a:avLst/>
            <a:gdLst>
              <a:gd name="csX0" fmla="*/ 0 w 4687251"/>
              <a:gd name="csY0" fmla="*/ 157443 h 944640"/>
              <a:gd name="csX1" fmla="*/ 157443 w 4687251"/>
              <a:gd name="csY1" fmla="*/ 0 h 944640"/>
              <a:gd name="csX2" fmla="*/ 4529808 w 4687251"/>
              <a:gd name="csY2" fmla="*/ 0 h 944640"/>
              <a:gd name="csX3" fmla="*/ 4687251 w 4687251"/>
              <a:gd name="csY3" fmla="*/ 157443 h 944640"/>
              <a:gd name="csX4" fmla="*/ 4687251 w 4687251"/>
              <a:gd name="csY4" fmla="*/ 787197 h 944640"/>
              <a:gd name="csX5" fmla="*/ 4529808 w 4687251"/>
              <a:gd name="csY5" fmla="*/ 944640 h 944640"/>
              <a:gd name="csX6" fmla="*/ 157443 w 4687251"/>
              <a:gd name="csY6" fmla="*/ 944640 h 944640"/>
              <a:gd name="csX7" fmla="*/ 0 w 4687251"/>
              <a:gd name="csY7" fmla="*/ 787197 h 944640"/>
              <a:gd name="csX8" fmla="*/ 0 w 4687251"/>
              <a:gd name="csY8" fmla="*/ 157443 h 9446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687251" h="944640">
                <a:moveTo>
                  <a:pt x="0" y="157443"/>
                </a:moveTo>
                <a:cubicBezTo>
                  <a:pt x="0" y="70490"/>
                  <a:pt x="70490" y="0"/>
                  <a:pt x="157443" y="0"/>
                </a:cubicBezTo>
                <a:lnTo>
                  <a:pt x="4529808" y="0"/>
                </a:lnTo>
                <a:cubicBezTo>
                  <a:pt x="4616761" y="0"/>
                  <a:pt x="4687251" y="70490"/>
                  <a:pt x="4687251" y="157443"/>
                </a:cubicBezTo>
                <a:lnTo>
                  <a:pt x="4687251" y="787197"/>
                </a:lnTo>
                <a:cubicBezTo>
                  <a:pt x="4687251" y="874150"/>
                  <a:pt x="4616761" y="944640"/>
                  <a:pt x="4529808" y="944640"/>
                </a:cubicBezTo>
                <a:lnTo>
                  <a:pt x="157443" y="944640"/>
                </a:lnTo>
                <a:cubicBezTo>
                  <a:pt x="70490" y="944640"/>
                  <a:pt x="0" y="874150"/>
                  <a:pt x="0" y="787197"/>
                </a:cubicBezTo>
                <a:lnTo>
                  <a:pt x="0" y="157443"/>
                </a:lnTo>
                <a:close/>
              </a:path>
            </a:pathLst>
          </a:custGeom>
        </p:spPr>
        <p:style>
          <a:lnRef idx="0">
            <a:schemeClr val="lt1">
              <a:hueOff val="0"/>
              <a:satOff val="0"/>
              <a:lumOff val="0"/>
              <a:alphaOff val="0"/>
            </a:schemeClr>
          </a:lnRef>
          <a:fillRef idx="3">
            <a:schemeClr val="accent4">
              <a:hueOff val="-7382464"/>
              <a:satOff val="22475"/>
              <a:lumOff val="33922"/>
              <a:alphaOff val="0"/>
            </a:schemeClr>
          </a:fillRef>
          <a:effectRef idx="2">
            <a:schemeClr val="accent4">
              <a:hueOff val="-7382464"/>
              <a:satOff val="22475"/>
              <a:lumOff val="33922"/>
              <a:alphaOff val="0"/>
            </a:schemeClr>
          </a:effectRef>
          <a:fontRef idx="minor">
            <a:schemeClr val="lt1"/>
          </a:fontRef>
        </p:style>
        <p:txBody>
          <a:bodyPr spcFirstLastPara="0" vert="horz" wrap="square" lIns="223281" tIns="46114" rIns="223281" bIns="46114" numCol="1" spcCol="1270" anchor="ctr" anchorCtr="0">
            <a:noAutofit/>
          </a:bodyPr>
          <a:lstStyle/>
          <a:p>
            <a:pPr marL="0" lvl="0" indent="0" algn="l" defTabSz="800100">
              <a:lnSpc>
                <a:spcPct val="90000"/>
              </a:lnSpc>
              <a:spcBef>
                <a:spcPct val="0"/>
              </a:spcBef>
              <a:spcAft>
                <a:spcPct val="35000"/>
              </a:spcAft>
              <a:buNone/>
            </a:pPr>
            <a:r>
              <a:rPr lang="en-US" sz="1800" kern="1200" dirty="0"/>
              <a:t>Inge’s challenge</a:t>
            </a:r>
            <a:endParaRPr lang="en-NL" sz="1800" kern="1200" dirty="0"/>
          </a:p>
        </p:txBody>
      </p:sp>
      <p:sp>
        <p:nvSpPr>
          <p:cNvPr id="25" name="TextBox 24">
            <a:extLst>
              <a:ext uri="{FF2B5EF4-FFF2-40B4-BE49-F238E27FC236}">
                <a16:creationId xmlns:a16="http://schemas.microsoft.com/office/drawing/2014/main" id="{E8D5F4B4-677E-9E8F-E09D-2ECACE108172}"/>
              </a:ext>
            </a:extLst>
          </p:cNvPr>
          <p:cNvSpPr txBox="1"/>
          <p:nvPr/>
        </p:nvSpPr>
        <p:spPr>
          <a:xfrm>
            <a:off x="653368" y="4866426"/>
            <a:ext cx="6908709" cy="979069"/>
          </a:xfrm>
          <a:prstGeom prst="rect">
            <a:avLst/>
          </a:prstGeom>
          <a:noFill/>
        </p:spPr>
        <p:txBody>
          <a:bodyPr wrap="square" lIns="180000" tIns="180000" rIns="180000" bIns="180000" rtlCol="0">
            <a:spAutoFit/>
          </a:bodyPr>
          <a:lstStyle/>
          <a:p>
            <a:pPr algn="ctr"/>
            <a:r>
              <a:rPr lang="en-US" sz="2000" b="1" i="1" dirty="0"/>
              <a:t>Can Inge trust this concept before </a:t>
            </a:r>
          </a:p>
          <a:p>
            <a:pPr algn="ctr"/>
            <a:r>
              <a:rPr lang="en-US" sz="2000" b="1" i="1" dirty="0"/>
              <a:t>it is published or reused?</a:t>
            </a:r>
            <a:endParaRPr lang="en-US" sz="2000" i="1" dirty="0"/>
          </a:p>
        </p:txBody>
      </p:sp>
      <p:graphicFrame>
        <p:nvGraphicFramePr>
          <p:cNvPr id="6" name="Content Placeholder 4">
            <a:extLst>
              <a:ext uri="{FF2B5EF4-FFF2-40B4-BE49-F238E27FC236}">
                <a16:creationId xmlns:a16="http://schemas.microsoft.com/office/drawing/2014/main" id="{36CF7810-486E-E2AD-FF66-B60E727011F5}"/>
              </a:ext>
            </a:extLst>
          </p:cNvPr>
          <p:cNvGraphicFramePr>
            <a:graphicFrameLocks/>
          </p:cNvGraphicFramePr>
          <p:nvPr>
            <p:extLst>
              <p:ext uri="{D42A27DB-BD31-4B8C-83A1-F6EECF244321}">
                <p14:modId xmlns:p14="http://schemas.microsoft.com/office/powerpoint/2010/main" val="3217226190"/>
              </p:ext>
            </p:extLst>
          </p:nvPr>
        </p:nvGraphicFramePr>
        <p:xfrm>
          <a:off x="7878355" y="3118199"/>
          <a:ext cx="2811677" cy="1278051"/>
        </p:xfrm>
        <a:graphic>
          <a:graphicData uri="http://schemas.openxmlformats.org/drawingml/2006/table">
            <a:tbl>
              <a:tblPr firstRow="1" bandRow="1">
                <a:effectLst>
                  <a:outerShdw blurRad="50800" dist="38100" dir="2700000" algn="tl" rotWithShape="0">
                    <a:prstClr val="black">
                      <a:alpha val="40000"/>
                    </a:prstClr>
                  </a:outerShdw>
                </a:effectLst>
                <a:tableStyleId>{21E4AEA4-8DFA-4A89-87EB-49C32662AFE0}</a:tableStyleId>
              </a:tblPr>
              <a:tblGrid>
                <a:gridCol w="360000">
                  <a:extLst>
                    <a:ext uri="{9D8B030D-6E8A-4147-A177-3AD203B41FA5}">
                      <a16:colId xmlns:a16="http://schemas.microsoft.com/office/drawing/2014/main" val="979315127"/>
                    </a:ext>
                  </a:extLst>
                </a:gridCol>
                <a:gridCol w="1731677">
                  <a:extLst>
                    <a:ext uri="{9D8B030D-6E8A-4147-A177-3AD203B41FA5}">
                      <a16:colId xmlns:a16="http://schemas.microsoft.com/office/drawing/2014/main" val="2075302567"/>
                    </a:ext>
                  </a:extLst>
                </a:gridCol>
                <a:gridCol w="360000">
                  <a:extLst>
                    <a:ext uri="{9D8B030D-6E8A-4147-A177-3AD203B41FA5}">
                      <a16:colId xmlns:a16="http://schemas.microsoft.com/office/drawing/2014/main" val="660631070"/>
                    </a:ext>
                  </a:extLst>
                </a:gridCol>
                <a:gridCol w="360000">
                  <a:extLst>
                    <a:ext uri="{9D8B030D-6E8A-4147-A177-3AD203B41FA5}">
                      <a16:colId xmlns:a16="http://schemas.microsoft.com/office/drawing/2014/main" val="1525013378"/>
                    </a:ext>
                  </a:extLst>
                </a:gridCol>
              </a:tblGrid>
              <a:tr h="367200">
                <a:tc>
                  <a:txBody>
                    <a:bodyPr/>
                    <a:lstStyle/>
                    <a:p>
                      <a:pPr algn="l"/>
                      <a:endParaRPr lang="en-NL" sz="1100" dirty="0"/>
                    </a:p>
                  </a:txBody>
                  <a:tcPr marL="72000" anchor="ctr"/>
                </a:tc>
                <a:tc>
                  <a:txBody>
                    <a:bodyPr/>
                    <a:lstStyle/>
                    <a:p>
                      <a:pPr algn="l"/>
                      <a:r>
                        <a:rPr lang="en-US" sz="900" dirty="0" err="1"/>
                        <a:t>hri-openehr:legal-gender</a:t>
                      </a:r>
                      <a:endParaRPr lang="en-US" sz="900" dirty="0"/>
                    </a:p>
                    <a:p>
                      <a:pPr algn="l"/>
                      <a:r>
                        <a:rPr lang="en-US" sz="900" dirty="0"/>
                        <a:t>("Legal gender"@</a:t>
                      </a:r>
                      <a:r>
                        <a:rPr lang="en-US" sz="900" dirty="0" err="1"/>
                        <a:t>en</a:t>
                      </a:r>
                      <a:r>
                        <a:rPr lang="en-US" sz="900" dirty="0"/>
                        <a:t>)</a:t>
                      </a:r>
                      <a:endParaRPr lang="en-US" sz="850" dirty="0"/>
                    </a:p>
                  </a:txBody>
                  <a:tcPr marL="72000" marR="18000" marT="0" marB="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3012902903"/>
                  </a:ext>
                </a:extLst>
              </a:tr>
              <a:tr h="306000">
                <a:tc>
                  <a:txBody>
                    <a:bodyPr/>
                    <a:lstStyle/>
                    <a:p>
                      <a:pPr algn="l"/>
                      <a:endParaRPr lang="en-NL" sz="1100" dirty="0"/>
                    </a:p>
                  </a:txBody>
                  <a:tcPr marL="72000" anchor="ctr"/>
                </a:tc>
                <a:tc>
                  <a:txBody>
                    <a:bodyPr/>
                    <a:lstStyle/>
                    <a:p>
                      <a:pPr algn="l"/>
                      <a:r>
                        <a:rPr lang="en-US" sz="1100" b="1" dirty="0"/>
                        <a:t>female</a:t>
                      </a:r>
                      <a:endParaRPr lang="en-NL" sz="1100" b="1" dirty="0"/>
                    </a:p>
                  </a:txBody>
                  <a:tcPr marL="7200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1249708150"/>
                  </a:ext>
                </a:extLst>
              </a:tr>
              <a:tr h="306000">
                <a:tc>
                  <a:txBody>
                    <a:bodyPr/>
                    <a:lstStyle/>
                    <a:p>
                      <a:pPr algn="l"/>
                      <a:endParaRPr lang="en-NL" sz="1100" dirty="0"/>
                    </a:p>
                  </a:txBody>
                  <a:tcPr marL="72000" anchor="ctr"/>
                </a:tc>
                <a:tc>
                  <a:txBody>
                    <a:bodyPr/>
                    <a:lstStyle/>
                    <a:p>
                      <a:pPr algn="l"/>
                      <a:r>
                        <a:rPr lang="en-US" sz="1100" b="1" dirty="0"/>
                        <a:t>male</a:t>
                      </a:r>
                      <a:endParaRPr lang="en-NL" sz="1100" b="1" dirty="0"/>
                    </a:p>
                  </a:txBody>
                  <a:tcPr marL="7200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3850974854"/>
                  </a:ext>
                </a:extLst>
              </a:tr>
              <a:tr h="298851">
                <a:tc>
                  <a:txBody>
                    <a:bodyPr/>
                    <a:lstStyle/>
                    <a:p>
                      <a:pPr algn="l"/>
                      <a:endParaRPr lang="en-NL" sz="1100" dirty="0"/>
                    </a:p>
                  </a:txBody>
                  <a:tcPr marL="72000" anchor="ctr"/>
                </a:tc>
                <a:tc>
                  <a:txBody>
                    <a:bodyPr/>
                    <a:lstStyle/>
                    <a:p>
                      <a:pPr algn="l"/>
                      <a:r>
                        <a:rPr lang="en-US" sz="1100" b="1" dirty="0"/>
                        <a:t>nonbinary</a:t>
                      </a:r>
                      <a:endParaRPr lang="en-NL" sz="1100" b="1" dirty="0"/>
                    </a:p>
                  </a:txBody>
                  <a:tcPr marL="7200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7" name="Rectangle: Rounded Corners 6">
            <a:extLst>
              <a:ext uri="{FF2B5EF4-FFF2-40B4-BE49-F238E27FC236}">
                <a16:creationId xmlns:a16="http://schemas.microsoft.com/office/drawing/2014/main" id="{EF29E90C-1074-2B74-58E6-6D8F2654ECF9}"/>
              </a:ext>
            </a:extLst>
          </p:cNvPr>
          <p:cNvSpPr/>
          <p:nvPr/>
        </p:nvSpPr>
        <p:spPr>
          <a:xfrm>
            <a:off x="9580165" y="3764351"/>
            <a:ext cx="1642188" cy="710132"/>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NL"/>
          </a:p>
        </p:txBody>
      </p:sp>
      <p:graphicFrame>
        <p:nvGraphicFramePr>
          <p:cNvPr id="8" name="Content Placeholder 4">
            <a:extLst>
              <a:ext uri="{FF2B5EF4-FFF2-40B4-BE49-F238E27FC236}">
                <a16:creationId xmlns:a16="http://schemas.microsoft.com/office/drawing/2014/main" id="{76A3F4EB-98B6-13B1-AA31-886E38ADC273}"/>
              </a:ext>
            </a:extLst>
          </p:cNvPr>
          <p:cNvGraphicFramePr>
            <a:graphicFrameLocks/>
          </p:cNvGraphicFramePr>
          <p:nvPr>
            <p:extLst>
              <p:ext uri="{D42A27DB-BD31-4B8C-83A1-F6EECF244321}">
                <p14:modId xmlns:p14="http://schemas.microsoft.com/office/powerpoint/2010/main" val="1582770089"/>
              </p:ext>
            </p:extLst>
          </p:nvPr>
        </p:nvGraphicFramePr>
        <p:xfrm>
          <a:off x="7878355" y="4538762"/>
          <a:ext cx="2811600" cy="1285200"/>
        </p:xfrm>
        <a:graphic>
          <a:graphicData uri="http://schemas.openxmlformats.org/drawingml/2006/table">
            <a:tbl>
              <a:tblPr firstRow="1" bandRow="1">
                <a:effectLst>
                  <a:outerShdw blurRad="50800" dist="38100" dir="2700000" algn="tl" rotWithShape="0">
                    <a:prstClr val="black">
                      <a:alpha val="40000"/>
                    </a:prstClr>
                  </a:outerShdw>
                </a:effectLst>
                <a:tableStyleId>{00A15C55-8517-42AA-B614-E9B94910E393}</a:tableStyleId>
              </a:tblPr>
              <a:tblGrid>
                <a:gridCol w="360000">
                  <a:extLst>
                    <a:ext uri="{9D8B030D-6E8A-4147-A177-3AD203B41FA5}">
                      <a16:colId xmlns:a16="http://schemas.microsoft.com/office/drawing/2014/main" val="979315127"/>
                    </a:ext>
                  </a:extLst>
                </a:gridCol>
                <a:gridCol w="1731600">
                  <a:extLst>
                    <a:ext uri="{9D8B030D-6E8A-4147-A177-3AD203B41FA5}">
                      <a16:colId xmlns:a16="http://schemas.microsoft.com/office/drawing/2014/main" val="2075302567"/>
                    </a:ext>
                  </a:extLst>
                </a:gridCol>
                <a:gridCol w="360000">
                  <a:extLst>
                    <a:ext uri="{9D8B030D-6E8A-4147-A177-3AD203B41FA5}">
                      <a16:colId xmlns:a16="http://schemas.microsoft.com/office/drawing/2014/main" val="660631070"/>
                    </a:ext>
                  </a:extLst>
                </a:gridCol>
                <a:gridCol w="360000">
                  <a:extLst>
                    <a:ext uri="{9D8B030D-6E8A-4147-A177-3AD203B41FA5}">
                      <a16:colId xmlns:a16="http://schemas.microsoft.com/office/drawing/2014/main" val="1525013378"/>
                    </a:ext>
                  </a:extLst>
                </a:gridCol>
              </a:tblGrid>
              <a:tr h="367200">
                <a:tc>
                  <a:txBody>
                    <a:bodyPr/>
                    <a:lstStyle/>
                    <a:p>
                      <a:endParaRPr lang="en-NL" sz="1100" dirty="0"/>
                    </a:p>
                  </a:txBody>
                  <a:tcPr marL="72000" anchor="ctr"/>
                </a:tc>
                <a:tc>
                  <a:txBody>
                    <a:bodyPr/>
                    <a:lstStyle/>
                    <a:p>
                      <a:r>
                        <a:rPr lang="en-US" sz="900" dirty="0"/>
                        <a:t>loinc:107454-1</a:t>
                      </a:r>
                    </a:p>
                    <a:p>
                      <a:r>
                        <a:rPr lang="en-US" sz="900" dirty="0"/>
                        <a:t>("Administrative gender"@</a:t>
                      </a:r>
                      <a:r>
                        <a:rPr lang="en-US" sz="900" dirty="0" err="1"/>
                        <a:t>en</a:t>
                      </a:r>
                      <a:r>
                        <a:rPr lang="en-US" sz="900" dirty="0"/>
                        <a:t>)</a:t>
                      </a:r>
                      <a:endParaRPr lang="en-NL" sz="900" dirty="0"/>
                    </a:p>
                  </a:txBody>
                  <a:tcPr marL="72000" marR="0" marT="0" marB="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012902903"/>
                  </a:ext>
                </a:extLst>
              </a:tr>
              <a:tr h="306000">
                <a:tc>
                  <a:txBody>
                    <a:bodyPr/>
                    <a:lstStyle/>
                    <a:p>
                      <a:endParaRPr lang="en-NL" sz="1100" dirty="0"/>
                    </a:p>
                  </a:txBody>
                  <a:tcPr marL="72000" anchor="ctr"/>
                </a:tc>
                <a:tc>
                  <a:txBody>
                    <a:bodyPr/>
                    <a:lstStyle/>
                    <a:p>
                      <a:r>
                        <a:rPr lang="en-US" sz="1100" b="1" dirty="0"/>
                        <a:t>woman</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1249708150"/>
                  </a:ext>
                </a:extLst>
              </a:tr>
              <a:tr h="306000">
                <a:tc>
                  <a:txBody>
                    <a:bodyPr/>
                    <a:lstStyle/>
                    <a:p>
                      <a:endParaRPr lang="en-NL" sz="1100" dirty="0"/>
                    </a:p>
                  </a:txBody>
                  <a:tcPr marL="72000" anchor="ctr"/>
                </a:tc>
                <a:tc>
                  <a:txBody>
                    <a:bodyPr/>
                    <a:lstStyle/>
                    <a:p>
                      <a:r>
                        <a:rPr lang="en-US" sz="1100" b="1" dirty="0"/>
                        <a:t>man</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850974854"/>
                  </a:ext>
                </a:extLst>
              </a:tr>
              <a:tr h="306000">
                <a:tc>
                  <a:txBody>
                    <a:bodyPr/>
                    <a:lstStyle/>
                    <a:p>
                      <a:endParaRPr lang="en-NL" sz="1100" dirty="0"/>
                    </a:p>
                  </a:txBody>
                  <a:tcPr marL="72000" anchor="ctr"/>
                </a:tc>
                <a:tc>
                  <a:txBody>
                    <a:bodyPr/>
                    <a:lstStyle/>
                    <a:p>
                      <a:r>
                        <a:rPr lang="en-US" sz="1100" b="1" dirty="0"/>
                        <a:t>non-binary</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9" name="Rectangle: Rounded Corners 8">
            <a:extLst>
              <a:ext uri="{FF2B5EF4-FFF2-40B4-BE49-F238E27FC236}">
                <a16:creationId xmlns:a16="http://schemas.microsoft.com/office/drawing/2014/main" id="{9DF53F74-8B0E-44AA-6EF9-256796BE9470}"/>
              </a:ext>
            </a:extLst>
          </p:cNvPr>
          <p:cNvSpPr/>
          <p:nvPr/>
        </p:nvSpPr>
        <p:spPr>
          <a:xfrm>
            <a:off x="9580166" y="5182068"/>
            <a:ext cx="1642188" cy="710132"/>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en-NL"/>
          </a:p>
        </p:txBody>
      </p:sp>
      <p:graphicFrame>
        <p:nvGraphicFramePr>
          <p:cNvPr id="10" name="Content Placeholder 4">
            <a:extLst>
              <a:ext uri="{FF2B5EF4-FFF2-40B4-BE49-F238E27FC236}">
                <a16:creationId xmlns:a16="http://schemas.microsoft.com/office/drawing/2014/main" id="{62762BFC-9AEE-5FD1-2D30-C0C697EF836C}"/>
              </a:ext>
            </a:extLst>
          </p:cNvPr>
          <p:cNvGraphicFramePr>
            <a:graphicFrameLocks/>
          </p:cNvGraphicFramePr>
          <p:nvPr>
            <p:extLst>
              <p:ext uri="{D42A27DB-BD31-4B8C-83A1-F6EECF244321}">
                <p14:modId xmlns:p14="http://schemas.microsoft.com/office/powerpoint/2010/main" val="1648291245"/>
              </p:ext>
            </p:extLst>
          </p:nvPr>
        </p:nvGraphicFramePr>
        <p:xfrm>
          <a:off x="7878355" y="1695020"/>
          <a:ext cx="2811677" cy="128376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360000">
                  <a:extLst>
                    <a:ext uri="{9D8B030D-6E8A-4147-A177-3AD203B41FA5}">
                      <a16:colId xmlns:a16="http://schemas.microsoft.com/office/drawing/2014/main" val="979315127"/>
                    </a:ext>
                  </a:extLst>
                </a:gridCol>
                <a:gridCol w="1731677">
                  <a:extLst>
                    <a:ext uri="{9D8B030D-6E8A-4147-A177-3AD203B41FA5}">
                      <a16:colId xmlns:a16="http://schemas.microsoft.com/office/drawing/2014/main" val="2075302567"/>
                    </a:ext>
                  </a:extLst>
                </a:gridCol>
                <a:gridCol w="360000">
                  <a:extLst>
                    <a:ext uri="{9D8B030D-6E8A-4147-A177-3AD203B41FA5}">
                      <a16:colId xmlns:a16="http://schemas.microsoft.com/office/drawing/2014/main" val="660631070"/>
                    </a:ext>
                  </a:extLst>
                </a:gridCol>
                <a:gridCol w="360000">
                  <a:extLst>
                    <a:ext uri="{9D8B030D-6E8A-4147-A177-3AD203B41FA5}">
                      <a16:colId xmlns:a16="http://schemas.microsoft.com/office/drawing/2014/main" val="1525013378"/>
                    </a:ext>
                  </a:extLst>
                </a:gridCol>
              </a:tblGrid>
              <a:tr h="324000">
                <a:tc>
                  <a:txBody>
                    <a:bodyPr/>
                    <a:lstStyle/>
                    <a:p>
                      <a:endParaRPr lang="en-NL" sz="1100" dirty="0"/>
                    </a:p>
                  </a:txBody>
                  <a:tcPr marL="72000" anchor="ctr"/>
                </a:tc>
                <a:tc>
                  <a:txBody>
                    <a:bodyPr/>
                    <a:lstStyle/>
                    <a:p>
                      <a:r>
                        <a:rPr lang="en-US" sz="900" dirty="0" err="1"/>
                        <a:t>care-sm:Sex</a:t>
                      </a:r>
                      <a:endParaRPr lang="en-US" sz="900" dirty="0"/>
                    </a:p>
                    <a:p>
                      <a:r>
                        <a:rPr lang="en-US" sz="900" dirty="0"/>
                        <a:t>("Biological sex"@</a:t>
                      </a:r>
                      <a:r>
                        <a:rPr lang="en-US" sz="900" dirty="0" err="1"/>
                        <a:t>en</a:t>
                      </a:r>
                      <a:r>
                        <a:rPr lang="en-US" sz="900" dirty="0"/>
                        <a:t>)</a:t>
                      </a:r>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012902903"/>
                  </a:ext>
                </a:extLst>
              </a:tr>
              <a:tr h="306000">
                <a:tc>
                  <a:txBody>
                    <a:bodyPr/>
                    <a:lstStyle/>
                    <a:p>
                      <a:endParaRPr lang="en-NL" sz="1100" dirty="0"/>
                    </a:p>
                  </a:txBody>
                  <a:tcPr marL="72000" anchor="ctr"/>
                </a:tc>
                <a:tc>
                  <a:txBody>
                    <a:bodyPr/>
                    <a:lstStyle/>
                    <a:p>
                      <a:r>
                        <a:rPr lang="en-US" sz="1100" b="1" dirty="0"/>
                        <a:t>female</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1249708150"/>
                  </a:ext>
                </a:extLst>
              </a:tr>
              <a:tr h="306000">
                <a:tc>
                  <a:txBody>
                    <a:bodyPr/>
                    <a:lstStyle/>
                    <a:p>
                      <a:endParaRPr lang="en-NL" sz="1100" dirty="0"/>
                    </a:p>
                  </a:txBody>
                  <a:tcPr marL="72000" anchor="ctr"/>
                </a:tc>
                <a:tc>
                  <a:txBody>
                    <a:bodyPr/>
                    <a:lstStyle/>
                    <a:p>
                      <a:r>
                        <a:rPr lang="en-US" sz="1100" b="1" dirty="0"/>
                        <a:t>male</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850974854"/>
                  </a:ext>
                </a:extLst>
              </a:tr>
              <a:tr h="306000">
                <a:tc>
                  <a:txBody>
                    <a:bodyPr/>
                    <a:lstStyle/>
                    <a:p>
                      <a:endParaRPr lang="en-NL" sz="1100" dirty="0"/>
                    </a:p>
                  </a:txBody>
                  <a:tcPr marL="72000" anchor="ctr"/>
                </a:tc>
                <a:tc>
                  <a:txBody>
                    <a:bodyPr/>
                    <a:lstStyle/>
                    <a:p>
                      <a:r>
                        <a:rPr lang="en-US" sz="1100" b="1" dirty="0"/>
                        <a:t>female</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11" name="Rectangle: Rounded Corners 10">
            <a:extLst>
              <a:ext uri="{FF2B5EF4-FFF2-40B4-BE49-F238E27FC236}">
                <a16:creationId xmlns:a16="http://schemas.microsoft.com/office/drawing/2014/main" id="{43966389-86D9-77B1-4E59-D9ECEE6BC787}"/>
              </a:ext>
            </a:extLst>
          </p:cNvPr>
          <p:cNvSpPr/>
          <p:nvPr/>
        </p:nvSpPr>
        <p:spPr>
          <a:xfrm>
            <a:off x="9580165" y="2343789"/>
            <a:ext cx="1642188" cy="710132"/>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NL"/>
          </a:p>
        </p:txBody>
      </p:sp>
      <p:pic>
        <p:nvPicPr>
          <p:cNvPr id="12" name="Picture 11">
            <a:extLst>
              <a:ext uri="{FF2B5EF4-FFF2-40B4-BE49-F238E27FC236}">
                <a16:creationId xmlns:a16="http://schemas.microsoft.com/office/drawing/2014/main" id="{8A5B3C79-FCE3-9D44-0E5C-CD1146080657}"/>
              </a:ext>
            </a:extLst>
          </p:cNvPr>
          <p:cNvPicPr>
            <a:picLocks noChangeAspect="1"/>
          </p:cNvPicPr>
          <p:nvPr/>
        </p:nvPicPr>
        <p:blipFill>
          <a:blip r:embed="rId2"/>
          <a:srcRect l="17222" t="33069" r="27186" b="41346"/>
          <a:stretch>
            <a:fillRect/>
          </a:stretch>
        </p:blipFill>
        <p:spPr>
          <a:xfrm>
            <a:off x="9681170" y="2477918"/>
            <a:ext cx="1440178" cy="441874"/>
          </a:xfrm>
          <a:prstGeom prst="rect">
            <a:avLst/>
          </a:prstGeom>
        </p:spPr>
      </p:pic>
      <p:pic>
        <p:nvPicPr>
          <p:cNvPr id="13" name="Picture 12">
            <a:extLst>
              <a:ext uri="{FF2B5EF4-FFF2-40B4-BE49-F238E27FC236}">
                <a16:creationId xmlns:a16="http://schemas.microsoft.com/office/drawing/2014/main" id="{E08DF8F0-08D6-782E-E3A6-9623EFCC81BE}"/>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25000"/>
                    </a14:imgEffect>
                    <a14:imgEffect>
                      <a14:brightnessContrast contrast="-40000"/>
                    </a14:imgEffect>
                  </a14:imgLayer>
                </a14:imgProps>
              </a:ext>
            </a:extLst>
          </a:blip>
          <a:srcRect l="22593" t="33818" r="26296" b="42564"/>
          <a:stretch>
            <a:fillRect/>
          </a:stretch>
        </p:blipFill>
        <p:spPr>
          <a:xfrm>
            <a:off x="9681259" y="3897611"/>
            <a:ext cx="1440000" cy="443613"/>
          </a:xfrm>
          <a:prstGeom prst="rect">
            <a:avLst/>
          </a:prstGeom>
        </p:spPr>
      </p:pic>
      <p:pic>
        <p:nvPicPr>
          <p:cNvPr id="14" name="Picture 13">
            <a:extLst>
              <a:ext uri="{FF2B5EF4-FFF2-40B4-BE49-F238E27FC236}">
                <a16:creationId xmlns:a16="http://schemas.microsoft.com/office/drawing/2014/main" id="{940A3DF5-5640-21BD-9CFD-CC99250F9818}"/>
              </a:ext>
            </a:extLst>
          </p:cNvPr>
          <p:cNvPicPr>
            <a:picLocks noChangeAspect="1"/>
          </p:cNvPicPr>
          <p:nvPr/>
        </p:nvPicPr>
        <p:blipFill>
          <a:blip r:embed="rId5"/>
          <a:srcRect l="13027" t="27953" r="16204" b="38897"/>
          <a:stretch>
            <a:fillRect/>
          </a:stretch>
        </p:blipFill>
        <p:spPr>
          <a:xfrm>
            <a:off x="9681260" y="5312288"/>
            <a:ext cx="1440000" cy="449693"/>
          </a:xfrm>
          <a:prstGeom prst="rect">
            <a:avLst/>
          </a:prstGeom>
        </p:spPr>
      </p:pic>
    </p:spTree>
    <p:extLst>
      <p:ext uri="{BB962C8B-B14F-4D97-AF65-F5344CB8AC3E}">
        <p14:creationId xmlns:p14="http://schemas.microsoft.com/office/powerpoint/2010/main" val="420619998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335517-67E2-84B4-8721-C6AB9A28B6E0}"/>
              </a:ext>
            </a:extLst>
          </p:cNvPr>
          <p:cNvSpPr>
            <a:spLocks noGrp="1"/>
          </p:cNvSpPr>
          <p:nvPr>
            <p:ph type="title"/>
          </p:nvPr>
        </p:nvSpPr>
        <p:spPr/>
        <p:txBody>
          <a:bodyPr/>
          <a:lstStyle/>
          <a:p>
            <a:r>
              <a:rPr lang="en-US" dirty="0"/>
              <a:t>Inge’s Data</a:t>
            </a:r>
            <a:endParaRPr lang="en-NL" dirty="0"/>
          </a:p>
        </p:txBody>
      </p:sp>
      <p:sp>
        <p:nvSpPr>
          <p:cNvPr id="3" name="Content Placeholder 2">
            <a:extLst>
              <a:ext uri="{FF2B5EF4-FFF2-40B4-BE49-F238E27FC236}">
                <a16:creationId xmlns:a16="http://schemas.microsoft.com/office/drawing/2014/main" id="{41557A6C-1AD8-9627-D83C-95841466DF05}"/>
              </a:ext>
            </a:extLst>
          </p:cNvPr>
          <p:cNvSpPr>
            <a:spLocks noGrp="1"/>
          </p:cNvSpPr>
          <p:nvPr>
            <p:ph idx="1"/>
          </p:nvPr>
        </p:nvSpPr>
        <p:spPr>
          <a:xfrm>
            <a:off x="695325" y="1628776"/>
            <a:ext cx="6398494" cy="3553292"/>
          </a:xfrm>
        </p:spPr>
        <p:txBody>
          <a:bodyPr>
            <a:normAutofit/>
          </a:bodyPr>
          <a:lstStyle/>
          <a:p>
            <a:r>
              <a:rPr lang="en-US" sz="2000" dirty="0"/>
              <a:t>Inge is reviewing draft mappings for sex/gender-related variables before they are published into the semantic layer. </a:t>
            </a:r>
          </a:p>
          <a:p>
            <a:r>
              <a:rPr lang="en-US" sz="2000" dirty="0"/>
              <a:t>Some proposals look plausible from labels alone, but she needs to verify whether they are semantically correct, consistent, and safe to reuse.</a:t>
            </a:r>
          </a:p>
          <a:p>
            <a:r>
              <a:rPr lang="en-US" sz="2000" dirty="0">
                <a:solidFill>
                  <a:srgbClr val="FF0000"/>
                </a:solidFill>
              </a:rPr>
              <a:t>Inge receives from </a:t>
            </a:r>
            <a:r>
              <a:rPr lang="en-US" sz="2000" b="1" dirty="0">
                <a:solidFill>
                  <a:srgbClr val="FF0000"/>
                </a:solidFill>
              </a:rPr>
              <a:t>XXX </a:t>
            </a:r>
            <a:r>
              <a:rPr lang="en-US" sz="2000" dirty="0">
                <a:solidFill>
                  <a:srgbClr val="FF0000"/>
                </a:solidFill>
              </a:rPr>
              <a:t>a proposed mapping:</a:t>
            </a:r>
            <a:endParaRPr lang="en-NL" sz="2000" dirty="0">
              <a:solidFill>
                <a:srgbClr val="FF0000"/>
              </a:solidFill>
            </a:endParaRPr>
          </a:p>
        </p:txBody>
      </p:sp>
      <p:sp>
        <p:nvSpPr>
          <p:cNvPr id="4" name="Slide Number Placeholder 3">
            <a:extLst>
              <a:ext uri="{FF2B5EF4-FFF2-40B4-BE49-F238E27FC236}">
                <a16:creationId xmlns:a16="http://schemas.microsoft.com/office/drawing/2014/main" id="{8F6475D1-4E41-A6FF-32D3-E5D530CD941E}"/>
              </a:ext>
            </a:extLst>
          </p:cNvPr>
          <p:cNvSpPr>
            <a:spLocks noGrp="1"/>
          </p:cNvSpPr>
          <p:nvPr>
            <p:ph type="sldNum" sz="quarter" idx="12"/>
          </p:nvPr>
        </p:nvSpPr>
        <p:spPr/>
        <p:txBody>
          <a:bodyPr/>
          <a:lstStyle/>
          <a:p>
            <a:fld id="{4FAB73BC-B049-4115-A692-8D63A059BFB8}" type="slidenum">
              <a:rPr lang="en-US" smtClean="0"/>
              <a:pPr/>
              <a:t>58</a:t>
            </a:fld>
            <a:endParaRPr lang="en-US" dirty="0"/>
          </a:p>
        </p:txBody>
      </p:sp>
      <p:sp>
        <p:nvSpPr>
          <p:cNvPr id="24" name="TextBox 23">
            <a:extLst>
              <a:ext uri="{FF2B5EF4-FFF2-40B4-BE49-F238E27FC236}">
                <a16:creationId xmlns:a16="http://schemas.microsoft.com/office/drawing/2014/main" id="{C3148B28-4A99-DCA2-F95E-28436F0BD146}"/>
              </a:ext>
            </a:extLst>
          </p:cNvPr>
          <p:cNvSpPr txBox="1"/>
          <p:nvPr/>
        </p:nvSpPr>
        <p:spPr>
          <a:xfrm>
            <a:off x="695325" y="4476586"/>
            <a:ext cx="6398494" cy="1256068"/>
          </a:xfrm>
          <a:prstGeom prst="rect">
            <a:avLst/>
          </a:prstGeom>
          <a:solidFill>
            <a:schemeClr val="accent2">
              <a:lumMod val="40000"/>
              <a:lumOff val="60000"/>
            </a:schemeClr>
          </a:solidFill>
          <a:ln w="57150">
            <a:solidFill>
              <a:schemeClr val="accent2"/>
            </a:solidFill>
          </a:ln>
        </p:spPr>
        <p:style>
          <a:lnRef idx="2">
            <a:schemeClr val="accent2">
              <a:shade val="15000"/>
            </a:schemeClr>
          </a:lnRef>
          <a:fillRef idx="1">
            <a:schemeClr val="accent2"/>
          </a:fillRef>
          <a:effectRef idx="0">
            <a:schemeClr val="accent2"/>
          </a:effectRef>
          <a:fontRef idx="minor">
            <a:schemeClr val="lt1"/>
          </a:fontRef>
        </p:style>
        <p:txBody>
          <a:bodyPr wrap="square" tIns="180000" bIns="180000" rtlCol="0" anchor="ctr">
            <a:spAutoFit/>
          </a:bodyPr>
          <a:lstStyle/>
          <a:p>
            <a:pPr algn="ctr">
              <a:spcBef>
                <a:spcPts val="600"/>
              </a:spcBef>
            </a:pPr>
            <a:r>
              <a:rPr lang="en-US" sz="1600" dirty="0" err="1">
                <a:solidFill>
                  <a:schemeClr val="accent6"/>
                </a:solidFill>
                <a:latin typeface="Atkinson Hyperlegible" pitchFamily="2" charset="0"/>
                <a:cs typeface="Courier New" panose="02070309020205020404" pitchFamily="49" charset="0"/>
              </a:rPr>
              <a:t>hri-openehr:administrative-gender</a:t>
            </a:r>
            <a:r>
              <a:rPr lang="en-US" sz="1600" dirty="0">
                <a:solidFill>
                  <a:schemeClr val="accent6"/>
                </a:solidFill>
                <a:latin typeface="Atkinson Hyperlegible" pitchFamily="2" charset="0"/>
                <a:cs typeface="Courier New" panose="02070309020205020404" pitchFamily="49" charset="0"/>
              </a:rPr>
              <a:t> </a:t>
            </a:r>
          </a:p>
          <a:p>
            <a:pPr algn="ctr">
              <a:spcBef>
                <a:spcPts val="600"/>
              </a:spcBef>
            </a:pPr>
            <a:r>
              <a:rPr lang="en-US" sz="1600" b="1" dirty="0" err="1">
                <a:solidFill>
                  <a:schemeClr val="accent6"/>
                </a:solidFill>
                <a:latin typeface="Atkinson Hyperlegible" pitchFamily="2" charset="0"/>
                <a:cs typeface="Courier New" panose="02070309020205020404" pitchFamily="49" charset="0"/>
              </a:rPr>
              <a:t>skos:exactMatch</a:t>
            </a:r>
            <a:r>
              <a:rPr lang="en-US" sz="1600" b="1" dirty="0">
                <a:solidFill>
                  <a:schemeClr val="accent6"/>
                </a:solidFill>
                <a:latin typeface="Atkinson Hyperlegible" pitchFamily="2" charset="0"/>
                <a:cs typeface="Courier New" panose="02070309020205020404" pitchFamily="49" charset="0"/>
              </a:rPr>
              <a:t> </a:t>
            </a:r>
          </a:p>
          <a:p>
            <a:pPr algn="ctr">
              <a:spcBef>
                <a:spcPts val="600"/>
              </a:spcBef>
            </a:pPr>
            <a:r>
              <a:rPr lang="en-US" sz="1600" dirty="0">
                <a:solidFill>
                  <a:schemeClr val="accent6"/>
                </a:solidFill>
                <a:latin typeface="Atkinson Hyperlegible" pitchFamily="2" charset="0"/>
                <a:cs typeface="Courier New" panose="02070309020205020404" pitchFamily="49" charset="0"/>
              </a:rPr>
              <a:t>hri-fhir-r5:individual-gender-identity/value </a:t>
            </a:r>
          </a:p>
        </p:txBody>
      </p:sp>
      <p:graphicFrame>
        <p:nvGraphicFramePr>
          <p:cNvPr id="5" name="Content Placeholder 4">
            <a:extLst>
              <a:ext uri="{FF2B5EF4-FFF2-40B4-BE49-F238E27FC236}">
                <a16:creationId xmlns:a16="http://schemas.microsoft.com/office/drawing/2014/main" id="{28492F72-1F9F-D01F-DED3-3B09FCDB11AF}"/>
              </a:ext>
            </a:extLst>
          </p:cNvPr>
          <p:cNvGraphicFramePr>
            <a:graphicFrameLocks/>
          </p:cNvGraphicFramePr>
          <p:nvPr>
            <p:extLst>
              <p:ext uri="{D42A27DB-BD31-4B8C-83A1-F6EECF244321}">
                <p14:modId xmlns:p14="http://schemas.microsoft.com/office/powerpoint/2010/main" val="3217226190"/>
              </p:ext>
            </p:extLst>
          </p:nvPr>
        </p:nvGraphicFramePr>
        <p:xfrm>
          <a:off x="7878355" y="3118199"/>
          <a:ext cx="2811677" cy="1278051"/>
        </p:xfrm>
        <a:graphic>
          <a:graphicData uri="http://schemas.openxmlformats.org/drawingml/2006/table">
            <a:tbl>
              <a:tblPr firstRow="1" bandRow="1">
                <a:effectLst>
                  <a:outerShdw blurRad="50800" dist="38100" dir="2700000" algn="tl" rotWithShape="0">
                    <a:prstClr val="black">
                      <a:alpha val="40000"/>
                    </a:prstClr>
                  </a:outerShdw>
                </a:effectLst>
                <a:tableStyleId>{21E4AEA4-8DFA-4A89-87EB-49C32662AFE0}</a:tableStyleId>
              </a:tblPr>
              <a:tblGrid>
                <a:gridCol w="360000">
                  <a:extLst>
                    <a:ext uri="{9D8B030D-6E8A-4147-A177-3AD203B41FA5}">
                      <a16:colId xmlns:a16="http://schemas.microsoft.com/office/drawing/2014/main" val="979315127"/>
                    </a:ext>
                  </a:extLst>
                </a:gridCol>
                <a:gridCol w="1731677">
                  <a:extLst>
                    <a:ext uri="{9D8B030D-6E8A-4147-A177-3AD203B41FA5}">
                      <a16:colId xmlns:a16="http://schemas.microsoft.com/office/drawing/2014/main" val="2075302567"/>
                    </a:ext>
                  </a:extLst>
                </a:gridCol>
                <a:gridCol w="360000">
                  <a:extLst>
                    <a:ext uri="{9D8B030D-6E8A-4147-A177-3AD203B41FA5}">
                      <a16:colId xmlns:a16="http://schemas.microsoft.com/office/drawing/2014/main" val="660631070"/>
                    </a:ext>
                  </a:extLst>
                </a:gridCol>
                <a:gridCol w="360000">
                  <a:extLst>
                    <a:ext uri="{9D8B030D-6E8A-4147-A177-3AD203B41FA5}">
                      <a16:colId xmlns:a16="http://schemas.microsoft.com/office/drawing/2014/main" val="1525013378"/>
                    </a:ext>
                  </a:extLst>
                </a:gridCol>
              </a:tblGrid>
              <a:tr h="367200">
                <a:tc>
                  <a:txBody>
                    <a:bodyPr/>
                    <a:lstStyle/>
                    <a:p>
                      <a:pPr algn="l"/>
                      <a:endParaRPr lang="en-NL" sz="1100" dirty="0"/>
                    </a:p>
                  </a:txBody>
                  <a:tcPr marL="72000" anchor="ctr"/>
                </a:tc>
                <a:tc>
                  <a:txBody>
                    <a:bodyPr/>
                    <a:lstStyle/>
                    <a:p>
                      <a:pPr algn="l"/>
                      <a:r>
                        <a:rPr lang="en-US" sz="900" dirty="0" err="1"/>
                        <a:t>hri-openehr:legal-gender</a:t>
                      </a:r>
                      <a:endParaRPr lang="en-US" sz="900" dirty="0"/>
                    </a:p>
                    <a:p>
                      <a:pPr algn="l"/>
                      <a:r>
                        <a:rPr lang="en-US" sz="900" dirty="0"/>
                        <a:t>("Legal gender"@</a:t>
                      </a:r>
                      <a:r>
                        <a:rPr lang="en-US" sz="900" dirty="0" err="1"/>
                        <a:t>en</a:t>
                      </a:r>
                      <a:r>
                        <a:rPr lang="en-US" sz="900" dirty="0"/>
                        <a:t>)</a:t>
                      </a:r>
                      <a:endParaRPr lang="en-US" sz="850" dirty="0"/>
                    </a:p>
                  </a:txBody>
                  <a:tcPr marL="72000" marR="18000" marT="0" marB="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3012902903"/>
                  </a:ext>
                </a:extLst>
              </a:tr>
              <a:tr h="306000">
                <a:tc>
                  <a:txBody>
                    <a:bodyPr/>
                    <a:lstStyle/>
                    <a:p>
                      <a:pPr algn="l"/>
                      <a:endParaRPr lang="en-NL" sz="1100" dirty="0"/>
                    </a:p>
                  </a:txBody>
                  <a:tcPr marL="72000" anchor="ctr"/>
                </a:tc>
                <a:tc>
                  <a:txBody>
                    <a:bodyPr/>
                    <a:lstStyle/>
                    <a:p>
                      <a:pPr algn="l"/>
                      <a:r>
                        <a:rPr lang="en-US" sz="1100" b="1" dirty="0"/>
                        <a:t>female</a:t>
                      </a:r>
                      <a:endParaRPr lang="en-NL" sz="1100" b="1" dirty="0"/>
                    </a:p>
                  </a:txBody>
                  <a:tcPr marL="7200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1249708150"/>
                  </a:ext>
                </a:extLst>
              </a:tr>
              <a:tr h="306000">
                <a:tc>
                  <a:txBody>
                    <a:bodyPr/>
                    <a:lstStyle/>
                    <a:p>
                      <a:pPr algn="l"/>
                      <a:endParaRPr lang="en-NL" sz="1100" dirty="0"/>
                    </a:p>
                  </a:txBody>
                  <a:tcPr marL="72000" anchor="ctr"/>
                </a:tc>
                <a:tc>
                  <a:txBody>
                    <a:bodyPr/>
                    <a:lstStyle/>
                    <a:p>
                      <a:pPr algn="l"/>
                      <a:r>
                        <a:rPr lang="en-US" sz="1100" b="1" dirty="0"/>
                        <a:t>male</a:t>
                      </a:r>
                      <a:endParaRPr lang="en-NL" sz="1100" b="1" dirty="0"/>
                    </a:p>
                  </a:txBody>
                  <a:tcPr marL="7200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3850974854"/>
                  </a:ext>
                </a:extLst>
              </a:tr>
              <a:tr h="298851">
                <a:tc>
                  <a:txBody>
                    <a:bodyPr/>
                    <a:lstStyle/>
                    <a:p>
                      <a:pPr algn="l"/>
                      <a:endParaRPr lang="en-NL" sz="1100" dirty="0"/>
                    </a:p>
                  </a:txBody>
                  <a:tcPr marL="72000" anchor="ctr"/>
                </a:tc>
                <a:tc>
                  <a:txBody>
                    <a:bodyPr/>
                    <a:lstStyle/>
                    <a:p>
                      <a:pPr algn="l"/>
                      <a:r>
                        <a:rPr lang="en-US" sz="1100" b="1" dirty="0"/>
                        <a:t>nonbinary</a:t>
                      </a:r>
                      <a:endParaRPr lang="en-NL" sz="1100" b="1" dirty="0"/>
                    </a:p>
                  </a:txBody>
                  <a:tcPr marL="7200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6" name="Rectangle: Rounded Corners 5">
            <a:extLst>
              <a:ext uri="{FF2B5EF4-FFF2-40B4-BE49-F238E27FC236}">
                <a16:creationId xmlns:a16="http://schemas.microsoft.com/office/drawing/2014/main" id="{7DF2860E-C850-732E-879F-6C38EF7A5E73}"/>
              </a:ext>
            </a:extLst>
          </p:cNvPr>
          <p:cNvSpPr/>
          <p:nvPr/>
        </p:nvSpPr>
        <p:spPr>
          <a:xfrm>
            <a:off x="9580165" y="3764351"/>
            <a:ext cx="1642188" cy="710132"/>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NL"/>
          </a:p>
        </p:txBody>
      </p:sp>
      <p:graphicFrame>
        <p:nvGraphicFramePr>
          <p:cNvPr id="7" name="Content Placeholder 4">
            <a:extLst>
              <a:ext uri="{FF2B5EF4-FFF2-40B4-BE49-F238E27FC236}">
                <a16:creationId xmlns:a16="http://schemas.microsoft.com/office/drawing/2014/main" id="{E955A003-EFED-2642-6743-2D9E9863F0FA}"/>
              </a:ext>
            </a:extLst>
          </p:cNvPr>
          <p:cNvGraphicFramePr>
            <a:graphicFrameLocks/>
          </p:cNvGraphicFramePr>
          <p:nvPr>
            <p:extLst>
              <p:ext uri="{D42A27DB-BD31-4B8C-83A1-F6EECF244321}">
                <p14:modId xmlns:p14="http://schemas.microsoft.com/office/powerpoint/2010/main" val="1582770089"/>
              </p:ext>
            </p:extLst>
          </p:nvPr>
        </p:nvGraphicFramePr>
        <p:xfrm>
          <a:off x="7878355" y="4538762"/>
          <a:ext cx="2811600" cy="1285200"/>
        </p:xfrm>
        <a:graphic>
          <a:graphicData uri="http://schemas.openxmlformats.org/drawingml/2006/table">
            <a:tbl>
              <a:tblPr firstRow="1" bandRow="1">
                <a:effectLst>
                  <a:outerShdw blurRad="50800" dist="38100" dir="2700000" algn="tl" rotWithShape="0">
                    <a:prstClr val="black">
                      <a:alpha val="40000"/>
                    </a:prstClr>
                  </a:outerShdw>
                </a:effectLst>
                <a:tableStyleId>{00A15C55-8517-42AA-B614-E9B94910E393}</a:tableStyleId>
              </a:tblPr>
              <a:tblGrid>
                <a:gridCol w="360000">
                  <a:extLst>
                    <a:ext uri="{9D8B030D-6E8A-4147-A177-3AD203B41FA5}">
                      <a16:colId xmlns:a16="http://schemas.microsoft.com/office/drawing/2014/main" val="979315127"/>
                    </a:ext>
                  </a:extLst>
                </a:gridCol>
                <a:gridCol w="1731600">
                  <a:extLst>
                    <a:ext uri="{9D8B030D-6E8A-4147-A177-3AD203B41FA5}">
                      <a16:colId xmlns:a16="http://schemas.microsoft.com/office/drawing/2014/main" val="2075302567"/>
                    </a:ext>
                  </a:extLst>
                </a:gridCol>
                <a:gridCol w="360000">
                  <a:extLst>
                    <a:ext uri="{9D8B030D-6E8A-4147-A177-3AD203B41FA5}">
                      <a16:colId xmlns:a16="http://schemas.microsoft.com/office/drawing/2014/main" val="660631070"/>
                    </a:ext>
                  </a:extLst>
                </a:gridCol>
                <a:gridCol w="360000">
                  <a:extLst>
                    <a:ext uri="{9D8B030D-6E8A-4147-A177-3AD203B41FA5}">
                      <a16:colId xmlns:a16="http://schemas.microsoft.com/office/drawing/2014/main" val="1525013378"/>
                    </a:ext>
                  </a:extLst>
                </a:gridCol>
              </a:tblGrid>
              <a:tr h="367200">
                <a:tc>
                  <a:txBody>
                    <a:bodyPr/>
                    <a:lstStyle/>
                    <a:p>
                      <a:endParaRPr lang="en-NL" sz="1100" dirty="0"/>
                    </a:p>
                  </a:txBody>
                  <a:tcPr marL="72000" anchor="ctr"/>
                </a:tc>
                <a:tc>
                  <a:txBody>
                    <a:bodyPr/>
                    <a:lstStyle/>
                    <a:p>
                      <a:r>
                        <a:rPr lang="en-US" sz="900" dirty="0"/>
                        <a:t>loinc:107454-1</a:t>
                      </a:r>
                    </a:p>
                    <a:p>
                      <a:r>
                        <a:rPr lang="en-US" sz="900" dirty="0"/>
                        <a:t>("Administrative gender"@</a:t>
                      </a:r>
                      <a:r>
                        <a:rPr lang="en-US" sz="900" dirty="0" err="1"/>
                        <a:t>en</a:t>
                      </a:r>
                      <a:r>
                        <a:rPr lang="en-US" sz="900" dirty="0"/>
                        <a:t>)</a:t>
                      </a:r>
                      <a:endParaRPr lang="en-NL" sz="900" dirty="0"/>
                    </a:p>
                  </a:txBody>
                  <a:tcPr marL="72000" marR="0" marT="0" marB="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012902903"/>
                  </a:ext>
                </a:extLst>
              </a:tr>
              <a:tr h="306000">
                <a:tc>
                  <a:txBody>
                    <a:bodyPr/>
                    <a:lstStyle/>
                    <a:p>
                      <a:endParaRPr lang="en-NL" sz="1100" dirty="0"/>
                    </a:p>
                  </a:txBody>
                  <a:tcPr marL="72000" anchor="ctr"/>
                </a:tc>
                <a:tc>
                  <a:txBody>
                    <a:bodyPr/>
                    <a:lstStyle/>
                    <a:p>
                      <a:r>
                        <a:rPr lang="en-US" sz="1100" b="1" dirty="0"/>
                        <a:t>woman</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1249708150"/>
                  </a:ext>
                </a:extLst>
              </a:tr>
              <a:tr h="306000">
                <a:tc>
                  <a:txBody>
                    <a:bodyPr/>
                    <a:lstStyle/>
                    <a:p>
                      <a:endParaRPr lang="en-NL" sz="1100" dirty="0"/>
                    </a:p>
                  </a:txBody>
                  <a:tcPr marL="72000" anchor="ctr"/>
                </a:tc>
                <a:tc>
                  <a:txBody>
                    <a:bodyPr/>
                    <a:lstStyle/>
                    <a:p>
                      <a:r>
                        <a:rPr lang="en-US" sz="1100" b="1" dirty="0"/>
                        <a:t>man</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850974854"/>
                  </a:ext>
                </a:extLst>
              </a:tr>
              <a:tr h="306000">
                <a:tc>
                  <a:txBody>
                    <a:bodyPr/>
                    <a:lstStyle/>
                    <a:p>
                      <a:endParaRPr lang="en-NL" sz="1100" dirty="0"/>
                    </a:p>
                  </a:txBody>
                  <a:tcPr marL="72000" anchor="ctr"/>
                </a:tc>
                <a:tc>
                  <a:txBody>
                    <a:bodyPr/>
                    <a:lstStyle/>
                    <a:p>
                      <a:r>
                        <a:rPr lang="en-US" sz="1100" b="1" dirty="0"/>
                        <a:t>non-binary</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8" name="Rectangle: Rounded Corners 7">
            <a:extLst>
              <a:ext uri="{FF2B5EF4-FFF2-40B4-BE49-F238E27FC236}">
                <a16:creationId xmlns:a16="http://schemas.microsoft.com/office/drawing/2014/main" id="{6ADC9FA1-7D9D-C92F-773F-A1D56FAC69A9}"/>
              </a:ext>
            </a:extLst>
          </p:cNvPr>
          <p:cNvSpPr/>
          <p:nvPr/>
        </p:nvSpPr>
        <p:spPr>
          <a:xfrm>
            <a:off x="9580166" y="5182068"/>
            <a:ext cx="1642188" cy="710132"/>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en-NL"/>
          </a:p>
        </p:txBody>
      </p:sp>
      <p:graphicFrame>
        <p:nvGraphicFramePr>
          <p:cNvPr id="9" name="Content Placeholder 4">
            <a:extLst>
              <a:ext uri="{FF2B5EF4-FFF2-40B4-BE49-F238E27FC236}">
                <a16:creationId xmlns:a16="http://schemas.microsoft.com/office/drawing/2014/main" id="{FAB85AC4-1F95-4C42-C089-EEFA63A91D64}"/>
              </a:ext>
            </a:extLst>
          </p:cNvPr>
          <p:cNvGraphicFramePr>
            <a:graphicFrameLocks/>
          </p:cNvGraphicFramePr>
          <p:nvPr>
            <p:extLst>
              <p:ext uri="{D42A27DB-BD31-4B8C-83A1-F6EECF244321}">
                <p14:modId xmlns:p14="http://schemas.microsoft.com/office/powerpoint/2010/main" val="1648291245"/>
              </p:ext>
            </p:extLst>
          </p:nvPr>
        </p:nvGraphicFramePr>
        <p:xfrm>
          <a:off x="7878355" y="1695020"/>
          <a:ext cx="2811677" cy="128376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360000">
                  <a:extLst>
                    <a:ext uri="{9D8B030D-6E8A-4147-A177-3AD203B41FA5}">
                      <a16:colId xmlns:a16="http://schemas.microsoft.com/office/drawing/2014/main" val="979315127"/>
                    </a:ext>
                  </a:extLst>
                </a:gridCol>
                <a:gridCol w="1731677">
                  <a:extLst>
                    <a:ext uri="{9D8B030D-6E8A-4147-A177-3AD203B41FA5}">
                      <a16:colId xmlns:a16="http://schemas.microsoft.com/office/drawing/2014/main" val="2075302567"/>
                    </a:ext>
                  </a:extLst>
                </a:gridCol>
                <a:gridCol w="360000">
                  <a:extLst>
                    <a:ext uri="{9D8B030D-6E8A-4147-A177-3AD203B41FA5}">
                      <a16:colId xmlns:a16="http://schemas.microsoft.com/office/drawing/2014/main" val="660631070"/>
                    </a:ext>
                  </a:extLst>
                </a:gridCol>
                <a:gridCol w="360000">
                  <a:extLst>
                    <a:ext uri="{9D8B030D-6E8A-4147-A177-3AD203B41FA5}">
                      <a16:colId xmlns:a16="http://schemas.microsoft.com/office/drawing/2014/main" val="1525013378"/>
                    </a:ext>
                  </a:extLst>
                </a:gridCol>
              </a:tblGrid>
              <a:tr h="324000">
                <a:tc>
                  <a:txBody>
                    <a:bodyPr/>
                    <a:lstStyle/>
                    <a:p>
                      <a:endParaRPr lang="en-NL" sz="1100" dirty="0"/>
                    </a:p>
                  </a:txBody>
                  <a:tcPr marL="72000" anchor="ctr"/>
                </a:tc>
                <a:tc>
                  <a:txBody>
                    <a:bodyPr/>
                    <a:lstStyle/>
                    <a:p>
                      <a:r>
                        <a:rPr lang="en-US" sz="900" dirty="0" err="1"/>
                        <a:t>care-sm:Sex</a:t>
                      </a:r>
                      <a:endParaRPr lang="en-US" sz="900" dirty="0"/>
                    </a:p>
                    <a:p>
                      <a:r>
                        <a:rPr lang="en-US" sz="900" dirty="0"/>
                        <a:t>("Biological sex"@</a:t>
                      </a:r>
                      <a:r>
                        <a:rPr lang="en-US" sz="900" dirty="0" err="1"/>
                        <a:t>en</a:t>
                      </a:r>
                      <a:r>
                        <a:rPr lang="en-US" sz="900" dirty="0"/>
                        <a:t>)</a:t>
                      </a:r>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012902903"/>
                  </a:ext>
                </a:extLst>
              </a:tr>
              <a:tr h="306000">
                <a:tc>
                  <a:txBody>
                    <a:bodyPr/>
                    <a:lstStyle/>
                    <a:p>
                      <a:endParaRPr lang="en-NL" sz="1100" dirty="0"/>
                    </a:p>
                  </a:txBody>
                  <a:tcPr marL="72000" anchor="ctr"/>
                </a:tc>
                <a:tc>
                  <a:txBody>
                    <a:bodyPr/>
                    <a:lstStyle/>
                    <a:p>
                      <a:r>
                        <a:rPr lang="en-US" sz="1100" b="1" dirty="0"/>
                        <a:t>female</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1249708150"/>
                  </a:ext>
                </a:extLst>
              </a:tr>
              <a:tr h="306000">
                <a:tc>
                  <a:txBody>
                    <a:bodyPr/>
                    <a:lstStyle/>
                    <a:p>
                      <a:endParaRPr lang="en-NL" sz="1100" dirty="0"/>
                    </a:p>
                  </a:txBody>
                  <a:tcPr marL="72000" anchor="ctr"/>
                </a:tc>
                <a:tc>
                  <a:txBody>
                    <a:bodyPr/>
                    <a:lstStyle/>
                    <a:p>
                      <a:r>
                        <a:rPr lang="en-US" sz="1100" b="1" dirty="0"/>
                        <a:t>male</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850974854"/>
                  </a:ext>
                </a:extLst>
              </a:tr>
              <a:tr h="306000">
                <a:tc>
                  <a:txBody>
                    <a:bodyPr/>
                    <a:lstStyle/>
                    <a:p>
                      <a:endParaRPr lang="en-NL" sz="1100" dirty="0"/>
                    </a:p>
                  </a:txBody>
                  <a:tcPr marL="72000" anchor="ctr"/>
                </a:tc>
                <a:tc>
                  <a:txBody>
                    <a:bodyPr/>
                    <a:lstStyle/>
                    <a:p>
                      <a:r>
                        <a:rPr lang="en-US" sz="1100" b="1" dirty="0"/>
                        <a:t>female</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10" name="Rectangle: Rounded Corners 9">
            <a:extLst>
              <a:ext uri="{FF2B5EF4-FFF2-40B4-BE49-F238E27FC236}">
                <a16:creationId xmlns:a16="http://schemas.microsoft.com/office/drawing/2014/main" id="{F4699145-E00F-260C-6268-C6EBC5359723}"/>
              </a:ext>
            </a:extLst>
          </p:cNvPr>
          <p:cNvSpPr/>
          <p:nvPr/>
        </p:nvSpPr>
        <p:spPr>
          <a:xfrm>
            <a:off x="9580165" y="2343789"/>
            <a:ext cx="1642188" cy="710132"/>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NL"/>
          </a:p>
        </p:txBody>
      </p:sp>
      <p:pic>
        <p:nvPicPr>
          <p:cNvPr id="11" name="Picture 10">
            <a:extLst>
              <a:ext uri="{FF2B5EF4-FFF2-40B4-BE49-F238E27FC236}">
                <a16:creationId xmlns:a16="http://schemas.microsoft.com/office/drawing/2014/main" id="{1F9C3B51-7713-59D7-80EC-F24007AC75E7}"/>
              </a:ext>
            </a:extLst>
          </p:cNvPr>
          <p:cNvPicPr>
            <a:picLocks noChangeAspect="1"/>
          </p:cNvPicPr>
          <p:nvPr/>
        </p:nvPicPr>
        <p:blipFill>
          <a:blip r:embed="rId2"/>
          <a:srcRect l="17222" t="33069" r="27186" b="41346"/>
          <a:stretch>
            <a:fillRect/>
          </a:stretch>
        </p:blipFill>
        <p:spPr>
          <a:xfrm>
            <a:off x="9681170" y="2477918"/>
            <a:ext cx="1440178" cy="441874"/>
          </a:xfrm>
          <a:prstGeom prst="rect">
            <a:avLst/>
          </a:prstGeom>
        </p:spPr>
      </p:pic>
      <p:pic>
        <p:nvPicPr>
          <p:cNvPr id="12" name="Picture 11">
            <a:extLst>
              <a:ext uri="{FF2B5EF4-FFF2-40B4-BE49-F238E27FC236}">
                <a16:creationId xmlns:a16="http://schemas.microsoft.com/office/drawing/2014/main" id="{50B9A959-5984-12E9-B6E5-B8355A704ABB}"/>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25000"/>
                    </a14:imgEffect>
                    <a14:imgEffect>
                      <a14:brightnessContrast contrast="-40000"/>
                    </a14:imgEffect>
                  </a14:imgLayer>
                </a14:imgProps>
              </a:ext>
            </a:extLst>
          </a:blip>
          <a:srcRect l="22593" t="33818" r="26296" b="42564"/>
          <a:stretch>
            <a:fillRect/>
          </a:stretch>
        </p:blipFill>
        <p:spPr>
          <a:xfrm>
            <a:off x="9681259" y="3897611"/>
            <a:ext cx="1440000" cy="443613"/>
          </a:xfrm>
          <a:prstGeom prst="rect">
            <a:avLst/>
          </a:prstGeom>
        </p:spPr>
      </p:pic>
      <p:pic>
        <p:nvPicPr>
          <p:cNvPr id="13" name="Picture 12">
            <a:extLst>
              <a:ext uri="{FF2B5EF4-FFF2-40B4-BE49-F238E27FC236}">
                <a16:creationId xmlns:a16="http://schemas.microsoft.com/office/drawing/2014/main" id="{5966B6C0-844C-7CBB-EA3C-F37FEEC0308F}"/>
              </a:ext>
            </a:extLst>
          </p:cNvPr>
          <p:cNvPicPr>
            <a:picLocks noChangeAspect="1"/>
          </p:cNvPicPr>
          <p:nvPr/>
        </p:nvPicPr>
        <p:blipFill>
          <a:blip r:embed="rId5"/>
          <a:srcRect l="13027" t="27953" r="16204" b="38897"/>
          <a:stretch>
            <a:fillRect/>
          </a:stretch>
        </p:blipFill>
        <p:spPr>
          <a:xfrm>
            <a:off x="9681260" y="5312288"/>
            <a:ext cx="1440000" cy="449693"/>
          </a:xfrm>
          <a:prstGeom prst="rect">
            <a:avLst/>
          </a:prstGeom>
        </p:spPr>
      </p:pic>
    </p:spTree>
    <p:extLst>
      <p:ext uri="{BB962C8B-B14F-4D97-AF65-F5344CB8AC3E}">
        <p14:creationId xmlns:p14="http://schemas.microsoft.com/office/powerpoint/2010/main" val="293558454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36E966-6DB4-07F9-3AF2-0CA06DFD55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6C18E6-E824-FA15-5D8F-923089F599B9}"/>
              </a:ext>
            </a:extLst>
          </p:cNvPr>
          <p:cNvSpPr>
            <a:spLocks noGrp="1"/>
          </p:cNvSpPr>
          <p:nvPr>
            <p:ph type="title"/>
          </p:nvPr>
        </p:nvSpPr>
        <p:spPr/>
        <p:txBody>
          <a:bodyPr/>
          <a:lstStyle/>
          <a:p>
            <a:r>
              <a:rPr lang="en-US" sz="3600" b="1" dirty="0"/>
              <a:t>Context:</a:t>
            </a:r>
            <a:r>
              <a:rPr lang="en-US" sz="3600" dirty="0"/>
              <a:t> Consistency</a:t>
            </a:r>
            <a:endParaRPr lang="en-NL" sz="3600" dirty="0"/>
          </a:p>
        </p:txBody>
      </p:sp>
      <p:sp>
        <p:nvSpPr>
          <p:cNvPr id="4" name="Slide Number Placeholder 3">
            <a:extLst>
              <a:ext uri="{FF2B5EF4-FFF2-40B4-BE49-F238E27FC236}">
                <a16:creationId xmlns:a16="http://schemas.microsoft.com/office/drawing/2014/main" id="{24635CE3-3133-7423-D056-C17EEF2D12AA}"/>
              </a:ext>
            </a:extLst>
          </p:cNvPr>
          <p:cNvSpPr>
            <a:spLocks noGrp="1"/>
          </p:cNvSpPr>
          <p:nvPr>
            <p:ph type="sldNum" sz="quarter" idx="12"/>
          </p:nvPr>
        </p:nvSpPr>
        <p:spPr/>
        <p:txBody>
          <a:bodyPr/>
          <a:lstStyle/>
          <a:p>
            <a:fld id="{4FAB73BC-B049-4115-A692-8D63A059BFB8}" type="slidenum">
              <a:rPr lang="en-US" smtClean="0"/>
              <a:pPr/>
              <a:t>59</a:t>
            </a:fld>
            <a:endParaRPr lang="en-US" dirty="0"/>
          </a:p>
        </p:txBody>
      </p:sp>
      <p:sp>
        <p:nvSpPr>
          <p:cNvPr id="151" name="Rectangle: Rounded Corners 150">
            <a:extLst>
              <a:ext uri="{FF2B5EF4-FFF2-40B4-BE49-F238E27FC236}">
                <a16:creationId xmlns:a16="http://schemas.microsoft.com/office/drawing/2014/main" id="{6F4A28ED-C28E-D77C-4D43-9B1A127D59CA}"/>
              </a:ext>
            </a:extLst>
          </p:cNvPr>
          <p:cNvSpPr/>
          <p:nvPr/>
        </p:nvSpPr>
        <p:spPr>
          <a:xfrm>
            <a:off x="8929686" y="1628776"/>
            <a:ext cx="2566989" cy="3385352"/>
          </a:xfrm>
          <a:prstGeom prst="roundRect">
            <a:avLst>
              <a:gd name="adj" fmla="val 6444"/>
            </a:avLst>
          </a:prstGeom>
          <a:solidFill>
            <a:schemeClr val="dk1">
              <a:alpha val="1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NL"/>
          </a:p>
        </p:txBody>
      </p:sp>
      <p:sp>
        <p:nvSpPr>
          <p:cNvPr id="152" name="TextBox 151">
            <a:extLst>
              <a:ext uri="{FF2B5EF4-FFF2-40B4-BE49-F238E27FC236}">
                <a16:creationId xmlns:a16="http://schemas.microsoft.com/office/drawing/2014/main" id="{01E2C6D3-6344-62EB-9501-ABFD113C44E9}"/>
              </a:ext>
            </a:extLst>
          </p:cNvPr>
          <p:cNvSpPr txBox="1"/>
          <p:nvPr/>
        </p:nvSpPr>
        <p:spPr>
          <a:xfrm>
            <a:off x="9679219" y="1849534"/>
            <a:ext cx="1067921" cy="400110"/>
          </a:xfrm>
          <a:prstGeom prst="rect">
            <a:avLst/>
          </a:prstGeom>
          <a:noFill/>
        </p:spPr>
        <p:txBody>
          <a:bodyPr wrap="none" rtlCol="0">
            <a:spAutoFit/>
          </a:bodyPr>
          <a:lstStyle/>
          <a:p>
            <a:r>
              <a:rPr lang="en-US" sz="2000" b="1" dirty="0">
                <a:latin typeface="Atkinson Hyperlegible" pitchFamily="2" charset="0"/>
              </a:rPr>
              <a:t>Legend</a:t>
            </a:r>
            <a:endParaRPr lang="en-NL" sz="2000" b="1" dirty="0">
              <a:latin typeface="Atkinson Hyperlegible" pitchFamily="2" charset="0"/>
            </a:endParaRPr>
          </a:p>
        </p:txBody>
      </p:sp>
      <p:grpSp>
        <p:nvGrpSpPr>
          <p:cNvPr id="50" name="Group 49">
            <a:extLst>
              <a:ext uri="{FF2B5EF4-FFF2-40B4-BE49-F238E27FC236}">
                <a16:creationId xmlns:a16="http://schemas.microsoft.com/office/drawing/2014/main" id="{4E65CFDE-B271-D0A1-5E08-EB1CC16470A4}"/>
              </a:ext>
            </a:extLst>
          </p:cNvPr>
          <p:cNvGrpSpPr/>
          <p:nvPr/>
        </p:nvGrpSpPr>
        <p:grpSpPr>
          <a:xfrm>
            <a:off x="9086488" y="2943379"/>
            <a:ext cx="2362301" cy="307777"/>
            <a:chOff x="9144854" y="2943379"/>
            <a:chExt cx="2362301" cy="307777"/>
          </a:xfrm>
        </p:grpSpPr>
        <p:cxnSp>
          <p:nvCxnSpPr>
            <p:cNvPr id="154" name="Straight Arrow Connector 153">
              <a:extLst>
                <a:ext uri="{FF2B5EF4-FFF2-40B4-BE49-F238E27FC236}">
                  <a16:creationId xmlns:a16="http://schemas.microsoft.com/office/drawing/2014/main" id="{DADDC787-DC96-B6CE-2C4C-BA7390C32FC3}"/>
                </a:ext>
              </a:extLst>
            </p:cNvPr>
            <p:cNvCxnSpPr>
              <a:cxnSpLocks/>
            </p:cNvCxnSpPr>
            <p:nvPr/>
          </p:nvCxnSpPr>
          <p:spPr>
            <a:xfrm>
              <a:off x="9144854" y="3097267"/>
              <a:ext cx="720000" cy="0"/>
            </a:xfrm>
            <a:prstGeom prst="straightConnector1">
              <a:avLst/>
            </a:prstGeom>
            <a:ln w="50800" cap="flat" cmpd="sng" algn="ctr">
              <a:solidFill>
                <a:schemeClr val="accent6"/>
              </a:solidFill>
              <a:prstDash val="solid"/>
              <a:round/>
              <a:headEnd type="none" w="med" len="med"/>
              <a:tailEnd type="triangle" w="lg" len="lg"/>
            </a:ln>
          </p:spPr>
          <p:style>
            <a:lnRef idx="0">
              <a:scrgbClr r="0" g="0" b="0"/>
            </a:lnRef>
            <a:fillRef idx="0">
              <a:scrgbClr r="0" g="0" b="0"/>
            </a:fillRef>
            <a:effectRef idx="0">
              <a:scrgbClr r="0" g="0" b="0"/>
            </a:effectRef>
            <a:fontRef idx="minor">
              <a:schemeClr val="tx1"/>
            </a:fontRef>
          </p:style>
        </p:cxnSp>
        <p:sp>
          <p:nvSpPr>
            <p:cNvPr id="155" name="TextBox 154">
              <a:extLst>
                <a:ext uri="{FF2B5EF4-FFF2-40B4-BE49-F238E27FC236}">
                  <a16:creationId xmlns:a16="http://schemas.microsoft.com/office/drawing/2014/main" id="{7AC1EA0D-3E06-81DF-F287-BB5FDE312DAB}"/>
                </a:ext>
              </a:extLst>
            </p:cNvPr>
            <p:cNvSpPr txBox="1"/>
            <p:nvPr/>
          </p:nvSpPr>
          <p:spPr>
            <a:xfrm>
              <a:off x="9958333" y="2943379"/>
              <a:ext cx="1548822" cy="307777"/>
            </a:xfrm>
            <a:prstGeom prst="rect">
              <a:avLst/>
            </a:prstGeom>
            <a:noFill/>
          </p:spPr>
          <p:txBody>
            <a:bodyPr wrap="none" rtlCol="0">
              <a:spAutoFit/>
            </a:bodyPr>
            <a:lstStyle/>
            <a:p>
              <a:r>
                <a:rPr lang="en-US" sz="1400" dirty="0">
                  <a:latin typeface="Atkinson Hyperlegible" pitchFamily="2" charset="0"/>
                </a:rPr>
                <a:t>NOT </a:t>
              </a:r>
              <a:r>
                <a:rPr lang="en-US" sz="1400" dirty="0" err="1">
                  <a:latin typeface="Atkinson Hyperlegible" pitchFamily="2" charset="0"/>
                </a:rPr>
                <a:t>hasMeaning</a:t>
              </a:r>
              <a:endParaRPr lang="en-NL" sz="1400" dirty="0">
                <a:latin typeface="Atkinson Hyperlegible" pitchFamily="2" charset="0"/>
              </a:endParaRPr>
            </a:p>
          </p:txBody>
        </p:sp>
      </p:grpSp>
      <p:grpSp>
        <p:nvGrpSpPr>
          <p:cNvPr id="156" name="Group 155">
            <a:extLst>
              <a:ext uri="{FF2B5EF4-FFF2-40B4-BE49-F238E27FC236}">
                <a16:creationId xmlns:a16="http://schemas.microsoft.com/office/drawing/2014/main" id="{E0B391F4-724D-D955-C6EB-C72FF1136986}"/>
              </a:ext>
            </a:extLst>
          </p:cNvPr>
          <p:cNvGrpSpPr/>
          <p:nvPr/>
        </p:nvGrpSpPr>
        <p:grpSpPr>
          <a:xfrm>
            <a:off x="9086488" y="2532012"/>
            <a:ext cx="1959947" cy="307777"/>
            <a:chOff x="9054421" y="2673280"/>
            <a:chExt cx="1959947" cy="307777"/>
          </a:xfrm>
        </p:grpSpPr>
        <p:cxnSp>
          <p:nvCxnSpPr>
            <p:cNvPr id="157" name="Straight Arrow Connector 156">
              <a:extLst>
                <a:ext uri="{FF2B5EF4-FFF2-40B4-BE49-F238E27FC236}">
                  <a16:creationId xmlns:a16="http://schemas.microsoft.com/office/drawing/2014/main" id="{6C28E151-A0A9-E9C1-DE6C-012A2B4CD8EC}"/>
                </a:ext>
              </a:extLst>
            </p:cNvPr>
            <p:cNvCxnSpPr>
              <a:cxnSpLocks/>
            </p:cNvCxnSpPr>
            <p:nvPr/>
          </p:nvCxnSpPr>
          <p:spPr>
            <a:xfrm>
              <a:off x="9054421" y="2827168"/>
              <a:ext cx="720000" cy="0"/>
            </a:xfrm>
            <a:prstGeom prst="straightConnector1">
              <a:avLst/>
            </a:prstGeom>
            <a:ln w="50800" cap="flat" cmpd="sng" algn="ctr">
              <a:solidFill>
                <a:schemeClr val="accent4"/>
              </a:solidFill>
              <a:prstDash val="solid"/>
              <a:round/>
              <a:headEnd type="none" w="med" len="med"/>
              <a:tailEnd type="triangle" w="lg" len="lg"/>
            </a:ln>
          </p:spPr>
          <p:style>
            <a:lnRef idx="0">
              <a:scrgbClr r="0" g="0" b="0"/>
            </a:lnRef>
            <a:fillRef idx="0">
              <a:scrgbClr r="0" g="0" b="0"/>
            </a:fillRef>
            <a:effectRef idx="0">
              <a:scrgbClr r="0" g="0" b="0"/>
            </a:effectRef>
            <a:fontRef idx="minor">
              <a:schemeClr val="tx1"/>
            </a:fontRef>
          </p:style>
        </p:cxnSp>
        <p:sp>
          <p:nvSpPr>
            <p:cNvPr id="158" name="TextBox 157">
              <a:extLst>
                <a:ext uri="{FF2B5EF4-FFF2-40B4-BE49-F238E27FC236}">
                  <a16:creationId xmlns:a16="http://schemas.microsoft.com/office/drawing/2014/main" id="{DCCC127C-C5D6-29AF-9DD5-445BF23DDA15}"/>
                </a:ext>
              </a:extLst>
            </p:cNvPr>
            <p:cNvSpPr txBox="1"/>
            <p:nvPr/>
          </p:nvSpPr>
          <p:spPr>
            <a:xfrm>
              <a:off x="9867900" y="2673280"/>
              <a:ext cx="1146468" cy="307777"/>
            </a:xfrm>
            <a:prstGeom prst="rect">
              <a:avLst/>
            </a:prstGeom>
            <a:noFill/>
          </p:spPr>
          <p:txBody>
            <a:bodyPr wrap="none" rtlCol="0">
              <a:spAutoFit/>
            </a:bodyPr>
            <a:lstStyle/>
            <a:p>
              <a:r>
                <a:rPr lang="en-US" sz="1400" dirty="0" err="1">
                  <a:latin typeface="Atkinson Hyperlegible" pitchFamily="2" charset="0"/>
                </a:rPr>
                <a:t>hasMeaning</a:t>
              </a:r>
              <a:endParaRPr lang="en-NL" sz="1400" dirty="0">
                <a:latin typeface="Atkinson Hyperlegible" pitchFamily="2" charset="0"/>
              </a:endParaRPr>
            </a:p>
          </p:txBody>
        </p:sp>
      </p:grpSp>
      <p:cxnSp>
        <p:nvCxnSpPr>
          <p:cNvPr id="177" name="Straight Connector 176">
            <a:extLst>
              <a:ext uri="{FF2B5EF4-FFF2-40B4-BE49-F238E27FC236}">
                <a16:creationId xmlns:a16="http://schemas.microsoft.com/office/drawing/2014/main" id="{37EEFED8-F1D9-69FD-4D3E-3DAA1BC62032}"/>
              </a:ext>
            </a:extLst>
          </p:cNvPr>
          <p:cNvCxnSpPr>
            <a:cxnSpLocks/>
          </p:cNvCxnSpPr>
          <p:nvPr/>
        </p:nvCxnSpPr>
        <p:spPr>
          <a:xfrm flipH="1">
            <a:off x="9133653" y="3356455"/>
            <a:ext cx="216817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59EE6E5D-4682-6EA8-891D-7018AC7D6F67}"/>
              </a:ext>
            </a:extLst>
          </p:cNvPr>
          <p:cNvCxnSpPr>
            <a:cxnSpLocks/>
          </p:cNvCxnSpPr>
          <p:nvPr/>
        </p:nvCxnSpPr>
        <p:spPr>
          <a:xfrm>
            <a:off x="1876426" y="2126787"/>
            <a:ext cx="0" cy="2009445"/>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F917F48A-3487-24D2-F794-40FEDC99252F}"/>
              </a:ext>
            </a:extLst>
          </p:cNvPr>
          <p:cNvCxnSpPr>
            <a:cxnSpLocks/>
          </p:cNvCxnSpPr>
          <p:nvPr/>
        </p:nvCxnSpPr>
        <p:spPr>
          <a:xfrm>
            <a:off x="8722984" y="2126787"/>
            <a:ext cx="0" cy="2009445"/>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6" name="Parallelogram 5">
            <a:extLst>
              <a:ext uri="{FF2B5EF4-FFF2-40B4-BE49-F238E27FC236}">
                <a16:creationId xmlns:a16="http://schemas.microsoft.com/office/drawing/2014/main" id="{7704032B-09CD-50C3-4715-D46E8D6DDFE8}"/>
              </a:ext>
            </a:extLst>
          </p:cNvPr>
          <p:cNvSpPr/>
          <p:nvPr/>
        </p:nvSpPr>
        <p:spPr>
          <a:xfrm>
            <a:off x="695325" y="4136232"/>
            <a:ext cx="8039515" cy="1276350"/>
          </a:xfrm>
          <a:prstGeom prst="parallelogram">
            <a:avLst>
              <a:gd name="adj" fmla="val 92164"/>
            </a:avLst>
          </a:prstGeom>
          <a:solidFill>
            <a:srgbClr val="FFE4D9"/>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solidFill>
                <a:srgbClr val="FFE4D9"/>
              </a:solidFill>
            </a:endParaRPr>
          </a:p>
        </p:txBody>
      </p:sp>
      <p:sp>
        <p:nvSpPr>
          <p:cNvPr id="10" name="TextBox 9">
            <a:extLst>
              <a:ext uri="{FF2B5EF4-FFF2-40B4-BE49-F238E27FC236}">
                <a16:creationId xmlns:a16="http://schemas.microsoft.com/office/drawing/2014/main" id="{169FEEDF-AFA4-498E-5215-0CA726D6C7C2}"/>
              </a:ext>
            </a:extLst>
          </p:cNvPr>
          <p:cNvSpPr txBox="1"/>
          <p:nvPr/>
        </p:nvSpPr>
        <p:spPr>
          <a:xfrm>
            <a:off x="851925" y="5148560"/>
            <a:ext cx="2053199" cy="307777"/>
          </a:xfrm>
          <a:prstGeom prst="rect">
            <a:avLst/>
          </a:prstGeom>
          <a:noFill/>
        </p:spPr>
        <p:txBody>
          <a:bodyPr wrap="squar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11" name="Parallelogram 10">
            <a:extLst>
              <a:ext uri="{FF2B5EF4-FFF2-40B4-BE49-F238E27FC236}">
                <a16:creationId xmlns:a16="http://schemas.microsoft.com/office/drawing/2014/main" id="{76DE33D6-9A81-613C-7D2D-0BC545E6E2C8}"/>
              </a:ext>
            </a:extLst>
          </p:cNvPr>
          <p:cNvSpPr/>
          <p:nvPr/>
        </p:nvSpPr>
        <p:spPr>
          <a:xfrm>
            <a:off x="695325" y="2126787"/>
            <a:ext cx="8039515" cy="1276350"/>
          </a:xfrm>
          <a:prstGeom prst="parallelogram">
            <a:avLst>
              <a:gd name="adj" fmla="val 92164"/>
            </a:avLst>
          </a:prstGeom>
          <a:solidFill>
            <a:schemeClr val="accent1">
              <a:lumMod val="20000"/>
              <a:lumOff val="80000"/>
              <a:alpha val="95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7" name="TextBox 16">
            <a:extLst>
              <a:ext uri="{FF2B5EF4-FFF2-40B4-BE49-F238E27FC236}">
                <a16:creationId xmlns:a16="http://schemas.microsoft.com/office/drawing/2014/main" id="{661FC966-7984-A329-BF5A-0182A79B3E7A}"/>
              </a:ext>
            </a:extLst>
          </p:cNvPr>
          <p:cNvSpPr txBox="1"/>
          <p:nvPr/>
        </p:nvSpPr>
        <p:spPr>
          <a:xfrm>
            <a:off x="936945" y="3117237"/>
            <a:ext cx="1036943" cy="307777"/>
          </a:xfrm>
          <a:prstGeom prst="rect">
            <a:avLst/>
          </a:prstGeom>
          <a:noFill/>
        </p:spPr>
        <p:txBody>
          <a:bodyPr wrap="square" rtlCol="0">
            <a:spAutoFit/>
          </a:bodyPr>
          <a:lstStyle>
            <a:defPPr>
              <a:defRPr lang="en-NL"/>
            </a:defPPr>
            <a:lvl1pPr>
              <a:defRPr>
                <a:latin typeface="Atkinson Hyperlegible" pitchFamily="2" charset="0"/>
              </a:defRPr>
            </a:lvl1pPr>
          </a:lstStyle>
          <a:p>
            <a:r>
              <a:rPr lang="en-US" sz="1400" dirty="0">
                <a:solidFill>
                  <a:schemeClr val="tx2">
                    <a:lumMod val="90000"/>
                    <a:lumOff val="10000"/>
                  </a:schemeClr>
                </a:solidFill>
              </a:rPr>
              <a:t>Meanings</a:t>
            </a:r>
            <a:endParaRPr lang="en-NL" sz="1400" dirty="0">
              <a:solidFill>
                <a:schemeClr val="tx2">
                  <a:lumMod val="90000"/>
                  <a:lumOff val="10000"/>
                </a:schemeClr>
              </a:solidFill>
            </a:endParaRPr>
          </a:p>
        </p:txBody>
      </p:sp>
      <p:sp>
        <p:nvSpPr>
          <p:cNvPr id="13" name="Oval 12">
            <a:extLst>
              <a:ext uri="{FF2B5EF4-FFF2-40B4-BE49-F238E27FC236}">
                <a16:creationId xmlns:a16="http://schemas.microsoft.com/office/drawing/2014/main" id="{15C4E069-5C25-91C7-74A7-1458D4A008F3}"/>
              </a:ext>
            </a:extLst>
          </p:cNvPr>
          <p:cNvSpPr/>
          <p:nvPr/>
        </p:nvSpPr>
        <p:spPr>
          <a:xfrm>
            <a:off x="2702912" y="2522075"/>
            <a:ext cx="485775" cy="4857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4" name="Oval 13">
            <a:extLst>
              <a:ext uri="{FF2B5EF4-FFF2-40B4-BE49-F238E27FC236}">
                <a16:creationId xmlns:a16="http://schemas.microsoft.com/office/drawing/2014/main" id="{60A5264B-14B9-61C6-B4CE-5B781EECD74F}"/>
              </a:ext>
            </a:extLst>
          </p:cNvPr>
          <p:cNvSpPr/>
          <p:nvPr/>
        </p:nvSpPr>
        <p:spPr>
          <a:xfrm>
            <a:off x="4472195" y="2522075"/>
            <a:ext cx="485775" cy="4857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Oval 21">
            <a:extLst>
              <a:ext uri="{FF2B5EF4-FFF2-40B4-BE49-F238E27FC236}">
                <a16:creationId xmlns:a16="http://schemas.microsoft.com/office/drawing/2014/main" id="{B7194C1B-A230-ED2C-D692-AE7847FD3536}"/>
              </a:ext>
            </a:extLst>
          </p:cNvPr>
          <p:cNvSpPr/>
          <p:nvPr/>
        </p:nvSpPr>
        <p:spPr>
          <a:xfrm>
            <a:off x="6227280" y="2522075"/>
            <a:ext cx="485775" cy="4857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18" name="Straight Arrow Connector 17">
            <a:extLst>
              <a:ext uri="{FF2B5EF4-FFF2-40B4-BE49-F238E27FC236}">
                <a16:creationId xmlns:a16="http://schemas.microsoft.com/office/drawing/2014/main" id="{0432EBC8-95C6-7CA0-C209-20066A1E7C34}"/>
              </a:ext>
            </a:extLst>
          </p:cNvPr>
          <p:cNvCxnSpPr>
            <a:cxnSpLocks/>
            <a:endCxn id="14" idx="4"/>
          </p:cNvCxnSpPr>
          <p:nvPr/>
        </p:nvCxnSpPr>
        <p:spPr>
          <a:xfrm flipH="1" flipV="1">
            <a:off x="4715083" y="3007850"/>
            <a:ext cx="874444" cy="1766557"/>
          </a:xfrm>
          <a:prstGeom prst="straightConnector1">
            <a:avLst/>
          </a:prstGeom>
          <a:ln w="50800" cap="flat" cmpd="sng" algn="ctr">
            <a:solidFill>
              <a:schemeClr val="accent4"/>
            </a:solidFill>
            <a:prstDash val="solid"/>
            <a:round/>
            <a:headEnd type="none" w="med" len="med"/>
            <a:tailEnd type="triangle" w="lg" len="lg"/>
          </a:ln>
        </p:spPr>
        <p:style>
          <a:lnRef idx="0">
            <a:scrgbClr r="0" g="0" b="0"/>
          </a:lnRef>
          <a:fillRef idx="0">
            <a:scrgbClr r="0" g="0" b="0"/>
          </a:fillRef>
          <a:effectRef idx="0">
            <a:scrgbClr r="0" g="0" b="0"/>
          </a:effectRef>
          <a:fontRef idx="minor">
            <a:schemeClr val="tx1"/>
          </a:fontRef>
        </p:style>
      </p:cxnSp>
      <p:cxnSp>
        <p:nvCxnSpPr>
          <p:cNvPr id="24" name="Straight Arrow Connector 23">
            <a:extLst>
              <a:ext uri="{FF2B5EF4-FFF2-40B4-BE49-F238E27FC236}">
                <a16:creationId xmlns:a16="http://schemas.microsoft.com/office/drawing/2014/main" id="{8B5080A4-9DFD-DA7C-9193-539A64EF831F}"/>
              </a:ext>
            </a:extLst>
          </p:cNvPr>
          <p:cNvCxnSpPr>
            <a:cxnSpLocks/>
            <a:endCxn id="22" idx="4"/>
          </p:cNvCxnSpPr>
          <p:nvPr/>
        </p:nvCxnSpPr>
        <p:spPr>
          <a:xfrm flipV="1">
            <a:off x="5589528" y="3007850"/>
            <a:ext cx="880640" cy="1766557"/>
          </a:xfrm>
          <a:prstGeom prst="straightConnector1">
            <a:avLst/>
          </a:prstGeom>
          <a:ln w="50800" cap="flat" cmpd="sng" algn="ctr">
            <a:solidFill>
              <a:schemeClr val="accent4"/>
            </a:solidFill>
            <a:prstDash val="solid"/>
            <a:round/>
            <a:headEnd type="none" w="med" len="med"/>
            <a:tailEnd type="triangle" w="lg" len="lg"/>
          </a:ln>
        </p:spPr>
        <p:style>
          <a:lnRef idx="0">
            <a:scrgbClr r="0" g="0" b="0"/>
          </a:lnRef>
          <a:fillRef idx="0">
            <a:scrgbClr r="0" g="0" b="0"/>
          </a:fillRef>
          <a:effectRef idx="0">
            <a:scrgbClr r="0" g="0" b="0"/>
          </a:effectRef>
          <a:fontRef idx="minor">
            <a:schemeClr val="tx1"/>
          </a:fontRef>
        </p:style>
      </p:cxnSp>
      <p:cxnSp>
        <p:nvCxnSpPr>
          <p:cNvPr id="30" name="Straight Arrow Connector 29">
            <a:extLst>
              <a:ext uri="{FF2B5EF4-FFF2-40B4-BE49-F238E27FC236}">
                <a16:creationId xmlns:a16="http://schemas.microsoft.com/office/drawing/2014/main" id="{61D752F7-FFCA-B215-7E1A-8C4C792CF324}"/>
              </a:ext>
            </a:extLst>
          </p:cNvPr>
          <p:cNvCxnSpPr>
            <a:cxnSpLocks/>
            <a:endCxn id="13" idx="3"/>
          </p:cNvCxnSpPr>
          <p:nvPr/>
        </p:nvCxnSpPr>
        <p:spPr>
          <a:xfrm flipH="1" flipV="1">
            <a:off x="2774052" y="2936710"/>
            <a:ext cx="157548" cy="1837697"/>
          </a:xfrm>
          <a:prstGeom prst="straightConnector1">
            <a:avLst/>
          </a:prstGeom>
          <a:ln w="50800" cap="flat" cmpd="sng" algn="ctr">
            <a:solidFill>
              <a:schemeClr val="accent4"/>
            </a:solidFill>
            <a:prstDash val="solid"/>
            <a:round/>
            <a:headEnd type="none" w="med" len="med"/>
            <a:tailEnd type="triangle" w="lg" len="lg"/>
          </a:ln>
        </p:spPr>
        <p:style>
          <a:lnRef idx="0">
            <a:scrgbClr r="0" g="0" b="0"/>
          </a:lnRef>
          <a:fillRef idx="0">
            <a:scrgbClr r="0" g="0" b="0"/>
          </a:fillRef>
          <a:effectRef idx="0">
            <a:scrgbClr r="0" g="0" b="0"/>
          </a:effectRef>
          <a:fontRef idx="minor">
            <a:schemeClr val="tx1"/>
          </a:fontRef>
        </p:style>
      </p:cxnSp>
      <p:cxnSp>
        <p:nvCxnSpPr>
          <p:cNvPr id="23" name="Straight Connector 22">
            <a:extLst>
              <a:ext uri="{FF2B5EF4-FFF2-40B4-BE49-F238E27FC236}">
                <a16:creationId xmlns:a16="http://schemas.microsoft.com/office/drawing/2014/main" id="{CC24982A-ACF4-A8B8-CB5F-C68EDB30C77A}"/>
              </a:ext>
            </a:extLst>
          </p:cNvPr>
          <p:cNvCxnSpPr>
            <a:cxnSpLocks/>
          </p:cNvCxnSpPr>
          <p:nvPr/>
        </p:nvCxnSpPr>
        <p:spPr>
          <a:xfrm>
            <a:off x="695325" y="3403137"/>
            <a:ext cx="0" cy="2035699"/>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846AD907-4564-EDEA-81BA-FF1C4F353FB1}"/>
              </a:ext>
            </a:extLst>
          </p:cNvPr>
          <p:cNvCxnSpPr>
            <a:cxnSpLocks/>
          </p:cNvCxnSpPr>
          <p:nvPr/>
        </p:nvCxnSpPr>
        <p:spPr>
          <a:xfrm>
            <a:off x="7550993" y="3403137"/>
            <a:ext cx="0" cy="2009445"/>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27" name="Oval 26">
            <a:extLst>
              <a:ext uri="{FF2B5EF4-FFF2-40B4-BE49-F238E27FC236}">
                <a16:creationId xmlns:a16="http://schemas.microsoft.com/office/drawing/2014/main" id="{160E24FD-3C56-90CD-4086-C21B24769929}"/>
              </a:ext>
            </a:extLst>
          </p:cNvPr>
          <p:cNvSpPr/>
          <p:nvPr/>
        </p:nvSpPr>
        <p:spPr>
          <a:xfrm>
            <a:off x="5349737" y="4547092"/>
            <a:ext cx="485775" cy="485775"/>
          </a:xfrm>
          <a:prstGeom prst="ellipse">
            <a:avLst/>
          </a:prstGeom>
          <a:ln w="60325">
            <a:solidFill>
              <a:srgbClr val="FF0000"/>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NL"/>
          </a:p>
        </p:txBody>
      </p:sp>
      <p:cxnSp>
        <p:nvCxnSpPr>
          <p:cNvPr id="45" name="Straight Arrow Connector 44">
            <a:extLst>
              <a:ext uri="{FF2B5EF4-FFF2-40B4-BE49-F238E27FC236}">
                <a16:creationId xmlns:a16="http://schemas.microsoft.com/office/drawing/2014/main" id="{BFE0CC9E-8E40-72AB-1A25-3C92E2568BF4}"/>
              </a:ext>
            </a:extLst>
          </p:cNvPr>
          <p:cNvCxnSpPr>
            <a:cxnSpLocks/>
            <a:endCxn id="13" idx="5"/>
          </p:cNvCxnSpPr>
          <p:nvPr/>
        </p:nvCxnSpPr>
        <p:spPr>
          <a:xfrm flipV="1">
            <a:off x="2925173" y="2936710"/>
            <a:ext cx="192374" cy="1837697"/>
          </a:xfrm>
          <a:prstGeom prst="straightConnector1">
            <a:avLst/>
          </a:prstGeom>
          <a:ln w="50800" cap="flat" cmpd="sng" algn="ctr">
            <a:solidFill>
              <a:schemeClr val="accent6"/>
            </a:solidFill>
            <a:prstDash val="solid"/>
            <a:round/>
            <a:headEnd type="none" w="med" len="med"/>
            <a:tailEnd type="triangle" w="lg" len="lg"/>
          </a:ln>
        </p:spPr>
        <p:style>
          <a:lnRef idx="0">
            <a:scrgbClr r="0" g="0" b="0"/>
          </a:lnRef>
          <a:fillRef idx="0">
            <a:scrgbClr r="0" g="0" b="0"/>
          </a:fillRef>
          <a:effectRef idx="0">
            <a:scrgbClr r="0" g="0" b="0"/>
          </a:effectRef>
          <a:fontRef idx="minor">
            <a:schemeClr val="tx1"/>
          </a:fontRef>
        </p:style>
      </p:cxnSp>
      <p:sp>
        <p:nvSpPr>
          <p:cNvPr id="15" name="Oval 14">
            <a:extLst>
              <a:ext uri="{FF2B5EF4-FFF2-40B4-BE49-F238E27FC236}">
                <a16:creationId xmlns:a16="http://schemas.microsoft.com/office/drawing/2014/main" id="{E2BDAADA-ED3B-01D6-48B0-3CFCACB53B24}"/>
              </a:ext>
            </a:extLst>
          </p:cNvPr>
          <p:cNvSpPr/>
          <p:nvPr/>
        </p:nvSpPr>
        <p:spPr>
          <a:xfrm>
            <a:off x="2702912" y="4516750"/>
            <a:ext cx="485775" cy="485775"/>
          </a:xfrm>
          <a:prstGeom prst="ellipse">
            <a:avLst/>
          </a:prstGeom>
          <a:ln w="60325">
            <a:solidFill>
              <a:srgbClr val="FF0000"/>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NL"/>
          </a:p>
        </p:txBody>
      </p:sp>
      <p:sp>
        <p:nvSpPr>
          <p:cNvPr id="51" name="TextBox 50">
            <a:extLst>
              <a:ext uri="{FF2B5EF4-FFF2-40B4-BE49-F238E27FC236}">
                <a16:creationId xmlns:a16="http://schemas.microsoft.com/office/drawing/2014/main" id="{373144B8-F1F8-4042-2014-CECB939EE957}"/>
              </a:ext>
            </a:extLst>
          </p:cNvPr>
          <p:cNvSpPr txBox="1"/>
          <p:nvPr/>
        </p:nvSpPr>
        <p:spPr>
          <a:xfrm>
            <a:off x="9886013" y="3909467"/>
            <a:ext cx="1148071" cy="307777"/>
          </a:xfrm>
          <a:prstGeom prst="rect">
            <a:avLst/>
          </a:prstGeom>
          <a:noFill/>
        </p:spPr>
        <p:txBody>
          <a:bodyPr wrap="square" rtlCol="0">
            <a:spAutoFit/>
          </a:bodyPr>
          <a:lstStyle/>
          <a:p>
            <a:r>
              <a:rPr lang="en-US" sz="1400" dirty="0">
                <a:latin typeface="Atkinson Hyperlegible" pitchFamily="2" charset="0"/>
              </a:rPr>
              <a:t>inconsistent</a:t>
            </a:r>
            <a:endParaRPr lang="en-NL" sz="1400" dirty="0">
              <a:latin typeface="Atkinson Hyperlegible" pitchFamily="2" charset="0"/>
            </a:endParaRPr>
          </a:p>
        </p:txBody>
      </p:sp>
      <p:sp>
        <p:nvSpPr>
          <p:cNvPr id="52" name="Oval 51">
            <a:extLst>
              <a:ext uri="{FF2B5EF4-FFF2-40B4-BE49-F238E27FC236}">
                <a16:creationId xmlns:a16="http://schemas.microsoft.com/office/drawing/2014/main" id="{9C614AA6-A2C2-BD8E-092D-4562A1E1FA19}"/>
              </a:ext>
            </a:extLst>
          </p:cNvPr>
          <p:cNvSpPr/>
          <p:nvPr/>
        </p:nvSpPr>
        <p:spPr>
          <a:xfrm>
            <a:off x="9327647" y="3939857"/>
            <a:ext cx="246997" cy="246997"/>
          </a:xfrm>
          <a:prstGeom prst="ellipse">
            <a:avLst/>
          </a:prstGeom>
          <a:solidFill>
            <a:schemeClr val="accent2"/>
          </a:solid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53" name="TextBox 52">
            <a:extLst>
              <a:ext uri="{FF2B5EF4-FFF2-40B4-BE49-F238E27FC236}">
                <a16:creationId xmlns:a16="http://schemas.microsoft.com/office/drawing/2014/main" id="{8786BB73-47C2-F587-957C-5524B9868148}"/>
              </a:ext>
            </a:extLst>
          </p:cNvPr>
          <p:cNvSpPr txBox="1"/>
          <p:nvPr/>
        </p:nvSpPr>
        <p:spPr>
          <a:xfrm>
            <a:off x="9886013" y="3508634"/>
            <a:ext cx="1000595" cy="307777"/>
          </a:xfrm>
          <a:prstGeom prst="rect">
            <a:avLst/>
          </a:prstGeom>
          <a:noFill/>
        </p:spPr>
        <p:txBody>
          <a:bodyPr wrap="none" rtlCol="0">
            <a:spAutoFit/>
          </a:bodyPr>
          <a:lstStyle/>
          <a:p>
            <a:r>
              <a:rPr lang="en-US" sz="1400" dirty="0">
                <a:latin typeface="Atkinson Hyperlegible" pitchFamily="2" charset="0"/>
              </a:rPr>
              <a:t>consistent</a:t>
            </a:r>
            <a:endParaRPr lang="en-NL" sz="1400" dirty="0">
              <a:latin typeface="Atkinson Hyperlegible" pitchFamily="2" charset="0"/>
            </a:endParaRPr>
          </a:p>
        </p:txBody>
      </p:sp>
      <p:sp>
        <p:nvSpPr>
          <p:cNvPr id="54" name="Oval 53">
            <a:extLst>
              <a:ext uri="{FF2B5EF4-FFF2-40B4-BE49-F238E27FC236}">
                <a16:creationId xmlns:a16="http://schemas.microsoft.com/office/drawing/2014/main" id="{0C4C65D4-A0CE-F2B8-888D-DBC15A98BD1B}"/>
              </a:ext>
            </a:extLst>
          </p:cNvPr>
          <p:cNvSpPr/>
          <p:nvPr/>
        </p:nvSpPr>
        <p:spPr>
          <a:xfrm>
            <a:off x="9314513" y="3539024"/>
            <a:ext cx="246997" cy="246997"/>
          </a:xfrm>
          <a:prstGeom prst="ellipse">
            <a:avLst/>
          </a:prstGeom>
          <a:solidFill>
            <a:schemeClr val="accent2"/>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NL" sz="1200"/>
          </a:p>
        </p:txBody>
      </p:sp>
    </p:spTree>
    <p:extLst>
      <p:ext uri="{BB962C8B-B14F-4D97-AF65-F5344CB8AC3E}">
        <p14:creationId xmlns:p14="http://schemas.microsoft.com/office/powerpoint/2010/main" val="247916763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AC2BB5-9E26-1BAA-A3C6-50F7ED33FC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A2476F-77C4-6BBB-617D-091878D197BE}"/>
              </a:ext>
            </a:extLst>
          </p:cNvPr>
          <p:cNvSpPr>
            <a:spLocks noGrp="1"/>
          </p:cNvSpPr>
          <p:nvPr>
            <p:ph type="title"/>
          </p:nvPr>
        </p:nvSpPr>
        <p:spPr/>
        <p:txBody>
          <a:bodyPr/>
          <a:lstStyle/>
          <a:p>
            <a:r>
              <a:rPr lang="en-US" dirty="0"/>
              <a:t>Context: Without HRI-SSI</a:t>
            </a:r>
            <a:endParaRPr lang="en-NL" dirty="0"/>
          </a:p>
        </p:txBody>
      </p:sp>
      <p:sp>
        <p:nvSpPr>
          <p:cNvPr id="4" name="Slide Number Placeholder 3">
            <a:extLst>
              <a:ext uri="{FF2B5EF4-FFF2-40B4-BE49-F238E27FC236}">
                <a16:creationId xmlns:a16="http://schemas.microsoft.com/office/drawing/2014/main" id="{109EE2A8-74E0-6495-9233-CD942A927715}"/>
              </a:ext>
            </a:extLst>
          </p:cNvPr>
          <p:cNvSpPr>
            <a:spLocks noGrp="1"/>
          </p:cNvSpPr>
          <p:nvPr>
            <p:ph type="sldNum" sz="quarter" idx="12"/>
          </p:nvPr>
        </p:nvSpPr>
        <p:spPr/>
        <p:txBody>
          <a:bodyPr/>
          <a:lstStyle/>
          <a:p>
            <a:fld id="{4FAB73BC-B049-4115-A692-8D63A059BFB8}" type="slidenum">
              <a:rPr lang="en-US" smtClean="0"/>
              <a:pPr/>
              <a:t>60</a:t>
            </a:fld>
            <a:endParaRPr lang="en-US" dirty="0"/>
          </a:p>
        </p:txBody>
      </p:sp>
      <p:cxnSp>
        <p:nvCxnSpPr>
          <p:cNvPr id="25" name="Straight Connector 24">
            <a:extLst>
              <a:ext uri="{FF2B5EF4-FFF2-40B4-BE49-F238E27FC236}">
                <a16:creationId xmlns:a16="http://schemas.microsoft.com/office/drawing/2014/main" id="{992A8098-C2A1-7ACE-96D0-A44BB57E51AB}"/>
              </a:ext>
            </a:extLst>
          </p:cNvPr>
          <p:cNvCxnSpPr>
            <a:cxnSpLocks/>
          </p:cNvCxnSpPr>
          <p:nvPr/>
        </p:nvCxnSpPr>
        <p:spPr>
          <a:xfrm>
            <a:off x="2440086" y="2514600"/>
            <a:ext cx="0" cy="2159000"/>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sp>
        <p:nvSpPr>
          <p:cNvPr id="30" name="Parallelogram 29">
            <a:extLst>
              <a:ext uri="{FF2B5EF4-FFF2-40B4-BE49-F238E27FC236}">
                <a16:creationId xmlns:a16="http://schemas.microsoft.com/office/drawing/2014/main" id="{007AA115-3EDC-8A33-1C6C-7B6E516B43DB}"/>
              </a:ext>
            </a:extLst>
          </p:cNvPr>
          <p:cNvSpPr/>
          <p:nvPr/>
        </p:nvSpPr>
        <p:spPr>
          <a:xfrm>
            <a:off x="982761" y="3153944"/>
            <a:ext cx="10229850" cy="1276350"/>
          </a:xfrm>
          <a:prstGeom prst="parallelogram">
            <a:avLst>
              <a:gd name="adj" fmla="val 113806"/>
            </a:avLst>
          </a:prstGeom>
          <a:solidFill>
            <a:srgbClr val="FFE4D9"/>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solidFill>
                <a:srgbClr val="FFE4D9"/>
              </a:solidFill>
            </a:endParaRPr>
          </a:p>
        </p:txBody>
      </p:sp>
      <p:sp>
        <p:nvSpPr>
          <p:cNvPr id="31" name="TextBox 30">
            <a:extLst>
              <a:ext uri="{FF2B5EF4-FFF2-40B4-BE49-F238E27FC236}">
                <a16:creationId xmlns:a16="http://schemas.microsoft.com/office/drawing/2014/main" id="{D08E2AB8-CCBB-F1C5-6CCA-9C85B56B225D}"/>
              </a:ext>
            </a:extLst>
          </p:cNvPr>
          <p:cNvSpPr txBox="1"/>
          <p:nvPr/>
        </p:nvSpPr>
        <p:spPr>
          <a:xfrm>
            <a:off x="1218930" y="4122517"/>
            <a:ext cx="1693092"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33" name="Parallelogram 32">
            <a:extLst>
              <a:ext uri="{FF2B5EF4-FFF2-40B4-BE49-F238E27FC236}">
                <a16:creationId xmlns:a16="http://schemas.microsoft.com/office/drawing/2014/main" id="{31509403-AD54-CD5A-1FD4-503ABA584155}"/>
              </a:ext>
            </a:extLst>
          </p:cNvPr>
          <p:cNvSpPr/>
          <p:nvPr/>
        </p:nvSpPr>
        <p:spPr>
          <a:xfrm>
            <a:off x="982761" y="4673600"/>
            <a:ext cx="10229850" cy="1276350"/>
          </a:xfrm>
          <a:prstGeom prst="parallelogram">
            <a:avLst>
              <a:gd name="adj" fmla="val 113806"/>
            </a:avLst>
          </a:prstGeom>
          <a:solidFill>
            <a:schemeClr val="accent4">
              <a:lumMod val="20000"/>
              <a:lumOff val="8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4" name="TextBox 33">
            <a:extLst>
              <a:ext uri="{FF2B5EF4-FFF2-40B4-BE49-F238E27FC236}">
                <a16:creationId xmlns:a16="http://schemas.microsoft.com/office/drawing/2014/main" id="{A4F65436-6958-E233-6189-C2EBD99D57FB}"/>
              </a:ext>
            </a:extLst>
          </p:cNvPr>
          <p:cNvSpPr txBox="1"/>
          <p:nvPr/>
        </p:nvSpPr>
        <p:spPr>
          <a:xfrm>
            <a:off x="1258204" y="5642173"/>
            <a:ext cx="1614545"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4"/>
                </a:solidFill>
              </a:rPr>
              <a:t>Datasets Columns</a:t>
            </a:r>
            <a:endParaRPr lang="en-NL" sz="1400" dirty="0">
              <a:solidFill>
                <a:schemeClr val="accent4"/>
              </a:solidFill>
            </a:endParaRPr>
          </a:p>
        </p:txBody>
      </p:sp>
      <p:cxnSp>
        <p:nvCxnSpPr>
          <p:cNvPr id="36" name="Straight Connector 35">
            <a:extLst>
              <a:ext uri="{FF2B5EF4-FFF2-40B4-BE49-F238E27FC236}">
                <a16:creationId xmlns:a16="http://schemas.microsoft.com/office/drawing/2014/main" id="{7D3DAE3C-A307-053F-8C25-3A60251F6120}"/>
              </a:ext>
            </a:extLst>
          </p:cNvPr>
          <p:cNvCxnSpPr>
            <a:cxnSpLocks/>
          </p:cNvCxnSpPr>
          <p:nvPr/>
        </p:nvCxnSpPr>
        <p:spPr>
          <a:xfrm>
            <a:off x="983453" y="2245519"/>
            <a:ext cx="0" cy="3704431"/>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87F2FDA5-4D3B-5D30-F929-6BC1E9C874A2}"/>
              </a:ext>
            </a:extLst>
          </p:cNvPr>
          <p:cNvCxnSpPr>
            <a:cxnSpLocks/>
          </p:cNvCxnSpPr>
          <p:nvPr/>
        </p:nvCxnSpPr>
        <p:spPr>
          <a:xfrm>
            <a:off x="11204086" y="2272464"/>
            <a:ext cx="0" cy="24011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02F5E637-4458-62ED-39DB-87B233AF7E78}"/>
              </a:ext>
            </a:extLst>
          </p:cNvPr>
          <p:cNvCxnSpPr>
            <a:cxnSpLocks/>
          </p:cNvCxnSpPr>
          <p:nvPr/>
        </p:nvCxnSpPr>
        <p:spPr>
          <a:xfrm>
            <a:off x="9762478" y="2438400"/>
            <a:ext cx="0" cy="3511550"/>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7876E27D-13FF-6932-7722-E71811E8A57C}"/>
              </a:ext>
            </a:extLst>
          </p:cNvPr>
          <p:cNvCxnSpPr>
            <a:cxnSpLocks/>
            <a:stCxn id="35" idx="7"/>
            <a:endCxn id="56" idx="3"/>
          </p:cNvCxnSpPr>
          <p:nvPr/>
        </p:nvCxnSpPr>
        <p:spPr>
          <a:xfrm flipV="1">
            <a:off x="3545914" y="3936925"/>
            <a:ext cx="876112" cy="877837"/>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EBA49B55-498D-EB84-DB12-6D9B96263E2A}"/>
              </a:ext>
            </a:extLst>
          </p:cNvPr>
          <p:cNvCxnSpPr>
            <a:cxnSpLocks/>
            <a:endCxn id="56" idx="4"/>
          </p:cNvCxnSpPr>
          <p:nvPr/>
        </p:nvCxnSpPr>
        <p:spPr>
          <a:xfrm flipH="1" flipV="1">
            <a:off x="4566833" y="3996906"/>
            <a:ext cx="383508" cy="1541880"/>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sp>
        <p:nvSpPr>
          <p:cNvPr id="23" name="Cloud 22">
            <a:extLst>
              <a:ext uri="{FF2B5EF4-FFF2-40B4-BE49-F238E27FC236}">
                <a16:creationId xmlns:a16="http://schemas.microsoft.com/office/drawing/2014/main" id="{CFA72CA3-C7F1-4E46-5598-5F8888ECAB7A}"/>
              </a:ext>
            </a:extLst>
          </p:cNvPr>
          <p:cNvSpPr/>
          <p:nvPr/>
        </p:nvSpPr>
        <p:spPr>
          <a:xfrm>
            <a:off x="982761" y="1899659"/>
            <a:ext cx="10229850" cy="719659"/>
          </a:xfrm>
          <a:prstGeom prst="cloud">
            <a:avLst/>
          </a:prstGeom>
          <a:solidFill>
            <a:schemeClr val="accent1">
              <a:lumMod val="20000"/>
              <a:lumOff val="80000"/>
              <a:alpha val="50000"/>
            </a:schemeClr>
          </a:solidFill>
          <a:ln>
            <a:solidFill>
              <a:schemeClr val="accent1">
                <a:lumMod val="20000"/>
                <a:lumOff val="80000"/>
                <a:alpha val="9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61" name="Straight Arrow Connector 60">
            <a:extLst>
              <a:ext uri="{FF2B5EF4-FFF2-40B4-BE49-F238E27FC236}">
                <a16:creationId xmlns:a16="http://schemas.microsoft.com/office/drawing/2014/main" id="{450524D1-7C69-6A3B-A90D-03CA4086B990}"/>
              </a:ext>
            </a:extLst>
          </p:cNvPr>
          <p:cNvCxnSpPr>
            <a:cxnSpLocks/>
            <a:endCxn id="58" idx="4"/>
          </p:cNvCxnSpPr>
          <p:nvPr/>
        </p:nvCxnSpPr>
        <p:spPr>
          <a:xfrm flipH="1" flipV="1">
            <a:off x="6014634" y="3677819"/>
            <a:ext cx="497686" cy="1317092"/>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grpSp>
        <p:nvGrpSpPr>
          <p:cNvPr id="80" name="Group 79">
            <a:extLst>
              <a:ext uri="{FF2B5EF4-FFF2-40B4-BE49-F238E27FC236}">
                <a16:creationId xmlns:a16="http://schemas.microsoft.com/office/drawing/2014/main" id="{835C54B6-F150-1490-FC5E-B05122565601}"/>
              </a:ext>
            </a:extLst>
          </p:cNvPr>
          <p:cNvGrpSpPr/>
          <p:nvPr/>
        </p:nvGrpSpPr>
        <p:grpSpPr>
          <a:xfrm>
            <a:off x="3196320" y="4754781"/>
            <a:ext cx="3542413" cy="409575"/>
            <a:chOff x="3196320" y="4783356"/>
            <a:chExt cx="3542413" cy="409575"/>
          </a:xfrm>
        </p:grpSpPr>
        <p:sp>
          <p:nvSpPr>
            <p:cNvPr id="35" name="Oval 34">
              <a:extLst>
                <a:ext uri="{FF2B5EF4-FFF2-40B4-BE49-F238E27FC236}">
                  <a16:creationId xmlns:a16="http://schemas.microsoft.com/office/drawing/2014/main" id="{E7BFA9C1-5BFD-F632-CA46-A11D01E4B566}"/>
                </a:ext>
              </a:extLst>
            </p:cNvPr>
            <p:cNvSpPr/>
            <p:nvPr/>
          </p:nvSpPr>
          <p:spPr>
            <a:xfrm>
              <a:off x="3196320" y="4783356"/>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D1</a:t>
              </a:r>
              <a:endParaRPr lang="en-NL" dirty="0"/>
            </a:p>
          </p:txBody>
        </p:sp>
        <p:sp>
          <p:nvSpPr>
            <p:cNvPr id="41" name="Oval 40">
              <a:extLst>
                <a:ext uri="{FF2B5EF4-FFF2-40B4-BE49-F238E27FC236}">
                  <a16:creationId xmlns:a16="http://schemas.microsoft.com/office/drawing/2014/main" id="{EEC6F5C5-00F4-8D5B-4953-35B2B89FA193}"/>
                </a:ext>
              </a:extLst>
            </p:cNvPr>
            <p:cNvSpPr/>
            <p:nvPr/>
          </p:nvSpPr>
          <p:spPr>
            <a:xfrm>
              <a:off x="6329158" y="4783356"/>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D2</a:t>
              </a:r>
              <a:endParaRPr lang="en-NL" dirty="0"/>
            </a:p>
          </p:txBody>
        </p:sp>
      </p:grpSp>
      <p:sp>
        <p:nvSpPr>
          <p:cNvPr id="52" name="Oval 51">
            <a:extLst>
              <a:ext uri="{FF2B5EF4-FFF2-40B4-BE49-F238E27FC236}">
                <a16:creationId xmlns:a16="http://schemas.microsoft.com/office/drawing/2014/main" id="{A6707F10-6717-8913-E5AC-9AF1F4B39608}"/>
              </a:ext>
            </a:extLst>
          </p:cNvPr>
          <p:cNvSpPr/>
          <p:nvPr/>
        </p:nvSpPr>
        <p:spPr>
          <a:xfrm>
            <a:off x="4762739" y="5457825"/>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D3</a:t>
            </a:r>
            <a:endParaRPr lang="en-NL" dirty="0"/>
          </a:p>
        </p:txBody>
      </p:sp>
      <p:cxnSp>
        <p:nvCxnSpPr>
          <p:cNvPr id="10" name="Straight Arrow Connector 9">
            <a:extLst>
              <a:ext uri="{FF2B5EF4-FFF2-40B4-BE49-F238E27FC236}">
                <a16:creationId xmlns:a16="http://schemas.microsoft.com/office/drawing/2014/main" id="{0A044824-E105-2412-2875-90E4517151A4}"/>
              </a:ext>
            </a:extLst>
          </p:cNvPr>
          <p:cNvCxnSpPr>
            <a:cxnSpLocks/>
            <a:stCxn id="56" idx="0"/>
            <a:endCxn id="17" idx="2"/>
          </p:cNvCxnSpPr>
          <p:nvPr/>
        </p:nvCxnSpPr>
        <p:spPr>
          <a:xfrm flipV="1">
            <a:off x="4566833" y="2531926"/>
            <a:ext cx="6193" cy="1055405"/>
          </a:xfrm>
          <a:prstGeom prst="straightConnector1">
            <a:avLst/>
          </a:prstGeom>
          <a:ln w="38100">
            <a:solidFill>
              <a:schemeClr val="tx1">
                <a:lumMod val="50000"/>
                <a:lumOff val="50000"/>
              </a:schemeClr>
            </a:solidFill>
            <a:prstDash val="sysDot"/>
            <a:tailEnd type="triangle" w="lg" len="med"/>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367A56F2-FA86-C31F-974D-57A111899889}"/>
              </a:ext>
            </a:extLst>
          </p:cNvPr>
          <p:cNvCxnSpPr>
            <a:cxnSpLocks/>
            <a:endCxn id="18" idx="2"/>
          </p:cNvCxnSpPr>
          <p:nvPr/>
        </p:nvCxnSpPr>
        <p:spPr>
          <a:xfrm flipV="1">
            <a:off x="6013393" y="2532380"/>
            <a:ext cx="1694" cy="735864"/>
          </a:xfrm>
          <a:prstGeom prst="straightConnector1">
            <a:avLst/>
          </a:prstGeom>
          <a:ln w="38100">
            <a:solidFill>
              <a:schemeClr val="tx1">
                <a:lumMod val="50000"/>
                <a:lumOff val="50000"/>
              </a:schemeClr>
            </a:solidFill>
            <a:prstDash val="sysDot"/>
            <a:tailEnd type="triangle" w="lg" len="med"/>
          </a:ln>
        </p:spPr>
        <p:style>
          <a:lnRef idx="1">
            <a:schemeClr val="accent1"/>
          </a:lnRef>
          <a:fillRef idx="0">
            <a:schemeClr val="accent1"/>
          </a:fillRef>
          <a:effectRef idx="0">
            <a:schemeClr val="accent1"/>
          </a:effectRef>
          <a:fontRef idx="minor">
            <a:schemeClr val="tx1"/>
          </a:fontRef>
        </p:style>
      </p:cxnSp>
      <p:sp>
        <p:nvSpPr>
          <p:cNvPr id="56" name="Oval 55">
            <a:extLst>
              <a:ext uri="{FF2B5EF4-FFF2-40B4-BE49-F238E27FC236}">
                <a16:creationId xmlns:a16="http://schemas.microsoft.com/office/drawing/2014/main" id="{9091BA02-2C5F-1FF2-08E7-1FA8152CA2EC}"/>
              </a:ext>
            </a:extLst>
          </p:cNvPr>
          <p:cNvSpPr/>
          <p:nvPr/>
        </p:nvSpPr>
        <p:spPr>
          <a:xfrm>
            <a:off x="4362045" y="3587331"/>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C1</a:t>
            </a:r>
            <a:endParaRPr lang="en-NL" dirty="0"/>
          </a:p>
        </p:txBody>
      </p:sp>
      <p:sp>
        <p:nvSpPr>
          <p:cNvPr id="58" name="Oval 57">
            <a:extLst>
              <a:ext uri="{FF2B5EF4-FFF2-40B4-BE49-F238E27FC236}">
                <a16:creationId xmlns:a16="http://schemas.microsoft.com/office/drawing/2014/main" id="{4CE8F303-68ED-91C7-23A7-21E25A567DA9}"/>
              </a:ext>
            </a:extLst>
          </p:cNvPr>
          <p:cNvSpPr/>
          <p:nvPr/>
        </p:nvSpPr>
        <p:spPr>
          <a:xfrm>
            <a:off x="5809846" y="326824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C2</a:t>
            </a:r>
            <a:endParaRPr lang="en-NL" dirty="0"/>
          </a:p>
        </p:txBody>
      </p:sp>
      <p:cxnSp>
        <p:nvCxnSpPr>
          <p:cNvPr id="40" name="Straight Arrow Connector 39">
            <a:extLst>
              <a:ext uri="{FF2B5EF4-FFF2-40B4-BE49-F238E27FC236}">
                <a16:creationId xmlns:a16="http://schemas.microsoft.com/office/drawing/2014/main" id="{84531438-4E3E-D734-93EE-9713C4F0D5A3}"/>
              </a:ext>
            </a:extLst>
          </p:cNvPr>
          <p:cNvCxnSpPr>
            <a:cxnSpLocks/>
            <a:stCxn id="35" idx="6"/>
            <a:endCxn id="41" idx="2"/>
          </p:cNvCxnSpPr>
          <p:nvPr/>
        </p:nvCxnSpPr>
        <p:spPr>
          <a:xfrm>
            <a:off x="3605895" y="4959569"/>
            <a:ext cx="2723263" cy="0"/>
          </a:xfrm>
          <a:prstGeom prst="straightConnector1">
            <a:avLst/>
          </a:prstGeom>
          <a:ln w="38100" cap="rnd">
            <a:solidFill>
              <a:schemeClr val="accent2"/>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grpSp>
        <p:nvGrpSpPr>
          <p:cNvPr id="49" name="Group 48">
            <a:extLst>
              <a:ext uri="{FF2B5EF4-FFF2-40B4-BE49-F238E27FC236}">
                <a16:creationId xmlns:a16="http://schemas.microsoft.com/office/drawing/2014/main" id="{323F69BE-EA9D-61C3-AF85-E2E72F447B71}"/>
              </a:ext>
            </a:extLst>
          </p:cNvPr>
          <p:cNvGrpSpPr/>
          <p:nvPr/>
        </p:nvGrpSpPr>
        <p:grpSpPr>
          <a:xfrm>
            <a:off x="5227157" y="4722019"/>
            <a:ext cx="914400" cy="914400"/>
            <a:chOff x="4493141" y="273788"/>
            <a:chExt cx="914400" cy="914400"/>
          </a:xfrm>
        </p:grpSpPr>
        <p:sp>
          <p:nvSpPr>
            <p:cNvPr id="48" name="Oval 47">
              <a:extLst>
                <a:ext uri="{FF2B5EF4-FFF2-40B4-BE49-F238E27FC236}">
                  <a16:creationId xmlns:a16="http://schemas.microsoft.com/office/drawing/2014/main" id="{AC65ED4A-A6A7-BC16-624E-3E521A84DD79}"/>
                </a:ext>
              </a:extLst>
            </p:cNvPr>
            <p:cNvSpPr/>
            <p:nvPr/>
          </p:nvSpPr>
          <p:spPr>
            <a:xfrm>
              <a:off x="4630335" y="410982"/>
              <a:ext cx="640013" cy="640013"/>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pic>
          <p:nvPicPr>
            <p:cNvPr id="47" name="Graphic 46" descr="Badge Question Mark with solid fill">
              <a:extLst>
                <a:ext uri="{FF2B5EF4-FFF2-40B4-BE49-F238E27FC236}">
                  <a16:creationId xmlns:a16="http://schemas.microsoft.com/office/drawing/2014/main" id="{3AF84DE5-FA73-CB56-2AF4-4925390458D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493141" y="273788"/>
              <a:ext cx="914400" cy="914400"/>
            </a:xfrm>
            <a:prstGeom prst="rect">
              <a:avLst/>
            </a:prstGeom>
          </p:spPr>
        </p:pic>
      </p:grpSp>
      <p:sp>
        <p:nvSpPr>
          <p:cNvPr id="13" name="TextBox 12">
            <a:extLst>
              <a:ext uri="{FF2B5EF4-FFF2-40B4-BE49-F238E27FC236}">
                <a16:creationId xmlns:a16="http://schemas.microsoft.com/office/drawing/2014/main" id="{840DB529-0A74-2D97-1AF4-1D75E2639F4C}"/>
              </a:ext>
            </a:extLst>
          </p:cNvPr>
          <p:cNvSpPr txBox="1"/>
          <p:nvPr/>
        </p:nvSpPr>
        <p:spPr>
          <a:xfrm>
            <a:off x="2271462" y="2059433"/>
            <a:ext cx="1281120" cy="400110"/>
          </a:xfrm>
          <a:prstGeom prst="rect">
            <a:avLst/>
          </a:prstGeom>
          <a:noFill/>
        </p:spPr>
        <p:txBody>
          <a:bodyPr wrap="none" rtlCol="0">
            <a:spAutoFit/>
          </a:bodyPr>
          <a:lstStyle>
            <a:defPPr>
              <a:defRPr lang="en-NL"/>
            </a:defPPr>
            <a:lvl1pPr>
              <a:defRPr>
                <a:latin typeface="Atkinson Hyperlegible" pitchFamily="2" charset="0"/>
              </a:defRPr>
            </a:lvl1pPr>
          </a:lstStyle>
          <a:p>
            <a:r>
              <a:rPr lang="en-US" sz="2000" dirty="0">
                <a:solidFill>
                  <a:schemeClr val="accent1"/>
                </a:solidFill>
              </a:rPr>
              <a:t>Meanings</a:t>
            </a:r>
            <a:endParaRPr lang="en-NL" sz="2000" dirty="0">
              <a:solidFill>
                <a:schemeClr val="accent1"/>
              </a:solidFill>
            </a:endParaRPr>
          </a:p>
        </p:txBody>
      </p:sp>
      <p:pic>
        <p:nvPicPr>
          <p:cNvPr id="17" name="Graphic 16" descr="Badge Question Mark with solid fill">
            <a:extLst>
              <a:ext uri="{FF2B5EF4-FFF2-40B4-BE49-F238E27FC236}">
                <a16:creationId xmlns:a16="http://schemas.microsoft.com/office/drawing/2014/main" id="{8E4261B7-D2CF-94F1-C14E-A69CB223739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317880" y="2021634"/>
            <a:ext cx="510292" cy="510292"/>
          </a:xfrm>
          <a:prstGeom prst="rect">
            <a:avLst/>
          </a:prstGeom>
        </p:spPr>
      </p:pic>
      <p:pic>
        <p:nvPicPr>
          <p:cNvPr id="18" name="Graphic 17" descr="Badge Question Mark with solid fill">
            <a:extLst>
              <a:ext uri="{FF2B5EF4-FFF2-40B4-BE49-F238E27FC236}">
                <a16:creationId xmlns:a16="http://schemas.microsoft.com/office/drawing/2014/main" id="{D1E4CA47-38E2-1D41-A945-BD226994804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759487" y="2021180"/>
            <a:ext cx="511200" cy="511200"/>
          </a:xfrm>
          <a:prstGeom prst="rect">
            <a:avLst/>
          </a:prstGeom>
        </p:spPr>
      </p:pic>
      <p:cxnSp>
        <p:nvCxnSpPr>
          <p:cNvPr id="3" name="Connector: Curved 2">
            <a:extLst>
              <a:ext uri="{FF2B5EF4-FFF2-40B4-BE49-F238E27FC236}">
                <a16:creationId xmlns:a16="http://schemas.microsoft.com/office/drawing/2014/main" id="{87A2B46C-F4FF-530C-86A0-89B7E829F564}"/>
              </a:ext>
            </a:extLst>
          </p:cNvPr>
          <p:cNvCxnSpPr/>
          <p:nvPr/>
        </p:nvCxnSpPr>
        <p:spPr>
          <a:xfrm rot="10800000">
            <a:off x="3401109" y="5164357"/>
            <a:ext cx="1361631" cy="498257"/>
          </a:xfrm>
          <a:prstGeom prst="curvedConnector2">
            <a:avLst/>
          </a:prstGeom>
          <a:ln w="38100" cap="rnd">
            <a:solidFill>
              <a:srgbClr val="00B050"/>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0DCF520C-3041-D8F2-1A23-5862A59E9123}"/>
              </a:ext>
            </a:extLst>
          </p:cNvPr>
          <p:cNvSpPr txBox="1"/>
          <p:nvPr/>
        </p:nvSpPr>
        <p:spPr>
          <a:xfrm>
            <a:off x="695327" y="1629852"/>
            <a:ext cx="4501104" cy="584775"/>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none" rtlCol="0">
            <a:spAutoFit/>
          </a:bodyPr>
          <a:lstStyle/>
          <a:p>
            <a:r>
              <a:rPr lang="en-US" sz="3200" dirty="0">
                <a:solidFill>
                  <a:schemeClr val="bg1"/>
                </a:solidFill>
              </a:rPr>
              <a:t>Same problem as before</a:t>
            </a:r>
            <a:endParaRPr lang="en-NL" sz="3200" dirty="0">
              <a:solidFill>
                <a:schemeClr val="bg1"/>
              </a:solidFill>
            </a:endParaRPr>
          </a:p>
        </p:txBody>
      </p:sp>
      <p:cxnSp>
        <p:nvCxnSpPr>
          <p:cNvPr id="6" name="Straight Arrow Connector 5">
            <a:extLst>
              <a:ext uri="{FF2B5EF4-FFF2-40B4-BE49-F238E27FC236}">
                <a16:creationId xmlns:a16="http://schemas.microsoft.com/office/drawing/2014/main" id="{6BF69B6C-3236-D7AE-6D8A-DB190E51F93E}"/>
              </a:ext>
            </a:extLst>
          </p:cNvPr>
          <p:cNvCxnSpPr>
            <a:cxnSpLocks/>
            <a:stCxn id="52" idx="6"/>
            <a:endCxn id="41" idx="3"/>
          </p:cNvCxnSpPr>
          <p:nvPr/>
        </p:nvCxnSpPr>
        <p:spPr>
          <a:xfrm flipV="1">
            <a:off x="5172314" y="5104375"/>
            <a:ext cx="1216825" cy="558238"/>
          </a:xfrm>
          <a:prstGeom prst="straightConnector1">
            <a:avLst/>
          </a:prstGeom>
          <a:ln w="38100" cap="rnd">
            <a:solidFill>
              <a:schemeClr val="accent2"/>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7A8068D5-A2A9-B2C9-DC40-DF1870CDFE6B}"/>
              </a:ext>
            </a:extLst>
          </p:cNvPr>
          <p:cNvCxnSpPr>
            <a:cxnSpLocks/>
            <a:stCxn id="56" idx="6"/>
            <a:endCxn id="58" idx="2"/>
          </p:cNvCxnSpPr>
          <p:nvPr/>
        </p:nvCxnSpPr>
        <p:spPr>
          <a:xfrm flipV="1">
            <a:off x="4771620" y="3473032"/>
            <a:ext cx="1038226" cy="319087"/>
          </a:xfrm>
          <a:prstGeom prst="straightConnector1">
            <a:avLst/>
          </a:prstGeom>
          <a:ln w="38100" cap="rnd">
            <a:solidFill>
              <a:schemeClr val="accent2"/>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73A3CB7F-A0F1-DF4A-116B-E1D2D0ABB196}"/>
              </a:ext>
            </a:extLst>
          </p:cNvPr>
          <p:cNvSpPr txBox="1"/>
          <p:nvPr/>
        </p:nvSpPr>
        <p:spPr>
          <a:xfrm>
            <a:off x="3838682" y="3219456"/>
            <a:ext cx="1824154" cy="307777"/>
          </a:xfrm>
          <a:prstGeom prst="rect">
            <a:avLst/>
          </a:prstGeom>
          <a:noFill/>
        </p:spPr>
        <p:txBody>
          <a:bodyPr wrap="none" rtlCol="0">
            <a:spAutoFit/>
          </a:bodyPr>
          <a:lstStyle/>
          <a:p>
            <a:r>
              <a:rPr lang="en-US" sz="1400" b="1" dirty="0"/>
              <a:t>proposed alignment</a:t>
            </a:r>
            <a:endParaRPr lang="en-NL" sz="1400" b="1" dirty="0"/>
          </a:p>
        </p:txBody>
      </p:sp>
      <p:sp>
        <p:nvSpPr>
          <p:cNvPr id="21" name="TextBox 20">
            <a:extLst>
              <a:ext uri="{FF2B5EF4-FFF2-40B4-BE49-F238E27FC236}">
                <a16:creationId xmlns:a16="http://schemas.microsoft.com/office/drawing/2014/main" id="{F9B35051-001B-EB72-6F72-892C219E5CE1}"/>
              </a:ext>
            </a:extLst>
          </p:cNvPr>
          <p:cNvSpPr txBox="1"/>
          <p:nvPr/>
        </p:nvSpPr>
        <p:spPr>
          <a:xfrm>
            <a:off x="6597323" y="3353075"/>
            <a:ext cx="4656275" cy="1200329"/>
          </a:xfrm>
          <a:prstGeom prst="rect">
            <a:avLst/>
          </a:prstGeom>
          <a:noFill/>
        </p:spPr>
        <p:txBody>
          <a:bodyPr wrap="none" rtlCol="0">
            <a:spAutoFit/>
          </a:bodyPr>
          <a:lstStyle/>
          <a:p>
            <a:r>
              <a:rPr lang="en-US" dirty="0"/>
              <a:t>By applying the proposed mapping:</a:t>
            </a:r>
          </a:p>
          <a:p>
            <a:r>
              <a:rPr lang="en-US" dirty="0"/>
              <a:t>- If they map the same meaning, consistent</a:t>
            </a:r>
          </a:p>
          <a:p>
            <a:r>
              <a:rPr lang="en-US" dirty="0"/>
              <a:t>- If they map different meanings, inconsistent</a:t>
            </a:r>
          </a:p>
          <a:p>
            <a:endParaRPr lang="en-NL" dirty="0"/>
          </a:p>
        </p:txBody>
      </p:sp>
    </p:spTree>
    <p:extLst>
      <p:ext uri="{BB962C8B-B14F-4D97-AF65-F5344CB8AC3E}">
        <p14:creationId xmlns:p14="http://schemas.microsoft.com/office/powerpoint/2010/main" val="332422404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9CD87E-F473-D61B-C850-A4482DD934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4A535B-7362-5E4C-31B3-06562E33C556}"/>
              </a:ext>
            </a:extLst>
          </p:cNvPr>
          <p:cNvSpPr>
            <a:spLocks noGrp="1"/>
          </p:cNvSpPr>
          <p:nvPr>
            <p:ph type="title"/>
          </p:nvPr>
        </p:nvSpPr>
        <p:spPr/>
        <p:txBody>
          <a:bodyPr/>
          <a:lstStyle/>
          <a:p>
            <a:r>
              <a:rPr lang="en-US" dirty="0"/>
              <a:t>Context: With HRI-SSI</a:t>
            </a:r>
            <a:endParaRPr lang="en-NL" dirty="0"/>
          </a:p>
        </p:txBody>
      </p:sp>
      <p:sp>
        <p:nvSpPr>
          <p:cNvPr id="4" name="Slide Number Placeholder 3">
            <a:extLst>
              <a:ext uri="{FF2B5EF4-FFF2-40B4-BE49-F238E27FC236}">
                <a16:creationId xmlns:a16="http://schemas.microsoft.com/office/drawing/2014/main" id="{9BC66098-43BB-DB48-811F-16227A5431D8}"/>
              </a:ext>
            </a:extLst>
          </p:cNvPr>
          <p:cNvSpPr>
            <a:spLocks noGrp="1"/>
          </p:cNvSpPr>
          <p:nvPr>
            <p:ph type="sldNum" sz="quarter" idx="12"/>
          </p:nvPr>
        </p:nvSpPr>
        <p:spPr/>
        <p:txBody>
          <a:bodyPr/>
          <a:lstStyle/>
          <a:p>
            <a:fld id="{4FAB73BC-B049-4115-A692-8D63A059BFB8}" type="slidenum">
              <a:rPr lang="en-US" smtClean="0"/>
              <a:pPr/>
              <a:t>61</a:t>
            </a:fld>
            <a:endParaRPr lang="en-US" dirty="0"/>
          </a:p>
        </p:txBody>
      </p:sp>
      <p:cxnSp>
        <p:nvCxnSpPr>
          <p:cNvPr id="25" name="Straight Connector 24">
            <a:extLst>
              <a:ext uri="{FF2B5EF4-FFF2-40B4-BE49-F238E27FC236}">
                <a16:creationId xmlns:a16="http://schemas.microsoft.com/office/drawing/2014/main" id="{ECDF43AE-9D1F-D3EC-475D-73BC3A18F212}"/>
              </a:ext>
            </a:extLst>
          </p:cNvPr>
          <p:cNvCxnSpPr>
            <a:cxnSpLocks/>
          </p:cNvCxnSpPr>
          <p:nvPr/>
        </p:nvCxnSpPr>
        <p:spPr>
          <a:xfrm>
            <a:off x="2440086" y="1634289"/>
            <a:ext cx="0" cy="3039311"/>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sp>
        <p:nvSpPr>
          <p:cNvPr id="30" name="Parallelogram 29">
            <a:extLst>
              <a:ext uri="{FF2B5EF4-FFF2-40B4-BE49-F238E27FC236}">
                <a16:creationId xmlns:a16="http://schemas.microsoft.com/office/drawing/2014/main" id="{24525375-0F3F-2B30-A0B2-BA8E8272E247}"/>
              </a:ext>
            </a:extLst>
          </p:cNvPr>
          <p:cNvSpPr/>
          <p:nvPr/>
        </p:nvSpPr>
        <p:spPr>
          <a:xfrm>
            <a:off x="982761" y="3153944"/>
            <a:ext cx="10229850" cy="1276350"/>
          </a:xfrm>
          <a:prstGeom prst="parallelogram">
            <a:avLst>
              <a:gd name="adj" fmla="val 113806"/>
            </a:avLst>
          </a:prstGeom>
          <a:solidFill>
            <a:srgbClr val="FFE4D9"/>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solidFill>
                <a:srgbClr val="FFE4D9"/>
              </a:solidFill>
            </a:endParaRPr>
          </a:p>
        </p:txBody>
      </p:sp>
      <p:sp>
        <p:nvSpPr>
          <p:cNvPr id="31" name="TextBox 30">
            <a:extLst>
              <a:ext uri="{FF2B5EF4-FFF2-40B4-BE49-F238E27FC236}">
                <a16:creationId xmlns:a16="http://schemas.microsoft.com/office/drawing/2014/main" id="{6883146A-A8E4-1CF7-5112-5BBDBDCB2DDD}"/>
              </a:ext>
            </a:extLst>
          </p:cNvPr>
          <p:cNvSpPr txBox="1"/>
          <p:nvPr/>
        </p:nvSpPr>
        <p:spPr>
          <a:xfrm>
            <a:off x="1218930" y="4122517"/>
            <a:ext cx="1693092"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33" name="Parallelogram 32">
            <a:extLst>
              <a:ext uri="{FF2B5EF4-FFF2-40B4-BE49-F238E27FC236}">
                <a16:creationId xmlns:a16="http://schemas.microsoft.com/office/drawing/2014/main" id="{2561F719-58BE-B679-F7BF-56B11B8DEBCB}"/>
              </a:ext>
            </a:extLst>
          </p:cNvPr>
          <p:cNvSpPr/>
          <p:nvPr/>
        </p:nvSpPr>
        <p:spPr>
          <a:xfrm>
            <a:off x="982761" y="4673600"/>
            <a:ext cx="10229850" cy="1276350"/>
          </a:xfrm>
          <a:prstGeom prst="parallelogram">
            <a:avLst>
              <a:gd name="adj" fmla="val 113806"/>
            </a:avLst>
          </a:prstGeom>
          <a:solidFill>
            <a:schemeClr val="accent4">
              <a:lumMod val="20000"/>
              <a:lumOff val="8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4" name="TextBox 33">
            <a:extLst>
              <a:ext uri="{FF2B5EF4-FFF2-40B4-BE49-F238E27FC236}">
                <a16:creationId xmlns:a16="http://schemas.microsoft.com/office/drawing/2014/main" id="{FF42E3F9-43C4-7013-971D-2792F80428BE}"/>
              </a:ext>
            </a:extLst>
          </p:cNvPr>
          <p:cNvSpPr txBox="1"/>
          <p:nvPr/>
        </p:nvSpPr>
        <p:spPr>
          <a:xfrm>
            <a:off x="1258204" y="5642173"/>
            <a:ext cx="1614545"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4"/>
                </a:solidFill>
              </a:rPr>
              <a:t>Datasets Columns</a:t>
            </a:r>
            <a:endParaRPr lang="en-NL" sz="1400" dirty="0">
              <a:solidFill>
                <a:schemeClr val="accent4"/>
              </a:solidFill>
            </a:endParaRPr>
          </a:p>
        </p:txBody>
      </p:sp>
      <p:cxnSp>
        <p:nvCxnSpPr>
          <p:cNvPr id="36" name="Straight Connector 35">
            <a:extLst>
              <a:ext uri="{FF2B5EF4-FFF2-40B4-BE49-F238E27FC236}">
                <a16:creationId xmlns:a16="http://schemas.microsoft.com/office/drawing/2014/main" id="{B4411E62-899E-FD83-4727-A2D790DD59BA}"/>
              </a:ext>
            </a:extLst>
          </p:cNvPr>
          <p:cNvCxnSpPr>
            <a:cxnSpLocks/>
          </p:cNvCxnSpPr>
          <p:nvPr/>
        </p:nvCxnSpPr>
        <p:spPr>
          <a:xfrm>
            <a:off x="983453" y="2910638"/>
            <a:ext cx="0" cy="3039312"/>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89DDE4C0-618D-66F2-80E9-BCE1AF8E7849}"/>
              </a:ext>
            </a:extLst>
          </p:cNvPr>
          <p:cNvCxnSpPr>
            <a:cxnSpLocks/>
          </p:cNvCxnSpPr>
          <p:nvPr/>
        </p:nvCxnSpPr>
        <p:spPr>
          <a:xfrm>
            <a:off x="11204086" y="1634289"/>
            <a:ext cx="0" cy="3039311"/>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62396ADF-98F3-F960-143A-4F33B2783FD5}"/>
              </a:ext>
            </a:extLst>
          </p:cNvPr>
          <p:cNvCxnSpPr>
            <a:cxnSpLocks/>
          </p:cNvCxnSpPr>
          <p:nvPr/>
        </p:nvCxnSpPr>
        <p:spPr>
          <a:xfrm>
            <a:off x="9762478" y="2438400"/>
            <a:ext cx="0" cy="3511550"/>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38D5D2E3-2BE2-8524-AA20-80E20675E985}"/>
              </a:ext>
            </a:extLst>
          </p:cNvPr>
          <p:cNvCxnSpPr>
            <a:cxnSpLocks/>
            <a:stCxn id="35" idx="7"/>
            <a:endCxn id="56" idx="3"/>
          </p:cNvCxnSpPr>
          <p:nvPr/>
        </p:nvCxnSpPr>
        <p:spPr>
          <a:xfrm flipV="1">
            <a:off x="3545914" y="3936925"/>
            <a:ext cx="876112" cy="877837"/>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D09240FD-EADF-B8DD-55AD-32B234FBEC60}"/>
              </a:ext>
            </a:extLst>
          </p:cNvPr>
          <p:cNvCxnSpPr>
            <a:cxnSpLocks/>
            <a:endCxn id="56" idx="4"/>
          </p:cNvCxnSpPr>
          <p:nvPr/>
        </p:nvCxnSpPr>
        <p:spPr>
          <a:xfrm flipH="1" flipV="1">
            <a:off x="4566833" y="3996906"/>
            <a:ext cx="383508" cy="1541880"/>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47802703-F1AB-BB12-07B7-4DBD9A3D5C93}"/>
              </a:ext>
            </a:extLst>
          </p:cNvPr>
          <p:cNvCxnSpPr>
            <a:cxnSpLocks/>
            <a:endCxn id="58" idx="4"/>
          </p:cNvCxnSpPr>
          <p:nvPr/>
        </p:nvCxnSpPr>
        <p:spPr>
          <a:xfrm flipH="1" flipV="1">
            <a:off x="6014634" y="3677819"/>
            <a:ext cx="497686" cy="1317092"/>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grpSp>
        <p:nvGrpSpPr>
          <p:cNvPr id="80" name="Group 79">
            <a:extLst>
              <a:ext uri="{FF2B5EF4-FFF2-40B4-BE49-F238E27FC236}">
                <a16:creationId xmlns:a16="http://schemas.microsoft.com/office/drawing/2014/main" id="{DD3391AE-8B7B-8FC0-2960-0E9A147DB79B}"/>
              </a:ext>
            </a:extLst>
          </p:cNvPr>
          <p:cNvGrpSpPr/>
          <p:nvPr/>
        </p:nvGrpSpPr>
        <p:grpSpPr>
          <a:xfrm>
            <a:off x="3196320" y="4754781"/>
            <a:ext cx="3542413" cy="409575"/>
            <a:chOff x="3196320" y="4783356"/>
            <a:chExt cx="3542413" cy="409575"/>
          </a:xfrm>
        </p:grpSpPr>
        <p:sp>
          <p:nvSpPr>
            <p:cNvPr id="35" name="Oval 34">
              <a:extLst>
                <a:ext uri="{FF2B5EF4-FFF2-40B4-BE49-F238E27FC236}">
                  <a16:creationId xmlns:a16="http://schemas.microsoft.com/office/drawing/2014/main" id="{375BE64A-43DB-7788-A367-60A50B736F0F}"/>
                </a:ext>
              </a:extLst>
            </p:cNvPr>
            <p:cNvSpPr/>
            <p:nvPr/>
          </p:nvSpPr>
          <p:spPr>
            <a:xfrm>
              <a:off x="3196320" y="4783356"/>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D1</a:t>
              </a:r>
              <a:endParaRPr lang="en-NL" dirty="0"/>
            </a:p>
          </p:txBody>
        </p:sp>
        <p:sp>
          <p:nvSpPr>
            <p:cNvPr id="41" name="Oval 40">
              <a:extLst>
                <a:ext uri="{FF2B5EF4-FFF2-40B4-BE49-F238E27FC236}">
                  <a16:creationId xmlns:a16="http://schemas.microsoft.com/office/drawing/2014/main" id="{FD839637-F54E-C4E4-4CB6-59E26D878C2E}"/>
                </a:ext>
              </a:extLst>
            </p:cNvPr>
            <p:cNvSpPr/>
            <p:nvPr/>
          </p:nvSpPr>
          <p:spPr>
            <a:xfrm>
              <a:off x="6329158" y="4783356"/>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D2</a:t>
              </a:r>
              <a:endParaRPr lang="en-NL" dirty="0"/>
            </a:p>
          </p:txBody>
        </p:sp>
      </p:grpSp>
      <p:sp>
        <p:nvSpPr>
          <p:cNvPr id="52" name="Oval 51">
            <a:extLst>
              <a:ext uri="{FF2B5EF4-FFF2-40B4-BE49-F238E27FC236}">
                <a16:creationId xmlns:a16="http://schemas.microsoft.com/office/drawing/2014/main" id="{7AD6C54E-B50F-A8EC-77E1-67F357449EEA}"/>
              </a:ext>
            </a:extLst>
          </p:cNvPr>
          <p:cNvSpPr/>
          <p:nvPr/>
        </p:nvSpPr>
        <p:spPr>
          <a:xfrm>
            <a:off x="4762739" y="5457825"/>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D3</a:t>
            </a:r>
            <a:endParaRPr lang="en-NL" dirty="0"/>
          </a:p>
        </p:txBody>
      </p:sp>
      <p:sp>
        <p:nvSpPr>
          <p:cNvPr id="56" name="Oval 55">
            <a:extLst>
              <a:ext uri="{FF2B5EF4-FFF2-40B4-BE49-F238E27FC236}">
                <a16:creationId xmlns:a16="http://schemas.microsoft.com/office/drawing/2014/main" id="{407E95DD-407A-6298-0B2F-1FA9FB6372B8}"/>
              </a:ext>
            </a:extLst>
          </p:cNvPr>
          <p:cNvSpPr/>
          <p:nvPr/>
        </p:nvSpPr>
        <p:spPr>
          <a:xfrm>
            <a:off x="4362045" y="3587331"/>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C1</a:t>
            </a:r>
            <a:endParaRPr lang="en-NL" dirty="0"/>
          </a:p>
        </p:txBody>
      </p:sp>
      <p:sp>
        <p:nvSpPr>
          <p:cNvPr id="58" name="Oval 57">
            <a:extLst>
              <a:ext uri="{FF2B5EF4-FFF2-40B4-BE49-F238E27FC236}">
                <a16:creationId xmlns:a16="http://schemas.microsoft.com/office/drawing/2014/main" id="{89399F18-0D9D-4644-2763-A33411BB19DA}"/>
              </a:ext>
            </a:extLst>
          </p:cNvPr>
          <p:cNvSpPr/>
          <p:nvPr/>
        </p:nvSpPr>
        <p:spPr>
          <a:xfrm>
            <a:off x="5809846" y="326824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C2</a:t>
            </a:r>
            <a:endParaRPr lang="en-NL" dirty="0"/>
          </a:p>
        </p:txBody>
      </p:sp>
      <p:cxnSp>
        <p:nvCxnSpPr>
          <p:cNvPr id="40" name="Straight Arrow Connector 39">
            <a:extLst>
              <a:ext uri="{FF2B5EF4-FFF2-40B4-BE49-F238E27FC236}">
                <a16:creationId xmlns:a16="http://schemas.microsoft.com/office/drawing/2014/main" id="{025A904D-3D23-34D5-00EF-41725252AF46}"/>
              </a:ext>
            </a:extLst>
          </p:cNvPr>
          <p:cNvCxnSpPr>
            <a:cxnSpLocks/>
            <a:stCxn id="35" idx="6"/>
            <a:endCxn id="41" idx="2"/>
          </p:cNvCxnSpPr>
          <p:nvPr/>
        </p:nvCxnSpPr>
        <p:spPr>
          <a:xfrm>
            <a:off x="3605895" y="4959569"/>
            <a:ext cx="2723263" cy="0"/>
          </a:xfrm>
          <a:prstGeom prst="straightConnector1">
            <a:avLst/>
          </a:prstGeom>
          <a:ln w="38100" cap="rnd">
            <a:solidFill>
              <a:schemeClr val="accent6"/>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3" name="Connector: Curved 2">
            <a:extLst>
              <a:ext uri="{FF2B5EF4-FFF2-40B4-BE49-F238E27FC236}">
                <a16:creationId xmlns:a16="http://schemas.microsoft.com/office/drawing/2014/main" id="{B42FCFC5-99FE-3E8F-CB82-3EAD551C35C9}"/>
              </a:ext>
            </a:extLst>
          </p:cNvPr>
          <p:cNvCxnSpPr/>
          <p:nvPr/>
        </p:nvCxnSpPr>
        <p:spPr>
          <a:xfrm rot="10800000">
            <a:off x="3401109" y="5164357"/>
            <a:ext cx="1361631" cy="498257"/>
          </a:xfrm>
          <a:prstGeom prst="curvedConnector2">
            <a:avLst/>
          </a:prstGeom>
          <a:ln w="38100" cap="rnd">
            <a:solidFill>
              <a:srgbClr val="00B050"/>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229686C2-6612-082D-EC59-9B5F11C04469}"/>
              </a:ext>
            </a:extLst>
          </p:cNvPr>
          <p:cNvCxnSpPr>
            <a:cxnSpLocks/>
            <a:stCxn id="52" idx="6"/>
            <a:endCxn id="41" idx="3"/>
          </p:cNvCxnSpPr>
          <p:nvPr/>
        </p:nvCxnSpPr>
        <p:spPr>
          <a:xfrm flipV="1">
            <a:off x="5172314" y="5104375"/>
            <a:ext cx="1216825" cy="558238"/>
          </a:xfrm>
          <a:prstGeom prst="straightConnector1">
            <a:avLst/>
          </a:prstGeom>
          <a:ln w="38100" cap="rnd">
            <a:solidFill>
              <a:schemeClr val="accent6"/>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09E19431-10E8-373E-EC73-3D9425E3C966}"/>
              </a:ext>
            </a:extLst>
          </p:cNvPr>
          <p:cNvSpPr txBox="1"/>
          <p:nvPr/>
        </p:nvSpPr>
        <p:spPr>
          <a:xfrm>
            <a:off x="2771025" y="3266260"/>
            <a:ext cx="1205290" cy="738664"/>
          </a:xfrm>
          <a:prstGeom prst="rect">
            <a:avLst/>
          </a:prstGeom>
          <a:noFill/>
        </p:spPr>
        <p:txBody>
          <a:bodyPr wrap="square" rtlCol="0">
            <a:spAutoFit/>
          </a:bodyPr>
          <a:lstStyle/>
          <a:p>
            <a:pPr algn="ctr"/>
            <a:r>
              <a:rPr lang="en-US" sz="1400" b="1" dirty="0">
                <a:solidFill>
                  <a:srgbClr val="FF0000"/>
                </a:solidFill>
              </a:rPr>
              <a:t>proposed alignment rejected</a:t>
            </a:r>
            <a:endParaRPr lang="en-NL" sz="1400" b="1" dirty="0">
              <a:solidFill>
                <a:srgbClr val="FF0000"/>
              </a:solidFill>
            </a:endParaRPr>
          </a:p>
        </p:txBody>
      </p:sp>
      <p:sp>
        <p:nvSpPr>
          <p:cNvPr id="19" name="Parallelogram 18">
            <a:extLst>
              <a:ext uri="{FF2B5EF4-FFF2-40B4-BE49-F238E27FC236}">
                <a16:creationId xmlns:a16="http://schemas.microsoft.com/office/drawing/2014/main" id="{30C1D982-F359-53C1-2A4C-7D31AC0861BA}"/>
              </a:ext>
            </a:extLst>
          </p:cNvPr>
          <p:cNvSpPr/>
          <p:nvPr/>
        </p:nvSpPr>
        <p:spPr>
          <a:xfrm>
            <a:off x="982761" y="1634289"/>
            <a:ext cx="10229850" cy="1276350"/>
          </a:xfrm>
          <a:prstGeom prst="parallelogram">
            <a:avLst>
              <a:gd name="adj" fmla="val 113806"/>
            </a:avLst>
          </a:prstGeom>
          <a:solidFill>
            <a:schemeClr val="accent1">
              <a:lumMod val="20000"/>
              <a:lumOff val="80000"/>
              <a:alpha val="95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TextBox 21">
            <a:extLst>
              <a:ext uri="{FF2B5EF4-FFF2-40B4-BE49-F238E27FC236}">
                <a16:creationId xmlns:a16="http://schemas.microsoft.com/office/drawing/2014/main" id="{3AEE44CC-2C57-723C-9BC5-CF2755E08AFD}"/>
              </a:ext>
            </a:extLst>
          </p:cNvPr>
          <p:cNvSpPr txBox="1"/>
          <p:nvPr/>
        </p:nvSpPr>
        <p:spPr>
          <a:xfrm>
            <a:off x="1352455" y="2602861"/>
            <a:ext cx="954107"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tx2">
                    <a:lumMod val="90000"/>
                    <a:lumOff val="10000"/>
                  </a:schemeClr>
                </a:solidFill>
              </a:rPr>
              <a:t>Meanings</a:t>
            </a:r>
            <a:endParaRPr lang="en-NL" sz="1400" dirty="0">
              <a:solidFill>
                <a:schemeClr val="tx2">
                  <a:lumMod val="90000"/>
                  <a:lumOff val="10000"/>
                </a:schemeClr>
              </a:solidFill>
            </a:endParaRPr>
          </a:p>
        </p:txBody>
      </p:sp>
      <p:sp>
        <p:nvSpPr>
          <p:cNvPr id="24" name="Oval 23">
            <a:extLst>
              <a:ext uri="{FF2B5EF4-FFF2-40B4-BE49-F238E27FC236}">
                <a16:creationId xmlns:a16="http://schemas.microsoft.com/office/drawing/2014/main" id="{B5BA233B-E927-0B26-2DA7-D67F1BDB44FE}"/>
              </a:ext>
            </a:extLst>
          </p:cNvPr>
          <p:cNvSpPr/>
          <p:nvPr/>
        </p:nvSpPr>
        <p:spPr>
          <a:xfrm>
            <a:off x="4369086" y="2067677"/>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dirty="0"/>
              <a:t>C1</a:t>
            </a:r>
            <a:endParaRPr lang="en-NL" dirty="0"/>
          </a:p>
        </p:txBody>
      </p:sp>
      <p:sp>
        <p:nvSpPr>
          <p:cNvPr id="26" name="Oval 25">
            <a:extLst>
              <a:ext uri="{FF2B5EF4-FFF2-40B4-BE49-F238E27FC236}">
                <a16:creationId xmlns:a16="http://schemas.microsoft.com/office/drawing/2014/main" id="{CF42C670-C34F-1E58-4DA4-3C485851BCC5}"/>
              </a:ext>
            </a:extLst>
          </p:cNvPr>
          <p:cNvSpPr/>
          <p:nvPr/>
        </p:nvSpPr>
        <p:spPr>
          <a:xfrm>
            <a:off x="5809846" y="2067677"/>
            <a:ext cx="409575" cy="4095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dirty="0"/>
              <a:t>C2</a:t>
            </a:r>
            <a:endParaRPr lang="en-NL" dirty="0"/>
          </a:p>
        </p:txBody>
      </p:sp>
      <p:cxnSp>
        <p:nvCxnSpPr>
          <p:cNvPr id="10" name="Straight Arrow Connector 9">
            <a:extLst>
              <a:ext uri="{FF2B5EF4-FFF2-40B4-BE49-F238E27FC236}">
                <a16:creationId xmlns:a16="http://schemas.microsoft.com/office/drawing/2014/main" id="{3A12E0B8-CCBF-B31B-552C-B94E026BD9D4}"/>
              </a:ext>
            </a:extLst>
          </p:cNvPr>
          <p:cNvCxnSpPr>
            <a:cxnSpLocks/>
            <a:stCxn id="56" idx="0"/>
            <a:endCxn id="24" idx="4"/>
          </p:cNvCxnSpPr>
          <p:nvPr/>
        </p:nvCxnSpPr>
        <p:spPr>
          <a:xfrm flipV="1">
            <a:off x="4566833" y="2477252"/>
            <a:ext cx="7041" cy="1110079"/>
          </a:xfrm>
          <a:prstGeom prst="straightConnector1">
            <a:avLst/>
          </a:prstGeom>
          <a:ln w="38100">
            <a:solidFill>
              <a:schemeClr val="tx1"/>
            </a:solidFill>
            <a:prstDash val="solid"/>
            <a:tailEnd type="triangle" w="lg" len="med"/>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13E313DB-0DC7-9AEC-7AF8-A97AAF533B4E}"/>
              </a:ext>
            </a:extLst>
          </p:cNvPr>
          <p:cNvCxnSpPr>
            <a:cxnSpLocks/>
            <a:endCxn id="26" idx="4"/>
          </p:cNvCxnSpPr>
          <p:nvPr/>
        </p:nvCxnSpPr>
        <p:spPr>
          <a:xfrm flipV="1">
            <a:off x="6013393" y="2477252"/>
            <a:ext cx="1241" cy="790992"/>
          </a:xfrm>
          <a:prstGeom prst="straightConnector1">
            <a:avLst/>
          </a:prstGeom>
          <a:ln w="38100">
            <a:solidFill>
              <a:schemeClr val="tx1"/>
            </a:solidFill>
            <a:prstDash val="solid"/>
            <a:tailEnd type="triangle" w="lg" len="med"/>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1AF9755B-34FA-DA43-E5D8-27F33715AD92}"/>
              </a:ext>
            </a:extLst>
          </p:cNvPr>
          <p:cNvSpPr txBox="1"/>
          <p:nvPr/>
        </p:nvSpPr>
        <p:spPr>
          <a:xfrm>
            <a:off x="6740836" y="1913024"/>
            <a:ext cx="4656275" cy="1200329"/>
          </a:xfrm>
          <a:prstGeom prst="rect">
            <a:avLst/>
          </a:prstGeom>
          <a:noFill/>
        </p:spPr>
        <p:txBody>
          <a:bodyPr wrap="none" rtlCol="0">
            <a:spAutoFit/>
          </a:bodyPr>
          <a:lstStyle/>
          <a:p>
            <a:r>
              <a:rPr lang="en-US" dirty="0"/>
              <a:t>By applying the proposed mapping:</a:t>
            </a:r>
          </a:p>
          <a:p>
            <a:r>
              <a:rPr lang="en-US" dirty="0"/>
              <a:t>- If they map the same meaning, consistent</a:t>
            </a:r>
          </a:p>
          <a:p>
            <a:r>
              <a:rPr lang="en-US" dirty="0"/>
              <a:t>- If they map different meanings, inconsistent</a:t>
            </a:r>
          </a:p>
          <a:p>
            <a:endParaRPr lang="en-NL" dirty="0"/>
          </a:p>
        </p:txBody>
      </p:sp>
      <p:sp>
        <p:nvSpPr>
          <p:cNvPr id="29" name="TextBox 28">
            <a:extLst>
              <a:ext uri="{FF2B5EF4-FFF2-40B4-BE49-F238E27FC236}">
                <a16:creationId xmlns:a16="http://schemas.microsoft.com/office/drawing/2014/main" id="{27517444-53C4-0262-4E58-C1A385325F78}"/>
              </a:ext>
            </a:extLst>
          </p:cNvPr>
          <p:cNvSpPr txBox="1"/>
          <p:nvPr/>
        </p:nvSpPr>
        <p:spPr>
          <a:xfrm>
            <a:off x="6866357" y="3436015"/>
            <a:ext cx="4479778" cy="92333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wrap="square" rtlCol="0">
            <a:spAutoFit/>
          </a:bodyPr>
          <a:lstStyle/>
          <a:p>
            <a:r>
              <a:rPr lang="en-US" dirty="0">
                <a:solidFill>
                  <a:schemeClr val="bg1"/>
                </a:solidFill>
              </a:rPr>
              <a:t>It is clear that they refer to different concepts, so the mapping is rejected, keeping the consistency of the dataset.</a:t>
            </a:r>
            <a:endParaRPr lang="en-NL" dirty="0">
              <a:solidFill>
                <a:schemeClr val="bg1"/>
              </a:solidFill>
            </a:endParaRPr>
          </a:p>
        </p:txBody>
      </p:sp>
    </p:spTree>
    <p:extLst>
      <p:ext uri="{BB962C8B-B14F-4D97-AF65-F5344CB8AC3E}">
        <p14:creationId xmlns:p14="http://schemas.microsoft.com/office/powerpoint/2010/main" val="128757339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7C6BAD-4E96-72DF-D7EE-3D2620C2126D}"/>
              </a:ext>
            </a:extLst>
          </p:cNvPr>
          <p:cNvSpPr>
            <a:spLocks noGrp="1"/>
          </p:cNvSpPr>
          <p:nvPr>
            <p:ph type="title"/>
          </p:nvPr>
        </p:nvSpPr>
        <p:spPr/>
        <p:txBody>
          <a:bodyPr/>
          <a:lstStyle/>
          <a:p>
            <a:r>
              <a:rPr lang="en-US" sz="3200" dirty="0"/>
              <a:t>Scenario 7 — Retrieve All Semantically Inconsistent Concepts</a:t>
            </a:r>
            <a:endParaRPr lang="en-NL" sz="3200" dirty="0"/>
          </a:p>
        </p:txBody>
      </p:sp>
      <p:sp>
        <p:nvSpPr>
          <p:cNvPr id="3" name="Content Placeholder 2">
            <a:extLst>
              <a:ext uri="{FF2B5EF4-FFF2-40B4-BE49-F238E27FC236}">
                <a16:creationId xmlns:a16="http://schemas.microsoft.com/office/drawing/2014/main" id="{DBE42147-BDFA-EB8A-788C-4CF59B72807A}"/>
              </a:ext>
            </a:extLst>
          </p:cNvPr>
          <p:cNvSpPr>
            <a:spLocks noGrp="1"/>
          </p:cNvSpPr>
          <p:nvPr>
            <p:ph idx="1"/>
          </p:nvPr>
        </p:nvSpPr>
        <p:spPr/>
        <p:txBody>
          <a:bodyPr/>
          <a:lstStyle/>
          <a:p>
            <a:endParaRPr lang="en-NL"/>
          </a:p>
        </p:txBody>
      </p:sp>
      <p:sp>
        <p:nvSpPr>
          <p:cNvPr id="4" name="Slide Number Placeholder 3">
            <a:extLst>
              <a:ext uri="{FF2B5EF4-FFF2-40B4-BE49-F238E27FC236}">
                <a16:creationId xmlns:a16="http://schemas.microsoft.com/office/drawing/2014/main" id="{C481C9BC-8E48-5830-4B51-955BDB4B192F}"/>
              </a:ext>
            </a:extLst>
          </p:cNvPr>
          <p:cNvSpPr>
            <a:spLocks noGrp="1"/>
          </p:cNvSpPr>
          <p:nvPr>
            <p:ph type="sldNum" sz="quarter" idx="12"/>
          </p:nvPr>
        </p:nvSpPr>
        <p:spPr/>
        <p:txBody>
          <a:bodyPr/>
          <a:lstStyle/>
          <a:p>
            <a:fld id="{4FAB73BC-B049-4115-A692-8D63A059BFB8}" type="slidenum">
              <a:rPr lang="en-US" smtClean="0"/>
              <a:pPr/>
              <a:t>62</a:t>
            </a:fld>
            <a:endParaRPr lang="en-US" dirty="0"/>
          </a:p>
        </p:txBody>
      </p:sp>
    </p:spTree>
    <p:extLst>
      <p:ext uri="{BB962C8B-B14F-4D97-AF65-F5344CB8AC3E}">
        <p14:creationId xmlns:p14="http://schemas.microsoft.com/office/powerpoint/2010/main" val="128794578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7C5704-3708-A889-E30B-5DC9648EC783}"/>
              </a:ext>
            </a:extLst>
          </p:cNvPr>
          <p:cNvSpPr>
            <a:spLocks noGrp="1"/>
          </p:cNvSpPr>
          <p:nvPr>
            <p:ph type="title"/>
          </p:nvPr>
        </p:nvSpPr>
        <p:spPr/>
        <p:txBody>
          <a:bodyPr/>
          <a:lstStyle/>
          <a:p>
            <a:r>
              <a:rPr lang="en-US" sz="3200" dirty="0"/>
              <a:t>Scenario 8 — Assess the Consequences of a Proposed Alignment</a:t>
            </a:r>
            <a:endParaRPr lang="en-NL" sz="3200" dirty="0"/>
          </a:p>
        </p:txBody>
      </p:sp>
      <p:sp>
        <p:nvSpPr>
          <p:cNvPr id="3" name="Content Placeholder 2">
            <a:extLst>
              <a:ext uri="{FF2B5EF4-FFF2-40B4-BE49-F238E27FC236}">
                <a16:creationId xmlns:a16="http://schemas.microsoft.com/office/drawing/2014/main" id="{34A6B2D1-717A-E0A0-4B7F-3A95F75A49D0}"/>
              </a:ext>
            </a:extLst>
          </p:cNvPr>
          <p:cNvSpPr>
            <a:spLocks noGrp="1"/>
          </p:cNvSpPr>
          <p:nvPr>
            <p:ph idx="1"/>
          </p:nvPr>
        </p:nvSpPr>
        <p:spPr/>
        <p:txBody>
          <a:bodyPr/>
          <a:lstStyle/>
          <a:p>
            <a:endParaRPr lang="en-NL"/>
          </a:p>
        </p:txBody>
      </p:sp>
      <p:sp>
        <p:nvSpPr>
          <p:cNvPr id="4" name="Slide Number Placeholder 3">
            <a:extLst>
              <a:ext uri="{FF2B5EF4-FFF2-40B4-BE49-F238E27FC236}">
                <a16:creationId xmlns:a16="http://schemas.microsoft.com/office/drawing/2014/main" id="{5C07B671-D78E-C93A-3FB2-4CEACD601E74}"/>
              </a:ext>
            </a:extLst>
          </p:cNvPr>
          <p:cNvSpPr>
            <a:spLocks noGrp="1"/>
          </p:cNvSpPr>
          <p:nvPr>
            <p:ph type="sldNum" sz="quarter" idx="12"/>
          </p:nvPr>
        </p:nvSpPr>
        <p:spPr/>
        <p:txBody>
          <a:bodyPr/>
          <a:lstStyle/>
          <a:p>
            <a:fld id="{4FAB73BC-B049-4115-A692-8D63A059BFB8}" type="slidenum">
              <a:rPr lang="en-US" smtClean="0"/>
              <a:pPr/>
              <a:t>63</a:t>
            </a:fld>
            <a:endParaRPr lang="en-US" dirty="0"/>
          </a:p>
        </p:txBody>
      </p:sp>
    </p:spTree>
    <p:extLst>
      <p:ext uri="{BB962C8B-B14F-4D97-AF65-F5344CB8AC3E}">
        <p14:creationId xmlns:p14="http://schemas.microsoft.com/office/powerpoint/2010/main" val="145581262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0D5D48-1CE1-5EB4-12CA-650A0FCF0C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A9C631-7A9E-7A35-7229-B72693F8F287}"/>
              </a:ext>
            </a:extLst>
          </p:cNvPr>
          <p:cNvSpPr>
            <a:spLocks noGrp="1"/>
          </p:cNvSpPr>
          <p:nvPr>
            <p:ph type="title"/>
          </p:nvPr>
        </p:nvSpPr>
        <p:spPr/>
        <p:txBody>
          <a:bodyPr/>
          <a:lstStyle/>
          <a:p>
            <a:r>
              <a:rPr lang="en-US" dirty="0"/>
              <a:t>Inge’s Story</a:t>
            </a:r>
            <a:endParaRPr lang="en-NL" dirty="0"/>
          </a:p>
        </p:txBody>
      </p:sp>
      <p:graphicFrame>
        <p:nvGraphicFramePr>
          <p:cNvPr id="5" name="Content Placeholder 4">
            <a:extLst>
              <a:ext uri="{FF2B5EF4-FFF2-40B4-BE49-F238E27FC236}">
                <a16:creationId xmlns:a16="http://schemas.microsoft.com/office/drawing/2014/main" id="{78F7B01A-5C69-3071-5E3F-DF71717E2C5D}"/>
              </a:ext>
            </a:extLst>
          </p:cNvPr>
          <p:cNvGraphicFramePr>
            <a:graphicFrameLocks noGrp="1"/>
          </p:cNvGraphicFramePr>
          <p:nvPr>
            <p:ph idx="1"/>
            <p:extLst>
              <p:ext uri="{D42A27DB-BD31-4B8C-83A1-F6EECF244321}">
                <p14:modId xmlns:p14="http://schemas.microsoft.com/office/powerpoint/2010/main" val="2112782117"/>
              </p:ext>
            </p:extLst>
          </p:nvPr>
        </p:nvGraphicFramePr>
        <p:xfrm>
          <a:off x="1009650" y="1628775"/>
          <a:ext cx="10172700" cy="43211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Slide Number Placeholder 3">
            <a:extLst>
              <a:ext uri="{FF2B5EF4-FFF2-40B4-BE49-F238E27FC236}">
                <a16:creationId xmlns:a16="http://schemas.microsoft.com/office/drawing/2014/main" id="{369145D2-0949-6EE9-6603-6C286DE76DFB}"/>
              </a:ext>
            </a:extLst>
          </p:cNvPr>
          <p:cNvSpPr>
            <a:spLocks noGrp="1"/>
          </p:cNvSpPr>
          <p:nvPr>
            <p:ph type="sldNum" sz="quarter" idx="12"/>
          </p:nvPr>
        </p:nvSpPr>
        <p:spPr/>
        <p:txBody>
          <a:bodyPr/>
          <a:lstStyle/>
          <a:p>
            <a:fld id="{4FAB73BC-B049-4115-A692-8D63A059BFB8}" type="slidenum">
              <a:rPr lang="en-US" smtClean="0"/>
              <a:pPr/>
              <a:t>64</a:t>
            </a:fld>
            <a:endParaRPr lang="en-US" dirty="0"/>
          </a:p>
        </p:txBody>
      </p:sp>
      <p:pic>
        <p:nvPicPr>
          <p:cNvPr id="3" name="Graphic 2" descr="Checkmark with solid fill">
            <a:extLst>
              <a:ext uri="{FF2B5EF4-FFF2-40B4-BE49-F238E27FC236}">
                <a16:creationId xmlns:a16="http://schemas.microsoft.com/office/drawing/2014/main" id="{7728625E-5A6C-4813-1B40-FBA7A01AAE67}"/>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534275" y="4533900"/>
            <a:ext cx="914400" cy="914400"/>
          </a:xfrm>
          <a:prstGeom prst="rect">
            <a:avLst/>
          </a:prstGeom>
        </p:spPr>
      </p:pic>
    </p:spTree>
    <p:extLst>
      <p:ext uri="{BB962C8B-B14F-4D97-AF65-F5344CB8AC3E}">
        <p14:creationId xmlns:p14="http://schemas.microsoft.com/office/powerpoint/2010/main" val="161966314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6C89066-2061-BD62-185E-50E0F4BB5237}"/>
            </a:ext>
          </a:extLst>
        </p:cNvPr>
        <p:cNvGrpSpPr/>
        <p:nvPr/>
      </p:nvGrpSpPr>
      <p:grpSpPr>
        <a:xfrm>
          <a:off x="0" y="0"/>
          <a:ext cx="0" cy="0"/>
          <a:chOff x="0" y="0"/>
          <a:chExt cx="0" cy="0"/>
        </a:xfrm>
      </p:grpSpPr>
      <p:sp>
        <p:nvSpPr>
          <p:cNvPr id="19" name="Rectangle 18">
            <a:extLst>
              <a:ext uri="{FF2B5EF4-FFF2-40B4-BE49-F238E27FC236}">
                <a16:creationId xmlns:a16="http://schemas.microsoft.com/office/drawing/2014/main" id="{101CBE68-88DE-5B0E-1089-D7D3A4F761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74" y="0"/>
            <a:ext cx="12188726" cy="68589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Picture 4">
            <a:extLst>
              <a:ext uri="{FF2B5EF4-FFF2-40B4-BE49-F238E27FC236}">
                <a16:creationId xmlns:a16="http://schemas.microsoft.com/office/drawing/2014/main" id="{6154113E-A9FE-689A-B434-B4A1D0A40A1B}"/>
              </a:ext>
              <a:ext uri="{C183D7F6-B498-43B3-948B-1728B52AA6E4}">
                <adec:decorative xmlns:adec="http://schemas.microsoft.com/office/drawing/2017/decorative" val="1"/>
              </a:ext>
            </a:extLst>
          </p:cNvPr>
          <p:cNvPicPr>
            <a:picLocks noChangeAspect="1"/>
          </p:cNvPicPr>
          <p:nvPr/>
        </p:nvPicPr>
        <p:blipFill rotWithShape="1">
          <a:blip r:embed="rId2"/>
          <a:srcRect r="52444" b="-1"/>
          <a:stretch/>
        </p:blipFill>
        <p:spPr>
          <a:xfrm>
            <a:off x="20" y="975"/>
            <a:ext cx="12191980" cy="6858000"/>
          </a:xfrm>
          <a:prstGeom prst="rect">
            <a:avLst/>
          </a:prstGeom>
        </p:spPr>
      </p:pic>
      <p:sp>
        <p:nvSpPr>
          <p:cNvPr id="21" name="Rectangle 20">
            <a:extLst>
              <a:ext uri="{FF2B5EF4-FFF2-40B4-BE49-F238E27FC236}">
                <a16:creationId xmlns:a16="http://schemas.microsoft.com/office/drawing/2014/main" id="{D7872C82-A0BE-5DE0-342B-870CD4CC57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96786" y="3064931"/>
            <a:ext cx="8295215" cy="2488568"/>
          </a:xfrm>
          <a:prstGeom prst="rect">
            <a:avLst/>
          </a:prstGeom>
          <a:solidFill>
            <a:srgbClr val="000001">
              <a:alpha val="7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40A8A8B-C918-081E-3402-3C75CC132C1F}"/>
              </a:ext>
            </a:extLst>
          </p:cNvPr>
          <p:cNvSpPr>
            <a:spLocks noGrp="1"/>
          </p:cNvSpPr>
          <p:nvPr>
            <p:ph type="ctrTitle"/>
          </p:nvPr>
        </p:nvSpPr>
        <p:spPr>
          <a:xfrm>
            <a:off x="4309349" y="3429000"/>
            <a:ext cx="7501651" cy="1090938"/>
          </a:xfrm>
        </p:spPr>
        <p:txBody>
          <a:bodyPr anchor="ctr">
            <a:noAutofit/>
          </a:bodyPr>
          <a:lstStyle/>
          <a:p>
            <a:pPr algn="l"/>
            <a:r>
              <a:rPr lang="en-US" sz="4800" dirty="0">
                <a:solidFill>
                  <a:srgbClr val="FFFFFF"/>
                </a:solidFill>
              </a:rPr>
              <a:t>Thank you!</a:t>
            </a:r>
          </a:p>
        </p:txBody>
      </p:sp>
      <p:cxnSp>
        <p:nvCxnSpPr>
          <p:cNvPr id="23" name="Straight Connector 22">
            <a:extLst>
              <a:ext uri="{FF2B5EF4-FFF2-40B4-BE49-F238E27FC236}">
                <a16:creationId xmlns:a16="http://schemas.microsoft.com/office/drawing/2014/main" id="{C856EE4B-6209-E23E-219E-9F64590232D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309349" y="4666480"/>
            <a:ext cx="6832499" cy="0"/>
          </a:xfrm>
          <a:prstGeom prst="line">
            <a:avLst/>
          </a:prstGeom>
          <a:ln w="22225">
            <a:solidFill>
              <a:srgbClr val="4AC4E3"/>
            </a:solidFill>
          </a:ln>
        </p:spPr>
        <p:style>
          <a:lnRef idx="3">
            <a:schemeClr val="accent1"/>
          </a:lnRef>
          <a:fillRef idx="0">
            <a:schemeClr val="accent1"/>
          </a:fillRef>
          <a:effectRef idx="2">
            <a:schemeClr val="accent1"/>
          </a:effectRef>
          <a:fontRef idx="minor">
            <a:schemeClr val="tx1"/>
          </a:fontRef>
        </p:style>
      </p:cxnSp>
      <p:pic>
        <p:nvPicPr>
          <p:cNvPr id="7" name="Graphic 6">
            <a:extLst>
              <a:ext uri="{FF2B5EF4-FFF2-40B4-BE49-F238E27FC236}">
                <a16:creationId xmlns:a16="http://schemas.microsoft.com/office/drawing/2014/main" id="{FBDE0E28-1570-8017-F2F6-09CEED0B0A0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444753" y="5554033"/>
            <a:ext cx="3736135" cy="1311271"/>
          </a:xfrm>
          <a:prstGeom prst="rect">
            <a:avLst/>
          </a:prstGeom>
        </p:spPr>
      </p:pic>
      <p:sp>
        <p:nvSpPr>
          <p:cNvPr id="10" name="Subtitle 2">
            <a:extLst>
              <a:ext uri="{FF2B5EF4-FFF2-40B4-BE49-F238E27FC236}">
                <a16:creationId xmlns:a16="http://schemas.microsoft.com/office/drawing/2014/main" id="{685348A0-D698-D962-9213-01A327BED678}"/>
              </a:ext>
            </a:extLst>
          </p:cNvPr>
          <p:cNvSpPr txBox="1">
            <a:spLocks/>
          </p:cNvSpPr>
          <p:nvPr/>
        </p:nvSpPr>
        <p:spPr>
          <a:xfrm>
            <a:off x="4309349" y="4779313"/>
            <a:ext cx="7501650" cy="514816"/>
          </a:xfrm>
          <a:prstGeom prst="rect">
            <a:avLst/>
          </a:prstGeom>
        </p:spPr>
        <p:txBody>
          <a:bodyPr vert="horz" lIns="91440" tIns="45720" rIns="91440" bIns="45720" rtlCol="0" anchor="t">
            <a:normAutofit/>
          </a:bodyPr>
          <a:lstStyle>
            <a:lvl1pPr marL="0" indent="0" algn="l" defTabSz="914400" rtl="0" eaLnBrk="1" latinLnBrk="0" hangingPunct="1">
              <a:lnSpc>
                <a:spcPct val="100000"/>
              </a:lnSpc>
              <a:spcBef>
                <a:spcPts val="0"/>
              </a:spcBef>
              <a:spcAft>
                <a:spcPts val="200"/>
              </a:spcAft>
              <a:buClr>
                <a:schemeClr val="accent1"/>
              </a:buClr>
              <a:buSzPct val="100000"/>
              <a:buFont typeface="Tw Cen MT" panose="020B0602020104020603" pitchFamily="34" charset="0"/>
              <a:buNone/>
              <a:defRPr sz="1800" kern="1200">
                <a:solidFill>
                  <a:schemeClr val="tx1">
                    <a:lumMod val="95000"/>
                    <a:lumOff val="5000"/>
                  </a:schemeClr>
                </a:solidFill>
                <a:latin typeface="Aptos" panose="020B0004020202020204" pitchFamily="34" charset="0"/>
                <a:ea typeface="+mn-ea"/>
                <a:cs typeface="+mn-cs"/>
              </a:defRPr>
            </a:lvl1pPr>
            <a:lvl2pPr marL="457200" indent="0" algn="ctr" defTabSz="914400" rtl="0" eaLnBrk="1" latinLnBrk="0" hangingPunct="1">
              <a:lnSpc>
                <a:spcPct val="90000"/>
              </a:lnSpc>
              <a:spcBef>
                <a:spcPts val="200"/>
              </a:spcBef>
              <a:spcAft>
                <a:spcPts val="400"/>
              </a:spcAft>
              <a:buClr>
                <a:schemeClr val="accent1"/>
              </a:buClr>
              <a:buFont typeface="Wingdings 3" pitchFamily="18" charset="2"/>
              <a:buNone/>
              <a:defRPr sz="1800" kern="1200">
                <a:solidFill>
                  <a:schemeClr val="tx1"/>
                </a:solidFill>
                <a:latin typeface="Aptos" panose="020B0004020202020204" pitchFamily="34" charset="0"/>
                <a:ea typeface="+mn-ea"/>
                <a:cs typeface="+mn-cs"/>
              </a:defRPr>
            </a:lvl2pPr>
            <a:lvl3pPr marL="914400" indent="0" algn="ctr" defTabSz="914400" rtl="0" eaLnBrk="1" latinLnBrk="0" hangingPunct="1">
              <a:lnSpc>
                <a:spcPct val="90000"/>
              </a:lnSpc>
              <a:spcBef>
                <a:spcPts val="200"/>
              </a:spcBef>
              <a:spcAft>
                <a:spcPts val="400"/>
              </a:spcAft>
              <a:buClr>
                <a:schemeClr val="accent1"/>
              </a:buClr>
              <a:buFont typeface="Wingdings 3" pitchFamily="18" charset="2"/>
              <a:buNone/>
              <a:defRPr sz="1800" kern="1200">
                <a:solidFill>
                  <a:schemeClr val="tx1"/>
                </a:solidFill>
                <a:latin typeface="Aptos" panose="020B0004020202020204" pitchFamily="34" charset="0"/>
                <a:ea typeface="+mn-ea"/>
                <a:cs typeface="+mn-cs"/>
              </a:defRPr>
            </a:lvl3pPr>
            <a:lvl4pPr marL="1371600" indent="0" algn="ctr" defTabSz="914400" rtl="0" eaLnBrk="1" latinLnBrk="0" hangingPunct="1">
              <a:lnSpc>
                <a:spcPct val="90000"/>
              </a:lnSpc>
              <a:spcBef>
                <a:spcPts val="200"/>
              </a:spcBef>
              <a:spcAft>
                <a:spcPts val="400"/>
              </a:spcAft>
              <a:buClr>
                <a:schemeClr val="accent1"/>
              </a:buClr>
              <a:buFont typeface="Wingdings 3" pitchFamily="18" charset="2"/>
              <a:buNone/>
              <a:defRPr sz="1800" kern="1200">
                <a:solidFill>
                  <a:schemeClr val="tx1"/>
                </a:solidFill>
                <a:latin typeface="Aptos" panose="020B0004020202020204" pitchFamily="34" charset="0"/>
                <a:ea typeface="+mn-ea"/>
                <a:cs typeface="+mn-cs"/>
              </a:defRPr>
            </a:lvl4pPr>
            <a:lvl5pPr marL="1828800" indent="0" algn="ctr" defTabSz="914400" rtl="0" eaLnBrk="1" latinLnBrk="0" hangingPunct="1">
              <a:lnSpc>
                <a:spcPct val="90000"/>
              </a:lnSpc>
              <a:spcBef>
                <a:spcPts val="200"/>
              </a:spcBef>
              <a:spcAft>
                <a:spcPts val="400"/>
              </a:spcAft>
              <a:buClr>
                <a:schemeClr val="accent1"/>
              </a:buClr>
              <a:buFont typeface="Wingdings 3" pitchFamily="18" charset="2"/>
              <a:buNone/>
              <a:defRPr sz="1800" kern="1200">
                <a:solidFill>
                  <a:schemeClr val="tx1"/>
                </a:solidFill>
                <a:latin typeface="Aptos" panose="020B0004020202020204" pitchFamily="34" charset="0"/>
                <a:ea typeface="+mn-ea"/>
                <a:cs typeface="+mn-cs"/>
              </a:defRPr>
            </a:lvl5pPr>
            <a:lvl6pPr marL="2286000" indent="0" algn="ctr" defTabSz="914400" rtl="0" eaLnBrk="1" latinLnBrk="0" hangingPunct="1">
              <a:lnSpc>
                <a:spcPct val="90000"/>
              </a:lnSpc>
              <a:spcBef>
                <a:spcPts val="200"/>
              </a:spcBef>
              <a:spcAft>
                <a:spcPts val="400"/>
              </a:spcAft>
              <a:buClr>
                <a:schemeClr val="accent1"/>
              </a:buClr>
              <a:buFont typeface="Wingdings 3" pitchFamily="18" charset="2"/>
              <a:buNone/>
              <a:defRPr sz="1800" kern="1200">
                <a:solidFill>
                  <a:schemeClr val="tx1"/>
                </a:solidFill>
                <a:latin typeface="+mn-lt"/>
                <a:ea typeface="+mn-ea"/>
                <a:cs typeface="+mn-cs"/>
              </a:defRPr>
            </a:lvl6pPr>
            <a:lvl7pPr marL="2743200" indent="0" algn="ctr" defTabSz="914400" rtl="0" eaLnBrk="1" latinLnBrk="0" hangingPunct="1">
              <a:lnSpc>
                <a:spcPct val="90000"/>
              </a:lnSpc>
              <a:spcBef>
                <a:spcPts val="200"/>
              </a:spcBef>
              <a:spcAft>
                <a:spcPts val="400"/>
              </a:spcAft>
              <a:buClr>
                <a:schemeClr val="accent1"/>
              </a:buClr>
              <a:buFont typeface="Wingdings 3" pitchFamily="18" charset="2"/>
              <a:buNone/>
              <a:defRPr sz="1800" kern="1200">
                <a:solidFill>
                  <a:schemeClr val="tx1"/>
                </a:solidFill>
                <a:latin typeface="+mn-lt"/>
                <a:ea typeface="+mn-ea"/>
                <a:cs typeface="+mn-cs"/>
              </a:defRPr>
            </a:lvl7pPr>
            <a:lvl8pPr marL="3200400" indent="0" algn="ctr" defTabSz="914400" rtl="0" eaLnBrk="1" latinLnBrk="0" hangingPunct="1">
              <a:lnSpc>
                <a:spcPct val="90000"/>
              </a:lnSpc>
              <a:spcBef>
                <a:spcPts val="200"/>
              </a:spcBef>
              <a:spcAft>
                <a:spcPts val="400"/>
              </a:spcAft>
              <a:buClr>
                <a:schemeClr val="accent1"/>
              </a:buClr>
              <a:buFont typeface="Wingdings 3" pitchFamily="18" charset="2"/>
              <a:buNone/>
              <a:defRPr sz="1800" kern="1200">
                <a:solidFill>
                  <a:schemeClr val="tx1"/>
                </a:solidFill>
                <a:latin typeface="+mn-lt"/>
                <a:ea typeface="+mn-ea"/>
                <a:cs typeface="+mn-cs"/>
              </a:defRPr>
            </a:lvl8pPr>
            <a:lvl9pPr marL="3657600" indent="0" algn="ctr" defTabSz="914400" rtl="0" eaLnBrk="1" latinLnBrk="0" hangingPunct="1">
              <a:lnSpc>
                <a:spcPct val="90000"/>
              </a:lnSpc>
              <a:spcBef>
                <a:spcPts val="200"/>
              </a:spcBef>
              <a:spcAft>
                <a:spcPts val="400"/>
              </a:spcAft>
              <a:buClr>
                <a:schemeClr val="accent1"/>
              </a:buClr>
              <a:buFont typeface="Wingdings 3" pitchFamily="18" charset="2"/>
              <a:buNone/>
              <a:defRPr sz="1800" kern="1200">
                <a:solidFill>
                  <a:schemeClr val="tx1"/>
                </a:solidFill>
                <a:latin typeface="+mn-lt"/>
                <a:ea typeface="+mn-ea"/>
                <a:cs typeface="+mn-cs"/>
              </a:defRPr>
            </a:lvl9pPr>
          </a:lstStyle>
          <a:p>
            <a:r>
              <a:rPr lang="en-US" sz="2000">
                <a:solidFill>
                  <a:srgbClr val="FFFFFF"/>
                </a:solidFill>
              </a:rPr>
              <a:t>Pedro Paulo F. Barcelos, </a:t>
            </a:r>
            <a:r>
              <a:rPr lang="en-US" sz="2000" i="1">
                <a:solidFill>
                  <a:srgbClr val="FFFFFF"/>
                </a:solidFill>
              </a:rPr>
              <a:t>PhD</a:t>
            </a:r>
            <a:r>
              <a:rPr lang="en-US" sz="2000">
                <a:solidFill>
                  <a:srgbClr val="FFFFFF"/>
                </a:solidFill>
              </a:rPr>
              <a:t>	       </a:t>
            </a:r>
            <a:r>
              <a:rPr lang="en-US" sz="2000" i="1">
                <a:solidFill>
                  <a:srgbClr val="FFFFFF"/>
                </a:solidFill>
              </a:rPr>
              <a:t>{pedro.barcelos@health-ri.nl}</a:t>
            </a:r>
            <a:endParaRPr lang="en-US" sz="2000" i="1" dirty="0">
              <a:solidFill>
                <a:srgbClr val="FFFFFF"/>
              </a:solidFill>
            </a:endParaRPr>
          </a:p>
        </p:txBody>
      </p:sp>
      <p:pic>
        <p:nvPicPr>
          <p:cNvPr id="3" name="Graphic 11">
            <a:extLst>
              <a:ext uri="{FF2B5EF4-FFF2-40B4-BE49-F238E27FC236}">
                <a16:creationId xmlns:a16="http://schemas.microsoft.com/office/drawing/2014/main" id="{8CE0F9B7-C84D-9F19-08C4-489E43ECCC43}"/>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10418142" y="3103851"/>
            <a:ext cx="1320116" cy="1320116"/>
          </a:xfrm>
          <a:custGeom>
            <a:avLst/>
            <a:gdLst>
              <a:gd name="connsiteX0" fmla="*/ 0 w 1461336"/>
              <a:gd name="connsiteY0" fmla="*/ 0 h 1461336"/>
              <a:gd name="connsiteX1" fmla="*/ 1461336 w 1461336"/>
              <a:gd name="connsiteY1" fmla="*/ 0 h 1461336"/>
              <a:gd name="connsiteX2" fmla="*/ 1461336 w 1461336"/>
              <a:gd name="connsiteY2" fmla="*/ 1461336 h 1461336"/>
              <a:gd name="connsiteX3" fmla="*/ 0 w 1461336"/>
              <a:gd name="connsiteY3" fmla="*/ 1461336 h 1461336"/>
            </a:gdLst>
            <a:ahLst/>
            <a:cxnLst>
              <a:cxn ang="0">
                <a:pos x="connsiteX0" y="connsiteY0"/>
              </a:cxn>
              <a:cxn ang="0">
                <a:pos x="connsiteX1" y="connsiteY1"/>
              </a:cxn>
              <a:cxn ang="0">
                <a:pos x="connsiteX2" y="connsiteY2"/>
              </a:cxn>
              <a:cxn ang="0">
                <a:pos x="connsiteX3" y="connsiteY3"/>
              </a:cxn>
            </a:cxnLst>
            <a:rect l="l" t="t" r="r" b="b"/>
            <a:pathLst>
              <a:path w="1461336" h="1461336">
                <a:moveTo>
                  <a:pt x="0" y="0"/>
                </a:moveTo>
                <a:lnTo>
                  <a:pt x="1461336" y="0"/>
                </a:lnTo>
                <a:lnTo>
                  <a:pt x="1461336" y="1461336"/>
                </a:lnTo>
                <a:lnTo>
                  <a:pt x="0" y="1461336"/>
                </a:lnTo>
                <a:close/>
              </a:path>
            </a:pathLst>
          </a:custGeom>
        </p:spPr>
      </p:pic>
      <p:sp>
        <p:nvSpPr>
          <p:cNvPr id="4" name="TextBox 3">
            <a:extLst>
              <a:ext uri="{FF2B5EF4-FFF2-40B4-BE49-F238E27FC236}">
                <a16:creationId xmlns:a16="http://schemas.microsoft.com/office/drawing/2014/main" id="{A9399E04-ACFE-E0FD-1813-3B90315BEFE8}"/>
              </a:ext>
            </a:extLst>
          </p:cNvPr>
          <p:cNvSpPr txBox="1"/>
          <p:nvPr/>
        </p:nvSpPr>
        <p:spPr>
          <a:xfrm>
            <a:off x="8915655" y="4143260"/>
            <a:ext cx="2895344" cy="523220"/>
          </a:xfrm>
          <a:prstGeom prst="rect">
            <a:avLst/>
          </a:prstGeom>
          <a:noFill/>
        </p:spPr>
        <p:txBody>
          <a:bodyPr wrap="none" rtlCol="0">
            <a:spAutoFit/>
          </a:bodyPr>
          <a:lstStyle/>
          <a:p>
            <a:r>
              <a:rPr lang="en-US" sz="1400" dirty="0">
                <a:solidFill>
                  <a:srgbClr val="F8AF00"/>
                </a:solidFill>
                <a:latin typeface="Atkinson Hyperlegible" pitchFamily="2" charset="0"/>
              </a:rPr>
              <a:t>https://w3id.org/</a:t>
            </a:r>
          </a:p>
          <a:p>
            <a:r>
              <a:rPr lang="en-US" sz="1400" dirty="0">
                <a:solidFill>
                  <a:srgbClr val="F8AF00"/>
                </a:solidFill>
                <a:latin typeface="Atkinson Hyperlegible" pitchFamily="2" charset="0"/>
              </a:rPr>
              <a:t>health-</a:t>
            </a:r>
            <a:r>
              <a:rPr lang="en-US" sz="1400" dirty="0" err="1">
                <a:solidFill>
                  <a:srgbClr val="F8AF00"/>
                </a:solidFill>
                <a:latin typeface="Atkinson Hyperlegible" pitchFamily="2" charset="0"/>
              </a:rPr>
              <a:t>ri</a:t>
            </a:r>
            <a:r>
              <a:rPr lang="en-US" sz="1400" dirty="0">
                <a:solidFill>
                  <a:srgbClr val="F8AF00"/>
                </a:solidFill>
                <a:latin typeface="Atkinson Hyperlegible" pitchFamily="2" charset="0"/>
              </a:rPr>
              <a:t>/semantic-interoperability</a:t>
            </a:r>
            <a:endParaRPr lang="en-NL" sz="1400" dirty="0">
              <a:solidFill>
                <a:srgbClr val="F8AF00"/>
              </a:solidFill>
              <a:latin typeface="Atkinson Hyperlegible" pitchFamily="2" charset="0"/>
            </a:endParaRPr>
          </a:p>
        </p:txBody>
      </p:sp>
    </p:spTree>
    <p:extLst>
      <p:ext uri="{BB962C8B-B14F-4D97-AF65-F5344CB8AC3E}">
        <p14:creationId xmlns:p14="http://schemas.microsoft.com/office/powerpoint/2010/main" val="339124237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FDF6D8-F0F9-A3ED-0503-F5FD0C110CBF}"/>
              </a:ext>
            </a:extLst>
          </p:cNvPr>
          <p:cNvSpPr>
            <a:spLocks noGrp="1"/>
          </p:cNvSpPr>
          <p:nvPr>
            <p:ph type="title"/>
          </p:nvPr>
        </p:nvSpPr>
        <p:spPr/>
        <p:txBody>
          <a:bodyPr/>
          <a:lstStyle/>
          <a:p>
            <a:r>
              <a:rPr lang="en-US" sz="3600" dirty="0"/>
              <a:t>Meanings Are Necessary, but not Sufficient</a:t>
            </a:r>
            <a:endParaRPr lang="en-NL" sz="3600" dirty="0"/>
          </a:p>
        </p:txBody>
      </p:sp>
      <p:sp>
        <p:nvSpPr>
          <p:cNvPr id="4" name="Slide Number Placeholder 3">
            <a:extLst>
              <a:ext uri="{FF2B5EF4-FFF2-40B4-BE49-F238E27FC236}">
                <a16:creationId xmlns:a16="http://schemas.microsoft.com/office/drawing/2014/main" id="{F02B3677-4A13-3CD5-2CAE-1D002415B344}"/>
              </a:ext>
            </a:extLst>
          </p:cNvPr>
          <p:cNvSpPr>
            <a:spLocks noGrp="1"/>
          </p:cNvSpPr>
          <p:nvPr>
            <p:ph type="sldNum" sz="quarter" idx="12"/>
          </p:nvPr>
        </p:nvSpPr>
        <p:spPr/>
        <p:txBody>
          <a:bodyPr/>
          <a:lstStyle/>
          <a:p>
            <a:fld id="{4FAB73BC-B049-4115-A692-8D63A059BFB8}" type="slidenum">
              <a:rPr lang="en-US" smtClean="0"/>
              <a:pPr/>
              <a:t>66</a:t>
            </a:fld>
            <a:endParaRPr lang="en-US" dirty="0"/>
          </a:p>
        </p:txBody>
      </p:sp>
      <p:sp>
        <p:nvSpPr>
          <p:cNvPr id="20" name="Freeform: Shape 19">
            <a:extLst>
              <a:ext uri="{FF2B5EF4-FFF2-40B4-BE49-F238E27FC236}">
                <a16:creationId xmlns:a16="http://schemas.microsoft.com/office/drawing/2014/main" id="{C7B7C7C5-C973-F79A-4190-AA14F0AE5FB7}"/>
              </a:ext>
            </a:extLst>
          </p:cNvPr>
          <p:cNvSpPr/>
          <p:nvPr/>
        </p:nvSpPr>
        <p:spPr>
          <a:xfrm>
            <a:off x="698700" y="2244729"/>
            <a:ext cx="3291036" cy="440379"/>
          </a:xfrm>
          <a:custGeom>
            <a:avLst/>
            <a:gdLst>
              <a:gd name="csX0" fmla="*/ 0 w 3291036"/>
              <a:gd name="csY0" fmla="*/ 0 h 1316414"/>
              <a:gd name="csX1" fmla="*/ 3291036 w 3291036"/>
              <a:gd name="csY1" fmla="*/ 0 h 1316414"/>
              <a:gd name="csX2" fmla="*/ 3291036 w 3291036"/>
              <a:gd name="csY2" fmla="*/ 1316414 h 1316414"/>
              <a:gd name="csX3" fmla="*/ 0 w 3291036"/>
              <a:gd name="csY3" fmla="*/ 1316414 h 1316414"/>
              <a:gd name="csX4" fmla="*/ 0 w 3291036"/>
              <a:gd name="csY4" fmla="*/ 0 h 1316414"/>
            </a:gdLst>
            <a:ahLst/>
            <a:cxnLst>
              <a:cxn ang="0">
                <a:pos x="csX0" y="csY0"/>
              </a:cxn>
              <a:cxn ang="0">
                <a:pos x="csX1" y="csY1"/>
              </a:cxn>
              <a:cxn ang="0">
                <a:pos x="csX2" y="csY2"/>
              </a:cxn>
              <a:cxn ang="0">
                <a:pos x="csX3" y="csY3"/>
              </a:cxn>
              <a:cxn ang="0">
                <a:pos x="csX4" y="csY4"/>
              </a:cxn>
            </a:cxnLst>
            <a:rect l="l" t="t" r="r" b="b"/>
            <a:pathLst>
              <a:path w="3291036" h="1316414">
                <a:moveTo>
                  <a:pt x="0" y="0"/>
                </a:moveTo>
                <a:lnTo>
                  <a:pt x="3291036" y="0"/>
                </a:lnTo>
                <a:lnTo>
                  <a:pt x="3291036" y="1316414"/>
                </a:lnTo>
                <a:lnTo>
                  <a:pt x="0" y="1316414"/>
                </a:lnTo>
                <a:lnTo>
                  <a:pt x="0" y="0"/>
                </a:lnTo>
                <a:close/>
              </a:path>
            </a:pathLst>
          </a:custGeom>
          <a:ln>
            <a:noFill/>
          </a:ln>
          <a:effectLst/>
          <a:scene3d>
            <a:camera prst="orthographicFront">
              <a:rot lat="0" lon="0" rev="0"/>
            </a:camera>
            <a:lightRig rig="contrasting" dir="t">
              <a:rot lat="0" lon="0" rev="7800000"/>
            </a:lightRig>
          </a:scene3d>
          <a:sp3d>
            <a:bevelT w="139700" h="139700"/>
          </a:sp3d>
        </p:spPr>
        <p:style>
          <a:lnRef idx="2">
            <a:schemeClr val="dk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419608" tIns="239776" rIns="419608" bIns="239776" numCol="1" spcCol="1270" anchor="ctr" anchorCtr="0">
            <a:noAutofit/>
          </a:bodyPr>
          <a:lstStyle/>
          <a:p>
            <a:pPr algn="ctr" defTabSz="2622550">
              <a:lnSpc>
                <a:spcPct val="90000"/>
              </a:lnSpc>
              <a:spcBef>
                <a:spcPct val="0"/>
              </a:spcBef>
              <a:spcAft>
                <a:spcPct val="35000"/>
              </a:spcAft>
            </a:pPr>
            <a:r>
              <a:rPr lang="en-US" sz="2000"/>
              <a:t>Intersecting </a:t>
            </a:r>
            <a:r>
              <a:rPr lang="en-US" sz="2000" dirty="0"/>
              <a:t>meanings</a:t>
            </a:r>
            <a:endParaRPr lang="en-NL" sz="2000" dirty="0"/>
          </a:p>
        </p:txBody>
      </p:sp>
      <p:sp>
        <p:nvSpPr>
          <p:cNvPr id="21" name="Rectangle 20">
            <a:extLst>
              <a:ext uri="{FF2B5EF4-FFF2-40B4-BE49-F238E27FC236}">
                <a16:creationId xmlns:a16="http://schemas.microsoft.com/office/drawing/2014/main" id="{5B9AA96B-AC09-ECCE-C06E-DB97E6B034DA}"/>
              </a:ext>
            </a:extLst>
          </p:cNvPr>
          <p:cNvSpPr/>
          <p:nvPr/>
        </p:nvSpPr>
        <p:spPr>
          <a:xfrm>
            <a:off x="698700" y="2740672"/>
            <a:ext cx="3291036" cy="1740397"/>
          </a:xfrm>
          <a:prstGeom prst="rect">
            <a:avLst/>
          </a:prstGeom>
          <a:solidFill>
            <a:schemeClr val="accent6">
              <a:lumMod val="20000"/>
              <a:lumOff val="80000"/>
              <a:alpha val="90000"/>
            </a:schemeClr>
          </a:solidFill>
          <a:ln>
            <a:solidFill>
              <a:schemeClr val="tx1">
                <a:lumMod val="65000"/>
                <a:lumOff val="35000"/>
                <a:alpha val="90000"/>
              </a:schemeClr>
            </a:solidFill>
          </a:ln>
          <a:effectLst>
            <a:outerShdw blurRad="50800" dist="38100" dir="2700000" algn="tl" rotWithShape="0">
              <a:prstClr val="black">
                <a:alpha val="40000"/>
              </a:prstClr>
            </a:outerShdw>
          </a:effectLst>
        </p:spPr>
        <p:style>
          <a:lnRef idx="2">
            <a:schemeClr val="dk2">
              <a:alpha val="90000"/>
              <a:tint val="40000"/>
              <a:hueOff val="0"/>
              <a:satOff val="0"/>
              <a:lumOff val="0"/>
              <a:alphaOff val="0"/>
            </a:schemeClr>
          </a:lnRef>
          <a:fillRef idx="1">
            <a:schemeClr val="dk2">
              <a:alpha val="90000"/>
              <a:tint val="40000"/>
              <a:hueOff val="0"/>
              <a:satOff val="0"/>
              <a:lumOff val="0"/>
              <a:alphaOff val="0"/>
            </a:schemeClr>
          </a:fillRef>
          <a:effectRef idx="0">
            <a:schemeClr val="dk2">
              <a:alpha val="90000"/>
              <a:tint val="40000"/>
              <a:hueOff val="0"/>
              <a:satOff val="0"/>
              <a:lumOff val="0"/>
              <a:alphaOff val="0"/>
            </a:schemeClr>
          </a:effectRef>
          <a:fontRef idx="minor">
            <a:schemeClr val="dk1">
              <a:hueOff val="0"/>
              <a:satOff val="0"/>
              <a:lumOff val="0"/>
              <a:alphaOff val="0"/>
            </a:schemeClr>
          </a:fontRef>
        </p:style>
        <p:txBody>
          <a:bodyPr/>
          <a:lstStyle/>
          <a:p>
            <a:endParaRPr lang="en-NL"/>
          </a:p>
        </p:txBody>
      </p:sp>
      <p:sp>
        <p:nvSpPr>
          <p:cNvPr id="22" name="Freeform: Shape 21">
            <a:extLst>
              <a:ext uri="{FF2B5EF4-FFF2-40B4-BE49-F238E27FC236}">
                <a16:creationId xmlns:a16="http://schemas.microsoft.com/office/drawing/2014/main" id="{B93BDCC2-80A4-1C87-F7D9-06AEBA657E1E}"/>
              </a:ext>
            </a:extLst>
          </p:cNvPr>
          <p:cNvSpPr/>
          <p:nvPr/>
        </p:nvSpPr>
        <p:spPr>
          <a:xfrm>
            <a:off x="4450481" y="2244729"/>
            <a:ext cx="3291036" cy="440379"/>
          </a:xfrm>
          <a:custGeom>
            <a:avLst/>
            <a:gdLst>
              <a:gd name="csX0" fmla="*/ 0 w 3291036"/>
              <a:gd name="csY0" fmla="*/ 0 h 1316414"/>
              <a:gd name="csX1" fmla="*/ 3291036 w 3291036"/>
              <a:gd name="csY1" fmla="*/ 0 h 1316414"/>
              <a:gd name="csX2" fmla="*/ 3291036 w 3291036"/>
              <a:gd name="csY2" fmla="*/ 1316414 h 1316414"/>
              <a:gd name="csX3" fmla="*/ 0 w 3291036"/>
              <a:gd name="csY3" fmla="*/ 1316414 h 1316414"/>
              <a:gd name="csX4" fmla="*/ 0 w 3291036"/>
              <a:gd name="csY4" fmla="*/ 0 h 1316414"/>
            </a:gdLst>
            <a:ahLst/>
            <a:cxnLst>
              <a:cxn ang="0">
                <a:pos x="csX0" y="csY0"/>
              </a:cxn>
              <a:cxn ang="0">
                <a:pos x="csX1" y="csY1"/>
              </a:cxn>
              <a:cxn ang="0">
                <a:pos x="csX2" y="csY2"/>
              </a:cxn>
              <a:cxn ang="0">
                <a:pos x="csX3" y="csY3"/>
              </a:cxn>
              <a:cxn ang="0">
                <a:pos x="csX4" y="csY4"/>
              </a:cxn>
            </a:cxnLst>
            <a:rect l="l" t="t" r="r" b="b"/>
            <a:pathLst>
              <a:path w="3291036" h="1316414">
                <a:moveTo>
                  <a:pt x="0" y="0"/>
                </a:moveTo>
                <a:lnTo>
                  <a:pt x="3291036" y="0"/>
                </a:lnTo>
                <a:lnTo>
                  <a:pt x="3291036" y="1316414"/>
                </a:lnTo>
                <a:lnTo>
                  <a:pt x="0" y="1316414"/>
                </a:lnTo>
                <a:lnTo>
                  <a:pt x="0" y="0"/>
                </a:lnTo>
                <a:close/>
              </a:path>
            </a:pathLst>
          </a:custGeom>
          <a:ln>
            <a:noFill/>
          </a:ln>
          <a:effectLst/>
          <a:scene3d>
            <a:camera prst="orthographicFront">
              <a:rot lat="0" lon="0" rev="0"/>
            </a:camera>
            <a:lightRig rig="contrasting" dir="t">
              <a:rot lat="0" lon="0" rev="7800000"/>
            </a:lightRig>
          </a:scene3d>
          <a:sp3d>
            <a:bevelT w="139700" h="139700"/>
          </a:sp3d>
        </p:spPr>
        <p:style>
          <a:lnRef idx="2">
            <a:schemeClr val="dk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419608" tIns="239776" rIns="419608" bIns="239776" numCol="1" spcCol="1270" anchor="ctr" anchorCtr="0">
            <a:noAutofit/>
          </a:bodyPr>
          <a:lstStyle/>
          <a:p>
            <a:pPr algn="ctr" defTabSz="2622550">
              <a:lnSpc>
                <a:spcPct val="90000"/>
              </a:lnSpc>
              <a:spcBef>
                <a:spcPct val="0"/>
              </a:spcBef>
              <a:spcAft>
                <a:spcPct val="35000"/>
              </a:spcAft>
            </a:pPr>
            <a:r>
              <a:rPr lang="en-US" sz="2000"/>
              <a:t>Disjoint </a:t>
            </a:r>
            <a:r>
              <a:rPr lang="en-US" sz="2000" dirty="0"/>
              <a:t>meanings</a:t>
            </a:r>
            <a:endParaRPr lang="en-NL" sz="2000" dirty="0"/>
          </a:p>
        </p:txBody>
      </p:sp>
      <p:sp>
        <p:nvSpPr>
          <p:cNvPr id="23" name="Rectangle 22">
            <a:extLst>
              <a:ext uri="{FF2B5EF4-FFF2-40B4-BE49-F238E27FC236}">
                <a16:creationId xmlns:a16="http://schemas.microsoft.com/office/drawing/2014/main" id="{D427DE21-E4E9-3B19-B808-5EC8F0B23BD3}"/>
              </a:ext>
            </a:extLst>
          </p:cNvPr>
          <p:cNvSpPr/>
          <p:nvPr/>
        </p:nvSpPr>
        <p:spPr>
          <a:xfrm>
            <a:off x="4450481" y="2740672"/>
            <a:ext cx="3291036" cy="1740397"/>
          </a:xfrm>
          <a:prstGeom prst="rect">
            <a:avLst/>
          </a:prstGeom>
          <a:solidFill>
            <a:schemeClr val="accent6">
              <a:lumMod val="20000"/>
              <a:lumOff val="80000"/>
              <a:alpha val="90000"/>
            </a:schemeClr>
          </a:solidFill>
          <a:ln>
            <a:solidFill>
              <a:schemeClr val="tx1">
                <a:lumMod val="65000"/>
                <a:lumOff val="35000"/>
                <a:alpha val="90000"/>
              </a:schemeClr>
            </a:solidFill>
          </a:ln>
          <a:effectLst>
            <a:outerShdw blurRad="50800" dist="38100" dir="2700000" algn="tl" rotWithShape="0">
              <a:prstClr val="black">
                <a:alpha val="40000"/>
              </a:prstClr>
            </a:outerShdw>
          </a:effectLst>
        </p:spPr>
        <p:style>
          <a:lnRef idx="2">
            <a:schemeClr val="dk2">
              <a:alpha val="90000"/>
              <a:tint val="40000"/>
              <a:hueOff val="0"/>
              <a:satOff val="0"/>
              <a:lumOff val="0"/>
              <a:alphaOff val="0"/>
            </a:schemeClr>
          </a:lnRef>
          <a:fillRef idx="1">
            <a:schemeClr val="dk2">
              <a:alpha val="90000"/>
              <a:tint val="40000"/>
              <a:hueOff val="0"/>
              <a:satOff val="0"/>
              <a:lumOff val="0"/>
              <a:alphaOff val="0"/>
            </a:schemeClr>
          </a:fillRef>
          <a:effectRef idx="0">
            <a:schemeClr val="dk2">
              <a:alpha val="90000"/>
              <a:tint val="40000"/>
              <a:hueOff val="0"/>
              <a:satOff val="0"/>
              <a:lumOff val="0"/>
              <a:alphaOff val="0"/>
            </a:schemeClr>
          </a:effectRef>
          <a:fontRef idx="minor">
            <a:schemeClr val="dk1">
              <a:hueOff val="0"/>
              <a:satOff val="0"/>
              <a:lumOff val="0"/>
              <a:alphaOff val="0"/>
            </a:schemeClr>
          </a:fontRef>
        </p:style>
        <p:txBody>
          <a:bodyPr/>
          <a:lstStyle/>
          <a:p>
            <a:endParaRPr lang="en-NL"/>
          </a:p>
        </p:txBody>
      </p:sp>
      <p:sp>
        <p:nvSpPr>
          <p:cNvPr id="24" name="Freeform: Shape 23">
            <a:extLst>
              <a:ext uri="{FF2B5EF4-FFF2-40B4-BE49-F238E27FC236}">
                <a16:creationId xmlns:a16="http://schemas.microsoft.com/office/drawing/2014/main" id="{73CB7E9B-D1F0-FD06-1D00-47C2CE1A5FA0}"/>
              </a:ext>
            </a:extLst>
          </p:cNvPr>
          <p:cNvSpPr/>
          <p:nvPr/>
        </p:nvSpPr>
        <p:spPr>
          <a:xfrm>
            <a:off x="8202262" y="2244729"/>
            <a:ext cx="3291036" cy="440379"/>
          </a:xfrm>
          <a:custGeom>
            <a:avLst/>
            <a:gdLst>
              <a:gd name="csX0" fmla="*/ 0 w 3291036"/>
              <a:gd name="csY0" fmla="*/ 0 h 1316414"/>
              <a:gd name="csX1" fmla="*/ 3291036 w 3291036"/>
              <a:gd name="csY1" fmla="*/ 0 h 1316414"/>
              <a:gd name="csX2" fmla="*/ 3291036 w 3291036"/>
              <a:gd name="csY2" fmla="*/ 1316414 h 1316414"/>
              <a:gd name="csX3" fmla="*/ 0 w 3291036"/>
              <a:gd name="csY3" fmla="*/ 1316414 h 1316414"/>
              <a:gd name="csX4" fmla="*/ 0 w 3291036"/>
              <a:gd name="csY4" fmla="*/ 0 h 1316414"/>
            </a:gdLst>
            <a:ahLst/>
            <a:cxnLst>
              <a:cxn ang="0">
                <a:pos x="csX0" y="csY0"/>
              </a:cxn>
              <a:cxn ang="0">
                <a:pos x="csX1" y="csY1"/>
              </a:cxn>
              <a:cxn ang="0">
                <a:pos x="csX2" y="csY2"/>
              </a:cxn>
              <a:cxn ang="0">
                <a:pos x="csX3" y="csY3"/>
              </a:cxn>
              <a:cxn ang="0">
                <a:pos x="csX4" y="csY4"/>
              </a:cxn>
            </a:cxnLst>
            <a:rect l="l" t="t" r="r" b="b"/>
            <a:pathLst>
              <a:path w="3291036" h="1316414">
                <a:moveTo>
                  <a:pt x="0" y="0"/>
                </a:moveTo>
                <a:lnTo>
                  <a:pt x="3291036" y="0"/>
                </a:lnTo>
                <a:lnTo>
                  <a:pt x="3291036" y="1316414"/>
                </a:lnTo>
                <a:lnTo>
                  <a:pt x="0" y="1316414"/>
                </a:lnTo>
                <a:lnTo>
                  <a:pt x="0" y="0"/>
                </a:lnTo>
                <a:close/>
              </a:path>
            </a:pathLst>
          </a:custGeom>
          <a:ln>
            <a:noFill/>
          </a:ln>
          <a:effectLst/>
          <a:scene3d>
            <a:camera prst="orthographicFront">
              <a:rot lat="0" lon="0" rev="0"/>
            </a:camera>
            <a:lightRig rig="contrasting" dir="t">
              <a:rot lat="0" lon="0" rev="7800000"/>
            </a:lightRig>
          </a:scene3d>
          <a:sp3d>
            <a:bevelT w="139700" h="139700"/>
          </a:sp3d>
        </p:spPr>
        <p:style>
          <a:lnRef idx="2">
            <a:schemeClr val="dk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419608" tIns="239776" rIns="419608" bIns="239776" numCol="1" spcCol="1270" anchor="ctr" anchorCtr="0">
            <a:noAutofit/>
          </a:bodyPr>
          <a:lstStyle/>
          <a:p>
            <a:pPr lvl="0" algn="ctr" defTabSz="2622550">
              <a:lnSpc>
                <a:spcPct val="90000"/>
              </a:lnSpc>
              <a:spcBef>
                <a:spcPct val="0"/>
              </a:spcBef>
              <a:spcAft>
                <a:spcPct val="35000"/>
              </a:spcAft>
            </a:pPr>
            <a:r>
              <a:rPr lang="en-US" sz="2000" dirty="0"/>
              <a:t>Subset relation</a:t>
            </a:r>
            <a:endParaRPr lang="en-NL" sz="2000" kern="1200" dirty="0"/>
          </a:p>
        </p:txBody>
      </p:sp>
      <p:sp>
        <p:nvSpPr>
          <p:cNvPr id="25" name="Rectangle 24">
            <a:extLst>
              <a:ext uri="{FF2B5EF4-FFF2-40B4-BE49-F238E27FC236}">
                <a16:creationId xmlns:a16="http://schemas.microsoft.com/office/drawing/2014/main" id="{6843A9E1-D060-A06E-0E9D-2302994D4A72}"/>
              </a:ext>
            </a:extLst>
          </p:cNvPr>
          <p:cNvSpPr/>
          <p:nvPr/>
        </p:nvSpPr>
        <p:spPr>
          <a:xfrm>
            <a:off x="8202262" y="2740672"/>
            <a:ext cx="3291036" cy="1740397"/>
          </a:xfrm>
          <a:prstGeom prst="rect">
            <a:avLst/>
          </a:prstGeom>
          <a:solidFill>
            <a:schemeClr val="accent6">
              <a:lumMod val="20000"/>
              <a:lumOff val="80000"/>
              <a:alpha val="90000"/>
            </a:schemeClr>
          </a:solidFill>
          <a:ln>
            <a:solidFill>
              <a:schemeClr val="tx1">
                <a:lumMod val="65000"/>
                <a:lumOff val="35000"/>
                <a:alpha val="90000"/>
              </a:schemeClr>
            </a:solidFill>
          </a:ln>
          <a:effectLst>
            <a:outerShdw blurRad="50800" dist="38100" dir="2700000" algn="tl" rotWithShape="0">
              <a:prstClr val="black">
                <a:alpha val="40000"/>
              </a:prstClr>
            </a:outerShdw>
          </a:effectLst>
        </p:spPr>
        <p:style>
          <a:lnRef idx="2">
            <a:schemeClr val="dk2">
              <a:alpha val="90000"/>
              <a:tint val="40000"/>
              <a:hueOff val="0"/>
              <a:satOff val="0"/>
              <a:lumOff val="0"/>
              <a:alphaOff val="0"/>
            </a:schemeClr>
          </a:lnRef>
          <a:fillRef idx="1">
            <a:schemeClr val="dk2">
              <a:alpha val="90000"/>
              <a:tint val="40000"/>
              <a:hueOff val="0"/>
              <a:satOff val="0"/>
              <a:lumOff val="0"/>
              <a:alphaOff val="0"/>
            </a:schemeClr>
          </a:fillRef>
          <a:effectRef idx="0">
            <a:schemeClr val="dk2">
              <a:alpha val="90000"/>
              <a:tint val="40000"/>
              <a:hueOff val="0"/>
              <a:satOff val="0"/>
              <a:lumOff val="0"/>
              <a:alphaOff val="0"/>
            </a:schemeClr>
          </a:effectRef>
          <a:fontRef idx="minor">
            <a:schemeClr val="dk1">
              <a:hueOff val="0"/>
              <a:satOff val="0"/>
              <a:lumOff val="0"/>
              <a:alphaOff val="0"/>
            </a:schemeClr>
          </a:fontRef>
        </p:style>
        <p:txBody>
          <a:bodyPr/>
          <a:lstStyle/>
          <a:p>
            <a:endParaRPr lang="en-NL"/>
          </a:p>
        </p:txBody>
      </p:sp>
      <p:sp>
        <p:nvSpPr>
          <p:cNvPr id="59" name="Freeform: Shape 58">
            <a:extLst>
              <a:ext uri="{FF2B5EF4-FFF2-40B4-BE49-F238E27FC236}">
                <a16:creationId xmlns:a16="http://schemas.microsoft.com/office/drawing/2014/main" id="{33D899DB-BA25-BBCA-E4CB-02F284C29CF9}"/>
              </a:ext>
            </a:extLst>
          </p:cNvPr>
          <p:cNvSpPr/>
          <p:nvPr/>
        </p:nvSpPr>
        <p:spPr>
          <a:xfrm>
            <a:off x="2191818" y="3382032"/>
            <a:ext cx="327660" cy="766885"/>
          </a:xfrm>
          <a:custGeom>
            <a:avLst/>
            <a:gdLst>
              <a:gd name="csX0" fmla="*/ 163830 w 327660"/>
              <a:gd name="csY0" fmla="*/ 0 h 766885"/>
              <a:gd name="csX1" fmla="*/ 171431 w 327660"/>
              <a:gd name="csY1" fmla="*/ 6271 h 766885"/>
              <a:gd name="csX2" fmla="*/ 327660 w 327660"/>
              <a:gd name="csY2" fmla="*/ 383442 h 766885"/>
              <a:gd name="csX3" fmla="*/ 171431 w 327660"/>
              <a:gd name="csY3" fmla="*/ 760613 h 766885"/>
              <a:gd name="csX4" fmla="*/ 163830 w 327660"/>
              <a:gd name="csY4" fmla="*/ 766885 h 766885"/>
              <a:gd name="csX5" fmla="*/ 156229 w 327660"/>
              <a:gd name="csY5" fmla="*/ 760613 h 766885"/>
              <a:gd name="csX6" fmla="*/ 0 w 327660"/>
              <a:gd name="csY6" fmla="*/ 383442 h 766885"/>
              <a:gd name="csX7" fmla="*/ 156229 w 327660"/>
              <a:gd name="csY7" fmla="*/ 6271 h 766885"/>
              <a:gd name="csX8" fmla="*/ 163830 w 327660"/>
              <a:gd name="csY8" fmla="*/ 0 h 76688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27660" h="766885">
                <a:moveTo>
                  <a:pt x="163830" y="0"/>
                </a:moveTo>
                <a:lnTo>
                  <a:pt x="171431" y="6271"/>
                </a:lnTo>
                <a:cubicBezTo>
                  <a:pt x="267957" y="102798"/>
                  <a:pt x="327660" y="236148"/>
                  <a:pt x="327660" y="383442"/>
                </a:cubicBezTo>
                <a:cubicBezTo>
                  <a:pt x="327660" y="530737"/>
                  <a:pt x="267957" y="664087"/>
                  <a:pt x="171431" y="760613"/>
                </a:cubicBezTo>
                <a:lnTo>
                  <a:pt x="163830" y="766885"/>
                </a:lnTo>
                <a:lnTo>
                  <a:pt x="156229" y="760613"/>
                </a:lnTo>
                <a:cubicBezTo>
                  <a:pt x="59703" y="664087"/>
                  <a:pt x="0" y="530737"/>
                  <a:pt x="0" y="383442"/>
                </a:cubicBezTo>
                <a:cubicBezTo>
                  <a:pt x="0" y="236148"/>
                  <a:pt x="59703" y="102798"/>
                  <a:pt x="156229" y="6271"/>
                </a:cubicBezTo>
                <a:lnTo>
                  <a:pt x="163830" y="0"/>
                </a:lnTo>
                <a:close/>
              </a:path>
            </a:pathLst>
          </a:custGeom>
          <a:solidFill>
            <a:schemeClr val="accent3"/>
          </a:solidFill>
          <a:ln w="28575"/>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NL"/>
          </a:p>
        </p:txBody>
      </p:sp>
      <p:sp>
        <p:nvSpPr>
          <p:cNvPr id="58" name="Freeform: Shape 57">
            <a:extLst>
              <a:ext uri="{FF2B5EF4-FFF2-40B4-BE49-F238E27FC236}">
                <a16:creationId xmlns:a16="http://schemas.microsoft.com/office/drawing/2014/main" id="{18421C1A-B995-CD17-E13C-321EA5DF7733}"/>
              </a:ext>
            </a:extLst>
          </p:cNvPr>
          <p:cNvSpPr/>
          <p:nvPr/>
        </p:nvSpPr>
        <p:spPr>
          <a:xfrm>
            <a:off x="1452678" y="3232073"/>
            <a:ext cx="902970" cy="1066800"/>
          </a:xfrm>
          <a:custGeom>
            <a:avLst/>
            <a:gdLst>
              <a:gd name="csX0" fmla="*/ 533400 w 902970"/>
              <a:gd name="csY0" fmla="*/ 0 h 1066800"/>
              <a:gd name="csX1" fmla="*/ 831629 w 902970"/>
              <a:gd name="csY1" fmla="*/ 91096 h 1066800"/>
              <a:gd name="csX2" fmla="*/ 902970 w 902970"/>
              <a:gd name="csY2" fmla="*/ 149958 h 1066800"/>
              <a:gd name="csX3" fmla="*/ 895369 w 902970"/>
              <a:gd name="csY3" fmla="*/ 156229 h 1066800"/>
              <a:gd name="csX4" fmla="*/ 739140 w 902970"/>
              <a:gd name="csY4" fmla="*/ 533400 h 1066800"/>
              <a:gd name="csX5" fmla="*/ 895369 w 902970"/>
              <a:gd name="csY5" fmla="*/ 910571 h 1066800"/>
              <a:gd name="csX6" fmla="*/ 902970 w 902970"/>
              <a:gd name="csY6" fmla="*/ 916843 h 1066800"/>
              <a:gd name="csX7" fmla="*/ 831629 w 902970"/>
              <a:gd name="csY7" fmla="*/ 975704 h 1066800"/>
              <a:gd name="csX8" fmla="*/ 533400 w 902970"/>
              <a:gd name="csY8" fmla="*/ 1066800 h 1066800"/>
              <a:gd name="csX9" fmla="*/ 0 w 902970"/>
              <a:gd name="csY9" fmla="*/ 533400 h 1066800"/>
              <a:gd name="csX10" fmla="*/ 533400 w 902970"/>
              <a:gd name="csY10" fmla="*/ 0 h 10668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902970" h="1066800">
                <a:moveTo>
                  <a:pt x="533400" y="0"/>
                </a:moveTo>
                <a:cubicBezTo>
                  <a:pt x="643871" y="0"/>
                  <a:pt x="746498" y="33583"/>
                  <a:pt x="831629" y="91096"/>
                </a:cubicBezTo>
                <a:lnTo>
                  <a:pt x="902970" y="149958"/>
                </a:lnTo>
                <a:lnTo>
                  <a:pt x="895369" y="156229"/>
                </a:lnTo>
                <a:cubicBezTo>
                  <a:pt x="798843" y="252756"/>
                  <a:pt x="739140" y="386106"/>
                  <a:pt x="739140" y="533400"/>
                </a:cubicBezTo>
                <a:cubicBezTo>
                  <a:pt x="739140" y="680695"/>
                  <a:pt x="798843" y="814045"/>
                  <a:pt x="895369" y="910571"/>
                </a:cubicBezTo>
                <a:lnTo>
                  <a:pt x="902970" y="916843"/>
                </a:lnTo>
                <a:lnTo>
                  <a:pt x="831629" y="975704"/>
                </a:lnTo>
                <a:cubicBezTo>
                  <a:pt x="746498" y="1033217"/>
                  <a:pt x="643871" y="1066800"/>
                  <a:pt x="533400" y="1066800"/>
                </a:cubicBezTo>
                <a:cubicBezTo>
                  <a:pt x="238811" y="1066800"/>
                  <a:pt x="0" y="827989"/>
                  <a:pt x="0" y="533400"/>
                </a:cubicBezTo>
                <a:cubicBezTo>
                  <a:pt x="0" y="238811"/>
                  <a:pt x="238811" y="0"/>
                  <a:pt x="533400" y="0"/>
                </a:cubicBezTo>
                <a:close/>
              </a:path>
            </a:pathLst>
          </a:custGeom>
          <a:solidFill>
            <a:schemeClr val="accent2">
              <a:lumMod val="20000"/>
              <a:lumOff val="8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NL"/>
          </a:p>
        </p:txBody>
      </p:sp>
      <p:sp>
        <p:nvSpPr>
          <p:cNvPr id="57" name="Freeform: Shape 56">
            <a:extLst>
              <a:ext uri="{FF2B5EF4-FFF2-40B4-BE49-F238E27FC236}">
                <a16:creationId xmlns:a16="http://schemas.microsoft.com/office/drawing/2014/main" id="{D75B1AFE-EE90-E062-D1CE-FDCA3D8C0340}"/>
              </a:ext>
            </a:extLst>
          </p:cNvPr>
          <p:cNvSpPr/>
          <p:nvPr/>
        </p:nvSpPr>
        <p:spPr>
          <a:xfrm>
            <a:off x="2355648" y="3232073"/>
            <a:ext cx="902970" cy="1066800"/>
          </a:xfrm>
          <a:custGeom>
            <a:avLst/>
            <a:gdLst>
              <a:gd name="csX0" fmla="*/ 369570 w 902970"/>
              <a:gd name="csY0" fmla="*/ 0 h 1066800"/>
              <a:gd name="csX1" fmla="*/ 902970 w 902970"/>
              <a:gd name="csY1" fmla="*/ 533400 h 1066800"/>
              <a:gd name="csX2" fmla="*/ 369570 w 902970"/>
              <a:gd name="csY2" fmla="*/ 1066800 h 1066800"/>
              <a:gd name="csX3" fmla="*/ 71341 w 902970"/>
              <a:gd name="csY3" fmla="*/ 975704 h 1066800"/>
              <a:gd name="csX4" fmla="*/ 0 w 902970"/>
              <a:gd name="csY4" fmla="*/ 916843 h 1066800"/>
              <a:gd name="csX5" fmla="*/ 7601 w 902970"/>
              <a:gd name="csY5" fmla="*/ 910571 h 1066800"/>
              <a:gd name="csX6" fmla="*/ 163830 w 902970"/>
              <a:gd name="csY6" fmla="*/ 533400 h 1066800"/>
              <a:gd name="csX7" fmla="*/ 7601 w 902970"/>
              <a:gd name="csY7" fmla="*/ 156229 h 1066800"/>
              <a:gd name="csX8" fmla="*/ 0 w 902970"/>
              <a:gd name="csY8" fmla="*/ 149958 h 1066800"/>
              <a:gd name="csX9" fmla="*/ 71341 w 902970"/>
              <a:gd name="csY9" fmla="*/ 91096 h 1066800"/>
              <a:gd name="csX10" fmla="*/ 369570 w 902970"/>
              <a:gd name="csY10" fmla="*/ 0 h 10668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902970" h="1066800">
                <a:moveTo>
                  <a:pt x="369570" y="0"/>
                </a:moveTo>
                <a:cubicBezTo>
                  <a:pt x="664159" y="0"/>
                  <a:pt x="902970" y="238811"/>
                  <a:pt x="902970" y="533400"/>
                </a:cubicBezTo>
                <a:cubicBezTo>
                  <a:pt x="902970" y="827989"/>
                  <a:pt x="664159" y="1066800"/>
                  <a:pt x="369570" y="1066800"/>
                </a:cubicBezTo>
                <a:cubicBezTo>
                  <a:pt x="259099" y="1066800"/>
                  <a:pt x="156472" y="1033217"/>
                  <a:pt x="71341" y="975704"/>
                </a:cubicBezTo>
                <a:lnTo>
                  <a:pt x="0" y="916843"/>
                </a:lnTo>
                <a:lnTo>
                  <a:pt x="7601" y="910571"/>
                </a:lnTo>
                <a:cubicBezTo>
                  <a:pt x="104127" y="814045"/>
                  <a:pt x="163830" y="680695"/>
                  <a:pt x="163830" y="533400"/>
                </a:cubicBezTo>
                <a:cubicBezTo>
                  <a:pt x="163830" y="386106"/>
                  <a:pt x="104127" y="252756"/>
                  <a:pt x="7601" y="156229"/>
                </a:cubicBezTo>
                <a:lnTo>
                  <a:pt x="0" y="149958"/>
                </a:lnTo>
                <a:lnTo>
                  <a:pt x="71341" y="91096"/>
                </a:lnTo>
                <a:cubicBezTo>
                  <a:pt x="156472" y="33583"/>
                  <a:pt x="259099" y="0"/>
                  <a:pt x="369570" y="0"/>
                </a:cubicBezTo>
                <a:close/>
              </a:path>
            </a:pathLst>
          </a:custGeom>
          <a:solidFill>
            <a:schemeClr val="accent2">
              <a:lumMod val="20000"/>
              <a:lumOff val="8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NL"/>
          </a:p>
        </p:txBody>
      </p:sp>
      <p:sp>
        <p:nvSpPr>
          <p:cNvPr id="30" name="Oval 29">
            <a:extLst>
              <a:ext uri="{FF2B5EF4-FFF2-40B4-BE49-F238E27FC236}">
                <a16:creationId xmlns:a16="http://schemas.microsoft.com/office/drawing/2014/main" id="{3492FD7A-AF5C-FDFF-9AD0-E33188A7AF7C}"/>
              </a:ext>
            </a:extLst>
          </p:cNvPr>
          <p:cNvSpPr/>
          <p:nvPr/>
        </p:nvSpPr>
        <p:spPr>
          <a:xfrm>
            <a:off x="4857750" y="3232073"/>
            <a:ext cx="1066800" cy="1066800"/>
          </a:xfrm>
          <a:prstGeom prst="ellipse">
            <a:avLst/>
          </a:prstGeom>
          <a:solidFill>
            <a:schemeClr val="accent2">
              <a:lumMod val="20000"/>
              <a:lumOff val="8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1" name="Oval 30">
            <a:extLst>
              <a:ext uri="{FF2B5EF4-FFF2-40B4-BE49-F238E27FC236}">
                <a16:creationId xmlns:a16="http://schemas.microsoft.com/office/drawing/2014/main" id="{8C527ACE-4C3E-23B2-D68D-BF8BD42534E3}"/>
              </a:ext>
            </a:extLst>
          </p:cNvPr>
          <p:cNvSpPr/>
          <p:nvPr/>
        </p:nvSpPr>
        <p:spPr>
          <a:xfrm>
            <a:off x="6236569" y="3232073"/>
            <a:ext cx="1066800" cy="1066800"/>
          </a:xfrm>
          <a:prstGeom prst="ellipse">
            <a:avLst/>
          </a:prstGeom>
          <a:solidFill>
            <a:schemeClr val="accent2">
              <a:lumMod val="20000"/>
              <a:lumOff val="8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3" name="Oval 32">
            <a:extLst>
              <a:ext uri="{FF2B5EF4-FFF2-40B4-BE49-F238E27FC236}">
                <a16:creationId xmlns:a16="http://schemas.microsoft.com/office/drawing/2014/main" id="{ABD009F6-083F-3E79-20DD-3555635995D2}"/>
              </a:ext>
            </a:extLst>
          </p:cNvPr>
          <p:cNvSpPr/>
          <p:nvPr/>
        </p:nvSpPr>
        <p:spPr>
          <a:xfrm>
            <a:off x="9314380" y="3232073"/>
            <a:ext cx="1066800" cy="1066800"/>
          </a:xfrm>
          <a:prstGeom prst="ellipse">
            <a:avLst/>
          </a:prstGeom>
          <a:solidFill>
            <a:schemeClr val="accent2">
              <a:lumMod val="20000"/>
              <a:lumOff val="8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4" name="Oval 33">
            <a:extLst>
              <a:ext uri="{FF2B5EF4-FFF2-40B4-BE49-F238E27FC236}">
                <a16:creationId xmlns:a16="http://schemas.microsoft.com/office/drawing/2014/main" id="{6115B2DB-99D7-FAB9-C514-4A42EDDFF4E5}"/>
              </a:ext>
            </a:extLst>
          </p:cNvPr>
          <p:cNvSpPr/>
          <p:nvPr/>
        </p:nvSpPr>
        <p:spPr>
          <a:xfrm>
            <a:off x="9539409" y="3457102"/>
            <a:ext cx="616742" cy="616742"/>
          </a:xfrm>
          <a:prstGeom prst="ellipse">
            <a:avLst/>
          </a:prstGeom>
          <a:solidFill>
            <a:schemeClr val="accent3"/>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47" name="Straight Connector 46">
            <a:extLst>
              <a:ext uri="{FF2B5EF4-FFF2-40B4-BE49-F238E27FC236}">
                <a16:creationId xmlns:a16="http://schemas.microsoft.com/office/drawing/2014/main" id="{52CBE46D-9DF6-464B-B4CE-2C459764A01D}"/>
              </a:ext>
            </a:extLst>
          </p:cNvPr>
          <p:cNvCxnSpPr>
            <a:cxnSpLocks/>
          </p:cNvCxnSpPr>
          <p:nvPr/>
        </p:nvCxnSpPr>
        <p:spPr>
          <a:xfrm>
            <a:off x="5924550" y="2991103"/>
            <a:ext cx="351992" cy="0"/>
          </a:xfrm>
          <a:prstGeom prst="line">
            <a:avLst/>
          </a:prstGeom>
          <a:ln w="28575" cap="flat" cmpd="sng" algn="ctr">
            <a:solidFill>
              <a:schemeClr val="dk1"/>
            </a:solidFill>
            <a:prstDash val="sys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8" name="Straight Connector 47">
            <a:extLst>
              <a:ext uri="{FF2B5EF4-FFF2-40B4-BE49-F238E27FC236}">
                <a16:creationId xmlns:a16="http://schemas.microsoft.com/office/drawing/2014/main" id="{A230264E-BFDC-3012-AC15-1D7FA8408E8F}"/>
              </a:ext>
            </a:extLst>
          </p:cNvPr>
          <p:cNvCxnSpPr>
            <a:cxnSpLocks/>
          </p:cNvCxnSpPr>
          <p:nvPr/>
        </p:nvCxnSpPr>
        <p:spPr>
          <a:xfrm>
            <a:off x="5924550" y="2886328"/>
            <a:ext cx="0" cy="209550"/>
          </a:xfrm>
          <a:prstGeom prst="line">
            <a:avLst/>
          </a:prstGeom>
          <a:ln w="2857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9" name="Straight Connector 48">
            <a:extLst>
              <a:ext uri="{FF2B5EF4-FFF2-40B4-BE49-F238E27FC236}">
                <a16:creationId xmlns:a16="http://schemas.microsoft.com/office/drawing/2014/main" id="{ED30277F-D957-5229-93F9-E58532B375CB}"/>
              </a:ext>
            </a:extLst>
          </p:cNvPr>
          <p:cNvCxnSpPr>
            <a:cxnSpLocks/>
          </p:cNvCxnSpPr>
          <p:nvPr/>
        </p:nvCxnSpPr>
        <p:spPr>
          <a:xfrm>
            <a:off x="6276542" y="2886328"/>
            <a:ext cx="0" cy="209550"/>
          </a:xfrm>
          <a:prstGeom prst="line">
            <a:avLst/>
          </a:prstGeom>
          <a:ln w="2857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51" name="Straight Connector 50">
            <a:extLst>
              <a:ext uri="{FF2B5EF4-FFF2-40B4-BE49-F238E27FC236}">
                <a16:creationId xmlns:a16="http://schemas.microsoft.com/office/drawing/2014/main" id="{F2A65E79-7FFD-9766-A52A-2FABC50B9044}"/>
              </a:ext>
            </a:extLst>
          </p:cNvPr>
          <p:cNvCxnSpPr>
            <a:cxnSpLocks/>
          </p:cNvCxnSpPr>
          <p:nvPr/>
        </p:nvCxnSpPr>
        <p:spPr>
          <a:xfrm>
            <a:off x="2191818" y="2991103"/>
            <a:ext cx="351992" cy="0"/>
          </a:xfrm>
          <a:prstGeom prst="line">
            <a:avLst/>
          </a:prstGeom>
          <a:ln w="28575" cap="flat" cmpd="sng" algn="ctr">
            <a:solidFill>
              <a:schemeClr val="dk1"/>
            </a:solidFill>
            <a:prstDash val="sys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52" name="Straight Connector 51">
            <a:extLst>
              <a:ext uri="{FF2B5EF4-FFF2-40B4-BE49-F238E27FC236}">
                <a16:creationId xmlns:a16="http://schemas.microsoft.com/office/drawing/2014/main" id="{56CA6C67-EC50-1314-1EB2-898108CEEECF}"/>
              </a:ext>
            </a:extLst>
          </p:cNvPr>
          <p:cNvCxnSpPr>
            <a:cxnSpLocks/>
          </p:cNvCxnSpPr>
          <p:nvPr/>
        </p:nvCxnSpPr>
        <p:spPr>
          <a:xfrm>
            <a:off x="2191818" y="2886328"/>
            <a:ext cx="0" cy="209550"/>
          </a:xfrm>
          <a:prstGeom prst="line">
            <a:avLst/>
          </a:prstGeom>
          <a:ln w="2857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53" name="Straight Connector 52">
            <a:extLst>
              <a:ext uri="{FF2B5EF4-FFF2-40B4-BE49-F238E27FC236}">
                <a16:creationId xmlns:a16="http://schemas.microsoft.com/office/drawing/2014/main" id="{20C0CEB8-A0FB-23AE-214A-FEB8DD26B990}"/>
              </a:ext>
            </a:extLst>
          </p:cNvPr>
          <p:cNvCxnSpPr>
            <a:cxnSpLocks/>
          </p:cNvCxnSpPr>
          <p:nvPr/>
        </p:nvCxnSpPr>
        <p:spPr>
          <a:xfrm>
            <a:off x="2543810" y="2886328"/>
            <a:ext cx="0" cy="209550"/>
          </a:xfrm>
          <a:prstGeom prst="line">
            <a:avLst/>
          </a:prstGeom>
          <a:ln w="2857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55" name="TextBox 54">
            <a:extLst>
              <a:ext uri="{FF2B5EF4-FFF2-40B4-BE49-F238E27FC236}">
                <a16:creationId xmlns:a16="http://schemas.microsoft.com/office/drawing/2014/main" id="{908DB6BC-CFA7-B996-1320-21B472DB037E}"/>
              </a:ext>
            </a:extLst>
          </p:cNvPr>
          <p:cNvSpPr txBox="1"/>
          <p:nvPr/>
        </p:nvSpPr>
        <p:spPr>
          <a:xfrm>
            <a:off x="695325" y="1635704"/>
            <a:ext cx="8791061" cy="369332"/>
          </a:xfrm>
          <a:prstGeom prst="rect">
            <a:avLst/>
          </a:prstGeom>
          <a:noFill/>
        </p:spPr>
        <p:txBody>
          <a:bodyPr wrap="none" rtlCol="0">
            <a:spAutoFit/>
          </a:bodyPr>
          <a:lstStyle/>
          <a:p>
            <a:r>
              <a:rPr lang="en-US" dirty="0"/>
              <a:t>Semantic alignment </a:t>
            </a:r>
            <a:r>
              <a:rPr lang="en-US" b="1" dirty="0"/>
              <a:t>is</a:t>
            </a:r>
            <a:r>
              <a:rPr lang="en-US" dirty="0"/>
              <a:t> </a:t>
            </a:r>
            <a:r>
              <a:rPr lang="en-US" b="1" dirty="0"/>
              <a:t>necessary</a:t>
            </a:r>
            <a:r>
              <a:rPr lang="en-US" dirty="0"/>
              <a:t> for interoperability, but it </a:t>
            </a:r>
            <a:r>
              <a:rPr lang="en-US" b="1" dirty="0"/>
              <a:t>is not sufficient </a:t>
            </a:r>
            <a:r>
              <a:rPr lang="en-US" dirty="0"/>
              <a:t>on its own.</a:t>
            </a:r>
            <a:endParaRPr lang="en-NL" dirty="0"/>
          </a:p>
        </p:txBody>
      </p:sp>
      <p:sp>
        <p:nvSpPr>
          <p:cNvPr id="63" name="Content Placeholder 2">
            <a:extLst>
              <a:ext uri="{FF2B5EF4-FFF2-40B4-BE49-F238E27FC236}">
                <a16:creationId xmlns:a16="http://schemas.microsoft.com/office/drawing/2014/main" id="{C4F6D07E-2F55-7EDC-AE12-F2050A38459B}"/>
              </a:ext>
            </a:extLst>
          </p:cNvPr>
          <p:cNvSpPr>
            <a:spLocks noGrp="1"/>
          </p:cNvSpPr>
          <p:nvPr>
            <p:ph idx="1"/>
          </p:nvPr>
        </p:nvSpPr>
        <p:spPr>
          <a:xfrm>
            <a:off x="695325" y="4706098"/>
            <a:ext cx="10801349" cy="1243851"/>
          </a:xfrm>
        </p:spPr>
        <p:txBody>
          <a:bodyPr>
            <a:normAutofit fontScale="77500" lnSpcReduction="20000"/>
          </a:bodyPr>
          <a:lstStyle/>
          <a:p>
            <a:pPr indent="0">
              <a:lnSpc>
                <a:spcPct val="120000"/>
              </a:lnSpc>
              <a:spcBef>
                <a:spcPts val="0"/>
              </a:spcBef>
              <a:spcAft>
                <a:spcPts val="300"/>
              </a:spcAft>
              <a:buNone/>
            </a:pPr>
            <a:r>
              <a:rPr lang="en-US" dirty="0"/>
              <a:t>Semantic relationship between concepts:</a:t>
            </a:r>
          </a:p>
          <a:p>
            <a:pPr lvl="1">
              <a:lnSpc>
                <a:spcPct val="120000"/>
              </a:lnSpc>
              <a:spcBef>
                <a:spcPts val="0"/>
              </a:spcBef>
              <a:spcAft>
                <a:spcPts val="300"/>
              </a:spcAft>
            </a:pPr>
            <a:r>
              <a:rPr lang="en-US" b="1" dirty="0"/>
              <a:t>Strong overlap:</a:t>
            </a:r>
            <a:r>
              <a:rPr lang="en-US" dirty="0"/>
              <a:t> interoperability is more likely, though full preservation of meaning is not guaranteed.</a:t>
            </a:r>
          </a:p>
          <a:p>
            <a:pPr lvl="1">
              <a:lnSpc>
                <a:spcPct val="120000"/>
              </a:lnSpc>
              <a:spcBef>
                <a:spcPts val="0"/>
              </a:spcBef>
              <a:spcAft>
                <a:spcPts val="300"/>
              </a:spcAft>
            </a:pPr>
            <a:r>
              <a:rPr lang="en-US" b="1" dirty="0"/>
              <a:t>Partial overlap:</a:t>
            </a:r>
            <a:r>
              <a:rPr lang="en-US" dirty="0"/>
              <a:t> interoperability is possible, but carries a significant risk of semantic distortion.</a:t>
            </a:r>
          </a:p>
          <a:p>
            <a:pPr lvl="1">
              <a:lnSpc>
                <a:spcPct val="120000"/>
              </a:lnSpc>
              <a:spcBef>
                <a:spcPts val="0"/>
              </a:spcBef>
              <a:spcAft>
                <a:spcPts val="300"/>
              </a:spcAft>
            </a:pPr>
            <a:r>
              <a:rPr lang="en-US" b="1" dirty="0"/>
              <a:t>No overlap:</a:t>
            </a:r>
            <a:r>
              <a:rPr lang="en-US" dirty="0"/>
              <a:t> semantic interoperability is not possible.</a:t>
            </a:r>
          </a:p>
        </p:txBody>
      </p:sp>
      <p:sp>
        <p:nvSpPr>
          <p:cNvPr id="5" name="TextBox 4">
            <a:extLst>
              <a:ext uri="{FF2B5EF4-FFF2-40B4-BE49-F238E27FC236}">
                <a16:creationId xmlns:a16="http://schemas.microsoft.com/office/drawing/2014/main" id="{EC022021-284C-2D3E-4FE9-BFB5F37433F9}"/>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2</a:t>
            </a:r>
            <a:endParaRPr lang="en-NL" sz="1000" b="1" dirty="0"/>
          </a:p>
        </p:txBody>
      </p:sp>
    </p:spTree>
    <p:extLst>
      <p:ext uri="{BB962C8B-B14F-4D97-AF65-F5344CB8AC3E}">
        <p14:creationId xmlns:p14="http://schemas.microsoft.com/office/powerpoint/2010/main" val="288524347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BAB525-D7EF-85FB-D31B-45CE0B0C5FAE}"/>
              </a:ext>
            </a:extLst>
          </p:cNvPr>
          <p:cNvSpPr>
            <a:spLocks noGrp="1"/>
          </p:cNvSpPr>
          <p:nvPr>
            <p:ph type="title"/>
          </p:nvPr>
        </p:nvSpPr>
        <p:spPr/>
        <p:txBody>
          <a:bodyPr/>
          <a:lstStyle/>
          <a:p>
            <a:r>
              <a:rPr lang="en-US" sz="3200" dirty="0"/>
              <a:t>Examples of Semantic Similarity and Difference</a:t>
            </a:r>
            <a:endParaRPr lang="en-NL" sz="3200" dirty="0"/>
          </a:p>
        </p:txBody>
      </p:sp>
      <p:pic>
        <p:nvPicPr>
          <p:cNvPr id="6" name="Content Placeholder 5">
            <a:extLst>
              <a:ext uri="{FF2B5EF4-FFF2-40B4-BE49-F238E27FC236}">
                <a16:creationId xmlns:a16="http://schemas.microsoft.com/office/drawing/2014/main" id="{EA0A33E6-BC83-3307-2AF9-64438684EB56}"/>
              </a:ext>
            </a:extLst>
          </p:cNvPr>
          <p:cNvPicPr>
            <a:picLocks noGrp="1" noChangeAspect="1"/>
          </p:cNvPicPr>
          <p:nvPr>
            <p:ph idx="1"/>
          </p:nvPr>
        </p:nvPicPr>
        <p:blipFill>
          <a:blip r:embed="rId3">
            <a:extLst>
              <a:ext uri="{BEBA8EAE-BF5A-486C-A8C5-ECC9F3942E4B}">
                <a14:imgProps xmlns:a14="http://schemas.microsoft.com/office/drawing/2010/main">
                  <a14:imgLayer r:embed="rId4">
                    <a14:imgEffect>
                      <a14:sharpenSoften amount="10000"/>
                    </a14:imgEffect>
                    <a14:imgEffect>
                      <a14:brightnessContrast contrast="-20000"/>
                    </a14:imgEffect>
                  </a14:imgLayer>
                </a14:imgProps>
              </a:ext>
            </a:extLst>
          </a:blip>
          <a:srcRect t="14860" b="3286"/>
          <a:stretch>
            <a:fillRect/>
          </a:stretch>
        </p:blipFill>
        <p:spPr>
          <a:xfrm>
            <a:off x="1315460" y="1628775"/>
            <a:ext cx="9576956" cy="4321175"/>
          </a:xfrm>
          <a:prstGeom prst="rect">
            <a:avLst/>
          </a:prstGeom>
        </p:spPr>
      </p:pic>
      <p:sp>
        <p:nvSpPr>
          <p:cNvPr id="4" name="Slide Number Placeholder 3">
            <a:extLst>
              <a:ext uri="{FF2B5EF4-FFF2-40B4-BE49-F238E27FC236}">
                <a16:creationId xmlns:a16="http://schemas.microsoft.com/office/drawing/2014/main" id="{830E07BF-EDC0-1F5F-DCE6-C910D6F46597}"/>
              </a:ext>
            </a:extLst>
          </p:cNvPr>
          <p:cNvSpPr>
            <a:spLocks noGrp="1"/>
          </p:cNvSpPr>
          <p:nvPr>
            <p:ph type="sldNum" sz="quarter" idx="12"/>
          </p:nvPr>
        </p:nvSpPr>
        <p:spPr/>
        <p:txBody>
          <a:bodyPr/>
          <a:lstStyle/>
          <a:p>
            <a:fld id="{4FAB73BC-B049-4115-A692-8D63A059BFB8}" type="slidenum">
              <a:rPr lang="en-US" smtClean="0"/>
              <a:pPr/>
              <a:t>67</a:t>
            </a:fld>
            <a:endParaRPr lang="en-US" dirty="0"/>
          </a:p>
        </p:txBody>
      </p:sp>
      <p:sp>
        <p:nvSpPr>
          <p:cNvPr id="7" name="TextBox 6">
            <a:extLst>
              <a:ext uri="{FF2B5EF4-FFF2-40B4-BE49-F238E27FC236}">
                <a16:creationId xmlns:a16="http://schemas.microsoft.com/office/drawing/2014/main" id="{4809DB47-3DED-2030-5BF5-39DC6AE0B2FA}"/>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2</a:t>
            </a:r>
            <a:endParaRPr lang="en-NL" sz="1000" b="1" dirty="0"/>
          </a:p>
        </p:txBody>
      </p:sp>
    </p:spTree>
    <p:extLst>
      <p:ext uri="{BB962C8B-B14F-4D97-AF65-F5344CB8AC3E}">
        <p14:creationId xmlns:p14="http://schemas.microsoft.com/office/powerpoint/2010/main" val="411041346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0BCB6B-B15A-C9A9-B36D-E685EFD1A232}"/>
              </a:ext>
            </a:extLst>
          </p:cNvPr>
          <p:cNvSpPr>
            <a:spLocks noGrp="1"/>
          </p:cNvSpPr>
          <p:nvPr>
            <p:ph type="title"/>
          </p:nvPr>
        </p:nvSpPr>
        <p:spPr/>
        <p:txBody>
          <a:bodyPr/>
          <a:lstStyle/>
          <a:p>
            <a:r>
              <a:rPr lang="en-US" sz="3600" dirty="0"/>
              <a:t>Exact Meaning is not Enough</a:t>
            </a:r>
            <a:endParaRPr lang="en-NL" sz="3600" dirty="0"/>
          </a:p>
        </p:txBody>
      </p:sp>
      <p:sp>
        <p:nvSpPr>
          <p:cNvPr id="4" name="Slide Number Placeholder 3">
            <a:extLst>
              <a:ext uri="{FF2B5EF4-FFF2-40B4-BE49-F238E27FC236}">
                <a16:creationId xmlns:a16="http://schemas.microsoft.com/office/drawing/2014/main" id="{DB4F4FFC-7ACB-BE9B-D8F5-85E2E62E8505}"/>
              </a:ext>
            </a:extLst>
          </p:cNvPr>
          <p:cNvSpPr>
            <a:spLocks noGrp="1"/>
          </p:cNvSpPr>
          <p:nvPr>
            <p:ph type="sldNum" sz="quarter" idx="12"/>
          </p:nvPr>
        </p:nvSpPr>
        <p:spPr/>
        <p:txBody>
          <a:bodyPr/>
          <a:lstStyle/>
          <a:p>
            <a:fld id="{4FAB73BC-B049-4115-A692-8D63A059BFB8}" type="slidenum">
              <a:rPr lang="en-US" smtClean="0"/>
              <a:pPr/>
              <a:t>68</a:t>
            </a:fld>
            <a:endParaRPr lang="en-US" dirty="0"/>
          </a:p>
        </p:txBody>
      </p:sp>
      <p:grpSp>
        <p:nvGrpSpPr>
          <p:cNvPr id="13" name="Group 12">
            <a:extLst>
              <a:ext uri="{FF2B5EF4-FFF2-40B4-BE49-F238E27FC236}">
                <a16:creationId xmlns:a16="http://schemas.microsoft.com/office/drawing/2014/main" id="{34D08A09-1FFB-E6A5-8733-51B49AC3DA24}"/>
              </a:ext>
            </a:extLst>
          </p:cNvPr>
          <p:cNvGrpSpPr/>
          <p:nvPr/>
        </p:nvGrpSpPr>
        <p:grpSpPr>
          <a:xfrm>
            <a:off x="755613" y="2818992"/>
            <a:ext cx="3291036" cy="2869882"/>
            <a:chOff x="698700" y="2244729"/>
            <a:chExt cx="3291036" cy="2869882"/>
          </a:xfrm>
        </p:grpSpPr>
        <p:sp>
          <p:nvSpPr>
            <p:cNvPr id="9" name="Freeform: Shape 8">
              <a:extLst>
                <a:ext uri="{FF2B5EF4-FFF2-40B4-BE49-F238E27FC236}">
                  <a16:creationId xmlns:a16="http://schemas.microsoft.com/office/drawing/2014/main" id="{7B37942D-1E25-C8EA-4D21-C0F44A94594C}"/>
                </a:ext>
              </a:extLst>
            </p:cNvPr>
            <p:cNvSpPr/>
            <p:nvPr/>
          </p:nvSpPr>
          <p:spPr>
            <a:xfrm>
              <a:off x="698700" y="2244729"/>
              <a:ext cx="3291036" cy="440379"/>
            </a:xfrm>
            <a:custGeom>
              <a:avLst/>
              <a:gdLst>
                <a:gd name="csX0" fmla="*/ 0 w 3291036"/>
                <a:gd name="csY0" fmla="*/ 0 h 1316414"/>
                <a:gd name="csX1" fmla="*/ 3291036 w 3291036"/>
                <a:gd name="csY1" fmla="*/ 0 h 1316414"/>
                <a:gd name="csX2" fmla="*/ 3291036 w 3291036"/>
                <a:gd name="csY2" fmla="*/ 1316414 h 1316414"/>
                <a:gd name="csX3" fmla="*/ 0 w 3291036"/>
                <a:gd name="csY3" fmla="*/ 1316414 h 1316414"/>
                <a:gd name="csX4" fmla="*/ 0 w 3291036"/>
                <a:gd name="csY4" fmla="*/ 0 h 1316414"/>
              </a:gdLst>
              <a:ahLst/>
              <a:cxnLst>
                <a:cxn ang="0">
                  <a:pos x="csX0" y="csY0"/>
                </a:cxn>
                <a:cxn ang="0">
                  <a:pos x="csX1" y="csY1"/>
                </a:cxn>
                <a:cxn ang="0">
                  <a:pos x="csX2" y="csY2"/>
                </a:cxn>
                <a:cxn ang="0">
                  <a:pos x="csX3" y="csY3"/>
                </a:cxn>
                <a:cxn ang="0">
                  <a:pos x="csX4" y="csY4"/>
                </a:cxn>
              </a:cxnLst>
              <a:rect l="l" t="t" r="r" b="b"/>
              <a:pathLst>
                <a:path w="3291036" h="1316414">
                  <a:moveTo>
                    <a:pt x="0" y="0"/>
                  </a:moveTo>
                  <a:lnTo>
                    <a:pt x="3291036" y="0"/>
                  </a:lnTo>
                  <a:lnTo>
                    <a:pt x="3291036" y="1316414"/>
                  </a:lnTo>
                  <a:lnTo>
                    <a:pt x="0" y="1316414"/>
                  </a:lnTo>
                  <a:lnTo>
                    <a:pt x="0" y="0"/>
                  </a:lnTo>
                  <a:close/>
                </a:path>
              </a:pathLst>
            </a:custGeom>
            <a:ln>
              <a:noFill/>
            </a:ln>
            <a:effectLst/>
            <a:scene3d>
              <a:camera prst="orthographicFront">
                <a:rot lat="0" lon="0" rev="0"/>
              </a:camera>
              <a:lightRig rig="contrasting" dir="t">
                <a:rot lat="0" lon="0" rev="7800000"/>
              </a:lightRig>
            </a:scene3d>
            <a:sp3d>
              <a:bevelT w="139700" h="139700"/>
            </a:sp3d>
          </p:spPr>
          <p:style>
            <a:lnRef idx="2">
              <a:schemeClr val="dk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419608" tIns="239776" rIns="419608" bIns="239776" numCol="1" spcCol="1270" anchor="ctr" anchorCtr="0">
              <a:noAutofit/>
            </a:bodyPr>
            <a:lstStyle/>
            <a:p>
              <a:pPr algn="ctr" defTabSz="2622550">
                <a:lnSpc>
                  <a:spcPct val="90000"/>
                </a:lnSpc>
                <a:spcBef>
                  <a:spcPct val="0"/>
                </a:spcBef>
                <a:spcAft>
                  <a:spcPct val="35000"/>
                </a:spcAft>
              </a:pPr>
              <a:r>
                <a:rPr lang="en-US" sz="2000" dirty="0"/>
                <a:t>Exact meanings</a:t>
              </a:r>
              <a:endParaRPr lang="en-NL" sz="2000" dirty="0"/>
            </a:p>
          </p:txBody>
        </p:sp>
        <p:sp>
          <p:nvSpPr>
            <p:cNvPr id="10" name="Rectangle 9">
              <a:extLst>
                <a:ext uri="{FF2B5EF4-FFF2-40B4-BE49-F238E27FC236}">
                  <a16:creationId xmlns:a16="http://schemas.microsoft.com/office/drawing/2014/main" id="{C7E03EEE-96FF-A43C-F8BD-35E54F7AB2E8}"/>
                </a:ext>
              </a:extLst>
            </p:cNvPr>
            <p:cNvSpPr/>
            <p:nvPr/>
          </p:nvSpPr>
          <p:spPr>
            <a:xfrm>
              <a:off x="698700" y="2740672"/>
              <a:ext cx="3291036" cy="2373939"/>
            </a:xfrm>
            <a:prstGeom prst="rect">
              <a:avLst/>
            </a:prstGeom>
            <a:solidFill>
              <a:schemeClr val="accent6">
                <a:lumMod val="20000"/>
                <a:lumOff val="80000"/>
                <a:alpha val="90000"/>
              </a:schemeClr>
            </a:solidFill>
            <a:ln>
              <a:solidFill>
                <a:schemeClr val="tx1">
                  <a:lumMod val="65000"/>
                  <a:lumOff val="35000"/>
                  <a:alpha val="90000"/>
                </a:schemeClr>
              </a:solidFill>
            </a:ln>
            <a:effectLst>
              <a:outerShdw blurRad="50800" dist="38100" dir="2700000" algn="tl" rotWithShape="0">
                <a:prstClr val="black">
                  <a:alpha val="40000"/>
                </a:prstClr>
              </a:outerShdw>
            </a:effectLst>
          </p:spPr>
          <p:style>
            <a:lnRef idx="2">
              <a:schemeClr val="dk2">
                <a:alpha val="90000"/>
                <a:tint val="40000"/>
                <a:hueOff val="0"/>
                <a:satOff val="0"/>
                <a:lumOff val="0"/>
                <a:alphaOff val="0"/>
              </a:schemeClr>
            </a:lnRef>
            <a:fillRef idx="1">
              <a:schemeClr val="dk2">
                <a:alpha val="90000"/>
                <a:tint val="40000"/>
                <a:hueOff val="0"/>
                <a:satOff val="0"/>
                <a:lumOff val="0"/>
                <a:alphaOff val="0"/>
              </a:schemeClr>
            </a:fillRef>
            <a:effectRef idx="0">
              <a:schemeClr val="dk2">
                <a:alpha val="90000"/>
                <a:tint val="40000"/>
                <a:hueOff val="0"/>
                <a:satOff val="0"/>
                <a:lumOff val="0"/>
                <a:alphaOff val="0"/>
              </a:schemeClr>
            </a:effectRef>
            <a:fontRef idx="minor">
              <a:schemeClr val="dk1">
                <a:hueOff val="0"/>
                <a:satOff val="0"/>
                <a:lumOff val="0"/>
                <a:alphaOff val="0"/>
              </a:schemeClr>
            </a:fontRef>
          </p:style>
          <p:txBody>
            <a:bodyPr/>
            <a:lstStyle/>
            <a:p>
              <a:endParaRPr lang="en-NL"/>
            </a:p>
          </p:txBody>
        </p:sp>
        <p:sp>
          <p:nvSpPr>
            <p:cNvPr id="11" name="Oval 10">
              <a:extLst>
                <a:ext uri="{FF2B5EF4-FFF2-40B4-BE49-F238E27FC236}">
                  <a16:creationId xmlns:a16="http://schemas.microsoft.com/office/drawing/2014/main" id="{33199A99-60D2-8F86-C7E0-F3AB3B68C342}"/>
                </a:ext>
              </a:extLst>
            </p:cNvPr>
            <p:cNvSpPr/>
            <p:nvPr/>
          </p:nvSpPr>
          <p:spPr>
            <a:xfrm>
              <a:off x="1591649" y="3175072"/>
              <a:ext cx="1505138" cy="1505138"/>
            </a:xfrm>
            <a:prstGeom prst="ellipse">
              <a:avLst/>
            </a:prstGeom>
            <a:solidFill>
              <a:schemeClr val="accent3"/>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A=B</a:t>
              </a:r>
              <a:endParaRPr lang="en-NL" dirty="0"/>
            </a:p>
          </p:txBody>
        </p:sp>
      </p:grpSp>
      <p:sp>
        <p:nvSpPr>
          <p:cNvPr id="12" name="Content Placeholder 2">
            <a:extLst>
              <a:ext uri="{FF2B5EF4-FFF2-40B4-BE49-F238E27FC236}">
                <a16:creationId xmlns:a16="http://schemas.microsoft.com/office/drawing/2014/main" id="{7332A361-BC14-A384-E2C3-9003E569160B}"/>
              </a:ext>
            </a:extLst>
          </p:cNvPr>
          <p:cNvSpPr>
            <a:spLocks noGrp="1"/>
          </p:cNvSpPr>
          <p:nvPr>
            <p:ph idx="1"/>
          </p:nvPr>
        </p:nvSpPr>
        <p:spPr>
          <a:xfrm>
            <a:off x="695325" y="1628776"/>
            <a:ext cx="10801349" cy="4321174"/>
          </a:xfrm>
        </p:spPr>
        <p:txBody>
          <a:bodyPr/>
          <a:lstStyle/>
          <a:p>
            <a:r>
              <a:rPr lang="en-US" dirty="0"/>
              <a:t>If two concepts share exactly the same meaning, that supports semantic interoperability, but it still does not guarantee interoperability overall.</a:t>
            </a:r>
            <a:endParaRPr lang="en-NL" dirty="0"/>
          </a:p>
        </p:txBody>
      </p:sp>
      <p:grpSp>
        <p:nvGrpSpPr>
          <p:cNvPr id="30" name="Group 29">
            <a:extLst>
              <a:ext uri="{FF2B5EF4-FFF2-40B4-BE49-F238E27FC236}">
                <a16:creationId xmlns:a16="http://schemas.microsoft.com/office/drawing/2014/main" id="{7918E919-3E65-74E2-C9B5-E59218E483FD}"/>
              </a:ext>
            </a:extLst>
          </p:cNvPr>
          <p:cNvGrpSpPr/>
          <p:nvPr/>
        </p:nvGrpSpPr>
        <p:grpSpPr>
          <a:xfrm>
            <a:off x="4568624" y="2899019"/>
            <a:ext cx="6856349" cy="2789855"/>
            <a:chOff x="4508336" y="2876286"/>
            <a:chExt cx="6856349" cy="2789855"/>
          </a:xfrm>
        </p:grpSpPr>
        <p:sp>
          <p:nvSpPr>
            <p:cNvPr id="16" name="Freeform: Shape 15">
              <a:extLst>
                <a:ext uri="{FF2B5EF4-FFF2-40B4-BE49-F238E27FC236}">
                  <a16:creationId xmlns:a16="http://schemas.microsoft.com/office/drawing/2014/main" id="{51430092-E9C0-1232-0A8A-48417EF4A59F}"/>
                </a:ext>
              </a:extLst>
            </p:cNvPr>
            <p:cNvSpPr/>
            <p:nvPr/>
          </p:nvSpPr>
          <p:spPr>
            <a:xfrm>
              <a:off x="7214716" y="2876286"/>
              <a:ext cx="4149969" cy="367086"/>
            </a:xfrm>
            <a:custGeom>
              <a:avLst/>
              <a:gdLst>
                <a:gd name="csX0" fmla="*/ 0 w 4190978"/>
                <a:gd name="csY0" fmla="*/ 61182 h 367086"/>
                <a:gd name="csX1" fmla="*/ 61182 w 4190978"/>
                <a:gd name="csY1" fmla="*/ 0 h 367086"/>
                <a:gd name="csX2" fmla="*/ 4129796 w 4190978"/>
                <a:gd name="csY2" fmla="*/ 0 h 367086"/>
                <a:gd name="csX3" fmla="*/ 4190978 w 4190978"/>
                <a:gd name="csY3" fmla="*/ 61182 h 367086"/>
                <a:gd name="csX4" fmla="*/ 4190978 w 4190978"/>
                <a:gd name="csY4" fmla="*/ 305904 h 367086"/>
                <a:gd name="csX5" fmla="*/ 4129796 w 4190978"/>
                <a:gd name="csY5" fmla="*/ 367086 h 367086"/>
                <a:gd name="csX6" fmla="*/ 61182 w 4190978"/>
                <a:gd name="csY6" fmla="*/ 367086 h 367086"/>
                <a:gd name="csX7" fmla="*/ 0 w 4190978"/>
                <a:gd name="csY7" fmla="*/ 305904 h 367086"/>
                <a:gd name="csX8" fmla="*/ 0 w 4190978"/>
                <a:gd name="csY8" fmla="*/ 61182 h 36708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190978" h="367086">
                  <a:moveTo>
                    <a:pt x="0" y="61182"/>
                  </a:moveTo>
                  <a:cubicBezTo>
                    <a:pt x="0" y="27392"/>
                    <a:pt x="27392" y="0"/>
                    <a:pt x="61182" y="0"/>
                  </a:cubicBezTo>
                  <a:lnTo>
                    <a:pt x="4129796" y="0"/>
                  </a:lnTo>
                  <a:cubicBezTo>
                    <a:pt x="4163586" y="0"/>
                    <a:pt x="4190978" y="27392"/>
                    <a:pt x="4190978" y="61182"/>
                  </a:cubicBezTo>
                  <a:lnTo>
                    <a:pt x="4190978" y="305904"/>
                  </a:lnTo>
                  <a:cubicBezTo>
                    <a:pt x="4190978" y="339694"/>
                    <a:pt x="4163586" y="367086"/>
                    <a:pt x="4129796" y="367086"/>
                  </a:cubicBezTo>
                  <a:lnTo>
                    <a:pt x="61182" y="367086"/>
                  </a:lnTo>
                  <a:cubicBezTo>
                    <a:pt x="27392" y="367086"/>
                    <a:pt x="0" y="339694"/>
                    <a:pt x="0" y="305904"/>
                  </a:cubicBezTo>
                  <a:lnTo>
                    <a:pt x="0" y="61182"/>
                  </a:lnTo>
                  <a:close/>
                </a:path>
              </a:pathLst>
            </a:custGeom>
          </p:spPr>
          <p:style>
            <a:lnRef idx="2">
              <a:schemeClr val="accent6">
                <a:alpha val="90000"/>
                <a:tint val="40000"/>
                <a:hueOff val="0"/>
                <a:satOff val="0"/>
                <a:lumOff val="0"/>
                <a:alphaOff val="0"/>
              </a:schemeClr>
            </a:lnRef>
            <a:fillRef idx="1">
              <a:schemeClr val="accent6">
                <a:alpha val="90000"/>
                <a:tint val="40000"/>
                <a:hueOff val="0"/>
                <a:satOff val="0"/>
                <a:lumOff val="0"/>
                <a:alphaOff val="0"/>
              </a:schemeClr>
            </a:fillRef>
            <a:effectRef idx="0">
              <a:schemeClr val="accent6">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28715" tIns="28715" rIns="28715" bIns="28715" numCol="1" spcCol="1270" anchor="ctr" anchorCtr="0">
              <a:noAutofit/>
            </a:bodyPr>
            <a:lstStyle/>
            <a:p>
              <a:pPr marL="0" lvl="1" algn="ctr" defTabSz="755650">
                <a:lnSpc>
                  <a:spcPct val="90000"/>
                </a:lnSpc>
                <a:spcBef>
                  <a:spcPct val="0"/>
                </a:spcBef>
                <a:spcAft>
                  <a:spcPct val="15000"/>
                </a:spcAft>
              </a:pPr>
              <a:r>
                <a:rPr lang="en-US" sz="1600" kern="1200" dirty="0"/>
                <a:t>JSON vs XML vs CSV</a:t>
              </a:r>
              <a:endParaRPr lang="en-NL" sz="1600" kern="1200" dirty="0"/>
            </a:p>
          </p:txBody>
        </p:sp>
        <p:sp>
          <p:nvSpPr>
            <p:cNvPr id="17" name="Freeform: Shape 16">
              <a:extLst>
                <a:ext uri="{FF2B5EF4-FFF2-40B4-BE49-F238E27FC236}">
                  <a16:creationId xmlns:a16="http://schemas.microsoft.com/office/drawing/2014/main" id="{56B6D6A3-1D96-989A-4AE8-A0AC28410CF4}"/>
                </a:ext>
              </a:extLst>
            </p:cNvPr>
            <p:cNvSpPr/>
            <p:nvPr/>
          </p:nvSpPr>
          <p:spPr>
            <a:xfrm>
              <a:off x="4508336" y="2876286"/>
              <a:ext cx="2793985" cy="367086"/>
            </a:xfrm>
            <a:custGeom>
              <a:avLst/>
              <a:gdLst>
                <a:gd name="csX0" fmla="*/ 0 w 2793985"/>
                <a:gd name="csY0" fmla="*/ 61182 h 367086"/>
                <a:gd name="csX1" fmla="*/ 61182 w 2793985"/>
                <a:gd name="csY1" fmla="*/ 0 h 367086"/>
                <a:gd name="csX2" fmla="*/ 2732803 w 2793985"/>
                <a:gd name="csY2" fmla="*/ 0 h 367086"/>
                <a:gd name="csX3" fmla="*/ 2793985 w 2793985"/>
                <a:gd name="csY3" fmla="*/ 61182 h 367086"/>
                <a:gd name="csX4" fmla="*/ 2793985 w 2793985"/>
                <a:gd name="csY4" fmla="*/ 305904 h 367086"/>
                <a:gd name="csX5" fmla="*/ 2732803 w 2793985"/>
                <a:gd name="csY5" fmla="*/ 367086 h 367086"/>
                <a:gd name="csX6" fmla="*/ 61182 w 2793985"/>
                <a:gd name="csY6" fmla="*/ 367086 h 367086"/>
                <a:gd name="csX7" fmla="*/ 0 w 2793985"/>
                <a:gd name="csY7" fmla="*/ 305904 h 367086"/>
                <a:gd name="csX8" fmla="*/ 0 w 2793985"/>
                <a:gd name="csY8" fmla="*/ 61182 h 36708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793985" h="367086">
                  <a:moveTo>
                    <a:pt x="0" y="61182"/>
                  </a:moveTo>
                  <a:cubicBezTo>
                    <a:pt x="0" y="27392"/>
                    <a:pt x="27392" y="0"/>
                    <a:pt x="61182" y="0"/>
                  </a:cubicBezTo>
                  <a:lnTo>
                    <a:pt x="2732803" y="0"/>
                  </a:lnTo>
                  <a:cubicBezTo>
                    <a:pt x="2766593" y="0"/>
                    <a:pt x="2793985" y="27392"/>
                    <a:pt x="2793985" y="61182"/>
                  </a:cubicBezTo>
                  <a:lnTo>
                    <a:pt x="2793985" y="305904"/>
                  </a:lnTo>
                  <a:cubicBezTo>
                    <a:pt x="2793985" y="339694"/>
                    <a:pt x="2766593" y="367086"/>
                    <a:pt x="2732803" y="367086"/>
                  </a:cubicBezTo>
                  <a:lnTo>
                    <a:pt x="61182" y="367086"/>
                  </a:lnTo>
                  <a:cubicBezTo>
                    <a:pt x="27392" y="367086"/>
                    <a:pt x="0" y="339694"/>
                    <a:pt x="0" y="305904"/>
                  </a:cubicBezTo>
                  <a:lnTo>
                    <a:pt x="0" y="61182"/>
                  </a:lnTo>
                  <a:close/>
                </a:path>
              </a:pathLst>
            </a:cu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82690" tIns="50305" rIns="82690" bIns="50305" numCol="1" spcCol="1270" anchor="ctr" anchorCtr="0">
              <a:noAutofit/>
            </a:bodyPr>
            <a:lstStyle/>
            <a:p>
              <a:pPr marL="0" lvl="0" indent="0" algn="ctr" defTabSz="755650">
                <a:lnSpc>
                  <a:spcPct val="90000"/>
                </a:lnSpc>
                <a:spcBef>
                  <a:spcPct val="0"/>
                </a:spcBef>
                <a:spcAft>
                  <a:spcPct val="35000"/>
                </a:spcAft>
                <a:buNone/>
              </a:pPr>
              <a:r>
                <a:rPr lang="en-US" sz="1600" kern="1200" dirty="0"/>
                <a:t>Format/syntax:</a:t>
              </a:r>
              <a:endParaRPr lang="en-NL" sz="1600" kern="1200" dirty="0"/>
            </a:p>
          </p:txBody>
        </p:sp>
        <p:sp>
          <p:nvSpPr>
            <p:cNvPr id="18" name="Freeform: Shape 17">
              <a:extLst>
                <a:ext uri="{FF2B5EF4-FFF2-40B4-BE49-F238E27FC236}">
                  <a16:creationId xmlns:a16="http://schemas.microsoft.com/office/drawing/2014/main" id="{69003029-480E-AAA7-8BD2-42FA101A87D1}"/>
                </a:ext>
              </a:extLst>
            </p:cNvPr>
            <p:cNvSpPr/>
            <p:nvPr/>
          </p:nvSpPr>
          <p:spPr>
            <a:xfrm>
              <a:off x="7214716" y="3280081"/>
              <a:ext cx="4149969" cy="367086"/>
            </a:xfrm>
            <a:custGeom>
              <a:avLst/>
              <a:gdLst>
                <a:gd name="csX0" fmla="*/ 0 w 4190978"/>
                <a:gd name="csY0" fmla="*/ 61182 h 367086"/>
                <a:gd name="csX1" fmla="*/ 61182 w 4190978"/>
                <a:gd name="csY1" fmla="*/ 0 h 367086"/>
                <a:gd name="csX2" fmla="*/ 4129796 w 4190978"/>
                <a:gd name="csY2" fmla="*/ 0 h 367086"/>
                <a:gd name="csX3" fmla="*/ 4190978 w 4190978"/>
                <a:gd name="csY3" fmla="*/ 61182 h 367086"/>
                <a:gd name="csX4" fmla="*/ 4190978 w 4190978"/>
                <a:gd name="csY4" fmla="*/ 305904 h 367086"/>
                <a:gd name="csX5" fmla="*/ 4129796 w 4190978"/>
                <a:gd name="csY5" fmla="*/ 367086 h 367086"/>
                <a:gd name="csX6" fmla="*/ 61182 w 4190978"/>
                <a:gd name="csY6" fmla="*/ 367086 h 367086"/>
                <a:gd name="csX7" fmla="*/ 0 w 4190978"/>
                <a:gd name="csY7" fmla="*/ 305904 h 367086"/>
                <a:gd name="csX8" fmla="*/ 0 w 4190978"/>
                <a:gd name="csY8" fmla="*/ 61182 h 36708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190978" h="367086">
                  <a:moveTo>
                    <a:pt x="0" y="61182"/>
                  </a:moveTo>
                  <a:cubicBezTo>
                    <a:pt x="0" y="27392"/>
                    <a:pt x="27392" y="0"/>
                    <a:pt x="61182" y="0"/>
                  </a:cubicBezTo>
                  <a:lnTo>
                    <a:pt x="4129796" y="0"/>
                  </a:lnTo>
                  <a:cubicBezTo>
                    <a:pt x="4163586" y="0"/>
                    <a:pt x="4190978" y="27392"/>
                    <a:pt x="4190978" y="61182"/>
                  </a:cubicBezTo>
                  <a:lnTo>
                    <a:pt x="4190978" y="305904"/>
                  </a:lnTo>
                  <a:cubicBezTo>
                    <a:pt x="4190978" y="339694"/>
                    <a:pt x="4163586" y="367086"/>
                    <a:pt x="4129796" y="367086"/>
                  </a:cubicBezTo>
                  <a:lnTo>
                    <a:pt x="61182" y="367086"/>
                  </a:lnTo>
                  <a:cubicBezTo>
                    <a:pt x="27392" y="367086"/>
                    <a:pt x="0" y="339694"/>
                    <a:pt x="0" y="305904"/>
                  </a:cubicBezTo>
                  <a:lnTo>
                    <a:pt x="0" y="61182"/>
                  </a:lnTo>
                  <a:close/>
                </a:path>
              </a:pathLst>
            </a:custGeom>
          </p:spPr>
          <p:style>
            <a:lnRef idx="2">
              <a:schemeClr val="accent6">
                <a:alpha val="90000"/>
                <a:tint val="40000"/>
                <a:hueOff val="0"/>
                <a:satOff val="0"/>
                <a:lumOff val="0"/>
                <a:alphaOff val="0"/>
              </a:schemeClr>
            </a:lnRef>
            <a:fillRef idx="1">
              <a:schemeClr val="accent6">
                <a:alpha val="90000"/>
                <a:tint val="40000"/>
                <a:hueOff val="0"/>
                <a:satOff val="0"/>
                <a:lumOff val="0"/>
                <a:alphaOff val="0"/>
              </a:schemeClr>
            </a:fillRef>
            <a:effectRef idx="0">
              <a:schemeClr val="accent6">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28715" tIns="28715" rIns="28715" bIns="28715" numCol="1" spcCol="1270" anchor="ctr" anchorCtr="0">
              <a:noAutofit/>
            </a:bodyPr>
            <a:lstStyle/>
            <a:p>
              <a:pPr marL="0" lvl="1" algn="ctr" defTabSz="755650">
                <a:lnSpc>
                  <a:spcPct val="90000"/>
                </a:lnSpc>
                <a:spcBef>
                  <a:spcPct val="0"/>
                </a:spcBef>
                <a:spcAft>
                  <a:spcPct val="15000"/>
                </a:spcAft>
              </a:pPr>
              <a:r>
                <a:rPr lang="en-US" sz="1600" kern="1200" dirty="0"/>
                <a:t>different fields, nesting, cardinalities</a:t>
              </a:r>
              <a:endParaRPr lang="en-NL" sz="1600" kern="1200" dirty="0"/>
            </a:p>
          </p:txBody>
        </p:sp>
        <p:sp>
          <p:nvSpPr>
            <p:cNvPr id="19" name="Freeform: Shape 18">
              <a:extLst>
                <a:ext uri="{FF2B5EF4-FFF2-40B4-BE49-F238E27FC236}">
                  <a16:creationId xmlns:a16="http://schemas.microsoft.com/office/drawing/2014/main" id="{7A5BA93C-A947-415B-F24D-CE2694B7FB58}"/>
                </a:ext>
              </a:extLst>
            </p:cNvPr>
            <p:cNvSpPr/>
            <p:nvPr/>
          </p:nvSpPr>
          <p:spPr>
            <a:xfrm>
              <a:off x="4508336" y="3280081"/>
              <a:ext cx="2793985" cy="367086"/>
            </a:xfrm>
            <a:custGeom>
              <a:avLst/>
              <a:gdLst>
                <a:gd name="csX0" fmla="*/ 0 w 2793985"/>
                <a:gd name="csY0" fmla="*/ 61182 h 367086"/>
                <a:gd name="csX1" fmla="*/ 61182 w 2793985"/>
                <a:gd name="csY1" fmla="*/ 0 h 367086"/>
                <a:gd name="csX2" fmla="*/ 2732803 w 2793985"/>
                <a:gd name="csY2" fmla="*/ 0 h 367086"/>
                <a:gd name="csX3" fmla="*/ 2793985 w 2793985"/>
                <a:gd name="csY3" fmla="*/ 61182 h 367086"/>
                <a:gd name="csX4" fmla="*/ 2793985 w 2793985"/>
                <a:gd name="csY4" fmla="*/ 305904 h 367086"/>
                <a:gd name="csX5" fmla="*/ 2732803 w 2793985"/>
                <a:gd name="csY5" fmla="*/ 367086 h 367086"/>
                <a:gd name="csX6" fmla="*/ 61182 w 2793985"/>
                <a:gd name="csY6" fmla="*/ 367086 h 367086"/>
                <a:gd name="csX7" fmla="*/ 0 w 2793985"/>
                <a:gd name="csY7" fmla="*/ 305904 h 367086"/>
                <a:gd name="csX8" fmla="*/ 0 w 2793985"/>
                <a:gd name="csY8" fmla="*/ 61182 h 36708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793985" h="367086">
                  <a:moveTo>
                    <a:pt x="0" y="61182"/>
                  </a:moveTo>
                  <a:cubicBezTo>
                    <a:pt x="0" y="27392"/>
                    <a:pt x="27392" y="0"/>
                    <a:pt x="61182" y="0"/>
                  </a:cubicBezTo>
                  <a:lnTo>
                    <a:pt x="2732803" y="0"/>
                  </a:lnTo>
                  <a:cubicBezTo>
                    <a:pt x="2766593" y="0"/>
                    <a:pt x="2793985" y="27392"/>
                    <a:pt x="2793985" y="61182"/>
                  </a:cubicBezTo>
                  <a:lnTo>
                    <a:pt x="2793985" y="305904"/>
                  </a:lnTo>
                  <a:cubicBezTo>
                    <a:pt x="2793985" y="339694"/>
                    <a:pt x="2766593" y="367086"/>
                    <a:pt x="2732803" y="367086"/>
                  </a:cubicBezTo>
                  <a:lnTo>
                    <a:pt x="61182" y="367086"/>
                  </a:lnTo>
                  <a:cubicBezTo>
                    <a:pt x="27392" y="367086"/>
                    <a:pt x="0" y="339694"/>
                    <a:pt x="0" y="305904"/>
                  </a:cubicBezTo>
                  <a:lnTo>
                    <a:pt x="0" y="61182"/>
                  </a:lnTo>
                  <a:close/>
                </a:path>
              </a:pathLst>
            </a:cu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82690" tIns="50305" rIns="82690" bIns="50305" numCol="1" spcCol="1270" anchor="ctr" anchorCtr="0">
              <a:noAutofit/>
            </a:bodyPr>
            <a:lstStyle/>
            <a:p>
              <a:pPr marL="0" lvl="0" indent="0" algn="ctr" defTabSz="755650">
                <a:lnSpc>
                  <a:spcPct val="90000"/>
                </a:lnSpc>
                <a:spcBef>
                  <a:spcPct val="0"/>
                </a:spcBef>
                <a:spcAft>
                  <a:spcPct val="35000"/>
                </a:spcAft>
                <a:buNone/>
              </a:pPr>
              <a:r>
                <a:rPr lang="en-US" sz="1600" kern="1200" dirty="0"/>
                <a:t>Data model/structure:</a:t>
              </a:r>
              <a:endParaRPr lang="en-NL" sz="1600" kern="1200" dirty="0"/>
            </a:p>
          </p:txBody>
        </p:sp>
        <p:sp>
          <p:nvSpPr>
            <p:cNvPr id="20" name="Freeform: Shape 19">
              <a:extLst>
                <a:ext uri="{FF2B5EF4-FFF2-40B4-BE49-F238E27FC236}">
                  <a16:creationId xmlns:a16="http://schemas.microsoft.com/office/drawing/2014/main" id="{D57965C5-A0DD-623B-E704-B283E9D753DF}"/>
                </a:ext>
              </a:extLst>
            </p:cNvPr>
            <p:cNvSpPr/>
            <p:nvPr/>
          </p:nvSpPr>
          <p:spPr>
            <a:xfrm>
              <a:off x="7214716" y="3683876"/>
              <a:ext cx="4149969" cy="367086"/>
            </a:xfrm>
            <a:custGeom>
              <a:avLst/>
              <a:gdLst>
                <a:gd name="csX0" fmla="*/ 0 w 4190978"/>
                <a:gd name="csY0" fmla="*/ 61182 h 367086"/>
                <a:gd name="csX1" fmla="*/ 61182 w 4190978"/>
                <a:gd name="csY1" fmla="*/ 0 h 367086"/>
                <a:gd name="csX2" fmla="*/ 4129796 w 4190978"/>
                <a:gd name="csY2" fmla="*/ 0 h 367086"/>
                <a:gd name="csX3" fmla="*/ 4190978 w 4190978"/>
                <a:gd name="csY3" fmla="*/ 61182 h 367086"/>
                <a:gd name="csX4" fmla="*/ 4190978 w 4190978"/>
                <a:gd name="csY4" fmla="*/ 305904 h 367086"/>
                <a:gd name="csX5" fmla="*/ 4129796 w 4190978"/>
                <a:gd name="csY5" fmla="*/ 367086 h 367086"/>
                <a:gd name="csX6" fmla="*/ 61182 w 4190978"/>
                <a:gd name="csY6" fmla="*/ 367086 h 367086"/>
                <a:gd name="csX7" fmla="*/ 0 w 4190978"/>
                <a:gd name="csY7" fmla="*/ 305904 h 367086"/>
                <a:gd name="csX8" fmla="*/ 0 w 4190978"/>
                <a:gd name="csY8" fmla="*/ 61182 h 36708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190978" h="367086">
                  <a:moveTo>
                    <a:pt x="0" y="61182"/>
                  </a:moveTo>
                  <a:cubicBezTo>
                    <a:pt x="0" y="27392"/>
                    <a:pt x="27392" y="0"/>
                    <a:pt x="61182" y="0"/>
                  </a:cubicBezTo>
                  <a:lnTo>
                    <a:pt x="4129796" y="0"/>
                  </a:lnTo>
                  <a:cubicBezTo>
                    <a:pt x="4163586" y="0"/>
                    <a:pt x="4190978" y="27392"/>
                    <a:pt x="4190978" y="61182"/>
                  </a:cubicBezTo>
                  <a:lnTo>
                    <a:pt x="4190978" y="305904"/>
                  </a:lnTo>
                  <a:cubicBezTo>
                    <a:pt x="4190978" y="339694"/>
                    <a:pt x="4163586" y="367086"/>
                    <a:pt x="4129796" y="367086"/>
                  </a:cubicBezTo>
                  <a:lnTo>
                    <a:pt x="61182" y="367086"/>
                  </a:lnTo>
                  <a:cubicBezTo>
                    <a:pt x="27392" y="367086"/>
                    <a:pt x="0" y="339694"/>
                    <a:pt x="0" y="305904"/>
                  </a:cubicBezTo>
                  <a:lnTo>
                    <a:pt x="0" y="61182"/>
                  </a:lnTo>
                  <a:close/>
                </a:path>
              </a:pathLst>
            </a:custGeom>
          </p:spPr>
          <p:style>
            <a:lnRef idx="2">
              <a:schemeClr val="accent6">
                <a:alpha val="90000"/>
                <a:tint val="40000"/>
                <a:hueOff val="0"/>
                <a:satOff val="0"/>
                <a:lumOff val="0"/>
                <a:alphaOff val="0"/>
              </a:schemeClr>
            </a:lnRef>
            <a:fillRef idx="1">
              <a:schemeClr val="accent6">
                <a:alpha val="90000"/>
                <a:tint val="40000"/>
                <a:hueOff val="0"/>
                <a:satOff val="0"/>
                <a:lumOff val="0"/>
                <a:alphaOff val="0"/>
              </a:schemeClr>
            </a:fillRef>
            <a:effectRef idx="0">
              <a:schemeClr val="accent6">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28715" tIns="28715" rIns="28715" bIns="28715" numCol="1" spcCol="1270" anchor="ctr" anchorCtr="0">
              <a:noAutofit/>
            </a:bodyPr>
            <a:lstStyle/>
            <a:p>
              <a:pPr marL="0" lvl="1" algn="ctr" defTabSz="755650">
                <a:lnSpc>
                  <a:spcPct val="90000"/>
                </a:lnSpc>
                <a:spcBef>
                  <a:spcPct val="0"/>
                </a:spcBef>
                <a:spcAft>
                  <a:spcPct val="15000"/>
                </a:spcAft>
              </a:pPr>
              <a:r>
                <a:rPr lang="en-US" sz="1600" kern="1200" dirty="0"/>
                <a:t>codes, labels, datatypes, date formats</a:t>
              </a:r>
              <a:endParaRPr lang="en-NL" sz="1600" kern="1200" dirty="0"/>
            </a:p>
          </p:txBody>
        </p:sp>
        <p:sp>
          <p:nvSpPr>
            <p:cNvPr id="21" name="Freeform: Shape 20">
              <a:extLst>
                <a:ext uri="{FF2B5EF4-FFF2-40B4-BE49-F238E27FC236}">
                  <a16:creationId xmlns:a16="http://schemas.microsoft.com/office/drawing/2014/main" id="{F331B44D-99DA-53B6-458E-64D24306237C}"/>
                </a:ext>
              </a:extLst>
            </p:cNvPr>
            <p:cNvSpPr/>
            <p:nvPr/>
          </p:nvSpPr>
          <p:spPr>
            <a:xfrm>
              <a:off x="4508336" y="3683876"/>
              <a:ext cx="2793985" cy="367086"/>
            </a:xfrm>
            <a:custGeom>
              <a:avLst/>
              <a:gdLst>
                <a:gd name="csX0" fmla="*/ 0 w 2793985"/>
                <a:gd name="csY0" fmla="*/ 61182 h 367086"/>
                <a:gd name="csX1" fmla="*/ 61182 w 2793985"/>
                <a:gd name="csY1" fmla="*/ 0 h 367086"/>
                <a:gd name="csX2" fmla="*/ 2732803 w 2793985"/>
                <a:gd name="csY2" fmla="*/ 0 h 367086"/>
                <a:gd name="csX3" fmla="*/ 2793985 w 2793985"/>
                <a:gd name="csY3" fmla="*/ 61182 h 367086"/>
                <a:gd name="csX4" fmla="*/ 2793985 w 2793985"/>
                <a:gd name="csY4" fmla="*/ 305904 h 367086"/>
                <a:gd name="csX5" fmla="*/ 2732803 w 2793985"/>
                <a:gd name="csY5" fmla="*/ 367086 h 367086"/>
                <a:gd name="csX6" fmla="*/ 61182 w 2793985"/>
                <a:gd name="csY6" fmla="*/ 367086 h 367086"/>
                <a:gd name="csX7" fmla="*/ 0 w 2793985"/>
                <a:gd name="csY7" fmla="*/ 305904 h 367086"/>
                <a:gd name="csX8" fmla="*/ 0 w 2793985"/>
                <a:gd name="csY8" fmla="*/ 61182 h 36708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793985" h="367086">
                  <a:moveTo>
                    <a:pt x="0" y="61182"/>
                  </a:moveTo>
                  <a:cubicBezTo>
                    <a:pt x="0" y="27392"/>
                    <a:pt x="27392" y="0"/>
                    <a:pt x="61182" y="0"/>
                  </a:cubicBezTo>
                  <a:lnTo>
                    <a:pt x="2732803" y="0"/>
                  </a:lnTo>
                  <a:cubicBezTo>
                    <a:pt x="2766593" y="0"/>
                    <a:pt x="2793985" y="27392"/>
                    <a:pt x="2793985" y="61182"/>
                  </a:cubicBezTo>
                  <a:lnTo>
                    <a:pt x="2793985" y="305904"/>
                  </a:lnTo>
                  <a:cubicBezTo>
                    <a:pt x="2793985" y="339694"/>
                    <a:pt x="2766593" y="367086"/>
                    <a:pt x="2732803" y="367086"/>
                  </a:cubicBezTo>
                  <a:lnTo>
                    <a:pt x="61182" y="367086"/>
                  </a:lnTo>
                  <a:cubicBezTo>
                    <a:pt x="27392" y="367086"/>
                    <a:pt x="0" y="339694"/>
                    <a:pt x="0" y="305904"/>
                  </a:cubicBezTo>
                  <a:lnTo>
                    <a:pt x="0" y="61182"/>
                  </a:lnTo>
                  <a:close/>
                </a:path>
              </a:pathLst>
            </a:cu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82690" tIns="50305" rIns="82690" bIns="50305" numCol="1" spcCol="1270" anchor="ctr" anchorCtr="0">
              <a:noAutofit/>
            </a:bodyPr>
            <a:lstStyle/>
            <a:p>
              <a:pPr marL="0" lvl="0" indent="0" algn="ctr" defTabSz="755650">
                <a:lnSpc>
                  <a:spcPct val="90000"/>
                </a:lnSpc>
                <a:spcBef>
                  <a:spcPct val="0"/>
                </a:spcBef>
                <a:spcAft>
                  <a:spcPct val="35000"/>
                </a:spcAft>
                <a:buNone/>
              </a:pPr>
              <a:r>
                <a:rPr lang="en-US" sz="1600" kern="1200" dirty="0"/>
                <a:t>Value representation:</a:t>
              </a:r>
              <a:endParaRPr lang="en-NL" sz="1600" kern="1200" dirty="0"/>
            </a:p>
          </p:txBody>
        </p:sp>
        <p:sp>
          <p:nvSpPr>
            <p:cNvPr id="22" name="Freeform: Shape 21">
              <a:extLst>
                <a:ext uri="{FF2B5EF4-FFF2-40B4-BE49-F238E27FC236}">
                  <a16:creationId xmlns:a16="http://schemas.microsoft.com/office/drawing/2014/main" id="{F3E2D2A9-6CD1-940E-5702-BD6F9983E2F8}"/>
                </a:ext>
              </a:extLst>
            </p:cNvPr>
            <p:cNvSpPr/>
            <p:nvPr/>
          </p:nvSpPr>
          <p:spPr>
            <a:xfrm>
              <a:off x="7214716" y="4087670"/>
              <a:ext cx="4149969" cy="367086"/>
            </a:xfrm>
            <a:custGeom>
              <a:avLst/>
              <a:gdLst>
                <a:gd name="csX0" fmla="*/ 0 w 4190978"/>
                <a:gd name="csY0" fmla="*/ 61182 h 367086"/>
                <a:gd name="csX1" fmla="*/ 61182 w 4190978"/>
                <a:gd name="csY1" fmla="*/ 0 h 367086"/>
                <a:gd name="csX2" fmla="*/ 4129796 w 4190978"/>
                <a:gd name="csY2" fmla="*/ 0 h 367086"/>
                <a:gd name="csX3" fmla="*/ 4190978 w 4190978"/>
                <a:gd name="csY3" fmla="*/ 61182 h 367086"/>
                <a:gd name="csX4" fmla="*/ 4190978 w 4190978"/>
                <a:gd name="csY4" fmla="*/ 305904 h 367086"/>
                <a:gd name="csX5" fmla="*/ 4129796 w 4190978"/>
                <a:gd name="csY5" fmla="*/ 367086 h 367086"/>
                <a:gd name="csX6" fmla="*/ 61182 w 4190978"/>
                <a:gd name="csY6" fmla="*/ 367086 h 367086"/>
                <a:gd name="csX7" fmla="*/ 0 w 4190978"/>
                <a:gd name="csY7" fmla="*/ 305904 h 367086"/>
                <a:gd name="csX8" fmla="*/ 0 w 4190978"/>
                <a:gd name="csY8" fmla="*/ 61182 h 36708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190978" h="367086">
                  <a:moveTo>
                    <a:pt x="0" y="61182"/>
                  </a:moveTo>
                  <a:cubicBezTo>
                    <a:pt x="0" y="27392"/>
                    <a:pt x="27392" y="0"/>
                    <a:pt x="61182" y="0"/>
                  </a:cubicBezTo>
                  <a:lnTo>
                    <a:pt x="4129796" y="0"/>
                  </a:lnTo>
                  <a:cubicBezTo>
                    <a:pt x="4163586" y="0"/>
                    <a:pt x="4190978" y="27392"/>
                    <a:pt x="4190978" y="61182"/>
                  </a:cubicBezTo>
                  <a:lnTo>
                    <a:pt x="4190978" y="305904"/>
                  </a:lnTo>
                  <a:cubicBezTo>
                    <a:pt x="4190978" y="339694"/>
                    <a:pt x="4163586" y="367086"/>
                    <a:pt x="4129796" y="367086"/>
                  </a:cubicBezTo>
                  <a:lnTo>
                    <a:pt x="61182" y="367086"/>
                  </a:lnTo>
                  <a:cubicBezTo>
                    <a:pt x="27392" y="367086"/>
                    <a:pt x="0" y="339694"/>
                    <a:pt x="0" y="305904"/>
                  </a:cubicBezTo>
                  <a:lnTo>
                    <a:pt x="0" y="61182"/>
                  </a:lnTo>
                  <a:close/>
                </a:path>
              </a:pathLst>
            </a:custGeom>
          </p:spPr>
          <p:style>
            <a:lnRef idx="2">
              <a:schemeClr val="accent6">
                <a:alpha val="90000"/>
                <a:tint val="40000"/>
                <a:hueOff val="0"/>
                <a:satOff val="0"/>
                <a:lumOff val="0"/>
                <a:alphaOff val="0"/>
              </a:schemeClr>
            </a:lnRef>
            <a:fillRef idx="1">
              <a:schemeClr val="accent6">
                <a:alpha val="90000"/>
                <a:tint val="40000"/>
                <a:hueOff val="0"/>
                <a:satOff val="0"/>
                <a:lumOff val="0"/>
                <a:alphaOff val="0"/>
              </a:schemeClr>
            </a:fillRef>
            <a:effectRef idx="0">
              <a:schemeClr val="accent6">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28715" tIns="28715" rIns="28715" bIns="28715" numCol="1" spcCol="1270" anchor="ctr" anchorCtr="0">
              <a:noAutofit/>
            </a:bodyPr>
            <a:lstStyle/>
            <a:p>
              <a:pPr marL="0" lvl="1" algn="ctr" defTabSz="755650">
                <a:lnSpc>
                  <a:spcPct val="90000"/>
                </a:lnSpc>
                <a:spcBef>
                  <a:spcPct val="0"/>
                </a:spcBef>
                <a:spcAft>
                  <a:spcPct val="15000"/>
                </a:spcAft>
              </a:pPr>
              <a:r>
                <a:rPr lang="en-US" sz="1600" kern="1200" dirty="0"/>
                <a:t>kg vs </a:t>
              </a:r>
              <a:r>
                <a:rPr lang="en-US" sz="1600" kern="1200" dirty="0" err="1"/>
                <a:t>lb</a:t>
              </a:r>
              <a:r>
                <a:rPr lang="en-US" sz="1600" kern="1200" dirty="0"/>
                <a:t>, Celsius vs Fahrenheit</a:t>
              </a:r>
              <a:endParaRPr lang="en-NL" sz="1600" kern="1200" dirty="0"/>
            </a:p>
          </p:txBody>
        </p:sp>
        <p:sp>
          <p:nvSpPr>
            <p:cNvPr id="23" name="Freeform: Shape 22">
              <a:extLst>
                <a:ext uri="{FF2B5EF4-FFF2-40B4-BE49-F238E27FC236}">
                  <a16:creationId xmlns:a16="http://schemas.microsoft.com/office/drawing/2014/main" id="{8ACD19C1-F3CC-7CBB-04FC-996539B814FF}"/>
                </a:ext>
              </a:extLst>
            </p:cNvPr>
            <p:cNvSpPr/>
            <p:nvPr/>
          </p:nvSpPr>
          <p:spPr>
            <a:xfrm>
              <a:off x="4508336" y="4087670"/>
              <a:ext cx="2793985" cy="367086"/>
            </a:xfrm>
            <a:custGeom>
              <a:avLst/>
              <a:gdLst>
                <a:gd name="csX0" fmla="*/ 0 w 2793985"/>
                <a:gd name="csY0" fmla="*/ 61182 h 367086"/>
                <a:gd name="csX1" fmla="*/ 61182 w 2793985"/>
                <a:gd name="csY1" fmla="*/ 0 h 367086"/>
                <a:gd name="csX2" fmla="*/ 2732803 w 2793985"/>
                <a:gd name="csY2" fmla="*/ 0 h 367086"/>
                <a:gd name="csX3" fmla="*/ 2793985 w 2793985"/>
                <a:gd name="csY3" fmla="*/ 61182 h 367086"/>
                <a:gd name="csX4" fmla="*/ 2793985 w 2793985"/>
                <a:gd name="csY4" fmla="*/ 305904 h 367086"/>
                <a:gd name="csX5" fmla="*/ 2732803 w 2793985"/>
                <a:gd name="csY5" fmla="*/ 367086 h 367086"/>
                <a:gd name="csX6" fmla="*/ 61182 w 2793985"/>
                <a:gd name="csY6" fmla="*/ 367086 h 367086"/>
                <a:gd name="csX7" fmla="*/ 0 w 2793985"/>
                <a:gd name="csY7" fmla="*/ 305904 h 367086"/>
                <a:gd name="csX8" fmla="*/ 0 w 2793985"/>
                <a:gd name="csY8" fmla="*/ 61182 h 36708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793985" h="367086">
                  <a:moveTo>
                    <a:pt x="0" y="61182"/>
                  </a:moveTo>
                  <a:cubicBezTo>
                    <a:pt x="0" y="27392"/>
                    <a:pt x="27392" y="0"/>
                    <a:pt x="61182" y="0"/>
                  </a:cubicBezTo>
                  <a:lnTo>
                    <a:pt x="2732803" y="0"/>
                  </a:lnTo>
                  <a:cubicBezTo>
                    <a:pt x="2766593" y="0"/>
                    <a:pt x="2793985" y="27392"/>
                    <a:pt x="2793985" y="61182"/>
                  </a:cubicBezTo>
                  <a:lnTo>
                    <a:pt x="2793985" y="305904"/>
                  </a:lnTo>
                  <a:cubicBezTo>
                    <a:pt x="2793985" y="339694"/>
                    <a:pt x="2766593" y="367086"/>
                    <a:pt x="2732803" y="367086"/>
                  </a:cubicBezTo>
                  <a:lnTo>
                    <a:pt x="61182" y="367086"/>
                  </a:lnTo>
                  <a:cubicBezTo>
                    <a:pt x="27392" y="367086"/>
                    <a:pt x="0" y="339694"/>
                    <a:pt x="0" y="305904"/>
                  </a:cubicBezTo>
                  <a:lnTo>
                    <a:pt x="0" y="61182"/>
                  </a:lnTo>
                  <a:close/>
                </a:path>
              </a:pathLst>
            </a:cu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82690" tIns="50305" rIns="82690" bIns="50305" numCol="1" spcCol="1270" anchor="ctr" anchorCtr="0">
              <a:noAutofit/>
            </a:bodyPr>
            <a:lstStyle/>
            <a:p>
              <a:pPr marL="0" lvl="0" indent="0" algn="ctr" defTabSz="755650">
                <a:lnSpc>
                  <a:spcPct val="90000"/>
                </a:lnSpc>
                <a:spcBef>
                  <a:spcPct val="0"/>
                </a:spcBef>
                <a:spcAft>
                  <a:spcPct val="35000"/>
                </a:spcAft>
                <a:buNone/>
              </a:pPr>
              <a:r>
                <a:rPr lang="en-US" sz="1600" kern="1200" dirty="0"/>
                <a:t>Units/scales:</a:t>
              </a:r>
              <a:endParaRPr lang="en-NL" sz="1600" kern="1200" dirty="0"/>
            </a:p>
          </p:txBody>
        </p:sp>
        <p:sp>
          <p:nvSpPr>
            <p:cNvPr id="24" name="Freeform: Shape 23">
              <a:extLst>
                <a:ext uri="{FF2B5EF4-FFF2-40B4-BE49-F238E27FC236}">
                  <a16:creationId xmlns:a16="http://schemas.microsoft.com/office/drawing/2014/main" id="{BACBD285-9FC8-95D4-66B4-9C202E67766C}"/>
                </a:ext>
              </a:extLst>
            </p:cNvPr>
            <p:cNvSpPr/>
            <p:nvPr/>
          </p:nvSpPr>
          <p:spPr>
            <a:xfrm>
              <a:off x="7214716" y="4491465"/>
              <a:ext cx="4149969" cy="367086"/>
            </a:xfrm>
            <a:custGeom>
              <a:avLst/>
              <a:gdLst>
                <a:gd name="csX0" fmla="*/ 0 w 4190978"/>
                <a:gd name="csY0" fmla="*/ 61182 h 367086"/>
                <a:gd name="csX1" fmla="*/ 61182 w 4190978"/>
                <a:gd name="csY1" fmla="*/ 0 h 367086"/>
                <a:gd name="csX2" fmla="*/ 4129796 w 4190978"/>
                <a:gd name="csY2" fmla="*/ 0 h 367086"/>
                <a:gd name="csX3" fmla="*/ 4190978 w 4190978"/>
                <a:gd name="csY3" fmla="*/ 61182 h 367086"/>
                <a:gd name="csX4" fmla="*/ 4190978 w 4190978"/>
                <a:gd name="csY4" fmla="*/ 305904 h 367086"/>
                <a:gd name="csX5" fmla="*/ 4129796 w 4190978"/>
                <a:gd name="csY5" fmla="*/ 367086 h 367086"/>
                <a:gd name="csX6" fmla="*/ 61182 w 4190978"/>
                <a:gd name="csY6" fmla="*/ 367086 h 367086"/>
                <a:gd name="csX7" fmla="*/ 0 w 4190978"/>
                <a:gd name="csY7" fmla="*/ 305904 h 367086"/>
                <a:gd name="csX8" fmla="*/ 0 w 4190978"/>
                <a:gd name="csY8" fmla="*/ 61182 h 36708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190978" h="367086">
                  <a:moveTo>
                    <a:pt x="0" y="61182"/>
                  </a:moveTo>
                  <a:cubicBezTo>
                    <a:pt x="0" y="27392"/>
                    <a:pt x="27392" y="0"/>
                    <a:pt x="61182" y="0"/>
                  </a:cubicBezTo>
                  <a:lnTo>
                    <a:pt x="4129796" y="0"/>
                  </a:lnTo>
                  <a:cubicBezTo>
                    <a:pt x="4163586" y="0"/>
                    <a:pt x="4190978" y="27392"/>
                    <a:pt x="4190978" y="61182"/>
                  </a:cubicBezTo>
                  <a:lnTo>
                    <a:pt x="4190978" y="305904"/>
                  </a:lnTo>
                  <a:cubicBezTo>
                    <a:pt x="4190978" y="339694"/>
                    <a:pt x="4163586" y="367086"/>
                    <a:pt x="4129796" y="367086"/>
                  </a:cubicBezTo>
                  <a:lnTo>
                    <a:pt x="61182" y="367086"/>
                  </a:lnTo>
                  <a:cubicBezTo>
                    <a:pt x="27392" y="367086"/>
                    <a:pt x="0" y="339694"/>
                    <a:pt x="0" y="305904"/>
                  </a:cubicBezTo>
                  <a:lnTo>
                    <a:pt x="0" y="61182"/>
                  </a:lnTo>
                  <a:close/>
                </a:path>
              </a:pathLst>
            </a:custGeom>
          </p:spPr>
          <p:style>
            <a:lnRef idx="2">
              <a:schemeClr val="accent6">
                <a:alpha val="90000"/>
                <a:tint val="40000"/>
                <a:hueOff val="0"/>
                <a:satOff val="0"/>
                <a:lumOff val="0"/>
                <a:alphaOff val="0"/>
              </a:schemeClr>
            </a:lnRef>
            <a:fillRef idx="1">
              <a:schemeClr val="accent6">
                <a:alpha val="90000"/>
                <a:tint val="40000"/>
                <a:hueOff val="0"/>
                <a:satOff val="0"/>
                <a:lumOff val="0"/>
                <a:alphaOff val="0"/>
              </a:schemeClr>
            </a:fillRef>
            <a:effectRef idx="0">
              <a:schemeClr val="accent6">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28715" tIns="28715" rIns="28715" bIns="28715" numCol="1" spcCol="1270" anchor="ctr" anchorCtr="0">
              <a:noAutofit/>
            </a:bodyPr>
            <a:lstStyle/>
            <a:p>
              <a:pPr marL="0" lvl="1" algn="ctr" defTabSz="755650">
                <a:lnSpc>
                  <a:spcPct val="90000"/>
                </a:lnSpc>
                <a:spcBef>
                  <a:spcPct val="0"/>
                </a:spcBef>
                <a:spcAft>
                  <a:spcPct val="15000"/>
                </a:spcAft>
              </a:pPr>
              <a:r>
                <a:rPr lang="en-US" sz="1600" kern="1200" dirty="0"/>
                <a:t>different IDs for the same entity</a:t>
              </a:r>
              <a:endParaRPr lang="en-NL" sz="1600" kern="1200" dirty="0"/>
            </a:p>
          </p:txBody>
        </p:sp>
        <p:sp>
          <p:nvSpPr>
            <p:cNvPr id="25" name="Freeform: Shape 24">
              <a:extLst>
                <a:ext uri="{FF2B5EF4-FFF2-40B4-BE49-F238E27FC236}">
                  <a16:creationId xmlns:a16="http://schemas.microsoft.com/office/drawing/2014/main" id="{6859E0C8-3301-B08F-18F8-34CFD6E9E6E2}"/>
                </a:ext>
              </a:extLst>
            </p:cNvPr>
            <p:cNvSpPr/>
            <p:nvPr/>
          </p:nvSpPr>
          <p:spPr>
            <a:xfrm>
              <a:off x="4508336" y="4491465"/>
              <a:ext cx="2793985" cy="367086"/>
            </a:xfrm>
            <a:custGeom>
              <a:avLst/>
              <a:gdLst>
                <a:gd name="csX0" fmla="*/ 0 w 2793985"/>
                <a:gd name="csY0" fmla="*/ 61182 h 367086"/>
                <a:gd name="csX1" fmla="*/ 61182 w 2793985"/>
                <a:gd name="csY1" fmla="*/ 0 h 367086"/>
                <a:gd name="csX2" fmla="*/ 2732803 w 2793985"/>
                <a:gd name="csY2" fmla="*/ 0 h 367086"/>
                <a:gd name="csX3" fmla="*/ 2793985 w 2793985"/>
                <a:gd name="csY3" fmla="*/ 61182 h 367086"/>
                <a:gd name="csX4" fmla="*/ 2793985 w 2793985"/>
                <a:gd name="csY4" fmla="*/ 305904 h 367086"/>
                <a:gd name="csX5" fmla="*/ 2732803 w 2793985"/>
                <a:gd name="csY5" fmla="*/ 367086 h 367086"/>
                <a:gd name="csX6" fmla="*/ 61182 w 2793985"/>
                <a:gd name="csY6" fmla="*/ 367086 h 367086"/>
                <a:gd name="csX7" fmla="*/ 0 w 2793985"/>
                <a:gd name="csY7" fmla="*/ 305904 h 367086"/>
                <a:gd name="csX8" fmla="*/ 0 w 2793985"/>
                <a:gd name="csY8" fmla="*/ 61182 h 36708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793985" h="367086">
                  <a:moveTo>
                    <a:pt x="0" y="61182"/>
                  </a:moveTo>
                  <a:cubicBezTo>
                    <a:pt x="0" y="27392"/>
                    <a:pt x="27392" y="0"/>
                    <a:pt x="61182" y="0"/>
                  </a:cubicBezTo>
                  <a:lnTo>
                    <a:pt x="2732803" y="0"/>
                  </a:lnTo>
                  <a:cubicBezTo>
                    <a:pt x="2766593" y="0"/>
                    <a:pt x="2793985" y="27392"/>
                    <a:pt x="2793985" y="61182"/>
                  </a:cubicBezTo>
                  <a:lnTo>
                    <a:pt x="2793985" y="305904"/>
                  </a:lnTo>
                  <a:cubicBezTo>
                    <a:pt x="2793985" y="339694"/>
                    <a:pt x="2766593" y="367086"/>
                    <a:pt x="2732803" y="367086"/>
                  </a:cubicBezTo>
                  <a:lnTo>
                    <a:pt x="61182" y="367086"/>
                  </a:lnTo>
                  <a:cubicBezTo>
                    <a:pt x="27392" y="367086"/>
                    <a:pt x="0" y="339694"/>
                    <a:pt x="0" y="305904"/>
                  </a:cubicBezTo>
                  <a:lnTo>
                    <a:pt x="0" y="61182"/>
                  </a:lnTo>
                  <a:close/>
                </a:path>
              </a:pathLst>
            </a:cu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82690" tIns="50305" rIns="82690" bIns="50305" numCol="1" spcCol="1270" anchor="ctr" anchorCtr="0">
              <a:noAutofit/>
            </a:bodyPr>
            <a:lstStyle/>
            <a:p>
              <a:pPr marL="0" lvl="0" indent="0" algn="ctr" defTabSz="755650">
                <a:lnSpc>
                  <a:spcPct val="90000"/>
                </a:lnSpc>
                <a:spcBef>
                  <a:spcPct val="0"/>
                </a:spcBef>
                <a:spcAft>
                  <a:spcPct val="35000"/>
                </a:spcAft>
                <a:buNone/>
              </a:pPr>
              <a:r>
                <a:rPr lang="en-US" sz="1600" kern="1200" dirty="0"/>
                <a:t>Identifiers/references:</a:t>
              </a:r>
              <a:endParaRPr lang="en-NL" sz="1600" kern="1200" dirty="0"/>
            </a:p>
          </p:txBody>
        </p:sp>
        <p:sp>
          <p:nvSpPr>
            <p:cNvPr id="26" name="Freeform: Shape 25">
              <a:extLst>
                <a:ext uri="{FF2B5EF4-FFF2-40B4-BE49-F238E27FC236}">
                  <a16:creationId xmlns:a16="http://schemas.microsoft.com/office/drawing/2014/main" id="{D60B440C-CBAA-4762-C55F-4699D8001739}"/>
                </a:ext>
              </a:extLst>
            </p:cNvPr>
            <p:cNvSpPr/>
            <p:nvPr/>
          </p:nvSpPr>
          <p:spPr>
            <a:xfrm>
              <a:off x="7214716" y="4895260"/>
              <a:ext cx="4149969" cy="367086"/>
            </a:xfrm>
            <a:custGeom>
              <a:avLst/>
              <a:gdLst>
                <a:gd name="csX0" fmla="*/ 0 w 4190978"/>
                <a:gd name="csY0" fmla="*/ 61182 h 367086"/>
                <a:gd name="csX1" fmla="*/ 61182 w 4190978"/>
                <a:gd name="csY1" fmla="*/ 0 h 367086"/>
                <a:gd name="csX2" fmla="*/ 4129796 w 4190978"/>
                <a:gd name="csY2" fmla="*/ 0 h 367086"/>
                <a:gd name="csX3" fmla="*/ 4190978 w 4190978"/>
                <a:gd name="csY3" fmla="*/ 61182 h 367086"/>
                <a:gd name="csX4" fmla="*/ 4190978 w 4190978"/>
                <a:gd name="csY4" fmla="*/ 305904 h 367086"/>
                <a:gd name="csX5" fmla="*/ 4129796 w 4190978"/>
                <a:gd name="csY5" fmla="*/ 367086 h 367086"/>
                <a:gd name="csX6" fmla="*/ 61182 w 4190978"/>
                <a:gd name="csY6" fmla="*/ 367086 h 367086"/>
                <a:gd name="csX7" fmla="*/ 0 w 4190978"/>
                <a:gd name="csY7" fmla="*/ 305904 h 367086"/>
                <a:gd name="csX8" fmla="*/ 0 w 4190978"/>
                <a:gd name="csY8" fmla="*/ 61182 h 36708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190978" h="367086">
                  <a:moveTo>
                    <a:pt x="0" y="61182"/>
                  </a:moveTo>
                  <a:cubicBezTo>
                    <a:pt x="0" y="27392"/>
                    <a:pt x="27392" y="0"/>
                    <a:pt x="61182" y="0"/>
                  </a:cubicBezTo>
                  <a:lnTo>
                    <a:pt x="4129796" y="0"/>
                  </a:lnTo>
                  <a:cubicBezTo>
                    <a:pt x="4163586" y="0"/>
                    <a:pt x="4190978" y="27392"/>
                    <a:pt x="4190978" y="61182"/>
                  </a:cubicBezTo>
                  <a:lnTo>
                    <a:pt x="4190978" y="305904"/>
                  </a:lnTo>
                  <a:cubicBezTo>
                    <a:pt x="4190978" y="339694"/>
                    <a:pt x="4163586" y="367086"/>
                    <a:pt x="4129796" y="367086"/>
                  </a:cubicBezTo>
                  <a:lnTo>
                    <a:pt x="61182" y="367086"/>
                  </a:lnTo>
                  <a:cubicBezTo>
                    <a:pt x="27392" y="367086"/>
                    <a:pt x="0" y="339694"/>
                    <a:pt x="0" y="305904"/>
                  </a:cubicBezTo>
                  <a:lnTo>
                    <a:pt x="0" y="61182"/>
                  </a:lnTo>
                  <a:close/>
                </a:path>
              </a:pathLst>
            </a:custGeom>
          </p:spPr>
          <p:style>
            <a:lnRef idx="2">
              <a:schemeClr val="accent6">
                <a:alpha val="90000"/>
                <a:tint val="40000"/>
                <a:hueOff val="0"/>
                <a:satOff val="0"/>
                <a:lumOff val="0"/>
                <a:alphaOff val="0"/>
              </a:schemeClr>
            </a:lnRef>
            <a:fillRef idx="1">
              <a:schemeClr val="accent6">
                <a:alpha val="90000"/>
                <a:tint val="40000"/>
                <a:hueOff val="0"/>
                <a:satOff val="0"/>
                <a:lumOff val="0"/>
                <a:alphaOff val="0"/>
              </a:schemeClr>
            </a:fillRef>
            <a:effectRef idx="0">
              <a:schemeClr val="accent6">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28715" tIns="28715" rIns="28715" bIns="28715" numCol="1" spcCol="1270" anchor="ctr" anchorCtr="0">
              <a:noAutofit/>
            </a:bodyPr>
            <a:lstStyle/>
            <a:p>
              <a:pPr marL="0" lvl="1" algn="ctr" defTabSz="755650">
                <a:lnSpc>
                  <a:spcPct val="90000"/>
                </a:lnSpc>
                <a:spcBef>
                  <a:spcPct val="0"/>
                </a:spcBef>
                <a:spcAft>
                  <a:spcPct val="15000"/>
                </a:spcAft>
              </a:pPr>
              <a:r>
                <a:rPr lang="en-US" sz="1600" kern="1200" dirty="0"/>
                <a:t>required fields, validation rules</a:t>
              </a:r>
              <a:endParaRPr lang="en-NL" sz="1600" kern="1200" dirty="0"/>
            </a:p>
          </p:txBody>
        </p:sp>
        <p:sp>
          <p:nvSpPr>
            <p:cNvPr id="27" name="Freeform: Shape 26">
              <a:extLst>
                <a:ext uri="{FF2B5EF4-FFF2-40B4-BE49-F238E27FC236}">
                  <a16:creationId xmlns:a16="http://schemas.microsoft.com/office/drawing/2014/main" id="{5E1320CD-B178-C172-5033-F0BA6C95FF98}"/>
                </a:ext>
              </a:extLst>
            </p:cNvPr>
            <p:cNvSpPr/>
            <p:nvPr/>
          </p:nvSpPr>
          <p:spPr>
            <a:xfrm>
              <a:off x="4508336" y="4895260"/>
              <a:ext cx="2793985" cy="367086"/>
            </a:xfrm>
            <a:custGeom>
              <a:avLst/>
              <a:gdLst>
                <a:gd name="csX0" fmla="*/ 0 w 2793985"/>
                <a:gd name="csY0" fmla="*/ 61182 h 367086"/>
                <a:gd name="csX1" fmla="*/ 61182 w 2793985"/>
                <a:gd name="csY1" fmla="*/ 0 h 367086"/>
                <a:gd name="csX2" fmla="*/ 2732803 w 2793985"/>
                <a:gd name="csY2" fmla="*/ 0 h 367086"/>
                <a:gd name="csX3" fmla="*/ 2793985 w 2793985"/>
                <a:gd name="csY3" fmla="*/ 61182 h 367086"/>
                <a:gd name="csX4" fmla="*/ 2793985 w 2793985"/>
                <a:gd name="csY4" fmla="*/ 305904 h 367086"/>
                <a:gd name="csX5" fmla="*/ 2732803 w 2793985"/>
                <a:gd name="csY5" fmla="*/ 367086 h 367086"/>
                <a:gd name="csX6" fmla="*/ 61182 w 2793985"/>
                <a:gd name="csY6" fmla="*/ 367086 h 367086"/>
                <a:gd name="csX7" fmla="*/ 0 w 2793985"/>
                <a:gd name="csY7" fmla="*/ 305904 h 367086"/>
                <a:gd name="csX8" fmla="*/ 0 w 2793985"/>
                <a:gd name="csY8" fmla="*/ 61182 h 36708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793985" h="367086">
                  <a:moveTo>
                    <a:pt x="0" y="61182"/>
                  </a:moveTo>
                  <a:cubicBezTo>
                    <a:pt x="0" y="27392"/>
                    <a:pt x="27392" y="0"/>
                    <a:pt x="61182" y="0"/>
                  </a:cubicBezTo>
                  <a:lnTo>
                    <a:pt x="2732803" y="0"/>
                  </a:lnTo>
                  <a:cubicBezTo>
                    <a:pt x="2766593" y="0"/>
                    <a:pt x="2793985" y="27392"/>
                    <a:pt x="2793985" y="61182"/>
                  </a:cubicBezTo>
                  <a:lnTo>
                    <a:pt x="2793985" y="305904"/>
                  </a:lnTo>
                  <a:cubicBezTo>
                    <a:pt x="2793985" y="339694"/>
                    <a:pt x="2766593" y="367086"/>
                    <a:pt x="2732803" y="367086"/>
                  </a:cubicBezTo>
                  <a:lnTo>
                    <a:pt x="61182" y="367086"/>
                  </a:lnTo>
                  <a:cubicBezTo>
                    <a:pt x="27392" y="367086"/>
                    <a:pt x="0" y="339694"/>
                    <a:pt x="0" y="305904"/>
                  </a:cubicBezTo>
                  <a:lnTo>
                    <a:pt x="0" y="61182"/>
                  </a:lnTo>
                  <a:close/>
                </a:path>
              </a:pathLst>
            </a:cu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82690" tIns="50305" rIns="82690" bIns="50305" numCol="1" spcCol="1270" anchor="ctr" anchorCtr="0">
              <a:noAutofit/>
            </a:bodyPr>
            <a:lstStyle/>
            <a:p>
              <a:pPr marL="0" lvl="0" indent="0" algn="ctr" defTabSz="755650">
                <a:lnSpc>
                  <a:spcPct val="90000"/>
                </a:lnSpc>
                <a:spcBef>
                  <a:spcPct val="0"/>
                </a:spcBef>
                <a:spcAft>
                  <a:spcPct val="35000"/>
                </a:spcAft>
                <a:buNone/>
              </a:pPr>
              <a:r>
                <a:rPr lang="en-US" sz="1600" kern="1200" dirty="0"/>
                <a:t>Constraints/business rules:</a:t>
              </a:r>
              <a:endParaRPr lang="en-NL" sz="1600" kern="1200" dirty="0"/>
            </a:p>
          </p:txBody>
        </p:sp>
        <p:sp>
          <p:nvSpPr>
            <p:cNvPr id="28" name="Freeform: Shape 27">
              <a:extLst>
                <a:ext uri="{FF2B5EF4-FFF2-40B4-BE49-F238E27FC236}">
                  <a16:creationId xmlns:a16="http://schemas.microsoft.com/office/drawing/2014/main" id="{10F87F8E-F13C-FE56-2AC6-7C86A7615215}"/>
                </a:ext>
              </a:extLst>
            </p:cNvPr>
            <p:cNvSpPr/>
            <p:nvPr/>
          </p:nvSpPr>
          <p:spPr>
            <a:xfrm>
              <a:off x="7214716" y="5299055"/>
              <a:ext cx="4149969" cy="367086"/>
            </a:xfrm>
            <a:custGeom>
              <a:avLst/>
              <a:gdLst>
                <a:gd name="csX0" fmla="*/ 0 w 4190978"/>
                <a:gd name="csY0" fmla="*/ 61182 h 367086"/>
                <a:gd name="csX1" fmla="*/ 61182 w 4190978"/>
                <a:gd name="csY1" fmla="*/ 0 h 367086"/>
                <a:gd name="csX2" fmla="*/ 4129796 w 4190978"/>
                <a:gd name="csY2" fmla="*/ 0 h 367086"/>
                <a:gd name="csX3" fmla="*/ 4190978 w 4190978"/>
                <a:gd name="csY3" fmla="*/ 61182 h 367086"/>
                <a:gd name="csX4" fmla="*/ 4190978 w 4190978"/>
                <a:gd name="csY4" fmla="*/ 305904 h 367086"/>
                <a:gd name="csX5" fmla="*/ 4129796 w 4190978"/>
                <a:gd name="csY5" fmla="*/ 367086 h 367086"/>
                <a:gd name="csX6" fmla="*/ 61182 w 4190978"/>
                <a:gd name="csY6" fmla="*/ 367086 h 367086"/>
                <a:gd name="csX7" fmla="*/ 0 w 4190978"/>
                <a:gd name="csY7" fmla="*/ 305904 h 367086"/>
                <a:gd name="csX8" fmla="*/ 0 w 4190978"/>
                <a:gd name="csY8" fmla="*/ 61182 h 36708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190978" h="367086">
                  <a:moveTo>
                    <a:pt x="0" y="61182"/>
                  </a:moveTo>
                  <a:cubicBezTo>
                    <a:pt x="0" y="27392"/>
                    <a:pt x="27392" y="0"/>
                    <a:pt x="61182" y="0"/>
                  </a:cubicBezTo>
                  <a:lnTo>
                    <a:pt x="4129796" y="0"/>
                  </a:lnTo>
                  <a:cubicBezTo>
                    <a:pt x="4163586" y="0"/>
                    <a:pt x="4190978" y="27392"/>
                    <a:pt x="4190978" y="61182"/>
                  </a:cubicBezTo>
                  <a:lnTo>
                    <a:pt x="4190978" y="305904"/>
                  </a:lnTo>
                  <a:cubicBezTo>
                    <a:pt x="4190978" y="339694"/>
                    <a:pt x="4163586" y="367086"/>
                    <a:pt x="4129796" y="367086"/>
                  </a:cubicBezTo>
                  <a:lnTo>
                    <a:pt x="61182" y="367086"/>
                  </a:lnTo>
                  <a:cubicBezTo>
                    <a:pt x="27392" y="367086"/>
                    <a:pt x="0" y="339694"/>
                    <a:pt x="0" y="305904"/>
                  </a:cubicBezTo>
                  <a:lnTo>
                    <a:pt x="0" y="61182"/>
                  </a:lnTo>
                  <a:close/>
                </a:path>
              </a:pathLst>
            </a:custGeom>
          </p:spPr>
          <p:style>
            <a:lnRef idx="2">
              <a:schemeClr val="accent6">
                <a:alpha val="90000"/>
                <a:tint val="40000"/>
                <a:hueOff val="0"/>
                <a:satOff val="0"/>
                <a:lumOff val="0"/>
                <a:alphaOff val="0"/>
              </a:schemeClr>
            </a:lnRef>
            <a:fillRef idx="1">
              <a:schemeClr val="accent6">
                <a:alpha val="90000"/>
                <a:tint val="40000"/>
                <a:hueOff val="0"/>
                <a:satOff val="0"/>
                <a:lumOff val="0"/>
                <a:alphaOff val="0"/>
              </a:schemeClr>
            </a:fillRef>
            <a:effectRef idx="0">
              <a:schemeClr val="accent6">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28715" tIns="28715" rIns="28715" bIns="28715" numCol="1" spcCol="1270" anchor="ctr" anchorCtr="0">
              <a:noAutofit/>
            </a:bodyPr>
            <a:lstStyle/>
            <a:p>
              <a:pPr marL="0" lvl="1" algn="ctr" defTabSz="755650">
                <a:lnSpc>
                  <a:spcPct val="90000"/>
                </a:lnSpc>
                <a:spcBef>
                  <a:spcPct val="0"/>
                </a:spcBef>
                <a:spcAft>
                  <a:spcPct val="15000"/>
                </a:spcAft>
              </a:pPr>
              <a:r>
                <a:rPr lang="en-US" sz="1600" kern="1200" dirty="0"/>
                <a:t>API, file exchange, messaging differences</a:t>
              </a:r>
              <a:endParaRPr lang="en-NL" sz="1600" kern="1200" dirty="0"/>
            </a:p>
          </p:txBody>
        </p:sp>
        <p:sp>
          <p:nvSpPr>
            <p:cNvPr id="29" name="Freeform: Shape 28">
              <a:extLst>
                <a:ext uri="{FF2B5EF4-FFF2-40B4-BE49-F238E27FC236}">
                  <a16:creationId xmlns:a16="http://schemas.microsoft.com/office/drawing/2014/main" id="{7B643992-6C8F-B358-43EE-4C14C77589E3}"/>
                </a:ext>
              </a:extLst>
            </p:cNvPr>
            <p:cNvSpPr/>
            <p:nvPr/>
          </p:nvSpPr>
          <p:spPr>
            <a:xfrm>
              <a:off x="4508336" y="5299055"/>
              <a:ext cx="2793985" cy="367086"/>
            </a:xfrm>
            <a:custGeom>
              <a:avLst/>
              <a:gdLst>
                <a:gd name="csX0" fmla="*/ 0 w 2793985"/>
                <a:gd name="csY0" fmla="*/ 61182 h 367086"/>
                <a:gd name="csX1" fmla="*/ 61182 w 2793985"/>
                <a:gd name="csY1" fmla="*/ 0 h 367086"/>
                <a:gd name="csX2" fmla="*/ 2732803 w 2793985"/>
                <a:gd name="csY2" fmla="*/ 0 h 367086"/>
                <a:gd name="csX3" fmla="*/ 2793985 w 2793985"/>
                <a:gd name="csY3" fmla="*/ 61182 h 367086"/>
                <a:gd name="csX4" fmla="*/ 2793985 w 2793985"/>
                <a:gd name="csY4" fmla="*/ 305904 h 367086"/>
                <a:gd name="csX5" fmla="*/ 2732803 w 2793985"/>
                <a:gd name="csY5" fmla="*/ 367086 h 367086"/>
                <a:gd name="csX6" fmla="*/ 61182 w 2793985"/>
                <a:gd name="csY6" fmla="*/ 367086 h 367086"/>
                <a:gd name="csX7" fmla="*/ 0 w 2793985"/>
                <a:gd name="csY7" fmla="*/ 305904 h 367086"/>
                <a:gd name="csX8" fmla="*/ 0 w 2793985"/>
                <a:gd name="csY8" fmla="*/ 61182 h 36708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793985" h="367086">
                  <a:moveTo>
                    <a:pt x="0" y="61182"/>
                  </a:moveTo>
                  <a:cubicBezTo>
                    <a:pt x="0" y="27392"/>
                    <a:pt x="27392" y="0"/>
                    <a:pt x="61182" y="0"/>
                  </a:cubicBezTo>
                  <a:lnTo>
                    <a:pt x="2732803" y="0"/>
                  </a:lnTo>
                  <a:cubicBezTo>
                    <a:pt x="2766593" y="0"/>
                    <a:pt x="2793985" y="27392"/>
                    <a:pt x="2793985" y="61182"/>
                  </a:cubicBezTo>
                  <a:lnTo>
                    <a:pt x="2793985" y="305904"/>
                  </a:lnTo>
                  <a:cubicBezTo>
                    <a:pt x="2793985" y="339694"/>
                    <a:pt x="2766593" y="367086"/>
                    <a:pt x="2732803" y="367086"/>
                  </a:cubicBezTo>
                  <a:lnTo>
                    <a:pt x="61182" y="367086"/>
                  </a:lnTo>
                  <a:cubicBezTo>
                    <a:pt x="27392" y="367086"/>
                    <a:pt x="0" y="339694"/>
                    <a:pt x="0" y="305904"/>
                  </a:cubicBezTo>
                  <a:lnTo>
                    <a:pt x="0" y="61182"/>
                  </a:lnTo>
                  <a:close/>
                </a:path>
              </a:pathLst>
            </a:cu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82690" tIns="50305" rIns="82690" bIns="50305" numCol="1" spcCol="1270" anchor="ctr" anchorCtr="0">
              <a:noAutofit/>
            </a:bodyPr>
            <a:lstStyle/>
            <a:p>
              <a:pPr marL="0" lvl="0" indent="0" algn="ctr" defTabSz="755650">
                <a:lnSpc>
                  <a:spcPct val="90000"/>
                </a:lnSpc>
                <a:spcBef>
                  <a:spcPct val="0"/>
                </a:spcBef>
                <a:spcAft>
                  <a:spcPct val="35000"/>
                </a:spcAft>
                <a:buNone/>
              </a:pPr>
              <a:r>
                <a:rPr lang="en-US" sz="1600" kern="1200" dirty="0"/>
                <a:t>Protocol/transport:</a:t>
              </a:r>
              <a:endParaRPr lang="en-NL" sz="1600" kern="1200" dirty="0"/>
            </a:p>
          </p:txBody>
        </p:sp>
      </p:grpSp>
      <p:sp>
        <p:nvSpPr>
          <p:cNvPr id="5" name="TextBox 4">
            <a:extLst>
              <a:ext uri="{FF2B5EF4-FFF2-40B4-BE49-F238E27FC236}">
                <a16:creationId xmlns:a16="http://schemas.microsoft.com/office/drawing/2014/main" id="{72A41129-F4BF-321B-CC83-F56DB9B11F6A}"/>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2</a:t>
            </a:r>
            <a:endParaRPr lang="en-NL" sz="1000" b="1" dirty="0"/>
          </a:p>
        </p:txBody>
      </p:sp>
    </p:spTree>
    <p:extLst>
      <p:ext uri="{BB962C8B-B14F-4D97-AF65-F5344CB8AC3E}">
        <p14:creationId xmlns:p14="http://schemas.microsoft.com/office/powerpoint/2010/main" val="414228813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98F33D-0592-0274-2A7A-5FF9959C10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A51731-364B-81D8-ED46-4D2721678465}"/>
              </a:ext>
            </a:extLst>
          </p:cNvPr>
          <p:cNvSpPr>
            <a:spLocks noGrp="1"/>
          </p:cNvSpPr>
          <p:nvPr>
            <p:ph type="title"/>
          </p:nvPr>
        </p:nvSpPr>
        <p:spPr>
          <a:xfrm>
            <a:off x="695327" y="386001"/>
            <a:ext cx="9401173" cy="929259"/>
          </a:xfrm>
        </p:spPr>
        <p:txBody>
          <a:bodyPr/>
          <a:lstStyle/>
          <a:p>
            <a:r>
              <a:rPr lang="en-US" sz="3200" dirty="0"/>
              <a:t>Specification Scales Better than Interpretation</a:t>
            </a:r>
            <a:endParaRPr lang="en-NL" sz="3200" dirty="0"/>
          </a:p>
        </p:txBody>
      </p:sp>
      <p:sp>
        <p:nvSpPr>
          <p:cNvPr id="4" name="Slide Number Placeholder 3">
            <a:extLst>
              <a:ext uri="{FF2B5EF4-FFF2-40B4-BE49-F238E27FC236}">
                <a16:creationId xmlns:a16="http://schemas.microsoft.com/office/drawing/2014/main" id="{A9BD7556-A528-98A4-9AC1-503548C7EE6A}"/>
              </a:ext>
            </a:extLst>
          </p:cNvPr>
          <p:cNvSpPr>
            <a:spLocks noGrp="1"/>
          </p:cNvSpPr>
          <p:nvPr>
            <p:ph type="sldNum" sz="quarter" idx="12"/>
          </p:nvPr>
        </p:nvSpPr>
        <p:spPr/>
        <p:txBody>
          <a:bodyPr/>
          <a:lstStyle/>
          <a:p>
            <a:fld id="{4FAB73BC-B049-4115-A692-8D63A059BFB8}" type="slidenum">
              <a:rPr lang="en-US" smtClean="0"/>
              <a:pPr/>
              <a:t>69</a:t>
            </a:fld>
            <a:endParaRPr lang="en-US" dirty="0"/>
          </a:p>
        </p:txBody>
      </p:sp>
      <p:cxnSp>
        <p:nvCxnSpPr>
          <p:cNvPr id="9" name="Straight Connector 8">
            <a:extLst>
              <a:ext uri="{FF2B5EF4-FFF2-40B4-BE49-F238E27FC236}">
                <a16:creationId xmlns:a16="http://schemas.microsoft.com/office/drawing/2014/main" id="{48721740-B852-4F42-C2EB-657B0FB3374B}"/>
              </a:ext>
            </a:extLst>
          </p:cNvPr>
          <p:cNvCxnSpPr/>
          <p:nvPr/>
        </p:nvCxnSpPr>
        <p:spPr>
          <a:xfrm>
            <a:off x="7639049" y="166370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420B310F-C845-A65F-7735-D54C6B17DE2B}"/>
              </a:ext>
            </a:extLst>
          </p:cNvPr>
          <p:cNvCxnSpPr>
            <a:cxnSpLocks/>
          </p:cNvCxnSpPr>
          <p:nvPr/>
        </p:nvCxnSpPr>
        <p:spPr>
          <a:xfrm>
            <a:off x="10719433" y="1629611"/>
            <a:ext cx="0" cy="3044825"/>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3" name="Straight Connector 2">
            <a:extLst>
              <a:ext uri="{FF2B5EF4-FFF2-40B4-BE49-F238E27FC236}">
                <a16:creationId xmlns:a16="http://schemas.microsoft.com/office/drawing/2014/main" id="{EC7DCE5C-FED2-48D7-13B9-51BEB6264C02}"/>
              </a:ext>
            </a:extLst>
          </p:cNvPr>
          <p:cNvCxnSpPr/>
          <p:nvPr/>
        </p:nvCxnSpPr>
        <p:spPr>
          <a:xfrm>
            <a:off x="6183410" y="294005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26" name="Parallelogram 25">
            <a:extLst>
              <a:ext uri="{FF2B5EF4-FFF2-40B4-BE49-F238E27FC236}">
                <a16:creationId xmlns:a16="http://schemas.microsoft.com/office/drawing/2014/main" id="{76A535FB-8CCC-BB07-5984-8CEACDC823D4}"/>
              </a:ext>
            </a:extLst>
          </p:cNvPr>
          <p:cNvSpPr/>
          <p:nvPr/>
        </p:nvSpPr>
        <p:spPr>
          <a:xfrm>
            <a:off x="6183411" y="1635125"/>
            <a:ext cx="4541738" cy="1276350"/>
          </a:xfrm>
          <a:prstGeom prst="parallelogram">
            <a:avLst>
              <a:gd name="adj" fmla="val 113806"/>
            </a:avLst>
          </a:prstGeom>
          <a:solidFill>
            <a:schemeClr val="accent1">
              <a:lumMod val="20000"/>
              <a:lumOff val="8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0" name="Parallelogram 29">
            <a:extLst>
              <a:ext uri="{FF2B5EF4-FFF2-40B4-BE49-F238E27FC236}">
                <a16:creationId xmlns:a16="http://schemas.microsoft.com/office/drawing/2014/main" id="{AB784862-89FD-BC13-B715-E43FF4F0EC12}"/>
              </a:ext>
            </a:extLst>
          </p:cNvPr>
          <p:cNvSpPr/>
          <p:nvPr/>
        </p:nvSpPr>
        <p:spPr>
          <a:xfrm>
            <a:off x="6183411" y="3154780"/>
            <a:ext cx="4541738" cy="1276350"/>
          </a:xfrm>
          <a:prstGeom prst="parallelogram">
            <a:avLst>
              <a:gd name="adj" fmla="val 113806"/>
            </a:avLst>
          </a:prstGeom>
          <a:solidFill>
            <a:srgbClr val="FFE4D9"/>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solidFill>
                <a:srgbClr val="FFE4D9"/>
              </a:solidFill>
            </a:endParaRPr>
          </a:p>
        </p:txBody>
      </p:sp>
      <p:sp>
        <p:nvSpPr>
          <p:cNvPr id="33" name="Parallelogram 32">
            <a:extLst>
              <a:ext uri="{FF2B5EF4-FFF2-40B4-BE49-F238E27FC236}">
                <a16:creationId xmlns:a16="http://schemas.microsoft.com/office/drawing/2014/main" id="{26906009-8A3E-B5A0-6415-6B96842A8E98}"/>
              </a:ext>
            </a:extLst>
          </p:cNvPr>
          <p:cNvSpPr/>
          <p:nvPr/>
        </p:nvSpPr>
        <p:spPr>
          <a:xfrm>
            <a:off x="6183411" y="4674436"/>
            <a:ext cx="4541738" cy="1276350"/>
          </a:xfrm>
          <a:prstGeom prst="parallelogram">
            <a:avLst>
              <a:gd name="adj" fmla="val 113806"/>
            </a:avLst>
          </a:prstGeom>
          <a:solidFill>
            <a:schemeClr val="accent4">
              <a:lumMod val="20000"/>
              <a:lumOff val="8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9" name="TextBox 28">
            <a:extLst>
              <a:ext uri="{FF2B5EF4-FFF2-40B4-BE49-F238E27FC236}">
                <a16:creationId xmlns:a16="http://schemas.microsoft.com/office/drawing/2014/main" id="{6433010F-9830-8070-77CE-302FBA4267E7}"/>
              </a:ext>
            </a:extLst>
          </p:cNvPr>
          <p:cNvSpPr txBox="1"/>
          <p:nvPr/>
        </p:nvSpPr>
        <p:spPr>
          <a:xfrm>
            <a:off x="8188822" y="2042468"/>
            <a:ext cx="530916" cy="461665"/>
          </a:xfrm>
          <a:prstGeom prst="rect">
            <a:avLst/>
          </a:prstGeom>
          <a:noFill/>
        </p:spPr>
        <p:txBody>
          <a:bodyPr wrap="none" rtlCol="0">
            <a:spAutoFit/>
          </a:bodyPr>
          <a:lstStyle>
            <a:defPPr>
              <a:defRPr lang="en-NL"/>
            </a:defPPr>
            <a:lvl1pPr>
              <a:defRPr>
                <a:latin typeface="Atkinson Hyperlegible" pitchFamily="2" charset="0"/>
              </a:defRPr>
            </a:lvl1pPr>
          </a:lstStyle>
          <a:p>
            <a:pPr algn="ctr"/>
            <a:r>
              <a:rPr lang="en-US" sz="2400" b="1" dirty="0">
                <a:solidFill>
                  <a:schemeClr val="tx2">
                    <a:lumMod val="90000"/>
                    <a:lumOff val="10000"/>
                  </a:schemeClr>
                </a:solidFill>
              </a:rPr>
              <a:t>L2</a:t>
            </a:r>
            <a:endParaRPr lang="en-NL" sz="2400" b="1" dirty="0">
              <a:solidFill>
                <a:schemeClr val="tx2">
                  <a:lumMod val="90000"/>
                  <a:lumOff val="10000"/>
                </a:schemeClr>
              </a:solidFill>
            </a:endParaRPr>
          </a:p>
        </p:txBody>
      </p:sp>
      <p:sp>
        <p:nvSpPr>
          <p:cNvPr id="31" name="TextBox 30">
            <a:extLst>
              <a:ext uri="{FF2B5EF4-FFF2-40B4-BE49-F238E27FC236}">
                <a16:creationId xmlns:a16="http://schemas.microsoft.com/office/drawing/2014/main" id="{B51B20A2-409B-CD1C-3C73-6F58F514A0ED}"/>
              </a:ext>
            </a:extLst>
          </p:cNvPr>
          <p:cNvSpPr txBox="1"/>
          <p:nvPr/>
        </p:nvSpPr>
        <p:spPr>
          <a:xfrm>
            <a:off x="8210463" y="3562123"/>
            <a:ext cx="487634" cy="461665"/>
          </a:xfrm>
          <a:prstGeom prst="rect">
            <a:avLst/>
          </a:prstGeom>
          <a:noFill/>
        </p:spPr>
        <p:txBody>
          <a:bodyPr wrap="none" rtlCol="0">
            <a:spAutoFit/>
          </a:bodyPr>
          <a:lstStyle>
            <a:defPPr>
              <a:defRPr lang="en-NL"/>
            </a:defPPr>
            <a:lvl1pPr>
              <a:defRPr>
                <a:latin typeface="Atkinson Hyperlegible" pitchFamily="2" charset="0"/>
              </a:defRPr>
            </a:lvl1pPr>
          </a:lstStyle>
          <a:p>
            <a:pPr algn="ctr"/>
            <a:r>
              <a:rPr lang="en-US" sz="2400" b="1" dirty="0">
                <a:solidFill>
                  <a:schemeClr val="accent2">
                    <a:lumMod val="50000"/>
                  </a:schemeClr>
                </a:solidFill>
              </a:rPr>
              <a:t>L1</a:t>
            </a:r>
            <a:endParaRPr lang="en-NL" sz="2400" b="1" dirty="0">
              <a:solidFill>
                <a:schemeClr val="accent2">
                  <a:lumMod val="50000"/>
                </a:schemeClr>
              </a:solidFill>
            </a:endParaRPr>
          </a:p>
        </p:txBody>
      </p:sp>
      <p:sp>
        <p:nvSpPr>
          <p:cNvPr id="34" name="TextBox 33">
            <a:extLst>
              <a:ext uri="{FF2B5EF4-FFF2-40B4-BE49-F238E27FC236}">
                <a16:creationId xmlns:a16="http://schemas.microsoft.com/office/drawing/2014/main" id="{4578191A-7676-3F5D-0DE6-40F9474D5A55}"/>
              </a:ext>
            </a:extLst>
          </p:cNvPr>
          <p:cNvSpPr txBox="1"/>
          <p:nvPr/>
        </p:nvSpPr>
        <p:spPr>
          <a:xfrm>
            <a:off x="8179205" y="5081779"/>
            <a:ext cx="550151" cy="461665"/>
          </a:xfrm>
          <a:prstGeom prst="rect">
            <a:avLst/>
          </a:prstGeom>
          <a:noFill/>
        </p:spPr>
        <p:txBody>
          <a:bodyPr wrap="none" rtlCol="0">
            <a:spAutoFit/>
          </a:bodyPr>
          <a:lstStyle>
            <a:defPPr>
              <a:defRPr lang="en-US"/>
            </a:defPPr>
            <a:lvl1pPr>
              <a:defRPr sz="1400">
                <a:solidFill>
                  <a:schemeClr val="accent4"/>
                </a:solidFill>
                <a:latin typeface="Atkinson Hyperlegible" pitchFamily="2" charset="0"/>
              </a:defRPr>
            </a:lvl1pPr>
          </a:lstStyle>
          <a:p>
            <a:pPr algn="ctr"/>
            <a:r>
              <a:rPr lang="en-US" sz="2400" b="1" dirty="0"/>
              <a:t>L0</a:t>
            </a:r>
            <a:endParaRPr lang="en-NL" sz="2400" b="1" dirty="0"/>
          </a:p>
        </p:txBody>
      </p:sp>
      <p:cxnSp>
        <p:nvCxnSpPr>
          <p:cNvPr id="38" name="Straight Connector 37">
            <a:extLst>
              <a:ext uri="{FF2B5EF4-FFF2-40B4-BE49-F238E27FC236}">
                <a16:creationId xmlns:a16="http://schemas.microsoft.com/office/drawing/2014/main" id="{C8A05D76-2430-8C71-9D94-4DBA05977030}"/>
              </a:ext>
            </a:extLst>
          </p:cNvPr>
          <p:cNvCxnSpPr>
            <a:cxnSpLocks/>
          </p:cNvCxnSpPr>
          <p:nvPr/>
        </p:nvCxnSpPr>
        <p:spPr>
          <a:xfrm>
            <a:off x="9276703" y="2925762"/>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9" name="Connector: Curved 18">
            <a:extLst>
              <a:ext uri="{FF2B5EF4-FFF2-40B4-BE49-F238E27FC236}">
                <a16:creationId xmlns:a16="http://schemas.microsoft.com/office/drawing/2014/main" id="{2E389A31-9CD0-E3E9-ECFF-B4A96B162A28}"/>
              </a:ext>
            </a:extLst>
          </p:cNvPr>
          <p:cNvCxnSpPr>
            <a:cxnSpLocks/>
          </p:cNvCxnSpPr>
          <p:nvPr/>
        </p:nvCxnSpPr>
        <p:spPr>
          <a:xfrm flipH="1">
            <a:off x="8725835" y="2272555"/>
            <a:ext cx="21600" cy="1404000"/>
          </a:xfrm>
          <a:prstGeom prst="curvedConnector3">
            <a:avLst>
              <a:gd name="adj1" fmla="val -5810074"/>
            </a:avLst>
          </a:prstGeom>
          <a:ln w="63500" cap="rnd">
            <a:solidFill>
              <a:srgbClr val="00B050"/>
            </a:solidFill>
            <a:prstDash val="solid"/>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28" name="Connector: Curved 27">
            <a:extLst>
              <a:ext uri="{FF2B5EF4-FFF2-40B4-BE49-F238E27FC236}">
                <a16:creationId xmlns:a16="http://schemas.microsoft.com/office/drawing/2014/main" id="{FCA37DD3-4263-EC69-33B3-EC31E2AD2A10}"/>
              </a:ext>
            </a:extLst>
          </p:cNvPr>
          <p:cNvCxnSpPr>
            <a:cxnSpLocks/>
          </p:cNvCxnSpPr>
          <p:nvPr/>
        </p:nvCxnSpPr>
        <p:spPr>
          <a:xfrm flipH="1">
            <a:off x="8725835" y="3907866"/>
            <a:ext cx="21600" cy="1404000"/>
          </a:xfrm>
          <a:prstGeom prst="curvedConnector3">
            <a:avLst>
              <a:gd name="adj1" fmla="val -5810074"/>
            </a:avLst>
          </a:prstGeom>
          <a:ln w="63500" cap="rnd">
            <a:solidFill>
              <a:srgbClr val="00B050"/>
            </a:solidFill>
            <a:prstDash val="solid"/>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32" name="Connector: Curved 31">
            <a:extLst>
              <a:ext uri="{FF2B5EF4-FFF2-40B4-BE49-F238E27FC236}">
                <a16:creationId xmlns:a16="http://schemas.microsoft.com/office/drawing/2014/main" id="{79448556-970B-ABF9-A543-805702BA9869}"/>
              </a:ext>
            </a:extLst>
          </p:cNvPr>
          <p:cNvCxnSpPr>
            <a:cxnSpLocks/>
          </p:cNvCxnSpPr>
          <p:nvPr/>
        </p:nvCxnSpPr>
        <p:spPr>
          <a:xfrm flipV="1">
            <a:off x="8148316" y="2272555"/>
            <a:ext cx="21600" cy="1404000"/>
          </a:xfrm>
          <a:prstGeom prst="curvedConnector3">
            <a:avLst>
              <a:gd name="adj1" fmla="val -5810074"/>
            </a:avLst>
          </a:prstGeom>
          <a:ln w="63500" cap="rnd">
            <a:solidFill>
              <a:srgbClr val="FF0000"/>
            </a:solidFill>
            <a:prstDash val="solid"/>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39" name="Connector: Curved 38">
            <a:extLst>
              <a:ext uri="{FF2B5EF4-FFF2-40B4-BE49-F238E27FC236}">
                <a16:creationId xmlns:a16="http://schemas.microsoft.com/office/drawing/2014/main" id="{A9F86B8C-233A-2754-7D05-FABC548EF14E}"/>
              </a:ext>
            </a:extLst>
          </p:cNvPr>
          <p:cNvCxnSpPr>
            <a:cxnSpLocks/>
          </p:cNvCxnSpPr>
          <p:nvPr/>
        </p:nvCxnSpPr>
        <p:spPr>
          <a:xfrm flipV="1">
            <a:off x="8148316" y="3907866"/>
            <a:ext cx="21600" cy="1404000"/>
          </a:xfrm>
          <a:prstGeom prst="curvedConnector3">
            <a:avLst>
              <a:gd name="adj1" fmla="val -5810074"/>
            </a:avLst>
          </a:prstGeom>
          <a:ln w="63500" cap="rnd">
            <a:solidFill>
              <a:srgbClr val="FF0000"/>
            </a:solidFill>
            <a:prstDash val="solid"/>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graphicFrame>
        <p:nvGraphicFramePr>
          <p:cNvPr id="40" name="Diagram 39">
            <a:extLst>
              <a:ext uri="{FF2B5EF4-FFF2-40B4-BE49-F238E27FC236}">
                <a16:creationId xmlns:a16="http://schemas.microsoft.com/office/drawing/2014/main" id="{D1A71151-8F55-3006-0360-6ED01DCD96CC}"/>
              </a:ext>
            </a:extLst>
          </p:cNvPr>
          <p:cNvGraphicFramePr/>
          <p:nvPr/>
        </p:nvGraphicFramePr>
        <p:xfrm>
          <a:off x="1015839" y="1793589"/>
          <a:ext cx="4992751" cy="399724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TextBox 5">
            <a:extLst>
              <a:ext uri="{FF2B5EF4-FFF2-40B4-BE49-F238E27FC236}">
                <a16:creationId xmlns:a16="http://schemas.microsoft.com/office/drawing/2014/main" id="{76B89BCE-FB99-B90F-3488-B376A955C678}"/>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2</a:t>
            </a:r>
            <a:endParaRPr lang="en-NL" sz="1000" b="1" dirty="0"/>
          </a:p>
        </p:txBody>
      </p:sp>
    </p:spTree>
    <p:extLst>
      <p:ext uri="{BB962C8B-B14F-4D97-AF65-F5344CB8AC3E}">
        <p14:creationId xmlns:p14="http://schemas.microsoft.com/office/powerpoint/2010/main" val="168441532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Health-RI Pallete">
      <a:dk1>
        <a:srgbClr val="000000"/>
      </a:dk1>
      <a:lt1>
        <a:srgbClr val="FFFFFF"/>
      </a:lt1>
      <a:dk2>
        <a:srgbClr val="2E2E2E"/>
      </a:dk2>
      <a:lt2>
        <a:srgbClr val="F2F2F2"/>
      </a:lt2>
      <a:accent1>
        <a:srgbClr val="15467B"/>
      </a:accent1>
      <a:accent2>
        <a:srgbClr val="F8AF00"/>
      </a:accent2>
      <a:accent3>
        <a:srgbClr val="91D18B"/>
      </a:accent3>
      <a:accent4>
        <a:srgbClr val="2E7D32"/>
      </a:accent4>
      <a:accent5>
        <a:srgbClr val="E57373"/>
      </a:accent5>
      <a:accent6>
        <a:srgbClr val="C62828"/>
      </a:accent6>
      <a:hlink>
        <a:srgbClr val="005A9C"/>
      </a:hlink>
      <a:folHlink>
        <a:srgbClr val="4E84C4"/>
      </a:folHlink>
    </a:clrScheme>
    <a:fontScheme name="Custom 2">
      <a:majorFont>
        <a:latin typeface="Aptos"/>
        <a:ea typeface=""/>
        <a:cs typeface=""/>
      </a:majorFont>
      <a:minorFont>
        <a:latin typeface="Aptos"/>
        <a:ea typeface=""/>
        <a:cs typeface=""/>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Presentation1" id="{30C8497A-5654-403E-ADB2-4E3768297007}" vid="{9F21127E-C008-40D4-B83A-5ACE9267ED7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61EAB5F-88FC-4FAE-AE3C-037A3C365EB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88A2F88-55C5-4ED1-9541-807C65424763}">
  <ds:schemaRefs>
    <ds:schemaRef ds:uri="http://purl.org/dc/elements/1.1/"/>
    <ds:schemaRef ds:uri="http://schemas.microsoft.com/office/2006/metadata/properties"/>
    <ds:schemaRef ds:uri="http://www.w3.org/XML/1998/namespace"/>
    <ds:schemaRef ds:uri="http://schemas.microsoft.com/office/2006/documentManagement/types"/>
    <ds:schemaRef ds:uri="http://purl.org/dc/terms/"/>
    <ds:schemaRef ds:uri="71af3243-3dd4-4a8d-8c0d-dd76da1f02a5"/>
    <ds:schemaRef ds:uri="http://schemas.microsoft.com/office/infopath/2007/PartnerControls"/>
    <ds:schemaRef ds:uri="http://schemas.openxmlformats.org/package/2006/metadata/core-properties"/>
    <ds:schemaRef ds:uri="16c05727-aa75-4e4a-9b5f-8a80a1165891"/>
    <ds:schemaRef ds:uri="http://purl.org/dc/dcmitype/"/>
  </ds:schemaRefs>
</ds:datastoreItem>
</file>

<file path=customXml/itemProps3.xml><?xml version="1.0" encoding="utf-8"?>
<ds:datastoreItem xmlns:ds="http://schemas.openxmlformats.org/officeDocument/2006/customXml" ds:itemID="{4F44C90D-2A62-4985-9618-3460247437B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Health-RI PowerPoint Template - 20251021</Template>
  <TotalTime>5482</TotalTime>
  <Words>7339</Words>
  <Application>Microsoft Office PowerPoint</Application>
  <PresentationFormat>Widescreen</PresentationFormat>
  <Paragraphs>1327</Paragraphs>
  <Slides>69</Slides>
  <Notes>35</Notes>
  <HiddenSlides>0</HiddenSlides>
  <MMClips>3</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69</vt:i4>
      </vt:variant>
    </vt:vector>
  </HeadingPairs>
  <TitlesOfParts>
    <vt:vector size="80" baseType="lpstr">
      <vt:lpstr>Amasis MT Pro Black</vt:lpstr>
      <vt:lpstr>Aptos</vt:lpstr>
      <vt:lpstr>Arial</vt:lpstr>
      <vt:lpstr>Atkinson Hyperlegible</vt:lpstr>
      <vt:lpstr>Atkinson Hyperlegible Mono</vt:lpstr>
      <vt:lpstr>Calibri</vt:lpstr>
      <vt:lpstr>Courier New</vt:lpstr>
      <vt:lpstr>Neue Haas Grotesk Text Pro Blac</vt:lpstr>
      <vt:lpstr>Tw Cen MT</vt:lpstr>
      <vt:lpstr>Wingdings 3</vt:lpstr>
      <vt:lpstr>Integral</vt:lpstr>
      <vt:lpstr>Applied Use Cases of  the Health-RI Semantic Interoperability Initiative</vt:lpstr>
      <vt:lpstr>Primary User Roles</vt:lpstr>
      <vt:lpstr>Amir Hassan: Research Goal and Challenge</vt:lpstr>
      <vt:lpstr>Amir’s End-to-End Workflow</vt:lpstr>
      <vt:lpstr>Scenario 1: Clarify Meanings Before Reuse</vt:lpstr>
      <vt:lpstr>Available Sex and Gender Variables by Dataset</vt:lpstr>
      <vt:lpstr>Amir’s Question and Challenge</vt:lpstr>
      <vt:lpstr>Labels and their Meanings</vt:lpstr>
      <vt:lpstr>Similar Labels Can Mislead Reuse</vt:lpstr>
      <vt:lpstr>Similar Labels Can Mislead Reuse</vt:lpstr>
      <vt:lpstr>Distinct Concepts Within Sex and Gender</vt:lpstr>
      <vt:lpstr>The Health-RI Conceptual Ontology</vt:lpstr>
      <vt:lpstr>HRIO Taxonomies for Sex and Gender</vt:lpstr>
      <vt:lpstr>Variables Map to Distinct Meanings</vt:lpstr>
      <vt:lpstr>Similar Variables, Different Meanings</vt:lpstr>
      <vt:lpstr>Scenario 2: Identify the dataset that represents the right meaning</vt:lpstr>
      <vt:lpstr>Amir’s Question and Challenge</vt:lpstr>
      <vt:lpstr>When are two datasets interoperable?</vt:lpstr>
      <vt:lpstr>When are two datasets interoperable?</vt:lpstr>
      <vt:lpstr>Semantic Interoperability Conditions</vt:lpstr>
      <vt:lpstr>Semantic Interoperability Conditions</vt:lpstr>
      <vt:lpstr>From Conceptual Clarity to Actionable Semantics</vt:lpstr>
      <vt:lpstr>The Health-RI Computational Ontology</vt:lpstr>
      <vt:lpstr>From Conceptual Clarity to Actionable Semantics</vt:lpstr>
      <vt:lpstr>Without Meanings:  Labels are not Enough</vt:lpstr>
      <vt:lpstr>Without Meanings:  Interpretation or Unreliable Mappings</vt:lpstr>
      <vt:lpstr>With Meanings:  Hub-and-Spoke Model</vt:lpstr>
      <vt:lpstr>Biological Sex Maps to One Valid Dataset Path</vt:lpstr>
      <vt:lpstr>Biological Sex Maps to One Valid Dataset Path</vt:lpstr>
      <vt:lpstr>Querying Concepts Related to Biological Sex</vt:lpstr>
      <vt:lpstr>PowerPoint Presentation</vt:lpstr>
      <vt:lpstr>Scenario 3: Inspect what a selected column means</vt:lpstr>
      <vt:lpstr>Amir’s Question and Challenge</vt:lpstr>
      <vt:lpstr>Scenario 3 — Retrieve the Ontology Meanings of a Selected Concept</vt:lpstr>
      <vt:lpstr>Scenario 3 — Retrieve the Ontology Meanings of a Selected Concept</vt:lpstr>
      <vt:lpstr>PowerPoint Presentation</vt:lpstr>
      <vt:lpstr>Scenario 4: Formalize the semantic relation between two selected columns</vt:lpstr>
      <vt:lpstr>Amir’s Question and Challenge</vt:lpstr>
      <vt:lpstr>Context: Inference of Meaning-Relations</vt:lpstr>
      <vt:lpstr>Context: With HRI-SSI</vt:lpstr>
      <vt:lpstr>Scenario 4 — Check the Existing Alignment Between Two Selected Concepts</vt:lpstr>
      <vt:lpstr>PowerPoint Presentation</vt:lpstr>
      <vt:lpstr>Scenario 5: Assess (re)use options around one selected concept</vt:lpstr>
      <vt:lpstr>Amir’s Question and Challenge</vt:lpstr>
      <vt:lpstr>Context: Without HRI-SSI</vt:lpstr>
      <vt:lpstr>Context: Without HRI-SSI</vt:lpstr>
      <vt:lpstr>The Health-RI SSSOM Mapping Set (HRIM)</vt:lpstr>
      <vt:lpstr>Context: With HRI-SSI (aligns)</vt:lpstr>
      <vt:lpstr>Context: With HRI-SSI (cannotAlign)</vt:lpstr>
      <vt:lpstr>Context: With HRI-SSI (partiallyAlign)</vt:lpstr>
      <vt:lpstr>Context: With HRI-SSI results</vt:lpstr>
      <vt:lpstr>Scenario 5: query</vt:lpstr>
      <vt:lpstr>PowerPoint Presentation</vt:lpstr>
      <vt:lpstr>Amir’s Story</vt:lpstr>
      <vt:lpstr>User 2: Inge de Boer — Data Steward</vt:lpstr>
      <vt:lpstr>User: Inge de Boer — Data Steward</vt:lpstr>
      <vt:lpstr>Scenario 6 — Check the Consistency of a Selected Concept</vt:lpstr>
      <vt:lpstr>Inge’s Data</vt:lpstr>
      <vt:lpstr>Context: Consistency</vt:lpstr>
      <vt:lpstr>Context: Without HRI-SSI</vt:lpstr>
      <vt:lpstr>Context: With HRI-SSI</vt:lpstr>
      <vt:lpstr>Scenario 7 — Retrieve All Semantically Inconsistent Concepts</vt:lpstr>
      <vt:lpstr>Scenario 8 — Assess the Consequences of a Proposed Alignment</vt:lpstr>
      <vt:lpstr>Inge’s Story</vt:lpstr>
      <vt:lpstr>Thank you!</vt:lpstr>
      <vt:lpstr>Meanings Are Necessary, but not Sufficient</vt:lpstr>
      <vt:lpstr>Examples of Semantic Similarity and Difference</vt:lpstr>
      <vt:lpstr>Exact Meaning is not Enough</vt:lpstr>
      <vt:lpstr>Specification Scales Better than Interpretation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Pedro Paulo Favato Barcelos</dc:creator>
  <cp:lastModifiedBy>Pedro Paulo Favato Barcelos</cp:lastModifiedBy>
  <cp:revision>541</cp:revision>
  <dcterms:created xsi:type="dcterms:W3CDTF">2026-04-15T11:32:55Z</dcterms:created>
  <dcterms:modified xsi:type="dcterms:W3CDTF">2026-04-24T15:21:36Z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