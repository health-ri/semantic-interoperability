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324" r:id="rId2"/>
    <p:sldId id="368" r:id="rId3"/>
    <p:sldId id="379" r:id="rId4"/>
    <p:sldId id="351" r:id="rId5"/>
    <p:sldId id="353" r:id="rId6"/>
    <p:sldId id="380" r:id="rId7"/>
    <p:sldId id="352" r:id="rId8"/>
    <p:sldId id="381" r:id="rId9"/>
    <p:sldId id="354" r:id="rId10"/>
    <p:sldId id="369" r:id="rId11"/>
    <p:sldId id="356" r:id="rId12"/>
    <p:sldId id="370" r:id="rId13"/>
    <p:sldId id="372" r:id="rId14"/>
    <p:sldId id="359" r:id="rId15"/>
    <p:sldId id="373" r:id="rId16"/>
    <p:sldId id="371" r:id="rId17"/>
    <p:sldId id="382" r:id="rId18"/>
    <p:sldId id="360" r:id="rId19"/>
    <p:sldId id="361" r:id="rId20"/>
    <p:sldId id="374" r:id="rId21"/>
    <p:sldId id="383" r:id="rId22"/>
    <p:sldId id="362" r:id="rId23"/>
    <p:sldId id="363" r:id="rId24"/>
    <p:sldId id="375" r:id="rId25"/>
    <p:sldId id="384" r:id="rId26"/>
    <p:sldId id="366" r:id="rId27"/>
    <p:sldId id="367" r:id="rId28"/>
    <p:sldId id="376" r:id="rId29"/>
    <p:sldId id="377" r:id="rId30"/>
    <p:sldId id="385" r:id="rId31"/>
    <p:sldId id="365" r:id="rId32"/>
    <p:sldId id="364" r:id="rId33"/>
    <p:sldId id="394" r:id="rId34"/>
    <p:sldId id="331" r:id="rId35"/>
    <p:sldId id="406" r:id="rId36"/>
    <p:sldId id="411" r:id="rId37"/>
    <p:sldId id="420" r:id="rId38"/>
    <p:sldId id="421" r:id="rId39"/>
    <p:sldId id="431" r:id="rId40"/>
    <p:sldId id="424" r:id="rId41"/>
    <p:sldId id="429" r:id="rId42"/>
    <p:sldId id="430" r:id="rId43"/>
    <p:sldId id="401" r:id="rId44"/>
    <p:sldId id="412" r:id="rId45"/>
    <p:sldId id="408" r:id="rId46"/>
    <p:sldId id="410" r:id="rId47"/>
    <p:sldId id="400" r:id="rId48"/>
    <p:sldId id="404" r:id="rId49"/>
    <p:sldId id="432" r:id="rId50"/>
    <p:sldId id="419" r:id="rId51"/>
    <p:sldId id="402" r:id="rId52"/>
    <p:sldId id="418" r:id="rId53"/>
    <p:sldId id="427" r:id="rId54"/>
    <p:sldId id="426" r:id="rId5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FFE4D9"/>
    <a:srgbClr val="F6C6AD"/>
    <a:srgbClr val="FFB9B9"/>
    <a:srgbClr val="F5FCF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3" autoAdjust="0"/>
    <p:restoredTop sz="95138" autoAdjust="0"/>
  </p:normalViewPr>
  <p:slideViewPr>
    <p:cSldViewPr snapToGrid="0" showGuides="1">
      <p:cViewPr varScale="1">
        <p:scale>
          <a:sx n="102" d="100"/>
          <a:sy n="102" d="100"/>
        </p:scale>
        <p:origin x="888" y="96"/>
      </p:cViewPr>
      <p:guideLst>
        <p:guide orient="horz" pos="41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C2F07-4453-4D95-9293-AF7F36F7BA84}" type="datetimeFigureOut">
              <a:rPr lang="en-NL" smtClean="0"/>
              <a:t>22/04/2026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17C00-797C-40A5-86BF-3831B1627FF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7241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D23BB-FE63-CEDC-EF10-41962DACC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4B6FBB-6B64-F431-B1CC-E0587CFF1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9763A-AEAA-8C6E-4D6D-EA32EFF95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789B8-1108-12B1-D587-B2E275FF6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70750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76E4F-6582-936E-6FB0-17AF61CFB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F8673-EE89-2152-E5CC-56A1C9069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BC144-10D5-E917-331E-D5A9F43E6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029BE-BF5E-A23A-328E-813CD7BD2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31951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0968C-F588-DBDE-CA47-01FB3EDFB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25871-CC2D-96F0-1373-7FA25A3DF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D9335-45ED-2A19-4765-0828F3636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81AA0-97A7-F704-5DB4-61A0559DC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5243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26240-1CD3-C492-7002-646D793AF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6BAA9-07CE-354B-A64D-CA5BFD354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D0325-3588-6BC8-F4E6-3D30248E7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215A1-639C-D01B-804C-7A9365304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30994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032B1-2B24-6239-8486-A3AFD18AA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12A7A5-A0B5-FCCE-F590-66F71D57C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9971B-7422-7C7A-292B-FE9C0C33E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BFB3E-836D-D88A-1792-251F0B78E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61812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79F81-3748-146F-70D9-DF6D6A2A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9C14B-50AC-C2F8-9872-8CD35DB6A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684BC-C3CE-F685-8B78-0894A944A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E192F-CB3A-6B6B-49DC-E7C246A04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35695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9B6E5-6F70-A2FA-D008-61D31AE4D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76399-04C0-739E-E95D-706248BD9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E2A976-2CF9-ACDB-83E6-07C2DDA86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F92AD-CD10-31B2-FBB0-DD1A26F72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63968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6564F-3B03-468F-3966-8D37B8270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4AB71-9D26-CDFD-677F-F3F7ED928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2F3C3-9A16-5D5A-4E00-CF6213A9D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1AF4F-55E3-8306-9641-5EDCBC5DF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91902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FA7FF-1B66-3822-7A7B-37BA71DB2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AB8BA-DA83-CE47-9CB0-968A6F521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51E75B-C897-868E-6518-3CE29ADCD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CC114-7E6C-624C-5A96-3284B2E06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0124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2FCC5-504B-7960-7E4F-A763DD279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A31FDB-255F-5086-FDD0-F0D622081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12A48F-C701-B468-BDB8-F5B402102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FFDED-DFB1-9FCA-87AA-75D18E17C3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43774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2A2A0-38E3-F50A-42FB-A16AA76AA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030D3-2AD6-0F9E-193D-0B3E014D4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D1AEC-7633-F03A-A3E5-978666A4E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F4D7D-8177-3762-F1E9-DEA3C2BEE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79687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5A891-C44A-AE08-0D94-81E96C45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2A98F-2EAE-FDF6-55C1-E80B19974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7D0C0-4DFB-AA66-399E-0E9113B5E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AA5C5-E064-78B0-4E85-8EE041D50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391491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80426-1AFB-07FE-BD39-DFFFD58F4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702B0-7835-896D-7093-E0DEAD312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91B22-7845-0FFD-CB60-7BCB1AA2F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6C875-DC33-89B7-0BBF-B6A515018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82778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4D5AD-E650-3D14-D8CF-3D2D6D79C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85F7B-2919-DBCD-5CB2-D37F48980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D205B-EEAB-8473-C8B8-9FB3C2AAD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D77A3-37C4-0F79-D859-18354E575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959876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57CAD-D5D8-1799-857F-38C5E4C4E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28AF31-E617-4384-3AAE-EB7FD18DD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5F6CC-131B-102F-3001-AE3F413FD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B55C8-5733-4C2A-B1C5-AF4BDBB6C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51055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5D0D4-6927-96DE-78CA-A4FA0324B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C7766-F2BD-4899-3DF5-67BD43B60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DC310-690A-187A-C51A-9F4FC7C20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965D1-FAEA-014F-BA2D-01B0267CA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4928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F9829-59C1-187A-EBDA-CAD0F7744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2FFB4-7A72-3781-146B-EF669C28C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58D20-ED9B-1EB0-8E0A-EEDC58434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3AD2D-B0F7-9B4C-75D6-BAB546F62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24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519380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A084F-8CA6-500A-C0B0-01E1EA087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F1005B-02A2-7B97-42CA-F61C629FC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34E88-A8CD-6C2C-A64D-1A9AEC9F6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8E441-7D29-80F5-61C2-3747EFAC0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26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070251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4503C-B706-66E0-90F1-5AEE785C2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902C2-D4A2-87DA-4522-E06363137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A96C5-E4B6-7767-849B-CEF104959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BF6C4-0E68-6FF4-5505-9D1FEE8FB9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27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879859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39A6E-35E0-B301-96FE-0EF7F9A7F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1A596-D869-F937-B522-71ECCF1C6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02B37-EFAE-CF92-C8A3-5B94B1B32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B7583-8BD0-5E19-F07D-8C9D187BD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28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291858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44759-135F-2045-0091-22CE6A97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B49F6-CB84-74A2-B30D-F336EE1AF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A503E-7CA6-CF3B-C66E-CE39C0ED4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C2A53-D6B7-8BFE-EC51-ADBB6AB63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31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931745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45EBB-E1E7-396A-CDE0-0B1F40C99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8419F-5ADD-EF37-9706-43BF0C6E6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F7B497-33F5-EBF5-4B87-FD63B38EC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3 types of concepts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1A422-1642-610A-BAD3-E24FA74B3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32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2458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34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333934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specific for an example concept (e.g., Patient)</a:t>
            </a:r>
          </a:p>
          <a:p>
            <a:r>
              <a:rPr lang="en-US" dirty="0"/>
              <a:t>Create datasets and datasets have multiple columns and these implement the </a:t>
            </a:r>
            <a:r>
              <a:rPr lang="en-US" dirty="0" err="1"/>
              <a:t>RepresentationConcepts</a:t>
            </a:r>
            <a:r>
              <a:rPr lang="en-US" dirty="0"/>
              <a:t>. This way we can query for them.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17C00-797C-40A5-86BF-3831B1627FF4}" type="slidenum">
              <a:rPr lang="en-NL" smtClean="0"/>
              <a:t>35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94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ADB4E-67D3-E023-62A2-A27CC3B71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77944C-5D38-B5A0-14C0-FAE1FAD2D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9E261-FA03-7E6C-F1A3-ACE24B39F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22/04/2026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076AB-A00E-EC3E-768C-2879DA28B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9748E-03CC-BB4B-EA7C-0DA2F2D78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660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F6FF5-0003-689E-7B89-CCEF7E029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27081-F89C-2167-F4BA-7EEEB6B3D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2DB02-6898-99E2-C2E4-E90E8A50D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22/04/2026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65248-119F-184F-76FA-12A0CED6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BB238-0810-1F3F-1D67-2E146C9B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74082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2BE0F-53CF-6C93-0372-01AB92A7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61511-2DE2-EEE8-045E-FE59E01C0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ECBCB-3092-8D18-1EE2-366814248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22/04/2026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358DE-3A52-0F5B-11B5-C4843B2B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10F6C-4BA3-985C-E60E-3A8FDED1B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02742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D39F1-4681-4AFD-F206-80F25B67E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7C4B0-71F3-819E-E295-E8C9F12CA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E9DD4-B9A9-B612-0B00-87045656A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4E335-4AE4-81AF-2348-7FC6223D8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22/04/2026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D46EF-957E-C9A2-C4FE-0E5F7CFA2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7A61C-5F04-6C6C-98AA-29A85D3B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511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971B-C29E-77B8-6C3C-9EDF4E004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027B8-9CF1-38F0-0122-2AFE45229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FC183-30D4-021D-55F6-FABA704D9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C9D16-2D2B-8EA1-D42E-990B6FA5FC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173DCB-B975-053B-9963-F20F55B38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5B2917-DFDB-E3F0-1530-14345A313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22/04/2026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1952FD-1F07-E615-1FEA-ED7182EAC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34C482-032A-6DD3-0BF4-9FAE900CF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94644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CF522-3D93-61ED-6D5D-794EAEDD8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D01994-9C11-5770-31F1-C2D0E9780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22/04/2026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4BFFA1-1204-20CE-994B-C45DA6D3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97AF9-7DE3-4EE8-31D3-C54F4BCDF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75704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921052-4BBD-CB91-31B2-9D502C68D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22/04/2026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E5BC15-252A-E59E-9B2F-4F3F33B8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7B92C-B894-A09B-5850-33DE0DA40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4171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E3146-C30A-7F02-976C-35438FFCA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FC403-FF20-1C81-EA2E-B531AA02C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F0C2B-E7FC-D8DD-A418-263DFF9F9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C54DE-8E2E-BB38-7C0D-52737E6D2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22/04/2026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84006-1EDB-AB77-100D-983279E82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C8519-C886-C680-CA99-F5DC8BA2A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708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4B256-1DB8-305B-CD76-AC36CEC92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361938-9D7E-EBDE-93F0-FB3642050E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1CA09-413A-F83F-714D-DCF486CED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DB9DF-21D0-4F9B-E323-387EC2F9F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22/04/2026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C3F0D-E5E9-A603-B231-69A0A5BA6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8E63C-4BBD-A60C-2100-9BF060648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5326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B9A3-0775-F66A-1FBD-72E3662C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92DF4-7843-A0B7-B7DD-4F9E92657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137DF-4C75-6ABF-E90B-C2EE3140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22/04/2026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CB4E3-30A9-BE24-90EF-76D11923C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AFB21-8F5D-DBEE-1613-15143BFFD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4368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C657A2-3F1F-33B0-304F-A86B3BDB82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DD021-7ED6-4BDD-B33D-D0401F9CB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5DCB0-975F-D6F8-331A-1D3402B3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97640-DDEE-420A-925D-4FF18309F957}" type="datetimeFigureOut">
              <a:rPr lang="en-NL" smtClean="0"/>
              <a:t>22/04/2026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4E70B-4091-9A6B-DA19-7F0DC714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6580A-01FA-5C48-4C39-169D2CB93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64674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5B92B-ACFA-9E9C-AB46-C10C329DE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33FC8-BE9B-908F-765D-95BA2F9AC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27BFA-F442-600E-F0F4-27A8B3B861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97640-DDEE-420A-925D-4FF18309F957}" type="datetimeFigureOut">
              <a:rPr lang="en-NL" smtClean="0"/>
              <a:t>22/04/2026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E1857-5411-16C8-5F99-1B8E1179B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73F6E-8335-5B91-3DAA-537E61310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6296B-B280-4D29-8571-71C2EC846A9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64856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F0E8-190C-9079-8453-730303488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Use Case Scenarios </a:t>
            </a:r>
            <a:r>
              <a:rPr lang="en-US" dirty="0"/>
              <a:t>for the</a:t>
            </a:r>
            <a:br>
              <a:rPr lang="en-US" dirty="0"/>
            </a:br>
            <a:r>
              <a:rPr lang="en-US" dirty="0"/>
              <a:t>Health-RI Semantic Interoperability Initiative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30635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90A85-C8D2-C773-273F-4B54CC28D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426C6-4492-5B57-4BC3-3E77FFA24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b="1" dirty="0"/>
              <a:t>Context Definition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433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98887-A2AD-E195-F127-D097283B2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57DE7-E25F-27AA-E815-65AF1A9E1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Types of Concepts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Vertical Relations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Horizontal Relations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aligns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cannotAlign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mayAlign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partiallyAlign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Inconsistencies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97623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58A4F93-AAF8-B8E4-70BF-81E45D1F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C289F7-CC2E-DED9-DA54-D2A945FC8F9C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84A3D516-F8D5-28FB-2AA9-91C8BE9C175F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62AD0C9E-4737-7C10-130B-9204E4E6987E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F75F9B-518E-3BD4-F8B8-473B8933E0A1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AB52457C-B10E-8C84-90B6-52FFE80154DA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BB4123-E567-670D-67E8-9578E222BC46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8D1B765D-2061-D4EA-1C0A-16145EC00D3D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69992E-57C3-FFBF-1AFD-9E3C034778BD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08632A58-564D-0D85-B153-3911BCA205F0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D871A7-D0D1-04BC-B8EE-8A42ECBA9BD4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71FF8F-4CE3-60FB-3D26-2F0B90FEAD17}"/>
              </a:ext>
            </a:extLst>
          </p:cNvPr>
          <p:cNvCxnSpPr/>
          <p:nvPr/>
        </p:nvCxnSpPr>
        <p:spPr>
          <a:xfrm>
            <a:off x="971549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2FEE74-6831-5F59-9DBF-A61A2F8277F8}"/>
              </a:ext>
            </a:extLst>
          </p:cNvPr>
          <p:cNvCxnSpPr/>
          <p:nvPr/>
        </p:nvCxnSpPr>
        <p:spPr>
          <a:xfrm>
            <a:off x="11227643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FB9ABA-65E1-6D9F-26F8-9795454C21F9}"/>
              </a:ext>
            </a:extLst>
          </p:cNvPr>
          <p:cNvCxnSpPr/>
          <p:nvPr/>
        </p:nvCxnSpPr>
        <p:spPr>
          <a:xfrm>
            <a:off x="9770317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54E7BBB-8C53-0C91-304C-C76717B06CAA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BE1522B-CC59-429C-6B16-0649E1FE81F2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C685A4-87DD-38A4-5B19-64AC59D007E6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F2D888A-29C9-43F3-48F4-94FCB827FEB5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65F5982-54E4-D6F1-E6C6-9D325BF70B63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FB78BBD-8E52-7662-6BA5-BE3FAFF176A3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F537973-2E99-3AA7-6F39-B0894BE455E3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955E914-EDE4-6778-1EE6-5AA50188C0E7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2D7D54-9551-722E-C7FC-6C65EA6C056A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E0BF2B-C749-1908-E9F9-1E01A711A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3462"/>
          </a:xfrm>
        </p:spPr>
        <p:txBody>
          <a:bodyPr>
            <a:normAutofit/>
          </a:bodyPr>
          <a:lstStyle/>
          <a:p>
            <a:r>
              <a:rPr lang="en-US" dirty="0"/>
              <a:t>1. Types of Concepts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2408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65A3C-0A8A-B6A1-89AB-793D8956C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170C2F0-F1E0-2ADB-FA45-B6172FF253A1}"/>
              </a:ext>
            </a:extLst>
          </p:cNvPr>
          <p:cNvSpPr/>
          <p:nvPr/>
        </p:nvSpPr>
        <p:spPr>
          <a:xfrm>
            <a:off x="0" y="1222628"/>
            <a:ext cx="12192000" cy="2104770"/>
          </a:xfrm>
          <a:prstGeom prst="rect">
            <a:avLst/>
          </a:prstGeom>
          <a:solidFill>
            <a:srgbClr val="FFC00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24CD74-F902-CE55-426F-40EC5CE70735}"/>
              </a:ext>
            </a:extLst>
          </p:cNvPr>
          <p:cNvSpPr/>
          <p:nvPr/>
        </p:nvSpPr>
        <p:spPr>
          <a:xfrm>
            <a:off x="0" y="3327398"/>
            <a:ext cx="12192000" cy="3606100"/>
          </a:xfrm>
          <a:prstGeom prst="rect">
            <a:avLst/>
          </a:prstGeom>
          <a:solidFill>
            <a:srgbClr val="7030A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CFEF21-C805-D33F-EEEA-070B15145E2C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8B6620FD-9EBF-3971-2960-C2DEA0CE83CE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tx2">
              <a:lumMod val="10000"/>
              <a:lumOff val="9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C81554-5EA0-A9C1-1D96-696427C8CF61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AF64B93D-D46C-1F62-C451-DDA26170C27B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2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F5BFF1-A53D-C2EC-7432-532D2D589B39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9BAC6678-778B-954E-3F31-18629CEFEF48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4614B8-415A-1CDB-1931-1257C680126F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F88237-221C-446D-EA55-D00F53A1B4BC}"/>
              </a:ext>
            </a:extLst>
          </p:cNvPr>
          <p:cNvCxnSpPr/>
          <p:nvPr/>
        </p:nvCxnSpPr>
        <p:spPr>
          <a:xfrm>
            <a:off x="971549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84701E-ABE4-9B5C-E90B-199209E08F9F}"/>
              </a:ext>
            </a:extLst>
          </p:cNvPr>
          <p:cNvCxnSpPr/>
          <p:nvPr/>
        </p:nvCxnSpPr>
        <p:spPr>
          <a:xfrm>
            <a:off x="11227643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DC0F3-4C6A-2643-3A47-ADAA94FB614B}"/>
              </a:ext>
            </a:extLst>
          </p:cNvPr>
          <p:cNvCxnSpPr/>
          <p:nvPr/>
        </p:nvCxnSpPr>
        <p:spPr>
          <a:xfrm>
            <a:off x="9770317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F96365-B22E-D7F4-536B-97436A91DAB8}"/>
              </a:ext>
            </a:extLst>
          </p:cNvPr>
          <p:cNvCxnSpPr>
            <a:cxnSpLocks/>
          </p:cNvCxnSpPr>
          <p:nvPr/>
        </p:nvCxnSpPr>
        <p:spPr>
          <a:xfrm>
            <a:off x="0" y="3327400"/>
            <a:ext cx="12192000" cy="0"/>
          </a:xfrm>
          <a:prstGeom prst="line">
            <a:avLst/>
          </a:prstGeom>
          <a:ln w="5715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40AE4C3-990D-8F2A-5E0B-C933D8FD838B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F3FA04-95B7-7EE8-37FC-D60D72605D25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A467806-9DF9-C761-CF1C-2BDD3B234977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947CD0-5C56-4287-848B-B290BA0CC100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786F7BA-3F85-DDB5-AA85-6FD8AFE90204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4C83C43-B2FC-A05C-C0F3-1C686A95DB66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921DCA0-5A76-15F9-0113-3915182557AE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F30A65E-18C2-1C7B-92A4-693611F6E03F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7F4097-B09A-0024-6BB1-BA240A06C54A}"/>
              </a:ext>
            </a:extLst>
          </p:cNvPr>
          <p:cNvSpPr txBox="1"/>
          <p:nvPr/>
        </p:nvSpPr>
        <p:spPr>
          <a:xfrm>
            <a:off x="10400935" y="1294772"/>
            <a:ext cx="17780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tkinson Hyperlegible Mono Semi" panose="02000009000000000000" pitchFamily="49" charset="0"/>
              </a:rPr>
              <a:t>Meaning</a:t>
            </a:r>
            <a:endParaRPr lang="en-NL" sz="2800" b="1" dirty="0">
              <a:latin typeface="Atkinson Hyperlegible Mono Semi" panose="02000009000000000000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2DE6B0-78AE-0CE2-815B-AA68191D4DC6}"/>
              </a:ext>
            </a:extLst>
          </p:cNvPr>
          <p:cNvSpPr txBox="1"/>
          <p:nvPr/>
        </p:nvSpPr>
        <p:spPr>
          <a:xfrm>
            <a:off x="8807550" y="6334093"/>
            <a:ext cx="3371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tkinson Hyperlegible Mono Semi" panose="02000009000000000000" pitchFamily="49" charset="0"/>
              </a:rPr>
              <a:t>Representation</a:t>
            </a:r>
            <a:endParaRPr lang="en-NL" sz="2800" b="1" dirty="0">
              <a:latin typeface="Atkinson Hyperlegible Mono Semi" panose="02000009000000000000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BA903CE-6031-373D-4BDD-08E9CCEB8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3462"/>
          </a:xfrm>
        </p:spPr>
        <p:txBody>
          <a:bodyPr/>
          <a:lstStyle/>
          <a:p>
            <a:r>
              <a:rPr lang="en-US" dirty="0"/>
              <a:t>1. Types of Concepts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11488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3AAF-7295-DC03-15F3-78956985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09B1-2E7B-3BF8-ADE6-B4F552791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E1600-975A-0733-A7AF-1DE1B7929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Types of Concepts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Vertical Relations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Horizontal Relations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aligns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cannotAlign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mayAlign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partiallyAlign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Inconsistencies</a:t>
            </a:r>
            <a:endParaRPr lang="en-NL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1319521-C059-A482-D2EE-FA08F1366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296511"/>
              </p:ext>
            </p:extLst>
          </p:nvPr>
        </p:nvGraphicFramePr>
        <p:xfrm>
          <a:off x="5515557" y="2349500"/>
          <a:ext cx="6156000" cy="51816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134000">
                  <a:extLst>
                    <a:ext uri="{9D8B030D-6E8A-4147-A177-3AD203B41FA5}">
                      <a16:colId xmlns:a16="http://schemas.microsoft.com/office/drawing/2014/main" val="1292452426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11031970"/>
                    </a:ext>
                  </a:extLst>
                </a:gridCol>
                <a:gridCol w="1134000">
                  <a:extLst>
                    <a:ext uri="{9D8B030D-6E8A-4147-A177-3AD203B41FA5}">
                      <a16:colId xmlns:a16="http://schemas.microsoft.com/office/drawing/2014/main" val="3875824869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92479494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hriv:hasExactMeaning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NOT </a:t>
                      </a:r>
                      <a:r>
                        <a:rPr lang="en-US" sz="1400" dirty="0" err="1"/>
                        <a:t>hriv:hasExactMeaning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162783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CBDD00-BD3A-EB7D-EC00-C28A95F0818A}"/>
              </a:ext>
            </a:extLst>
          </p:cNvPr>
          <p:cNvCxnSpPr>
            <a:cxnSpLocks/>
          </p:cNvCxnSpPr>
          <p:nvPr/>
        </p:nvCxnSpPr>
        <p:spPr>
          <a:xfrm flipV="1">
            <a:off x="6111954" y="2420885"/>
            <a:ext cx="0" cy="3600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E37D25-FD69-8F07-69F0-CF11BAA6805F}"/>
              </a:ext>
            </a:extLst>
          </p:cNvPr>
          <p:cNvCxnSpPr>
            <a:cxnSpLocks/>
          </p:cNvCxnSpPr>
          <p:nvPr/>
        </p:nvCxnSpPr>
        <p:spPr>
          <a:xfrm flipV="1">
            <a:off x="9178032" y="2420885"/>
            <a:ext cx="0" cy="3600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342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01DB-A705-7B23-9BA2-B5BFD0837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3F5EA21-94C8-1369-7044-2B79601C22BF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666DBDCA-0BA8-F997-2497-0A861417F8BE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16619A7-C6ED-5265-477E-31F21B1B5FC3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2D9CD6-DD0D-B53A-FD05-A4EF80848404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382CFA79-EC49-8142-2884-05A754CB89DB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050CB64-E95D-36C2-DD45-080F7A75427E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FD08B74-7081-C643-90D5-0E5BB617EDFB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F72FFA-2EA4-E106-8556-2431E277936B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0703B652-1962-74DC-1475-8A38F93465A6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A8FC67-B875-0AEE-BA61-E5A2FB2B368E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BC84C9B-70F1-9CC0-55ED-25BD02D5EC7F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4313B938-1441-26B0-2A74-6D37808527ED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47B01F-3D57-E589-DCD5-1C7F0A70789C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A2AFC58-D639-FE31-7E5C-10E33302B012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99C8C8-20F4-C9FD-B0EA-35ACBE6D5EE8}"/>
              </a:ext>
            </a:extLst>
          </p:cNvPr>
          <p:cNvCxnSpPr/>
          <p:nvPr/>
        </p:nvCxnSpPr>
        <p:spPr>
          <a:xfrm>
            <a:off x="977899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9DD827-7CCA-9991-FFA8-76E601EFF682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58F75D-D5D5-59DC-27DD-9F6934753BBA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42D0F9-21B6-CF44-8F83-12D5CBB69A61}"/>
              </a:ext>
            </a:extLst>
          </p:cNvPr>
          <p:cNvCxnSpPr>
            <a:cxnSpLocks/>
            <a:stCxn id="2" idx="0"/>
            <a:endCxn id="22" idx="4"/>
          </p:cNvCxnSpPr>
          <p:nvPr/>
        </p:nvCxnSpPr>
        <p:spPr>
          <a:xfrm flipV="1">
            <a:off x="3686176" y="2775339"/>
            <a:ext cx="0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0D98FF-2730-CE71-22D6-3775385A3083}"/>
              </a:ext>
            </a:extLst>
          </p:cNvPr>
          <p:cNvCxnSpPr>
            <a:cxnSpLocks/>
            <a:stCxn id="6" idx="0"/>
            <a:endCxn id="28" idx="4"/>
          </p:cNvCxnSpPr>
          <p:nvPr/>
        </p:nvCxnSpPr>
        <p:spPr>
          <a:xfrm flipV="1">
            <a:off x="5038885" y="2775339"/>
            <a:ext cx="0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9D5008C-4482-1282-43E2-C0378E2D13A4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2D3887-234D-0EB6-7699-7A6B682E50B4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12A3202-7066-90AF-6C31-9E126AEE608C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F244101-2324-D858-D915-EA4075FE1AAD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91ECFB2-36C9-502F-8E27-C3A0C9FF4EEB}"/>
              </a:ext>
            </a:extLst>
          </p:cNvPr>
          <p:cNvCxnSpPr>
            <a:cxnSpLocks/>
            <a:stCxn id="21" idx="0"/>
            <a:endCxn id="18" idx="4"/>
          </p:cNvCxnSpPr>
          <p:nvPr/>
        </p:nvCxnSpPr>
        <p:spPr>
          <a:xfrm flipV="1">
            <a:off x="6386958" y="2775339"/>
            <a:ext cx="4636" cy="10968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82BCD02-6697-F516-96D4-BE022BBEF33B}"/>
              </a:ext>
            </a:extLst>
          </p:cNvPr>
          <p:cNvCxnSpPr>
            <a:cxnSpLocks/>
            <a:stCxn id="24" idx="0"/>
            <a:endCxn id="20" idx="4"/>
          </p:cNvCxnSpPr>
          <p:nvPr/>
        </p:nvCxnSpPr>
        <p:spPr>
          <a:xfrm flipH="1" flipV="1">
            <a:off x="7744302" y="2775339"/>
            <a:ext cx="4762" cy="260330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1EEDF65-273C-F55F-8D59-3780EE68ED7C}"/>
              </a:ext>
            </a:extLst>
          </p:cNvPr>
          <p:cNvCxnSpPr>
            <a:cxnSpLocks/>
          </p:cNvCxnSpPr>
          <p:nvPr/>
        </p:nvCxnSpPr>
        <p:spPr>
          <a:xfrm>
            <a:off x="355600" y="1110702"/>
            <a:ext cx="946280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F7599F7-EA1C-CD10-F0E8-3DB2F2DFB684}"/>
              </a:ext>
            </a:extLst>
          </p:cNvPr>
          <p:cNvCxnSpPr>
            <a:cxnSpLocks/>
          </p:cNvCxnSpPr>
          <p:nvPr/>
        </p:nvCxnSpPr>
        <p:spPr>
          <a:xfrm>
            <a:off x="355600" y="1539227"/>
            <a:ext cx="94628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E381F6C-AE94-D348-BD73-F70FAFFDF270}"/>
              </a:ext>
            </a:extLst>
          </p:cNvPr>
          <p:cNvSpPr txBox="1"/>
          <p:nvPr/>
        </p:nvSpPr>
        <p:spPr>
          <a:xfrm>
            <a:off x="1408923" y="956814"/>
            <a:ext cx="9019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 err="1">
                <a:solidFill>
                  <a:srgbClr val="00B050"/>
                </a:solidFill>
              </a:rPr>
              <a:t>hriv:hasExactMeaning</a:t>
            </a:r>
            <a:r>
              <a:rPr lang="en-US" sz="1400" b="1" dirty="0">
                <a:solidFill>
                  <a:srgbClr val="00B050"/>
                </a:solidFill>
              </a:rPr>
              <a:t>:</a:t>
            </a:r>
            <a:r>
              <a:rPr lang="en-US" sz="1400" dirty="0"/>
              <a:t> a </a:t>
            </a:r>
            <a:r>
              <a:rPr lang="en-US" sz="1400" b="1" dirty="0"/>
              <a:t>standard</a:t>
            </a:r>
            <a:r>
              <a:rPr lang="en-US" sz="1400" dirty="0"/>
              <a:t> or </a:t>
            </a:r>
            <a:r>
              <a:rPr lang="en-US" sz="1400" b="1" dirty="0"/>
              <a:t>model</a:t>
            </a:r>
            <a:r>
              <a:rPr lang="en-US" sz="1400" dirty="0"/>
              <a:t> concept explicitly </a:t>
            </a:r>
            <a:r>
              <a:rPr lang="en-US" sz="1400" b="1" dirty="0">
                <a:solidFill>
                  <a:schemeClr val="accent6"/>
                </a:solidFill>
              </a:rPr>
              <a:t>has</a:t>
            </a:r>
            <a:r>
              <a:rPr lang="en-US" sz="1400" dirty="0"/>
              <a:t> its meanings defined by the </a:t>
            </a:r>
            <a:r>
              <a:rPr lang="en-US" sz="1400" b="1" dirty="0"/>
              <a:t>ontology</a:t>
            </a:r>
            <a:r>
              <a:rPr lang="en-US" sz="1400" dirty="0"/>
              <a:t> concept.</a:t>
            </a:r>
            <a:endParaRPr lang="en-NL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F33518-3E69-C5E9-397D-B1E81C5BB576}"/>
              </a:ext>
            </a:extLst>
          </p:cNvPr>
          <p:cNvSpPr txBox="1"/>
          <p:nvPr/>
        </p:nvSpPr>
        <p:spPr>
          <a:xfrm>
            <a:off x="1408923" y="1385339"/>
            <a:ext cx="10285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>
                <a:solidFill>
                  <a:srgbClr val="FF0000"/>
                </a:solidFill>
              </a:rPr>
              <a:t>NOT </a:t>
            </a:r>
            <a:r>
              <a:rPr lang="en-US" sz="1400" b="1" i="1" dirty="0" err="1">
                <a:solidFill>
                  <a:srgbClr val="FF0000"/>
                </a:solidFill>
              </a:rPr>
              <a:t>hriv:hasExactMeaning</a:t>
            </a:r>
            <a:r>
              <a:rPr lang="en-US" sz="1400" b="1" dirty="0">
                <a:solidFill>
                  <a:srgbClr val="FF0000"/>
                </a:solidFill>
              </a:rPr>
              <a:t>: </a:t>
            </a:r>
            <a:r>
              <a:rPr lang="en-US" sz="1400" dirty="0"/>
              <a:t>a </a:t>
            </a:r>
            <a:r>
              <a:rPr lang="en-US" sz="1400" b="1" dirty="0"/>
              <a:t>standard</a:t>
            </a:r>
            <a:r>
              <a:rPr lang="en-US" sz="1400" dirty="0"/>
              <a:t> or </a:t>
            </a:r>
            <a:r>
              <a:rPr lang="en-US" sz="1400" b="1" dirty="0"/>
              <a:t>model</a:t>
            </a:r>
            <a:r>
              <a:rPr lang="en-US" sz="1400" dirty="0"/>
              <a:t> concept explicitly </a:t>
            </a:r>
            <a:r>
              <a:rPr lang="en-US" sz="1400" b="1" dirty="0">
                <a:solidFill>
                  <a:srgbClr val="FF0000"/>
                </a:solidFill>
              </a:rPr>
              <a:t>does not have </a:t>
            </a:r>
            <a:r>
              <a:rPr lang="en-US" sz="1400" dirty="0"/>
              <a:t>its meanings defined by the </a:t>
            </a:r>
            <a:r>
              <a:rPr lang="en-US" sz="1400" b="1" dirty="0"/>
              <a:t>ontology</a:t>
            </a:r>
            <a:r>
              <a:rPr lang="en-US" sz="1400" dirty="0"/>
              <a:t> concept.</a:t>
            </a:r>
            <a:endParaRPr lang="en-NL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15623B-19AA-8055-872E-27D326C24D1E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E65C76E3-ED29-ED01-08A4-D28E46B4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2. Vertical Relations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60538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58423-936A-06E4-AB46-D0358059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B745-07CB-8AE3-7349-855CFE0D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C09F1-5289-E067-784D-C44901C3B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Types of Concepts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Vertical Relations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Horizontal</a:t>
            </a:r>
            <a:r>
              <a:rPr lang="en-US" dirty="0"/>
              <a:t> </a:t>
            </a:r>
            <a:r>
              <a:rPr lang="en-US" b="1" dirty="0"/>
              <a:t>Relations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b="1" dirty="0"/>
              <a:t>aligns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cannotAlign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mayAlign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partiallyAlign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Inconsistencies</a:t>
            </a:r>
            <a:endParaRPr lang="en-NL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A480580-5FDD-E4AE-0A2A-58E60D377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880156"/>
              </p:ext>
            </p:extLst>
          </p:nvPr>
        </p:nvGraphicFramePr>
        <p:xfrm>
          <a:off x="5519738" y="2349500"/>
          <a:ext cx="6156000" cy="103656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134000">
                  <a:extLst>
                    <a:ext uri="{9D8B030D-6E8A-4147-A177-3AD203B41FA5}">
                      <a16:colId xmlns:a16="http://schemas.microsoft.com/office/drawing/2014/main" val="1292452426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11031970"/>
                    </a:ext>
                  </a:extLst>
                </a:gridCol>
                <a:gridCol w="1134000">
                  <a:extLst>
                    <a:ext uri="{9D8B030D-6E8A-4147-A177-3AD203B41FA5}">
                      <a16:colId xmlns:a16="http://schemas.microsoft.com/office/drawing/2014/main" val="3875824869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92479494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hriv:hasExactMeaning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NOT </a:t>
                      </a:r>
                      <a:r>
                        <a:rPr lang="en-US" sz="1400" dirty="0" err="1"/>
                        <a:t>hriv:hasExactMeaning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162783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aligns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aligns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25196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B9B6E0-704D-C0A0-42E2-7835723453B5}"/>
              </a:ext>
            </a:extLst>
          </p:cNvPr>
          <p:cNvCxnSpPr>
            <a:cxnSpLocks/>
          </p:cNvCxnSpPr>
          <p:nvPr/>
        </p:nvCxnSpPr>
        <p:spPr>
          <a:xfrm flipV="1">
            <a:off x="6116135" y="2420885"/>
            <a:ext cx="0" cy="3600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22AF85B-6E01-B2B9-F131-23D69A4606D5}"/>
              </a:ext>
            </a:extLst>
          </p:cNvPr>
          <p:cNvCxnSpPr>
            <a:cxnSpLocks/>
          </p:cNvCxnSpPr>
          <p:nvPr/>
        </p:nvCxnSpPr>
        <p:spPr>
          <a:xfrm flipV="1">
            <a:off x="9182213" y="2420885"/>
            <a:ext cx="0" cy="3600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D0E131-8916-B277-5308-4866CDBF0FB4}"/>
              </a:ext>
            </a:extLst>
          </p:cNvPr>
          <p:cNvCxnSpPr>
            <a:cxnSpLocks/>
          </p:cNvCxnSpPr>
          <p:nvPr/>
        </p:nvCxnSpPr>
        <p:spPr>
          <a:xfrm>
            <a:off x="5778649" y="3116134"/>
            <a:ext cx="630000" cy="0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F5548B-D55E-E785-EDF8-EBA800A93D0B}"/>
              </a:ext>
            </a:extLst>
          </p:cNvPr>
          <p:cNvCxnSpPr>
            <a:cxnSpLocks/>
          </p:cNvCxnSpPr>
          <p:nvPr/>
        </p:nvCxnSpPr>
        <p:spPr>
          <a:xfrm>
            <a:off x="8838638" y="3116134"/>
            <a:ext cx="630000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A07E023-79C8-EE0B-0E50-F0805CC3E499}"/>
              </a:ext>
            </a:extLst>
          </p:cNvPr>
          <p:cNvSpPr txBox="1"/>
          <p:nvPr/>
        </p:nvSpPr>
        <p:spPr>
          <a:xfrm>
            <a:off x="5519738" y="178926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1760586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8C9E-D66F-5A82-9C21-6FF665403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230B316-3CE2-AD27-B910-EEEB054F07D6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324F4404-0D96-2F8F-340A-202AF171648B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34734489-482D-D040-47D2-EF0A1A623CB0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EE77AF-E6F1-763D-6A87-FF47CDF4E580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B190B02F-07BE-1020-908D-0789CDEA8CA3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0E15448-A6FE-295B-E522-82D4C3DCD74B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0BA667E-A5EE-DC55-75DE-19A5B8B09E6B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DC6F25-7F2E-9F6C-CFA9-477C613A3476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6F3E26E2-F4E2-5BE8-C980-859DDEF48940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9FE80B-6332-6CC4-05B3-496F2EBA8032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3CE8358-3713-DCDC-9C92-0B66D31E1129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57BAB7FF-DAD0-FA73-3DEA-0C7DE15BAA48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07B46E-6C9F-425F-FDAF-450C1B5D9C52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D538CF-3233-21C0-A075-CFB45B5B04CC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04215C-B47C-CB17-F095-A2E5B89F9B98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11B9DA-B8E6-7475-63B9-298919A86610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CFBDCA2-27DC-FD41-1732-D7750AB56C72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50DD484-D53E-476C-B4E2-1B2FD6610A90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96F3078-9E14-5BD0-DD43-CC5AE96C0E09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D9D7B73-1B86-EAD4-8D09-21832E468E5E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B8A61CF-14E1-7D56-CC8F-686AAB9BE89E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F253A6F-B420-FB64-F6AF-B795CD781E3E}"/>
              </a:ext>
            </a:extLst>
          </p:cNvPr>
          <p:cNvCxnSpPr>
            <a:cxnSpLocks/>
          </p:cNvCxnSpPr>
          <p:nvPr/>
        </p:nvCxnSpPr>
        <p:spPr>
          <a:xfrm>
            <a:off x="355600" y="1110700"/>
            <a:ext cx="946280" cy="0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D8C7048-04FD-7F3F-A00F-7E09B194AE8F}"/>
              </a:ext>
            </a:extLst>
          </p:cNvPr>
          <p:cNvSpPr txBox="1"/>
          <p:nvPr/>
        </p:nvSpPr>
        <p:spPr>
          <a:xfrm>
            <a:off x="1408923" y="956812"/>
            <a:ext cx="2922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Representation concepts can align.</a:t>
            </a:r>
            <a:endParaRPr lang="en-NL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B2A5E06-3938-CB82-061B-C531DCC11A73}"/>
              </a:ext>
            </a:extLst>
          </p:cNvPr>
          <p:cNvCxnSpPr>
            <a:cxnSpLocks/>
            <a:stCxn id="2" idx="6"/>
            <a:endCxn id="21" idx="2"/>
          </p:cNvCxnSpPr>
          <p:nvPr/>
        </p:nvCxnSpPr>
        <p:spPr>
          <a:xfrm>
            <a:off x="3890963" y="4076992"/>
            <a:ext cx="2291207" cy="0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821AE35-1476-C7F7-F63C-138E223092EF}"/>
              </a:ext>
            </a:extLst>
          </p:cNvPr>
          <p:cNvCxnSpPr>
            <a:cxnSpLocks/>
            <a:endCxn id="6" idx="6"/>
          </p:cNvCxnSpPr>
          <p:nvPr/>
        </p:nvCxnSpPr>
        <p:spPr>
          <a:xfrm flipH="1">
            <a:off x="5243672" y="5568593"/>
            <a:ext cx="2295842" cy="14839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9852F4A-D359-C584-75E9-736C1C350D34}"/>
              </a:ext>
            </a:extLst>
          </p:cNvPr>
          <p:cNvCxnSpPr>
            <a:cxnSpLocks/>
            <a:stCxn id="21" idx="5"/>
            <a:endCxn id="24" idx="0"/>
          </p:cNvCxnSpPr>
          <p:nvPr/>
        </p:nvCxnSpPr>
        <p:spPr>
          <a:xfrm>
            <a:off x="6531764" y="4221798"/>
            <a:ext cx="1217300" cy="1156846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CAB7EE0-F5B4-53ED-7007-BE9F4F06771A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747859-0073-AA2D-A9A1-C0B99A1F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3a. Horizontal Relations: aligns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58263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6EA8A-9AFB-CDAD-E243-B03F8AA00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5558D5-E343-CB37-5A02-FD9305E14847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17BA3878-CB1D-4F05-568B-93CF0626FF49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3A23647A-8642-B5BC-3B94-236E3521CBBA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DE62DB-00C2-F741-D612-198E14F2A8F2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B44EC766-6F8A-C780-23AD-AE228FF17C35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B8758AB-73F8-93DD-13FF-B7E8195FCB59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668DC90-6357-D8AF-CA55-2502D933F3CC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77055B-17FE-2456-5A5C-12C8DE058DA2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A0604C17-47D8-10AC-3C62-2CE2233DDFC3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35694F-1FEA-3F2E-6143-2902B9F09269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77E4BD3-54A8-9F39-343D-252FCB23F0AB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2C73FB15-79F1-B3E3-979F-B99579BE2317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3A87F6-9F38-AD69-A615-66ECC0596E87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1164EE-4D96-851E-5BEF-C030B76E0721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FEF23E-1F95-0207-7925-FDABCF7A3579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9E14E2-10CB-6EC5-6028-23FAE3FCE4E3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B56196-BEFE-166C-8459-CA20E1D2E4EB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5F6EED5-A1E8-3242-9301-62549D08EBF2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0D2AD3A-2244-6C8B-D0E1-C146E1F6BC21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7B90BA5-0A52-821E-78EA-F62F6294BD1D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1879E69-E725-BEBD-356E-33A16B955FF7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F73E28D-3F93-6BCB-ECC6-C521461DF3BB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09A6445-A3A7-6C8A-00B4-74C523B9AE62}"/>
              </a:ext>
            </a:extLst>
          </p:cNvPr>
          <p:cNvSpPr txBox="1"/>
          <p:nvPr/>
        </p:nvSpPr>
        <p:spPr>
          <a:xfrm>
            <a:off x="1408923" y="956033"/>
            <a:ext cx="7402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Representation concepts can align. </a:t>
            </a:r>
            <a:r>
              <a:rPr lang="en-US" sz="1400" i="1" dirty="0"/>
              <a:t>Aligns </a:t>
            </a:r>
            <a:r>
              <a:rPr lang="en-US" sz="1400" dirty="0"/>
              <a:t>is a </a:t>
            </a:r>
            <a:r>
              <a:rPr lang="en-US" sz="1400" b="1" dirty="0"/>
              <a:t>symmetric,</a:t>
            </a:r>
            <a:r>
              <a:rPr lang="en-US" sz="1400" dirty="0"/>
              <a:t> </a:t>
            </a:r>
            <a:r>
              <a:rPr lang="en-US" sz="1400" b="1" dirty="0"/>
              <a:t>transitive, </a:t>
            </a:r>
            <a:r>
              <a:rPr lang="en-US" sz="1400" dirty="0"/>
              <a:t>and </a:t>
            </a:r>
            <a:r>
              <a:rPr lang="en-US" sz="1400" b="1" dirty="0"/>
              <a:t>irreflexive </a:t>
            </a:r>
            <a:r>
              <a:rPr lang="en-US" sz="1400" dirty="0"/>
              <a:t>relation.</a:t>
            </a:r>
            <a:endParaRPr lang="en-NL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27106A-510C-D26A-B8B1-78AA1405BD4C}"/>
              </a:ext>
            </a:extLst>
          </p:cNvPr>
          <p:cNvCxnSpPr>
            <a:cxnSpLocks/>
            <a:stCxn id="2" idx="6"/>
            <a:endCxn id="21" idx="2"/>
          </p:cNvCxnSpPr>
          <p:nvPr/>
        </p:nvCxnSpPr>
        <p:spPr>
          <a:xfrm>
            <a:off x="3890963" y="4076992"/>
            <a:ext cx="2291207" cy="0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CE81FA-DEC6-8F49-D83F-9457878728BB}"/>
              </a:ext>
            </a:extLst>
          </p:cNvPr>
          <p:cNvCxnSpPr>
            <a:cxnSpLocks/>
            <a:endCxn id="6" idx="6"/>
          </p:cNvCxnSpPr>
          <p:nvPr/>
        </p:nvCxnSpPr>
        <p:spPr>
          <a:xfrm flipH="1">
            <a:off x="5243672" y="5568593"/>
            <a:ext cx="2295842" cy="14839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E49B131-0868-B489-C1D8-AD13A92CF009}"/>
              </a:ext>
            </a:extLst>
          </p:cNvPr>
          <p:cNvCxnSpPr>
            <a:cxnSpLocks/>
            <a:stCxn id="21" idx="5"/>
            <a:endCxn id="24" idx="0"/>
          </p:cNvCxnSpPr>
          <p:nvPr/>
        </p:nvCxnSpPr>
        <p:spPr>
          <a:xfrm>
            <a:off x="6531764" y="4221798"/>
            <a:ext cx="1217300" cy="1156846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B0405F7-837C-086B-50BF-BD19913E59A0}"/>
              </a:ext>
            </a:extLst>
          </p:cNvPr>
          <p:cNvCxnSpPr>
            <a:cxnSpLocks/>
            <a:stCxn id="2" idx="4"/>
            <a:endCxn id="6" idx="1"/>
          </p:cNvCxnSpPr>
          <p:nvPr/>
        </p:nvCxnSpPr>
        <p:spPr>
          <a:xfrm>
            <a:off x="3686176" y="4281779"/>
            <a:ext cx="1207902" cy="1156846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EEFA5B-F700-BFEC-4E52-1A8910D94329}"/>
              </a:ext>
            </a:extLst>
          </p:cNvPr>
          <p:cNvCxnSpPr>
            <a:cxnSpLocks/>
            <a:stCxn id="21" idx="3"/>
            <a:endCxn id="6" idx="7"/>
          </p:cNvCxnSpPr>
          <p:nvPr/>
        </p:nvCxnSpPr>
        <p:spPr>
          <a:xfrm flipH="1">
            <a:off x="5183691" y="4221798"/>
            <a:ext cx="1058460" cy="1216827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AF60DAD-E3A8-7772-815F-A04457AC06FE}"/>
              </a:ext>
            </a:extLst>
          </p:cNvPr>
          <p:cNvCxnSpPr>
            <a:cxnSpLocks/>
            <a:stCxn id="2" idx="5"/>
            <a:endCxn id="24" idx="1"/>
          </p:cNvCxnSpPr>
          <p:nvPr/>
        </p:nvCxnSpPr>
        <p:spPr>
          <a:xfrm>
            <a:off x="3830982" y="4221798"/>
            <a:ext cx="3773275" cy="1216827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A4C2AD-EBE7-66AB-235F-8D673B771E31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C31482-159B-B53B-AD68-B0BE06097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3a. Horizontal Relations: aligns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14179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DB51F-F01A-1450-44E1-084C30251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17C896A-63D1-E92C-FE98-391B37BC598D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47BC1F56-0572-39A5-9A0B-9AAF2AB00ABC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80826D2F-B3CB-937B-7EA4-89D2F0E27D89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7BBD92-697E-638A-A6B9-5179F8EC958D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E761E140-0D41-1BDF-41E1-C26B886AE165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1800274-7567-D86F-E579-83DC5CBC05CF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D6F27EE-142B-D2BD-F21E-CACC58D6E780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DBB635-A0B3-9975-B5D8-D67320D8FFEA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DB9E948B-9BB1-9107-BD6B-5C0AE370193D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122C0E-0359-2E3A-2608-019C951E3B57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DD19991-A40F-7E25-EAAA-0532755A2B37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557C399B-F1B8-C406-DC0B-DA1AE9722892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BF3775-C594-0A1F-EA83-C0262F86C638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0877340-2AAC-B6E6-0277-2DD4A53529E4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BFB413-D773-8BE0-63EE-2F1BBACB6D53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0ADDC9D-61EB-4195-19D6-28D69FDA2EA6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A8A687-901E-702F-D0A4-74A949F740CA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518DE7B-71C0-B3FF-E8C4-7CD91DCFEF1C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C45833B-BD95-25A2-4D90-FCBD978E5B9C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E1CB4E2-F648-01A9-DE72-DC0621ECEE6E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ED3693-8060-9805-56AB-31D35F731A20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F60CAB4-AA46-ADB5-9949-4230F105EA13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1D80C52-890F-FA95-C981-3575645CC879}"/>
              </a:ext>
            </a:extLst>
          </p:cNvPr>
          <p:cNvSpPr txBox="1"/>
          <p:nvPr/>
        </p:nvSpPr>
        <p:spPr>
          <a:xfrm>
            <a:off x="1408923" y="956033"/>
            <a:ext cx="109648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i="1" dirty="0" err="1"/>
              <a:t>hriv:hasExactMeaning</a:t>
            </a:r>
            <a:r>
              <a:rPr lang="en-US" sz="1400" dirty="0"/>
              <a:t> to the same </a:t>
            </a:r>
            <a:r>
              <a:rPr lang="en-US" sz="1400" b="1" dirty="0"/>
              <a:t>ontology concept</a:t>
            </a:r>
            <a:r>
              <a:rPr lang="en-US" sz="1400" dirty="0"/>
              <a:t>, then an alignment relation between them is </a:t>
            </a:r>
            <a:r>
              <a:rPr lang="en-US" sz="1400" b="1" dirty="0"/>
              <a:t>inferred.</a:t>
            </a:r>
            <a:endParaRPr lang="en-NL" sz="1400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6265C7E-8FE5-AFDF-76D8-C03D8892E740}"/>
              </a:ext>
            </a:extLst>
          </p:cNvPr>
          <p:cNvCxnSpPr>
            <a:cxnSpLocks/>
            <a:stCxn id="2" idx="6"/>
            <a:endCxn id="21" idx="2"/>
          </p:cNvCxnSpPr>
          <p:nvPr/>
        </p:nvCxnSpPr>
        <p:spPr>
          <a:xfrm>
            <a:off x="3890963" y="4076992"/>
            <a:ext cx="2291207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7B6BF78-417A-2121-1AA0-4F4F0B1CCC33}"/>
              </a:ext>
            </a:extLst>
          </p:cNvPr>
          <p:cNvCxnSpPr>
            <a:cxnSpLocks/>
          </p:cNvCxnSpPr>
          <p:nvPr/>
        </p:nvCxnSpPr>
        <p:spPr>
          <a:xfrm flipV="1">
            <a:off x="3686176" y="2775339"/>
            <a:ext cx="0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66011C2-94E7-DEE4-9000-B959033AA3C8}"/>
              </a:ext>
            </a:extLst>
          </p:cNvPr>
          <p:cNvCxnSpPr>
            <a:cxnSpLocks/>
            <a:stCxn id="21" idx="1"/>
            <a:endCxn id="22" idx="5"/>
          </p:cNvCxnSpPr>
          <p:nvPr/>
        </p:nvCxnSpPr>
        <p:spPr>
          <a:xfrm flipH="1" flipV="1">
            <a:off x="3830982" y="2715358"/>
            <a:ext cx="2411169" cy="121682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F7A1D01-8BFB-A51F-AF9A-10C74EF69C6C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7842C69-EE3F-2BCA-26A3-15386E51B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3a. Horizontal Relations: aligns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82013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18F04-955F-22EE-4D94-3E1F86902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BF51AC-6550-8E8F-E133-3595F919B3A2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CAB07F27-584E-921B-30B1-73AA4B5A9281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F6536ABC-A542-FD69-AB1C-19113B19A91C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93747C-4065-84F5-EB13-DD34565222D9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5757F296-7453-36A1-5879-48D7794A7C13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0E942FE-61CC-821A-4001-7865CD920696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01B048F-40E2-B7CA-37F4-E6B9A686C93F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FCDAA8-3D56-01AF-2ABA-06BAFA8FF0C4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34156874-B19D-4783-B61C-C9CDBB3FABD9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08D645-2C12-5853-1040-9BDD150E47A5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51636B5-04E9-BE18-29FA-4C92788A180C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5427FFF2-EECD-A68B-F5F8-3CA78B43DC9F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E30C86-EB88-1C94-20BC-6815CCC0FABA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D484D5-C22A-68D7-F97B-81C78F01D438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78EE8F-32CB-73C1-F77E-938AD22D4D1A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3D4054-D5A0-85A5-135C-01D86EAB3120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2401869-E711-B786-A330-28A34087416E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D5F75FE-1BBD-EF27-6C40-F3A3A0523F44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81B8A2A-1838-9B71-DD8E-6233C7EFDAA3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F9F864B-78AE-E72A-2DB4-F2EF2D690542}"/>
              </a:ext>
            </a:extLst>
          </p:cNvPr>
          <p:cNvSpPr txBox="1"/>
          <p:nvPr/>
        </p:nvSpPr>
        <p:spPr>
          <a:xfrm>
            <a:off x="1408923" y="956033"/>
            <a:ext cx="109648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i="1" dirty="0" err="1"/>
              <a:t>hriv:hasExactMeaning</a:t>
            </a:r>
            <a:r>
              <a:rPr lang="en-US" sz="1400" dirty="0"/>
              <a:t> to the same </a:t>
            </a:r>
            <a:r>
              <a:rPr lang="en-US" sz="1400" b="1" dirty="0"/>
              <a:t>ontology concept</a:t>
            </a:r>
            <a:r>
              <a:rPr lang="en-US" sz="1400" dirty="0"/>
              <a:t>, then an alignment relation between them is </a:t>
            </a:r>
            <a:r>
              <a:rPr lang="en-US" sz="1400" b="1" dirty="0"/>
              <a:t>inferred.</a:t>
            </a:r>
            <a:endParaRPr lang="en-NL" sz="14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7286FA7-6F20-B5EA-60D1-0D7FEFC78A1E}"/>
              </a:ext>
            </a:extLst>
          </p:cNvPr>
          <p:cNvCxnSpPr>
            <a:cxnSpLocks/>
            <a:endCxn id="6" idx="6"/>
          </p:cNvCxnSpPr>
          <p:nvPr/>
        </p:nvCxnSpPr>
        <p:spPr>
          <a:xfrm flipH="1">
            <a:off x="5243672" y="5568593"/>
            <a:ext cx="2295842" cy="14839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54B1B60-FE71-AE8D-C487-B53927B216E1}"/>
              </a:ext>
            </a:extLst>
          </p:cNvPr>
          <p:cNvCxnSpPr>
            <a:cxnSpLocks/>
            <a:stCxn id="6" idx="0"/>
            <a:endCxn id="28" idx="4"/>
          </p:cNvCxnSpPr>
          <p:nvPr/>
        </p:nvCxnSpPr>
        <p:spPr>
          <a:xfrm flipV="1">
            <a:off x="5038885" y="2775339"/>
            <a:ext cx="0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7DCBA65-9069-5E46-97B2-479E18F47161}"/>
              </a:ext>
            </a:extLst>
          </p:cNvPr>
          <p:cNvCxnSpPr>
            <a:cxnSpLocks/>
            <a:stCxn id="24" idx="1"/>
            <a:endCxn id="28" idx="5"/>
          </p:cNvCxnSpPr>
          <p:nvPr/>
        </p:nvCxnSpPr>
        <p:spPr>
          <a:xfrm flipH="1" flipV="1">
            <a:off x="5183691" y="2715358"/>
            <a:ext cx="2420566" cy="272326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C6BB77C6-0392-707E-58A6-8A104855265A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CEC9BBF-D0D5-BC4E-47BD-4035135A375C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4D564F-79C5-8B81-4F11-2CCDC66E0E45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25A802C-6A47-3B84-4DCF-642F3869E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3a. Horizontal Relations: aligns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47851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8BFC6-FCCF-7EE5-F5FB-ED2973EF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E4B1F0-89AF-A7A2-B3F4-CBDB385DC9BC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A5432D3C-027F-BD97-76F1-B5CEC2444AA8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FE09CF64-A31F-69D5-6E67-37D790F3493D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7DE751-B493-93A4-C0B3-8AA648CC98CF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3B8F75E3-3553-5ACB-26D8-46FDF82AF4EE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EA67FE4-ECDF-417A-35F9-3B21BAF40C71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85105EB-C2D3-F3B8-717D-985D3BA149B4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6D20A1-1EB8-F53B-648A-415E4C6815E2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D88F992E-C5CB-0B2A-342A-5D6B06D7DF34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F60136-591B-BF32-186F-9411F487DCC9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1C4ADC4-3EEE-DA02-32A3-A65B5A810C04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84CF963F-D255-6925-CF99-7BCCC78F56FE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962915-68E7-26F7-8C10-79B491B26C74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8ACC6C-83EB-E4C3-C2D9-A09CBA0628B0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1F6389-4914-78DB-F19C-7D2C822D138C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C51195-00C1-BA9B-1D62-0008638C2D46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5E4D3B-E7E6-DAB1-925D-1875BB1872D7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AA0F97D-51A7-30AB-2BD2-670A96EB020E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D78032-A8A8-AF70-2083-596CB788F49C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BE2B126-33B4-14F9-CE79-056A97A79E9B}"/>
              </a:ext>
            </a:extLst>
          </p:cNvPr>
          <p:cNvSpPr txBox="1"/>
          <p:nvPr/>
        </p:nvSpPr>
        <p:spPr>
          <a:xfrm>
            <a:off x="1408923" y="956033"/>
            <a:ext cx="109648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i="1" dirty="0" err="1"/>
              <a:t>hriv:hasExactMeaning</a:t>
            </a:r>
            <a:r>
              <a:rPr lang="en-US" sz="1400" dirty="0"/>
              <a:t> to the same </a:t>
            </a:r>
            <a:r>
              <a:rPr lang="en-US" sz="1400" b="1" dirty="0"/>
              <a:t>ontology concept</a:t>
            </a:r>
            <a:r>
              <a:rPr lang="en-US" sz="1400" dirty="0"/>
              <a:t>, then an alignment relation between them is </a:t>
            </a:r>
            <a:r>
              <a:rPr lang="en-US" sz="1400" b="1" dirty="0"/>
              <a:t>inferred.</a:t>
            </a:r>
            <a:endParaRPr lang="en-NL" sz="14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D879D8-490A-D8FB-4A7D-8A41C11E89F1}"/>
              </a:ext>
            </a:extLst>
          </p:cNvPr>
          <p:cNvCxnSpPr>
            <a:cxnSpLocks/>
            <a:endCxn id="2" idx="5"/>
          </p:cNvCxnSpPr>
          <p:nvPr/>
        </p:nvCxnSpPr>
        <p:spPr>
          <a:xfrm flipH="1" flipV="1">
            <a:off x="3830982" y="4221798"/>
            <a:ext cx="3708532" cy="1346795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A6F7B2F-D493-57EC-265D-C86AE8396B68}"/>
              </a:ext>
            </a:extLst>
          </p:cNvPr>
          <p:cNvCxnSpPr>
            <a:cxnSpLocks/>
            <a:stCxn id="2" idx="7"/>
            <a:endCxn id="28" idx="3"/>
          </p:cNvCxnSpPr>
          <p:nvPr/>
        </p:nvCxnSpPr>
        <p:spPr>
          <a:xfrm flipV="1">
            <a:off x="3830982" y="2715358"/>
            <a:ext cx="1063096" cy="121682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DE1B824-96FD-A41C-539B-3F290275E070}"/>
              </a:ext>
            </a:extLst>
          </p:cNvPr>
          <p:cNvCxnSpPr>
            <a:cxnSpLocks/>
            <a:stCxn id="24" idx="1"/>
            <a:endCxn id="28" idx="5"/>
          </p:cNvCxnSpPr>
          <p:nvPr/>
        </p:nvCxnSpPr>
        <p:spPr>
          <a:xfrm flipH="1" flipV="1">
            <a:off x="5183691" y="2715358"/>
            <a:ext cx="2420566" cy="272326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95D48CEF-1AC0-13D1-23DC-061E2D8D31AF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4C9145-359B-BAC8-4C28-CEE60C5A7CC4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00CA9F-9254-C343-9027-FFAC49B8AA6F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CC9AD44-5130-50B4-EECD-5EFFE8527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3a. Horizontal Relations: aligns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65517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9D59A-1E7E-3C6D-56CE-C94FD3278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F89A128-791A-C863-499E-7ED48ACFA37D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E935C10B-C91A-99A0-DE25-14153B9005B6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5E97808A-456C-BA10-F023-F92C8969C900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B8BBE6-D62A-624F-7F3D-62C782D8D7D8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ED3EDCE1-7D2F-AE72-1DB1-C0253CD50BDB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949A9AF-92DE-B05F-8D23-388E7BC8EF4C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C2A5D44-F0D5-B611-288F-6081087DD543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0499C8-F45D-F52A-30F4-A16D6A6E809B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39BDCAAC-BFDD-246B-21D1-059C0F87A744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EDA18D-A39F-BF3D-DB4F-B22318B7FAA3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1ABF462-4023-88F9-1D48-5478F91F8B85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140A4183-2389-D23C-6A9A-DE5B9FA31B05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1452C4-9AD5-9E19-0233-7DEF2D736C91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891C39-FDC1-7505-72A2-1BA062F589AB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935A60E-375D-67C3-6DF8-D5343A09EB5B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FBE1006-E633-778F-7695-20BEB2365D96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5A0BB16-38A0-5653-3EEE-00890E70906E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9BF24E7-049E-6D09-0AA5-755B5D25CB47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DCEFED6-4BB1-968C-A649-9903167A9610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A0461E1-01B1-5A2C-05A4-6062AB00F3F0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1695C45-6AE5-D644-D876-E6C9A6AA9FCE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B2F830B-1CC3-C02C-8029-A1205DDE7831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E5052F3-597B-6553-9D88-0AB255A9AD1C}"/>
              </a:ext>
            </a:extLst>
          </p:cNvPr>
          <p:cNvSpPr txBox="1"/>
          <p:nvPr/>
        </p:nvSpPr>
        <p:spPr>
          <a:xfrm>
            <a:off x="1408923" y="956033"/>
            <a:ext cx="8525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dirty="0"/>
              <a:t>are aligned and the first has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to an </a:t>
            </a:r>
            <a:r>
              <a:rPr lang="en-US" sz="1400" b="1" dirty="0"/>
              <a:t>ontology concept</a:t>
            </a:r>
            <a:r>
              <a:rPr lang="en-US" sz="1400" dirty="0"/>
              <a:t>, </a:t>
            </a:r>
          </a:p>
          <a:p>
            <a:r>
              <a:rPr lang="en-US" sz="1400" dirty="0"/>
              <a:t>then a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can be derived for the second</a:t>
            </a:r>
            <a:r>
              <a:rPr lang="en-US" sz="1400" i="1" dirty="0"/>
              <a:t> </a:t>
            </a:r>
            <a:r>
              <a:rPr lang="en-US" sz="1400" b="1" dirty="0"/>
              <a:t>representation concept</a:t>
            </a:r>
            <a:r>
              <a:rPr lang="en-US" sz="1400" i="1" dirty="0"/>
              <a:t>.</a:t>
            </a:r>
            <a:endParaRPr lang="en-NL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AEC795D-E21D-0064-24BC-E43CE30E6DD1}"/>
              </a:ext>
            </a:extLst>
          </p:cNvPr>
          <p:cNvCxnSpPr>
            <a:cxnSpLocks/>
            <a:stCxn id="2" idx="6"/>
            <a:endCxn id="21" idx="2"/>
          </p:cNvCxnSpPr>
          <p:nvPr/>
        </p:nvCxnSpPr>
        <p:spPr>
          <a:xfrm>
            <a:off x="3890963" y="4076992"/>
            <a:ext cx="2291207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olid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F7518A4-A498-60AF-8FD5-D5962D1439A5}"/>
              </a:ext>
            </a:extLst>
          </p:cNvPr>
          <p:cNvCxnSpPr>
            <a:cxnSpLocks/>
          </p:cNvCxnSpPr>
          <p:nvPr/>
        </p:nvCxnSpPr>
        <p:spPr>
          <a:xfrm flipV="1">
            <a:off x="3686176" y="2775339"/>
            <a:ext cx="0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097F18C-6DFE-3F60-EA08-25D355ED86B2}"/>
              </a:ext>
            </a:extLst>
          </p:cNvPr>
          <p:cNvCxnSpPr>
            <a:cxnSpLocks/>
            <a:stCxn id="21" idx="1"/>
            <a:endCxn id="22" idx="5"/>
          </p:cNvCxnSpPr>
          <p:nvPr/>
        </p:nvCxnSpPr>
        <p:spPr>
          <a:xfrm flipH="1" flipV="1">
            <a:off x="3830982" y="2715358"/>
            <a:ext cx="2411169" cy="1216827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82DE3A2-DBF4-43B4-0009-C9AB4939479B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B2D02C1-5200-4E67-14BB-587586DEE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3a. Horizontal Relations: aligns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90393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830DF-1ABF-4E94-240D-59335B19D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152F189-3135-25C0-ADBA-A2A462F4D0E2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A4B72BF8-2364-0615-F317-B20902A3EF28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1AC5026B-47D9-30B4-CFC7-E781E388C8BB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A58325-EE94-4BA5-EB19-F80CC81B7716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D8753A64-C871-04AF-AE81-3403F7BBE856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3416EAD-AB16-C4BC-DE0A-D114804F4AEF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57E2616-034C-7F8E-A01F-4DA4CA0AD0A1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0C660-66EE-5268-4940-A4088AD85227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7F81956F-2156-0F04-2338-DCB5956A0F91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DD09D6-D4A5-99CB-4A11-0D920153E20D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E986AA8-A16D-15DC-AA72-FF12F3B86136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A100E239-DB66-5FF1-BD61-B54F815FB14D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CC4977-E825-023B-3576-7FF568ADA01A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00E99AA-C476-A512-3FF1-2DFEA052BD19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BA5E8C-F926-AAF2-DC75-F5A68E4B5251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A3B08E8-6693-8B75-E41A-4E675300F3D8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EB56BF-4C64-C750-393F-E6119BB2BEDD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7A4D4BF5-DBD3-5015-8077-8A943242C2B3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EA5843E-142B-38F5-4DC8-19FC33C43F83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626D584-8442-4DEE-66BA-18403C3940B7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779C9EF-0EF0-5285-48BA-323C4C98D73F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0D58DE1-8C90-5303-728B-B76FC1099E21}"/>
              </a:ext>
            </a:extLst>
          </p:cNvPr>
          <p:cNvSpPr txBox="1"/>
          <p:nvPr/>
        </p:nvSpPr>
        <p:spPr>
          <a:xfrm>
            <a:off x="1408923" y="956033"/>
            <a:ext cx="8525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dirty="0"/>
              <a:t>are aligned and the first has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to an </a:t>
            </a:r>
            <a:r>
              <a:rPr lang="en-US" sz="1400" b="1" dirty="0"/>
              <a:t>ontology concept</a:t>
            </a:r>
            <a:r>
              <a:rPr lang="en-US" sz="1400" dirty="0"/>
              <a:t>, </a:t>
            </a:r>
          </a:p>
          <a:p>
            <a:r>
              <a:rPr lang="en-US" sz="1400" dirty="0"/>
              <a:t>then a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can be derived for the second</a:t>
            </a:r>
            <a:r>
              <a:rPr lang="en-US" sz="1400" i="1" dirty="0"/>
              <a:t> </a:t>
            </a:r>
            <a:r>
              <a:rPr lang="en-US" sz="1400" b="1" dirty="0"/>
              <a:t>representation concept</a:t>
            </a:r>
            <a:r>
              <a:rPr lang="en-US" sz="1400" i="1" dirty="0"/>
              <a:t>.</a:t>
            </a:r>
            <a:endParaRPr lang="en-NL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1007461-EEF3-9896-3B74-90496CCF5BCF}"/>
              </a:ext>
            </a:extLst>
          </p:cNvPr>
          <p:cNvCxnSpPr>
            <a:cxnSpLocks/>
            <a:stCxn id="6" idx="6"/>
            <a:endCxn id="24" idx="2"/>
          </p:cNvCxnSpPr>
          <p:nvPr/>
        </p:nvCxnSpPr>
        <p:spPr>
          <a:xfrm>
            <a:off x="5243672" y="5583432"/>
            <a:ext cx="2300604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olid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F9BF1E7-BD0D-3D4C-8930-502A1A4DE30F}"/>
              </a:ext>
            </a:extLst>
          </p:cNvPr>
          <p:cNvCxnSpPr>
            <a:cxnSpLocks/>
            <a:stCxn id="6" idx="0"/>
            <a:endCxn id="28" idx="4"/>
          </p:cNvCxnSpPr>
          <p:nvPr/>
        </p:nvCxnSpPr>
        <p:spPr>
          <a:xfrm flipV="1">
            <a:off x="5038885" y="2775339"/>
            <a:ext cx="0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BB4058B-EAD2-6163-5C6A-8909EF87CE36}"/>
              </a:ext>
            </a:extLst>
          </p:cNvPr>
          <p:cNvCxnSpPr>
            <a:cxnSpLocks/>
            <a:stCxn id="24" idx="0"/>
            <a:endCxn id="28" idx="5"/>
          </p:cNvCxnSpPr>
          <p:nvPr/>
        </p:nvCxnSpPr>
        <p:spPr>
          <a:xfrm flipH="1" flipV="1">
            <a:off x="5183691" y="2715358"/>
            <a:ext cx="2565373" cy="2663286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0C3DA5A-50BC-D241-9918-38E350C41283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8A8A1A6-99C9-5329-EAF7-C35CFE5A5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3a. Horizontal Relations: aligns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51989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33EEF-AD03-16DA-46A3-F2438584C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A35F88-6E0D-8B06-8BB1-F0C08BFD5218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EEF55AAC-AAF8-0EBB-6577-7B4F35CEB43C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5E2FDA81-7AED-9483-91C6-A1FF9402439F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E513ED-8D58-2446-4CE3-98E5A6F8F729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B9D88D40-4713-CE82-675C-CC1C35F32BAF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FD20C04-61D5-D53B-BF47-3E73063E4668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0E108B9-A670-9A7A-C08F-5403C68AE1C4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DB7412-0C2E-F4CF-CD77-16FA05098695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4D944C3F-C3D1-47BA-56BD-D951EBD8780D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9C4A7E-8680-2A05-AA83-9C67E639F8BC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1E24F1F-6212-F706-FD24-9815ADE02B3A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3ADA0190-99CF-27B9-A285-3230A00A0F17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1024DA-547B-4687-A258-5F745223D8C3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AA0EAE5-F4C5-C58B-1000-1286720DD445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73AEED-F1BA-EF9D-8951-4EA68D0AD416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B9418F-B538-1460-3F66-140EED4C4462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5CCD06-06F3-5740-2E27-86AC3CF81E48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9192DE9-5944-E8B5-D718-473CE42621BA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F5BF9E8-2EF9-FD17-3BAF-44D0666DBD2C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DF6F951-1752-446A-A47E-913D2EC949ED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761A30B-3A6F-20DD-BEDC-BD0304B5CFB0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192ED30-02B1-94E1-335C-A5F254E9273A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455C67D-3DFF-CBA3-AE9A-E491BE20AA56}"/>
              </a:ext>
            </a:extLst>
          </p:cNvPr>
          <p:cNvSpPr txBox="1"/>
          <p:nvPr/>
        </p:nvSpPr>
        <p:spPr>
          <a:xfrm>
            <a:off x="1408923" y="956033"/>
            <a:ext cx="8525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dirty="0"/>
              <a:t>are aligned and the first has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to an </a:t>
            </a:r>
            <a:r>
              <a:rPr lang="en-US" sz="1400" b="1" dirty="0"/>
              <a:t>ontology concept</a:t>
            </a:r>
            <a:r>
              <a:rPr lang="en-US" sz="1400" dirty="0"/>
              <a:t>, </a:t>
            </a:r>
          </a:p>
          <a:p>
            <a:r>
              <a:rPr lang="en-US" sz="1400" dirty="0"/>
              <a:t>then a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can be derived for the second</a:t>
            </a:r>
            <a:r>
              <a:rPr lang="en-US" sz="1400" i="1" dirty="0"/>
              <a:t> </a:t>
            </a:r>
            <a:r>
              <a:rPr lang="en-US" sz="1400" b="1" dirty="0"/>
              <a:t>representation concept</a:t>
            </a:r>
            <a:r>
              <a:rPr lang="en-US" sz="1400" i="1" dirty="0"/>
              <a:t>.</a:t>
            </a:r>
            <a:endParaRPr lang="en-NL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7DE484B-DC01-A593-DD3B-EA043628408F}"/>
              </a:ext>
            </a:extLst>
          </p:cNvPr>
          <p:cNvCxnSpPr>
            <a:cxnSpLocks/>
            <a:stCxn id="2" idx="5"/>
            <a:endCxn id="6" idx="1"/>
          </p:cNvCxnSpPr>
          <p:nvPr/>
        </p:nvCxnSpPr>
        <p:spPr>
          <a:xfrm>
            <a:off x="3830982" y="4221798"/>
            <a:ext cx="1063096" cy="1216827"/>
          </a:xfrm>
          <a:prstGeom prst="straightConnector1">
            <a:avLst/>
          </a:prstGeom>
          <a:ln w="57150">
            <a:solidFill>
              <a:schemeClr val="accent3"/>
            </a:solidFill>
            <a:prstDash val="solid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9A70702-B67F-3D6B-1EA5-BFA2F4105A04}"/>
              </a:ext>
            </a:extLst>
          </p:cNvPr>
          <p:cNvCxnSpPr>
            <a:cxnSpLocks/>
            <a:stCxn id="2" idx="7"/>
            <a:endCxn id="28" idx="3"/>
          </p:cNvCxnSpPr>
          <p:nvPr/>
        </p:nvCxnSpPr>
        <p:spPr>
          <a:xfrm flipV="1">
            <a:off x="3830982" y="2715358"/>
            <a:ext cx="1063096" cy="121682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68E0930-97E7-FB59-FC73-30CC07748364}"/>
              </a:ext>
            </a:extLst>
          </p:cNvPr>
          <p:cNvCxnSpPr>
            <a:cxnSpLocks/>
            <a:stCxn id="6" idx="0"/>
            <a:endCxn id="28" idx="4"/>
          </p:cNvCxnSpPr>
          <p:nvPr/>
        </p:nvCxnSpPr>
        <p:spPr>
          <a:xfrm flipV="1">
            <a:off x="5038885" y="2775339"/>
            <a:ext cx="0" cy="2603305"/>
          </a:xfrm>
          <a:prstGeom prst="straightConnector1">
            <a:avLst/>
          </a:prstGeom>
          <a:ln w="57150">
            <a:solidFill>
              <a:srgbClr val="00B050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7E2FA8F-544F-A3BD-63DE-42E908D30D13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DB2DCE9-F347-C115-3310-64BFFE8CB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3a. Horizontal Relations: aligns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690328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5EF66-C4F0-1FAB-4CF6-856319EA9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8773A-6526-AE38-2962-EBB50F17B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A4558-6257-063C-F159-331F581B2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Types of Concepts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Vertical Relations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Horizontal</a:t>
            </a:r>
            <a:r>
              <a:rPr lang="en-US" dirty="0"/>
              <a:t> </a:t>
            </a:r>
            <a:r>
              <a:rPr lang="en-US" b="1" dirty="0"/>
              <a:t>Relations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aligns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b="1" dirty="0" err="1"/>
              <a:t>cannotAlign</a:t>
            </a:r>
            <a:endParaRPr lang="en-US" b="1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mayAlign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partiallyAlign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Inconsistencies</a:t>
            </a:r>
            <a:endParaRPr lang="en-NL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AC6C64D-B5CB-C396-DE02-A581C4ACB465}"/>
              </a:ext>
            </a:extLst>
          </p:cNvPr>
          <p:cNvCxnSpPr>
            <a:cxnSpLocks/>
          </p:cNvCxnSpPr>
          <p:nvPr/>
        </p:nvCxnSpPr>
        <p:spPr>
          <a:xfrm flipV="1">
            <a:off x="6709782" y="3269440"/>
            <a:ext cx="0" cy="43102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AD54C8-522D-23A3-C032-E678DFC585AB}"/>
              </a:ext>
            </a:extLst>
          </p:cNvPr>
          <p:cNvCxnSpPr>
            <a:cxnSpLocks/>
          </p:cNvCxnSpPr>
          <p:nvPr/>
        </p:nvCxnSpPr>
        <p:spPr>
          <a:xfrm flipV="1">
            <a:off x="8948475" y="3177754"/>
            <a:ext cx="0" cy="43102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DC17B9-DBC1-3E4C-15F1-8B57D1741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932362"/>
              </p:ext>
            </p:extLst>
          </p:nvPr>
        </p:nvGraphicFramePr>
        <p:xfrm>
          <a:off x="5519738" y="2349500"/>
          <a:ext cx="6156000" cy="155496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134000">
                  <a:extLst>
                    <a:ext uri="{9D8B030D-6E8A-4147-A177-3AD203B41FA5}">
                      <a16:colId xmlns:a16="http://schemas.microsoft.com/office/drawing/2014/main" val="1292452426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11031970"/>
                    </a:ext>
                  </a:extLst>
                </a:gridCol>
                <a:gridCol w="1134000">
                  <a:extLst>
                    <a:ext uri="{9D8B030D-6E8A-4147-A177-3AD203B41FA5}">
                      <a16:colId xmlns:a16="http://schemas.microsoft.com/office/drawing/2014/main" val="3875824869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92479494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hriv:hasExactMeaning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NOT </a:t>
                      </a:r>
                      <a:r>
                        <a:rPr lang="en-US" sz="1400" dirty="0" err="1"/>
                        <a:t>hriv:hasExactMeaning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162783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aligns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aligns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25196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cannotAlign</a:t>
                      </a:r>
                      <a:r>
                        <a:rPr lang="en-US" sz="1400" dirty="0"/>
                        <a:t>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cannotAlign</a:t>
                      </a:r>
                      <a:r>
                        <a:rPr lang="en-US" sz="1400" dirty="0"/>
                        <a:t>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212793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5FCECD-DE3D-CE7E-4EEF-B73CA5513A8C}"/>
              </a:ext>
            </a:extLst>
          </p:cNvPr>
          <p:cNvCxnSpPr>
            <a:cxnSpLocks/>
          </p:cNvCxnSpPr>
          <p:nvPr/>
        </p:nvCxnSpPr>
        <p:spPr>
          <a:xfrm flipV="1">
            <a:off x="6116135" y="2420885"/>
            <a:ext cx="0" cy="3600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26C369-466D-D63E-67E7-08558988DF00}"/>
              </a:ext>
            </a:extLst>
          </p:cNvPr>
          <p:cNvCxnSpPr>
            <a:cxnSpLocks/>
          </p:cNvCxnSpPr>
          <p:nvPr/>
        </p:nvCxnSpPr>
        <p:spPr>
          <a:xfrm flipV="1">
            <a:off x="9182213" y="2420885"/>
            <a:ext cx="0" cy="3600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C3D35A-AFBF-E78E-A00F-9B920C6BEC42}"/>
              </a:ext>
            </a:extLst>
          </p:cNvPr>
          <p:cNvCxnSpPr>
            <a:cxnSpLocks/>
          </p:cNvCxnSpPr>
          <p:nvPr/>
        </p:nvCxnSpPr>
        <p:spPr>
          <a:xfrm>
            <a:off x="5778649" y="3116134"/>
            <a:ext cx="630000" cy="0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E84836-AA89-81E3-E2C8-B6CA7EABE98A}"/>
              </a:ext>
            </a:extLst>
          </p:cNvPr>
          <p:cNvCxnSpPr>
            <a:cxnSpLocks/>
          </p:cNvCxnSpPr>
          <p:nvPr/>
        </p:nvCxnSpPr>
        <p:spPr>
          <a:xfrm>
            <a:off x="8838638" y="3116134"/>
            <a:ext cx="630000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50EEC19-A984-DE4E-103E-D57151E5953C}"/>
              </a:ext>
            </a:extLst>
          </p:cNvPr>
          <p:cNvCxnSpPr>
            <a:cxnSpLocks/>
          </p:cNvCxnSpPr>
          <p:nvPr/>
        </p:nvCxnSpPr>
        <p:spPr>
          <a:xfrm>
            <a:off x="5807224" y="3608776"/>
            <a:ext cx="630000" cy="0"/>
          </a:xfrm>
          <a:prstGeom prst="straightConnector1">
            <a:avLst/>
          </a:prstGeom>
          <a:ln w="5715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CE83CF-03CA-F1CB-E6CE-A7EB0FEF38EF}"/>
              </a:ext>
            </a:extLst>
          </p:cNvPr>
          <p:cNvCxnSpPr>
            <a:cxnSpLocks/>
          </p:cNvCxnSpPr>
          <p:nvPr/>
        </p:nvCxnSpPr>
        <p:spPr>
          <a:xfrm>
            <a:off x="8867213" y="3608776"/>
            <a:ext cx="630000" cy="0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4928678-9746-AAB7-C4A0-D3014111571D}"/>
              </a:ext>
            </a:extLst>
          </p:cNvPr>
          <p:cNvSpPr txBox="1"/>
          <p:nvPr/>
        </p:nvSpPr>
        <p:spPr>
          <a:xfrm>
            <a:off x="5519738" y="178926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823453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E3EBD-2841-4A73-270F-120B0BAE1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BB90FF-5430-B63A-F569-FCD5440A0A93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B7EA8068-B816-3285-EC37-119521995CBA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7ABAB648-FBC2-C266-F796-D03B5441526E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4F58CD-0D35-547B-27E0-791B3762C329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D22A4E7F-67A0-C369-C62C-0C6634002D86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3B6081F-E32C-38C1-2EC3-94E3DF94DCA8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AB3EF2B-E33B-FD6D-3054-903270241F84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A2A6E1-6A42-377B-5448-D456D4F99ADB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A3BDA0EE-D9E0-791C-505B-076C0AA99F6B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CF1CA4-6767-1CA6-6680-E796237F0FA1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3FC5959-201E-C014-D482-FE55535C3311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C50E1B82-6D5B-854F-B3F7-160EC2FC1096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564915-D3FA-CD5B-9E8D-47E449987B10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508DED-E5AC-B20E-EF0F-17E60F2F7D4C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676A16-9E88-077C-CF13-75985BC4466E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C0EF1A-8969-00C9-063C-CBE7F6B0729E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38763D-C82B-82F6-E3FD-3C4B5574CC33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CD938755-65E0-90CB-9B9F-390C324FF355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196E911-C658-AC42-3E8C-8E34B42CD961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5FA7E72-A85D-1735-C747-B7C2394367FA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DDA6A81-1AE6-9E1D-8C93-E9EB1FA4DD53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E046A80-65F2-85BF-C478-453BBEB10CB4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BD16059-27A1-A363-9A39-E7A9C6200D1B}"/>
              </a:ext>
            </a:extLst>
          </p:cNvPr>
          <p:cNvSpPr txBox="1"/>
          <p:nvPr/>
        </p:nvSpPr>
        <p:spPr>
          <a:xfrm>
            <a:off x="1408923" y="956033"/>
            <a:ext cx="9719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standard concepts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different ontology concepts, then they </a:t>
            </a:r>
            <a:r>
              <a:rPr lang="en-US" sz="1400" b="1" dirty="0">
                <a:solidFill>
                  <a:srgbClr val="FF0000"/>
                </a:solidFill>
              </a:rPr>
              <a:t>cannot align</a:t>
            </a:r>
            <a:r>
              <a:rPr lang="en-US" sz="1400" dirty="0"/>
              <a:t> (symmetric, irreflexive).</a:t>
            </a:r>
            <a:endParaRPr lang="en-NL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972C6AC-93F3-41FA-3F1B-61993A84A74F}"/>
              </a:ext>
            </a:extLst>
          </p:cNvPr>
          <p:cNvCxnSpPr>
            <a:cxnSpLocks/>
            <a:stCxn id="2" idx="6"/>
            <a:endCxn id="21" idx="2"/>
          </p:cNvCxnSpPr>
          <p:nvPr/>
        </p:nvCxnSpPr>
        <p:spPr>
          <a:xfrm>
            <a:off x="3890963" y="4076992"/>
            <a:ext cx="2291207" cy="0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05B998F-F665-7F2A-4041-692000E014AD}"/>
              </a:ext>
            </a:extLst>
          </p:cNvPr>
          <p:cNvCxnSpPr>
            <a:cxnSpLocks/>
          </p:cNvCxnSpPr>
          <p:nvPr/>
        </p:nvCxnSpPr>
        <p:spPr>
          <a:xfrm flipV="1">
            <a:off x="3686176" y="2775339"/>
            <a:ext cx="0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A79788-1A53-8BB2-24D2-0D74163FA225}"/>
              </a:ext>
            </a:extLst>
          </p:cNvPr>
          <p:cNvCxnSpPr>
            <a:cxnSpLocks/>
            <a:stCxn id="21" idx="0"/>
            <a:endCxn id="18" idx="4"/>
          </p:cNvCxnSpPr>
          <p:nvPr/>
        </p:nvCxnSpPr>
        <p:spPr>
          <a:xfrm flipV="1">
            <a:off x="6386958" y="2775339"/>
            <a:ext cx="4636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DDA972C-BF2F-E250-44B3-EC374218E694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9E58DB7-4C51-FF6F-8B7C-9297BBAFA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3b. Horizontal Relations: </a:t>
            </a:r>
            <a:r>
              <a:rPr lang="en-US" dirty="0" err="1"/>
              <a:t>cannotAlign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64506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DA5B4D5-A205-ECFE-2F2B-C757A5AD7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BCF60F4-F099-6471-6ACA-F24022CB7163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AF103300-F1AB-02FA-E25C-53D30F16444F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45227BF1-C709-8C48-7817-ABF8C333F1A7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2C6262-AFF1-5504-1E05-7C4EC0718610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CEC70331-6B95-BEE8-6E64-139C0481CED1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8EE4134-25E7-3A9D-1FF4-2538448282AE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EE6F425-6A5C-69AE-3F99-45E582D8B2CA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744EA7-E79F-A842-D074-A3C8B348AAF6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9435F870-72B1-10D4-60ED-ED220F55E21F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3262B7-BA81-F108-9B73-D0EA4BC537AE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E9AAAE5-F209-D653-AF86-596D56B4388A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F01D1E85-C862-07E4-CEA0-D0B6DA3951FD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0A0788-6A1E-2432-113D-20FEA7513936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E5DCA81-A365-DC94-66B4-D99CDF82509D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F5F0FD2-6C6E-7970-6A83-5640E2C9448D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5B79CB-8C10-5416-F861-232AB4F07DEF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CE1CEC-81CE-CFEA-655D-A86B3B398492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F1D376B-E635-DADC-1505-B6A0F923B0F7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D67B777-D824-AD18-5373-A8DFF6635058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ABBD94D-742B-EBD9-D75E-2EE34D6224A9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DA0BC40-8BFC-872F-881F-B22CF2CF50D0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8D70A3-C00E-F9DD-0370-917AD430A888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F00B505-1949-3229-A818-D2D24C721AC0}"/>
              </a:ext>
            </a:extLst>
          </p:cNvPr>
          <p:cNvCxnSpPr>
            <a:cxnSpLocks/>
            <a:stCxn id="6" idx="6"/>
            <a:endCxn id="24" idx="2"/>
          </p:cNvCxnSpPr>
          <p:nvPr/>
        </p:nvCxnSpPr>
        <p:spPr>
          <a:xfrm>
            <a:off x="5243672" y="5583432"/>
            <a:ext cx="2300604" cy="0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9322E3C-7746-94AA-9D7F-2C72B45B5D84}"/>
              </a:ext>
            </a:extLst>
          </p:cNvPr>
          <p:cNvCxnSpPr>
            <a:cxnSpLocks/>
            <a:stCxn id="6" idx="0"/>
            <a:endCxn id="28" idx="4"/>
          </p:cNvCxnSpPr>
          <p:nvPr/>
        </p:nvCxnSpPr>
        <p:spPr>
          <a:xfrm flipV="1">
            <a:off x="5038885" y="2775339"/>
            <a:ext cx="0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3F8CEF-FAEE-B34A-4468-FDEFFE13CD6C}"/>
              </a:ext>
            </a:extLst>
          </p:cNvPr>
          <p:cNvCxnSpPr>
            <a:cxnSpLocks/>
            <a:stCxn id="24" idx="0"/>
            <a:endCxn id="20" idx="4"/>
          </p:cNvCxnSpPr>
          <p:nvPr/>
        </p:nvCxnSpPr>
        <p:spPr>
          <a:xfrm flipH="1" flipV="1">
            <a:off x="7744302" y="2775339"/>
            <a:ext cx="4762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B52B044-F543-BC55-05DB-0C5BEB7BA23E}"/>
              </a:ext>
            </a:extLst>
          </p:cNvPr>
          <p:cNvSpPr txBox="1"/>
          <p:nvPr/>
        </p:nvSpPr>
        <p:spPr>
          <a:xfrm>
            <a:off x="1408923" y="956033"/>
            <a:ext cx="9609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model concepts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different ontology concepts, then they </a:t>
            </a:r>
            <a:r>
              <a:rPr lang="en-US" sz="1400" b="1" dirty="0">
                <a:solidFill>
                  <a:srgbClr val="FF0000"/>
                </a:solidFill>
              </a:rPr>
              <a:t>cannot align </a:t>
            </a:r>
            <a:r>
              <a:rPr lang="en-US" sz="1400" dirty="0"/>
              <a:t>(symmetric, irreflexive).</a:t>
            </a:r>
            <a:endParaRPr lang="en-NL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4B6795-8DC8-1CDD-55A9-ADB05D8CC575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9B14B4F-0127-DB22-4F00-C37FE6E01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3b. Horizontal Relations: </a:t>
            </a:r>
            <a:r>
              <a:rPr lang="en-US" dirty="0" err="1"/>
              <a:t>cannotAlign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16610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2F277-72F9-3649-1FE5-AA35BB8C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0197F29-7110-A389-5C67-08F62FA4C599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3FC258AC-A316-CD96-63A7-99CA9EB284F0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DDEC8CEB-7EB5-D70E-9AFA-653AAA133439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40E3F6-E0A0-0927-4D81-1F5CD407A1B0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0C6F8FEA-7C22-5D86-63D8-FC53ADCD790B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0D9171A-426E-A0F9-1B07-68BE5FBE1B2D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56ED72A-19A9-EEE6-6973-AEDF32F20AF1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9E8FC6-4D85-2A73-46F4-98D5D75A80BB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BB5FE8C7-781D-48AD-103E-C70F075612A1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87E2EA-3A35-2798-001A-3177D607878D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01FE63-CB67-D42D-CC3F-E9BA5E77CEBF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E52F66E3-F4CA-7E36-0D7F-5C68BC829061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FFEDE4-E191-7837-AFAC-1DAE84C39B17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D46C538-924F-091C-74B8-5740840145CA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FCF32-DFBE-52C8-C8EE-EA508F0CC5DE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A7B3CCC-E8E2-D81E-B736-E0F76EE8215C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32B486-F768-3F6C-170B-79FC553ACA2C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090F9EC-EF82-A298-292F-55522F26BAAE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96EC22B-4B0D-715F-9C8F-6CFBC84EBC04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F8957E1-C703-55A6-C549-B2DF9ACA1C30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20B27F-EE63-AA50-B466-FEEEABE3FCAC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7F4B587-1607-A3DF-B5C7-18DA82D75CEB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88898C1-ED8F-7DE7-5314-5A01353333E9}"/>
              </a:ext>
            </a:extLst>
          </p:cNvPr>
          <p:cNvCxnSpPr>
            <a:cxnSpLocks/>
            <a:stCxn id="2" idx="6"/>
            <a:endCxn id="24" idx="1"/>
          </p:cNvCxnSpPr>
          <p:nvPr/>
        </p:nvCxnSpPr>
        <p:spPr>
          <a:xfrm>
            <a:off x="3890963" y="4076992"/>
            <a:ext cx="3713294" cy="1361633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CDAE181-D4BD-DE5E-B22F-E644B5A18D39}"/>
              </a:ext>
            </a:extLst>
          </p:cNvPr>
          <p:cNvCxnSpPr>
            <a:cxnSpLocks/>
            <a:stCxn id="2" idx="0"/>
            <a:endCxn id="22" idx="4"/>
          </p:cNvCxnSpPr>
          <p:nvPr/>
        </p:nvCxnSpPr>
        <p:spPr>
          <a:xfrm flipV="1">
            <a:off x="3686176" y="2775339"/>
            <a:ext cx="0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FED953-E0A2-54CB-25DE-8BA8CFE84E45}"/>
              </a:ext>
            </a:extLst>
          </p:cNvPr>
          <p:cNvCxnSpPr>
            <a:cxnSpLocks/>
            <a:stCxn id="24" idx="0"/>
            <a:endCxn id="20" idx="4"/>
          </p:cNvCxnSpPr>
          <p:nvPr/>
        </p:nvCxnSpPr>
        <p:spPr>
          <a:xfrm flipH="1" flipV="1">
            <a:off x="7744302" y="2775339"/>
            <a:ext cx="4762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7493D0C-1194-5AD2-D2A1-AB2F35AE479F}"/>
              </a:ext>
            </a:extLst>
          </p:cNvPr>
          <p:cNvSpPr txBox="1"/>
          <p:nvPr/>
        </p:nvSpPr>
        <p:spPr>
          <a:xfrm>
            <a:off x="1408923" y="956033"/>
            <a:ext cx="9558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model concepts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different ontology concepts, then they </a:t>
            </a:r>
            <a:r>
              <a:rPr lang="en-US" sz="1400" b="1" dirty="0">
                <a:solidFill>
                  <a:srgbClr val="FF0000"/>
                </a:solidFill>
              </a:rPr>
              <a:t>cannot align </a:t>
            </a:r>
            <a:r>
              <a:rPr lang="en-US" sz="1400" dirty="0"/>
              <a:t>(symmetric, irreflexive).</a:t>
            </a:r>
            <a:endParaRPr lang="en-NL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E92273-B0B9-DC2D-227D-FCED80A5A584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B5121A1-D443-8234-F4BA-572C7319E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3b. Horizontal Relations: </a:t>
            </a:r>
            <a:r>
              <a:rPr lang="en-US" dirty="0" err="1"/>
              <a:t>cannotAlign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68452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AE35E-357F-9267-23A0-46A2D2105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7DC97-4BF9-1F5E-A234-7E2215072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30F7E-8398-5DD2-3932-EB7FEE92A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Types of Concepts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Vertical Relations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Horizontal Relations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aligns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cannotAlign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b="1" dirty="0" err="1"/>
              <a:t>mayAlign</a:t>
            </a:r>
            <a:endParaRPr lang="en-US" b="1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partiallyAlign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Inconsistencies</a:t>
            </a:r>
            <a:endParaRPr lang="en-NL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BD9DEC4-6FB4-A279-5ACC-3BDB3AC77EEE}"/>
              </a:ext>
            </a:extLst>
          </p:cNvPr>
          <p:cNvCxnSpPr>
            <a:cxnSpLocks/>
          </p:cNvCxnSpPr>
          <p:nvPr/>
        </p:nvCxnSpPr>
        <p:spPr>
          <a:xfrm flipV="1">
            <a:off x="6709782" y="3269440"/>
            <a:ext cx="0" cy="43102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63B6FCE-ECB9-D8C6-D49E-AE38371F4D13}"/>
              </a:ext>
            </a:extLst>
          </p:cNvPr>
          <p:cNvCxnSpPr>
            <a:cxnSpLocks/>
          </p:cNvCxnSpPr>
          <p:nvPr/>
        </p:nvCxnSpPr>
        <p:spPr>
          <a:xfrm flipV="1">
            <a:off x="8948475" y="3177754"/>
            <a:ext cx="0" cy="43102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C89C94-16DC-95A7-78B9-A398524E6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148379"/>
              </p:ext>
            </p:extLst>
          </p:nvPr>
        </p:nvGraphicFramePr>
        <p:xfrm>
          <a:off x="5519738" y="2349500"/>
          <a:ext cx="6156000" cy="207336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134000">
                  <a:extLst>
                    <a:ext uri="{9D8B030D-6E8A-4147-A177-3AD203B41FA5}">
                      <a16:colId xmlns:a16="http://schemas.microsoft.com/office/drawing/2014/main" val="1292452426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11031970"/>
                    </a:ext>
                  </a:extLst>
                </a:gridCol>
                <a:gridCol w="1134000">
                  <a:extLst>
                    <a:ext uri="{9D8B030D-6E8A-4147-A177-3AD203B41FA5}">
                      <a16:colId xmlns:a16="http://schemas.microsoft.com/office/drawing/2014/main" val="3875824869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92479494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hriv:hasExactMeaning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NOT </a:t>
                      </a:r>
                      <a:r>
                        <a:rPr lang="en-US" sz="1400" dirty="0" err="1"/>
                        <a:t>hriv:hasExactMeaning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162783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aligns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aligns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25196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cannotAlign</a:t>
                      </a:r>
                      <a:r>
                        <a:rPr lang="en-US" sz="1400" dirty="0"/>
                        <a:t>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cannotAlign</a:t>
                      </a:r>
                      <a:r>
                        <a:rPr lang="en-US" sz="1400" dirty="0"/>
                        <a:t>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212793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mayAlign</a:t>
                      </a:r>
                      <a:r>
                        <a:rPr lang="en-US" sz="1400" dirty="0"/>
                        <a:t>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mayAlign</a:t>
                      </a:r>
                      <a:r>
                        <a:rPr lang="en-US" sz="1400" dirty="0"/>
                        <a:t>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418333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136605-BB64-A65D-12A2-B1E7333ED611}"/>
              </a:ext>
            </a:extLst>
          </p:cNvPr>
          <p:cNvCxnSpPr>
            <a:cxnSpLocks/>
          </p:cNvCxnSpPr>
          <p:nvPr/>
        </p:nvCxnSpPr>
        <p:spPr>
          <a:xfrm flipV="1">
            <a:off x="6116135" y="2420885"/>
            <a:ext cx="0" cy="3600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B1FBDD2-7829-7D9E-8566-5982A432CF9F}"/>
              </a:ext>
            </a:extLst>
          </p:cNvPr>
          <p:cNvCxnSpPr>
            <a:cxnSpLocks/>
          </p:cNvCxnSpPr>
          <p:nvPr/>
        </p:nvCxnSpPr>
        <p:spPr>
          <a:xfrm flipV="1">
            <a:off x="9182213" y="2420885"/>
            <a:ext cx="0" cy="3600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B8E80B-EE5D-1275-0138-797DD1AE8683}"/>
              </a:ext>
            </a:extLst>
          </p:cNvPr>
          <p:cNvCxnSpPr>
            <a:cxnSpLocks/>
          </p:cNvCxnSpPr>
          <p:nvPr/>
        </p:nvCxnSpPr>
        <p:spPr>
          <a:xfrm>
            <a:off x="5778649" y="3116134"/>
            <a:ext cx="630000" cy="0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72BBEA-4736-E599-5EF6-8FA742355E9B}"/>
              </a:ext>
            </a:extLst>
          </p:cNvPr>
          <p:cNvCxnSpPr>
            <a:cxnSpLocks/>
          </p:cNvCxnSpPr>
          <p:nvPr/>
        </p:nvCxnSpPr>
        <p:spPr>
          <a:xfrm>
            <a:off x="8838638" y="3116134"/>
            <a:ext cx="630000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E7F251-AF35-3003-FE6B-3E18E4331D0C}"/>
              </a:ext>
            </a:extLst>
          </p:cNvPr>
          <p:cNvCxnSpPr>
            <a:cxnSpLocks/>
          </p:cNvCxnSpPr>
          <p:nvPr/>
        </p:nvCxnSpPr>
        <p:spPr>
          <a:xfrm>
            <a:off x="5807224" y="3608776"/>
            <a:ext cx="630000" cy="0"/>
          </a:xfrm>
          <a:prstGeom prst="straightConnector1">
            <a:avLst/>
          </a:prstGeom>
          <a:ln w="5715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1BDF52-C07E-5EFB-0F08-F09B5342132A}"/>
              </a:ext>
            </a:extLst>
          </p:cNvPr>
          <p:cNvCxnSpPr>
            <a:cxnSpLocks/>
          </p:cNvCxnSpPr>
          <p:nvPr/>
        </p:nvCxnSpPr>
        <p:spPr>
          <a:xfrm>
            <a:off x="8867213" y="3608776"/>
            <a:ext cx="630000" cy="0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4B4FBC-0EC8-181D-EA79-39AA2B4CE69B}"/>
              </a:ext>
            </a:extLst>
          </p:cNvPr>
          <p:cNvCxnSpPr>
            <a:cxnSpLocks/>
          </p:cNvCxnSpPr>
          <p:nvPr/>
        </p:nvCxnSpPr>
        <p:spPr>
          <a:xfrm>
            <a:off x="5807224" y="4161226"/>
            <a:ext cx="630000" cy="0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21127C-CAFD-DCA8-92E5-A2CE7509823A}"/>
              </a:ext>
            </a:extLst>
          </p:cNvPr>
          <p:cNvCxnSpPr>
            <a:cxnSpLocks/>
          </p:cNvCxnSpPr>
          <p:nvPr/>
        </p:nvCxnSpPr>
        <p:spPr>
          <a:xfrm>
            <a:off x="8867213" y="4161226"/>
            <a:ext cx="630000" cy="0"/>
          </a:xfrm>
          <a:prstGeom prst="straightConnector1">
            <a:avLst/>
          </a:prstGeom>
          <a:ln w="57150">
            <a:solidFill>
              <a:schemeClr val="accent2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494C46A-4484-D19B-1FCF-9FF7B4ADF80E}"/>
              </a:ext>
            </a:extLst>
          </p:cNvPr>
          <p:cNvSpPr txBox="1"/>
          <p:nvPr/>
        </p:nvSpPr>
        <p:spPr>
          <a:xfrm>
            <a:off x="5519738" y="178926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3454283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C90C1-8F0F-CCE6-704E-6BD9E4DB2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9629512-6B6E-9290-0A21-7095D8BAE822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BA16851B-53A5-8902-E91C-CAB29F1CD3FC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00C01617-3AB5-FB13-A49B-781AFC4BCFDE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092D81-5D09-884C-CB26-41887E8EDF92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B970A598-5F87-4A7D-272E-67844DAB7ABF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9C50226-A0E4-3D98-87E8-001887912BD0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0DB7B80-88D2-A7B7-625A-2A93D42BB49D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09E033-363C-9A47-A42B-CFFAC3C778D2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07D6E494-DB58-0DEA-7322-703A1718F43C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260248-DE68-4DE9-E4AA-20D806955903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3DD43B5-A5B9-93A7-E7EB-B1D0A7DE02A7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8DD541C6-7880-AD68-2437-3B1091F5D7F6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D58F61-18C3-ED51-9AA2-36A2391FF6FE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49C2FE-A000-B8A4-4522-9433C5CF6D23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B66F7A-BCC0-5F43-D726-7354103FF943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AF15EB-CEC6-AE2D-C115-C0CC7FE7B0A7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DD3D291-9006-49F2-0DCA-B74721A8F224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B4849507-4871-DD51-DCE2-25DEDF0FF0F6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84C179E-25B6-84D4-02FD-6CBE9B89E879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1FB3D9D-FF76-CE13-0875-3C6486D5D845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1EA8BAC-7F5B-A6A7-26AC-73C06325E116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accent2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B5DCD96-3B1B-FC3C-73E0-97B415C56053}"/>
              </a:ext>
            </a:extLst>
          </p:cNvPr>
          <p:cNvSpPr txBox="1"/>
          <p:nvPr/>
        </p:nvSpPr>
        <p:spPr>
          <a:xfrm>
            <a:off x="1408923" y="956033"/>
            <a:ext cx="9985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standard concepts </a:t>
            </a:r>
            <a:r>
              <a:rPr lang="en-US" sz="1400" b="1" dirty="0">
                <a:solidFill>
                  <a:srgbClr val="FF0000"/>
                </a:solidFill>
              </a:rPr>
              <a:t>NOT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the same </a:t>
            </a:r>
            <a:r>
              <a:rPr lang="en-US" sz="1400" b="1" dirty="0"/>
              <a:t>ontology concept</a:t>
            </a:r>
            <a:r>
              <a:rPr lang="en-US" sz="1400" dirty="0"/>
              <a:t>, then they </a:t>
            </a:r>
            <a:r>
              <a:rPr lang="en-US" sz="1400" b="1" dirty="0">
                <a:solidFill>
                  <a:srgbClr val="FFC000"/>
                </a:solidFill>
              </a:rPr>
              <a:t>may align </a:t>
            </a:r>
            <a:r>
              <a:rPr lang="en-US" sz="1400" dirty="0"/>
              <a:t>(symmetric, irreflexive).</a:t>
            </a:r>
            <a:endParaRPr lang="en-NL" sz="14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C462086-D096-96AC-0896-AC224A965723}"/>
              </a:ext>
            </a:extLst>
          </p:cNvPr>
          <p:cNvCxnSpPr>
            <a:cxnSpLocks/>
            <a:stCxn id="2" idx="6"/>
            <a:endCxn id="21" idx="2"/>
          </p:cNvCxnSpPr>
          <p:nvPr/>
        </p:nvCxnSpPr>
        <p:spPr>
          <a:xfrm>
            <a:off x="3890963" y="4076992"/>
            <a:ext cx="2291207" cy="0"/>
          </a:xfrm>
          <a:prstGeom prst="straightConnector1">
            <a:avLst/>
          </a:prstGeom>
          <a:ln w="57150">
            <a:solidFill>
              <a:schemeClr val="accent2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93EAA1-184D-ECB2-A82A-E75033D0B1E9}"/>
              </a:ext>
            </a:extLst>
          </p:cNvPr>
          <p:cNvCxnSpPr>
            <a:cxnSpLocks/>
          </p:cNvCxnSpPr>
          <p:nvPr/>
        </p:nvCxnSpPr>
        <p:spPr>
          <a:xfrm flipV="1">
            <a:off x="3686176" y="2775339"/>
            <a:ext cx="0" cy="10968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42E06A-4EA1-DC0C-371F-334B5BBFB7B7}"/>
              </a:ext>
            </a:extLst>
          </p:cNvPr>
          <p:cNvCxnSpPr>
            <a:cxnSpLocks/>
            <a:endCxn id="22" idx="5"/>
          </p:cNvCxnSpPr>
          <p:nvPr/>
        </p:nvCxnSpPr>
        <p:spPr>
          <a:xfrm flipH="1" flipV="1">
            <a:off x="3830982" y="2715358"/>
            <a:ext cx="2528721" cy="136163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DA9D7A4-5C46-21D9-6F3D-BBBE07BA03E6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E3E70D-5819-9F38-0BB9-202E857E7CB3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6FCDC7D-0B7A-2039-3246-0D7A27F27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3c. Horizontal Relations: </a:t>
            </a:r>
            <a:r>
              <a:rPr lang="en-US" dirty="0" err="1"/>
              <a:t>mayAlign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34369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8A987-4C00-4468-F913-DD566F0F0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5188B6A-EFA7-FC0E-4ACF-7BF4338F4D87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416742D9-53D8-2336-9D14-70B06FBEEB24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EA92B5B3-59B0-35B6-5799-915DCE17AD3B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132D58-E6F1-2567-FE9B-4D37135267CD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36EB8494-3C82-8BBB-3677-57759F5EE8A0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D24CD7E-93E5-6699-663B-5B9025D1139C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B05153A-0063-DA2E-91DF-480FB782EC47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F795EA-11A2-B2ED-E6CE-CB810EE4C288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404BD06B-3463-7A7F-DDFC-B89CFA02C1CF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8E3462-8301-65A4-7BCA-1C30112919C0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F97EAD9-B6E8-FEA5-33A8-190917C45E36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428B11DD-FBB2-5677-2330-77850058DEDB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7548DF-689E-6462-9FBD-426A30E70AAA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5AE49A-3BA8-A7D4-56BA-9C6C94FF6D80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950E6C-1714-8379-EB07-F7DD8B8547AE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89B9E82-E87D-1EFC-5DF0-51B0CCDA612D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7AD99B6-0BBA-9422-7E93-43C45EB3E70B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533F71E-5F5A-009F-07EC-2BA29BEC6746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7478D7A-E729-E21B-EEF4-9E64E643A109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6C0D896-1322-E4E6-5BB5-6B8F5F1905DC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D56D259-C4D3-20F1-AC7C-8237593E4244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accent2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13B7C8D-DB19-EF2F-FBA6-18DEBCD64678}"/>
              </a:ext>
            </a:extLst>
          </p:cNvPr>
          <p:cNvCxnSpPr>
            <a:cxnSpLocks/>
            <a:stCxn id="6" idx="6"/>
            <a:endCxn id="24" idx="2"/>
          </p:cNvCxnSpPr>
          <p:nvPr/>
        </p:nvCxnSpPr>
        <p:spPr>
          <a:xfrm>
            <a:off x="5243672" y="5583432"/>
            <a:ext cx="2300604" cy="0"/>
          </a:xfrm>
          <a:prstGeom prst="straightConnector1">
            <a:avLst/>
          </a:prstGeom>
          <a:ln w="57150">
            <a:solidFill>
              <a:schemeClr val="accent2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A8B5999-028C-855D-5D3D-946223A47FC1}"/>
              </a:ext>
            </a:extLst>
          </p:cNvPr>
          <p:cNvCxnSpPr>
            <a:cxnSpLocks/>
            <a:stCxn id="6" idx="0"/>
            <a:endCxn id="28" idx="4"/>
          </p:cNvCxnSpPr>
          <p:nvPr/>
        </p:nvCxnSpPr>
        <p:spPr>
          <a:xfrm flipV="1">
            <a:off x="5038885" y="2775339"/>
            <a:ext cx="0" cy="260330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88695C-5928-058B-F0AA-45A636E757B7}"/>
              </a:ext>
            </a:extLst>
          </p:cNvPr>
          <p:cNvCxnSpPr>
            <a:cxnSpLocks/>
            <a:stCxn id="24" idx="1"/>
            <a:endCxn id="28" idx="5"/>
          </p:cNvCxnSpPr>
          <p:nvPr/>
        </p:nvCxnSpPr>
        <p:spPr>
          <a:xfrm flipH="1" flipV="1">
            <a:off x="5183691" y="2715358"/>
            <a:ext cx="2420566" cy="272326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69223C9-80D2-F7B3-89E1-33C2145B7459}"/>
              </a:ext>
            </a:extLst>
          </p:cNvPr>
          <p:cNvSpPr txBox="1"/>
          <p:nvPr/>
        </p:nvSpPr>
        <p:spPr>
          <a:xfrm>
            <a:off x="1408923" y="956033"/>
            <a:ext cx="9773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model concepts </a:t>
            </a:r>
            <a:r>
              <a:rPr lang="en-US" sz="1400" b="1" dirty="0">
                <a:solidFill>
                  <a:srgbClr val="FF0000"/>
                </a:solidFill>
              </a:rPr>
              <a:t>NOT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the same </a:t>
            </a:r>
            <a:r>
              <a:rPr lang="en-US" sz="1400" b="1" dirty="0"/>
              <a:t>ontology concept</a:t>
            </a:r>
            <a:r>
              <a:rPr lang="en-US" sz="1400" dirty="0"/>
              <a:t>, then they </a:t>
            </a:r>
            <a:r>
              <a:rPr lang="en-US" sz="1400" b="1" dirty="0">
                <a:solidFill>
                  <a:srgbClr val="FFC000"/>
                </a:solidFill>
              </a:rPr>
              <a:t>may align </a:t>
            </a:r>
            <a:r>
              <a:rPr lang="en-US" sz="1400" dirty="0"/>
              <a:t>(symmetric, irreflexive).</a:t>
            </a:r>
            <a:endParaRPr lang="en-NL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04BEB0-6341-195C-9271-6DECFECA8B37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F91C9BF-3DDE-D01F-B67C-65C1185E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3c. Horizontal Relations: </a:t>
            </a:r>
            <a:r>
              <a:rPr lang="en-US" dirty="0" err="1"/>
              <a:t>mayAlign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22631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64C66-E9EB-D56C-A283-883FDFA76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4B634B-3BD8-681C-5697-508016EA5AE1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954F6EBD-C064-1414-AF75-4C753EF1F250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BE9E31A1-CF37-2104-2735-560E9C981D40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AB20D6-6031-1698-957A-D8E9CEF06313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0FF49880-F579-7892-1885-BAC9367D6873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2312BC3-216B-2BE1-DECD-4F298093578F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ECD2C82-0363-DF70-49B0-BC0346090649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83590C-EEE2-600D-9FE8-1F0FE48C558D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6B6F845D-E429-D58F-5731-6C417A950296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3FA1DE-1BDC-D0E7-E564-168520841386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2E1DB8A-E59A-D043-A435-1FAB58153F40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1D5122A4-B2B8-C31C-C473-E24830BDD3C9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F60FFA-17B4-0777-45A3-36F2B3959A0B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5ADB5E-FD48-00AF-BFA4-EAC1359524B8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11C0D1-33AB-8450-6EA9-D774FE23E96F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D4F37EF-DEA6-6814-6C3F-042504E33219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5000CC4-EE49-567A-98BE-EE9866FCE922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CA98196C-FE48-E506-59CB-3D8140DA0DBE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6E0FD63-D696-9879-931C-2F00FD060E62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1BFDA05-AF39-065E-8989-DCD36DE6ED34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17762A2-A52E-FE3B-72D8-674C2139637D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accent2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782E967-09CB-EC42-73F8-72E4E065ED7B}"/>
              </a:ext>
            </a:extLst>
          </p:cNvPr>
          <p:cNvCxnSpPr>
            <a:cxnSpLocks/>
            <a:stCxn id="2" idx="6"/>
            <a:endCxn id="24" idx="2"/>
          </p:cNvCxnSpPr>
          <p:nvPr/>
        </p:nvCxnSpPr>
        <p:spPr>
          <a:xfrm>
            <a:off x="3890963" y="4076992"/>
            <a:ext cx="3653313" cy="1506440"/>
          </a:xfrm>
          <a:prstGeom prst="straightConnector1">
            <a:avLst/>
          </a:prstGeom>
          <a:ln w="57150">
            <a:solidFill>
              <a:schemeClr val="accent2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89869FA-90B2-432C-8EC3-FA0BD7B0C191}"/>
              </a:ext>
            </a:extLst>
          </p:cNvPr>
          <p:cNvCxnSpPr>
            <a:cxnSpLocks/>
            <a:stCxn id="2" idx="7"/>
            <a:endCxn id="28" idx="3"/>
          </p:cNvCxnSpPr>
          <p:nvPr/>
        </p:nvCxnSpPr>
        <p:spPr>
          <a:xfrm flipV="1">
            <a:off x="3830982" y="2715358"/>
            <a:ext cx="1063096" cy="121682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ED44EC-C02E-462D-1E09-9162F9987EA1}"/>
              </a:ext>
            </a:extLst>
          </p:cNvPr>
          <p:cNvCxnSpPr>
            <a:cxnSpLocks/>
            <a:stCxn id="24" idx="1"/>
            <a:endCxn id="28" idx="5"/>
          </p:cNvCxnSpPr>
          <p:nvPr/>
        </p:nvCxnSpPr>
        <p:spPr>
          <a:xfrm flipH="1" flipV="1">
            <a:off x="5183691" y="2715358"/>
            <a:ext cx="2420566" cy="272326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F9A07C4-75DD-43CD-DE13-F33889EED141}"/>
              </a:ext>
            </a:extLst>
          </p:cNvPr>
          <p:cNvSpPr txBox="1"/>
          <p:nvPr/>
        </p:nvSpPr>
        <p:spPr>
          <a:xfrm>
            <a:off x="1408923" y="956033"/>
            <a:ext cx="9773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model concepts </a:t>
            </a:r>
            <a:r>
              <a:rPr lang="en-US" sz="1400" b="1" dirty="0">
                <a:solidFill>
                  <a:srgbClr val="FF0000"/>
                </a:solidFill>
              </a:rPr>
              <a:t>NOT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the same </a:t>
            </a:r>
            <a:r>
              <a:rPr lang="en-US" sz="1400" b="1" dirty="0"/>
              <a:t>ontology concept</a:t>
            </a:r>
            <a:r>
              <a:rPr lang="en-US" sz="1400" dirty="0"/>
              <a:t>, then they </a:t>
            </a:r>
            <a:r>
              <a:rPr lang="en-US" sz="1400" b="1" dirty="0">
                <a:solidFill>
                  <a:srgbClr val="FFC000"/>
                </a:solidFill>
              </a:rPr>
              <a:t>may align</a:t>
            </a:r>
            <a:r>
              <a:rPr lang="en-US" sz="1400" dirty="0"/>
              <a:t> (symmetric, irreflexive).</a:t>
            </a:r>
            <a:endParaRPr lang="en-NL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8C1040-BB28-874D-AC6A-0DE660851A7B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FDA97A6-81E4-4C56-2D0E-C44151BD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3c. Horizontal Relations: </a:t>
            </a:r>
            <a:r>
              <a:rPr lang="en-US" dirty="0" err="1"/>
              <a:t>mayAlign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13850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9FB69-3BEB-3440-7C62-3E6551FE5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16791-7327-F90A-6458-0E28C3C0F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99C07-6BE7-38DD-2E35-658799A60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Types of Concepts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Vertical Relations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Horizontal Relations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aligns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cannotAlign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mayAlign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b="1" dirty="0" err="1"/>
              <a:t>partiallyAlign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Inconsistencies</a:t>
            </a:r>
            <a:endParaRPr lang="en-NL" b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A791759-4EF7-7B64-7688-0746AA0E9AFA}"/>
              </a:ext>
            </a:extLst>
          </p:cNvPr>
          <p:cNvCxnSpPr>
            <a:cxnSpLocks/>
          </p:cNvCxnSpPr>
          <p:nvPr/>
        </p:nvCxnSpPr>
        <p:spPr>
          <a:xfrm flipV="1">
            <a:off x="6709782" y="3269440"/>
            <a:ext cx="0" cy="43102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A302A64-E989-6A96-2291-CB51024906E3}"/>
              </a:ext>
            </a:extLst>
          </p:cNvPr>
          <p:cNvCxnSpPr>
            <a:cxnSpLocks/>
          </p:cNvCxnSpPr>
          <p:nvPr/>
        </p:nvCxnSpPr>
        <p:spPr>
          <a:xfrm flipV="1">
            <a:off x="8948475" y="3177754"/>
            <a:ext cx="0" cy="43102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A31E3E-7343-B9D7-AEBF-E22F7CF3F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403321"/>
              </p:ext>
            </p:extLst>
          </p:nvPr>
        </p:nvGraphicFramePr>
        <p:xfrm>
          <a:off x="5519738" y="2349500"/>
          <a:ext cx="6156000" cy="259176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134000">
                  <a:extLst>
                    <a:ext uri="{9D8B030D-6E8A-4147-A177-3AD203B41FA5}">
                      <a16:colId xmlns:a16="http://schemas.microsoft.com/office/drawing/2014/main" val="1292452426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11031970"/>
                    </a:ext>
                  </a:extLst>
                </a:gridCol>
                <a:gridCol w="1134000">
                  <a:extLst>
                    <a:ext uri="{9D8B030D-6E8A-4147-A177-3AD203B41FA5}">
                      <a16:colId xmlns:a16="http://schemas.microsoft.com/office/drawing/2014/main" val="3875824869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92479494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hriv:hasExactMeaning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NOT </a:t>
                      </a:r>
                      <a:r>
                        <a:rPr lang="en-US" sz="1400" dirty="0" err="1"/>
                        <a:t>hriv:hasExactMeaning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162783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aligns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aligns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425196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cannotAlign</a:t>
                      </a:r>
                      <a:r>
                        <a:rPr lang="en-US" sz="1400" dirty="0"/>
                        <a:t>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cannotAlign</a:t>
                      </a:r>
                      <a:r>
                        <a:rPr lang="en-US" sz="1400" dirty="0"/>
                        <a:t>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212793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mayAlign</a:t>
                      </a:r>
                      <a:r>
                        <a:rPr lang="en-US" sz="1400" dirty="0"/>
                        <a:t>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mayAlign</a:t>
                      </a:r>
                      <a:r>
                        <a:rPr lang="en-US" sz="1400" dirty="0"/>
                        <a:t>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418333"/>
                  </a:ext>
                </a:extLst>
              </a:tr>
              <a:tr h="518400"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partiallyAlign</a:t>
                      </a:r>
                      <a:r>
                        <a:rPr lang="en-US" sz="1400" dirty="0"/>
                        <a:t> (asserted)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/>
                        <a:t>partiallyAlign</a:t>
                      </a:r>
                      <a:r>
                        <a:rPr lang="en-US" sz="1400" dirty="0"/>
                        <a:t> (inferred)</a:t>
                      </a:r>
                      <a:endParaRPr lang="en-NL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90320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89DEEB-CFC0-DFD5-2C16-312E23F2A7F2}"/>
              </a:ext>
            </a:extLst>
          </p:cNvPr>
          <p:cNvCxnSpPr>
            <a:cxnSpLocks/>
          </p:cNvCxnSpPr>
          <p:nvPr/>
        </p:nvCxnSpPr>
        <p:spPr>
          <a:xfrm flipV="1">
            <a:off x="6116135" y="2420885"/>
            <a:ext cx="0" cy="36000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2D24058-D160-6150-DF32-ED36CC05A7BB}"/>
              </a:ext>
            </a:extLst>
          </p:cNvPr>
          <p:cNvCxnSpPr>
            <a:cxnSpLocks/>
          </p:cNvCxnSpPr>
          <p:nvPr/>
        </p:nvCxnSpPr>
        <p:spPr>
          <a:xfrm flipV="1">
            <a:off x="9182213" y="2420885"/>
            <a:ext cx="0" cy="3600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ABD4B0-AF45-D5B0-A4F4-5E9EA0B6810D}"/>
              </a:ext>
            </a:extLst>
          </p:cNvPr>
          <p:cNvCxnSpPr>
            <a:cxnSpLocks/>
          </p:cNvCxnSpPr>
          <p:nvPr/>
        </p:nvCxnSpPr>
        <p:spPr>
          <a:xfrm>
            <a:off x="5778649" y="3116134"/>
            <a:ext cx="630000" cy="0"/>
          </a:xfrm>
          <a:prstGeom prst="straightConnector1">
            <a:avLst/>
          </a:prstGeom>
          <a:ln w="57150">
            <a:solidFill>
              <a:schemeClr val="accent3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AEB00E-BDEC-840D-CDA1-45C4F4D908CC}"/>
              </a:ext>
            </a:extLst>
          </p:cNvPr>
          <p:cNvCxnSpPr>
            <a:cxnSpLocks/>
          </p:cNvCxnSpPr>
          <p:nvPr/>
        </p:nvCxnSpPr>
        <p:spPr>
          <a:xfrm>
            <a:off x="8838638" y="3116134"/>
            <a:ext cx="630000" cy="0"/>
          </a:xfrm>
          <a:prstGeom prst="straightConnector1">
            <a:avLst/>
          </a:prstGeom>
          <a:ln w="57150">
            <a:solidFill>
              <a:schemeClr val="accent3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957D1D-EE87-6796-7A25-430DD80FF5D7}"/>
              </a:ext>
            </a:extLst>
          </p:cNvPr>
          <p:cNvCxnSpPr>
            <a:cxnSpLocks/>
          </p:cNvCxnSpPr>
          <p:nvPr/>
        </p:nvCxnSpPr>
        <p:spPr>
          <a:xfrm>
            <a:off x="5807224" y="3608776"/>
            <a:ext cx="630000" cy="0"/>
          </a:xfrm>
          <a:prstGeom prst="straightConnector1">
            <a:avLst/>
          </a:prstGeom>
          <a:ln w="5715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F3E1F6-13D2-F08D-9EF7-F3E6EB7C6A8A}"/>
              </a:ext>
            </a:extLst>
          </p:cNvPr>
          <p:cNvCxnSpPr>
            <a:cxnSpLocks/>
          </p:cNvCxnSpPr>
          <p:nvPr/>
        </p:nvCxnSpPr>
        <p:spPr>
          <a:xfrm>
            <a:off x="8867213" y="3608776"/>
            <a:ext cx="630000" cy="0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EC29FD-0303-E02A-7CD4-3457F7C2A219}"/>
              </a:ext>
            </a:extLst>
          </p:cNvPr>
          <p:cNvCxnSpPr>
            <a:cxnSpLocks/>
          </p:cNvCxnSpPr>
          <p:nvPr/>
        </p:nvCxnSpPr>
        <p:spPr>
          <a:xfrm>
            <a:off x="5807224" y="4161226"/>
            <a:ext cx="630000" cy="0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A52349-01F7-39AE-843D-79969CA2A676}"/>
              </a:ext>
            </a:extLst>
          </p:cNvPr>
          <p:cNvCxnSpPr>
            <a:cxnSpLocks/>
          </p:cNvCxnSpPr>
          <p:nvPr/>
        </p:nvCxnSpPr>
        <p:spPr>
          <a:xfrm>
            <a:off x="8867213" y="4161226"/>
            <a:ext cx="630000" cy="0"/>
          </a:xfrm>
          <a:prstGeom prst="straightConnector1">
            <a:avLst/>
          </a:prstGeom>
          <a:ln w="57150">
            <a:solidFill>
              <a:schemeClr val="accent2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79097CC-B130-6AAE-293F-3B655ABAD349}"/>
              </a:ext>
            </a:extLst>
          </p:cNvPr>
          <p:cNvCxnSpPr>
            <a:cxnSpLocks/>
          </p:cNvCxnSpPr>
          <p:nvPr/>
        </p:nvCxnSpPr>
        <p:spPr>
          <a:xfrm>
            <a:off x="5807224" y="4675576"/>
            <a:ext cx="630000" cy="0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0E865E-591B-2290-64EA-4D1BF790D91E}"/>
              </a:ext>
            </a:extLst>
          </p:cNvPr>
          <p:cNvCxnSpPr>
            <a:cxnSpLocks/>
          </p:cNvCxnSpPr>
          <p:nvPr/>
        </p:nvCxnSpPr>
        <p:spPr>
          <a:xfrm>
            <a:off x="8867213" y="4675576"/>
            <a:ext cx="630000" cy="0"/>
          </a:xfrm>
          <a:prstGeom prst="straightConnector1">
            <a:avLst/>
          </a:prstGeom>
          <a:ln w="57150">
            <a:solidFill>
              <a:schemeClr val="accent1"/>
            </a:solidFill>
            <a:prstDash val="sysDot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FB348AF-3C46-83BE-4EA6-B352364ECAB4}"/>
              </a:ext>
            </a:extLst>
          </p:cNvPr>
          <p:cNvSpPr txBox="1"/>
          <p:nvPr/>
        </p:nvSpPr>
        <p:spPr>
          <a:xfrm>
            <a:off x="5519738" y="178926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Legend</a:t>
            </a:r>
          </a:p>
        </p:txBody>
      </p:sp>
    </p:spTree>
    <p:extLst>
      <p:ext uri="{BB962C8B-B14F-4D97-AF65-F5344CB8AC3E}">
        <p14:creationId xmlns:p14="http://schemas.microsoft.com/office/powerpoint/2010/main" val="3912555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081A2-84CC-E9C1-2B74-D8FD082CE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8E2592-79D0-9BD3-6378-EE72E24E7FAB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D4A32593-32E6-9BAC-0971-5F9DA24998EA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0C90C7EB-3B1B-B628-781C-7F7251856AB8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730729-908F-B0C1-E094-CDC3A3E73F68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CA80942D-A6D6-4ABA-777D-6860EF74270E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BA9F266-FFBF-3086-8F86-616E3CDB3166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302CADA-74A5-16C9-5A36-C908CA4E098D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501F01-8290-3EE6-A4C3-E89433FB3730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4E6F6FAF-9C12-1BBC-90C3-563117F04E04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5388D8-3B65-9711-49D3-33E89E9BB1A0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97EF1E4-673F-0421-32CB-363F2E7B3406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14C05515-7FB2-22CB-9BDB-1B3C0CA0EC59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2B334E-C270-ABDA-89F6-9CE07BCCEEAF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57F1D05-6AD9-E910-1457-D40A981C4B53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B9BF6AF-ECCA-7EDE-9503-B55D3B818427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1D0C73-06D1-9E7E-00F9-7C53F63F66AF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F54F753-ACA7-AC8F-EA80-86166D3053D0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DFFC1BAA-CDF3-DE9A-29B3-281399A6EDC6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C51610D-5736-41DF-7250-F54C9E4099D8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358C281-FA61-86AB-AF76-E9E74F0BE07C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DF7A62E-9F09-9A28-7B3F-36EE96FCE835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554483-D755-8BFD-B4CA-9E7CCAC78EA3}"/>
              </a:ext>
            </a:extLst>
          </p:cNvPr>
          <p:cNvSpPr txBox="1"/>
          <p:nvPr/>
        </p:nvSpPr>
        <p:spPr>
          <a:xfrm>
            <a:off x="1408923" y="956033"/>
            <a:ext cx="14847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</a:t>
            </a:r>
            <a:r>
              <a:rPr lang="en-US" sz="1400" dirty="0" err="1"/>
              <a:t>rdfs:subClassOf</a:t>
            </a:r>
            <a:endParaRPr lang="en-NL" sz="1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AA6E79D-7EA4-EB76-E5C7-6DEBFD03FC96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9A1E8E-A27D-0DFA-7662-0496AB0E5608}"/>
              </a:ext>
            </a:extLst>
          </p:cNvPr>
          <p:cNvCxnSpPr>
            <a:cxnSpLocks/>
            <a:stCxn id="22" idx="6"/>
            <a:endCxn id="28" idx="2"/>
          </p:cNvCxnSpPr>
          <p:nvPr/>
        </p:nvCxnSpPr>
        <p:spPr>
          <a:xfrm>
            <a:off x="3890963" y="2570552"/>
            <a:ext cx="94313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93C2F8-3637-0BAA-F6A7-BFEACD4DE6EB}"/>
              </a:ext>
            </a:extLst>
          </p:cNvPr>
          <p:cNvCxnSpPr>
            <a:cxnSpLocks/>
            <a:stCxn id="28" idx="6"/>
            <a:endCxn id="18" idx="2"/>
          </p:cNvCxnSpPr>
          <p:nvPr/>
        </p:nvCxnSpPr>
        <p:spPr>
          <a:xfrm>
            <a:off x="5243672" y="2570552"/>
            <a:ext cx="94313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96A266-C479-11AE-0A05-DAFB51987839}"/>
              </a:ext>
            </a:extLst>
          </p:cNvPr>
          <p:cNvCxnSpPr>
            <a:cxnSpLocks/>
            <a:stCxn id="2" idx="0"/>
            <a:endCxn id="22" idx="4"/>
          </p:cNvCxnSpPr>
          <p:nvPr/>
        </p:nvCxnSpPr>
        <p:spPr>
          <a:xfrm flipV="1">
            <a:off x="3686176" y="2775339"/>
            <a:ext cx="0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C3FC615-D147-71FD-8CC4-4E10704EF04A}"/>
              </a:ext>
            </a:extLst>
          </p:cNvPr>
          <p:cNvCxnSpPr>
            <a:cxnSpLocks/>
            <a:stCxn id="18" idx="6"/>
            <a:endCxn id="20" idx="2"/>
          </p:cNvCxnSpPr>
          <p:nvPr/>
        </p:nvCxnSpPr>
        <p:spPr>
          <a:xfrm>
            <a:off x="6596381" y="2570552"/>
            <a:ext cx="94313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2F895FA-E020-3AB7-5B8A-C8FCE2292EB9}"/>
              </a:ext>
            </a:extLst>
          </p:cNvPr>
          <p:cNvCxnSpPr>
            <a:cxnSpLocks/>
            <a:stCxn id="5" idx="0"/>
            <a:endCxn id="18" idx="4"/>
          </p:cNvCxnSpPr>
          <p:nvPr/>
        </p:nvCxnSpPr>
        <p:spPr>
          <a:xfrm flipV="1">
            <a:off x="6386958" y="2775339"/>
            <a:ext cx="4636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7F78515-67DB-4A6E-0E69-35BBBCC5BA92}"/>
              </a:ext>
            </a:extLst>
          </p:cNvPr>
          <p:cNvCxnSpPr>
            <a:cxnSpLocks/>
          </p:cNvCxnSpPr>
          <p:nvPr/>
        </p:nvCxnSpPr>
        <p:spPr>
          <a:xfrm>
            <a:off x="3890963" y="4076992"/>
            <a:ext cx="2291207" cy="0"/>
          </a:xfrm>
          <a:prstGeom prst="straightConnector1">
            <a:avLst/>
          </a:prstGeom>
          <a:ln w="57150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95B449-8B06-5988-0730-72626B9346AA}"/>
              </a:ext>
            </a:extLst>
          </p:cNvPr>
          <p:cNvCxnSpPr>
            <a:cxnSpLocks/>
          </p:cNvCxnSpPr>
          <p:nvPr/>
        </p:nvCxnSpPr>
        <p:spPr>
          <a:xfrm>
            <a:off x="355600" y="1459515"/>
            <a:ext cx="946280" cy="0"/>
          </a:xfrm>
          <a:prstGeom prst="straightConnector1">
            <a:avLst/>
          </a:prstGeom>
          <a:ln w="57150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C29DC86-FDC1-9B70-62F7-CA62B52C2A6B}"/>
              </a:ext>
            </a:extLst>
          </p:cNvPr>
          <p:cNvSpPr txBox="1"/>
          <p:nvPr/>
        </p:nvSpPr>
        <p:spPr>
          <a:xfrm>
            <a:off x="1408923" y="1305627"/>
            <a:ext cx="7900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i="1" dirty="0" err="1"/>
              <a:t>hriv:hasExactMeaning</a:t>
            </a:r>
            <a:r>
              <a:rPr lang="en-US" sz="1400" dirty="0"/>
              <a:t> to </a:t>
            </a:r>
            <a:r>
              <a:rPr lang="en-US" sz="1400" b="1" dirty="0"/>
              <a:t>ontology concepts</a:t>
            </a:r>
            <a:r>
              <a:rPr lang="en-US" sz="1400" dirty="0"/>
              <a:t> in the same hierarchy, </a:t>
            </a:r>
          </a:p>
          <a:p>
            <a:r>
              <a:rPr lang="en-US" sz="1400" dirty="0"/>
              <a:t>then they </a:t>
            </a:r>
            <a:r>
              <a:rPr lang="en-US" sz="1400" b="1" dirty="0">
                <a:solidFill>
                  <a:schemeClr val="accent1"/>
                </a:solidFill>
              </a:rPr>
              <a:t>partially align</a:t>
            </a:r>
            <a:r>
              <a:rPr lang="en-US" sz="1400" dirty="0"/>
              <a:t> (symmetric, irreflexive).</a:t>
            </a:r>
            <a:endParaRPr lang="en-NL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725BFA-FE8A-D834-92CE-957E024F0D18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BC20304-EDF4-688E-E1F5-45415F552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3d. Horizontal Relations: </a:t>
            </a:r>
            <a:r>
              <a:rPr lang="en-US" dirty="0" err="1"/>
              <a:t>partiallyAlign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44830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BEB65-A171-3D20-D834-3DE41B229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16491-04D0-21EC-859E-80CA8CF3DA6B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0188CA4B-3BD9-9350-391F-C3835F3EC465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A85A6995-E6B4-1A5C-0BAD-ED1F9240322F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330EFC-D473-CFFC-9FF5-F52DE911CA8F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BFA424AC-7448-C5A8-0ABB-5E997FFEA025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DF582C0-7A11-A57A-780B-92E89A57385B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F3E10A8-0361-53E6-9370-9A614A4DAAAD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440952-8487-DD2F-0BAA-45036072E9CE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E4F21123-3C6F-68A2-3383-68B748B3D976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AFC51C-D87F-8BA2-AC01-DABD9CCB9218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1A594CE-F949-C54F-B687-3D5A5584C185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2E74DB50-640F-76D4-ED28-FD06355CDFD2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B80D8A-043B-77C0-C31E-F0C8587864A3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BC489BB-7064-3ED1-B31E-B00CE6192205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925F7B-4B13-6F51-5490-E4EA81537C65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F5CBFD-CC03-79DE-9865-FB30A3795989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E162E9-09A1-1971-C43F-1312738342AC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9A0621F-53AA-DE08-B565-5EE9ABA7AC11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E5C78F-961E-B699-664A-15AFA3F6FACD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54365BA-F55A-236D-9045-2A31B0ABE80C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59A04C7-56B3-3121-2634-B5F7564462CF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32A8E86-5BD0-55C4-F37B-5234E167B31D}"/>
              </a:ext>
            </a:extLst>
          </p:cNvPr>
          <p:cNvSpPr txBox="1"/>
          <p:nvPr/>
        </p:nvSpPr>
        <p:spPr>
          <a:xfrm>
            <a:off x="1408923" y="956033"/>
            <a:ext cx="14847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</a:t>
            </a:r>
            <a:r>
              <a:rPr lang="en-US" sz="1400" dirty="0" err="1"/>
              <a:t>rdfs:subClassOf</a:t>
            </a:r>
            <a:endParaRPr lang="en-NL" sz="1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02699CD-17FF-307B-DE20-DA2A4FF57370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1B9239-B197-76E7-1600-F1AABDCBEB57}"/>
              </a:ext>
            </a:extLst>
          </p:cNvPr>
          <p:cNvCxnSpPr>
            <a:cxnSpLocks/>
            <a:stCxn id="22" idx="6"/>
            <a:endCxn id="28" idx="2"/>
          </p:cNvCxnSpPr>
          <p:nvPr/>
        </p:nvCxnSpPr>
        <p:spPr>
          <a:xfrm>
            <a:off x="3890963" y="2570552"/>
            <a:ext cx="94313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A353F6-EAFA-B47E-D99E-F5F2DFA20D6F}"/>
              </a:ext>
            </a:extLst>
          </p:cNvPr>
          <p:cNvCxnSpPr>
            <a:cxnSpLocks/>
            <a:stCxn id="28" idx="6"/>
            <a:endCxn id="18" idx="2"/>
          </p:cNvCxnSpPr>
          <p:nvPr/>
        </p:nvCxnSpPr>
        <p:spPr>
          <a:xfrm>
            <a:off x="5243672" y="2570552"/>
            <a:ext cx="94313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B94E42-BF0C-B5CE-89C6-714022853A79}"/>
              </a:ext>
            </a:extLst>
          </p:cNvPr>
          <p:cNvCxnSpPr>
            <a:cxnSpLocks/>
            <a:stCxn id="6" idx="0"/>
            <a:endCxn id="28" idx="4"/>
          </p:cNvCxnSpPr>
          <p:nvPr/>
        </p:nvCxnSpPr>
        <p:spPr>
          <a:xfrm flipV="1">
            <a:off x="5038885" y="2775339"/>
            <a:ext cx="0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F4F5805-E959-85EF-08CD-C3E398A111F3}"/>
              </a:ext>
            </a:extLst>
          </p:cNvPr>
          <p:cNvCxnSpPr>
            <a:cxnSpLocks/>
            <a:stCxn id="18" idx="6"/>
            <a:endCxn id="20" idx="2"/>
          </p:cNvCxnSpPr>
          <p:nvPr/>
        </p:nvCxnSpPr>
        <p:spPr>
          <a:xfrm>
            <a:off x="6596381" y="2570552"/>
            <a:ext cx="94313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7285580-3ABD-8EA7-D176-6582D8CBDEC8}"/>
              </a:ext>
            </a:extLst>
          </p:cNvPr>
          <p:cNvCxnSpPr>
            <a:cxnSpLocks/>
            <a:stCxn id="24" idx="0"/>
            <a:endCxn id="20" idx="4"/>
          </p:cNvCxnSpPr>
          <p:nvPr/>
        </p:nvCxnSpPr>
        <p:spPr>
          <a:xfrm flipH="1" flipV="1">
            <a:off x="7744302" y="2775339"/>
            <a:ext cx="4762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C11FA20-B1BF-715B-2291-CE7B749D511E}"/>
              </a:ext>
            </a:extLst>
          </p:cNvPr>
          <p:cNvCxnSpPr>
            <a:cxnSpLocks/>
            <a:stCxn id="6" idx="6"/>
            <a:endCxn id="24" idx="2"/>
          </p:cNvCxnSpPr>
          <p:nvPr/>
        </p:nvCxnSpPr>
        <p:spPr>
          <a:xfrm>
            <a:off x="5243672" y="5583432"/>
            <a:ext cx="2300604" cy="0"/>
          </a:xfrm>
          <a:prstGeom prst="straightConnector1">
            <a:avLst/>
          </a:prstGeom>
          <a:ln w="57150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A87EA4A-3A28-5F3C-197A-0E45BA0C5429}"/>
              </a:ext>
            </a:extLst>
          </p:cNvPr>
          <p:cNvCxnSpPr>
            <a:cxnSpLocks/>
          </p:cNvCxnSpPr>
          <p:nvPr/>
        </p:nvCxnSpPr>
        <p:spPr>
          <a:xfrm>
            <a:off x="355600" y="1459515"/>
            <a:ext cx="946280" cy="0"/>
          </a:xfrm>
          <a:prstGeom prst="straightConnector1">
            <a:avLst/>
          </a:prstGeom>
          <a:ln w="57150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67066F3-7FA1-D6B9-0270-5C6C494B3FC2}"/>
              </a:ext>
            </a:extLst>
          </p:cNvPr>
          <p:cNvSpPr txBox="1"/>
          <p:nvPr/>
        </p:nvSpPr>
        <p:spPr>
          <a:xfrm>
            <a:off x="1408923" y="1305627"/>
            <a:ext cx="7900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i="1" dirty="0" err="1"/>
              <a:t>hriv:hasExactMeaning</a:t>
            </a:r>
            <a:r>
              <a:rPr lang="en-US" sz="1400" dirty="0"/>
              <a:t> to </a:t>
            </a:r>
            <a:r>
              <a:rPr lang="en-US" sz="1400" b="1" dirty="0"/>
              <a:t>ontology concepts</a:t>
            </a:r>
            <a:r>
              <a:rPr lang="en-US" sz="1400" dirty="0"/>
              <a:t> in the same hierarchy, </a:t>
            </a:r>
          </a:p>
          <a:p>
            <a:r>
              <a:rPr lang="en-US" sz="1400" dirty="0"/>
              <a:t>then they </a:t>
            </a:r>
            <a:r>
              <a:rPr lang="en-US" sz="1400" b="1" dirty="0">
                <a:solidFill>
                  <a:schemeClr val="accent1"/>
                </a:solidFill>
              </a:rPr>
              <a:t>partially align</a:t>
            </a:r>
            <a:r>
              <a:rPr lang="en-US" sz="1400" dirty="0"/>
              <a:t> (symmetric, irreflexive).</a:t>
            </a:r>
            <a:endParaRPr lang="en-NL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0ED846-D653-0BAE-B558-B4AEC6CFADA4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5D83142-86F4-37C0-6DEF-06F4DFB7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3d. Horizontal Relations: </a:t>
            </a:r>
            <a:r>
              <a:rPr lang="en-US" dirty="0" err="1"/>
              <a:t>partiallyAlign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96462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B5928-3E87-FA23-0505-C1178FBAB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222C62-7BB4-63F8-0EFA-2B498EAEF5A1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9C337C2A-3D46-5251-D677-50FA17EC20AE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EF6F7F6-0E9C-52CD-C30E-343780B4A7A6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46EC6F-549B-ED8F-A340-96EBDEB092E6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FE8CA024-3180-148F-CC73-1F1D3370C34B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B08E8F6-4067-6578-B036-8371F57E6DBF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95B2319-7C80-116F-9591-94051AAB4B12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C67271-D134-9C53-1602-C1FD102BEFAA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EF000440-23B0-2F10-FF7A-58F2068E6D86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0C5907-7D71-30D9-00B8-ADF6821678AD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06C26F0-9A7D-9560-3DC8-0A6CC76210D8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178E6341-1963-B985-70A4-40613845611E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21039A-DD40-F330-9706-FC16F0E24841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3D5A1A6-3ABF-A632-5CD6-F8DF46ECFCA1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979133-57A2-9601-141A-9747AAF2F4A0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DA6C14-7CAA-6F69-DFC2-9FE0D6576634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497BA63-D133-1573-70A0-793BF5EA9518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B0101310-EC7E-BCC5-3D33-D6CD06665B35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E9CDDE0-E26A-BEC0-ED3F-61F4E930395F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5A858D5-B555-C86C-5649-0CB13486D79F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A19B6BD-21A6-D1C2-8A89-19D32038638A}"/>
              </a:ext>
            </a:extLst>
          </p:cNvPr>
          <p:cNvCxnSpPr>
            <a:cxnSpLocks/>
          </p:cNvCxnSpPr>
          <p:nvPr/>
        </p:nvCxnSpPr>
        <p:spPr>
          <a:xfrm>
            <a:off x="355600" y="1109921"/>
            <a:ext cx="946280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7CAA0D6-0C3E-6E6F-28B2-BF1AAAE7CD7D}"/>
              </a:ext>
            </a:extLst>
          </p:cNvPr>
          <p:cNvSpPr txBox="1"/>
          <p:nvPr/>
        </p:nvSpPr>
        <p:spPr>
          <a:xfrm>
            <a:off x="1408923" y="956033"/>
            <a:ext cx="14847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</a:t>
            </a:r>
            <a:r>
              <a:rPr lang="en-US" sz="1400" dirty="0" err="1"/>
              <a:t>rdfs:subClassOf</a:t>
            </a:r>
            <a:endParaRPr lang="en-NL" sz="1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5B74F84-1BC2-E2D9-383F-D9F2C0FF9013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CA7A8A-682D-F644-03B2-9535D9CBD1FF}"/>
              </a:ext>
            </a:extLst>
          </p:cNvPr>
          <p:cNvCxnSpPr>
            <a:cxnSpLocks/>
            <a:stCxn id="22" idx="6"/>
            <a:endCxn id="28" idx="2"/>
          </p:cNvCxnSpPr>
          <p:nvPr/>
        </p:nvCxnSpPr>
        <p:spPr>
          <a:xfrm>
            <a:off x="3890963" y="2570552"/>
            <a:ext cx="94313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2B3621-06B1-EA33-21D3-9032C22B604B}"/>
              </a:ext>
            </a:extLst>
          </p:cNvPr>
          <p:cNvCxnSpPr>
            <a:cxnSpLocks/>
            <a:stCxn id="28" idx="6"/>
            <a:endCxn id="18" idx="2"/>
          </p:cNvCxnSpPr>
          <p:nvPr/>
        </p:nvCxnSpPr>
        <p:spPr>
          <a:xfrm>
            <a:off x="5243672" y="2570552"/>
            <a:ext cx="94313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A412DDE-D852-0723-5ECC-57782C2D3BC6}"/>
              </a:ext>
            </a:extLst>
          </p:cNvPr>
          <p:cNvCxnSpPr>
            <a:cxnSpLocks/>
            <a:stCxn id="2" idx="0"/>
            <a:endCxn id="22" idx="4"/>
          </p:cNvCxnSpPr>
          <p:nvPr/>
        </p:nvCxnSpPr>
        <p:spPr>
          <a:xfrm flipV="1">
            <a:off x="3686176" y="2775339"/>
            <a:ext cx="0" cy="109686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CAFA22-44D9-75E1-FACB-A6C3B369A5F9}"/>
              </a:ext>
            </a:extLst>
          </p:cNvPr>
          <p:cNvCxnSpPr>
            <a:cxnSpLocks/>
            <a:stCxn id="18" idx="6"/>
            <a:endCxn id="20" idx="2"/>
          </p:cNvCxnSpPr>
          <p:nvPr/>
        </p:nvCxnSpPr>
        <p:spPr>
          <a:xfrm>
            <a:off x="6596381" y="2570552"/>
            <a:ext cx="94313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0CAED49-2D44-0E8D-FB9C-C5BEE0801587}"/>
              </a:ext>
            </a:extLst>
          </p:cNvPr>
          <p:cNvCxnSpPr>
            <a:cxnSpLocks/>
            <a:stCxn id="24" idx="0"/>
            <a:endCxn id="20" idx="4"/>
          </p:cNvCxnSpPr>
          <p:nvPr/>
        </p:nvCxnSpPr>
        <p:spPr>
          <a:xfrm flipH="1" flipV="1">
            <a:off x="7744302" y="2775339"/>
            <a:ext cx="4762" cy="260330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EEA50DF-9239-C58E-44D0-63E29EB346A2}"/>
              </a:ext>
            </a:extLst>
          </p:cNvPr>
          <p:cNvCxnSpPr>
            <a:cxnSpLocks/>
            <a:stCxn id="2" idx="6"/>
            <a:endCxn id="24" idx="1"/>
          </p:cNvCxnSpPr>
          <p:nvPr/>
        </p:nvCxnSpPr>
        <p:spPr>
          <a:xfrm>
            <a:off x="3890963" y="4076992"/>
            <a:ext cx="3713294" cy="1361633"/>
          </a:xfrm>
          <a:prstGeom prst="straightConnector1">
            <a:avLst/>
          </a:prstGeom>
          <a:ln w="57150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38C864A-A200-039B-7B1B-6451E1818D64}"/>
              </a:ext>
            </a:extLst>
          </p:cNvPr>
          <p:cNvCxnSpPr>
            <a:cxnSpLocks/>
          </p:cNvCxnSpPr>
          <p:nvPr/>
        </p:nvCxnSpPr>
        <p:spPr>
          <a:xfrm>
            <a:off x="355600" y="1459515"/>
            <a:ext cx="946280" cy="0"/>
          </a:xfrm>
          <a:prstGeom prst="straightConnector1">
            <a:avLst/>
          </a:prstGeom>
          <a:ln w="57150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86DEBDA-4CFF-F8AF-B2C9-4F4127E489E3}"/>
              </a:ext>
            </a:extLst>
          </p:cNvPr>
          <p:cNvSpPr txBox="1"/>
          <p:nvPr/>
        </p:nvSpPr>
        <p:spPr>
          <a:xfrm>
            <a:off x="1408923" y="1305627"/>
            <a:ext cx="7900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If two </a:t>
            </a:r>
            <a:r>
              <a:rPr lang="en-US" sz="1400" b="1" dirty="0"/>
              <a:t>representation concepts </a:t>
            </a:r>
            <a:r>
              <a:rPr lang="en-US" sz="1400" i="1" dirty="0" err="1"/>
              <a:t>hriv:hasExactMeaning</a:t>
            </a:r>
            <a:r>
              <a:rPr lang="en-US" sz="1400" dirty="0"/>
              <a:t> to </a:t>
            </a:r>
            <a:r>
              <a:rPr lang="en-US" sz="1400" b="1" dirty="0"/>
              <a:t>ontology concepts</a:t>
            </a:r>
            <a:r>
              <a:rPr lang="en-US" sz="1400" dirty="0"/>
              <a:t> in the same hierarchy, </a:t>
            </a:r>
          </a:p>
          <a:p>
            <a:r>
              <a:rPr lang="en-US" sz="1400" dirty="0"/>
              <a:t>then they </a:t>
            </a:r>
            <a:r>
              <a:rPr lang="en-US" sz="1400" b="1" dirty="0">
                <a:solidFill>
                  <a:schemeClr val="accent1"/>
                </a:solidFill>
              </a:rPr>
              <a:t>partially align</a:t>
            </a:r>
            <a:r>
              <a:rPr lang="en-US" sz="1400" dirty="0"/>
              <a:t> (symmetric, irreflexive).</a:t>
            </a:r>
            <a:endParaRPr lang="en-NL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5ECFCC-E0EC-BC95-9154-578B682874BC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990D9A6-AEB8-4FD0-4A93-9A4CD6078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3d. Horizontal Relations: </a:t>
            </a:r>
            <a:r>
              <a:rPr lang="en-US" dirty="0" err="1"/>
              <a:t>partiallyAlign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71384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66E6E-938D-2129-3840-80CF15B96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 relations’ precedence/blocking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FCFD2-99EC-EB36-90F1-22A29A394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1189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800" b="1" dirty="0" err="1">
                <a:solidFill>
                  <a:schemeClr val="accent2"/>
                </a:solidFill>
              </a:rPr>
              <a:t>partiallyAligns</a:t>
            </a:r>
            <a:r>
              <a:rPr lang="en-US" sz="1800" b="1" dirty="0"/>
              <a:t> &gt; </a:t>
            </a:r>
            <a:r>
              <a:rPr lang="en-US" sz="1800" b="1" dirty="0" err="1">
                <a:solidFill>
                  <a:schemeClr val="accent2"/>
                </a:solidFill>
              </a:rPr>
              <a:t>mayAlign</a:t>
            </a:r>
            <a:r>
              <a:rPr lang="en-US" sz="1800" b="1" dirty="0"/>
              <a:t>: </a:t>
            </a:r>
          </a:p>
          <a:p>
            <a:pPr lvl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400" dirty="0" err="1"/>
              <a:t>mayAlign</a:t>
            </a:r>
            <a:r>
              <a:rPr lang="en-US" sz="1400" dirty="0"/>
              <a:t>(c1, c2) will not occur if </a:t>
            </a:r>
            <a:r>
              <a:rPr lang="en-US" sz="1400" dirty="0" err="1"/>
              <a:t>partiallyAligns</a:t>
            </a:r>
            <a:r>
              <a:rPr lang="en-US" sz="1400" dirty="0"/>
              <a:t>(c1, c2) occurs.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800" b="1" dirty="0">
                <a:solidFill>
                  <a:srgbClr val="00B050"/>
                </a:solidFill>
              </a:rPr>
              <a:t>aligns</a:t>
            </a:r>
            <a:r>
              <a:rPr lang="en-US" sz="1800" b="1" dirty="0"/>
              <a:t> &gt; </a:t>
            </a:r>
            <a:r>
              <a:rPr lang="en-US" sz="1800" b="1" dirty="0" err="1">
                <a:solidFill>
                  <a:schemeClr val="accent2"/>
                </a:solidFill>
              </a:rPr>
              <a:t>partiallyAligns</a:t>
            </a:r>
            <a:r>
              <a:rPr lang="en-US" sz="1800" b="1" dirty="0"/>
              <a:t>: </a:t>
            </a:r>
          </a:p>
          <a:p>
            <a:pPr lvl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400" dirty="0" err="1"/>
              <a:t>partiallyAligns</a:t>
            </a:r>
            <a:r>
              <a:rPr lang="en-US" sz="1400" dirty="0"/>
              <a:t>(c1, c2) will not occur if aligns(c1, c2) occurs.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800" b="1" dirty="0">
                <a:solidFill>
                  <a:srgbClr val="00B050"/>
                </a:solidFill>
              </a:rPr>
              <a:t>aligns</a:t>
            </a:r>
            <a:r>
              <a:rPr lang="en-US" sz="1800" b="1" dirty="0"/>
              <a:t> &gt; </a:t>
            </a:r>
            <a:r>
              <a:rPr lang="en-US" sz="1800" b="1" dirty="0" err="1">
                <a:solidFill>
                  <a:schemeClr val="accent2"/>
                </a:solidFill>
              </a:rPr>
              <a:t>mayAlign</a:t>
            </a:r>
            <a:r>
              <a:rPr lang="en-US" sz="1800" b="1" dirty="0"/>
              <a:t>: </a:t>
            </a:r>
          </a:p>
          <a:p>
            <a:pPr lvl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400" dirty="0" err="1"/>
              <a:t>mayAlign</a:t>
            </a:r>
            <a:r>
              <a:rPr lang="en-US" sz="1400" dirty="0"/>
              <a:t>(c1, c2) will not occur if aligns(c1, c2) occurs.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800" b="1" dirty="0" err="1">
                <a:solidFill>
                  <a:srgbClr val="FF0000"/>
                </a:solidFill>
              </a:rPr>
              <a:t>cannotAlign</a:t>
            </a:r>
            <a:r>
              <a:rPr lang="en-US" sz="1800" b="1" dirty="0"/>
              <a:t> &gt; </a:t>
            </a:r>
            <a:r>
              <a:rPr lang="en-US" sz="1800" b="1" dirty="0" err="1">
                <a:solidFill>
                  <a:schemeClr val="accent2"/>
                </a:solidFill>
              </a:rPr>
              <a:t>partiallyAligns</a:t>
            </a:r>
            <a:r>
              <a:rPr lang="en-US" sz="1800" b="1" dirty="0"/>
              <a:t>: </a:t>
            </a:r>
          </a:p>
          <a:p>
            <a:pPr lvl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400" dirty="0" err="1"/>
              <a:t>partiallyAligns</a:t>
            </a:r>
            <a:r>
              <a:rPr lang="en-US" sz="1400" dirty="0"/>
              <a:t>(c1, c2) will not occur if </a:t>
            </a:r>
            <a:r>
              <a:rPr lang="en-US" sz="1400" dirty="0" err="1"/>
              <a:t>cannotAlign</a:t>
            </a:r>
            <a:r>
              <a:rPr lang="en-US" sz="1400" dirty="0"/>
              <a:t>(c1, c2) occurs.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800" b="1" dirty="0" err="1">
                <a:solidFill>
                  <a:srgbClr val="FF0000"/>
                </a:solidFill>
              </a:rPr>
              <a:t>cannotAlign</a:t>
            </a:r>
            <a:r>
              <a:rPr lang="en-US" sz="1800" b="1" dirty="0"/>
              <a:t> &gt; </a:t>
            </a:r>
            <a:r>
              <a:rPr lang="en-US" sz="1800" b="1" dirty="0" err="1">
                <a:solidFill>
                  <a:schemeClr val="accent2"/>
                </a:solidFill>
              </a:rPr>
              <a:t>mayAlign</a:t>
            </a:r>
            <a:r>
              <a:rPr lang="en-US" sz="1800" b="1" dirty="0"/>
              <a:t>: </a:t>
            </a:r>
          </a:p>
          <a:p>
            <a:pPr lvl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1400" dirty="0" err="1"/>
              <a:t>mayAlign</a:t>
            </a:r>
            <a:r>
              <a:rPr lang="en-US" sz="1400" dirty="0"/>
              <a:t>(c1, c2) will not occur if </a:t>
            </a:r>
            <a:r>
              <a:rPr lang="en-US" sz="1400" dirty="0" err="1"/>
              <a:t>cannotAlign</a:t>
            </a:r>
            <a:r>
              <a:rPr lang="en-US" sz="1400" dirty="0"/>
              <a:t>(c1, c2) occurs.</a:t>
            </a:r>
            <a:endParaRPr lang="en-NL" sz="1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7E62A3-DEDB-17FB-7803-4A7728A0AF4D}"/>
              </a:ext>
            </a:extLst>
          </p:cNvPr>
          <p:cNvSpPr/>
          <p:nvPr/>
        </p:nvSpPr>
        <p:spPr>
          <a:xfrm>
            <a:off x="6550089" y="3354521"/>
            <a:ext cx="5355772" cy="3036948"/>
          </a:xfrm>
          <a:prstGeom prst="roundRect">
            <a:avLst>
              <a:gd name="adj" fmla="val 5914"/>
            </a:avLst>
          </a:prstGeom>
          <a:solidFill>
            <a:srgbClr val="FFB9B9"/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3576" tIns="163576" rIns="3854015" bIns="163576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000" b="1" kern="1200" dirty="0"/>
              <a:t>uncertain</a:t>
            </a:r>
            <a:endParaRPr lang="en-NL" sz="2000" b="1" kern="12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28DDAF0-26C9-8828-CE69-80322340985D}"/>
              </a:ext>
            </a:extLst>
          </p:cNvPr>
          <p:cNvSpPr/>
          <p:nvPr/>
        </p:nvSpPr>
        <p:spPr>
          <a:xfrm>
            <a:off x="6550089" y="1737552"/>
            <a:ext cx="5355772" cy="1385973"/>
          </a:xfrm>
          <a:custGeom>
            <a:avLst/>
            <a:gdLst>
              <a:gd name="csX0" fmla="*/ 0 w 5272055"/>
              <a:gd name="csY0" fmla="*/ 138597 h 1385973"/>
              <a:gd name="csX1" fmla="*/ 138597 w 5272055"/>
              <a:gd name="csY1" fmla="*/ 0 h 1385973"/>
              <a:gd name="csX2" fmla="*/ 5133458 w 5272055"/>
              <a:gd name="csY2" fmla="*/ 0 h 1385973"/>
              <a:gd name="csX3" fmla="*/ 5272055 w 5272055"/>
              <a:gd name="csY3" fmla="*/ 138597 h 1385973"/>
              <a:gd name="csX4" fmla="*/ 5272055 w 5272055"/>
              <a:gd name="csY4" fmla="*/ 1247376 h 1385973"/>
              <a:gd name="csX5" fmla="*/ 5133458 w 5272055"/>
              <a:gd name="csY5" fmla="*/ 1385973 h 1385973"/>
              <a:gd name="csX6" fmla="*/ 138597 w 5272055"/>
              <a:gd name="csY6" fmla="*/ 1385973 h 1385973"/>
              <a:gd name="csX7" fmla="*/ 0 w 5272055"/>
              <a:gd name="csY7" fmla="*/ 1247376 h 1385973"/>
              <a:gd name="csX8" fmla="*/ 0 w 5272055"/>
              <a:gd name="csY8" fmla="*/ 138597 h 1385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272055" h="1385973">
                <a:moveTo>
                  <a:pt x="0" y="138597"/>
                </a:moveTo>
                <a:cubicBezTo>
                  <a:pt x="0" y="62052"/>
                  <a:pt x="62052" y="0"/>
                  <a:pt x="138597" y="0"/>
                </a:cubicBezTo>
                <a:lnTo>
                  <a:pt x="5133458" y="0"/>
                </a:lnTo>
                <a:cubicBezTo>
                  <a:pt x="5210003" y="0"/>
                  <a:pt x="5272055" y="62052"/>
                  <a:pt x="5272055" y="138597"/>
                </a:cubicBezTo>
                <a:lnTo>
                  <a:pt x="5272055" y="1247376"/>
                </a:lnTo>
                <a:cubicBezTo>
                  <a:pt x="5272055" y="1323921"/>
                  <a:pt x="5210003" y="1385973"/>
                  <a:pt x="5133458" y="1385973"/>
                </a:cubicBezTo>
                <a:lnTo>
                  <a:pt x="138597" y="1385973"/>
                </a:lnTo>
                <a:cubicBezTo>
                  <a:pt x="62052" y="1385973"/>
                  <a:pt x="0" y="1323921"/>
                  <a:pt x="0" y="1247376"/>
                </a:cubicBezTo>
                <a:lnTo>
                  <a:pt x="0" y="138597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3576" tIns="163576" rIns="3854015" bIns="163576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 dirty="0"/>
              <a:t>certain</a:t>
            </a:r>
            <a:endParaRPr lang="en-NL" sz="2000" b="1" kern="12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86FBD50-E56A-9CEE-E2C5-5B19932F932D}"/>
              </a:ext>
            </a:extLst>
          </p:cNvPr>
          <p:cNvSpPr/>
          <p:nvPr/>
        </p:nvSpPr>
        <p:spPr>
          <a:xfrm>
            <a:off x="9103690" y="3470018"/>
            <a:ext cx="1732467" cy="1154978"/>
          </a:xfrm>
          <a:custGeom>
            <a:avLst/>
            <a:gdLst>
              <a:gd name="csX0" fmla="*/ 0 w 1732467"/>
              <a:gd name="csY0" fmla="*/ 115498 h 1154978"/>
              <a:gd name="csX1" fmla="*/ 115498 w 1732467"/>
              <a:gd name="csY1" fmla="*/ 0 h 1154978"/>
              <a:gd name="csX2" fmla="*/ 1616969 w 1732467"/>
              <a:gd name="csY2" fmla="*/ 0 h 1154978"/>
              <a:gd name="csX3" fmla="*/ 1732467 w 1732467"/>
              <a:gd name="csY3" fmla="*/ 115498 h 1154978"/>
              <a:gd name="csX4" fmla="*/ 1732467 w 1732467"/>
              <a:gd name="csY4" fmla="*/ 1039480 h 1154978"/>
              <a:gd name="csX5" fmla="*/ 1616969 w 1732467"/>
              <a:gd name="csY5" fmla="*/ 1154978 h 1154978"/>
              <a:gd name="csX6" fmla="*/ 115498 w 1732467"/>
              <a:gd name="csY6" fmla="*/ 1154978 h 1154978"/>
              <a:gd name="csX7" fmla="*/ 0 w 1732467"/>
              <a:gd name="csY7" fmla="*/ 1039480 h 1154978"/>
              <a:gd name="csX8" fmla="*/ 0 w 1732467"/>
              <a:gd name="csY8" fmla="*/ 115498 h 1154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32467" h="1154978">
                <a:moveTo>
                  <a:pt x="0" y="115498"/>
                </a:moveTo>
                <a:cubicBezTo>
                  <a:pt x="0" y="51710"/>
                  <a:pt x="51710" y="0"/>
                  <a:pt x="115498" y="0"/>
                </a:cubicBezTo>
                <a:lnTo>
                  <a:pt x="1616969" y="0"/>
                </a:lnTo>
                <a:cubicBezTo>
                  <a:pt x="1680757" y="0"/>
                  <a:pt x="1732467" y="51710"/>
                  <a:pt x="1732467" y="115498"/>
                </a:cubicBezTo>
                <a:lnTo>
                  <a:pt x="1732467" y="1039480"/>
                </a:lnTo>
                <a:cubicBezTo>
                  <a:pt x="1732467" y="1103268"/>
                  <a:pt x="1680757" y="1154978"/>
                  <a:pt x="1616969" y="1154978"/>
                </a:cubicBezTo>
                <a:lnTo>
                  <a:pt x="115498" y="1154978"/>
                </a:lnTo>
                <a:cubicBezTo>
                  <a:pt x="51710" y="1154978"/>
                  <a:pt x="0" y="1103268"/>
                  <a:pt x="0" y="1039480"/>
                </a:cubicBezTo>
                <a:lnTo>
                  <a:pt x="0" y="11549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838" tIns="113838" rIns="113838" bIns="113838" numCol="1" spcCol="1270" anchor="ctr" anchorCtr="0">
            <a:noAutofit/>
          </a:bodyPr>
          <a:lstStyle/>
          <a:p>
            <a:pPr marL="0" lvl="0" indent="0"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100" kern="1200" dirty="0" err="1"/>
              <a:t>partiallyAlign</a:t>
            </a:r>
            <a:endParaRPr lang="en-NL" sz="2100" kern="120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DDF3C28-C861-4223-596B-BC01BD03D2A2}"/>
              </a:ext>
            </a:extLst>
          </p:cNvPr>
          <p:cNvSpPr/>
          <p:nvPr/>
        </p:nvSpPr>
        <p:spPr>
          <a:xfrm>
            <a:off x="9103690" y="5086988"/>
            <a:ext cx="1732467" cy="1154978"/>
          </a:xfrm>
          <a:custGeom>
            <a:avLst/>
            <a:gdLst>
              <a:gd name="csX0" fmla="*/ 0 w 1732467"/>
              <a:gd name="csY0" fmla="*/ 115498 h 1154978"/>
              <a:gd name="csX1" fmla="*/ 115498 w 1732467"/>
              <a:gd name="csY1" fmla="*/ 0 h 1154978"/>
              <a:gd name="csX2" fmla="*/ 1616969 w 1732467"/>
              <a:gd name="csY2" fmla="*/ 0 h 1154978"/>
              <a:gd name="csX3" fmla="*/ 1732467 w 1732467"/>
              <a:gd name="csY3" fmla="*/ 115498 h 1154978"/>
              <a:gd name="csX4" fmla="*/ 1732467 w 1732467"/>
              <a:gd name="csY4" fmla="*/ 1039480 h 1154978"/>
              <a:gd name="csX5" fmla="*/ 1616969 w 1732467"/>
              <a:gd name="csY5" fmla="*/ 1154978 h 1154978"/>
              <a:gd name="csX6" fmla="*/ 115498 w 1732467"/>
              <a:gd name="csY6" fmla="*/ 1154978 h 1154978"/>
              <a:gd name="csX7" fmla="*/ 0 w 1732467"/>
              <a:gd name="csY7" fmla="*/ 1039480 h 1154978"/>
              <a:gd name="csX8" fmla="*/ 0 w 1732467"/>
              <a:gd name="csY8" fmla="*/ 115498 h 1154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32467" h="1154978">
                <a:moveTo>
                  <a:pt x="0" y="115498"/>
                </a:moveTo>
                <a:cubicBezTo>
                  <a:pt x="0" y="51710"/>
                  <a:pt x="51710" y="0"/>
                  <a:pt x="115498" y="0"/>
                </a:cubicBezTo>
                <a:lnTo>
                  <a:pt x="1616969" y="0"/>
                </a:lnTo>
                <a:cubicBezTo>
                  <a:pt x="1680757" y="0"/>
                  <a:pt x="1732467" y="51710"/>
                  <a:pt x="1732467" y="115498"/>
                </a:cubicBezTo>
                <a:lnTo>
                  <a:pt x="1732467" y="1039480"/>
                </a:lnTo>
                <a:cubicBezTo>
                  <a:pt x="1732467" y="1103268"/>
                  <a:pt x="1680757" y="1154978"/>
                  <a:pt x="1616969" y="1154978"/>
                </a:cubicBezTo>
                <a:lnTo>
                  <a:pt x="115498" y="1154978"/>
                </a:lnTo>
                <a:cubicBezTo>
                  <a:pt x="51710" y="1154978"/>
                  <a:pt x="0" y="1103268"/>
                  <a:pt x="0" y="1039480"/>
                </a:cubicBezTo>
                <a:lnTo>
                  <a:pt x="0" y="11549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838" tIns="113838" rIns="113838" bIns="113838" numCol="1" spcCol="1270" anchor="ctr" anchorCtr="0">
            <a:noAutofit/>
          </a:bodyPr>
          <a:lstStyle/>
          <a:p>
            <a:pPr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100" dirty="0" err="1"/>
              <a:t>mayAlign</a:t>
            </a:r>
            <a:endParaRPr lang="en-NL" sz="21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AFC3D00-9BD2-A1AF-BD71-0EE8B3194D1D}"/>
              </a:ext>
            </a:extLst>
          </p:cNvPr>
          <p:cNvGrpSpPr/>
          <p:nvPr/>
        </p:nvGrpSpPr>
        <p:grpSpPr>
          <a:xfrm>
            <a:off x="8165529" y="1853049"/>
            <a:ext cx="3608789" cy="1154978"/>
            <a:chOff x="8149910" y="1853049"/>
            <a:chExt cx="3608789" cy="115497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EE2E01F-882C-843A-22AD-0EAC7FABBBD8}"/>
                </a:ext>
              </a:extLst>
            </p:cNvPr>
            <p:cNvSpPr/>
            <p:nvPr/>
          </p:nvSpPr>
          <p:spPr>
            <a:xfrm>
              <a:off x="8149910" y="1853049"/>
              <a:ext cx="1732467" cy="1154978"/>
            </a:xfrm>
            <a:custGeom>
              <a:avLst/>
              <a:gdLst>
                <a:gd name="csX0" fmla="*/ 0 w 1732467"/>
                <a:gd name="csY0" fmla="*/ 115498 h 1154978"/>
                <a:gd name="csX1" fmla="*/ 115498 w 1732467"/>
                <a:gd name="csY1" fmla="*/ 0 h 1154978"/>
                <a:gd name="csX2" fmla="*/ 1616969 w 1732467"/>
                <a:gd name="csY2" fmla="*/ 0 h 1154978"/>
                <a:gd name="csX3" fmla="*/ 1732467 w 1732467"/>
                <a:gd name="csY3" fmla="*/ 115498 h 1154978"/>
                <a:gd name="csX4" fmla="*/ 1732467 w 1732467"/>
                <a:gd name="csY4" fmla="*/ 1039480 h 1154978"/>
                <a:gd name="csX5" fmla="*/ 1616969 w 1732467"/>
                <a:gd name="csY5" fmla="*/ 1154978 h 1154978"/>
                <a:gd name="csX6" fmla="*/ 115498 w 1732467"/>
                <a:gd name="csY6" fmla="*/ 1154978 h 1154978"/>
                <a:gd name="csX7" fmla="*/ 0 w 1732467"/>
                <a:gd name="csY7" fmla="*/ 1039480 h 1154978"/>
                <a:gd name="csX8" fmla="*/ 0 w 1732467"/>
                <a:gd name="csY8" fmla="*/ 115498 h 1154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32467" h="1154978">
                  <a:moveTo>
                    <a:pt x="0" y="115498"/>
                  </a:moveTo>
                  <a:cubicBezTo>
                    <a:pt x="0" y="51710"/>
                    <a:pt x="51710" y="0"/>
                    <a:pt x="115498" y="0"/>
                  </a:cubicBezTo>
                  <a:lnTo>
                    <a:pt x="1616969" y="0"/>
                  </a:lnTo>
                  <a:cubicBezTo>
                    <a:pt x="1680757" y="0"/>
                    <a:pt x="1732467" y="51710"/>
                    <a:pt x="1732467" y="115498"/>
                  </a:cubicBezTo>
                  <a:lnTo>
                    <a:pt x="1732467" y="1039480"/>
                  </a:lnTo>
                  <a:cubicBezTo>
                    <a:pt x="1732467" y="1103268"/>
                    <a:pt x="1680757" y="1154978"/>
                    <a:pt x="1616969" y="1154978"/>
                  </a:cubicBezTo>
                  <a:lnTo>
                    <a:pt x="115498" y="1154978"/>
                  </a:lnTo>
                  <a:cubicBezTo>
                    <a:pt x="51710" y="1154978"/>
                    <a:pt x="0" y="1103268"/>
                    <a:pt x="0" y="1039480"/>
                  </a:cubicBezTo>
                  <a:lnTo>
                    <a:pt x="0" y="115498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57150">
              <a:solidFill>
                <a:srgbClr val="00B05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838" tIns="113838" rIns="113838" bIns="113838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 dirty="0"/>
                <a:t>aligns</a:t>
              </a:r>
              <a:endParaRPr lang="en-NL" sz="2100" kern="120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3A4E26-21E5-0262-8716-D411C4C97BFA}"/>
                </a:ext>
              </a:extLst>
            </p:cNvPr>
            <p:cNvSpPr/>
            <p:nvPr/>
          </p:nvSpPr>
          <p:spPr>
            <a:xfrm>
              <a:off x="10026232" y="1853049"/>
              <a:ext cx="1732467" cy="1154978"/>
            </a:xfrm>
            <a:custGeom>
              <a:avLst/>
              <a:gdLst>
                <a:gd name="csX0" fmla="*/ 0 w 1732467"/>
                <a:gd name="csY0" fmla="*/ 115498 h 1154978"/>
                <a:gd name="csX1" fmla="*/ 115498 w 1732467"/>
                <a:gd name="csY1" fmla="*/ 0 h 1154978"/>
                <a:gd name="csX2" fmla="*/ 1616969 w 1732467"/>
                <a:gd name="csY2" fmla="*/ 0 h 1154978"/>
                <a:gd name="csX3" fmla="*/ 1732467 w 1732467"/>
                <a:gd name="csY3" fmla="*/ 115498 h 1154978"/>
                <a:gd name="csX4" fmla="*/ 1732467 w 1732467"/>
                <a:gd name="csY4" fmla="*/ 1039480 h 1154978"/>
                <a:gd name="csX5" fmla="*/ 1616969 w 1732467"/>
                <a:gd name="csY5" fmla="*/ 1154978 h 1154978"/>
                <a:gd name="csX6" fmla="*/ 115498 w 1732467"/>
                <a:gd name="csY6" fmla="*/ 1154978 h 1154978"/>
                <a:gd name="csX7" fmla="*/ 0 w 1732467"/>
                <a:gd name="csY7" fmla="*/ 1039480 h 1154978"/>
                <a:gd name="csX8" fmla="*/ 0 w 1732467"/>
                <a:gd name="csY8" fmla="*/ 115498 h 1154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32467" h="1154978">
                  <a:moveTo>
                    <a:pt x="0" y="115498"/>
                  </a:moveTo>
                  <a:cubicBezTo>
                    <a:pt x="0" y="51710"/>
                    <a:pt x="51710" y="0"/>
                    <a:pt x="115498" y="0"/>
                  </a:cubicBezTo>
                  <a:lnTo>
                    <a:pt x="1616969" y="0"/>
                  </a:lnTo>
                  <a:cubicBezTo>
                    <a:pt x="1680757" y="0"/>
                    <a:pt x="1732467" y="51710"/>
                    <a:pt x="1732467" y="115498"/>
                  </a:cubicBezTo>
                  <a:lnTo>
                    <a:pt x="1732467" y="1039480"/>
                  </a:lnTo>
                  <a:cubicBezTo>
                    <a:pt x="1732467" y="1103268"/>
                    <a:pt x="1680757" y="1154978"/>
                    <a:pt x="1616969" y="1154978"/>
                  </a:cubicBezTo>
                  <a:lnTo>
                    <a:pt x="115498" y="1154978"/>
                  </a:lnTo>
                  <a:cubicBezTo>
                    <a:pt x="51710" y="1154978"/>
                    <a:pt x="0" y="1103268"/>
                    <a:pt x="0" y="1039480"/>
                  </a:cubicBezTo>
                  <a:lnTo>
                    <a:pt x="0" y="115498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57150">
              <a:solidFill>
                <a:srgbClr val="FF000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3838" tIns="113838" rIns="113838" bIns="113838" numCol="1" spcCol="1270" anchor="ctr" anchorCtr="0">
              <a:noAutofit/>
            </a:bodyPr>
            <a:lstStyle/>
            <a:p>
              <a:pPr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100" dirty="0" err="1"/>
                <a:t>cannotAlign</a:t>
              </a:r>
              <a:endParaRPr lang="en-NL" sz="2100" dirty="0"/>
            </a:p>
          </p:txBody>
        </p:sp>
      </p:grp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FAAC7B74-D208-F0B8-1DED-92CCD21EC3D7}"/>
              </a:ext>
            </a:extLst>
          </p:cNvPr>
          <p:cNvSpPr/>
          <p:nvPr/>
        </p:nvSpPr>
        <p:spPr>
          <a:xfrm rot="5400000">
            <a:off x="9843960" y="2366610"/>
            <a:ext cx="251927" cy="1744825"/>
          </a:xfrm>
          <a:prstGeom prst="chevron">
            <a:avLst>
              <a:gd name="adj" fmla="val 6851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000FEF4F-27A0-918C-F367-BC61F490E52C}"/>
              </a:ext>
            </a:extLst>
          </p:cNvPr>
          <p:cNvSpPr/>
          <p:nvPr/>
        </p:nvSpPr>
        <p:spPr>
          <a:xfrm rot="5400000">
            <a:off x="9843960" y="3983579"/>
            <a:ext cx="251927" cy="1744825"/>
          </a:xfrm>
          <a:prstGeom prst="chevron">
            <a:avLst>
              <a:gd name="adj" fmla="val 6851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729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EF136-E473-94BA-08D3-E5F138491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08203-2E4A-2675-AAA5-2C471B7C1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0F2DA-6E8B-5DE1-D34D-E52773013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Types of Concepts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Vertical Relations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Horizontal Relations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aligns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cannotAlign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mayAlign</a:t>
            </a:r>
            <a:endParaRPr lang="en-US" dirty="0"/>
          </a:p>
          <a:p>
            <a:pPr marL="914400" lvl="1" indent="-457200">
              <a:buFont typeface="+mj-lt"/>
              <a:buAutoNum type="alphaLcPeriod"/>
            </a:pPr>
            <a:r>
              <a:rPr lang="en-US" dirty="0" err="1"/>
              <a:t>partiallyAlign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Inconsistencies</a:t>
            </a:r>
            <a:endParaRPr lang="en-NL" b="1" dirty="0"/>
          </a:p>
        </p:txBody>
      </p:sp>
    </p:spTree>
    <p:extLst>
      <p:ext uri="{BB962C8B-B14F-4D97-AF65-F5344CB8AC3E}">
        <p14:creationId xmlns:p14="http://schemas.microsoft.com/office/powerpoint/2010/main" val="27384192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C9C74-4341-272C-C26F-9652DDA42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8079A-B4BC-CFB2-3E90-F605802CE2E9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D4FA1C59-C736-EC5C-C389-C85FF77F5D77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7C63CAD6-053D-F767-0F50-1F9FC58175DD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EE62CE-DA52-CA33-FD63-C5D649C404F5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CDE0106E-617A-923A-2456-BFC53534BA66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54C3C5-2CA7-93F7-B202-C884BF25FCAB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EBD5896-8E5B-31B5-C5E9-B3EDDE9E702E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68C9CC-21C4-A8D9-1432-0B53F9BF50A7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1F68FF5D-3C9A-CDF4-CFFF-B6BD144D0834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CE0DD2-44AF-9D47-C267-F794F6A8B79D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7E986237-0088-D6C3-D8D0-FA8A81FD9F88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C860BF-D854-CC7F-0780-9E7F0AD58F9B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D48B702-6D42-BA92-0C0F-4D2366B881A4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ECA6B04-E318-1505-B1DF-409FB1442D03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09683B-A078-A87C-5A8D-91744CA56CDC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415C60B-D71C-FD2D-8A62-011A8EE394F5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3541369" y="2715358"/>
            <a:ext cx="132368" cy="136163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78CDB5-542A-C9D2-A18A-457C908541FA}"/>
              </a:ext>
            </a:extLst>
          </p:cNvPr>
          <p:cNvCxnSpPr>
            <a:cxnSpLocks/>
            <a:endCxn id="22" idx="5"/>
          </p:cNvCxnSpPr>
          <p:nvPr/>
        </p:nvCxnSpPr>
        <p:spPr>
          <a:xfrm flipV="1">
            <a:off x="3686175" y="2715358"/>
            <a:ext cx="144807" cy="136163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0EAF0F9D-9256-0B74-1698-AC960F354324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CBA08A7-EECC-8AA2-2B6A-DAB8E792FC31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52766B4-CF3C-ECDA-7D8C-3EAE912E6CE4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E99516-201C-2CA1-10E7-CD2AF14CA516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4894078" y="2715358"/>
            <a:ext cx="144806" cy="286807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0B81608-FD01-560E-6FDC-CD395369F75C}"/>
              </a:ext>
            </a:extLst>
          </p:cNvPr>
          <p:cNvCxnSpPr>
            <a:cxnSpLocks/>
            <a:endCxn id="28" idx="5"/>
          </p:cNvCxnSpPr>
          <p:nvPr/>
        </p:nvCxnSpPr>
        <p:spPr>
          <a:xfrm flipV="1">
            <a:off x="5065446" y="2715358"/>
            <a:ext cx="118245" cy="286807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306E8B75-DA98-F80C-8A0C-D3384176FE63}"/>
              </a:ext>
            </a:extLst>
          </p:cNvPr>
          <p:cNvSpPr/>
          <p:nvPr/>
        </p:nvSpPr>
        <p:spPr>
          <a:xfrm>
            <a:off x="3481388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0418487-45A6-C992-B73F-160F2BFEF84B}"/>
              </a:ext>
            </a:extLst>
          </p:cNvPr>
          <p:cNvSpPr/>
          <p:nvPr/>
        </p:nvSpPr>
        <p:spPr>
          <a:xfrm>
            <a:off x="6182170" y="3872204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2" name="&quot;Not Allowed&quot; Symbol 31">
            <a:extLst>
              <a:ext uri="{FF2B5EF4-FFF2-40B4-BE49-F238E27FC236}">
                <a16:creationId xmlns:a16="http://schemas.microsoft.com/office/drawing/2014/main" id="{E3FFFE87-1EE7-CEFA-47AA-B425B2BA454F}"/>
              </a:ext>
            </a:extLst>
          </p:cNvPr>
          <p:cNvSpPr/>
          <p:nvPr/>
        </p:nvSpPr>
        <p:spPr>
          <a:xfrm>
            <a:off x="3154627" y="3545443"/>
            <a:ext cx="1063096" cy="1063096"/>
          </a:xfrm>
          <a:prstGeom prst="noSmoking">
            <a:avLst>
              <a:gd name="adj" fmla="val 84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0000"/>
              </a:solidFill>
            </a:endParaRPr>
          </a:p>
        </p:txBody>
      </p:sp>
      <p:sp>
        <p:nvSpPr>
          <p:cNvPr id="33" name="&quot;Not Allowed&quot; Symbol 32">
            <a:extLst>
              <a:ext uri="{FF2B5EF4-FFF2-40B4-BE49-F238E27FC236}">
                <a16:creationId xmlns:a16="http://schemas.microsoft.com/office/drawing/2014/main" id="{D28EB8A2-3664-9E81-C56F-AB7E8FD2306D}"/>
              </a:ext>
            </a:extLst>
          </p:cNvPr>
          <p:cNvSpPr/>
          <p:nvPr/>
        </p:nvSpPr>
        <p:spPr>
          <a:xfrm>
            <a:off x="871182" y="862065"/>
            <a:ext cx="491400" cy="491400"/>
          </a:xfrm>
          <a:prstGeom prst="noSmoking">
            <a:avLst>
              <a:gd name="adj" fmla="val 84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ADB3A9-A099-308E-9540-CAEFED04FF3B}"/>
              </a:ext>
            </a:extLst>
          </p:cNvPr>
          <p:cNvSpPr txBox="1"/>
          <p:nvPr/>
        </p:nvSpPr>
        <p:spPr>
          <a:xfrm>
            <a:off x="1362582" y="956032"/>
            <a:ext cx="10707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Representation concepts </a:t>
            </a:r>
            <a:r>
              <a:rPr lang="en-US" sz="1400" dirty="0"/>
              <a:t>are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b="1" dirty="0">
                <a:solidFill>
                  <a:srgbClr val="FF0000"/>
                </a:solidFill>
              </a:rPr>
              <a:t>inconsistent </a:t>
            </a:r>
            <a:r>
              <a:rPr lang="en-US" sz="1400" dirty="0"/>
              <a:t>when they </a:t>
            </a:r>
            <a:r>
              <a:rPr lang="en-US" sz="1400" i="1" dirty="0" err="1"/>
              <a:t>hriv:hasExactMeaning</a:t>
            </a:r>
            <a:r>
              <a:rPr lang="en-US" sz="1400" dirty="0"/>
              <a:t> and </a:t>
            </a:r>
            <a:r>
              <a:rPr lang="en-US" sz="1400" dirty="0">
                <a:solidFill>
                  <a:srgbClr val="FF0000"/>
                </a:solidFill>
              </a:rPr>
              <a:t>NOT </a:t>
            </a:r>
            <a:r>
              <a:rPr lang="en-US" sz="1400" i="1" dirty="0" err="1"/>
              <a:t>hriv:hasExactMeaning</a:t>
            </a:r>
            <a:r>
              <a:rPr lang="en-US" sz="1400" i="1" dirty="0"/>
              <a:t> </a:t>
            </a:r>
            <a:r>
              <a:rPr lang="en-US" sz="1400" dirty="0"/>
              <a:t>a same </a:t>
            </a:r>
            <a:r>
              <a:rPr lang="en-US" sz="1400" b="1" dirty="0"/>
              <a:t>ontology concept</a:t>
            </a:r>
            <a:r>
              <a:rPr lang="en-US" sz="1400" dirty="0"/>
              <a:t>.</a:t>
            </a:r>
            <a:endParaRPr lang="en-NL" sz="1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285FE78-7B60-0CD8-1BC8-198DC80B659F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1" name="&quot;Not Allowed&quot; Symbol 30">
            <a:extLst>
              <a:ext uri="{FF2B5EF4-FFF2-40B4-BE49-F238E27FC236}">
                <a16:creationId xmlns:a16="http://schemas.microsoft.com/office/drawing/2014/main" id="{C45CD010-BF2C-4753-66D1-FF44B424B657}"/>
              </a:ext>
            </a:extLst>
          </p:cNvPr>
          <p:cNvSpPr/>
          <p:nvPr/>
        </p:nvSpPr>
        <p:spPr>
          <a:xfrm>
            <a:off x="4507337" y="5051883"/>
            <a:ext cx="1063096" cy="1063096"/>
          </a:xfrm>
          <a:prstGeom prst="noSmoking">
            <a:avLst>
              <a:gd name="adj" fmla="val 84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B164B-2560-7CED-AA94-FAC0BEBE26F8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1402DA5-D9EE-CCB6-6F4A-02FEE067E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4. Inconsistencies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73835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D0B14-C508-E28D-8747-1EFF0A355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038DB62-56B6-B23C-A1CF-0DF7FA922BEA}"/>
              </a:ext>
            </a:extLst>
          </p:cNvPr>
          <p:cNvSpPr/>
          <p:nvPr/>
        </p:nvSpPr>
        <p:spPr>
          <a:xfrm>
            <a:off x="2443264" y="4714095"/>
            <a:ext cx="7327053" cy="23116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5F830636-04D0-E38B-BB03-E5699AE96753}"/>
              </a:ext>
            </a:extLst>
          </p:cNvPr>
          <p:cNvSpPr/>
          <p:nvPr/>
        </p:nvSpPr>
        <p:spPr>
          <a:xfrm rot="5400000" flipV="1">
            <a:off x="9104527" y="4087598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165567A3-FBD0-C8FF-29DC-4C3F95879523}"/>
              </a:ext>
            </a:extLst>
          </p:cNvPr>
          <p:cNvSpPr/>
          <p:nvPr/>
        </p:nvSpPr>
        <p:spPr>
          <a:xfrm rot="5400000" flipV="1">
            <a:off x="320145" y="4110873"/>
            <a:ext cx="2781717" cy="1464520"/>
          </a:xfrm>
          <a:prstGeom prst="parallelogram">
            <a:avLst>
              <a:gd name="adj" fmla="val 878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6CA49D-7ACD-C4DC-F612-61A7A9D898E2}"/>
              </a:ext>
            </a:extLst>
          </p:cNvPr>
          <p:cNvCxnSpPr/>
          <p:nvPr/>
        </p:nvCxnSpPr>
        <p:spPr>
          <a:xfrm>
            <a:off x="2428875" y="1934520"/>
            <a:ext cx="0" cy="301073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F83634C6-126E-C7B7-9F20-7B7A2602402C}"/>
              </a:ext>
            </a:extLst>
          </p:cNvPr>
          <p:cNvSpPr/>
          <p:nvPr/>
        </p:nvSpPr>
        <p:spPr>
          <a:xfrm>
            <a:off x="981075" y="1934520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1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621F82-1DF0-D2AE-78AA-5383867C6B5C}"/>
              </a:ext>
            </a:extLst>
          </p:cNvPr>
          <p:cNvSpPr/>
          <p:nvPr/>
        </p:nvSpPr>
        <p:spPr>
          <a:xfrm>
            <a:off x="3481388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486DAF4-B268-53B8-A2AF-B5B32BCD2268}"/>
              </a:ext>
            </a:extLst>
          </p:cNvPr>
          <p:cNvSpPr/>
          <p:nvPr/>
        </p:nvSpPr>
        <p:spPr>
          <a:xfrm>
            <a:off x="4834097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DAA345-5620-31B3-AB1C-339F47D67E4E}"/>
              </a:ext>
            </a:extLst>
          </p:cNvPr>
          <p:cNvSpPr txBox="1"/>
          <p:nvPr/>
        </p:nvSpPr>
        <p:spPr>
          <a:xfrm>
            <a:off x="9356208" y="193452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Ontology Concepts</a:t>
            </a:r>
            <a:endParaRPr lang="en-NL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2C2A767C-C90B-35AD-A5E8-CB8759B8B2CB}"/>
              </a:ext>
            </a:extLst>
          </p:cNvPr>
          <p:cNvSpPr/>
          <p:nvPr/>
        </p:nvSpPr>
        <p:spPr>
          <a:xfrm>
            <a:off x="981075" y="3439888"/>
            <a:ext cx="10229850" cy="1276350"/>
          </a:xfrm>
          <a:prstGeom prst="parallelogram">
            <a:avLst>
              <a:gd name="adj" fmla="val 113806"/>
            </a:avLst>
          </a:prstGeom>
          <a:solidFill>
            <a:srgbClr val="FFE4D9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E4D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0477CB-E3C9-5B7A-C5F8-4AA31E96BB70}"/>
              </a:ext>
            </a:extLst>
          </p:cNvPr>
          <p:cNvSpPr txBox="1"/>
          <p:nvPr/>
        </p:nvSpPr>
        <p:spPr>
          <a:xfrm>
            <a:off x="9351399" y="3439888"/>
            <a:ext cx="169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Standard Concepts</a:t>
            </a:r>
            <a:endParaRPr lang="en-NL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B7EF99E-381D-0BF1-BC3A-D1E25E817CE6}"/>
              </a:ext>
            </a:extLst>
          </p:cNvPr>
          <p:cNvSpPr/>
          <p:nvPr/>
        </p:nvSpPr>
        <p:spPr>
          <a:xfrm>
            <a:off x="3481388" y="3872949"/>
            <a:ext cx="409575" cy="40957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2F325C17-852B-02AA-EECE-7C245DCA9904}"/>
              </a:ext>
            </a:extLst>
          </p:cNvPr>
          <p:cNvSpPr/>
          <p:nvPr/>
        </p:nvSpPr>
        <p:spPr>
          <a:xfrm>
            <a:off x="981075" y="4945256"/>
            <a:ext cx="10229850" cy="1276350"/>
          </a:xfrm>
          <a:prstGeom prst="parallelogram">
            <a:avLst>
              <a:gd name="adj" fmla="val 113806"/>
            </a:avLst>
          </a:prstGeom>
          <a:solidFill>
            <a:schemeClr val="accent6">
              <a:lumMod val="40000"/>
              <a:lumOff val="60000"/>
              <a:alpha val="2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8E209F-EA91-3169-6E5C-FC247FAFA269}"/>
              </a:ext>
            </a:extLst>
          </p:cNvPr>
          <p:cNvSpPr txBox="1"/>
          <p:nvPr/>
        </p:nvSpPr>
        <p:spPr>
          <a:xfrm>
            <a:off x="9465212" y="4945256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>
                <a:latin typeface="Atkinson Hyperlegible" pitchFamily="2" charset="0"/>
              </a:defRPr>
            </a:lvl1pPr>
          </a:lstStyle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</a:rPr>
              <a:t>Model Concepts</a:t>
            </a:r>
            <a:endParaRPr lang="en-NL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C7D23C-5491-2A7A-0DDA-942F5B331E25}"/>
              </a:ext>
            </a:extLst>
          </p:cNvPr>
          <p:cNvSpPr/>
          <p:nvPr/>
        </p:nvSpPr>
        <p:spPr>
          <a:xfrm>
            <a:off x="4834097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72C973-14B9-CF5F-6BF3-7959D1C8F23E}"/>
              </a:ext>
            </a:extLst>
          </p:cNvPr>
          <p:cNvCxnSpPr/>
          <p:nvPr/>
        </p:nvCxnSpPr>
        <p:spPr>
          <a:xfrm>
            <a:off x="981074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21011A4-3C32-05D6-827B-4CEC23C3AC99}"/>
              </a:ext>
            </a:extLst>
          </p:cNvPr>
          <p:cNvCxnSpPr/>
          <p:nvPr/>
        </p:nvCxnSpPr>
        <p:spPr>
          <a:xfrm>
            <a:off x="11218118" y="193452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FDE167-0865-A6C9-1498-7AB16D837294}"/>
              </a:ext>
            </a:extLst>
          </p:cNvPr>
          <p:cNvCxnSpPr/>
          <p:nvPr/>
        </p:nvCxnSpPr>
        <p:spPr>
          <a:xfrm>
            <a:off x="9760792" y="3210870"/>
            <a:ext cx="0" cy="30107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0A096A-B212-C7E2-2305-BFA67D7CAB2B}"/>
              </a:ext>
            </a:extLst>
          </p:cNvPr>
          <p:cNvCxnSpPr>
            <a:cxnSpLocks/>
            <a:stCxn id="2" idx="0"/>
            <a:endCxn id="22" idx="4"/>
          </p:cNvCxnSpPr>
          <p:nvPr/>
        </p:nvCxnSpPr>
        <p:spPr>
          <a:xfrm flipV="1">
            <a:off x="3686176" y="2775339"/>
            <a:ext cx="0" cy="109761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9F69D54-5CE6-5608-989F-D6C32A50ED18}"/>
              </a:ext>
            </a:extLst>
          </p:cNvPr>
          <p:cNvCxnSpPr>
            <a:cxnSpLocks/>
            <a:stCxn id="2" idx="7"/>
            <a:endCxn id="28" idx="3"/>
          </p:cNvCxnSpPr>
          <p:nvPr/>
        </p:nvCxnSpPr>
        <p:spPr>
          <a:xfrm flipV="1">
            <a:off x="3830982" y="2715358"/>
            <a:ext cx="1063096" cy="121757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3CB16BD-68B9-D60E-5132-1BF154A9871C}"/>
              </a:ext>
            </a:extLst>
          </p:cNvPr>
          <p:cNvSpPr/>
          <p:nvPr/>
        </p:nvSpPr>
        <p:spPr>
          <a:xfrm>
            <a:off x="6186806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A9A423A-9E36-0667-0B6E-DA0AF5B8A858}"/>
              </a:ext>
            </a:extLst>
          </p:cNvPr>
          <p:cNvSpPr/>
          <p:nvPr/>
        </p:nvSpPr>
        <p:spPr>
          <a:xfrm>
            <a:off x="7539514" y="2365764"/>
            <a:ext cx="409575" cy="4095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F48882D-BC9A-9B5E-42A6-8C5A994B92C3}"/>
              </a:ext>
            </a:extLst>
          </p:cNvPr>
          <p:cNvSpPr/>
          <p:nvPr/>
        </p:nvSpPr>
        <p:spPr>
          <a:xfrm>
            <a:off x="7544276" y="5378644"/>
            <a:ext cx="409575" cy="40957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D3B6AEA-6CC0-D448-3B14-1020C7FBD284}"/>
              </a:ext>
            </a:extLst>
          </p:cNvPr>
          <p:cNvCxnSpPr>
            <a:cxnSpLocks/>
            <a:stCxn id="6" idx="7"/>
            <a:endCxn id="18" idx="4"/>
          </p:cNvCxnSpPr>
          <p:nvPr/>
        </p:nvCxnSpPr>
        <p:spPr>
          <a:xfrm flipV="1">
            <a:off x="5183691" y="2775339"/>
            <a:ext cx="1207903" cy="2663286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01FFABC-D176-3833-871C-B99C708B9284}"/>
              </a:ext>
            </a:extLst>
          </p:cNvPr>
          <p:cNvCxnSpPr>
            <a:cxnSpLocks/>
            <a:stCxn id="6" idx="7"/>
            <a:endCxn id="20" idx="3"/>
          </p:cNvCxnSpPr>
          <p:nvPr/>
        </p:nvCxnSpPr>
        <p:spPr>
          <a:xfrm flipV="1">
            <a:off x="5183691" y="2715358"/>
            <a:ext cx="2415804" cy="272326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&quot;Not Allowed&quot; Symbol 28">
            <a:extLst>
              <a:ext uri="{FF2B5EF4-FFF2-40B4-BE49-F238E27FC236}">
                <a16:creationId xmlns:a16="http://schemas.microsoft.com/office/drawing/2014/main" id="{BAAA7EFB-4F5E-B041-9566-933E12391E08}"/>
              </a:ext>
            </a:extLst>
          </p:cNvPr>
          <p:cNvSpPr/>
          <p:nvPr/>
        </p:nvSpPr>
        <p:spPr>
          <a:xfrm>
            <a:off x="3154627" y="3546188"/>
            <a:ext cx="1063096" cy="1063096"/>
          </a:xfrm>
          <a:prstGeom prst="noSmoking">
            <a:avLst>
              <a:gd name="adj" fmla="val 84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0000"/>
              </a:solidFill>
            </a:endParaRPr>
          </a:p>
        </p:txBody>
      </p:sp>
      <p:sp>
        <p:nvSpPr>
          <p:cNvPr id="31" name="&quot;Not Allowed&quot; Symbol 30">
            <a:extLst>
              <a:ext uri="{FF2B5EF4-FFF2-40B4-BE49-F238E27FC236}">
                <a16:creationId xmlns:a16="http://schemas.microsoft.com/office/drawing/2014/main" id="{2E8A4990-8FD6-86BE-7B18-F6C96BAFA2C2}"/>
              </a:ext>
            </a:extLst>
          </p:cNvPr>
          <p:cNvSpPr/>
          <p:nvPr/>
        </p:nvSpPr>
        <p:spPr>
          <a:xfrm>
            <a:off x="4507337" y="5051883"/>
            <a:ext cx="1063096" cy="1063096"/>
          </a:xfrm>
          <a:prstGeom prst="noSmoking">
            <a:avLst>
              <a:gd name="adj" fmla="val 84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51C0D8-96B2-19C4-D959-D1AC20E3BAA3}"/>
              </a:ext>
            </a:extLst>
          </p:cNvPr>
          <p:cNvSpPr txBox="1"/>
          <p:nvPr/>
        </p:nvSpPr>
        <p:spPr>
          <a:xfrm>
            <a:off x="1362582" y="956032"/>
            <a:ext cx="8765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Representation concepts </a:t>
            </a:r>
            <a:r>
              <a:rPr lang="en-US" sz="1400" dirty="0"/>
              <a:t>are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b="1" dirty="0">
                <a:solidFill>
                  <a:srgbClr val="FF0000"/>
                </a:solidFill>
              </a:rPr>
              <a:t>inconsistent </a:t>
            </a:r>
            <a:r>
              <a:rPr lang="en-US" sz="1400" dirty="0"/>
              <a:t>when they </a:t>
            </a:r>
            <a:r>
              <a:rPr lang="en-US" sz="1400" i="1" dirty="0" err="1"/>
              <a:t>hriv:hasExactMeaning</a:t>
            </a:r>
            <a:r>
              <a:rPr lang="en-US" sz="1400" dirty="0"/>
              <a:t> two different </a:t>
            </a:r>
            <a:r>
              <a:rPr lang="en-US" sz="1400" b="1" dirty="0"/>
              <a:t>ontology concepts</a:t>
            </a:r>
            <a:r>
              <a:rPr lang="en-US" sz="1400" dirty="0"/>
              <a:t>.</a:t>
            </a:r>
            <a:endParaRPr lang="en-NL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662FBD-665B-DBA7-FA74-D7B099892CB6}"/>
              </a:ext>
            </a:extLst>
          </p:cNvPr>
          <p:cNvSpPr txBox="1"/>
          <p:nvPr/>
        </p:nvSpPr>
        <p:spPr>
          <a:xfrm rot="5400000">
            <a:off x="10280274" y="4128635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NL"/>
            </a:defPPr>
            <a:lvl1pPr>
              <a:defRPr sz="1400">
                <a:solidFill>
                  <a:schemeClr val="tx2">
                    <a:lumMod val="90000"/>
                    <a:lumOff val="10000"/>
                  </a:schemeClr>
                </a:solidFill>
                <a:latin typeface="Atkinson Hyperlegible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 Concepts</a:t>
            </a:r>
            <a:endParaRPr lang="en-NL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5869269-9384-7D72-515C-56A7F27EA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78"/>
            <a:ext cx="10515600" cy="475808"/>
          </a:xfrm>
        </p:spPr>
        <p:txBody>
          <a:bodyPr>
            <a:normAutofit fontScale="90000"/>
          </a:bodyPr>
          <a:lstStyle/>
          <a:p>
            <a:r>
              <a:rPr lang="en-US" dirty="0"/>
              <a:t>4. Inconsistencies</a:t>
            </a:r>
            <a:endParaRPr lang="en-NL" dirty="0"/>
          </a:p>
        </p:txBody>
      </p:sp>
      <p:sp>
        <p:nvSpPr>
          <p:cNvPr id="10" name="&quot;Not Allowed&quot; Symbol 9">
            <a:extLst>
              <a:ext uri="{FF2B5EF4-FFF2-40B4-BE49-F238E27FC236}">
                <a16:creationId xmlns:a16="http://schemas.microsoft.com/office/drawing/2014/main" id="{6495BDD9-98A5-CE30-D2F3-BBE9D3AF6580}"/>
              </a:ext>
            </a:extLst>
          </p:cNvPr>
          <p:cNvSpPr/>
          <p:nvPr/>
        </p:nvSpPr>
        <p:spPr>
          <a:xfrm>
            <a:off x="871182" y="862065"/>
            <a:ext cx="491400" cy="491400"/>
          </a:xfrm>
          <a:prstGeom prst="noSmoking">
            <a:avLst>
              <a:gd name="adj" fmla="val 845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25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31774-410C-52B7-A206-4E1BFA533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28AED-ACE7-5892-636E-EBDFB4E3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</a:t>
            </a:r>
            <a:endParaRPr lang="en-NL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0E2F155-AA34-827D-1F68-69FC14EA514B}"/>
              </a:ext>
            </a:extLst>
          </p:cNvPr>
          <p:cNvGrpSpPr/>
          <p:nvPr/>
        </p:nvGrpSpPr>
        <p:grpSpPr>
          <a:xfrm>
            <a:off x="735563" y="1811354"/>
            <a:ext cx="10720872" cy="4325763"/>
            <a:chOff x="735563" y="1811354"/>
            <a:chExt cx="10720872" cy="432576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2EFCF1B-FDA5-0D63-018F-3E76D1797196}"/>
                </a:ext>
              </a:extLst>
            </p:cNvPr>
            <p:cNvSpPr/>
            <p:nvPr/>
          </p:nvSpPr>
          <p:spPr>
            <a:xfrm>
              <a:off x="3825551" y="1857373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/>
                <a:t>discovers semantically compatible concepts across datasets, models, and standards for reuse in research.</a:t>
              </a:r>
              <a:endParaRPr lang="en-NL" sz="1200" kern="12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03FCBA-E8D9-C5DE-F3F7-D19FCFB54A73}"/>
                </a:ext>
              </a:extLst>
            </p:cNvPr>
            <p:cNvSpPr/>
            <p:nvPr/>
          </p:nvSpPr>
          <p:spPr>
            <a:xfrm>
              <a:off x="735563" y="1811354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kern="1200" dirty="0"/>
                <a:t>Researcher</a:t>
              </a:r>
              <a:endParaRPr lang="en-NL" sz="2000" b="0" kern="12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C1732BB-982C-44A2-5E8A-CFAA07157C4B}"/>
                </a:ext>
              </a:extLst>
            </p:cNvPr>
            <p:cNvSpPr/>
            <p:nvPr/>
          </p:nvSpPr>
          <p:spPr>
            <a:xfrm>
              <a:off x="3825551" y="2340570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/>
                <a:t>aligns local data elements to shared meanings and maintains semantic quality over time.</a:t>
              </a:r>
              <a:endParaRPr lang="en-NL" sz="1200" kern="120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4BC8D96-0BA4-55A4-7F2A-39329D37081D}"/>
                </a:ext>
              </a:extLst>
            </p:cNvPr>
            <p:cNvSpPr/>
            <p:nvPr/>
          </p:nvSpPr>
          <p:spPr>
            <a:xfrm>
              <a:off x="735563" y="2294551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kern="1200" dirty="0"/>
                <a:t>Data Steward</a:t>
              </a:r>
              <a:endParaRPr lang="en-NL" sz="2000" b="0" kern="120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CA877C0-4F42-8871-96AE-CB94B9FDC97E}"/>
                </a:ext>
              </a:extLst>
            </p:cNvPr>
            <p:cNvSpPr/>
            <p:nvPr/>
          </p:nvSpPr>
          <p:spPr>
            <a:xfrm>
              <a:off x="3825551" y="2823767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/>
                <a:t>validates whether mappings and inferred relations are clinically meaningful and safe to use.</a:t>
              </a:r>
              <a:endParaRPr lang="en-NL" sz="1200" kern="12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EB7725E-5819-D529-C916-D688C949D085}"/>
                </a:ext>
              </a:extLst>
            </p:cNvPr>
            <p:cNvSpPr/>
            <p:nvPr/>
          </p:nvSpPr>
          <p:spPr>
            <a:xfrm>
              <a:off x="735563" y="2777748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kern="1200" dirty="0"/>
                <a:t>Clinical Informatician</a:t>
              </a:r>
              <a:endParaRPr lang="en-NL" sz="2000" b="0" kern="120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4D2FC52-60C8-4FDD-4C22-FA8915C709DD}"/>
                </a:ext>
              </a:extLst>
            </p:cNvPr>
            <p:cNvSpPr/>
            <p:nvPr/>
          </p:nvSpPr>
          <p:spPr>
            <a:xfrm>
              <a:off x="3825551" y="3306964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/>
                <a:t>defines and maintains the reference meanings and conceptual structure behind the mappings.</a:t>
              </a:r>
              <a:endParaRPr lang="en-NL" sz="1200" kern="120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C51C6B-DF74-D520-C84F-529A07213BB8}"/>
                </a:ext>
              </a:extLst>
            </p:cNvPr>
            <p:cNvSpPr/>
            <p:nvPr/>
          </p:nvSpPr>
          <p:spPr>
            <a:xfrm>
              <a:off x="735563" y="3260945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kern="1200" dirty="0"/>
                <a:t>Ontology Engineer</a:t>
              </a:r>
              <a:endParaRPr lang="en-NL" sz="2000" b="0" kern="120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8C3E91-8E4F-7875-6A93-729469B5BDD2}"/>
                </a:ext>
              </a:extLst>
            </p:cNvPr>
            <p:cNvSpPr/>
            <p:nvPr/>
          </p:nvSpPr>
          <p:spPr>
            <a:xfrm>
              <a:off x="3825551" y="3790161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/>
                <a:t>interprets and aligns concepts from standards such as FHIR, OMOP, and openEHR to shared meanings.</a:t>
              </a:r>
              <a:endParaRPr lang="en-NL" sz="1200" kern="120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93F9E72-966A-643D-CDEF-5B3F323C4980}"/>
                </a:ext>
              </a:extLst>
            </p:cNvPr>
            <p:cNvSpPr/>
            <p:nvPr/>
          </p:nvSpPr>
          <p:spPr>
            <a:xfrm>
              <a:off x="735563" y="3744142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kern="1200" dirty="0"/>
                <a:t>Standards Specialist</a:t>
              </a:r>
              <a:endParaRPr lang="en-NL" sz="2000" b="0" kern="120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BDBD72F-D67B-FA5F-FF86-82BF54509563}"/>
                </a:ext>
              </a:extLst>
            </p:cNvPr>
            <p:cNvSpPr/>
            <p:nvPr/>
          </p:nvSpPr>
          <p:spPr>
            <a:xfrm>
              <a:off x="3825551" y="4273358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/>
                <a:t>implements graph expansion, querying, and technical workflows that operationalize semantic interoperability.</a:t>
              </a:r>
              <a:endParaRPr lang="en-NL" sz="1200" kern="120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8FD404C-EFAD-F179-D421-38C41443E09A}"/>
                </a:ext>
              </a:extLst>
            </p:cNvPr>
            <p:cNvSpPr/>
            <p:nvPr/>
          </p:nvSpPr>
          <p:spPr>
            <a:xfrm>
              <a:off x="735563" y="4227339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kern="1200" dirty="0"/>
                <a:t>Data Engineer</a:t>
              </a:r>
              <a:endParaRPr lang="en-NL" sz="2000" b="0" kern="120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FDA7BAF-7B64-8220-4503-45F4B5630989}"/>
                </a:ext>
              </a:extLst>
            </p:cNvPr>
            <p:cNvSpPr/>
            <p:nvPr/>
          </p:nvSpPr>
          <p:spPr>
            <a:xfrm>
              <a:off x="3825551" y="4756555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>
                  <a:solidFill>
                    <a:srgbClr val="FF0000"/>
                  </a:solidFill>
                </a:rPr>
                <a:t>creates and updates mapping assertions between representation concepts and reference meanings.</a:t>
              </a:r>
              <a:endParaRPr lang="en-NL" sz="1200" kern="1200" dirty="0">
                <a:solidFill>
                  <a:srgbClr val="FF0000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FED3187-3366-233B-2A3D-820456CA63ED}"/>
                </a:ext>
              </a:extLst>
            </p:cNvPr>
            <p:cNvSpPr/>
            <p:nvPr/>
          </p:nvSpPr>
          <p:spPr>
            <a:xfrm>
              <a:off x="735563" y="4710536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kern="1200" dirty="0">
                  <a:solidFill>
                    <a:srgbClr val="FF0000"/>
                  </a:solidFill>
                </a:rPr>
                <a:t>Mapper</a:t>
              </a:r>
              <a:endParaRPr lang="en-NL" sz="2000" b="0" kern="1200" dirty="0">
                <a:solidFill>
                  <a:srgbClr val="FF0000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8774DC5-8A4C-00EF-C47B-8AF0E99D5A76}"/>
                </a:ext>
              </a:extLst>
            </p:cNvPr>
            <p:cNvSpPr/>
            <p:nvPr/>
          </p:nvSpPr>
          <p:spPr>
            <a:xfrm>
              <a:off x="3825551" y="5239751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>
                  <a:solidFill>
                    <a:srgbClr val="FF0000"/>
                  </a:solidFill>
                </a:rPr>
                <a:t>independently checks whether mappings and inferred results are semantically correct and justified.</a:t>
              </a:r>
              <a:endParaRPr lang="en-NL" sz="1200" kern="1200" dirty="0">
                <a:solidFill>
                  <a:srgbClr val="FF0000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E829C53-6F09-FB96-8A4D-7B37F3B7D4D2}"/>
                </a:ext>
              </a:extLst>
            </p:cNvPr>
            <p:cNvSpPr/>
            <p:nvPr/>
          </p:nvSpPr>
          <p:spPr>
            <a:xfrm>
              <a:off x="735563" y="5193733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lvl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>
                  <a:solidFill>
                    <a:srgbClr val="FF0000"/>
                  </a:solidFill>
                </a:rPr>
                <a:t>Semantic Reviewer</a:t>
              </a:r>
              <a:endParaRPr lang="en-NL" sz="2000" b="0" kern="1200" dirty="0">
                <a:solidFill>
                  <a:srgbClr val="FF0000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A056A93-E5A1-E457-E0DF-89775A701516}"/>
                </a:ext>
              </a:extLst>
            </p:cNvPr>
            <p:cNvSpPr/>
            <p:nvPr/>
          </p:nvSpPr>
          <p:spPr>
            <a:xfrm>
              <a:off x="3825551" y="5722948"/>
              <a:ext cx="7630884" cy="368150"/>
            </a:xfrm>
            <a:custGeom>
              <a:avLst/>
              <a:gdLst>
                <a:gd name="csX0" fmla="*/ 61360 w 368150"/>
                <a:gd name="csY0" fmla="*/ 0 h 6861358"/>
                <a:gd name="csX1" fmla="*/ 306790 w 368150"/>
                <a:gd name="csY1" fmla="*/ 0 h 6861358"/>
                <a:gd name="csX2" fmla="*/ 368150 w 368150"/>
                <a:gd name="csY2" fmla="*/ 61360 h 6861358"/>
                <a:gd name="csX3" fmla="*/ 368150 w 368150"/>
                <a:gd name="csY3" fmla="*/ 6861358 h 6861358"/>
                <a:gd name="csX4" fmla="*/ 368150 w 368150"/>
                <a:gd name="csY4" fmla="*/ 6861358 h 6861358"/>
                <a:gd name="csX5" fmla="*/ 0 w 368150"/>
                <a:gd name="csY5" fmla="*/ 6861358 h 6861358"/>
                <a:gd name="csX6" fmla="*/ 0 w 368150"/>
                <a:gd name="csY6" fmla="*/ 6861358 h 6861358"/>
                <a:gd name="csX7" fmla="*/ 0 w 368150"/>
                <a:gd name="csY7" fmla="*/ 61360 h 6861358"/>
                <a:gd name="csX8" fmla="*/ 61360 w 368150"/>
                <a:gd name="csY8" fmla="*/ 0 h 68613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68150" h="6861358">
                  <a:moveTo>
                    <a:pt x="368150" y="1143597"/>
                  </a:moveTo>
                  <a:lnTo>
                    <a:pt x="368150" y="5717761"/>
                  </a:lnTo>
                  <a:cubicBezTo>
                    <a:pt x="368150" y="6349343"/>
                    <a:pt x="366676" y="6861349"/>
                    <a:pt x="364858" y="6861349"/>
                  </a:cubicBezTo>
                  <a:lnTo>
                    <a:pt x="0" y="6861349"/>
                  </a:lnTo>
                  <a:lnTo>
                    <a:pt x="0" y="6861349"/>
                  </a:lnTo>
                  <a:lnTo>
                    <a:pt x="0" y="9"/>
                  </a:lnTo>
                  <a:lnTo>
                    <a:pt x="0" y="9"/>
                  </a:lnTo>
                  <a:lnTo>
                    <a:pt x="364858" y="9"/>
                  </a:lnTo>
                  <a:cubicBezTo>
                    <a:pt x="366676" y="9"/>
                    <a:pt x="368150" y="512015"/>
                    <a:pt x="368150" y="1143597"/>
                  </a:cubicBezTo>
                  <a:close/>
                </a:path>
              </a:pathLst>
            </a:custGeom>
          </p:spPr>
          <p:style>
            <a:ln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38927" rIns="59882" bIns="38927" numCol="1" spcCol="1270" anchor="ctr" anchorCtr="0">
              <a:noAutofit/>
            </a:bodyPr>
            <a:lstStyle/>
            <a:p>
              <a:pPr marL="14400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1200" kern="1200" dirty="0">
                  <a:solidFill>
                    <a:srgbClr val="FF0000"/>
                  </a:solidFill>
                </a:rPr>
                <a:t>governs publication, versioning, and lifecycle management of approved mappings and their supersessions.</a:t>
              </a:r>
              <a:endParaRPr lang="en-NL" sz="1200" kern="1200" dirty="0">
                <a:solidFill>
                  <a:srgbClr val="FF0000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DC6409B-8F65-B25D-D345-98197F8B6D79}"/>
                </a:ext>
              </a:extLst>
            </p:cNvPr>
            <p:cNvSpPr/>
            <p:nvPr/>
          </p:nvSpPr>
          <p:spPr>
            <a:xfrm>
              <a:off x="735563" y="5676930"/>
              <a:ext cx="3089988" cy="460187"/>
            </a:xfrm>
            <a:custGeom>
              <a:avLst/>
              <a:gdLst>
                <a:gd name="csX0" fmla="*/ 0 w 3859514"/>
                <a:gd name="csY0" fmla="*/ 76699 h 460187"/>
                <a:gd name="csX1" fmla="*/ 76699 w 3859514"/>
                <a:gd name="csY1" fmla="*/ 0 h 460187"/>
                <a:gd name="csX2" fmla="*/ 3782815 w 3859514"/>
                <a:gd name="csY2" fmla="*/ 0 h 460187"/>
                <a:gd name="csX3" fmla="*/ 3859514 w 3859514"/>
                <a:gd name="csY3" fmla="*/ 76699 h 460187"/>
                <a:gd name="csX4" fmla="*/ 3859514 w 3859514"/>
                <a:gd name="csY4" fmla="*/ 383488 h 460187"/>
                <a:gd name="csX5" fmla="*/ 3782815 w 3859514"/>
                <a:gd name="csY5" fmla="*/ 460187 h 460187"/>
                <a:gd name="csX6" fmla="*/ 76699 w 3859514"/>
                <a:gd name="csY6" fmla="*/ 460187 h 460187"/>
                <a:gd name="csX7" fmla="*/ 0 w 3859514"/>
                <a:gd name="csY7" fmla="*/ 383488 h 460187"/>
                <a:gd name="csX8" fmla="*/ 0 w 3859514"/>
                <a:gd name="csY8" fmla="*/ 76699 h 4601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859514" h="460187">
                  <a:moveTo>
                    <a:pt x="0" y="76699"/>
                  </a:moveTo>
                  <a:cubicBezTo>
                    <a:pt x="0" y="34339"/>
                    <a:pt x="34339" y="0"/>
                    <a:pt x="76699" y="0"/>
                  </a:cubicBezTo>
                  <a:lnTo>
                    <a:pt x="3782815" y="0"/>
                  </a:lnTo>
                  <a:cubicBezTo>
                    <a:pt x="3825175" y="0"/>
                    <a:pt x="3859514" y="34339"/>
                    <a:pt x="3859514" y="76699"/>
                  </a:cubicBezTo>
                  <a:lnTo>
                    <a:pt x="3859514" y="383488"/>
                  </a:lnTo>
                  <a:cubicBezTo>
                    <a:pt x="3859514" y="425848"/>
                    <a:pt x="3825175" y="460187"/>
                    <a:pt x="3782815" y="460187"/>
                  </a:cubicBezTo>
                  <a:lnTo>
                    <a:pt x="76699" y="460187"/>
                  </a:lnTo>
                  <a:cubicBezTo>
                    <a:pt x="34339" y="460187"/>
                    <a:pt x="0" y="425848"/>
                    <a:pt x="0" y="383488"/>
                  </a:cubicBezTo>
                  <a:lnTo>
                    <a:pt x="0" y="76699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8664" tIns="60564" rIns="98664" bIns="60564" numCol="1" spcCol="1270" anchor="ctr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0" kern="1200" dirty="0">
                  <a:solidFill>
                    <a:srgbClr val="FF0000"/>
                  </a:solidFill>
                </a:rPr>
                <a:t>Curator</a:t>
              </a:r>
              <a:endParaRPr lang="en-NL" sz="2000" b="0" kern="12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24099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A8ABF9-DD87-7096-8680-8BE94A477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D71F9-363A-936C-BAD6-88591D3E5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b="1" dirty="0"/>
              <a:t>Use Scenarios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9291157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7AC8F-0DE4-3456-F0BA-265ACAFCB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E26B4-32FA-C4C7-747B-C1FA0F8C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Scenario 1: </a:t>
            </a:r>
            <a:br>
              <a:rPr lang="en-US" sz="4000" dirty="0"/>
            </a:br>
            <a:r>
              <a:rPr lang="en-US" sz="4000" dirty="0"/>
              <a:t>Retrieve the Semantic Scope of an Ontology Concept</a:t>
            </a:r>
            <a:endParaRPr lang="en-N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DCCD7-8057-9D27-3C72-0CCA4298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02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1800" b="1" dirty="0">
                <a:solidFill>
                  <a:srgbClr val="000000"/>
                </a:solidFill>
                <a:cs typeface="Arial" panose="020B0604020202020204" pitchFamily="34" charset="0"/>
              </a:rPr>
              <a:t>researcher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  <a:r>
              <a:rPr lang="en-NL" altLang="en-NL" sz="1800" b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800" dirty="0">
                <a:solidFill>
                  <a:srgbClr val="E97132"/>
                </a:solidFill>
                <a:cs typeface="Arial" panose="020B0604020202020204" pitchFamily="34" charset="0"/>
              </a:rPr>
              <a:t> retrieve all narrower concepts below a broad ontology concept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dirty="0">
                <a:solidFill>
                  <a:srgbClr val="4EA72E"/>
                </a:solidFill>
                <a:cs typeface="Arial" panose="020B0604020202020204" pitchFamily="34" charset="0"/>
              </a:rPr>
              <a:t>I can define the right semantic scope for cohort selection, variable discovery, and dataset reuse.</a:t>
            </a:r>
            <a:endParaRPr lang="en-US" altLang="en-NL" sz="1800" dirty="0">
              <a:solidFill>
                <a:srgbClr val="4EA72E"/>
              </a:solidFill>
              <a:cs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I want to identify all definitions of Patient available so I can select the datasets that implement the type of patient that I am looking for.</a:t>
            </a:r>
            <a:endParaRPr lang="en-NL" altLang="en-NL" sz="14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1800" b="1" dirty="0">
                <a:solidFill>
                  <a:srgbClr val="000000"/>
                </a:solidFill>
                <a:cs typeface="Arial" panose="020B0604020202020204" pitchFamily="34" charset="0"/>
              </a:rPr>
              <a:t>data steward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18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800" dirty="0">
                <a:solidFill>
                  <a:srgbClr val="E97132"/>
                </a:solidFill>
                <a:cs typeface="Arial" panose="020B0604020202020204" pitchFamily="34" charset="0"/>
              </a:rPr>
              <a:t> retrieve all narrower concepts below a broad ontology concept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dirty="0">
                <a:solidFill>
                  <a:srgbClr val="4EA72E"/>
                </a:solidFill>
                <a:cs typeface="Arial" panose="020B0604020202020204" pitchFamily="34" charset="0"/>
              </a:rPr>
              <a:t>I can decide whether a local data element should map to the selected concept or to one of its more specific descendants.</a:t>
            </a:r>
            <a:endParaRPr lang="en-US" altLang="en-NL" sz="1800" dirty="0">
              <a:solidFill>
                <a:srgbClr val="4EA72E"/>
              </a:solidFill>
              <a:cs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I need to identify all types of Patient so I can correctly categorize the Patient concept that I just received.</a:t>
            </a:r>
            <a:endParaRPr lang="en-NL" altLang="en-NL" sz="14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1800" b="1" dirty="0">
                <a:solidFill>
                  <a:srgbClr val="000000"/>
                </a:solidFill>
                <a:cs typeface="Arial" panose="020B0604020202020204" pitchFamily="34" charset="0"/>
              </a:rPr>
              <a:t>standards specialist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  <a:r>
              <a:rPr lang="en-NL" altLang="en-NL" sz="1800" b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800" dirty="0">
                <a:solidFill>
                  <a:srgbClr val="E97132"/>
                </a:solidFill>
                <a:cs typeface="Arial" panose="020B0604020202020204" pitchFamily="34" charset="0"/>
              </a:rPr>
              <a:t> retrieve all narrower concepts below a broad ontology concept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8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1800" dirty="0">
                <a:solidFill>
                  <a:srgbClr val="4EA72E"/>
                </a:solidFill>
                <a:cs typeface="Arial" panose="020B0604020202020204" pitchFamily="34" charset="0"/>
              </a:rPr>
              <a:t>I can assess how well a standard branch is covered and identify gaps or overly broad alignments.</a:t>
            </a:r>
            <a:endParaRPr lang="en-US" altLang="en-NL" sz="1800" dirty="0">
              <a:solidFill>
                <a:srgbClr val="4EA72E"/>
              </a:solidFill>
              <a:cs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I need to study all possible interpretations of the concept Patient so I can select the most precise one to use in the standard I’m responsible for.</a:t>
            </a:r>
          </a:p>
        </p:txBody>
      </p:sp>
    </p:spTree>
    <p:extLst>
      <p:ext uri="{BB962C8B-B14F-4D97-AF65-F5344CB8AC3E}">
        <p14:creationId xmlns:p14="http://schemas.microsoft.com/office/powerpoint/2010/main" val="22182696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2E281-05F6-D1A1-5BBE-CAEE05236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Scenario 1: </a:t>
            </a:r>
            <a:br>
              <a:rPr lang="en-US" sz="3600" dirty="0"/>
            </a:br>
            <a:r>
              <a:rPr lang="en-US" sz="3600" dirty="0"/>
              <a:t>Retrieve the Semantic Scope of an Ontology Concept</a:t>
            </a:r>
            <a:endParaRPr lang="en-N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3B87-C179-3C64-8628-337BDE9EC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3"/>
                </a:solidFill>
              </a:rPr>
              <a:t>Input: </a:t>
            </a:r>
            <a:r>
              <a:rPr lang="en-US" sz="2000" dirty="0"/>
              <a:t>One ontology concept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i="1" dirty="0" err="1"/>
              <a:t>focusConcept</a:t>
            </a:r>
            <a:r>
              <a:rPr lang="en-US" sz="2000" i="1" dirty="0"/>
              <a:t>: </a:t>
            </a:r>
            <a:r>
              <a:rPr lang="en-US" sz="2000" i="1" dirty="0" err="1"/>
              <a:t>OntologyConcept</a:t>
            </a:r>
            <a:endParaRPr lang="en-US" sz="2000" i="1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2"/>
                </a:solidFill>
              </a:rPr>
              <a:t>Output: </a:t>
            </a:r>
            <a:r>
              <a:rPr lang="en-US" sz="2000" dirty="0"/>
              <a:t>All descendant ontology concepts below the selected concept in the </a:t>
            </a:r>
            <a:r>
              <a:rPr lang="en-US" sz="2000" dirty="0" err="1"/>
              <a:t>rdfs:subClassOf</a:t>
            </a:r>
            <a:r>
              <a:rPr lang="en-US" sz="2000" dirty="0"/>
              <a:t> hierarchy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i="1" dirty="0"/>
              <a:t>descendants: Set&lt;</a:t>
            </a:r>
            <a:r>
              <a:rPr lang="en-US" sz="2000" i="1" dirty="0" err="1"/>
              <a:t>OntologyConcept</a:t>
            </a:r>
            <a:r>
              <a:rPr lang="en-US" sz="2000" i="1" dirty="0"/>
              <a:t>&gt;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1"/>
                </a:solidFill>
              </a:rPr>
              <a:t>Semantics: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i="1" dirty="0"/>
              <a:t>descendants = { c | c </a:t>
            </a:r>
            <a:r>
              <a:rPr lang="en-US" sz="2000" i="1" dirty="0" err="1"/>
              <a:t>rdfs:subClassOf</a:t>
            </a:r>
            <a:r>
              <a:rPr lang="en-US" sz="2000" i="1" dirty="0"/>
              <a:t>+ </a:t>
            </a:r>
            <a:r>
              <a:rPr lang="en-US" sz="2000" i="1" dirty="0" err="1"/>
              <a:t>focusConcept</a:t>
            </a:r>
            <a:r>
              <a:rPr lang="en-US" sz="2000" i="1" dirty="0"/>
              <a:t> }</a:t>
            </a:r>
            <a:endParaRPr lang="en-NL" sz="2000" i="1" dirty="0"/>
          </a:p>
        </p:txBody>
      </p:sp>
    </p:spTree>
    <p:extLst>
      <p:ext uri="{BB962C8B-B14F-4D97-AF65-F5344CB8AC3E}">
        <p14:creationId xmlns:p14="http://schemas.microsoft.com/office/powerpoint/2010/main" val="8857203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618B6-B71F-0237-C483-C3203AA76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02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As a </a:t>
            </a:r>
            <a:r>
              <a:rPr lang="en-NL" altLang="en-NL" sz="1400" b="1" dirty="0">
                <a:solidFill>
                  <a:srgbClr val="000000"/>
                </a:solidFill>
                <a:cs typeface="Arial" panose="020B0604020202020204" pitchFamily="34" charset="0"/>
              </a:rPr>
              <a:t>researcher</a:t>
            </a: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, </a:t>
            </a:r>
            <a:r>
              <a:rPr lang="en-NL" altLang="en-NL" sz="14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400" dirty="0">
                <a:solidFill>
                  <a:srgbClr val="E97132"/>
                </a:solidFill>
                <a:cs typeface="Arial" panose="020B0604020202020204" pitchFamily="34" charset="0"/>
              </a:rPr>
              <a:t> retrieve all data elements and standard terms connected to a selected ontology meaning</a:t>
            </a: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en-NL" altLang="en-NL" sz="14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en-NL" altLang="en-NL" sz="1400" dirty="0">
                <a:solidFill>
                  <a:srgbClr val="4EA72E"/>
                </a:solidFill>
                <a:cs typeface="Arial" panose="020B0604020202020204" pitchFamily="34" charset="0"/>
              </a:rPr>
              <a:t>I can discover where that meaning already appears across dataset</a:t>
            </a:r>
            <a:r>
              <a:rPr lang="en-US" altLang="en-NL" sz="1400" dirty="0">
                <a:solidFill>
                  <a:srgbClr val="4EA72E"/>
                </a:solidFill>
                <a:cs typeface="Arial" panose="020B0604020202020204" pitchFamily="34" charset="0"/>
              </a:rPr>
              <a:t>s</a:t>
            </a:r>
            <a:r>
              <a:rPr lang="en-NL" altLang="en-NL" sz="1400" dirty="0">
                <a:solidFill>
                  <a:srgbClr val="4EA72E"/>
                </a:solidFill>
                <a:cs typeface="Arial" panose="020B0604020202020204" pitchFamily="34" charset="0"/>
              </a:rPr>
              <a:t>.</a:t>
            </a:r>
            <a:endParaRPr lang="en-US" altLang="en-NL" sz="1400" dirty="0">
              <a:solidFill>
                <a:srgbClr val="4EA72E"/>
              </a:solidFill>
              <a:cs typeface="Arial" panose="020B0604020202020204" pitchFamily="34" charset="0"/>
            </a:endParaRPr>
          </a:p>
          <a:p>
            <a:pPr lvl="1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NL" sz="1000" dirty="0">
                <a:solidFill>
                  <a:srgbClr val="000000"/>
                </a:solidFill>
                <a:cs typeface="Arial" panose="020B0604020202020204" pitchFamily="34" charset="0"/>
              </a:rPr>
              <a:t>From 100 datasets, which ones should I use if I want “Patient as a person who’s on treatment”.</a:t>
            </a:r>
            <a:endParaRPr lang="en-NL" altLang="en-NL" sz="1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As a </a:t>
            </a:r>
            <a:r>
              <a:rPr lang="en-NL" altLang="en-NL" sz="1400" b="1" dirty="0">
                <a:solidFill>
                  <a:srgbClr val="000000"/>
                </a:solidFill>
                <a:cs typeface="Arial" panose="020B0604020202020204" pitchFamily="34" charset="0"/>
              </a:rPr>
              <a:t>data steward</a:t>
            </a: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, </a:t>
            </a:r>
            <a:r>
              <a:rPr lang="en-NL" altLang="en-NL" sz="14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400" dirty="0">
                <a:solidFill>
                  <a:srgbClr val="E97132"/>
                </a:solidFill>
                <a:cs typeface="Arial" panose="020B0604020202020204" pitchFamily="34" charset="0"/>
              </a:rPr>
              <a:t> retrieve all concepts connected to a selected ontology meaning</a:t>
            </a: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en-NL" altLang="en-NL" sz="14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en-NL" altLang="en-NL" sz="1400" dirty="0">
                <a:solidFill>
                  <a:srgbClr val="4EA72E"/>
                </a:solidFill>
                <a:cs typeface="Arial" panose="020B0604020202020204" pitchFamily="34" charset="0"/>
              </a:rPr>
              <a:t>I can assess reuse opportunities and identify where a shared meaning is already in use.</a:t>
            </a:r>
            <a:endParaRPr lang="en-US" altLang="en-NL" sz="1400" dirty="0">
              <a:solidFill>
                <a:srgbClr val="4EA72E"/>
              </a:solidFill>
              <a:cs typeface="Arial" panose="020B0604020202020204" pitchFamily="34" charset="0"/>
            </a:endParaRPr>
          </a:p>
          <a:p>
            <a:pPr lvl="1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NL" sz="1000" dirty="0">
                <a:solidFill>
                  <a:srgbClr val="000000"/>
                </a:solidFill>
                <a:cs typeface="Arial" panose="020B0604020202020204" pitchFamily="34" charset="0"/>
              </a:rPr>
              <a:t>I want to check which datasets implement the concept “Patient as a person who’s on treatment”.</a:t>
            </a:r>
            <a:endParaRPr lang="en-NL" altLang="en-NL" sz="1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As a </a:t>
            </a:r>
            <a:r>
              <a:rPr lang="en-NL" altLang="en-NL" sz="1400" b="1" dirty="0">
                <a:solidFill>
                  <a:srgbClr val="000000"/>
                </a:solidFill>
                <a:cs typeface="Arial" panose="020B0604020202020204" pitchFamily="34" charset="0"/>
              </a:rPr>
              <a:t> standards specialist</a:t>
            </a: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US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 when creating a </a:t>
            </a:r>
            <a:r>
              <a:rPr lang="en-US" altLang="en-NL" sz="1400" b="1" dirty="0">
                <a:solidFill>
                  <a:srgbClr val="000000"/>
                </a:solidFill>
                <a:cs typeface="Arial" panose="020B0604020202020204" pitchFamily="34" charset="0"/>
              </a:rPr>
              <a:t>mapping</a:t>
            </a: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, </a:t>
            </a:r>
            <a:r>
              <a:rPr lang="en-NL" altLang="en-NL" sz="14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400" dirty="0">
                <a:solidFill>
                  <a:srgbClr val="E97132"/>
                </a:solidFill>
                <a:cs typeface="Arial" panose="020B0604020202020204" pitchFamily="34" charset="0"/>
              </a:rPr>
              <a:t> retrieve all concepts connected to a selected ontology meaning</a:t>
            </a: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en-NL" altLang="en-NL" sz="14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en-US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create a new mapping or so that </a:t>
            </a:r>
            <a:r>
              <a:rPr lang="en-NL" altLang="en-NL" sz="1400" dirty="0">
                <a:solidFill>
                  <a:srgbClr val="4EA72E"/>
                </a:solidFill>
                <a:cs typeface="Arial" panose="020B0604020202020204" pitchFamily="34" charset="0"/>
              </a:rPr>
              <a:t>I can reuse existing mappings and avoid creating duplicate alignment work.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A7B8CAD-8AB9-007A-63C4-0FE3522CF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Scenario 2:</a:t>
            </a:r>
            <a:br>
              <a:rPr lang="en-US" sz="3600" b="1" dirty="0"/>
            </a:br>
            <a:r>
              <a:rPr lang="en-US" sz="3600" dirty="0"/>
              <a:t>Retrieve Concepts Connected to a Selected Ontology Meaning</a:t>
            </a:r>
            <a:endParaRPr lang="en-NL" sz="3600" dirty="0"/>
          </a:p>
        </p:txBody>
      </p:sp>
    </p:spTree>
    <p:extLst>
      <p:ext uri="{BB962C8B-B14F-4D97-AF65-F5344CB8AC3E}">
        <p14:creationId xmlns:p14="http://schemas.microsoft.com/office/powerpoint/2010/main" val="11125281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8132E-DB38-C570-7F26-5FD651F6F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3"/>
                </a:solidFill>
              </a:rPr>
              <a:t>Input: </a:t>
            </a:r>
            <a:r>
              <a:rPr lang="en-US" sz="2000" dirty="0"/>
              <a:t>One ontology concept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i="1" dirty="0" err="1"/>
              <a:t>focusConcept</a:t>
            </a:r>
            <a:r>
              <a:rPr lang="en-US" sz="2000" i="1" dirty="0"/>
              <a:t>: </a:t>
            </a:r>
            <a:r>
              <a:rPr lang="en-US" sz="2000" i="1" dirty="0" err="1"/>
              <a:t>OntologyConcept</a:t>
            </a:r>
            <a:endParaRPr lang="en-US" sz="2000" i="1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2"/>
                </a:solidFill>
              </a:rPr>
              <a:t>Output: </a:t>
            </a:r>
            <a:r>
              <a:rPr lang="en-US" sz="2000" dirty="0"/>
              <a:t>All representation concepts connected to the selected ontology meaning, including whether the connection is asserted or inferred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i="1" dirty="0" err="1"/>
              <a:t>meaningConnections</a:t>
            </a:r>
            <a:r>
              <a:rPr lang="en-US" sz="2000" i="1" dirty="0"/>
              <a:t>: Set&lt;</a:t>
            </a:r>
            <a:r>
              <a:rPr lang="en-US" sz="2000" i="1" dirty="0" err="1"/>
              <a:t>MeaningConnection</a:t>
            </a:r>
            <a:r>
              <a:rPr lang="en-US" sz="2000" i="1" dirty="0"/>
              <a:t>&gt;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1"/>
                </a:solidFill>
              </a:rPr>
              <a:t>Semantics: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i="1" dirty="0" err="1"/>
              <a:t>meaningConnections</a:t>
            </a:r>
            <a:r>
              <a:rPr lang="en-US" sz="2000" i="1" dirty="0"/>
              <a:t> = { (</a:t>
            </a:r>
            <a:r>
              <a:rPr lang="en-US" sz="2000" i="1" dirty="0" err="1"/>
              <a:t>rc</a:t>
            </a:r>
            <a:r>
              <a:rPr lang="en-US" sz="2000" i="1" dirty="0"/>
              <a:t>, prov) | </a:t>
            </a:r>
            <a:r>
              <a:rPr lang="en-US" sz="2000" i="1" dirty="0" err="1"/>
              <a:t>hriv:hasExactMeaning</a:t>
            </a:r>
            <a:r>
              <a:rPr lang="en-US" sz="2000" i="1" dirty="0"/>
              <a:t>(</a:t>
            </a:r>
            <a:r>
              <a:rPr lang="en-US" sz="2000" i="1" dirty="0" err="1"/>
              <a:t>rc</a:t>
            </a:r>
            <a:r>
              <a:rPr lang="en-US" sz="2000" i="1" dirty="0"/>
              <a:t>, </a:t>
            </a:r>
            <a:r>
              <a:rPr lang="en-US" sz="2000" i="1" dirty="0" err="1"/>
              <a:t>focusConcept</a:t>
            </a:r>
            <a:r>
              <a:rPr lang="en-US" sz="2000" i="1" dirty="0"/>
              <a:t>) and prov = </a:t>
            </a:r>
            <a:r>
              <a:rPr lang="en-US" sz="2000" i="1" dirty="0" err="1"/>
              <a:t>hriv:hasExactMeaning</a:t>
            </a:r>
            <a:r>
              <a:rPr lang="en-US" sz="2000" i="1" dirty="0"/>
              <a:t>(</a:t>
            </a:r>
            <a:r>
              <a:rPr lang="en-US" sz="2000" i="1" dirty="0" err="1"/>
              <a:t>rc</a:t>
            </a:r>
            <a:r>
              <a:rPr lang="en-US" sz="2000" i="1" dirty="0"/>
              <a:t>, </a:t>
            </a:r>
            <a:r>
              <a:rPr lang="en-US" sz="2000" i="1" dirty="0" err="1"/>
              <a:t>focusConcept</a:t>
            </a:r>
            <a:r>
              <a:rPr lang="en-US" sz="2000" i="1" dirty="0"/>
              <a:t>).provenance }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i="1" dirty="0"/>
              <a:t>Where: </a:t>
            </a:r>
            <a:r>
              <a:rPr lang="en-US" sz="2000" i="1" dirty="0" err="1"/>
              <a:t>MeaningConnection</a:t>
            </a:r>
            <a:r>
              <a:rPr lang="en-US" sz="2000" i="1" dirty="0"/>
              <a:t> = (</a:t>
            </a:r>
            <a:r>
              <a:rPr lang="en-US" sz="2000" i="1" dirty="0" err="1"/>
              <a:t>relatedConcept</a:t>
            </a:r>
            <a:r>
              <a:rPr lang="en-US" sz="2000" i="1" dirty="0"/>
              <a:t>: </a:t>
            </a:r>
            <a:r>
              <a:rPr lang="en-US" sz="2000" i="1" dirty="0" err="1"/>
              <a:t>RepresentationConcept</a:t>
            </a:r>
            <a:r>
              <a:rPr lang="en-US" sz="2000" i="1" dirty="0"/>
              <a:t>, provenance: Provenance)</a:t>
            </a:r>
            <a:endParaRPr lang="en-NL" sz="2000" i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A236307-B217-DC9C-2217-73B110779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Scenario 2:</a:t>
            </a:r>
            <a:br>
              <a:rPr lang="en-US" sz="3600" b="1" dirty="0"/>
            </a:br>
            <a:r>
              <a:rPr lang="en-US" sz="3600" dirty="0"/>
              <a:t>Retrieve Concepts Connected to a Selected Ontology Meaning</a:t>
            </a:r>
            <a:endParaRPr lang="en-NL" sz="3600" dirty="0"/>
          </a:p>
        </p:txBody>
      </p:sp>
    </p:spTree>
    <p:extLst>
      <p:ext uri="{BB962C8B-B14F-4D97-AF65-F5344CB8AC3E}">
        <p14:creationId xmlns:p14="http://schemas.microsoft.com/office/powerpoint/2010/main" val="3169308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A23D2-D01A-C0AC-F318-F53E8ADF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059F8D4-4FA9-7E0E-50FC-6AABCC253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Scenario 3:</a:t>
            </a:r>
            <a:br>
              <a:rPr lang="en-US" sz="3600" b="1" dirty="0"/>
            </a:br>
            <a:r>
              <a:rPr lang="en-US" sz="3600" dirty="0"/>
              <a:t>Retrieve the Ontology Meanings of a Selected Concept</a:t>
            </a:r>
            <a:endParaRPr lang="en-NL" sz="36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2595B81-6047-0015-9605-017CBB83B4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242141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As a </a:t>
            </a:r>
            <a:r>
              <a:rPr lang="en-NL" altLang="en-NL" sz="1400" b="1" dirty="0">
                <a:solidFill>
                  <a:srgbClr val="000000"/>
                </a:solidFill>
                <a:cs typeface="Arial" panose="020B0604020202020204" pitchFamily="34" charset="0"/>
              </a:rPr>
              <a:t> researcher</a:t>
            </a:r>
            <a:r>
              <a:rPr lang="en-US" altLang="en-NL" sz="1400" b="1" dirty="0">
                <a:solidFill>
                  <a:srgbClr val="000000"/>
                </a:solidFill>
                <a:cs typeface="Arial" panose="020B0604020202020204" pitchFamily="34" charset="0"/>
              </a:rPr>
              <a:t> or a 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data steward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I want to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 retrieve the ontology meanings associated with a selected concept, together with their polarity and provenance,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so that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I can understand the semantic commitments already attached to that concept before reusing it.</a:t>
            </a:r>
            <a:endParaRPr kumimoji="0" lang="en-US" altLang="en-NL" sz="1400" b="0" i="0" u="none" strike="noStrike" cap="none" normalizeH="0" baseline="0" dirty="0">
              <a:ln>
                <a:noFill/>
              </a:ln>
              <a:solidFill>
                <a:srgbClr val="4EA72E"/>
              </a:solidFill>
              <a:effectLst/>
              <a:cs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NL" sz="1000" dirty="0">
                <a:solidFill>
                  <a:srgbClr val="4EA72E"/>
                </a:solidFill>
                <a:cs typeface="Arial" panose="020B0604020202020204" pitchFamily="34" charset="0"/>
              </a:rPr>
              <a:t>I want to know what the column “sex” means. Does it mean “biological sex”, “social sex”, or other?</a:t>
            </a:r>
            <a:endParaRPr kumimoji="0" lang="en-NL" altLang="en-NL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As a </a:t>
            </a:r>
            <a:r>
              <a:rPr kumimoji="0" lang="en-US" altLang="en-NL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standard specialist, </a:t>
            </a:r>
            <a:r>
              <a:rPr kumimoji="0" lang="en-US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acting as a 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mapper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I want to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 retrieve the ontology meanings associated with a selected concept, together with their polarity,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so that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I can assess whether aligning to that concept would commit me to the intended meaning.</a:t>
            </a:r>
            <a:r>
              <a:rPr lang="en-US" altLang="en-NL" sz="1400" dirty="0">
                <a:solidFill>
                  <a:srgbClr val="4EA72E"/>
                </a:solidFill>
                <a:cs typeface="Arial" panose="020B0604020202020204" pitchFamily="34" charset="0"/>
              </a:rPr>
              <a:t> </a:t>
            </a:r>
            <a:r>
              <a:rPr kumimoji="0" lang="en-US" altLang="en-NL" sz="1400" b="1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S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o that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I can understand what semantic interpretation that term currently carries.</a:t>
            </a:r>
            <a:endParaRPr kumimoji="0" lang="en-NL" altLang="en-NL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NL" sz="1000" dirty="0">
                <a:solidFill>
                  <a:srgbClr val="4EA72E"/>
                </a:solidFill>
                <a:cs typeface="Arial" panose="020B0604020202020204" pitchFamily="34" charset="0"/>
              </a:rPr>
              <a:t>I want to know what’s the meaning of A and of B so that I can map both.</a:t>
            </a:r>
            <a:endParaRPr kumimoji="0" lang="en-US" altLang="en-NL" sz="1000" b="0" i="0" u="none" strike="noStrike" cap="none" normalizeH="0" baseline="0" dirty="0">
              <a:ln>
                <a:noFill/>
              </a:ln>
              <a:solidFill>
                <a:srgbClr val="4EA72E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4208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FDBEF-56B2-4650-9A64-D959A3749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3"/>
                </a:solidFill>
              </a:rPr>
              <a:t>Input: </a:t>
            </a:r>
            <a:r>
              <a:rPr lang="en-US" dirty="0"/>
              <a:t>One concept at the representation layer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 err="1"/>
              <a:t>focusConcept</a:t>
            </a:r>
            <a:r>
              <a:rPr lang="en-US" i="1" dirty="0"/>
              <a:t>: </a:t>
            </a:r>
            <a:r>
              <a:rPr lang="en-US" i="1" dirty="0" err="1"/>
              <a:t>RepresentationConcept</a:t>
            </a:r>
            <a:endParaRPr lang="en-US" i="1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2"/>
                </a:solidFill>
              </a:rPr>
              <a:t>Output: </a:t>
            </a:r>
            <a:r>
              <a:rPr lang="en-US" dirty="0"/>
              <a:t>All ontology meanings associated with the selected concept, including polarity and whether they are asserted or inferred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 err="1"/>
              <a:t>meaningCommitments</a:t>
            </a:r>
            <a:r>
              <a:rPr lang="en-US" i="1" dirty="0"/>
              <a:t>: Set&lt;</a:t>
            </a:r>
            <a:r>
              <a:rPr lang="en-US" i="1" dirty="0" err="1"/>
              <a:t>MeaningCommitment</a:t>
            </a:r>
            <a:r>
              <a:rPr lang="en-US" i="1" dirty="0"/>
              <a:t>&gt;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1"/>
                </a:solidFill>
              </a:rPr>
              <a:t>Semantics: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 err="1"/>
              <a:t>meaningCommitments</a:t>
            </a:r>
            <a:r>
              <a:rPr lang="en-US" i="1" dirty="0"/>
              <a:t> = { (p, </a:t>
            </a:r>
            <a:r>
              <a:rPr lang="en-US" i="1" dirty="0" err="1"/>
              <a:t>oc</a:t>
            </a:r>
            <a:r>
              <a:rPr lang="en-US" i="1" dirty="0"/>
              <a:t>, prov) | </a:t>
            </a:r>
            <a:r>
              <a:rPr lang="en-US" i="1" dirty="0" err="1"/>
              <a:t>hriv:hasExactMeaning</a:t>
            </a:r>
            <a:r>
              <a:rPr lang="en-US" i="1" dirty="0"/>
              <a:t>(</a:t>
            </a:r>
            <a:r>
              <a:rPr lang="en-US" i="1" dirty="0" err="1"/>
              <a:t>focusConcept</a:t>
            </a:r>
            <a:r>
              <a:rPr lang="en-US" i="1" dirty="0"/>
              <a:t>, </a:t>
            </a:r>
            <a:r>
              <a:rPr lang="en-US" i="1" dirty="0" err="1"/>
              <a:t>oc</a:t>
            </a:r>
            <a:r>
              <a:rPr lang="en-US" i="1" dirty="0"/>
              <a:t>) and p = </a:t>
            </a:r>
            <a:r>
              <a:rPr lang="en-US" i="1" dirty="0" err="1"/>
              <a:t>hriv:hasExactMeaning</a:t>
            </a:r>
            <a:r>
              <a:rPr lang="en-US" i="1" dirty="0"/>
              <a:t>(</a:t>
            </a:r>
            <a:r>
              <a:rPr lang="en-US" i="1" dirty="0" err="1"/>
              <a:t>focusConcept</a:t>
            </a:r>
            <a:r>
              <a:rPr lang="en-US" i="1" dirty="0"/>
              <a:t>, </a:t>
            </a:r>
            <a:r>
              <a:rPr lang="en-US" i="1" dirty="0" err="1"/>
              <a:t>oc</a:t>
            </a:r>
            <a:r>
              <a:rPr lang="en-US" i="1" dirty="0"/>
              <a:t>).polarity and prov = </a:t>
            </a:r>
            <a:r>
              <a:rPr lang="en-US" i="1" dirty="0" err="1"/>
              <a:t>hriv:hasExactMeaning</a:t>
            </a:r>
            <a:r>
              <a:rPr lang="en-US" i="1" dirty="0"/>
              <a:t>(</a:t>
            </a:r>
            <a:r>
              <a:rPr lang="en-US" i="1" dirty="0" err="1"/>
              <a:t>focusConcept</a:t>
            </a:r>
            <a:r>
              <a:rPr lang="en-US" i="1" dirty="0"/>
              <a:t>, </a:t>
            </a:r>
            <a:r>
              <a:rPr lang="en-US" i="1" dirty="0" err="1"/>
              <a:t>oc</a:t>
            </a:r>
            <a:r>
              <a:rPr lang="en-US" i="1" dirty="0"/>
              <a:t>).provenance }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/>
              <a:t>Where: </a:t>
            </a:r>
            <a:r>
              <a:rPr lang="en-US" i="1" dirty="0" err="1"/>
              <a:t>MeaningCommitment</a:t>
            </a:r>
            <a:r>
              <a:rPr lang="en-US" i="1" dirty="0"/>
              <a:t> = (polarity: Polarity, </a:t>
            </a:r>
            <a:r>
              <a:rPr lang="en-US" i="1" dirty="0" err="1"/>
              <a:t>ontologyConcept</a:t>
            </a:r>
            <a:r>
              <a:rPr lang="en-US" i="1" dirty="0"/>
              <a:t>: </a:t>
            </a:r>
            <a:r>
              <a:rPr lang="en-US" i="1" dirty="0" err="1"/>
              <a:t>OntologyConcept</a:t>
            </a:r>
            <a:r>
              <a:rPr lang="en-US" i="1" dirty="0"/>
              <a:t>, provenance: Provenance)</a:t>
            </a:r>
            <a:endParaRPr lang="en-NL" i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101CE6-3A57-B708-71CE-31B595351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Scenario 3:</a:t>
            </a:r>
            <a:br>
              <a:rPr lang="en-US" sz="3600" b="1" dirty="0"/>
            </a:br>
            <a:r>
              <a:rPr lang="en-US" sz="3600" dirty="0"/>
              <a:t>Retrieve the Ontology Meanings of a Selected Concept</a:t>
            </a:r>
            <a:endParaRPr lang="en-NL" sz="3600" dirty="0"/>
          </a:p>
        </p:txBody>
      </p:sp>
    </p:spTree>
    <p:extLst>
      <p:ext uri="{BB962C8B-B14F-4D97-AF65-F5344CB8AC3E}">
        <p14:creationId xmlns:p14="http://schemas.microsoft.com/office/powerpoint/2010/main" val="39704822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7C28D-6941-ECBC-984C-A2180DF15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288C1-C725-D1FC-65AF-F251884E0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02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As a </a:t>
            </a:r>
            <a:r>
              <a:rPr lang="en-US" altLang="en-NL" sz="1400" b="1" dirty="0">
                <a:solidFill>
                  <a:srgbClr val="000000"/>
                </a:solidFill>
                <a:cs typeface="Arial" panose="020B0604020202020204" pitchFamily="34" charset="0"/>
              </a:rPr>
              <a:t>data steward or </a:t>
            </a:r>
            <a:r>
              <a:rPr lang="en-NL" altLang="en-NL" sz="1400" b="1" dirty="0">
                <a:solidFill>
                  <a:srgbClr val="000000"/>
                </a:solidFill>
                <a:cs typeface="Arial" panose="020B0604020202020204" pitchFamily="34" charset="0"/>
              </a:rPr>
              <a:t>researcher</a:t>
            </a: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, </a:t>
            </a:r>
            <a:r>
              <a:rPr lang="en-NL" altLang="en-NL" sz="14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400" dirty="0">
                <a:solidFill>
                  <a:srgbClr val="E97132"/>
                </a:solidFill>
                <a:cs typeface="Arial" panose="020B0604020202020204" pitchFamily="34" charset="0"/>
              </a:rPr>
              <a:t> check the semantic relation between two selected concepts</a:t>
            </a: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en-NL" altLang="en-NL" sz="14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en-NL" altLang="en-NL" sz="1400" dirty="0">
                <a:solidFill>
                  <a:srgbClr val="4EA72E"/>
                </a:solidFill>
                <a:cs typeface="Arial" panose="020B0604020202020204" pitchFamily="34" charset="0"/>
              </a:rPr>
              <a:t>I can quickly see whether they are compatible for comparison or reuse.</a:t>
            </a:r>
            <a:endParaRPr lang="en-NL" altLang="en-NL" sz="14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As a </a:t>
            </a:r>
            <a:r>
              <a:rPr lang="en-US" altLang="en-NL" sz="1400" b="1" dirty="0">
                <a:solidFill>
                  <a:srgbClr val="000000"/>
                </a:solidFill>
                <a:cs typeface="Arial" panose="020B0604020202020204" pitchFamily="34" charset="0"/>
              </a:rPr>
              <a:t>mapper</a:t>
            </a: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, </a:t>
            </a:r>
            <a:r>
              <a:rPr lang="en-NL" altLang="en-NL" sz="14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1400" dirty="0">
                <a:solidFill>
                  <a:srgbClr val="E97132"/>
                </a:solidFill>
                <a:cs typeface="Arial" panose="020B0604020202020204" pitchFamily="34" charset="0"/>
              </a:rPr>
              <a:t> check how two selected terms are semantically related</a:t>
            </a: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en-NL" altLang="en-NL" sz="14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en-NL" altLang="en-NL" sz="1400" dirty="0">
                <a:solidFill>
                  <a:srgbClr val="4EA72E"/>
                </a:solidFill>
                <a:cs typeface="Arial" panose="020B0604020202020204" pitchFamily="34" charset="0"/>
              </a:rPr>
              <a:t>I can verify whether </a:t>
            </a:r>
            <a:r>
              <a:rPr lang="en-US" altLang="en-NL" sz="1400" dirty="0">
                <a:solidFill>
                  <a:srgbClr val="4EA72E"/>
                </a:solidFill>
                <a:cs typeface="Arial" panose="020B0604020202020204" pitchFamily="34" charset="0"/>
              </a:rPr>
              <a:t>two concepts </a:t>
            </a:r>
            <a:r>
              <a:rPr lang="en-NL" altLang="en-NL" sz="1400" dirty="0">
                <a:solidFill>
                  <a:srgbClr val="4EA72E"/>
                </a:solidFill>
                <a:cs typeface="Arial" panose="020B0604020202020204" pitchFamily="34" charset="0"/>
              </a:rPr>
              <a:t>fully align, partially align, may align, or cannot align</a:t>
            </a:r>
            <a:r>
              <a:rPr lang="en-US" altLang="en-NL" sz="1400" dirty="0">
                <a:solidFill>
                  <a:srgbClr val="4EA72E"/>
                </a:solidFill>
                <a:cs typeface="Arial" panose="020B0604020202020204" pitchFamily="34" charset="0"/>
              </a:rPr>
              <a:t> so I can register and publish the mapping</a:t>
            </a:r>
            <a:r>
              <a:rPr lang="en-NL" altLang="en-NL" sz="1400" dirty="0">
                <a:solidFill>
                  <a:srgbClr val="4EA72E"/>
                </a:solidFill>
                <a:cs typeface="Arial" panose="020B0604020202020204" pitchFamily="34" charset="0"/>
              </a:rPr>
              <a:t>.</a:t>
            </a:r>
            <a:r>
              <a:rPr lang="en-US" altLang="en-NL" sz="1400" dirty="0">
                <a:solidFill>
                  <a:srgbClr val="4EA72E"/>
                </a:solidFill>
                <a:cs typeface="Arial" panose="020B0604020202020204" pitchFamily="34" charset="0"/>
              </a:rPr>
              <a:t> </a:t>
            </a:r>
            <a:r>
              <a:rPr lang="en-NL" altLang="en-NL" sz="14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1400" dirty="0">
                <a:solidFill>
                  <a:srgbClr val="000000"/>
                </a:solidFill>
                <a:cs typeface="Arial" panose="020B0604020202020204" pitchFamily="34" charset="0"/>
              </a:rPr>
              <a:t> </a:t>
            </a:r>
            <a:r>
              <a:rPr lang="en-NL" altLang="en-NL" sz="1400" dirty="0">
                <a:solidFill>
                  <a:srgbClr val="4EA72E"/>
                </a:solidFill>
                <a:cs typeface="Arial" panose="020B0604020202020204" pitchFamily="34" charset="0"/>
              </a:rPr>
              <a:t>I can decide whether a new mapping is needed or whether the relation is already established.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A4CB89-6F5F-00E9-77CD-17D0592E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Scenario 4:</a:t>
            </a:r>
            <a:br>
              <a:rPr lang="en-US" sz="3600" b="1" dirty="0"/>
            </a:br>
            <a:r>
              <a:rPr lang="en-US" sz="3600" dirty="0"/>
              <a:t>Check the Existing Alignment Between Two Selected Concepts</a:t>
            </a:r>
            <a:endParaRPr lang="en-NL" sz="3600" dirty="0"/>
          </a:p>
        </p:txBody>
      </p:sp>
    </p:spTree>
    <p:extLst>
      <p:ext uri="{BB962C8B-B14F-4D97-AF65-F5344CB8AC3E}">
        <p14:creationId xmlns:p14="http://schemas.microsoft.com/office/powerpoint/2010/main" val="7719248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FCB62-1C55-4A3A-B02E-504BF2280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3"/>
                </a:solidFill>
              </a:rPr>
              <a:t>Input:</a:t>
            </a:r>
            <a:r>
              <a:rPr lang="en-US" dirty="0"/>
              <a:t> Two concepts at the representation layer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 err="1"/>
              <a:t>sourceConcept</a:t>
            </a:r>
            <a:r>
              <a:rPr lang="en-US" i="1" dirty="0"/>
              <a:t>: </a:t>
            </a:r>
            <a:r>
              <a:rPr lang="en-US" i="1" dirty="0" err="1"/>
              <a:t>RepresentationConcept</a:t>
            </a:r>
            <a:endParaRPr lang="en-US" i="1" dirty="0"/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 err="1"/>
              <a:t>targetConcept</a:t>
            </a:r>
            <a:r>
              <a:rPr lang="en-US" i="1" dirty="0"/>
              <a:t>: </a:t>
            </a:r>
            <a:r>
              <a:rPr lang="en-US" i="1" dirty="0" err="1"/>
              <a:t>RepresentationConcept</a:t>
            </a:r>
            <a:endParaRPr lang="en-US" i="1" dirty="0"/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2"/>
                </a:solidFill>
              </a:rPr>
              <a:t>Output:</a:t>
            </a:r>
            <a:r>
              <a:rPr lang="en-US" dirty="0"/>
              <a:t> The alignment relation between the two selected concepts, if any, including provenance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 err="1"/>
              <a:t>pairwiseAlignments</a:t>
            </a:r>
            <a:r>
              <a:rPr lang="en-US" i="1" dirty="0"/>
              <a:t>: Set&lt;</a:t>
            </a:r>
            <a:r>
              <a:rPr lang="en-US" i="1" dirty="0" err="1"/>
              <a:t>PairwiseAlignment</a:t>
            </a:r>
            <a:r>
              <a:rPr lang="en-US" i="1" dirty="0"/>
              <a:t>&gt;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accent1"/>
                </a:solidFill>
              </a:rPr>
              <a:t>Semantics: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 err="1"/>
              <a:t>pairwiseAlignments</a:t>
            </a:r>
            <a:r>
              <a:rPr lang="en-US" i="1" dirty="0"/>
              <a:t> = { (r, prov) | r ∈ {aligns, </a:t>
            </a:r>
            <a:r>
              <a:rPr lang="en-US" i="1" dirty="0" err="1"/>
              <a:t>mayAlign</a:t>
            </a:r>
            <a:r>
              <a:rPr lang="en-US" i="1" dirty="0"/>
              <a:t>, </a:t>
            </a:r>
            <a:r>
              <a:rPr lang="en-US" i="1" dirty="0" err="1"/>
              <a:t>partiallyAligns</a:t>
            </a:r>
            <a:r>
              <a:rPr lang="en-US" i="1" dirty="0"/>
              <a:t>, </a:t>
            </a:r>
            <a:r>
              <a:rPr lang="en-US" i="1" dirty="0" err="1"/>
              <a:t>cannotAlign</a:t>
            </a:r>
            <a:r>
              <a:rPr lang="en-US" i="1" dirty="0"/>
              <a:t>} and r(</a:t>
            </a:r>
            <a:r>
              <a:rPr lang="en-US" i="1" dirty="0" err="1"/>
              <a:t>sourceConcept</a:t>
            </a:r>
            <a:r>
              <a:rPr lang="en-US" i="1" dirty="0"/>
              <a:t>, </a:t>
            </a:r>
            <a:r>
              <a:rPr lang="en-US" i="1" dirty="0" err="1"/>
              <a:t>targetConcept</a:t>
            </a:r>
            <a:r>
              <a:rPr lang="en-US" i="1" dirty="0"/>
              <a:t>) and prov = provenance(r(</a:t>
            </a:r>
            <a:r>
              <a:rPr lang="en-US" i="1" dirty="0" err="1"/>
              <a:t>sourceConcept</a:t>
            </a:r>
            <a:r>
              <a:rPr lang="en-US" i="1" dirty="0"/>
              <a:t>, </a:t>
            </a:r>
            <a:r>
              <a:rPr lang="en-US" i="1" dirty="0" err="1"/>
              <a:t>targetConcept</a:t>
            </a:r>
            <a:r>
              <a:rPr lang="en-US" i="1" dirty="0"/>
              <a:t>)) }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i="1" dirty="0"/>
              <a:t>Where: </a:t>
            </a:r>
            <a:r>
              <a:rPr lang="en-US" i="1" dirty="0" err="1"/>
              <a:t>PairwiseAlignment</a:t>
            </a:r>
            <a:r>
              <a:rPr lang="en-US" i="1" dirty="0"/>
              <a:t> = (</a:t>
            </a:r>
            <a:r>
              <a:rPr lang="en-US" i="1" dirty="0" err="1"/>
              <a:t>relationType</a:t>
            </a:r>
            <a:r>
              <a:rPr lang="en-US" i="1" dirty="0"/>
              <a:t>: </a:t>
            </a:r>
            <a:r>
              <a:rPr lang="en-US" i="1" dirty="0" err="1"/>
              <a:t>AlignmentRelation</a:t>
            </a:r>
            <a:r>
              <a:rPr lang="en-US" i="1" dirty="0"/>
              <a:t>, provenance: Provenance)</a:t>
            </a:r>
            <a:endParaRPr lang="en-NL" i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3976C-E0F9-A653-A5A8-33658DBBD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Scenario 4:</a:t>
            </a:r>
            <a:br>
              <a:rPr lang="en-US" sz="3600" b="1" dirty="0"/>
            </a:br>
            <a:r>
              <a:rPr lang="en-US" sz="3600" dirty="0"/>
              <a:t>Check the Existing Alignment Between Two Selected Concepts</a:t>
            </a:r>
            <a:endParaRPr lang="en-NL" sz="3600" dirty="0"/>
          </a:p>
        </p:txBody>
      </p:sp>
    </p:spTree>
    <p:extLst>
      <p:ext uri="{BB962C8B-B14F-4D97-AF65-F5344CB8AC3E}">
        <p14:creationId xmlns:p14="http://schemas.microsoft.com/office/powerpoint/2010/main" val="20768936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5A015-CC6D-02A2-890B-1DD3D8F41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Scenario 5: </a:t>
            </a:r>
            <a:br>
              <a:rPr lang="en-US" sz="3600" b="1" dirty="0"/>
            </a:br>
            <a:r>
              <a:rPr lang="en-US" sz="3600" dirty="0"/>
              <a:t>Assess Semantic Alignments for a Selected Concept</a:t>
            </a:r>
            <a:endParaRPr lang="en-NL" sz="36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9AF873-176A-914C-64ED-BE8592D89394}"/>
              </a:ext>
            </a:extLst>
          </p:cNvPr>
          <p:cNvGrpSpPr/>
          <p:nvPr/>
        </p:nvGrpSpPr>
        <p:grpSpPr>
          <a:xfrm>
            <a:off x="798156" y="2261252"/>
            <a:ext cx="10595687" cy="3689597"/>
            <a:chOff x="1558212" y="2042471"/>
            <a:chExt cx="10595687" cy="4132312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1CADED6-D969-D298-74A1-33F3213B044E}"/>
                </a:ext>
              </a:extLst>
            </p:cNvPr>
            <p:cNvSpPr/>
            <p:nvPr/>
          </p:nvSpPr>
          <p:spPr>
            <a:xfrm>
              <a:off x="4605153" y="2104285"/>
              <a:ext cx="7548746" cy="666237"/>
            </a:xfrm>
            <a:custGeom>
              <a:avLst/>
              <a:gdLst>
                <a:gd name="csX0" fmla="*/ 139665 w 837972"/>
                <a:gd name="csY0" fmla="*/ 0 h 6729984"/>
                <a:gd name="csX1" fmla="*/ 698307 w 837972"/>
                <a:gd name="csY1" fmla="*/ 0 h 6729984"/>
                <a:gd name="csX2" fmla="*/ 837972 w 837972"/>
                <a:gd name="csY2" fmla="*/ 139665 h 6729984"/>
                <a:gd name="csX3" fmla="*/ 837972 w 837972"/>
                <a:gd name="csY3" fmla="*/ 6729984 h 6729984"/>
                <a:gd name="csX4" fmla="*/ 837972 w 837972"/>
                <a:gd name="csY4" fmla="*/ 6729984 h 6729984"/>
                <a:gd name="csX5" fmla="*/ 0 w 837972"/>
                <a:gd name="csY5" fmla="*/ 6729984 h 6729984"/>
                <a:gd name="csX6" fmla="*/ 0 w 837972"/>
                <a:gd name="csY6" fmla="*/ 6729984 h 6729984"/>
                <a:gd name="csX7" fmla="*/ 0 w 837972"/>
                <a:gd name="csY7" fmla="*/ 139665 h 6729984"/>
                <a:gd name="csX8" fmla="*/ 139665 w 837972"/>
                <a:gd name="csY8" fmla="*/ 0 h 6729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37972" h="6729984">
                  <a:moveTo>
                    <a:pt x="837972" y="1121691"/>
                  </a:moveTo>
                  <a:lnTo>
                    <a:pt x="837972" y="5608293"/>
                  </a:lnTo>
                  <a:cubicBezTo>
                    <a:pt x="837972" y="6227785"/>
                    <a:pt x="830186" y="6729980"/>
                    <a:pt x="820582" y="6729980"/>
                  </a:cubicBezTo>
                  <a:lnTo>
                    <a:pt x="0" y="6729980"/>
                  </a:lnTo>
                  <a:lnTo>
                    <a:pt x="0" y="6729980"/>
                  </a:lnTo>
                  <a:lnTo>
                    <a:pt x="0" y="4"/>
                  </a:lnTo>
                  <a:lnTo>
                    <a:pt x="0" y="4"/>
                  </a:lnTo>
                  <a:lnTo>
                    <a:pt x="820582" y="4"/>
                  </a:lnTo>
                  <a:cubicBezTo>
                    <a:pt x="830186" y="4"/>
                    <a:pt x="837972" y="502199"/>
                    <a:pt x="837972" y="1121691"/>
                  </a:cubicBezTo>
                  <a:close/>
                </a:path>
              </a:pathLst>
            </a:custGeom>
          </p:spPr>
          <p:style>
            <a:ln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7630" tIns="84721" rIns="128536" bIns="84721" numCol="1" spcCol="1270" anchor="ctr" anchorCtr="0">
              <a:noAutofit/>
            </a:bodyPr>
            <a:lstStyle/>
            <a:p>
              <a:pPr marL="228600" lvl="1" indent="-22860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300" kern="1200" dirty="0"/>
                <a:t>	Identify Exact Semantic Matches for a Selected Concept</a:t>
              </a:r>
              <a:endParaRPr lang="en-NL" sz="2300" kern="1200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D819170-6114-8A7F-5CEB-D1907FEFA394}"/>
                </a:ext>
              </a:extLst>
            </p:cNvPr>
            <p:cNvSpPr/>
            <p:nvPr/>
          </p:nvSpPr>
          <p:spPr>
            <a:xfrm>
              <a:off x="1558212" y="2042471"/>
              <a:ext cx="3065604" cy="832797"/>
            </a:xfrm>
            <a:custGeom>
              <a:avLst/>
              <a:gdLst>
                <a:gd name="csX0" fmla="*/ 0 w 3785616"/>
                <a:gd name="csY0" fmla="*/ 174581 h 1047465"/>
                <a:gd name="csX1" fmla="*/ 174581 w 3785616"/>
                <a:gd name="csY1" fmla="*/ 0 h 1047465"/>
                <a:gd name="csX2" fmla="*/ 3611035 w 3785616"/>
                <a:gd name="csY2" fmla="*/ 0 h 1047465"/>
                <a:gd name="csX3" fmla="*/ 3785616 w 3785616"/>
                <a:gd name="csY3" fmla="*/ 174581 h 1047465"/>
                <a:gd name="csX4" fmla="*/ 3785616 w 3785616"/>
                <a:gd name="csY4" fmla="*/ 872884 h 1047465"/>
                <a:gd name="csX5" fmla="*/ 3611035 w 3785616"/>
                <a:gd name="csY5" fmla="*/ 1047465 h 1047465"/>
                <a:gd name="csX6" fmla="*/ 174581 w 3785616"/>
                <a:gd name="csY6" fmla="*/ 1047465 h 1047465"/>
                <a:gd name="csX7" fmla="*/ 0 w 3785616"/>
                <a:gd name="csY7" fmla="*/ 872884 h 1047465"/>
                <a:gd name="csX8" fmla="*/ 0 w 3785616"/>
                <a:gd name="csY8" fmla="*/ 174581 h 1047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785616" h="1047465">
                  <a:moveTo>
                    <a:pt x="0" y="174581"/>
                  </a:moveTo>
                  <a:cubicBezTo>
                    <a:pt x="0" y="78163"/>
                    <a:pt x="78163" y="0"/>
                    <a:pt x="174581" y="0"/>
                  </a:cubicBezTo>
                  <a:lnTo>
                    <a:pt x="3611035" y="0"/>
                  </a:lnTo>
                  <a:cubicBezTo>
                    <a:pt x="3707453" y="0"/>
                    <a:pt x="3785616" y="78163"/>
                    <a:pt x="3785616" y="174581"/>
                  </a:cubicBezTo>
                  <a:lnTo>
                    <a:pt x="3785616" y="872884"/>
                  </a:lnTo>
                  <a:cubicBezTo>
                    <a:pt x="3785616" y="969302"/>
                    <a:pt x="3707453" y="1047465"/>
                    <a:pt x="3611035" y="1047465"/>
                  </a:cubicBezTo>
                  <a:lnTo>
                    <a:pt x="174581" y="1047465"/>
                  </a:lnTo>
                  <a:cubicBezTo>
                    <a:pt x="78163" y="1047465"/>
                    <a:pt x="0" y="969302"/>
                    <a:pt x="0" y="872884"/>
                  </a:cubicBezTo>
                  <a:lnTo>
                    <a:pt x="0" y="17458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8293" tIns="119713" rIns="188293" bIns="119713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/>
                <a:t>Scenario 5.1</a:t>
              </a:r>
              <a:endParaRPr lang="en-NL" sz="2800" b="1" kern="1200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7BEDD44-1CC6-466D-3B78-A7C640ECA5D9}"/>
                </a:ext>
              </a:extLst>
            </p:cNvPr>
            <p:cNvSpPr/>
            <p:nvPr/>
          </p:nvSpPr>
          <p:spPr>
            <a:xfrm>
              <a:off x="4605153" y="3204124"/>
              <a:ext cx="7548746" cy="666237"/>
            </a:xfrm>
            <a:custGeom>
              <a:avLst/>
              <a:gdLst>
                <a:gd name="csX0" fmla="*/ 139665 w 837972"/>
                <a:gd name="csY0" fmla="*/ 0 h 6729984"/>
                <a:gd name="csX1" fmla="*/ 698307 w 837972"/>
                <a:gd name="csY1" fmla="*/ 0 h 6729984"/>
                <a:gd name="csX2" fmla="*/ 837972 w 837972"/>
                <a:gd name="csY2" fmla="*/ 139665 h 6729984"/>
                <a:gd name="csX3" fmla="*/ 837972 w 837972"/>
                <a:gd name="csY3" fmla="*/ 6729984 h 6729984"/>
                <a:gd name="csX4" fmla="*/ 837972 w 837972"/>
                <a:gd name="csY4" fmla="*/ 6729984 h 6729984"/>
                <a:gd name="csX5" fmla="*/ 0 w 837972"/>
                <a:gd name="csY5" fmla="*/ 6729984 h 6729984"/>
                <a:gd name="csX6" fmla="*/ 0 w 837972"/>
                <a:gd name="csY6" fmla="*/ 6729984 h 6729984"/>
                <a:gd name="csX7" fmla="*/ 0 w 837972"/>
                <a:gd name="csY7" fmla="*/ 139665 h 6729984"/>
                <a:gd name="csX8" fmla="*/ 139665 w 837972"/>
                <a:gd name="csY8" fmla="*/ 0 h 6729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37972" h="6729984">
                  <a:moveTo>
                    <a:pt x="837972" y="1121691"/>
                  </a:moveTo>
                  <a:lnTo>
                    <a:pt x="837972" y="5608293"/>
                  </a:lnTo>
                  <a:cubicBezTo>
                    <a:pt x="837972" y="6227785"/>
                    <a:pt x="830186" y="6729980"/>
                    <a:pt x="820582" y="6729980"/>
                  </a:cubicBezTo>
                  <a:lnTo>
                    <a:pt x="0" y="6729980"/>
                  </a:lnTo>
                  <a:lnTo>
                    <a:pt x="0" y="6729980"/>
                  </a:lnTo>
                  <a:lnTo>
                    <a:pt x="0" y="4"/>
                  </a:lnTo>
                  <a:lnTo>
                    <a:pt x="0" y="4"/>
                  </a:lnTo>
                  <a:lnTo>
                    <a:pt x="820582" y="4"/>
                  </a:lnTo>
                  <a:cubicBezTo>
                    <a:pt x="830186" y="4"/>
                    <a:pt x="837972" y="502199"/>
                    <a:pt x="837972" y="1121691"/>
                  </a:cubicBezTo>
                  <a:close/>
                </a:path>
              </a:pathLst>
            </a:custGeom>
          </p:spPr>
          <p:style>
            <a:lnRef idx="1">
              <a:schemeClr val="accent3">
                <a:tint val="40000"/>
                <a:alpha val="90000"/>
                <a:hueOff val="1685052"/>
                <a:satOff val="14902"/>
                <a:lumOff val="1765"/>
                <a:alphaOff val="0"/>
              </a:schemeClr>
            </a:lnRef>
            <a:fillRef idx="1">
              <a:schemeClr val="accent3">
                <a:tint val="40000"/>
                <a:alpha val="90000"/>
                <a:hueOff val="1685052"/>
                <a:satOff val="14902"/>
                <a:lumOff val="1765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1685052"/>
                <a:satOff val="14902"/>
                <a:lumOff val="1765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7630" tIns="84721" rIns="128536" bIns="84721" numCol="1" spcCol="1270" anchor="ctr" anchorCtr="0">
              <a:noAutofit/>
            </a:bodyPr>
            <a:lstStyle/>
            <a:p>
              <a:pPr marL="228600" lvl="1" indent="-22860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300" kern="1200" dirty="0"/>
                <a:t>	Identify Semantically Incompatible Concepts</a:t>
              </a:r>
              <a:endParaRPr lang="en-NL" sz="2300" kern="12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469B6BF-AC3C-C087-D308-437E297FA29E}"/>
                </a:ext>
              </a:extLst>
            </p:cNvPr>
            <p:cNvSpPr/>
            <p:nvPr/>
          </p:nvSpPr>
          <p:spPr>
            <a:xfrm>
              <a:off x="1558212" y="3142309"/>
              <a:ext cx="3065604" cy="832797"/>
            </a:xfrm>
            <a:custGeom>
              <a:avLst/>
              <a:gdLst>
                <a:gd name="csX0" fmla="*/ 0 w 3785616"/>
                <a:gd name="csY0" fmla="*/ 174581 h 1047465"/>
                <a:gd name="csX1" fmla="*/ 174581 w 3785616"/>
                <a:gd name="csY1" fmla="*/ 0 h 1047465"/>
                <a:gd name="csX2" fmla="*/ 3611035 w 3785616"/>
                <a:gd name="csY2" fmla="*/ 0 h 1047465"/>
                <a:gd name="csX3" fmla="*/ 3785616 w 3785616"/>
                <a:gd name="csY3" fmla="*/ 174581 h 1047465"/>
                <a:gd name="csX4" fmla="*/ 3785616 w 3785616"/>
                <a:gd name="csY4" fmla="*/ 872884 h 1047465"/>
                <a:gd name="csX5" fmla="*/ 3611035 w 3785616"/>
                <a:gd name="csY5" fmla="*/ 1047465 h 1047465"/>
                <a:gd name="csX6" fmla="*/ 174581 w 3785616"/>
                <a:gd name="csY6" fmla="*/ 1047465 h 1047465"/>
                <a:gd name="csX7" fmla="*/ 0 w 3785616"/>
                <a:gd name="csY7" fmla="*/ 872884 h 1047465"/>
                <a:gd name="csX8" fmla="*/ 0 w 3785616"/>
                <a:gd name="csY8" fmla="*/ 174581 h 1047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785616" h="1047465">
                  <a:moveTo>
                    <a:pt x="0" y="174581"/>
                  </a:moveTo>
                  <a:cubicBezTo>
                    <a:pt x="0" y="78163"/>
                    <a:pt x="78163" y="0"/>
                    <a:pt x="174581" y="0"/>
                  </a:cubicBezTo>
                  <a:lnTo>
                    <a:pt x="3611035" y="0"/>
                  </a:lnTo>
                  <a:cubicBezTo>
                    <a:pt x="3707453" y="0"/>
                    <a:pt x="3785616" y="78163"/>
                    <a:pt x="3785616" y="174581"/>
                  </a:cubicBezTo>
                  <a:lnTo>
                    <a:pt x="3785616" y="872884"/>
                  </a:lnTo>
                  <a:cubicBezTo>
                    <a:pt x="3785616" y="969302"/>
                    <a:pt x="3707453" y="1047465"/>
                    <a:pt x="3611035" y="1047465"/>
                  </a:cubicBezTo>
                  <a:lnTo>
                    <a:pt x="174581" y="1047465"/>
                  </a:lnTo>
                  <a:cubicBezTo>
                    <a:pt x="78163" y="1047465"/>
                    <a:pt x="0" y="969302"/>
                    <a:pt x="0" y="872884"/>
                  </a:cubicBezTo>
                  <a:lnTo>
                    <a:pt x="0" y="17458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1372388"/>
                <a:satOff val="8237"/>
                <a:lumOff val="6275"/>
                <a:alphaOff val="0"/>
              </a:schemeClr>
            </a:fillRef>
            <a:effectRef idx="2">
              <a:schemeClr val="accent3">
                <a:hueOff val="1372388"/>
                <a:satOff val="8237"/>
                <a:lumOff val="627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8293" tIns="119713" rIns="188293" bIns="119713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/>
                <a:t>Scenario 5.2</a:t>
              </a:r>
              <a:endParaRPr lang="en-NL" sz="2800" b="1" kern="12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3251B57-3273-4ACE-31C3-0856ACA496A9}"/>
                </a:ext>
              </a:extLst>
            </p:cNvPr>
            <p:cNvSpPr/>
            <p:nvPr/>
          </p:nvSpPr>
          <p:spPr>
            <a:xfrm>
              <a:off x="4605153" y="4303962"/>
              <a:ext cx="7548746" cy="666237"/>
            </a:xfrm>
            <a:custGeom>
              <a:avLst/>
              <a:gdLst>
                <a:gd name="csX0" fmla="*/ 139665 w 837972"/>
                <a:gd name="csY0" fmla="*/ 0 h 6729984"/>
                <a:gd name="csX1" fmla="*/ 698307 w 837972"/>
                <a:gd name="csY1" fmla="*/ 0 h 6729984"/>
                <a:gd name="csX2" fmla="*/ 837972 w 837972"/>
                <a:gd name="csY2" fmla="*/ 139665 h 6729984"/>
                <a:gd name="csX3" fmla="*/ 837972 w 837972"/>
                <a:gd name="csY3" fmla="*/ 6729984 h 6729984"/>
                <a:gd name="csX4" fmla="*/ 837972 w 837972"/>
                <a:gd name="csY4" fmla="*/ 6729984 h 6729984"/>
                <a:gd name="csX5" fmla="*/ 0 w 837972"/>
                <a:gd name="csY5" fmla="*/ 6729984 h 6729984"/>
                <a:gd name="csX6" fmla="*/ 0 w 837972"/>
                <a:gd name="csY6" fmla="*/ 6729984 h 6729984"/>
                <a:gd name="csX7" fmla="*/ 0 w 837972"/>
                <a:gd name="csY7" fmla="*/ 139665 h 6729984"/>
                <a:gd name="csX8" fmla="*/ 139665 w 837972"/>
                <a:gd name="csY8" fmla="*/ 0 h 6729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37972" h="6729984">
                  <a:moveTo>
                    <a:pt x="837972" y="1121691"/>
                  </a:moveTo>
                  <a:lnTo>
                    <a:pt x="837972" y="5608293"/>
                  </a:lnTo>
                  <a:cubicBezTo>
                    <a:pt x="837972" y="6227785"/>
                    <a:pt x="830186" y="6729980"/>
                    <a:pt x="820582" y="6729980"/>
                  </a:cubicBezTo>
                  <a:lnTo>
                    <a:pt x="0" y="6729980"/>
                  </a:lnTo>
                  <a:lnTo>
                    <a:pt x="0" y="6729980"/>
                  </a:lnTo>
                  <a:lnTo>
                    <a:pt x="0" y="4"/>
                  </a:lnTo>
                  <a:lnTo>
                    <a:pt x="0" y="4"/>
                  </a:lnTo>
                  <a:lnTo>
                    <a:pt x="820582" y="4"/>
                  </a:lnTo>
                  <a:cubicBezTo>
                    <a:pt x="830186" y="4"/>
                    <a:pt x="837972" y="502199"/>
                    <a:pt x="837972" y="1121691"/>
                  </a:cubicBezTo>
                  <a:close/>
                </a:path>
              </a:pathLst>
            </a:custGeom>
          </p:spPr>
          <p:style>
            <a:lnRef idx="1">
              <a:schemeClr val="accent3">
                <a:tint val="40000"/>
                <a:alpha val="90000"/>
                <a:hueOff val="3370104"/>
                <a:satOff val="29803"/>
                <a:lumOff val="3530"/>
                <a:alphaOff val="0"/>
              </a:schemeClr>
            </a:lnRef>
            <a:fillRef idx="1">
              <a:schemeClr val="accent3">
                <a:tint val="40000"/>
                <a:alpha val="90000"/>
                <a:hueOff val="3370104"/>
                <a:satOff val="29803"/>
                <a:lumOff val="3530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3370104"/>
                <a:satOff val="29803"/>
                <a:lumOff val="353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7630" tIns="84721" rIns="128536" bIns="84721" numCol="1" spcCol="1270" anchor="ctr" anchorCtr="0">
              <a:noAutofit/>
            </a:bodyPr>
            <a:lstStyle/>
            <a:p>
              <a:pPr marL="228600" lvl="1" indent="-22860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300" kern="1200" dirty="0"/>
                <a:t>	Identify Potential Semantic Matches for Further Review</a:t>
              </a:r>
              <a:endParaRPr lang="en-NL" sz="2300" kern="120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767BE8C-6C00-C630-3443-942A4959728A}"/>
                </a:ext>
              </a:extLst>
            </p:cNvPr>
            <p:cNvSpPr/>
            <p:nvPr/>
          </p:nvSpPr>
          <p:spPr>
            <a:xfrm>
              <a:off x="1558212" y="4242148"/>
              <a:ext cx="3065604" cy="832797"/>
            </a:xfrm>
            <a:custGeom>
              <a:avLst/>
              <a:gdLst>
                <a:gd name="csX0" fmla="*/ 0 w 3785616"/>
                <a:gd name="csY0" fmla="*/ 174581 h 1047465"/>
                <a:gd name="csX1" fmla="*/ 174581 w 3785616"/>
                <a:gd name="csY1" fmla="*/ 0 h 1047465"/>
                <a:gd name="csX2" fmla="*/ 3611035 w 3785616"/>
                <a:gd name="csY2" fmla="*/ 0 h 1047465"/>
                <a:gd name="csX3" fmla="*/ 3785616 w 3785616"/>
                <a:gd name="csY3" fmla="*/ 174581 h 1047465"/>
                <a:gd name="csX4" fmla="*/ 3785616 w 3785616"/>
                <a:gd name="csY4" fmla="*/ 872884 h 1047465"/>
                <a:gd name="csX5" fmla="*/ 3611035 w 3785616"/>
                <a:gd name="csY5" fmla="*/ 1047465 h 1047465"/>
                <a:gd name="csX6" fmla="*/ 174581 w 3785616"/>
                <a:gd name="csY6" fmla="*/ 1047465 h 1047465"/>
                <a:gd name="csX7" fmla="*/ 0 w 3785616"/>
                <a:gd name="csY7" fmla="*/ 872884 h 1047465"/>
                <a:gd name="csX8" fmla="*/ 0 w 3785616"/>
                <a:gd name="csY8" fmla="*/ 174581 h 1047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785616" h="1047465">
                  <a:moveTo>
                    <a:pt x="0" y="174581"/>
                  </a:moveTo>
                  <a:cubicBezTo>
                    <a:pt x="0" y="78163"/>
                    <a:pt x="78163" y="0"/>
                    <a:pt x="174581" y="0"/>
                  </a:cubicBezTo>
                  <a:lnTo>
                    <a:pt x="3611035" y="0"/>
                  </a:lnTo>
                  <a:cubicBezTo>
                    <a:pt x="3707453" y="0"/>
                    <a:pt x="3785616" y="78163"/>
                    <a:pt x="3785616" y="174581"/>
                  </a:cubicBezTo>
                  <a:lnTo>
                    <a:pt x="3785616" y="872884"/>
                  </a:lnTo>
                  <a:cubicBezTo>
                    <a:pt x="3785616" y="969302"/>
                    <a:pt x="3707453" y="1047465"/>
                    <a:pt x="3611035" y="1047465"/>
                  </a:cubicBezTo>
                  <a:lnTo>
                    <a:pt x="174581" y="1047465"/>
                  </a:lnTo>
                  <a:cubicBezTo>
                    <a:pt x="78163" y="1047465"/>
                    <a:pt x="0" y="969302"/>
                    <a:pt x="0" y="872884"/>
                  </a:cubicBezTo>
                  <a:lnTo>
                    <a:pt x="0" y="17458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2744775"/>
                <a:satOff val="16475"/>
                <a:lumOff val="12550"/>
                <a:alphaOff val="0"/>
              </a:schemeClr>
            </a:fillRef>
            <a:effectRef idx="2">
              <a:schemeClr val="accent3">
                <a:hueOff val="2744775"/>
                <a:satOff val="16475"/>
                <a:lumOff val="1255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8293" tIns="119713" rIns="188293" bIns="119713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/>
                <a:t>Scenario 5.3</a:t>
              </a:r>
              <a:endParaRPr lang="en-NL" sz="2800" b="1" kern="120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23A3CC0-CE11-FFDD-0B27-78C67851DE49}"/>
                </a:ext>
              </a:extLst>
            </p:cNvPr>
            <p:cNvSpPr/>
            <p:nvPr/>
          </p:nvSpPr>
          <p:spPr>
            <a:xfrm>
              <a:off x="4605153" y="5403800"/>
              <a:ext cx="7548746" cy="666237"/>
            </a:xfrm>
            <a:custGeom>
              <a:avLst/>
              <a:gdLst>
                <a:gd name="csX0" fmla="*/ 139665 w 837972"/>
                <a:gd name="csY0" fmla="*/ 0 h 6729984"/>
                <a:gd name="csX1" fmla="*/ 698307 w 837972"/>
                <a:gd name="csY1" fmla="*/ 0 h 6729984"/>
                <a:gd name="csX2" fmla="*/ 837972 w 837972"/>
                <a:gd name="csY2" fmla="*/ 139665 h 6729984"/>
                <a:gd name="csX3" fmla="*/ 837972 w 837972"/>
                <a:gd name="csY3" fmla="*/ 6729984 h 6729984"/>
                <a:gd name="csX4" fmla="*/ 837972 w 837972"/>
                <a:gd name="csY4" fmla="*/ 6729984 h 6729984"/>
                <a:gd name="csX5" fmla="*/ 0 w 837972"/>
                <a:gd name="csY5" fmla="*/ 6729984 h 6729984"/>
                <a:gd name="csX6" fmla="*/ 0 w 837972"/>
                <a:gd name="csY6" fmla="*/ 6729984 h 6729984"/>
                <a:gd name="csX7" fmla="*/ 0 w 837972"/>
                <a:gd name="csY7" fmla="*/ 139665 h 6729984"/>
                <a:gd name="csX8" fmla="*/ 139665 w 837972"/>
                <a:gd name="csY8" fmla="*/ 0 h 6729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37972" h="6729984">
                  <a:moveTo>
                    <a:pt x="837972" y="1121691"/>
                  </a:moveTo>
                  <a:lnTo>
                    <a:pt x="837972" y="5608293"/>
                  </a:lnTo>
                  <a:cubicBezTo>
                    <a:pt x="837972" y="6227785"/>
                    <a:pt x="830186" y="6729980"/>
                    <a:pt x="820582" y="6729980"/>
                  </a:cubicBezTo>
                  <a:lnTo>
                    <a:pt x="0" y="6729980"/>
                  </a:lnTo>
                  <a:lnTo>
                    <a:pt x="0" y="6729980"/>
                  </a:lnTo>
                  <a:lnTo>
                    <a:pt x="0" y="4"/>
                  </a:lnTo>
                  <a:lnTo>
                    <a:pt x="0" y="4"/>
                  </a:lnTo>
                  <a:lnTo>
                    <a:pt x="820582" y="4"/>
                  </a:lnTo>
                  <a:cubicBezTo>
                    <a:pt x="830186" y="4"/>
                    <a:pt x="837972" y="502199"/>
                    <a:pt x="837972" y="1121691"/>
                  </a:cubicBezTo>
                  <a:close/>
                </a:path>
              </a:pathLst>
            </a:custGeom>
          </p:spPr>
          <p:style>
            <a:lnRef idx="1">
              <a:schemeClr val="accent3">
                <a:tint val="40000"/>
                <a:alpha val="90000"/>
                <a:hueOff val="5055155"/>
                <a:satOff val="44705"/>
                <a:lumOff val="5295"/>
                <a:alphaOff val="0"/>
              </a:schemeClr>
            </a:lnRef>
            <a:fillRef idx="1">
              <a:schemeClr val="accent3">
                <a:tint val="40000"/>
                <a:alpha val="90000"/>
                <a:hueOff val="5055155"/>
                <a:satOff val="44705"/>
                <a:lumOff val="5295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5055155"/>
                <a:satOff val="44705"/>
                <a:lumOff val="5295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7630" tIns="84721" rIns="128536" bIns="84721" numCol="1" spcCol="1270" anchor="ctr" anchorCtr="0">
              <a:noAutofit/>
            </a:bodyPr>
            <a:lstStyle/>
            <a:p>
              <a:pPr marL="228600" lvl="1" indent="-22860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300" kern="1200" dirty="0"/>
                <a:t>	Identify Partially Aligned Concepts</a:t>
              </a:r>
              <a:endParaRPr lang="en-NL" sz="2300" kern="12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1349DCB-2D2C-040E-42AD-EC2259E3FA0D}"/>
                </a:ext>
              </a:extLst>
            </p:cNvPr>
            <p:cNvSpPr/>
            <p:nvPr/>
          </p:nvSpPr>
          <p:spPr>
            <a:xfrm>
              <a:off x="1558212" y="5341986"/>
              <a:ext cx="3065604" cy="832797"/>
            </a:xfrm>
            <a:custGeom>
              <a:avLst/>
              <a:gdLst>
                <a:gd name="csX0" fmla="*/ 0 w 3785616"/>
                <a:gd name="csY0" fmla="*/ 174581 h 1047465"/>
                <a:gd name="csX1" fmla="*/ 174581 w 3785616"/>
                <a:gd name="csY1" fmla="*/ 0 h 1047465"/>
                <a:gd name="csX2" fmla="*/ 3611035 w 3785616"/>
                <a:gd name="csY2" fmla="*/ 0 h 1047465"/>
                <a:gd name="csX3" fmla="*/ 3785616 w 3785616"/>
                <a:gd name="csY3" fmla="*/ 174581 h 1047465"/>
                <a:gd name="csX4" fmla="*/ 3785616 w 3785616"/>
                <a:gd name="csY4" fmla="*/ 872884 h 1047465"/>
                <a:gd name="csX5" fmla="*/ 3611035 w 3785616"/>
                <a:gd name="csY5" fmla="*/ 1047465 h 1047465"/>
                <a:gd name="csX6" fmla="*/ 174581 w 3785616"/>
                <a:gd name="csY6" fmla="*/ 1047465 h 1047465"/>
                <a:gd name="csX7" fmla="*/ 0 w 3785616"/>
                <a:gd name="csY7" fmla="*/ 872884 h 1047465"/>
                <a:gd name="csX8" fmla="*/ 0 w 3785616"/>
                <a:gd name="csY8" fmla="*/ 174581 h 1047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785616" h="1047465">
                  <a:moveTo>
                    <a:pt x="0" y="174581"/>
                  </a:moveTo>
                  <a:cubicBezTo>
                    <a:pt x="0" y="78163"/>
                    <a:pt x="78163" y="0"/>
                    <a:pt x="174581" y="0"/>
                  </a:cubicBezTo>
                  <a:lnTo>
                    <a:pt x="3611035" y="0"/>
                  </a:lnTo>
                  <a:cubicBezTo>
                    <a:pt x="3707453" y="0"/>
                    <a:pt x="3785616" y="78163"/>
                    <a:pt x="3785616" y="174581"/>
                  </a:cubicBezTo>
                  <a:lnTo>
                    <a:pt x="3785616" y="872884"/>
                  </a:lnTo>
                  <a:cubicBezTo>
                    <a:pt x="3785616" y="969302"/>
                    <a:pt x="3707453" y="1047465"/>
                    <a:pt x="3611035" y="1047465"/>
                  </a:cubicBezTo>
                  <a:lnTo>
                    <a:pt x="174581" y="1047465"/>
                  </a:lnTo>
                  <a:cubicBezTo>
                    <a:pt x="78163" y="1047465"/>
                    <a:pt x="0" y="969302"/>
                    <a:pt x="0" y="872884"/>
                  </a:cubicBezTo>
                  <a:lnTo>
                    <a:pt x="0" y="174581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4117163"/>
                <a:satOff val="24712"/>
                <a:lumOff val="18825"/>
                <a:alphaOff val="0"/>
              </a:schemeClr>
            </a:fillRef>
            <a:effectRef idx="2">
              <a:schemeClr val="accent3">
                <a:hueOff val="4117163"/>
                <a:satOff val="24712"/>
                <a:lumOff val="1882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8293" tIns="119713" rIns="188293" bIns="119713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/>
                <a:t>Scenario 5.4</a:t>
              </a:r>
              <a:endParaRPr lang="en-NL" sz="2800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42224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20200-D773-1979-296F-7D70B68F5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91800" cy="47720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3"/>
                </a:solidFill>
              </a:rPr>
              <a:t>Input: </a:t>
            </a:r>
            <a:r>
              <a:rPr lang="en-US" sz="2000" dirty="0"/>
              <a:t>One concept at the representation layer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i="1" dirty="0" err="1"/>
              <a:t>focusConcept</a:t>
            </a:r>
            <a:r>
              <a:rPr lang="en-US" sz="2000" i="1" dirty="0"/>
              <a:t>: </a:t>
            </a:r>
            <a:r>
              <a:rPr lang="en-US" sz="2000" i="1" dirty="0" err="1"/>
              <a:t>RepresentationConcept</a:t>
            </a:r>
            <a:endParaRPr lang="en-US" sz="2000" i="1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2"/>
                </a:solidFill>
              </a:rPr>
              <a:t>Output: </a:t>
            </a:r>
            <a:r>
              <a:rPr lang="en-US" sz="2000" dirty="0"/>
              <a:t>All related concepts for the selected concept, including the type of alignment and whether it is asserted or inferred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i="1" dirty="0" err="1"/>
              <a:t>alignmentResults</a:t>
            </a:r>
            <a:r>
              <a:rPr lang="en-US" sz="2000" i="1" dirty="0"/>
              <a:t>: Set&lt;</a:t>
            </a:r>
            <a:r>
              <a:rPr lang="en-US" sz="2000" i="1" dirty="0" err="1"/>
              <a:t>AlignmentResult</a:t>
            </a:r>
            <a:r>
              <a:rPr lang="en-US" sz="2000" i="1" dirty="0"/>
              <a:t>&gt;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1"/>
                </a:solidFill>
              </a:rPr>
              <a:t>Semantics: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i="1" dirty="0" err="1"/>
              <a:t>alignmentResults</a:t>
            </a:r>
            <a:r>
              <a:rPr lang="en-US" sz="2000" i="1" dirty="0"/>
              <a:t> = { (c2, r, prov) | r ∈ {aligns, </a:t>
            </a:r>
            <a:r>
              <a:rPr lang="en-US" sz="2000" i="1" dirty="0" err="1"/>
              <a:t>mayAlign</a:t>
            </a:r>
            <a:r>
              <a:rPr lang="en-US" sz="2000" i="1" dirty="0"/>
              <a:t>, </a:t>
            </a:r>
            <a:r>
              <a:rPr lang="en-US" sz="2000" i="1" dirty="0" err="1"/>
              <a:t>partiallyAligns</a:t>
            </a:r>
            <a:r>
              <a:rPr lang="en-US" sz="2000" i="1" dirty="0"/>
              <a:t>, </a:t>
            </a:r>
            <a:r>
              <a:rPr lang="en-US" sz="2000" i="1" dirty="0" err="1"/>
              <a:t>cannotAlign</a:t>
            </a:r>
            <a:r>
              <a:rPr lang="en-US" sz="2000" i="1" dirty="0"/>
              <a:t>} and r(</a:t>
            </a:r>
            <a:r>
              <a:rPr lang="en-US" sz="2000" i="1" dirty="0" err="1"/>
              <a:t>focusConcept</a:t>
            </a:r>
            <a:r>
              <a:rPr lang="en-US" sz="2000" i="1" dirty="0"/>
              <a:t>, c2) and c2 ≠ </a:t>
            </a:r>
            <a:r>
              <a:rPr lang="en-US" sz="2000" i="1" dirty="0" err="1"/>
              <a:t>focusConcept</a:t>
            </a:r>
            <a:r>
              <a:rPr lang="en-US" sz="2000" i="1" dirty="0"/>
              <a:t> and prov = provenance(r(</a:t>
            </a:r>
            <a:r>
              <a:rPr lang="en-US" sz="2000" i="1" dirty="0" err="1"/>
              <a:t>focusConcept</a:t>
            </a:r>
            <a:r>
              <a:rPr lang="en-US" sz="2000" i="1" dirty="0"/>
              <a:t>, c2))}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i="1" dirty="0"/>
              <a:t>Where: </a:t>
            </a:r>
            <a:r>
              <a:rPr lang="en-US" sz="2000" i="1" dirty="0" err="1"/>
              <a:t>AlignmentResult</a:t>
            </a:r>
            <a:r>
              <a:rPr lang="en-US" sz="2000" i="1" dirty="0"/>
              <a:t> = (</a:t>
            </a:r>
            <a:r>
              <a:rPr lang="en-US" sz="2000" i="1" dirty="0" err="1"/>
              <a:t>relatedConcept</a:t>
            </a:r>
            <a:r>
              <a:rPr lang="en-US" sz="2000" i="1" dirty="0"/>
              <a:t>: </a:t>
            </a:r>
            <a:r>
              <a:rPr lang="en-US" sz="2000" i="1" dirty="0" err="1"/>
              <a:t>RepresentationConcept</a:t>
            </a:r>
            <a:r>
              <a:rPr lang="en-US" sz="2000" i="1" dirty="0"/>
              <a:t>, </a:t>
            </a:r>
            <a:r>
              <a:rPr lang="en-US" sz="2000" i="1" dirty="0" err="1"/>
              <a:t>relationType</a:t>
            </a:r>
            <a:r>
              <a:rPr lang="en-US" sz="2000" i="1" dirty="0"/>
              <a:t>: </a:t>
            </a:r>
            <a:r>
              <a:rPr lang="en-US" sz="2000" i="1" dirty="0" err="1"/>
              <a:t>AlignmentRelation</a:t>
            </a:r>
            <a:r>
              <a:rPr lang="en-US" sz="2000" i="1" dirty="0"/>
              <a:t>, provenance: Provenance)</a:t>
            </a:r>
            <a:endParaRPr lang="en-NL" sz="2000" i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C5869B7-A0EF-A743-6391-7852F8B86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b="1" dirty="0"/>
              <a:t>Scenario 5: </a:t>
            </a:r>
            <a:br>
              <a:rPr lang="en-US" sz="3600" b="1" dirty="0"/>
            </a:br>
            <a:r>
              <a:rPr lang="en-US" sz="3600" dirty="0"/>
              <a:t>Assess Semantic Alignments for a Selected Concept</a:t>
            </a:r>
            <a:endParaRPr lang="en-NL" sz="3600" dirty="0"/>
          </a:p>
        </p:txBody>
      </p:sp>
    </p:spTree>
    <p:extLst>
      <p:ext uri="{BB962C8B-B14F-4D97-AF65-F5344CB8AC3E}">
        <p14:creationId xmlns:p14="http://schemas.microsoft.com/office/powerpoint/2010/main" val="33042280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A8FE3-04E3-F26B-0EA6-9F5F42CF8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F9CE4-A0E3-08E1-784E-06806FEA8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1008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Scenario 5.1: </a:t>
            </a:r>
            <a:br>
              <a:rPr lang="en-US" sz="3600" b="1" dirty="0"/>
            </a:br>
            <a:r>
              <a:rPr lang="en-US" sz="3600" dirty="0"/>
              <a:t>Identify Exact Semantic Matches for a Selected Concept</a:t>
            </a:r>
            <a:endParaRPr lang="en-N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7242F-3949-844B-2D96-9980D0BD9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02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researcher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 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retrieve all concepts that fully align with a selected concept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identify semantically equivalent variables for cross-dataset reuse.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data steward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 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retrieve all concepts that fully align with a selected data element, including whether the relation was assigned or inferred,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reuse trusted mappings and avoid remapping work.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standards</a:t>
            </a:r>
            <a:r>
              <a:rPr lang="en-US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/model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 specialist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standard terms that fully align with a selected term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identify exact correspondences across standards and local models</a:t>
            </a:r>
            <a:r>
              <a:rPr lang="en-US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 so that I can say that my model complies with standard X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mapper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 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retrieve all concepts that fully align with a selected concept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</a:t>
            </a:r>
            <a:r>
              <a:rPr lang="en-US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publish the inferred ones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5478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8AE85-67C5-AF1B-FA52-7E2F61645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6757-12D9-7FEF-C8A5-CDF2C9F42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 5.2: </a:t>
            </a:r>
            <a:br>
              <a:rPr lang="en-US" sz="3600" b="1" dirty="0"/>
            </a:br>
            <a:r>
              <a:rPr lang="en-US" sz="3600" dirty="0"/>
              <a:t>Identify Semantically Incompatible Concepts</a:t>
            </a:r>
            <a:endParaRPr lang="en-N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BE78D-27D4-A97B-03AF-211120BBF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02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data steward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concepts that do not align with a selected data element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prevent incorrect reuse and avoid misleading mappings.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standards specialist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 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retrieve all standard terms that do not align with a selected term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distinguish true mismatches from terms that only look similar by label.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reviewer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concepts that do not align with a selected concept, together with whether the relation was assigned or inferred,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validate why semantic incompatibility was concluded.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researcher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concepts that do not align with a selected concept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exclude semantically incompatible variables from comparison or reuse.</a:t>
            </a:r>
            <a:endParaRPr lang="en-NL" altLang="en-NL" sz="900" dirty="0"/>
          </a:p>
        </p:txBody>
      </p:sp>
    </p:spTree>
    <p:extLst>
      <p:ext uri="{BB962C8B-B14F-4D97-AF65-F5344CB8AC3E}">
        <p14:creationId xmlns:p14="http://schemas.microsoft.com/office/powerpoint/2010/main" val="12887190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56B0B-EF0B-7DCE-CE5E-32DF64082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D452D-21D5-AAB2-9E9C-F477C47B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 5.3: </a:t>
            </a:r>
            <a:br>
              <a:rPr lang="en-US" sz="3600" b="1" dirty="0"/>
            </a:br>
            <a:r>
              <a:rPr lang="en-US" sz="3600" dirty="0"/>
              <a:t>Identify Potential Semantic Matches for Further Review</a:t>
            </a:r>
            <a:endParaRPr lang="en-N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B2868-0C1E-249F-CA67-3ABBF70AF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02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researcher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concepts that may align with a selected concept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identify candidate variables worth further semantic review.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data steward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concepts that may align with a selected data element, including whether the relation was assigned or inferred,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prioritize which candidate mappings need manual validation.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mapper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concepts that may align with a selected concept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use them as a shortlist for further mapping analysis rather than treating them as confirmed matches.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reviewer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concepts that may align with a selected concept, together with whether the relation was assigned or inferred,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assess the level of uncertainty behind each candidate relation.</a:t>
            </a:r>
            <a:endParaRPr lang="en-NL" altLang="en-NL" sz="900" dirty="0"/>
          </a:p>
        </p:txBody>
      </p:sp>
    </p:spTree>
    <p:extLst>
      <p:ext uri="{BB962C8B-B14F-4D97-AF65-F5344CB8AC3E}">
        <p14:creationId xmlns:p14="http://schemas.microsoft.com/office/powerpoint/2010/main" val="37992216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5B24B-808B-17FF-4277-94FD9A450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BD18-6B9E-682E-672A-58E373D5D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 5.4: </a:t>
            </a:r>
            <a:br>
              <a:rPr lang="en-US" sz="3600" b="1" dirty="0"/>
            </a:br>
            <a:r>
              <a:rPr lang="en-US" sz="3600" dirty="0"/>
              <a:t>Identify Partially Aligned Concepts</a:t>
            </a:r>
            <a:endParaRPr lang="en-N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A0C33-698A-716A-EED7-A35E60CA6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02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</a:rPr>
              <a:t>As a 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researcher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,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1800" b="1" i="0" dirty="0">
                <a:solidFill>
                  <a:srgbClr val="E97132"/>
                </a:solidFill>
                <a:effectLst/>
              </a:rPr>
              <a:t>I want to </a:t>
            </a:r>
            <a:r>
              <a:rPr lang="en-US" sz="1800" b="0" i="0" dirty="0">
                <a:solidFill>
                  <a:srgbClr val="E97132"/>
                </a:solidFill>
                <a:effectLst/>
              </a:rPr>
              <a:t>retrieve all concepts that partially align with a selected concept </a:t>
            </a:r>
            <a:r>
              <a:rPr lang="en-US" sz="1800" b="1" i="0" dirty="0">
                <a:solidFill>
                  <a:srgbClr val="4EA72E"/>
                </a:solidFill>
                <a:effectLst/>
              </a:rPr>
              <a:t>so that</a:t>
            </a:r>
            <a:r>
              <a:rPr lang="en-US" sz="1800" b="0" i="0" dirty="0">
                <a:solidFill>
                  <a:srgbClr val="4EA72E"/>
                </a:solidFill>
                <a:effectLst/>
              </a:rPr>
              <a:t> I can identify variables that are relevant at a broader or narrower level, even when they are not exact matches.</a:t>
            </a:r>
            <a:endParaRPr lang="en-US" sz="1800" b="0" i="0" dirty="0">
              <a:solidFill>
                <a:srgbClr val="000000"/>
              </a:solidFill>
              <a:effectLst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</a:rPr>
              <a:t>As a 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data steward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,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1800" b="1" i="0" dirty="0">
                <a:solidFill>
                  <a:srgbClr val="E97132"/>
                </a:solidFill>
                <a:effectLst/>
              </a:rPr>
              <a:t>I want to </a:t>
            </a:r>
            <a:r>
              <a:rPr lang="en-US" sz="1800" b="0" i="0" dirty="0">
                <a:solidFill>
                  <a:srgbClr val="E97132"/>
                </a:solidFill>
                <a:effectLst/>
              </a:rPr>
              <a:t>retrieve all concepts that partially align with a selected data element, including whether the relation was assigned or inferred, </a:t>
            </a:r>
            <a:r>
              <a:rPr lang="en-US" sz="1800" b="1" i="0" dirty="0">
                <a:solidFill>
                  <a:srgbClr val="4EA72E"/>
                </a:solidFill>
                <a:effectLst/>
              </a:rPr>
              <a:t>so that</a:t>
            </a:r>
            <a:r>
              <a:rPr lang="en-US" sz="1800" b="0" i="0" dirty="0">
                <a:solidFill>
                  <a:srgbClr val="4EA72E"/>
                </a:solidFill>
                <a:effectLst/>
              </a:rPr>
              <a:t> I can understand when reuse is possible only with limited semantic overlap.</a:t>
            </a:r>
            <a:endParaRPr lang="en-US" sz="1800" b="0" i="0" dirty="0">
              <a:solidFill>
                <a:srgbClr val="000000"/>
              </a:solidFill>
              <a:effectLst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</a:rPr>
              <a:t>As a 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standards specialist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,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1800" b="1" i="0" dirty="0">
                <a:solidFill>
                  <a:srgbClr val="E97132"/>
                </a:solidFill>
                <a:effectLst/>
              </a:rPr>
              <a:t>I want to</a:t>
            </a:r>
            <a:r>
              <a:rPr lang="en-US" sz="1800" b="0" i="0" dirty="0">
                <a:solidFill>
                  <a:srgbClr val="E97132"/>
                </a:solidFill>
                <a:effectLst/>
              </a:rPr>
              <a:t> retrieve all standard terms that partially align with a selected term </a:t>
            </a:r>
            <a:r>
              <a:rPr lang="en-US" sz="1800" b="1" i="0" dirty="0">
                <a:solidFill>
                  <a:srgbClr val="4EA72E"/>
                </a:solidFill>
                <a:effectLst/>
              </a:rPr>
              <a:t>so that</a:t>
            </a:r>
            <a:r>
              <a:rPr lang="en-US" sz="1800" b="0" i="0" dirty="0">
                <a:solidFill>
                  <a:srgbClr val="4EA72E"/>
                </a:solidFill>
                <a:effectLst/>
              </a:rPr>
              <a:t> I can recognize broader-narrower correspondences across standards and local models.</a:t>
            </a:r>
            <a:endParaRPr lang="en-US" sz="1800" b="0" i="0" dirty="0">
              <a:solidFill>
                <a:srgbClr val="000000"/>
              </a:solidFill>
              <a:effectLst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</a:rPr>
              <a:t>As a 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data engineer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,</a:t>
            </a:r>
            <a:r>
              <a:rPr lang="en-US" sz="1800" b="1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1800" b="1" i="0" dirty="0">
                <a:solidFill>
                  <a:srgbClr val="E97132"/>
                </a:solidFill>
                <a:effectLst/>
              </a:rPr>
              <a:t>I want to </a:t>
            </a:r>
            <a:r>
              <a:rPr lang="en-US" sz="1800" b="0" i="0" dirty="0">
                <a:solidFill>
                  <a:srgbClr val="E97132"/>
                </a:solidFill>
                <a:effectLst/>
              </a:rPr>
              <a:t>retrieve all concepts that partially align with a selected concept, together with whether the relation was assigned or inferred, </a:t>
            </a:r>
            <a:r>
              <a:rPr lang="en-US" sz="1800" b="1" i="0" dirty="0">
                <a:solidFill>
                  <a:srgbClr val="4EA72E"/>
                </a:solidFill>
                <a:effectLst/>
              </a:rPr>
              <a:t>so that</a:t>
            </a:r>
            <a:r>
              <a:rPr lang="en-US" sz="1800" b="0" i="0" dirty="0">
                <a:solidFill>
                  <a:srgbClr val="4EA72E"/>
                </a:solidFill>
                <a:effectLst/>
              </a:rPr>
              <a:t> I can support query expansion and downstream services that distinguish exact matches from partial semantic overlap.</a:t>
            </a:r>
            <a:endParaRPr lang="en-US" sz="18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468227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D18AD-57AF-8761-54F1-54DBDA65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4C6FA-2E8A-1E94-C690-758AF2223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Scenario 6:</a:t>
            </a:r>
            <a:br>
              <a:rPr lang="en-US" sz="3600" b="1" dirty="0"/>
            </a:br>
            <a:r>
              <a:rPr lang="en-US" sz="3600" dirty="0"/>
              <a:t>Check the Consistency of a Selected Concept</a:t>
            </a:r>
            <a:endParaRPr lang="en-NL" sz="36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0C0E28-7004-16C1-05F0-612BC95CD2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903313"/>
            <a:ext cx="10515600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As a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data steward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I want to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 check whether a selected data element is semantically inconsistent and, if so, inspect the polarity-ontology concept pairs returned as evidence,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so that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I can correct problematic mappings before they affect reuse.</a:t>
            </a:r>
            <a:endParaRPr kumimoji="0" lang="en-NL" altLang="en-NL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As a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mapper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I want to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 check whether a selected concept is inconsistent and inspect the returned evidence,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so that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I can avoid building new mappings on top of contradictory semantic commitments.</a:t>
            </a:r>
            <a:endParaRPr kumimoji="0" lang="en-NL" altLang="en-NL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As a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reviewer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I want to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 check whether a selected concept is inconsistent and review the polarity-ontology concept pairs returned as evidence,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so that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I can decide whether the semantic assertions are valid and publishable.</a:t>
            </a:r>
            <a:endParaRPr kumimoji="0" lang="en-NL" altLang="en-NL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As an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ontology engineer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I want to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 check whether a selected concept became inconsistent after reasoning and inspect the returned evidence,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so that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I can identify unintended semantic consequences in the model.</a:t>
            </a:r>
            <a:endParaRPr kumimoji="0" lang="en-NL" altLang="en-NL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As a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standards specialist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I want to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 check whether a selected standard term is semantically inconsistent and inspect the returned evidence,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so that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I can prevent incorrect alignments across standards and local models.</a:t>
            </a:r>
            <a:endParaRPr kumimoji="0" lang="en-NL" altLang="en-NL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As a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clinical informatician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I want to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 check whether a selected clinical concept has contradictory semantic commitments,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so that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I can avoid unsafe reuse in clinically sensitive contexts.</a:t>
            </a:r>
            <a:endParaRPr kumimoji="0" lang="en-NL" altLang="en-NL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As a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researcher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I want to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 check whether a selected concept is semantically inconsistent,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so that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I can avoid reusing variables whose meaning is ambiguous or contradictory.</a:t>
            </a:r>
            <a:endParaRPr kumimoji="0" lang="en-NL" altLang="en-NL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As a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data engineer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,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I want to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E97132"/>
                </a:solidFill>
                <a:effectLst/>
                <a:cs typeface="Arial" panose="020B0604020202020204" pitchFamily="34" charset="0"/>
              </a:rPr>
              <a:t> check whether a selected concept is inconsistent after graph expansion and inspect the returned evidence rows,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1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so that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NL" altLang="en-NL" sz="1400" b="0" i="0" u="none" strike="noStrike" cap="none" normalizeH="0" baseline="0" dirty="0">
                <a:ln>
                  <a:noFill/>
                </a:ln>
                <a:solidFill>
                  <a:srgbClr val="4EA72E"/>
                </a:solidFill>
                <a:effectLst/>
                <a:cs typeface="Arial" panose="020B0604020202020204" pitchFamily="34" charset="0"/>
              </a:rPr>
              <a:t>I can prevent contradictory knowledge from propagating into query services and downstream workflows.</a:t>
            </a:r>
            <a:endParaRPr kumimoji="0" lang="en-NL" altLang="en-NL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760672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7F52D-214C-7E92-4A7C-3A6EA54AF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i="1" dirty="0">
                <a:solidFill>
                  <a:schemeClr val="accent3"/>
                </a:solidFill>
              </a:rPr>
              <a:t>Input:</a:t>
            </a:r>
            <a:r>
              <a:rPr lang="en-US" sz="1400" b="1" i="1" dirty="0"/>
              <a:t> </a:t>
            </a:r>
            <a:r>
              <a:rPr lang="en-US" sz="1400" i="1" dirty="0"/>
              <a:t>One concept at the representation layer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i="1" dirty="0" err="1"/>
              <a:t>focusConcept</a:t>
            </a:r>
            <a:r>
              <a:rPr lang="en-US" sz="1400" i="1" dirty="0"/>
              <a:t>: </a:t>
            </a:r>
            <a:r>
              <a:rPr lang="en-US" sz="1400" i="1" dirty="0" err="1"/>
              <a:t>RepresentationConcept</a:t>
            </a:r>
            <a:endParaRPr lang="en-US" sz="1400" i="1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i="1" dirty="0">
                <a:solidFill>
                  <a:schemeClr val="accent2"/>
                </a:solidFill>
              </a:rPr>
              <a:t>Output:</a:t>
            </a:r>
            <a:r>
              <a:rPr lang="en-US" sz="1400" i="1" dirty="0"/>
              <a:t> All exact-meaning commitments of the selected concept that participate in a semantic inconsistency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i="1" dirty="0" err="1"/>
              <a:t>inconsistencyEvidence</a:t>
            </a:r>
            <a:r>
              <a:rPr lang="en-US" sz="1400" i="1" dirty="0"/>
              <a:t>: Set&lt;</a:t>
            </a:r>
            <a:r>
              <a:rPr lang="en-US" sz="1400" i="1" dirty="0" err="1"/>
              <a:t>InconsistencyEvidence</a:t>
            </a:r>
            <a:r>
              <a:rPr lang="en-US" sz="1400" i="1" dirty="0"/>
              <a:t>&gt;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i="1" dirty="0">
                <a:solidFill>
                  <a:schemeClr val="accent1"/>
                </a:solidFill>
              </a:rPr>
              <a:t>Semantics: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i="1" dirty="0" err="1"/>
              <a:t>inconsistencyEvidence</a:t>
            </a:r>
            <a:r>
              <a:rPr lang="en-US" sz="1400" i="1" dirty="0"/>
              <a:t> = { (p, </a:t>
            </a:r>
            <a:r>
              <a:rPr lang="en-US" sz="1400" i="1" dirty="0" err="1"/>
              <a:t>oc</a:t>
            </a:r>
            <a:r>
              <a:rPr lang="en-US" sz="1400" i="1" dirty="0"/>
              <a:t>) |  </a:t>
            </a:r>
            <a:r>
              <a:rPr lang="en-US" sz="1400" i="1" dirty="0" err="1"/>
              <a:t>hriv:hasExactMeaning</a:t>
            </a:r>
            <a:r>
              <a:rPr lang="en-US" sz="1400" i="1" dirty="0"/>
              <a:t>(</a:t>
            </a:r>
            <a:r>
              <a:rPr lang="en-US" sz="1400" i="1" dirty="0" err="1"/>
              <a:t>focusConcept</a:t>
            </a:r>
            <a:r>
              <a:rPr lang="en-US" sz="1400" i="1" dirty="0"/>
              <a:t>, </a:t>
            </a:r>
            <a:r>
              <a:rPr lang="en-US" sz="1400" i="1" dirty="0" err="1"/>
              <a:t>oc</a:t>
            </a:r>
            <a:r>
              <a:rPr lang="en-US" sz="1400" i="1" dirty="0"/>
              <a:t>)  and p = </a:t>
            </a:r>
            <a:r>
              <a:rPr lang="en-US" sz="1400" i="1" dirty="0" err="1"/>
              <a:t>hriv:hasExactMeaning</a:t>
            </a:r>
            <a:r>
              <a:rPr lang="en-US" sz="1400" i="1" dirty="0"/>
              <a:t>(</a:t>
            </a:r>
            <a:r>
              <a:rPr lang="en-US" sz="1400" i="1" dirty="0" err="1"/>
              <a:t>focusConcept</a:t>
            </a:r>
            <a:r>
              <a:rPr lang="en-US" sz="1400" i="1" dirty="0"/>
              <a:t>, </a:t>
            </a:r>
            <a:r>
              <a:rPr lang="en-US" sz="1400" i="1" dirty="0" err="1"/>
              <a:t>oc</a:t>
            </a:r>
            <a:r>
              <a:rPr lang="en-US" sz="1400" i="1" dirty="0"/>
              <a:t>).polarity  and (   (p = positive and ∃ oc2 (    </a:t>
            </a:r>
            <a:r>
              <a:rPr lang="en-US" sz="1400" i="1" dirty="0" err="1"/>
              <a:t>hriv:hasExactMeaning</a:t>
            </a:r>
            <a:r>
              <a:rPr lang="en-US" sz="1400" i="1" dirty="0"/>
              <a:t>(</a:t>
            </a:r>
            <a:r>
              <a:rPr lang="en-US" sz="1400" i="1" dirty="0" err="1"/>
              <a:t>focusConcept</a:t>
            </a:r>
            <a:r>
              <a:rPr lang="en-US" sz="1400" i="1" dirty="0"/>
              <a:t>, oc2)    and </a:t>
            </a:r>
            <a:r>
              <a:rPr lang="en-US" sz="1400" i="1" dirty="0" err="1"/>
              <a:t>hriv:hasExactMeaning</a:t>
            </a:r>
            <a:r>
              <a:rPr lang="en-US" sz="1400" i="1" dirty="0"/>
              <a:t>(</a:t>
            </a:r>
            <a:r>
              <a:rPr lang="en-US" sz="1400" i="1" dirty="0" err="1"/>
              <a:t>focusConcept</a:t>
            </a:r>
            <a:r>
              <a:rPr lang="en-US" sz="1400" i="1" dirty="0"/>
              <a:t>, oc2).polarity = positive    and oc2 ≠ </a:t>
            </a:r>
            <a:r>
              <a:rPr lang="en-US" sz="1400" i="1" dirty="0" err="1"/>
              <a:t>oc</a:t>
            </a:r>
            <a:r>
              <a:rPr lang="en-US" sz="1400" i="1" dirty="0"/>
              <a:t>   ))   or   (∃ p2 (    </a:t>
            </a:r>
            <a:r>
              <a:rPr lang="en-US" sz="1400" i="1" dirty="0" err="1"/>
              <a:t>hriv:hasExactMeaning</a:t>
            </a:r>
            <a:r>
              <a:rPr lang="en-US" sz="1400" i="1" dirty="0"/>
              <a:t>(</a:t>
            </a:r>
            <a:r>
              <a:rPr lang="en-US" sz="1400" i="1" dirty="0" err="1"/>
              <a:t>focusConcept</a:t>
            </a:r>
            <a:r>
              <a:rPr lang="en-US" sz="1400" i="1" dirty="0"/>
              <a:t>, </a:t>
            </a:r>
            <a:r>
              <a:rPr lang="en-US" sz="1400" i="1" dirty="0" err="1"/>
              <a:t>oc</a:t>
            </a:r>
            <a:r>
              <a:rPr lang="en-US" sz="1400" i="1" dirty="0"/>
              <a:t>)    and p2 = </a:t>
            </a:r>
            <a:r>
              <a:rPr lang="en-US" sz="1400" i="1" dirty="0" err="1"/>
              <a:t>hriv:hasExactMeaning</a:t>
            </a:r>
            <a:r>
              <a:rPr lang="en-US" sz="1400" i="1" dirty="0"/>
              <a:t>(</a:t>
            </a:r>
            <a:r>
              <a:rPr lang="en-US" sz="1400" i="1" dirty="0" err="1"/>
              <a:t>focusConcept</a:t>
            </a:r>
            <a:r>
              <a:rPr lang="en-US" sz="1400" i="1" dirty="0"/>
              <a:t>, </a:t>
            </a:r>
            <a:r>
              <a:rPr lang="en-US" sz="1400" i="1" dirty="0" err="1"/>
              <a:t>oc</a:t>
            </a:r>
            <a:r>
              <a:rPr lang="en-US" sz="1400" i="1" dirty="0"/>
              <a:t>).polarity    and p2 ≠ p   ))  ) }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i="1" dirty="0"/>
              <a:t>Where: </a:t>
            </a:r>
            <a:r>
              <a:rPr lang="en-US" sz="1400" i="1" dirty="0" err="1"/>
              <a:t>InconsistencyEvidence</a:t>
            </a:r>
            <a:r>
              <a:rPr lang="en-US" sz="1400" i="1" dirty="0"/>
              <a:t> = (polarity: Polarity, </a:t>
            </a:r>
            <a:r>
              <a:rPr lang="en-US" sz="1400" i="1" dirty="0" err="1"/>
              <a:t>ontologyConcept</a:t>
            </a:r>
            <a:r>
              <a:rPr lang="en-US" sz="1400" i="1" dirty="0"/>
              <a:t>: </a:t>
            </a:r>
            <a:r>
              <a:rPr lang="en-US" sz="1400" i="1" dirty="0" err="1"/>
              <a:t>OntologyConcept</a:t>
            </a:r>
            <a:r>
              <a:rPr lang="en-US" sz="1400" i="1" dirty="0"/>
              <a:t>)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i="1" dirty="0"/>
              <a:t>Interpretation: 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i="1" dirty="0"/>
              <a:t>If </a:t>
            </a:r>
            <a:r>
              <a:rPr lang="en-US" sz="1400" i="1" dirty="0" err="1"/>
              <a:t>inconsistencyEvidence</a:t>
            </a:r>
            <a:r>
              <a:rPr lang="en-US" sz="1400" i="1" dirty="0"/>
              <a:t> = ∅, the selected concept is semantically consistent.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i="1" dirty="0"/>
              <a:t>If </a:t>
            </a:r>
            <a:r>
              <a:rPr lang="en-US" sz="1400" i="1" dirty="0" err="1"/>
              <a:t>inconsistencyEvidence</a:t>
            </a:r>
            <a:r>
              <a:rPr lang="en-US" sz="1400" i="1" dirty="0"/>
              <a:t> ≠ ∅, the selected concept is semantically inconsistent.</a:t>
            </a:r>
            <a:endParaRPr lang="en-NL" sz="1400" i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91CF81-8CB4-8C12-2858-47F6EE7FB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Scenario 6:</a:t>
            </a:r>
            <a:br>
              <a:rPr lang="en-US" sz="3600" b="1" dirty="0"/>
            </a:br>
            <a:r>
              <a:rPr lang="en-US" sz="3600" dirty="0"/>
              <a:t>Check the Consistency of a Selected Concept</a:t>
            </a:r>
            <a:endParaRPr lang="en-NL" sz="3600" dirty="0"/>
          </a:p>
        </p:txBody>
      </p:sp>
    </p:spTree>
    <p:extLst>
      <p:ext uri="{BB962C8B-B14F-4D97-AF65-F5344CB8AC3E}">
        <p14:creationId xmlns:p14="http://schemas.microsoft.com/office/powerpoint/2010/main" val="5534397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3C03A-294D-01D4-37CA-E4C9510ED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83901" cy="1325563"/>
          </a:xfrm>
        </p:spPr>
        <p:txBody>
          <a:bodyPr>
            <a:noAutofit/>
          </a:bodyPr>
          <a:lstStyle/>
          <a:p>
            <a:r>
              <a:rPr lang="en-US" sz="3600" b="1" dirty="0"/>
              <a:t>Scenario 7:</a:t>
            </a:r>
            <a:br>
              <a:rPr lang="en-US" sz="3600" b="1" dirty="0"/>
            </a:br>
            <a:r>
              <a:rPr lang="en-US" sz="3600" dirty="0"/>
              <a:t>Retrieve All Semantically Inconsistent Concepts</a:t>
            </a:r>
            <a:endParaRPr lang="en-N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BD476-B648-9DB3-0281-B676BDB15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026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data steward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semantically inconsistent concepts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identify and prioritize concepts that require remediation.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</a:t>
            </a:r>
            <a:r>
              <a:rPr lang="en-US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ontology engineer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detect all inconsistent concepts after mappings and inferences are applied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verify that the semantic layer remains logically coherent.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an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ontology engineer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list all concepts whose exact-meaning assertions lead to contradiction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revise problematic semantics or alignment assumptions.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an </a:t>
            </a:r>
            <a:r>
              <a:rPr lang="en-US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data engineer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identify all inconsistent representation concepts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prevent contradictory mappings from being reused across systems and standards.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curator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have a consolidated overview of inconsistent concepts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plan review cycles and assign cleanup tasks efficiently.</a:t>
            </a:r>
            <a:endParaRPr lang="en-NL" altLang="en-NL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As a </a:t>
            </a:r>
            <a:r>
              <a:rPr lang="en-NL" altLang="en-NL" sz="2000" b="1" dirty="0">
                <a:solidFill>
                  <a:srgbClr val="000000"/>
                </a:solidFill>
                <a:cs typeface="Arial" panose="020B0604020202020204" pitchFamily="34" charset="0"/>
              </a:rPr>
              <a:t>reviewer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NL" altLang="en-NL" sz="2000" b="1" dirty="0">
                <a:solidFill>
                  <a:srgbClr val="E97132"/>
                </a:solidFill>
                <a:cs typeface="Arial" panose="020B0604020202020204" pitchFamily="34" charset="0"/>
              </a:rPr>
              <a:t>I want to</a:t>
            </a:r>
            <a:r>
              <a:rPr lang="en-NL" altLang="en-NL" sz="2000" dirty="0">
                <a:solidFill>
                  <a:srgbClr val="E97132"/>
                </a:solidFill>
                <a:cs typeface="Arial" panose="020B0604020202020204" pitchFamily="34" charset="0"/>
              </a:rPr>
              <a:t> retrieve all inconsistent concepts in one query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b="1" dirty="0">
                <a:solidFill>
                  <a:srgbClr val="4EA72E"/>
                </a:solidFill>
                <a:cs typeface="Arial" panose="020B0604020202020204" pitchFamily="34" charset="0"/>
              </a:rPr>
              <a:t>so that</a:t>
            </a:r>
            <a:r>
              <a:rPr lang="en-NL" altLang="en-NL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NL" altLang="en-NL" sz="2000" dirty="0">
                <a:solidFill>
                  <a:srgbClr val="4EA72E"/>
                </a:solidFill>
                <a:cs typeface="Arial" panose="020B0604020202020204" pitchFamily="34" charset="0"/>
              </a:rPr>
              <a:t>I can assess overall semantic quality without inspecting concepts one by one.</a:t>
            </a:r>
            <a:endParaRPr lang="en-NL" altLang="en-NL" sz="900" dirty="0"/>
          </a:p>
        </p:txBody>
      </p:sp>
    </p:spTree>
    <p:extLst>
      <p:ext uri="{BB962C8B-B14F-4D97-AF65-F5344CB8AC3E}">
        <p14:creationId xmlns:p14="http://schemas.microsoft.com/office/powerpoint/2010/main" val="3110657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F1E85-C66B-C5C4-3558-59A44E1E9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3"/>
                </a:solidFill>
              </a:rPr>
              <a:t>Input: </a:t>
            </a:r>
            <a:r>
              <a:rPr lang="en-US" sz="2000" dirty="0"/>
              <a:t>No input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i="1" dirty="0" err="1"/>
              <a:t>focusConcept</a:t>
            </a:r>
            <a:r>
              <a:rPr lang="en-US" sz="2000" i="1" dirty="0"/>
              <a:t>: None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2"/>
                </a:solidFill>
              </a:rPr>
              <a:t>Output: </a:t>
            </a:r>
            <a:r>
              <a:rPr lang="en-US" sz="2000" dirty="0"/>
              <a:t>All semantically inconsistent concepts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i="1" dirty="0" err="1"/>
              <a:t>inconsistentConcepts</a:t>
            </a:r>
            <a:r>
              <a:rPr lang="en-US" sz="2000" i="1" dirty="0"/>
              <a:t>: Set&lt;</a:t>
            </a:r>
            <a:r>
              <a:rPr lang="en-US" sz="2000" i="1" dirty="0" err="1"/>
              <a:t>RepresentationConcept</a:t>
            </a:r>
            <a:r>
              <a:rPr lang="en-US" sz="2000" i="1" dirty="0"/>
              <a:t>&gt;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1"/>
                </a:solidFill>
              </a:rPr>
              <a:t>Semantics: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i="1" dirty="0" err="1"/>
              <a:t>inconsistentConcepts</a:t>
            </a:r>
            <a:r>
              <a:rPr lang="en-US" sz="2000" i="1" dirty="0"/>
              <a:t> = { c | </a:t>
            </a:r>
            <a:r>
              <a:rPr lang="en-US" sz="2000" i="1" dirty="0" err="1"/>
              <a:t>isConsistent</a:t>
            </a:r>
            <a:r>
              <a:rPr lang="en-US" sz="2000" i="1" dirty="0"/>
              <a:t>(c) = false }</a:t>
            </a:r>
            <a:endParaRPr lang="en-NL" sz="2000" i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457471-131C-D2D3-1870-F1470E83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83901" cy="1325563"/>
          </a:xfrm>
        </p:spPr>
        <p:txBody>
          <a:bodyPr>
            <a:noAutofit/>
          </a:bodyPr>
          <a:lstStyle/>
          <a:p>
            <a:r>
              <a:rPr lang="en-US" sz="3600" b="1" dirty="0"/>
              <a:t>Scenario 7:</a:t>
            </a:r>
            <a:br>
              <a:rPr lang="en-US" sz="3600" b="1" dirty="0"/>
            </a:br>
            <a:r>
              <a:rPr lang="en-US" sz="3600" dirty="0"/>
              <a:t>Retrieve All Semantically Inconsistent Concepts</a:t>
            </a:r>
            <a:endParaRPr lang="en-NL" sz="3600" dirty="0"/>
          </a:p>
        </p:txBody>
      </p:sp>
    </p:spTree>
    <p:extLst>
      <p:ext uri="{BB962C8B-B14F-4D97-AF65-F5344CB8AC3E}">
        <p14:creationId xmlns:p14="http://schemas.microsoft.com/office/powerpoint/2010/main" val="3749153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62E36-A44D-4B1C-0075-8FF23B8CA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9012F-7265-CB38-9C4E-DD9110EF0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02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0" i="0" dirty="0">
                <a:solidFill>
                  <a:srgbClr val="000000"/>
                </a:solidFill>
                <a:effectLst/>
              </a:rPr>
              <a:t>As a </a:t>
            </a:r>
            <a:r>
              <a:rPr lang="en-US" sz="1400" b="1" i="0" dirty="0">
                <a:solidFill>
                  <a:srgbClr val="000000"/>
                </a:solidFill>
                <a:effectLst/>
              </a:rPr>
              <a:t>data steward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, </a:t>
            </a:r>
            <a:r>
              <a:rPr lang="en-US" sz="1400" b="1" i="0" dirty="0">
                <a:solidFill>
                  <a:srgbClr val="E97132"/>
                </a:solidFill>
                <a:effectLst/>
              </a:rPr>
              <a:t>I want to</a:t>
            </a:r>
            <a:r>
              <a:rPr lang="en-US" sz="1400" b="0" i="0" dirty="0">
                <a:solidFill>
                  <a:srgbClr val="E97132"/>
                </a:solidFill>
                <a:effectLst/>
              </a:rPr>
              <a:t> assess the semantic consequences of aligning one concept to another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1400" b="1" i="0" dirty="0">
                <a:solidFill>
                  <a:srgbClr val="4EA72E"/>
                </a:solidFill>
                <a:effectLst/>
              </a:rPr>
              <a:t>so that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1400" b="0" i="0" dirty="0">
                <a:solidFill>
                  <a:srgbClr val="4EA72E"/>
                </a:solidFill>
                <a:effectLst/>
              </a:rPr>
              <a:t>I can understand what additional relations would be introduced before asserting the alignment.</a:t>
            </a:r>
            <a:endParaRPr lang="en-US" sz="1400" b="0" i="0" dirty="0">
              <a:solidFill>
                <a:srgbClr val="000000"/>
              </a:solidFill>
              <a:effectLst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0" i="0" dirty="0">
                <a:solidFill>
                  <a:srgbClr val="000000"/>
                </a:solidFill>
                <a:effectLst/>
              </a:rPr>
              <a:t>As a </a:t>
            </a:r>
            <a:r>
              <a:rPr lang="en-US" sz="1400" b="1" i="0" dirty="0">
                <a:solidFill>
                  <a:srgbClr val="000000"/>
                </a:solidFill>
                <a:effectLst/>
              </a:rPr>
              <a:t>mapper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, </a:t>
            </a:r>
            <a:r>
              <a:rPr lang="en-US" sz="1400" b="1" i="0" dirty="0">
                <a:solidFill>
                  <a:srgbClr val="E97132"/>
                </a:solidFill>
                <a:effectLst/>
              </a:rPr>
              <a:t>I want to</a:t>
            </a:r>
            <a:r>
              <a:rPr lang="en-US" sz="1400" b="0" i="0" dirty="0">
                <a:solidFill>
                  <a:srgbClr val="E97132"/>
                </a:solidFill>
                <a:effectLst/>
              </a:rPr>
              <a:t> assess what new semantic relations would follow if I align a source concept to a candidate concept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1400" b="1" i="0" dirty="0">
                <a:solidFill>
                  <a:srgbClr val="4EA72E"/>
                </a:solidFill>
                <a:effectLst/>
              </a:rPr>
              <a:t>so that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1400" b="0" i="0" dirty="0">
                <a:solidFill>
                  <a:srgbClr val="4EA72E"/>
                </a:solidFill>
                <a:effectLst/>
              </a:rPr>
              <a:t>I can avoid creating unintended downstream consequences.</a:t>
            </a:r>
            <a:endParaRPr lang="en-US" sz="1400" b="0" i="0" dirty="0">
              <a:solidFill>
                <a:srgbClr val="000000"/>
              </a:solidFill>
              <a:effectLst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0" i="0" dirty="0">
                <a:solidFill>
                  <a:srgbClr val="000000"/>
                </a:solidFill>
                <a:effectLst/>
              </a:rPr>
              <a:t>As a </a:t>
            </a:r>
            <a:r>
              <a:rPr lang="en-US" sz="1400" b="1" i="0" dirty="0">
                <a:solidFill>
                  <a:srgbClr val="000000"/>
                </a:solidFill>
                <a:effectLst/>
              </a:rPr>
              <a:t>reviewer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, </a:t>
            </a:r>
            <a:r>
              <a:rPr lang="en-US" sz="1400" b="1" i="0" dirty="0">
                <a:solidFill>
                  <a:srgbClr val="E97132"/>
                </a:solidFill>
                <a:effectLst/>
              </a:rPr>
              <a:t>I want to</a:t>
            </a:r>
            <a:r>
              <a:rPr lang="en-US" sz="1400" b="0" i="0" dirty="0">
                <a:solidFill>
                  <a:srgbClr val="E97132"/>
                </a:solidFill>
                <a:effectLst/>
              </a:rPr>
              <a:t> assess the consequences of a proposed alignment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1400" b="1" i="0" dirty="0">
                <a:solidFill>
                  <a:srgbClr val="4EA72E"/>
                </a:solidFill>
                <a:effectLst/>
              </a:rPr>
              <a:t>so that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1400" b="0" i="0" dirty="0">
                <a:solidFill>
                  <a:srgbClr val="4EA72E"/>
                </a:solidFill>
                <a:effectLst/>
              </a:rPr>
              <a:t>I can decide whether the new relation is acceptable and semantically justified.</a:t>
            </a:r>
            <a:endParaRPr lang="en-US" sz="1400" b="0" i="0" dirty="0">
              <a:solidFill>
                <a:srgbClr val="000000"/>
              </a:solidFill>
              <a:effectLst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0" i="0" dirty="0">
                <a:solidFill>
                  <a:srgbClr val="000000"/>
                </a:solidFill>
                <a:effectLst/>
              </a:rPr>
              <a:t>As a </a:t>
            </a:r>
            <a:r>
              <a:rPr lang="en-US" sz="1400" b="1" i="0" dirty="0">
                <a:solidFill>
                  <a:srgbClr val="000000"/>
                </a:solidFill>
                <a:effectLst/>
              </a:rPr>
              <a:t>standards specialist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, </a:t>
            </a:r>
            <a:r>
              <a:rPr lang="en-US" sz="1400" b="1" i="0" dirty="0">
                <a:solidFill>
                  <a:srgbClr val="E97132"/>
                </a:solidFill>
                <a:effectLst/>
              </a:rPr>
              <a:t>I want to</a:t>
            </a:r>
            <a:r>
              <a:rPr lang="en-US" sz="1400" b="0" i="0" dirty="0">
                <a:solidFill>
                  <a:srgbClr val="E97132"/>
                </a:solidFill>
                <a:effectLst/>
              </a:rPr>
              <a:t> assess what other concepts a selected standard term would become related to if I align it to a candidate concept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1400" b="1" i="0" dirty="0">
                <a:solidFill>
                  <a:srgbClr val="4EA72E"/>
                </a:solidFill>
                <a:effectLst/>
              </a:rPr>
              <a:t>so that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1400" b="0" i="0" dirty="0">
                <a:solidFill>
                  <a:srgbClr val="4EA72E"/>
                </a:solidFill>
                <a:effectLst/>
              </a:rPr>
              <a:t>I can evaluate cross-standard implications before publication.</a:t>
            </a:r>
            <a:endParaRPr lang="en-US" sz="1400" b="0" i="0" dirty="0">
              <a:solidFill>
                <a:srgbClr val="000000"/>
              </a:solidFill>
              <a:effectLst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0" i="0" dirty="0">
                <a:solidFill>
                  <a:srgbClr val="000000"/>
                </a:solidFill>
                <a:effectLst/>
              </a:rPr>
              <a:t>As a </a:t>
            </a:r>
            <a:r>
              <a:rPr lang="en-US" sz="1400" b="1" i="0" dirty="0">
                <a:solidFill>
                  <a:srgbClr val="000000"/>
                </a:solidFill>
                <a:effectLst/>
              </a:rPr>
              <a:t>clinical informatician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, </a:t>
            </a:r>
            <a:r>
              <a:rPr lang="en-US" sz="1400" b="1" i="0" dirty="0">
                <a:solidFill>
                  <a:srgbClr val="E97132"/>
                </a:solidFill>
                <a:effectLst/>
              </a:rPr>
              <a:t>I want to</a:t>
            </a:r>
            <a:r>
              <a:rPr lang="en-US" sz="1400" b="0" i="0" dirty="0">
                <a:solidFill>
                  <a:srgbClr val="E97132"/>
                </a:solidFill>
                <a:effectLst/>
              </a:rPr>
              <a:t> assess what semantic consequences would follow from a proposed alignment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1400" b="1" i="0" dirty="0">
                <a:solidFill>
                  <a:srgbClr val="4EA72E"/>
                </a:solidFill>
                <a:effectLst/>
              </a:rPr>
              <a:t>so that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1400" b="0" i="0" dirty="0">
                <a:solidFill>
                  <a:srgbClr val="4EA72E"/>
                </a:solidFill>
                <a:effectLst/>
              </a:rPr>
              <a:t>I can prevent clinically unsafe downstream relations.</a:t>
            </a:r>
            <a:endParaRPr lang="en-US" sz="1400" b="0" i="0" dirty="0">
              <a:solidFill>
                <a:srgbClr val="000000"/>
              </a:solidFill>
              <a:effectLst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0" i="0" dirty="0">
                <a:solidFill>
                  <a:srgbClr val="000000"/>
                </a:solidFill>
                <a:effectLst/>
              </a:rPr>
              <a:t>As a </a:t>
            </a:r>
            <a:r>
              <a:rPr lang="en-US" sz="1400" b="1" i="0" dirty="0">
                <a:solidFill>
                  <a:srgbClr val="000000"/>
                </a:solidFill>
                <a:effectLst/>
              </a:rPr>
              <a:t>ontology engineer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, </a:t>
            </a:r>
            <a:r>
              <a:rPr lang="en-US" sz="1400" b="1" i="0" dirty="0">
                <a:solidFill>
                  <a:srgbClr val="E97132"/>
                </a:solidFill>
                <a:effectLst/>
              </a:rPr>
              <a:t>I want to</a:t>
            </a:r>
            <a:r>
              <a:rPr lang="en-US" sz="1400" b="0" i="0" dirty="0">
                <a:solidFill>
                  <a:srgbClr val="E97132"/>
                </a:solidFill>
                <a:effectLst/>
              </a:rPr>
              <a:t> assess the consequences of a proposed alignment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1400" b="1" i="0" dirty="0">
                <a:solidFill>
                  <a:srgbClr val="4EA72E"/>
                </a:solidFill>
                <a:effectLst/>
              </a:rPr>
              <a:t>so that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1400" b="0" i="0" dirty="0">
                <a:solidFill>
                  <a:srgbClr val="4EA72E"/>
                </a:solidFill>
                <a:effectLst/>
              </a:rPr>
              <a:t>I can verify whether the inferred downstream relations are consistent with the intended semantics of the model.</a:t>
            </a:r>
            <a:endParaRPr lang="en-US" sz="1400" b="0" i="0" dirty="0">
              <a:solidFill>
                <a:srgbClr val="000000"/>
              </a:solidFill>
              <a:effectLst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0" i="0" dirty="0">
                <a:solidFill>
                  <a:srgbClr val="000000"/>
                </a:solidFill>
                <a:effectLst/>
              </a:rPr>
              <a:t>As a </a:t>
            </a:r>
            <a:r>
              <a:rPr lang="en-US" sz="1400" b="1" i="0" dirty="0">
                <a:solidFill>
                  <a:srgbClr val="000000"/>
                </a:solidFill>
                <a:effectLst/>
              </a:rPr>
              <a:t>researcher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, </a:t>
            </a:r>
            <a:r>
              <a:rPr lang="en-US" sz="1400" b="1" i="0" dirty="0">
                <a:solidFill>
                  <a:srgbClr val="E97132"/>
                </a:solidFill>
                <a:effectLst/>
              </a:rPr>
              <a:t>I want to</a:t>
            </a:r>
            <a:r>
              <a:rPr lang="en-US" sz="1400" b="0" i="0" dirty="0">
                <a:solidFill>
                  <a:srgbClr val="E97132"/>
                </a:solidFill>
                <a:effectLst/>
              </a:rPr>
              <a:t> assess what additional concepts my selected concept would become related to after a proposed alignment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1400" b="1" i="0" dirty="0">
                <a:solidFill>
                  <a:srgbClr val="4EA72E"/>
                </a:solidFill>
                <a:effectLst/>
              </a:rPr>
              <a:t>so that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1400" b="0" i="0" dirty="0">
                <a:solidFill>
                  <a:srgbClr val="4EA72E"/>
                </a:solidFill>
                <a:effectLst/>
              </a:rPr>
              <a:t>I can understand the broader reuse implications of that decision.</a:t>
            </a:r>
            <a:endParaRPr lang="en-US" sz="1400" b="0" i="0" dirty="0">
              <a:solidFill>
                <a:srgbClr val="000000"/>
              </a:solidFill>
              <a:effectLst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0" i="0" dirty="0">
                <a:solidFill>
                  <a:srgbClr val="000000"/>
                </a:solidFill>
                <a:effectLst/>
              </a:rPr>
              <a:t>As a </a:t>
            </a:r>
            <a:r>
              <a:rPr lang="en-US" sz="1400" b="1" i="0" dirty="0">
                <a:solidFill>
                  <a:srgbClr val="000000"/>
                </a:solidFill>
                <a:effectLst/>
              </a:rPr>
              <a:t>data engineer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, </a:t>
            </a:r>
            <a:r>
              <a:rPr lang="en-US" sz="1400" b="1" i="0" dirty="0">
                <a:solidFill>
                  <a:srgbClr val="E97132"/>
                </a:solidFill>
                <a:effectLst/>
              </a:rPr>
              <a:t>I want to</a:t>
            </a:r>
            <a:r>
              <a:rPr lang="en-US" sz="1400" b="0" i="0" dirty="0">
                <a:solidFill>
                  <a:srgbClr val="E97132"/>
                </a:solidFill>
                <a:effectLst/>
              </a:rPr>
              <a:t> assess the inferred downstream relations of a proposed alignment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1400" b="1" i="0" dirty="0">
                <a:solidFill>
                  <a:srgbClr val="4EA72E"/>
                </a:solidFill>
                <a:effectLst/>
              </a:rPr>
              <a:t>so that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sz="1400" b="0" i="0" dirty="0">
                <a:solidFill>
                  <a:srgbClr val="4EA72E"/>
                </a:solidFill>
                <a:effectLst/>
              </a:rPr>
              <a:t>I can support pre-commitment simulation and impact analysis in semantic services.</a:t>
            </a:r>
            <a:endParaRPr lang="en-US" sz="14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3FF50C-607B-DAFF-DE03-2661DD5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Scenario 8:</a:t>
            </a:r>
            <a:br>
              <a:rPr lang="en-US" sz="3600" b="1" dirty="0"/>
            </a:br>
            <a:r>
              <a:rPr lang="en-US" sz="3600" dirty="0"/>
              <a:t>Assess the Consequences of a Proposed Alignment</a:t>
            </a:r>
            <a:endParaRPr lang="en-NL" sz="3600" dirty="0"/>
          </a:p>
        </p:txBody>
      </p:sp>
    </p:spTree>
    <p:extLst>
      <p:ext uri="{BB962C8B-B14F-4D97-AF65-F5344CB8AC3E}">
        <p14:creationId xmlns:p14="http://schemas.microsoft.com/office/powerpoint/2010/main" val="26036096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0AE61-6C98-F1FE-7171-197571B22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0433F-561F-D23D-00ED-FA7377100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0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500" b="1" dirty="0">
                <a:solidFill>
                  <a:schemeClr val="accent3"/>
                </a:solidFill>
              </a:rPr>
              <a:t>Input: </a:t>
            </a:r>
            <a:r>
              <a:rPr lang="en-US" sz="1500" dirty="0"/>
              <a:t>Two concepts at the representation layer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500" i="1" dirty="0" err="1"/>
              <a:t>sourceConcept</a:t>
            </a:r>
            <a:r>
              <a:rPr lang="en-US" sz="1500" i="1" dirty="0"/>
              <a:t>: </a:t>
            </a:r>
            <a:r>
              <a:rPr lang="en-US" sz="1500" i="1" dirty="0" err="1"/>
              <a:t>RepresentationConcept</a:t>
            </a:r>
            <a:endParaRPr lang="en-US" sz="1500" i="1" dirty="0"/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500" i="1" dirty="0" err="1"/>
              <a:t>targetConcept</a:t>
            </a:r>
            <a:r>
              <a:rPr lang="en-US" sz="1500" i="1" dirty="0"/>
              <a:t>: </a:t>
            </a:r>
            <a:r>
              <a:rPr lang="en-US" sz="1500" i="1" dirty="0" err="1"/>
              <a:t>RepresentationConcept</a:t>
            </a:r>
            <a:endParaRPr lang="en-US" sz="1500" i="1" dirty="0"/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500" i="1" dirty="0" err="1"/>
              <a:t>proposedRelationType</a:t>
            </a:r>
            <a:r>
              <a:rPr lang="en-US" sz="1500" i="1" dirty="0"/>
              <a:t>: aligns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500" b="1" dirty="0">
                <a:solidFill>
                  <a:schemeClr val="accent2"/>
                </a:solidFill>
              </a:rPr>
              <a:t>Output: </a:t>
            </a:r>
            <a:r>
              <a:rPr lang="en-US" sz="1500" dirty="0"/>
              <a:t>All additional semantic alignment consequences for </a:t>
            </a:r>
            <a:r>
              <a:rPr lang="en-US" sz="1500" dirty="0" err="1"/>
              <a:t>sourceConcept</a:t>
            </a:r>
            <a:r>
              <a:rPr lang="en-US" sz="1500" dirty="0"/>
              <a:t> when aligned to </a:t>
            </a:r>
            <a:r>
              <a:rPr lang="en-US" sz="1500" dirty="0" err="1"/>
              <a:t>targetConcept</a:t>
            </a:r>
            <a:endParaRPr lang="en-US" sz="1500" dirty="0"/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500" i="1" dirty="0" err="1"/>
              <a:t>consequenceAlignments</a:t>
            </a:r>
            <a:r>
              <a:rPr lang="en-US" sz="1500" i="1" dirty="0"/>
              <a:t>: Set&lt;</a:t>
            </a:r>
            <a:r>
              <a:rPr lang="en-US" sz="1500" i="1" dirty="0" err="1"/>
              <a:t>ConsequenceAlignment</a:t>
            </a:r>
            <a:r>
              <a:rPr lang="en-US" sz="1500" i="1" dirty="0"/>
              <a:t>&gt;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500" b="1" dirty="0">
                <a:solidFill>
                  <a:schemeClr val="accent1"/>
                </a:solidFill>
              </a:rPr>
              <a:t>Semantics: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500" i="1" dirty="0" err="1"/>
              <a:t>consequenceAlignments</a:t>
            </a:r>
            <a:r>
              <a:rPr lang="en-US" sz="1500" i="1" dirty="0"/>
              <a:t> = { (r, </a:t>
            </a:r>
            <a:r>
              <a:rPr lang="en-US" sz="1500" i="1" dirty="0" err="1"/>
              <a:t>rcx</a:t>
            </a:r>
            <a:r>
              <a:rPr lang="en-US" sz="1500" i="1" dirty="0"/>
              <a:t>) | r ∈ {aligns, </a:t>
            </a:r>
            <a:r>
              <a:rPr lang="en-US" sz="1500" i="1" dirty="0" err="1"/>
              <a:t>mayAlign</a:t>
            </a:r>
            <a:r>
              <a:rPr lang="en-US" sz="1500" i="1" dirty="0"/>
              <a:t>, </a:t>
            </a:r>
            <a:r>
              <a:rPr lang="en-US" sz="1500" i="1" dirty="0" err="1"/>
              <a:t>partiallyAligns</a:t>
            </a:r>
            <a:r>
              <a:rPr lang="en-US" sz="1500" i="1" dirty="0"/>
              <a:t>, </a:t>
            </a:r>
            <a:r>
              <a:rPr lang="en-US" sz="1500" i="1" dirty="0" err="1"/>
              <a:t>cannotAlign</a:t>
            </a:r>
            <a:r>
              <a:rPr lang="en-US" sz="1500" i="1" dirty="0"/>
              <a:t>} and r(</a:t>
            </a:r>
            <a:r>
              <a:rPr lang="en-US" sz="1500" i="1" dirty="0" err="1"/>
              <a:t>sourceConcept</a:t>
            </a:r>
            <a:r>
              <a:rPr lang="en-US" sz="1500" i="1" dirty="0"/>
              <a:t>, </a:t>
            </a:r>
            <a:r>
              <a:rPr lang="en-US" sz="1500" i="1" dirty="0" err="1"/>
              <a:t>rcx</a:t>
            </a:r>
            <a:r>
              <a:rPr lang="en-US" sz="1500" i="1" dirty="0"/>
              <a:t>) holds in the expanded graph obtained by asserting aligns(</a:t>
            </a:r>
            <a:r>
              <a:rPr lang="en-US" sz="1500" i="1" dirty="0" err="1"/>
              <a:t>sourceConcept</a:t>
            </a:r>
            <a:r>
              <a:rPr lang="en-US" sz="1500" i="1" dirty="0"/>
              <a:t>, </a:t>
            </a:r>
            <a:r>
              <a:rPr lang="en-US" sz="1500" i="1" dirty="0" err="1"/>
              <a:t>targetConcept</a:t>
            </a:r>
            <a:r>
              <a:rPr lang="en-US" sz="1500" i="1" dirty="0"/>
              <a:t>) and applying the inference rules and r(</a:t>
            </a:r>
            <a:r>
              <a:rPr lang="en-US" sz="1500" i="1" dirty="0" err="1"/>
              <a:t>sourceConcept</a:t>
            </a:r>
            <a:r>
              <a:rPr lang="en-US" sz="1500" i="1" dirty="0"/>
              <a:t>, </a:t>
            </a:r>
            <a:r>
              <a:rPr lang="en-US" sz="1500" i="1" dirty="0" err="1"/>
              <a:t>rcx</a:t>
            </a:r>
            <a:r>
              <a:rPr lang="en-US" sz="1500" i="1" dirty="0"/>
              <a:t>) does not hold in the original graph and </a:t>
            </a:r>
            <a:r>
              <a:rPr lang="en-US" sz="1500" i="1" dirty="0" err="1"/>
              <a:t>rcx</a:t>
            </a:r>
            <a:r>
              <a:rPr lang="en-US" sz="1500" i="1" dirty="0"/>
              <a:t> ≠ </a:t>
            </a:r>
            <a:r>
              <a:rPr lang="en-US" sz="1500" i="1" dirty="0" err="1"/>
              <a:t>sourceConcept</a:t>
            </a:r>
            <a:r>
              <a:rPr lang="en-US" sz="1500" i="1" dirty="0"/>
              <a:t> and </a:t>
            </a:r>
            <a:r>
              <a:rPr lang="en-US" sz="1500" i="1" dirty="0" err="1"/>
              <a:t>rcx</a:t>
            </a:r>
            <a:r>
              <a:rPr lang="en-US" sz="1500" i="1" dirty="0"/>
              <a:t> ≠ </a:t>
            </a:r>
            <a:r>
              <a:rPr lang="en-US" sz="1500" i="1" dirty="0" err="1"/>
              <a:t>targetConcept</a:t>
            </a:r>
            <a:r>
              <a:rPr lang="en-US" sz="1500" i="1" dirty="0"/>
              <a:t> }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500" i="1" dirty="0"/>
              <a:t>Where: </a:t>
            </a:r>
            <a:r>
              <a:rPr lang="en-US" sz="1500" i="1" dirty="0" err="1"/>
              <a:t>ConsequenceAlignment</a:t>
            </a:r>
            <a:r>
              <a:rPr lang="en-US" sz="1500" i="1" dirty="0"/>
              <a:t> = (</a:t>
            </a:r>
            <a:r>
              <a:rPr lang="en-US" sz="1500" i="1" dirty="0" err="1"/>
              <a:t>relationType</a:t>
            </a:r>
            <a:r>
              <a:rPr lang="en-US" sz="1500" i="1" dirty="0"/>
              <a:t>: </a:t>
            </a:r>
            <a:r>
              <a:rPr lang="en-US" sz="1500" i="1" dirty="0" err="1"/>
              <a:t>AlignmentRelation</a:t>
            </a:r>
            <a:r>
              <a:rPr lang="en-US" sz="1500" i="1" dirty="0"/>
              <a:t>, </a:t>
            </a:r>
            <a:r>
              <a:rPr lang="en-US" sz="1500" i="1" dirty="0" err="1"/>
              <a:t>targetAlignedConcept</a:t>
            </a:r>
            <a:r>
              <a:rPr lang="en-US" sz="1500" i="1" dirty="0"/>
              <a:t>: </a:t>
            </a:r>
            <a:r>
              <a:rPr lang="en-US" sz="1500" i="1" dirty="0" err="1"/>
              <a:t>RepresentationConcept</a:t>
            </a:r>
            <a:r>
              <a:rPr lang="en-US" sz="1500" i="1" dirty="0"/>
              <a:t>)</a:t>
            </a:r>
            <a:endParaRPr lang="en-NL" sz="1500" i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10AD261-B4B4-6DD9-9BBB-F1FBB76DE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Scenario 8:</a:t>
            </a:r>
            <a:br>
              <a:rPr lang="en-US" sz="3600" b="1" dirty="0"/>
            </a:br>
            <a:r>
              <a:rPr lang="en-US" sz="3600" dirty="0"/>
              <a:t>Assess the Consequences of a Proposed Alignment</a:t>
            </a:r>
            <a:endParaRPr lang="en-NL" sz="3600" dirty="0"/>
          </a:p>
        </p:txBody>
      </p:sp>
    </p:spTree>
    <p:extLst>
      <p:ext uri="{BB962C8B-B14F-4D97-AF65-F5344CB8AC3E}">
        <p14:creationId xmlns:p14="http://schemas.microsoft.com/office/powerpoint/2010/main" val="1661044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3819</TotalTime>
  <Words>4344</Words>
  <Application>Microsoft Office PowerPoint</Application>
  <PresentationFormat>Widescreen</PresentationFormat>
  <Paragraphs>468</Paragraphs>
  <Slides>54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Aptos</vt:lpstr>
      <vt:lpstr>Aptos Display</vt:lpstr>
      <vt:lpstr>Arial</vt:lpstr>
      <vt:lpstr>Atkinson Hyperlegible Mono Semi</vt:lpstr>
      <vt:lpstr>Office Theme</vt:lpstr>
      <vt:lpstr>Use Case Scenarios for the Health-RI Semantic Interoperability Initiative</vt:lpstr>
      <vt:lpstr>Context Definition</vt:lpstr>
      <vt:lpstr>Context</vt:lpstr>
      <vt:lpstr>1. Types of Concepts</vt:lpstr>
      <vt:lpstr>1. Types of Concepts</vt:lpstr>
      <vt:lpstr>Context</vt:lpstr>
      <vt:lpstr>2. Vertical Relations</vt:lpstr>
      <vt:lpstr>Context</vt:lpstr>
      <vt:lpstr>3a. Horizontal Relations: aligns</vt:lpstr>
      <vt:lpstr>3a. Horizontal Relations: aligns</vt:lpstr>
      <vt:lpstr>3a. Horizontal Relations: aligns</vt:lpstr>
      <vt:lpstr>3a. Horizontal Relations: aligns</vt:lpstr>
      <vt:lpstr>3a. Horizontal Relations: aligns</vt:lpstr>
      <vt:lpstr>3a. Horizontal Relations: aligns</vt:lpstr>
      <vt:lpstr>3a. Horizontal Relations: aligns</vt:lpstr>
      <vt:lpstr>3a. Horizontal Relations: aligns</vt:lpstr>
      <vt:lpstr>Context</vt:lpstr>
      <vt:lpstr>3b. Horizontal Relations: cannotAlign</vt:lpstr>
      <vt:lpstr>3b. Horizontal Relations: cannotAlign</vt:lpstr>
      <vt:lpstr>3b. Horizontal Relations: cannotAlign</vt:lpstr>
      <vt:lpstr>Context</vt:lpstr>
      <vt:lpstr>3c. Horizontal Relations: mayAlign</vt:lpstr>
      <vt:lpstr>3c. Horizontal Relations: mayAlign</vt:lpstr>
      <vt:lpstr>3c. Horizontal Relations: mayAlign</vt:lpstr>
      <vt:lpstr>Context</vt:lpstr>
      <vt:lpstr>3d. Horizontal Relations: partiallyAlign</vt:lpstr>
      <vt:lpstr>3d. Horizontal Relations: partiallyAlign</vt:lpstr>
      <vt:lpstr>3d. Horizontal Relations: partiallyAlign</vt:lpstr>
      <vt:lpstr>Alignment relations’ precedence/blocking</vt:lpstr>
      <vt:lpstr>Context</vt:lpstr>
      <vt:lpstr>4. Inconsistencies</vt:lpstr>
      <vt:lpstr>4. Inconsistencies</vt:lpstr>
      <vt:lpstr>Roles</vt:lpstr>
      <vt:lpstr>Use Scenarios</vt:lpstr>
      <vt:lpstr>Scenario 1:  Retrieve the Semantic Scope of an Ontology Concept</vt:lpstr>
      <vt:lpstr>Scenario 1:  Retrieve the Semantic Scope of an Ontology Concept</vt:lpstr>
      <vt:lpstr>Scenario 2: Retrieve Concepts Connected to a Selected Ontology Meaning</vt:lpstr>
      <vt:lpstr>Scenario 2: Retrieve Concepts Connected to a Selected Ontology Meaning</vt:lpstr>
      <vt:lpstr>Scenario 3: Retrieve the Ontology Meanings of a Selected Concept</vt:lpstr>
      <vt:lpstr>Scenario 3: Retrieve the Ontology Meanings of a Selected Concept</vt:lpstr>
      <vt:lpstr>Scenario 4: Check the Existing Alignment Between Two Selected Concepts</vt:lpstr>
      <vt:lpstr>Scenario 4: Check the Existing Alignment Between Two Selected Concepts</vt:lpstr>
      <vt:lpstr>Scenario 5:  Assess Semantic Alignments for a Selected Concept</vt:lpstr>
      <vt:lpstr>Scenario 5:  Assess Semantic Alignments for a Selected Concept</vt:lpstr>
      <vt:lpstr>Scenario 5.1:  Identify Exact Semantic Matches for a Selected Concept</vt:lpstr>
      <vt:lpstr>Scenario 5.2:  Identify Semantically Incompatible Concepts</vt:lpstr>
      <vt:lpstr>Scenario 5.3:  Identify Potential Semantic Matches for Further Review</vt:lpstr>
      <vt:lpstr>Scenario 5.4:  Identify Partially Aligned Concepts</vt:lpstr>
      <vt:lpstr>Scenario 6: Check the Consistency of a Selected Concept</vt:lpstr>
      <vt:lpstr>Scenario 6: Check the Consistency of a Selected Concept</vt:lpstr>
      <vt:lpstr>Scenario 7: Retrieve All Semantically Inconsistent Concepts</vt:lpstr>
      <vt:lpstr>Scenario 7: Retrieve All Semantically Inconsistent Concepts</vt:lpstr>
      <vt:lpstr>Scenario 8: Assess the Consequences of a Proposed Alignment</vt:lpstr>
      <vt:lpstr>Scenario 8: Assess the Consequences of a Proposed Alignment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Paulo Favato Barcelos</dc:creator>
  <cp:lastModifiedBy>Pedro Paulo Favato Barcelos</cp:lastModifiedBy>
  <cp:revision>304</cp:revision>
  <dcterms:created xsi:type="dcterms:W3CDTF">2026-03-17T13:13:48Z</dcterms:created>
  <dcterms:modified xsi:type="dcterms:W3CDTF">2026-04-22T16:23:37Z</dcterms:modified>
</cp:coreProperties>
</file>