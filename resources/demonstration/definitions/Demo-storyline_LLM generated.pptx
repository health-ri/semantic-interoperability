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EBC0AC-76CA-4932-6F70-B16A90533BE4}" v="140" dt="2026-04-16T14:11:53.3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ek van Ulzen" userId="S::niek.vanulzen@health-ri.nl::e2d26932-42a7-43c7-b75d-bc0ee4ad0664" providerId="AD" clId="Web-{EDEBC0AC-76CA-4932-6F70-B16A90533BE4}"/>
    <pc:docChg chg="modSld">
      <pc:chgData name="Niek van Ulzen" userId="S::niek.vanulzen@health-ri.nl::e2d26932-42a7-43c7-b75d-bc0ee4ad0664" providerId="AD" clId="Web-{EDEBC0AC-76CA-4932-6F70-B16A90533BE4}" dt="2026-04-16T14:11:53.399" v="139" actId="20577"/>
      <pc:docMkLst>
        <pc:docMk/>
      </pc:docMkLst>
      <pc:sldChg chg="modSp">
        <pc:chgData name="Niek van Ulzen" userId="S::niek.vanulzen@health-ri.nl::e2d26932-42a7-43c7-b75d-bc0ee4ad0664" providerId="AD" clId="Web-{EDEBC0AC-76CA-4932-6F70-B16A90533BE4}" dt="2026-04-16T14:11:53.399" v="139" actId="20577"/>
        <pc:sldMkLst>
          <pc:docMk/>
          <pc:sldMk cId="0" sldId="256"/>
        </pc:sldMkLst>
        <pc:spChg chg="mod">
          <ac:chgData name="Niek van Ulzen" userId="S::niek.vanulzen@health-ri.nl::e2d26932-42a7-43c7-b75d-bc0ee4ad0664" providerId="AD" clId="Web-{EDEBC0AC-76CA-4932-6F70-B16A90533BE4}" dt="2026-04-16T14:11:53.399" v="139" actId="20577"/>
          <ac:spMkLst>
            <pc:docMk/>
            <pc:sldMk cId="0" sldId="256"/>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67533C95-0A8A-4C32-8732-863D2B2DE442}" type="datetimeFigureOut">
              <a:t>16-4-2026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2E33ACFC-C0D1-46FE-8447-A629ED288213}" type="slidenum">
              <a:t>‹#›</a:t>
            </a:fld>
            <a:endParaRPr lang="en-US"/>
          </a:p>
        </p:txBody>
      </p:sp>
    </p:spTree>
    <p:extLst>
      <p:ext uri="{BB962C8B-B14F-4D97-AF65-F5344CB8AC3E}">
        <p14:creationId xmlns:p14="http://schemas.microsoft.com/office/powerpoint/2010/main" val="3944782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5"/>
        </a:solidFill>
        <a:effectLst/>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00838F"/>
          </a:solidFill>
          <a:ln w="12700">
            <a:solidFill>
              <a:srgbClr val="333333"/>
            </a:solidFill>
            <a:prstDash val="solid"/>
          </a:ln>
        </p:spPr>
      </p:sp>
      <p:sp>
        <p:nvSpPr>
          <p:cNvPr id="3" name="Text 1"/>
          <p:cNvSpPr/>
          <p:nvPr/>
        </p:nvSpPr>
        <p:spPr>
          <a:xfrm>
            <a:off x="822960" y="1005840"/>
            <a:ext cx="7955280" cy="1005840"/>
          </a:xfrm>
          <a:prstGeom prst="rect">
            <a:avLst/>
          </a:prstGeom>
          <a:noFill/>
          <a:ln/>
        </p:spPr>
        <p:txBody>
          <a:bodyPr wrap="square" lIns="0" tIns="0" rIns="0" bIns="0" rtlCol="0" anchor="ctr"/>
          <a:lstStyle/>
          <a:p>
            <a:pPr marL="0" indent="0">
              <a:buNone/>
            </a:pPr>
            <a:r>
              <a:rPr lang="en-US" sz="4400" b="1" dirty="0">
                <a:solidFill>
                  <a:srgbClr val="FFFFFF"/>
                </a:solidFill>
              </a:rPr>
              <a:t>Semantic Interoperability</a:t>
            </a:r>
            <a:endParaRPr lang="en-US" sz="4400" dirty="0"/>
          </a:p>
        </p:txBody>
      </p:sp>
      <p:sp>
        <p:nvSpPr>
          <p:cNvPr id="4" name="Text 2"/>
          <p:cNvSpPr/>
          <p:nvPr/>
        </p:nvSpPr>
        <p:spPr>
          <a:xfrm>
            <a:off x="822960" y="1965960"/>
            <a:ext cx="7955280" cy="822960"/>
          </a:xfrm>
          <a:prstGeom prst="rect">
            <a:avLst/>
          </a:prstGeom>
          <a:noFill/>
          <a:ln/>
        </p:spPr>
        <p:txBody>
          <a:bodyPr wrap="square" lIns="0" tIns="0" rIns="0" bIns="0" rtlCol="0" anchor="ctr"/>
          <a:lstStyle/>
          <a:p>
            <a:pPr marL="0" indent="0">
              <a:buNone/>
            </a:pPr>
            <a:r>
              <a:rPr lang="en-US" sz="3800" dirty="0">
                <a:solidFill>
                  <a:srgbClr val="00838F"/>
                </a:solidFill>
              </a:rPr>
              <a:t>in Health Data</a:t>
            </a:r>
            <a:endParaRPr lang="en-US" sz="3800" dirty="0"/>
          </a:p>
        </p:txBody>
      </p:sp>
      <p:sp>
        <p:nvSpPr>
          <p:cNvPr id="5" name="Text 3"/>
          <p:cNvSpPr/>
          <p:nvPr/>
        </p:nvSpPr>
        <p:spPr>
          <a:xfrm>
            <a:off x="822960" y="3013617"/>
            <a:ext cx="5486400" cy="1199035"/>
          </a:xfrm>
          <a:prstGeom prst="rect">
            <a:avLst/>
          </a:prstGeom>
          <a:noFill/>
          <a:ln/>
        </p:spPr>
        <p:txBody>
          <a:bodyPr wrap="square" lIns="0" tIns="0" rIns="0" bIns="0" rtlCol="0" anchor="ctr"/>
          <a:lstStyle/>
          <a:p>
            <a:pPr marL="0" indent="0">
              <a:buNone/>
            </a:pPr>
            <a:r>
              <a:rPr lang="en-US" sz="1600" i="1" dirty="0">
                <a:solidFill>
                  <a:srgbClr val="8AA0B8"/>
                </a:solidFill>
              </a:rPr>
              <a:t>A 30-minute demonstration</a:t>
            </a:r>
            <a:endParaRPr lang="en-US" sz="1600" dirty="0">
              <a:solidFill>
                <a:srgbClr val="000000"/>
              </a:solidFill>
              <a:ea typeface="Calibri" panose="020F0502020204030204"/>
              <a:cs typeface="Calibri" panose="020F0502020204030204"/>
            </a:endParaRPr>
          </a:p>
          <a:p>
            <a:endParaRPr lang="en-US" sz="1600" i="1" dirty="0">
              <a:solidFill>
                <a:srgbClr val="8AA0B8"/>
              </a:solidFill>
              <a:ea typeface="Calibri"/>
              <a:cs typeface="Calibri"/>
            </a:endParaRPr>
          </a:p>
          <a:p>
            <a:r>
              <a:rPr lang="en-US" sz="1400" dirty="0">
                <a:solidFill>
                  <a:srgbClr val="FF0000"/>
                </a:solidFill>
                <a:ea typeface="Calibri"/>
                <a:cs typeface="Calibri"/>
              </a:rPr>
              <a:t>This slide deck just serves as example of how the storyline could look like for the </a:t>
            </a:r>
            <a:r>
              <a:rPr lang="en-US" sz="1400">
                <a:solidFill>
                  <a:srgbClr val="FF0000"/>
                </a:solidFill>
                <a:ea typeface="Calibri"/>
                <a:cs typeface="Calibri"/>
              </a:rPr>
              <a:t>evaluation</a:t>
            </a:r>
            <a:r>
              <a:rPr lang="en-US" sz="1400" dirty="0">
                <a:solidFill>
                  <a:srgbClr val="FF0000"/>
                </a:solidFill>
                <a:ea typeface="Calibri"/>
                <a:cs typeface="Calibri"/>
              </a:rPr>
              <a:t> meeting. It is completely LLM-generated. It is just to show that it could be nice to start from two personas that want something and how our mapping and ontology help in that, and in the end of this helps them.</a:t>
            </a:r>
          </a:p>
          <a:p>
            <a:endParaRPr lang="en-US" sz="1600" i="1" dirty="0">
              <a:solidFill>
                <a:srgbClr val="8AA0B8"/>
              </a:solidFill>
              <a:ea typeface="Calibri"/>
              <a:cs typeface="Calibri"/>
            </a:endParaRPr>
          </a:p>
          <a:p>
            <a:endParaRPr lang="en-US" sz="1600" i="1" dirty="0">
              <a:solidFill>
                <a:srgbClr val="8AA0B8"/>
              </a:solidFill>
              <a:ea typeface="Calibri"/>
              <a:cs typeface="Calibri"/>
            </a:endParaRPr>
          </a:p>
        </p:txBody>
      </p:sp>
      <p:sp>
        <p:nvSpPr>
          <p:cNvPr id="6" name="Shape 4"/>
          <p:cNvSpPr/>
          <p:nvPr/>
        </p:nvSpPr>
        <p:spPr>
          <a:xfrm>
            <a:off x="7132320" y="914400"/>
            <a:ext cx="640080" cy="640080"/>
          </a:xfrm>
          <a:prstGeom prst="ellipse">
            <a:avLst/>
          </a:prstGeom>
          <a:solidFill>
            <a:srgbClr val="1976D2"/>
          </a:solidFill>
          <a:ln w="19050">
            <a:solidFill>
              <a:srgbClr val="FFFFFF"/>
            </a:solidFill>
            <a:prstDash val="solid"/>
          </a:ln>
        </p:spPr>
      </p:sp>
      <p:sp>
        <p:nvSpPr>
          <p:cNvPr id="7" name="Text 5"/>
          <p:cNvSpPr/>
          <p:nvPr/>
        </p:nvSpPr>
        <p:spPr>
          <a:xfrm>
            <a:off x="6858000" y="1572768"/>
            <a:ext cx="1188720" cy="256032"/>
          </a:xfrm>
          <a:prstGeom prst="rect">
            <a:avLst/>
          </a:prstGeom>
          <a:noFill/>
          <a:ln/>
        </p:spPr>
        <p:txBody>
          <a:bodyPr wrap="square" lIns="0" tIns="0" rIns="0" bIns="0" rtlCol="0" anchor="ctr"/>
          <a:lstStyle/>
          <a:p>
            <a:pPr marL="0" indent="0" algn="ctr">
              <a:buNone/>
            </a:pPr>
            <a:r>
              <a:rPr lang="en-US" sz="900" dirty="0">
                <a:solidFill>
                  <a:srgbClr val="8AA0B8"/>
                </a:solidFill>
              </a:rPr>
              <a:t>FHIR R5</a:t>
            </a:r>
            <a:endParaRPr lang="en-US" sz="900" dirty="0"/>
          </a:p>
        </p:txBody>
      </p:sp>
      <p:sp>
        <p:nvSpPr>
          <p:cNvPr id="8" name="Shape 6"/>
          <p:cNvSpPr/>
          <p:nvPr/>
        </p:nvSpPr>
        <p:spPr>
          <a:xfrm>
            <a:off x="8138160" y="1828800"/>
            <a:ext cx="640080" cy="640080"/>
          </a:xfrm>
          <a:prstGeom prst="ellipse">
            <a:avLst/>
          </a:prstGeom>
          <a:solidFill>
            <a:srgbClr val="2E7D32"/>
          </a:solidFill>
          <a:ln w="19050">
            <a:solidFill>
              <a:srgbClr val="FFFFFF"/>
            </a:solidFill>
            <a:prstDash val="solid"/>
          </a:ln>
        </p:spPr>
      </p:sp>
      <p:sp>
        <p:nvSpPr>
          <p:cNvPr id="9" name="Text 7"/>
          <p:cNvSpPr/>
          <p:nvPr/>
        </p:nvSpPr>
        <p:spPr>
          <a:xfrm>
            <a:off x="7863840" y="2487168"/>
            <a:ext cx="1188720" cy="256032"/>
          </a:xfrm>
          <a:prstGeom prst="rect">
            <a:avLst/>
          </a:prstGeom>
          <a:noFill/>
          <a:ln/>
        </p:spPr>
        <p:txBody>
          <a:bodyPr wrap="square" lIns="0" tIns="0" rIns="0" bIns="0" rtlCol="0" anchor="ctr"/>
          <a:lstStyle/>
          <a:p>
            <a:pPr marL="0" indent="0" algn="ctr">
              <a:buNone/>
            </a:pPr>
            <a:r>
              <a:rPr lang="en-US" sz="900" dirty="0">
                <a:solidFill>
                  <a:srgbClr val="8AA0B8"/>
                </a:solidFill>
              </a:rPr>
              <a:t>openEHR</a:t>
            </a:r>
            <a:endParaRPr lang="en-US" sz="900" dirty="0"/>
          </a:p>
        </p:txBody>
      </p:sp>
      <p:sp>
        <p:nvSpPr>
          <p:cNvPr id="10" name="Shape 8"/>
          <p:cNvSpPr/>
          <p:nvPr/>
        </p:nvSpPr>
        <p:spPr>
          <a:xfrm>
            <a:off x="6675120" y="2560320"/>
            <a:ext cx="640080" cy="640080"/>
          </a:xfrm>
          <a:prstGeom prst="ellipse">
            <a:avLst/>
          </a:prstGeom>
          <a:solidFill>
            <a:srgbClr val="E65100"/>
          </a:solidFill>
          <a:ln w="19050">
            <a:solidFill>
              <a:srgbClr val="FFFFFF"/>
            </a:solidFill>
            <a:prstDash val="solid"/>
          </a:ln>
        </p:spPr>
      </p:sp>
      <p:sp>
        <p:nvSpPr>
          <p:cNvPr id="11" name="Text 9"/>
          <p:cNvSpPr/>
          <p:nvPr/>
        </p:nvSpPr>
        <p:spPr>
          <a:xfrm>
            <a:off x="6400800" y="3218688"/>
            <a:ext cx="1188720" cy="256032"/>
          </a:xfrm>
          <a:prstGeom prst="rect">
            <a:avLst/>
          </a:prstGeom>
          <a:noFill/>
          <a:ln/>
        </p:spPr>
        <p:txBody>
          <a:bodyPr wrap="square" lIns="0" tIns="0" rIns="0" bIns="0" rtlCol="0" anchor="ctr"/>
          <a:lstStyle/>
          <a:p>
            <a:pPr marL="0" indent="0" algn="ctr">
              <a:buNone/>
            </a:pPr>
            <a:r>
              <a:rPr lang="en-US" sz="900" dirty="0">
                <a:solidFill>
                  <a:srgbClr val="8AA0B8"/>
                </a:solidFill>
              </a:rPr>
              <a:t>CARE-SM</a:t>
            </a:r>
            <a:endParaRPr lang="en-US" sz="900" dirty="0"/>
          </a:p>
        </p:txBody>
      </p:sp>
      <p:sp>
        <p:nvSpPr>
          <p:cNvPr id="12" name="Shape 10"/>
          <p:cNvSpPr/>
          <p:nvPr/>
        </p:nvSpPr>
        <p:spPr>
          <a:xfrm>
            <a:off x="7863840" y="3291840"/>
            <a:ext cx="640080" cy="640080"/>
          </a:xfrm>
          <a:prstGeom prst="ellipse">
            <a:avLst/>
          </a:prstGeom>
          <a:solidFill>
            <a:srgbClr val="7B1FA2"/>
          </a:solidFill>
          <a:ln w="19050">
            <a:solidFill>
              <a:srgbClr val="FFFFFF"/>
            </a:solidFill>
            <a:prstDash val="solid"/>
          </a:ln>
        </p:spPr>
      </p:sp>
      <p:sp>
        <p:nvSpPr>
          <p:cNvPr id="13" name="Text 11"/>
          <p:cNvSpPr/>
          <p:nvPr/>
        </p:nvSpPr>
        <p:spPr>
          <a:xfrm>
            <a:off x="7589520" y="3950208"/>
            <a:ext cx="1188720" cy="256032"/>
          </a:xfrm>
          <a:prstGeom prst="rect">
            <a:avLst/>
          </a:prstGeom>
          <a:noFill/>
          <a:ln/>
        </p:spPr>
        <p:txBody>
          <a:bodyPr wrap="square" lIns="0" tIns="0" rIns="0" bIns="0" rtlCol="0" anchor="ctr"/>
          <a:lstStyle/>
          <a:p>
            <a:pPr marL="0" indent="0" algn="ctr">
              <a:buNone/>
            </a:pPr>
            <a:r>
              <a:rPr lang="en-US" sz="900" dirty="0">
                <a:solidFill>
                  <a:srgbClr val="8AA0B8"/>
                </a:solidFill>
              </a:rPr>
              <a:t>HRIO</a:t>
            </a:r>
            <a:endParaRPr lang="en-US" sz="900" dirty="0"/>
          </a:p>
        </p:txBody>
      </p:sp>
      <p:sp>
        <p:nvSpPr>
          <p:cNvPr id="14" name="Shape 12"/>
          <p:cNvSpPr/>
          <p:nvPr/>
        </p:nvSpPr>
        <p:spPr>
          <a:xfrm>
            <a:off x="0" y="4773168"/>
            <a:ext cx="9144000" cy="365760"/>
          </a:xfrm>
          <a:prstGeom prst="rect">
            <a:avLst/>
          </a:prstGeom>
          <a:solidFill>
            <a:srgbClr val="00838F">
              <a:alpha val="18000"/>
            </a:srgbClr>
          </a:solidFill>
          <a:ln w="12700">
            <a:solidFill>
              <a:srgbClr val="333333"/>
            </a:solidFill>
            <a:prstDash val="solid"/>
          </a:ln>
        </p:spPr>
      </p:sp>
      <p:sp>
        <p:nvSpPr>
          <p:cNvPr id="15" name="Text 13"/>
          <p:cNvSpPr/>
          <p:nvPr/>
        </p:nvSpPr>
        <p:spPr>
          <a:xfrm>
            <a:off x="822960" y="4791456"/>
            <a:ext cx="7315200" cy="320040"/>
          </a:xfrm>
          <a:prstGeom prst="rect">
            <a:avLst/>
          </a:prstGeom>
          <a:noFill/>
          <a:ln/>
        </p:spPr>
        <p:txBody>
          <a:bodyPr wrap="square" lIns="0" tIns="0" rIns="0" bIns="0" rtlCol="0" anchor="ctr"/>
          <a:lstStyle/>
          <a:p>
            <a:pPr marL="0" indent="0">
              <a:buNone/>
            </a:pPr>
            <a:r>
              <a:rPr lang="en-US" sz="1100" dirty="0">
                <a:solidFill>
                  <a:srgbClr val="8AA0B8"/>
                </a:solidFill>
              </a:rPr>
              <a:t>Health-RI  ·  Semantic Interoperability Working Group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3A5C"/>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658368"/>
          </a:xfrm>
          <a:prstGeom prst="rect">
            <a:avLst/>
          </a:prstGeom>
          <a:noFill/>
          <a:ln/>
        </p:spPr>
        <p:txBody>
          <a:bodyPr wrap="square" lIns="0" tIns="0" rIns="0" bIns="0" rtlCol="0" anchor="ctr"/>
          <a:lstStyle/>
          <a:p>
            <a:pPr marL="0" indent="0">
              <a:buNone/>
            </a:pPr>
            <a:r>
              <a:rPr lang="en-US" sz="3000" b="1" dirty="0">
                <a:solidFill>
                  <a:srgbClr val="FFFFFF"/>
                </a:solidFill>
              </a:rPr>
              <a:t>One Research Question. Three Different Languages.</a:t>
            </a:r>
            <a:endParaRPr lang="en-US" sz="3000" dirty="0"/>
          </a:p>
        </p:txBody>
      </p:sp>
      <p:sp>
        <p:nvSpPr>
          <p:cNvPr id="3" name="Shape 1"/>
          <p:cNvSpPr/>
          <p:nvPr/>
        </p:nvSpPr>
        <p:spPr>
          <a:xfrm>
            <a:off x="320040" y="1051560"/>
            <a:ext cx="2377440" cy="3291840"/>
          </a:xfrm>
          <a:prstGeom prst="rect">
            <a:avLst/>
          </a:prstGeom>
          <a:solidFill>
            <a:srgbClr val="FFFFFF">
              <a:alpha val="93000"/>
            </a:srgbClr>
          </a:solidFill>
          <a:ln w="6350">
            <a:solidFill>
              <a:srgbClr val="FFFFFF">
                <a:alpha val="35000"/>
              </a:srgbClr>
            </a:solidFill>
            <a:prstDash val="solid"/>
          </a:ln>
        </p:spPr>
      </p:sp>
      <p:sp>
        <p:nvSpPr>
          <p:cNvPr id="4" name="Shape 2"/>
          <p:cNvSpPr/>
          <p:nvPr/>
        </p:nvSpPr>
        <p:spPr>
          <a:xfrm>
            <a:off x="320040" y="1051560"/>
            <a:ext cx="2377440" cy="502920"/>
          </a:xfrm>
          <a:prstGeom prst="rect">
            <a:avLst/>
          </a:prstGeom>
          <a:solidFill>
            <a:srgbClr val="1976D2"/>
          </a:solidFill>
          <a:ln w="12700">
            <a:solidFill>
              <a:srgbClr val="333333"/>
            </a:solidFill>
            <a:prstDash val="solid"/>
          </a:ln>
        </p:spPr>
      </p:sp>
      <p:sp>
        <p:nvSpPr>
          <p:cNvPr id="5" name="Text 3"/>
          <p:cNvSpPr/>
          <p:nvPr/>
        </p:nvSpPr>
        <p:spPr>
          <a:xfrm>
            <a:off x="429768" y="1078992"/>
            <a:ext cx="2157984" cy="438912"/>
          </a:xfrm>
          <a:prstGeom prst="rect">
            <a:avLst/>
          </a:prstGeom>
          <a:noFill/>
          <a:ln/>
        </p:spPr>
        <p:txBody>
          <a:bodyPr wrap="square" lIns="0" tIns="0" rIns="0" bIns="0" rtlCol="0" anchor="ctr"/>
          <a:lstStyle/>
          <a:p>
            <a:pPr marL="0" indent="0">
              <a:buNone/>
            </a:pPr>
            <a:r>
              <a:rPr lang="en-US" sz="1400" b="1" dirty="0">
                <a:solidFill>
                  <a:srgbClr val="FFFFFF"/>
                </a:solidFill>
              </a:rPr>
              <a:t>FHIR R5</a:t>
            </a:r>
            <a:endParaRPr lang="en-US" sz="1400" dirty="0"/>
          </a:p>
        </p:txBody>
      </p:sp>
      <p:sp>
        <p:nvSpPr>
          <p:cNvPr id="6" name="Text 4"/>
          <p:cNvSpPr/>
          <p:nvPr/>
        </p:nvSpPr>
        <p:spPr>
          <a:xfrm>
            <a:off x="429768" y="1664208"/>
            <a:ext cx="2157984" cy="384048"/>
          </a:xfrm>
          <a:prstGeom prst="rect">
            <a:avLst/>
          </a:prstGeom>
          <a:noFill/>
          <a:ln/>
        </p:spPr>
        <p:txBody>
          <a:bodyPr wrap="square" lIns="0" tIns="0" rIns="0" bIns="0" rtlCol="0" anchor="ctr"/>
          <a:lstStyle/>
          <a:p>
            <a:pPr marL="0" indent="0">
              <a:buNone/>
            </a:pPr>
            <a:r>
              <a:rPr lang="en-US" sz="1200" dirty="0">
                <a:solidFill>
                  <a:srgbClr val="8AA0B8"/>
                </a:solidFill>
              </a:rPr>
              <a:t>🏥  Amsterdam UMC</a:t>
            </a:r>
            <a:endParaRPr lang="en-US" sz="1200" dirty="0"/>
          </a:p>
        </p:txBody>
      </p:sp>
      <p:sp>
        <p:nvSpPr>
          <p:cNvPr id="7" name="Shape 5"/>
          <p:cNvSpPr/>
          <p:nvPr/>
        </p:nvSpPr>
        <p:spPr>
          <a:xfrm>
            <a:off x="457200" y="2176272"/>
            <a:ext cx="2103120" cy="1920240"/>
          </a:xfrm>
          <a:prstGeom prst="rect">
            <a:avLst/>
          </a:prstGeom>
          <a:solidFill>
            <a:srgbClr val="1A2535"/>
          </a:solidFill>
          <a:ln w="12700">
            <a:solidFill>
              <a:srgbClr val="333333"/>
            </a:solidFill>
            <a:prstDash val="solid"/>
          </a:ln>
        </p:spPr>
      </p:sp>
      <p:sp>
        <p:nvSpPr>
          <p:cNvPr id="8" name="Text 6"/>
          <p:cNvSpPr/>
          <p:nvPr/>
        </p:nvSpPr>
        <p:spPr>
          <a:xfrm>
            <a:off x="576072" y="2267712"/>
            <a:ext cx="1828800" cy="256032"/>
          </a:xfrm>
          <a:prstGeom prst="rect">
            <a:avLst/>
          </a:prstGeom>
          <a:noFill/>
          <a:ln/>
        </p:spPr>
        <p:txBody>
          <a:bodyPr wrap="square" lIns="0" tIns="0" rIns="0" bIns="0" rtlCol="0" anchor="ctr"/>
          <a:lstStyle/>
          <a:p>
            <a:pPr marL="0" indent="0">
              <a:buNone/>
            </a:pPr>
            <a:r>
              <a:rPr lang="en-US" sz="900" b="1" dirty="0">
                <a:solidFill>
                  <a:srgbClr val="8AA0B8"/>
                </a:solidFill>
              </a:rPr>
              <a:t>Variable</a:t>
            </a:r>
            <a:endParaRPr lang="en-US" sz="900" dirty="0"/>
          </a:p>
        </p:txBody>
      </p:sp>
      <p:sp>
        <p:nvSpPr>
          <p:cNvPr id="9" name="Text 7"/>
          <p:cNvSpPr/>
          <p:nvPr/>
        </p:nvSpPr>
        <p:spPr>
          <a:xfrm>
            <a:off x="576072" y="2542032"/>
            <a:ext cx="1828800" cy="292608"/>
          </a:xfrm>
          <a:prstGeom prst="rect">
            <a:avLst/>
          </a:prstGeom>
          <a:noFill/>
          <a:ln/>
        </p:spPr>
        <p:txBody>
          <a:bodyPr wrap="square" lIns="0" tIns="0" rIns="0" bIns="0" rtlCol="0" anchor="ctr"/>
          <a:lstStyle/>
          <a:p>
            <a:pPr marL="0" indent="0">
              <a:buNone/>
            </a:pPr>
            <a:r>
              <a:rPr lang="en-US" sz="1050" dirty="0">
                <a:solidFill>
                  <a:srgbClr val="82B1FF"/>
                </a:solidFill>
                <a:latin typeface="Courier New" pitchFamily="34" charset="0"/>
                <a:ea typeface="Courier New" pitchFamily="34" charset="-122"/>
                <a:cs typeface="Courier New" pitchFamily="34" charset="-120"/>
              </a:rPr>
              <a:t>Patient.gender</a:t>
            </a:r>
            <a:endParaRPr lang="en-US" sz="1050" dirty="0"/>
          </a:p>
        </p:txBody>
      </p:sp>
      <p:sp>
        <p:nvSpPr>
          <p:cNvPr id="10" name="Text 8"/>
          <p:cNvSpPr/>
          <p:nvPr/>
        </p:nvSpPr>
        <p:spPr>
          <a:xfrm>
            <a:off x="576072" y="2944368"/>
            <a:ext cx="1828800" cy="256032"/>
          </a:xfrm>
          <a:prstGeom prst="rect">
            <a:avLst/>
          </a:prstGeom>
          <a:noFill/>
          <a:ln/>
        </p:spPr>
        <p:txBody>
          <a:bodyPr wrap="square" lIns="0" tIns="0" rIns="0" bIns="0" rtlCol="0" anchor="ctr"/>
          <a:lstStyle/>
          <a:p>
            <a:pPr marL="0" indent="0">
              <a:buNone/>
            </a:pPr>
            <a:r>
              <a:rPr lang="en-US" sz="900" b="1" dirty="0">
                <a:solidFill>
                  <a:srgbClr val="8AA0B8"/>
                </a:solidFill>
              </a:rPr>
              <a:t>Value</a:t>
            </a:r>
            <a:endParaRPr lang="en-US" sz="900" dirty="0"/>
          </a:p>
        </p:txBody>
      </p:sp>
      <p:sp>
        <p:nvSpPr>
          <p:cNvPr id="11" name="Text 9"/>
          <p:cNvSpPr/>
          <p:nvPr/>
        </p:nvSpPr>
        <p:spPr>
          <a:xfrm>
            <a:off x="576072" y="3218688"/>
            <a:ext cx="1828800" cy="292608"/>
          </a:xfrm>
          <a:prstGeom prst="rect">
            <a:avLst/>
          </a:prstGeom>
          <a:noFill/>
          <a:ln/>
        </p:spPr>
        <p:txBody>
          <a:bodyPr wrap="square" lIns="0" tIns="0" rIns="0" bIns="0" rtlCol="0" anchor="ctr"/>
          <a:lstStyle/>
          <a:p>
            <a:pPr marL="0" indent="0">
              <a:buNone/>
            </a:pPr>
            <a:r>
              <a:rPr lang="en-US" sz="1050" dirty="0">
                <a:solidFill>
                  <a:srgbClr val="FFCC80"/>
                </a:solidFill>
                <a:latin typeface="Courier New" pitchFamily="34" charset="0"/>
                <a:ea typeface="Courier New" pitchFamily="34" charset="-122"/>
                <a:cs typeface="Courier New" pitchFamily="34" charset="-120"/>
              </a:rPr>
              <a:t>"male"</a:t>
            </a:r>
            <a:endParaRPr lang="en-US" sz="1050" dirty="0"/>
          </a:p>
        </p:txBody>
      </p:sp>
      <p:sp>
        <p:nvSpPr>
          <p:cNvPr id="12" name="Text 10"/>
          <p:cNvSpPr/>
          <p:nvPr/>
        </p:nvSpPr>
        <p:spPr>
          <a:xfrm>
            <a:off x="576072" y="3611880"/>
            <a:ext cx="1828800" cy="365760"/>
          </a:xfrm>
          <a:prstGeom prst="rect">
            <a:avLst/>
          </a:prstGeom>
          <a:noFill/>
          <a:ln/>
        </p:spPr>
        <p:txBody>
          <a:bodyPr wrap="square" lIns="0" tIns="0" rIns="0" bIns="0" rtlCol="0" anchor="ctr"/>
          <a:lstStyle/>
          <a:p>
            <a:pPr marL="0" indent="0">
              <a:buNone/>
            </a:pPr>
            <a:r>
              <a:rPr lang="en-US" sz="1800" dirty="0">
                <a:solidFill>
                  <a:srgbClr val="8AA0B8"/>
                </a:solidFill>
              </a:rPr>
              <a:t>…</a:t>
            </a:r>
            <a:endParaRPr lang="en-US" sz="1800" dirty="0"/>
          </a:p>
        </p:txBody>
      </p:sp>
      <p:sp>
        <p:nvSpPr>
          <p:cNvPr id="13" name="Shape 11"/>
          <p:cNvSpPr/>
          <p:nvPr/>
        </p:nvSpPr>
        <p:spPr>
          <a:xfrm>
            <a:off x="3401568" y="1051560"/>
            <a:ext cx="2377440" cy="3291840"/>
          </a:xfrm>
          <a:prstGeom prst="rect">
            <a:avLst/>
          </a:prstGeom>
          <a:solidFill>
            <a:srgbClr val="FFFFFF">
              <a:alpha val="93000"/>
            </a:srgbClr>
          </a:solidFill>
          <a:ln w="6350">
            <a:solidFill>
              <a:srgbClr val="FFFFFF">
                <a:alpha val="35000"/>
              </a:srgbClr>
            </a:solidFill>
            <a:prstDash val="solid"/>
          </a:ln>
        </p:spPr>
      </p:sp>
      <p:sp>
        <p:nvSpPr>
          <p:cNvPr id="14" name="Shape 12"/>
          <p:cNvSpPr/>
          <p:nvPr/>
        </p:nvSpPr>
        <p:spPr>
          <a:xfrm>
            <a:off x="3401568" y="1051560"/>
            <a:ext cx="2377440" cy="502920"/>
          </a:xfrm>
          <a:prstGeom prst="rect">
            <a:avLst/>
          </a:prstGeom>
          <a:solidFill>
            <a:srgbClr val="2E7D32"/>
          </a:solidFill>
          <a:ln w="12700">
            <a:solidFill>
              <a:srgbClr val="333333"/>
            </a:solidFill>
            <a:prstDash val="solid"/>
          </a:ln>
        </p:spPr>
      </p:sp>
      <p:sp>
        <p:nvSpPr>
          <p:cNvPr id="15" name="Text 13"/>
          <p:cNvSpPr/>
          <p:nvPr/>
        </p:nvSpPr>
        <p:spPr>
          <a:xfrm>
            <a:off x="3511296" y="1078992"/>
            <a:ext cx="2157984" cy="438912"/>
          </a:xfrm>
          <a:prstGeom prst="rect">
            <a:avLst/>
          </a:prstGeom>
          <a:noFill/>
          <a:ln/>
        </p:spPr>
        <p:txBody>
          <a:bodyPr wrap="square" lIns="0" tIns="0" rIns="0" bIns="0" rtlCol="0" anchor="ctr"/>
          <a:lstStyle/>
          <a:p>
            <a:pPr marL="0" indent="0">
              <a:buNone/>
            </a:pPr>
            <a:r>
              <a:rPr lang="en-US" sz="1400" b="1" dirty="0">
                <a:solidFill>
                  <a:srgbClr val="FFFFFF"/>
                </a:solidFill>
              </a:rPr>
              <a:t>openEHR</a:t>
            </a:r>
            <a:endParaRPr lang="en-US" sz="1400" dirty="0"/>
          </a:p>
        </p:txBody>
      </p:sp>
      <p:sp>
        <p:nvSpPr>
          <p:cNvPr id="16" name="Text 14"/>
          <p:cNvSpPr/>
          <p:nvPr/>
        </p:nvSpPr>
        <p:spPr>
          <a:xfrm>
            <a:off x="3511296" y="1664208"/>
            <a:ext cx="2157984" cy="384048"/>
          </a:xfrm>
          <a:prstGeom prst="rect">
            <a:avLst/>
          </a:prstGeom>
          <a:noFill/>
          <a:ln/>
        </p:spPr>
        <p:txBody>
          <a:bodyPr wrap="square" lIns="0" tIns="0" rIns="0" bIns="0" rtlCol="0" anchor="ctr"/>
          <a:lstStyle/>
          <a:p>
            <a:pPr marL="0" indent="0">
              <a:buNone/>
            </a:pPr>
            <a:r>
              <a:rPr lang="en-US" sz="1200" dirty="0">
                <a:solidFill>
                  <a:srgbClr val="8AA0B8"/>
                </a:solidFill>
              </a:rPr>
              <a:t>🏥  Erasmus MC</a:t>
            </a:r>
            <a:endParaRPr lang="en-US" sz="1200" dirty="0"/>
          </a:p>
        </p:txBody>
      </p:sp>
      <p:sp>
        <p:nvSpPr>
          <p:cNvPr id="17" name="Shape 15"/>
          <p:cNvSpPr/>
          <p:nvPr/>
        </p:nvSpPr>
        <p:spPr>
          <a:xfrm>
            <a:off x="3538728" y="2176272"/>
            <a:ext cx="2103120" cy="1920240"/>
          </a:xfrm>
          <a:prstGeom prst="rect">
            <a:avLst/>
          </a:prstGeom>
          <a:solidFill>
            <a:srgbClr val="1A2535"/>
          </a:solidFill>
          <a:ln w="12700">
            <a:solidFill>
              <a:srgbClr val="333333"/>
            </a:solidFill>
            <a:prstDash val="solid"/>
          </a:ln>
        </p:spPr>
      </p:sp>
      <p:sp>
        <p:nvSpPr>
          <p:cNvPr id="18" name="Text 16"/>
          <p:cNvSpPr/>
          <p:nvPr/>
        </p:nvSpPr>
        <p:spPr>
          <a:xfrm>
            <a:off x="3657600" y="2267712"/>
            <a:ext cx="1828800" cy="256032"/>
          </a:xfrm>
          <a:prstGeom prst="rect">
            <a:avLst/>
          </a:prstGeom>
          <a:noFill/>
          <a:ln/>
        </p:spPr>
        <p:txBody>
          <a:bodyPr wrap="square" lIns="0" tIns="0" rIns="0" bIns="0" rtlCol="0" anchor="ctr"/>
          <a:lstStyle/>
          <a:p>
            <a:pPr marL="0" indent="0">
              <a:buNone/>
            </a:pPr>
            <a:r>
              <a:rPr lang="en-US" sz="900" b="1" dirty="0">
                <a:solidFill>
                  <a:srgbClr val="8AA0B8"/>
                </a:solidFill>
              </a:rPr>
              <a:t>Variable</a:t>
            </a:r>
            <a:endParaRPr lang="en-US" sz="900" dirty="0"/>
          </a:p>
        </p:txBody>
      </p:sp>
      <p:sp>
        <p:nvSpPr>
          <p:cNvPr id="19" name="Text 17"/>
          <p:cNvSpPr/>
          <p:nvPr/>
        </p:nvSpPr>
        <p:spPr>
          <a:xfrm>
            <a:off x="3657600" y="2542032"/>
            <a:ext cx="1828800" cy="292608"/>
          </a:xfrm>
          <a:prstGeom prst="rect">
            <a:avLst/>
          </a:prstGeom>
          <a:noFill/>
          <a:ln/>
        </p:spPr>
        <p:txBody>
          <a:bodyPr wrap="square" lIns="0" tIns="0" rIns="0" bIns="0" rtlCol="0" anchor="ctr"/>
          <a:lstStyle/>
          <a:p>
            <a:pPr marL="0" indent="0">
              <a:buNone/>
            </a:pPr>
            <a:r>
              <a:rPr lang="en-US" sz="1050" dirty="0">
                <a:solidFill>
                  <a:srgbClr val="82B1FF"/>
                </a:solidFill>
                <a:latin typeface="Courier New" pitchFamily="34" charset="0"/>
                <a:ea typeface="Courier New" pitchFamily="34" charset="-122"/>
                <a:cs typeface="Courier New" pitchFamily="34" charset="-120"/>
              </a:rPr>
              <a:t>administrative-gender</a:t>
            </a:r>
            <a:endParaRPr lang="en-US" sz="1050" dirty="0"/>
          </a:p>
        </p:txBody>
      </p:sp>
      <p:sp>
        <p:nvSpPr>
          <p:cNvPr id="20" name="Text 18"/>
          <p:cNvSpPr/>
          <p:nvPr/>
        </p:nvSpPr>
        <p:spPr>
          <a:xfrm>
            <a:off x="3657600" y="2944368"/>
            <a:ext cx="1828800" cy="256032"/>
          </a:xfrm>
          <a:prstGeom prst="rect">
            <a:avLst/>
          </a:prstGeom>
          <a:noFill/>
          <a:ln/>
        </p:spPr>
        <p:txBody>
          <a:bodyPr wrap="square" lIns="0" tIns="0" rIns="0" bIns="0" rtlCol="0" anchor="ctr"/>
          <a:lstStyle/>
          <a:p>
            <a:pPr marL="0" indent="0">
              <a:buNone/>
            </a:pPr>
            <a:r>
              <a:rPr lang="en-US" sz="900" b="1" dirty="0">
                <a:solidFill>
                  <a:srgbClr val="8AA0B8"/>
                </a:solidFill>
              </a:rPr>
              <a:t>Value</a:t>
            </a:r>
            <a:endParaRPr lang="en-US" sz="900" dirty="0"/>
          </a:p>
        </p:txBody>
      </p:sp>
      <p:sp>
        <p:nvSpPr>
          <p:cNvPr id="21" name="Text 19"/>
          <p:cNvSpPr/>
          <p:nvPr/>
        </p:nvSpPr>
        <p:spPr>
          <a:xfrm>
            <a:off x="3657600" y="3218688"/>
            <a:ext cx="1828800" cy="292608"/>
          </a:xfrm>
          <a:prstGeom prst="rect">
            <a:avLst/>
          </a:prstGeom>
          <a:noFill/>
          <a:ln/>
        </p:spPr>
        <p:txBody>
          <a:bodyPr wrap="square" lIns="0" tIns="0" rIns="0" bIns="0" rtlCol="0" anchor="ctr"/>
          <a:lstStyle/>
          <a:p>
            <a:pPr marL="0" indent="0">
              <a:buNone/>
            </a:pPr>
            <a:r>
              <a:rPr lang="en-US" sz="1050" dirty="0">
                <a:solidFill>
                  <a:srgbClr val="FFCC80"/>
                </a:solidFill>
                <a:latin typeface="Courier New" pitchFamily="34" charset="0"/>
                <a:ea typeface="Courier New" pitchFamily="34" charset="-122"/>
                <a:cs typeface="Courier New" pitchFamily="34" charset="-120"/>
              </a:rPr>
              <a:t>"at0007"</a:t>
            </a:r>
            <a:endParaRPr lang="en-US" sz="1050" dirty="0"/>
          </a:p>
        </p:txBody>
      </p:sp>
      <p:sp>
        <p:nvSpPr>
          <p:cNvPr id="22" name="Text 20"/>
          <p:cNvSpPr/>
          <p:nvPr/>
        </p:nvSpPr>
        <p:spPr>
          <a:xfrm>
            <a:off x="3657600" y="3611880"/>
            <a:ext cx="1828800" cy="365760"/>
          </a:xfrm>
          <a:prstGeom prst="rect">
            <a:avLst/>
          </a:prstGeom>
          <a:noFill/>
          <a:ln/>
        </p:spPr>
        <p:txBody>
          <a:bodyPr wrap="square" lIns="0" tIns="0" rIns="0" bIns="0" rtlCol="0" anchor="ctr"/>
          <a:lstStyle/>
          <a:p>
            <a:pPr marL="0" indent="0">
              <a:buNone/>
            </a:pPr>
            <a:r>
              <a:rPr lang="en-US" sz="1800" dirty="0">
                <a:solidFill>
                  <a:srgbClr val="8AA0B8"/>
                </a:solidFill>
              </a:rPr>
              <a:t>…</a:t>
            </a:r>
            <a:endParaRPr lang="en-US" sz="1800" dirty="0"/>
          </a:p>
        </p:txBody>
      </p:sp>
      <p:sp>
        <p:nvSpPr>
          <p:cNvPr id="23" name="Shape 21"/>
          <p:cNvSpPr/>
          <p:nvPr/>
        </p:nvSpPr>
        <p:spPr>
          <a:xfrm>
            <a:off x="6492240" y="1051560"/>
            <a:ext cx="2377440" cy="3291840"/>
          </a:xfrm>
          <a:prstGeom prst="rect">
            <a:avLst/>
          </a:prstGeom>
          <a:solidFill>
            <a:srgbClr val="FFFFFF">
              <a:alpha val="93000"/>
            </a:srgbClr>
          </a:solidFill>
          <a:ln w="6350">
            <a:solidFill>
              <a:srgbClr val="FFFFFF">
                <a:alpha val="35000"/>
              </a:srgbClr>
            </a:solidFill>
            <a:prstDash val="solid"/>
          </a:ln>
        </p:spPr>
      </p:sp>
      <p:sp>
        <p:nvSpPr>
          <p:cNvPr id="24" name="Shape 22"/>
          <p:cNvSpPr/>
          <p:nvPr/>
        </p:nvSpPr>
        <p:spPr>
          <a:xfrm>
            <a:off x="6492240" y="1051560"/>
            <a:ext cx="2377440" cy="502920"/>
          </a:xfrm>
          <a:prstGeom prst="rect">
            <a:avLst/>
          </a:prstGeom>
          <a:solidFill>
            <a:srgbClr val="E65100"/>
          </a:solidFill>
          <a:ln w="12700">
            <a:solidFill>
              <a:srgbClr val="333333"/>
            </a:solidFill>
            <a:prstDash val="solid"/>
          </a:ln>
        </p:spPr>
      </p:sp>
      <p:sp>
        <p:nvSpPr>
          <p:cNvPr id="25" name="Text 23"/>
          <p:cNvSpPr/>
          <p:nvPr/>
        </p:nvSpPr>
        <p:spPr>
          <a:xfrm>
            <a:off x="6601968" y="1078992"/>
            <a:ext cx="2157984" cy="438912"/>
          </a:xfrm>
          <a:prstGeom prst="rect">
            <a:avLst/>
          </a:prstGeom>
          <a:noFill/>
          <a:ln/>
        </p:spPr>
        <p:txBody>
          <a:bodyPr wrap="square" lIns="0" tIns="0" rIns="0" bIns="0" rtlCol="0" anchor="ctr"/>
          <a:lstStyle/>
          <a:p>
            <a:pPr marL="0" indent="0">
              <a:buNone/>
            </a:pPr>
            <a:r>
              <a:rPr lang="en-US" sz="1400" b="1" dirty="0">
                <a:solidFill>
                  <a:srgbClr val="FFFFFF"/>
                </a:solidFill>
              </a:rPr>
              <a:t>CARE-SM</a:t>
            </a:r>
            <a:endParaRPr lang="en-US" sz="1400" dirty="0"/>
          </a:p>
        </p:txBody>
      </p:sp>
      <p:sp>
        <p:nvSpPr>
          <p:cNvPr id="26" name="Text 24"/>
          <p:cNvSpPr/>
          <p:nvPr/>
        </p:nvSpPr>
        <p:spPr>
          <a:xfrm>
            <a:off x="6601968" y="1664208"/>
            <a:ext cx="2157984" cy="384048"/>
          </a:xfrm>
          <a:prstGeom prst="rect">
            <a:avLst/>
          </a:prstGeom>
          <a:noFill/>
          <a:ln/>
        </p:spPr>
        <p:txBody>
          <a:bodyPr wrap="square" lIns="0" tIns="0" rIns="0" bIns="0" rtlCol="0" anchor="ctr"/>
          <a:lstStyle/>
          <a:p>
            <a:pPr marL="0" indent="0">
              <a:buNone/>
            </a:pPr>
            <a:r>
              <a:rPr lang="en-US" sz="1200" dirty="0">
                <a:solidFill>
                  <a:srgbClr val="8AA0B8"/>
                </a:solidFill>
              </a:rPr>
              <a:t>🏥  National Registry</a:t>
            </a:r>
            <a:endParaRPr lang="en-US" sz="1200" dirty="0"/>
          </a:p>
        </p:txBody>
      </p:sp>
      <p:sp>
        <p:nvSpPr>
          <p:cNvPr id="27" name="Shape 25"/>
          <p:cNvSpPr/>
          <p:nvPr/>
        </p:nvSpPr>
        <p:spPr>
          <a:xfrm>
            <a:off x="6629400" y="2176272"/>
            <a:ext cx="2103120" cy="1920240"/>
          </a:xfrm>
          <a:prstGeom prst="rect">
            <a:avLst/>
          </a:prstGeom>
          <a:solidFill>
            <a:srgbClr val="1A2535"/>
          </a:solidFill>
          <a:ln w="12700">
            <a:solidFill>
              <a:srgbClr val="333333"/>
            </a:solidFill>
            <a:prstDash val="solid"/>
          </a:ln>
        </p:spPr>
      </p:sp>
      <p:sp>
        <p:nvSpPr>
          <p:cNvPr id="28" name="Text 26"/>
          <p:cNvSpPr/>
          <p:nvPr/>
        </p:nvSpPr>
        <p:spPr>
          <a:xfrm>
            <a:off x="6748272" y="2267712"/>
            <a:ext cx="1828800" cy="256032"/>
          </a:xfrm>
          <a:prstGeom prst="rect">
            <a:avLst/>
          </a:prstGeom>
          <a:noFill/>
          <a:ln/>
        </p:spPr>
        <p:txBody>
          <a:bodyPr wrap="square" lIns="0" tIns="0" rIns="0" bIns="0" rtlCol="0" anchor="ctr"/>
          <a:lstStyle/>
          <a:p>
            <a:pPr marL="0" indent="0">
              <a:buNone/>
            </a:pPr>
            <a:r>
              <a:rPr lang="en-US" sz="900" b="1" dirty="0">
                <a:solidFill>
                  <a:srgbClr val="8AA0B8"/>
                </a:solidFill>
              </a:rPr>
              <a:t>Variable</a:t>
            </a:r>
            <a:endParaRPr lang="en-US" sz="900" dirty="0"/>
          </a:p>
        </p:txBody>
      </p:sp>
      <p:sp>
        <p:nvSpPr>
          <p:cNvPr id="29" name="Text 27"/>
          <p:cNvSpPr/>
          <p:nvPr/>
        </p:nvSpPr>
        <p:spPr>
          <a:xfrm>
            <a:off x="6748272" y="2542032"/>
            <a:ext cx="1828800" cy="292608"/>
          </a:xfrm>
          <a:prstGeom prst="rect">
            <a:avLst/>
          </a:prstGeom>
          <a:noFill/>
          <a:ln/>
        </p:spPr>
        <p:txBody>
          <a:bodyPr wrap="square" lIns="0" tIns="0" rIns="0" bIns="0" rtlCol="0" anchor="ctr"/>
          <a:lstStyle/>
          <a:p>
            <a:pPr marL="0" indent="0">
              <a:buNone/>
            </a:pPr>
            <a:r>
              <a:rPr lang="en-US" sz="1050" dirty="0">
                <a:solidFill>
                  <a:srgbClr val="82B1FF"/>
                </a:solidFill>
                <a:latin typeface="Courier New" pitchFamily="34" charset="0"/>
                <a:ea typeface="Courier New" pitchFamily="34" charset="-122"/>
                <a:cs typeface="Courier New" pitchFamily="34" charset="-120"/>
              </a:rPr>
              <a:t>sio:Sex</a:t>
            </a:r>
            <a:endParaRPr lang="en-US" sz="1050" dirty="0"/>
          </a:p>
        </p:txBody>
      </p:sp>
      <p:sp>
        <p:nvSpPr>
          <p:cNvPr id="30" name="Text 28"/>
          <p:cNvSpPr/>
          <p:nvPr/>
        </p:nvSpPr>
        <p:spPr>
          <a:xfrm>
            <a:off x="6748272" y="2944368"/>
            <a:ext cx="1828800" cy="256032"/>
          </a:xfrm>
          <a:prstGeom prst="rect">
            <a:avLst/>
          </a:prstGeom>
          <a:noFill/>
          <a:ln/>
        </p:spPr>
        <p:txBody>
          <a:bodyPr wrap="square" lIns="0" tIns="0" rIns="0" bIns="0" rtlCol="0" anchor="ctr"/>
          <a:lstStyle/>
          <a:p>
            <a:pPr marL="0" indent="0">
              <a:buNone/>
            </a:pPr>
            <a:r>
              <a:rPr lang="en-US" sz="900" b="1" dirty="0">
                <a:solidFill>
                  <a:srgbClr val="8AA0B8"/>
                </a:solidFill>
              </a:rPr>
              <a:t>Value</a:t>
            </a:r>
            <a:endParaRPr lang="en-US" sz="900" dirty="0"/>
          </a:p>
        </p:txBody>
      </p:sp>
      <p:sp>
        <p:nvSpPr>
          <p:cNvPr id="31" name="Text 29"/>
          <p:cNvSpPr/>
          <p:nvPr/>
        </p:nvSpPr>
        <p:spPr>
          <a:xfrm>
            <a:off x="6748272" y="3218688"/>
            <a:ext cx="1828800" cy="292608"/>
          </a:xfrm>
          <a:prstGeom prst="rect">
            <a:avLst/>
          </a:prstGeom>
          <a:noFill/>
          <a:ln/>
        </p:spPr>
        <p:txBody>
          <a:bodyPr wrap="square" lIns="0" tIns="0" rIns="0" bIns="0" rtlCol="0" anchor="ctr"/>
          <a:lstStyle/>
          <a:p>
            <a:pPr marL="0" indent="0">
              <a:buNone/>
            </a:pPr>
            <a:r>
              <a:rPr lang="en-US" sz="1050" dirty="0">
                <a:solidFill>
                  <a:srgbClr val="FFCC80"/>
                </a:solidFill>
                <a:latin typeface="Courier New" pitchFamily="34" charset="0"/>
                <a:ea typeface="Courier New" pitchFamily="34" charset="-122"/>
                <a:cs typeface="Courier New" pitchFamily="34" charset="-120"/>
              </a:rPr>
              <a:t>"NCIT:C20197"</a:t>
            </a:r>
            <a:endParaRPr lang="en-US" sz="1050" dirty="0"/>
          </a:p>
        </p:txBody>
      </p:sp>
      <p:sp>
        <p:nvSpPr>
          <p:cNvPr id="32" name="Text 30"/>
          <p:cNvSpPr/>
          <p:nvPr/>
        </p:nvSpPr>
        <p:spPr>
          <a:xfrm>
            <a:off x="6748272" y="3611880"/>
            <a:ext cx="1828800" cy="365760"/>
          </a:xfrm>
          <a:prstGeom prst="rect">
            <a:avLst/>
          </a:prstGeom>
          <a:noFill/>
          <a:ln/>
        </p:spPr>
        <p:txBody>
          <a:bodyPr wrap="square" lIns="0" tIns="0" rIns="0" bIns="0" rtlCol="0" anchor="ctr"/>
          <a:lstStyle/>
          <a:p>
            <a:pPr marL="0" indent="0">
              <a:buNone/>
            </a:pPr>
            <a:r>
              <a:rPr lang="en-US" sz="1800" dirty="0">
                <a:solidFill>
                  <a:srgbClr val="8AA0B8"/>
                </a:solidFill>
              </a:rPr>
              <a:t>…</a:t>
            </a:r>
            <a:endParaRPr lang="en-US" sz="1800" dirty="0"/>
          </a:p>
        </p:txBody>
      </p:sp>
      <p:sp>
        <p:nvSpPr>
          <p:cNvPr id="33" name="Shape 31"/>
          <p:cNvSpPr/>
          <p:nvPr/>
        </p:nvSpPr>
        <p:spPr>
          <a:xfrm>
            <a:off x="320040" y="4480560"/>
            <a:ext cx="8503920" cy="548640"/>
          </a:xfrm>
          <a:prstGeom prst="rect">
            <a:avLst/>
          </a:prstGeom>
          <a:solidFill>
            <a:srgbClr val="FFFFFF">
              <a:alpha val="12000"/>
            </a:srgbClr>
          </a:solidFill>
          <a:ln w="12700">
            <a:solidFill>
              <a:srgbClr val="333333"/>
            </a:solidFill>
            <a:prstDash val="solid"/>
          </a:ln>
        </p:spPr>
      </p:sp>
      <p:sp>
        <p:nvSpPr>
          <p:cNvPr id="34" name="Text 32"/>
          <p:cNvSpPr/>
          <p:nvPr/>
        </p:nvSpPr>
        <p:spPr>
          <a:xfrm>
            <a:off x="502920" y="4498848"/>
            <a:ext cx="8321040" cy="512064"/>
          </a:xfrm>
          <a:prstGeom prst="rect">
            <a:avLst/>
          </a:prstGeom>
          <a:noFill/>
          <a:ln/>
        </p:spPr>
        <p:txBody>
          <a:bodyPr wrap="square" lIns="0" tIns="0" rIns="0" bIns="0" rtlCol="0" anchor="ctr"/>
          <a:lstStyle/>
          <a:p>
            <a:pPr marL="0" indent="0">
              <a:buNone/>
            </a:pPr>
            <a:r>
              <a:rPr lang="en-US" sz="1400" b="1" i="1" dirty="0">
                <a:solidFill>
                  <a:srgbClr val="FFFFFF"/>
                </a:solidFill>
              </a:rPr>
              <a:t>❓  Are these variables the same? Can Roberta safely combine them in one analysis?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5F6A"/>
          </a:solidFill>
          <a:ln w="12700">
            <a:solidFill>
              <a:srgbClr val="333333"/>
            </a:solidFill>
            <a:prstDash val="solid"/>
          </a:ln>
        </p:spPr>
      </p:sp>
      <p:sp>
        <p:nvSpPr>
          <p:cNvPr id="3" name="Text 1"/>
          <p:cNvSpPr/>
          <p:nvPr/>
        </p:nvSpPr>
        <p:spPr>
          <a:xfrm>
            <a:off x="457200" y="73152"/>
            <a:ext cx="8229600" cy="530352"/>
          </a:xfrm>
          <a:prstGeom prst="rect">
            <a:avLst/>
          </a:prstGeom>
          <a:noFill/>
          <a:ln/>
        </p:spPr>
        <p:txBody>
          <a:bodyPr wrap="square" lIns="0" tIns="0" rIns="0" bIns="0" rtlCol="0" anchor="ctr"/>
          <a:lstStyle/>
          <a:p>
            <a:pPr marL="0" indent="0">
              <a:buNone/>
            </a:pPr>
            <a:r>
              <a:rPr lang="en-US" sz="1400" b="1" dirty="0">
                <a:solidFill>
                  <a:srgbClr val="FFFFFF"/>
                </a:solidFill>
              </a:rPr>
              <a:t>Meet the Personas  —  Roberta</a:t>
            </a:r>
            <a:endParaRPr lang="en-US" sz="1400" dirty="0"/>
          </a:p>
        </p:txBody>
      </p:sp>
      <p:sp>
        <p:nvSpPr>
          <p:cNvPr id="4" name="Shape 2"/>
          <p:cNvSpPr/>
          <p:nvPr/>
        </p:nvSpPr>
        <p:spPr>
          <a:xfrm>
            <a:off x="457200" y="914400"/>
            <a:ext cx="2286000" cy="2286000"/>
          </a:xfrm>
          <a:prstGeom prst="ellipse">
            <a:avLst/>
          </a:prstGeom>
          <a:solidFill>
            <a:srgbClr val="00838F"/>
          </a:solidFill>
          <a:ln w="38100">
            <a:solidFill>
              <a:srgbClr val="FFFFFF"/>
            </a:solidFill>
            <a:prstDash val="solid"/>
          </a:ln>
        </p:spPr>
      </p:sp>
      <p:sp>
        <p:nvSpPr>
          <p:cNvPr id="5" name="Text 3"/>
          <p:cNvSpPr/>
          <p:nvPr/>
        </p:nvSpPr>
        <p:spPr>
          <a:xfrm>
            <a:off x="457200" y="914400"/>
            <a:ext cx="2286000" cy="2286000"/>
          </a:xfrm>
          <a:prstGeom prst="rect">
            <a:avLst/>
          </a:prstGeom>
          <a:noFill/>
          <a:ln/>
        </p:spPr>
        <p:txBody>
          <a:bodyPr wrap="square" lIns="0" tIns="0" rIns="0" bIns="0" rtlCol="0" anchor="ctr"/>
          <a:lstStyle/>
          <a:p>
            <a:pPr marL="0" indent="0" algn="ctr">
              <a:buNone/>
            </a:pPr>
            <a:r>
              <a:rPr lang="en-US" sz="7200" b="1" dirty="0">
                <a:solidFill>
                  <a:srgbClr val="FFFFFF"/>
                </a:solidFill>
              </a:rPr>
              <a:t>R</a:t>
            </a:r>
            <a:endParaRPr lang="en-US" sz="7200" dirty="0"/>
          </a:p>
        </p:txBody>
      </p:sp>
      <p:sp>
        <p:nvSpPr>
          <p:cNvPr id="6" name="Shape 4"/>
          <p:cNvSpPr/>
          <p:nvPr/>
        </p:nvSpPr>
        <p:spPr>
          <a:xfrm>
            <a:off x="566928" y="3291840"/>
            <a:ext cx="2066544" cy="329184"/>
          </a:xfrm>
          <a:prstGeom prst="rect">
            <a:avLst/>
          </a:prstGeom>
          <a:solidFill>
            <a:srgbClr val="00838F"/>
          </a:solidFill>
          <a:ln w="12700">
            <a:solidFill>
              <a:srgbClr val="333333"/>
            </a:solidFill>
            <a:prstDash val="solid"/>
          </a:ln>
        </p:spPr>
      </p:sp>
      <p:sp>
        <p:nvSpPr>
          <p:cNvPr id="7" name="Text 5"/>
          <p:cNvSpPr/>
          <p:nvPr/>
        </p:nvSpPr>
        <p:spPr>
          <a:xfrm>
            <a:off x="566928" y="3291840"/>
            <a:ext cx="2066544" cy="329184"/>
          </a:xfrm>
          <a:prstGeom prst="rect">
            <a:avLst/>
          </a:prstGeom>
          <a:noFill/>
          <a:ln/>
        </p:spPr>
        <p:txBody>
          <a:bodyPr wrap="square" lIns="0" tIns="0" rIns="0" bIns="0" rtlCol="0" anchor="ctr"/>
          <a:lstStyle/>
          <a:p>
            <a:pPr marL="0" indent="0" algn="ctr">
              <a:buNone/>
            </a:pPr>
            <a:r>
              <a:rPr lang="en-US" sz="1050" b="1" kern="0" spc="150" dirty="0">
                <a:solidFill>
                  <a:srgbClr val="FFFFFF"/>
                </a:solidFill>
              </a:rPr>
              <a:t>RESEARCHER</a:t>
            </a:r>
            <a:endParaRPr lang="en-US" sz="1050" dirty="0"/>
          </a:p>
        </p:txBody>
      </p:sp>
      <p:sp>
        <p:nvSpPr>
          <p:cNvPr id="8" name="Text 6"/>
          <p:cNvSpPr/>
          <p:nvPr/>
        </p:nvSpPr>
        <p:spPr>
          <a:xfrm>
            <a:off x="3108960" y="896112"/>
            <a:ext cx="5669280" cy="621792"/>
          </a:xfrm>
          <a:prstGeom prst="rect">
            <a:avLst/>
          </a:prstGeom>
          <a:noFill/>
          <a:ln/>
        </p:spPr>
        <p:txBody>
          <a:bodyPr wrap="square" lIns="0" tIns="0" rIns="0" bIns="0" rtlCol="0" anchor="ctr"/>
          <a:lstStyle/>
          <a:p>
            <a:pPr marL="0" indent="0">
              <a:buNone/>
            </a:pPr>
            <a:r>
              <a:rPr lang="en-US" sz="3400" b="1" dirty="0">
                <a:solidFill>
                  <a:srgbClr val="1A2940"/>
                </a:solidFill>
              </a:rPr>
              <a:t>Roberta</a:t>
            </a:r>
            <a:endParaRPr lang="en-US" sz="3400" dirty="0"/>
          </a:p>
        </p:txBody>
      </p:sp>
      <p:sp>
        <p:nvSpPr>
          <p:cNvPr id="9" name="Text 7"/>
          <p:cNvSpPr/>
          <p:nvPr/>
        </p:nvSpPr>
        <p:spPr>
          <a:xfrm>
            <a:off x="3108960" y="1517904"/>
            <a:ext cx="5669280" cy="384048"/>
          </a:xfrm>
          <a:prstGeom prst="rect">
            <a:avLst/>
          </a:prstGeom>
          <a:noFill/>
          <a:ln/>
        </p:spPr>
        <p:txBody>
          <a:bodyPr wrap="square" lIns="0" tIns="0" rIns="0" bIns="0" rtlCol="0" anchor="ctr"/>
          <a:lstStyle/>
          <a:p>
            <a:pPr marL="0" indent="0">
              <a:buNone/>
            </a:pPr>
            <a:r>
              <a:rPr lang="en-US" sz="1400" i="1" dirty="0">
                <a:solidFill>
                  <a:srgbClr val="4A607A"/>
                </a:solidFill>
              </a:rPr>
              <a:t>Health researcher at a university medical centre</a:t>
            </a:r>
            <a:endParaRPr lang="en-US" sz="1400" dirty="0"/>
          </a:p>
        </p:txBody>
      </p:sp>
      <p:sp>
        <p:nvSpPr>
          <p:cNvPr id="10" name="Shape 8"/>
          <p:cNvSpPr/>
          <p:nvPr/>
        </p:nvSpPr>
        <p:spPr>
          <a:xfrm>
            <a:off x="3108960" y="2029968"/>
            <a:ext cx="5669280" cy="1234440"/>
          </a:xfrm>
          <a:prstGeom prst="rect">
            <a:avLst/>
          </a:prstGeom>
          <a:solidFill>
            <a:srgbClr val="FFFFFF"/>
          </a:solidFill>
          <a:ln w="10160">
            <a:solidFill>
              <a:srgbClr val="DDE5EF"/>
            </a:solidFill>
            <a:prstDash val="solid"/>
          </a:ln>
          <a:effectLst>
            <a:outerShdw blurRad="101600" dist="25400" dir="8100000" algn="bl" rotWithShape="0">
              <a:srgbClr val="000000">
                <a:alpha val="12000"/>
              </a:srgbClr>
            </a:outerShdw>
          </a:effectLst>
        </p:spPr>
      </p:sp>
      <p:sp>
        <p:nvSpPr>
          <p:cNvPr id="11" name="Shape 9"/>
          <p:cNvSpPr/>
          <p:nvPr/>
        </p:nvSpPr>
        <p:spPr>
          <a:xfrm>
            <a:off x="3108960" y="2029968"/>
            <a:ext cx="64008" cy="1234440"/>
          </a:xfrm>
          <a:prstGeom prst="rect">
            <a:avLst/>
          </a:prstGeom>
          <a:solidFill>
            <a:srgbClr val="00838F"/>
          </a:solidFill>
          <a:ln w="12700">
            <a:solidFill>
              <a:srgbClr val="333333"/>
            </a:solidFill>
            <a:prstDash val="solid"/>
          </a:ln>
        </p:spPr>
      </p:sp>
      <p:sp>
        <p:nvSpPr>
          <p:cNvPr id="12" name="Text 10"/>
          <p:cNvSpPr/>
          <p:nvPr/>
        </p:nvSpPr>
        <p:spPr>
          <a:xfrm>
            <a:off x="3291840" y="2121408"/>
            <a:ext cx="5303520" cy="347472"/>
          </a:xfrm>
          <a:prstGeom prst="rect">
            <a:avLst/>
          </a:prstGeom>
          <a:noFill/>
          <a:ln/>
        </p:spPr>
        <p:txBody>
          <a:bodyPr wrap="square" lIns="0" tIns="0" rIns="0" bIns="0" rtlCol="0" anchor="ctr"/>
          <a:lstStyle/>
          <a:p>
            <a:pPr marL="0" indent="0">
              <a:buNone/>
            </a:pPr>
            <a:r>
              <a:rPr lang="en-US" sz="1300" b="1" dirty="0">
                <a:solidFill>
                  <a:srgbClr val="005F6A"/>
                </a:solidFill>
              </a:rPr>
              <a:t>🎯  What she wants</a:t>
            </a:r>
            <a:endParaRPr lang="en-US" sz="1300" dirty="0"/>
          </a:p>
        </p:txBody>
      </p:sp>
      <p:sp>
        <p:nvSpPr>
          <p:cNvPr id="13" name="Text 11"/>
          <p:cNvSpPr/>
          <p:nvPr/>
        </p:nvSpPr>
        <p:spPr>
          <a:xfrm>
            <a:off x="3291840" y="2487168"/>
            <a:ext cx="5303520" cy="658368"/>
          </a:xfrm>
          <a:prstGeom prst="rect">
            <a:avLst/>
          </a:prstGeom>
          <a:noFill/>
          <a:ln/>
        </p:spPr>
        <p:txBody>
          <a:bodyPr wrap="square" lIns="0" tIns="0" rIns="0" bIns="0" rtlCol="0" anchor="ctr"/>
          <a:lstStyle/>
          <a:p>
            <a:pPr marL="0" indent="0">
              <a:buNone/>
            </a:pPr>
            <a:r>
              <a:rPr lang="en-US" sz="1200" dirty="0">
                <a:solidFill>
                  <a:srgbClr val="1A2940"/>
                </a:solidFill>
              </a:rPr>
              <a:t>Study sex and gender variables across 3 institutions to build a cohort for her research. She needs to know which datasets have the right variable — and whether they can be safely combined.</a:t>
            </a:r>
            <a:endParaRPr lang="en-US" sz="1200" dirty="0"/>
          </a:p>
        </p:txBody>
      </p:sp>
      <p:sp>
        <p:nvSpPr>
          <p:cNvPr id="14" name="Shape 12"/>
          <p:cNvSpPr/>
          <p:nvPr/>
        </p:nvSpPr>
        <p:spPr>
          <a:xfrm>
            <a:off x="3108960" y="3401568"/>
            <a:ext cx="5669280" cy="1572768"/>
          </a:xfrm>
          <a:prstGeom prst="rect">
            <a:avLst/>
          </a:prstGeom>
          <a:solidFill>
            <a:srgbClr val="FFFFFF"/>
          </a:solidFill>
          <a:ln w="10160">
            <a:solidFill>
              <a:srgbClr val="DDE5EF"/>
            </a:solidFill>
            <a:prstDash val="solid"/>
          </a:ln>
          <a:effectLst>
            <a:outerShdw blurRad="101600" dist="25400" dir="8100000" algn="bl" rotWithShape="0">
              <a:srgbClr val="000000">
                <a:alpha val="12000"/>
              </a:srgbClr>
            </a:outerShdw>
          </a:effectLst>
        </p:spPr>
      </p:sp>
      <p:sp>
        <p:nvSpPr>
          <p:cNvPr id="15" name="Shape 13"/>
          <p:cNvSpPr/>
          <p:nvPr/>
        </p:nvSpPr>
        <p:spPr>
          <a:xfrm>
            <a:off x="3108960" y="3401568"/>
            <a:ext cx="64008" cy="1572768"/>
          </a:xfrm>
          <a:prstGeom prst="rect">
            <a:avLst/>
          </a:prstGeom>
          <a:solidFill>
            <a:srgbClr val="C62828"/>
          </a:solidFill>
          <a:ln w="12700">
            <a:solidFill>
              <a:srgbClr val="333333"/>
            </a:solidFill>
            <a:prstDash val="solid"/>
          </a:ln>
        </p:spPr>
      </p:sp>
      <p:sp>
        <p:nvSpPr>
          <p:cNvPr id="16" name="Text 14"/>
          <p:cNvSpPr/>
          <p:nvPr/>
        </p:nvSpPr>
        <p:spPr>
          <a:xfrm>
            <a:off x="3291840" y="3493008"/>
            <a:ext cx="5303520" cy="347472"/>
          </a:xfrm>
          <a:prstGeom prst="rect">
            <a:avLst/>
          </a:prstGeom>
          <a:noFill/>
          <a:ln/>
        </p:spPr>
        <p:txBody>
          <a:bodyPr wrap="square" lIns="0" tIns="0" rIns="0" bIns="0" rtlCol="0" anchor="ctr"/>
          <a:lstStyle/>
          <a:p>
            <a:pPr marL="0" indent="0">
              <a:buNone/>
            </a:pPr>
            <a:r>
              <a:rPr lang="en-US" sz="1300" b="1" dirty="0">
                <a:solidFill>
                  <a:srgbClr val="C62828"/>
                </a:solidFill>
              </a:rPr>
              <a:t>⚠️  Her problem</a:t>
            </a:r>
            <a:endParaRPr lang="en-US" sz="1300" dirty="0"/>
          </a:p>
        </p:txBody>
      </p:sp>
      <p:sp>
        <p:nvSpPr>
          <p:cNvPr id="17" name="Text 15"/>
          <p:cNvSpPr/>
          <p:nvPr/>
        </p:nvSpPr>
        <p:spPr>
          <a:xfrm>
            <a:off x="3291840" y="3858768"/>
            <a:ext cx="5303520" cy="1005840"/>
          </a:xfrm>
          <a:prstGeom prst="rect">
            <a:avLst/>
          </a:prstGeom>
          <a:noFill/>
          <a:ln/>
        </p:spPr>
        <p:txBody>
          <a:bodyPr wrap="square" lIns="0" tIns="0" rIns="0" bIns="0" rtlCol="0" anchor="ctr"/>
          <a:lstStyle/>
          <a:p>
            <a:pPr marL="0" indent="0">
              <a:buNone/>
            </a:pPr>
            <a:r>
              <a:rPr lang="en-US" sz="1200" dirty="0">
                <a:solidFill>
                  <a:srgbClr val="1A2940"/>
                </a:solidFill>
              </a:rPr>
              <a:t>Each hospital uses a different standard with different variable names and codes. She cannot tell from labels alone whether 'Patient.gender', 'administrative-gender', and 'sio:Sex' all mean the same thing — or whether they differ in a clinically important way.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F35"/>
          </a:solidFill>
          <a:ln w="12700">
            <a:solidFill>
              <a:srgbClr val="333333"/>
            </a:solidFill>
            <a:prstDash val="solid"/>
          </a:ln>
        </p:spPr>
      </p:sp>
      <p:sp>
        <p:nvSpPr>
          <p:cNvPr id="3" name="Text 1"/>
          <p:cNvSpPr/>
          <p:nvPr/>
        </p:nvSpPr>
        <p:spPr>
          <a:xfrm>
            <a:off x="457200" y="73152"/>
            <a:ext cx="8229600" cy="530352"/>
          </a:xfrm>
          <a:prstGeom prst="rect">
            <a:avLst/>
          </a:prstGeom>
          <a:noFill/>
          <a:ln/>
        </p:spPr>
        <p:txBody>
          <a:bodyPr wrap="square" lIns="0" tIns="0" rIns="0" bIns="0" rtlCol="0" anchor="ctr"/>
          <a:lstStyle/>
          <a:p>
            <a:pPr marL="0" indent="0">
              <a:buNone/>
            </a:pPr>
            <a:r>
              <a:rPr lang="en-US" sz="1400" b="1" dirty="0">
                <a:solidFill>
                  <a:srgbClr val="FFFFFF"/>
                </a:solidFill>
              </a:rPr>
              <a:t>Meet the Personas  —  Clinical Informatician</a:t>
            </a:r>
            <a:endParaRPr lang="en-US" sz="1400" dirty="0"/>
          </a:p>
        </p:txBody>
      </p:sp>
      <p:sp>
        <p:nvSpPr>
          <p:cNvPr id="4" name="Shape 2"/>
          <p:cNvSpPr/>
          <p:nvPr/>
        </p:nvSpPr>
        <p:spPr>
          <a:xfrm>
            <a:off x="457200" y="914400"/>
            <a:ext cx="2286000" cy="2286000"/>
          </a:xfrm>
          <a:prstGeom prst="ellipse">
            <a:avLst/>
          </a:prstGeom>
          <a:solidFill>
            <a:srgbClr val="C62828"/>
          </a:solidFill>
          <a:ln w="38100">
            <a:solidFill>
              <a:srgbClr val="FFFFFF"/>
            </a:solidFill>
            <a:prstDash val="solid"/>
          </a:ln>
        </p:spPr>
      </p:sp>
      <p:sp>
        <p:nvSpPr>
          <p:cNvPr id="5" name="Text 3"/>
          <p:cNvSpPr/>
          <p:nvPr/>
        </p:nvSpPr>
        <p:spPr>
          <a:xfrm>
            <a:off x="457200" y="914400"/>
            <a:ext cx="2286000" cy="2286000"/>
          </a:xfrm>
          <a:prstGeom prst="rect">
            <a:avLst/>
          </a:prstGeom>
          <a:noFill/>
          <a:ln/>
        </p:spPr>
        <p:txBody>
          <a:bodyPr wrap="square" lIns="0" tIns="0" rIns="0" bIns="0" rtlCol="0" anchor="ctr"/>
          <a:lstStyle/>
          <a:p>
            <a:pPr marL="0" indent="0" algn="ctr">
              <a:buNone/>
            </a:pPr>
            <a:r>
              <a:rPr lang="en-US" sz="5400" b="1" dirty="0">
                <a:solidFill>
                  <a:srgbClr val="FFFFFF"/>
                </a:solidFill>
              </a:rPr>
              <a:t>CI</a:t>
            </a:r>
            <a:endParaRPr lang="en-US" sz="5400" dirty="0"/>
          </a:p>
        </p:txBody>
      </p:sp>
      <p:sp>
        <p:nvSpPr>
          <p:cNvPr id="6" name="Shape 4"/>
          <p:cNvSpPr/>
          <p:nvPr/>
        </p:nvSpPr>
        <p:spPr>
          <a:xfrm>
            <a:off x="475488" y="3291840"/>
            <a:ext cx="2249424" cy="329184"/>
          </a:xfrm>
          <a:prstGeom prst="rect">
            <a:avLst/>
          </a:prstGeom>
          <a:solidFill>
            <a:srgbClr val="C62828"/>
          </a:solidFill>
          <a:ln w="12700">
            <a:solidFill>
              <a:srgbClr val="333333"/>
            </a:solidFill>
            <a:prstDash val="solid"/>
          </a:ln>
        </p:spPr>
      </p:sp>
      <p:sp>
        <p:nvSpPr>
          <p:cNvPr id="7" name="Text 5"/>
          <p:cNvSpPr/>
          <p:nvPr/>
        </p:nvSpPr>
        <p:spPr>
          <a:xfrm>
            <a:off x="475488" y="3291840"/>
            <a:ext cx="2249424" cy="329184"/>
          </a:xfrm>
          <a:prstGeom prst="rect">
            <a:avLst/>
          </a:prstGeom>
          <a:noFill/>
          <a:ln/>
        </p:spPr>
        <p:txBody>
          <a:bodyPr wrap="square" lIns="0" tIns="0" rIns="0" bIns="0" rtlCol="0" anchor="ctr"/>
          <a:lstStyle/>
          <a:p>
            <a:pPr marL="0" indent="0" algn="ctr">
              <a:buNone/>
            </a:pPr>
            <a:r>
              <a:rPr lang="en-US" sz="950" b="1" kern="0" spc="50" dirty="0">
                <a:solidFill>
                  <a:srgbClr val="FFFFFF"/>
                </a:solidFill>
              </a:rPr>
              <a:t>CLIN. INFORMATICIAN</a:t>
            </a:r>
            <a:endParaRPr lang="en-US" sz="950" dirty="0"/>
          </a:p>
        </p:txBody>
      </p:sp>
      <p:sp>
        <p:nvSpPr>
          <p:cNvPr id="8" name="Text 6"/>
          <p:cNvSpPr/>
          <p:nvPr/>
        </p:nvSpPr>
        <p:spPr>
          <a:xfrm>
            <a:off x="3108960" y="896112"/>
            <a:ext cx="5669280" cy="621792"/>
          </a:xfrm>
          <a:prstGeom prst="rect">
            <a:avLst/>
          </a:prstGeom>
          <a:noFill/>
          <a:ln/>
        </p:spPr>
        <p:txBody>
          <a:bodyPr wrap="square" lIns="0" tIns="0" rIns="0" bIns="0" rtlCol="0" anchor="ctr"/>
          <a:lstStyle/>
          <a:p>
            <a:pPr marL="0" indent="0">
              <a:buNone/>
            </a:pPr>
            <a:r>
              <a:rPr lang="en-US" sz="3400" b="1" dirty="0">
                <a:solidFill>
                  <a:srgbClr val="1A2940"/>
                </a:solidFill>
              </a:rPr>
              <a:t>Dr. Amir Hassan</a:t>
            </a:r>
            <a:endParaRPr lang="en-US" sz="3400" dirty="0"/>
          </a:p>
        </p:txBody>
      </p:sp>
      <p:sp>
        <p:nvSpPr>
          <p:cNvPr id="9" name="Text 7"/>
          <p:cNvSpPr/>
          <p:nvPr/>
        </p:nvSpPr>
        <p:spPr>
          <a:xfrm>
            <a:off x="3108960" y="1517904"/>
            <a:ext cx="5669280" cy="384048"/>
          </a:xfrm>
          <a:prstGeom prst="rect">
            <a:avLst/>
          </a:prstGeom>
          <a:noFill/>
          <a:ln/>
        </p:spPr>
        <p:txBody>
          <a:bodyPr wrap="square" lIns="0" tIns="0" rIns="0" bIns="0" rtlCol="0" anchor="ctr"/>
          <a:lstStyle/>
          <a:p>
            <a:pPr marL="0" indent="0">
              <a:buNone/>
            </a:pPr>
            <a:r>
              <a:rPr lang="en-US" sz="1400" i="1" dirty="0">
                <a:solidFill>
                  <a:srgbClr val="4A607A"/>
                </a:solidFill>
              </a:rPr>
              <a:t>Clinical informatician &amp; mapping curator</a:t>
            </a:r>
            <a:endParaRPr lang="en-US" sz="1400" dirty="0"/>
          </a:p>
        </p:txBody>
      </p:sp>
      <p:sp>
        <p:nvSpPr>
          <p:cNvPr id="10" name="Shape 8"/>
          <p:cNvSpPr/>
          <p:nvPr/>
        </p:nvSpPr>
        <p:spPr>
          <a:xfrm>
            <a:off x="3108960" y="2029968"/>
            <a:ext cx="5669280" cy="1234440"/>
          </a:xfrm>
          <a:prstGeom prst="rect">
            <a:avLst/>
          </a:prstGeom>
          <a:solidFill>
            <a:srgbClr val="FFFFFF"/>
          </a:solidFill>
          <a:ln w="10160">
            <a:solidFill>
              <a:srgbClr val="DDE5EF"/>
            </a:solidFill>
            <a:prstDash val="solid"/>
          </a:ln>
          <a:effectLst>
            <a:outerShdw blurRad="101600" dist="25400" dir="8100000" algn="bl" rotWithShape="0">
              <a:srgbClr val="000000">
                <a:alpha val="12000"/>
              </a:srgbClr>
            </a:outerShdw>
          </a:effectLst>
        </p:spPr>
      </p:sp>
      <p:sp>
        <p:nvSpPr>
          <p:cNvPr id="11" name="Shape 9"/>
          <p:cNvSpPr/>
          <p:nvPr/>
        </p:nvSpPr>
        <p:spPr>
          <a:xfrm>
            <a:off x="3108960" y="2029968"/>
            <a:ext cx="64008" cy="1234440"/>
          </a:xfrm>
          <a:prstGeom prst="rect">
            <a:avLst/>
          </a:prstGeom>
          <a:solidFill>
            <a:srgbClr val="C62828"/>
          </a:solidFill>
          <a:ln w="12700">
            <a:solidFill>
              <a:srgbClr val="333333"/>
            </a:solidFill>
            <a:prstDash val="solid"/>
          </a:ln>
        </p:spPr>
      </p:sp>
      <p:sp>
        <p:nvSpPr>
          <p:cNvPr id="12" name="Text 10"/>
          <p:cNvSpPr/>
          <p:nvPr/>
        </p:nvSpPr>
        <p:spPr>
          <a:xfrm>
            <a:off x="3291840" y="2121408"/>
            <a:ext cx="5303520" cy="347472"/>
          </a:xfrm>
          <a:prstGeom prst="rect">
            <a:avLst/>
          </a:prstGeom>
          <a:noFill/>
          <a:ln/>
        </p:spPr>
        <p:txBody>
          <a:bodyPr wrap="square" lIns="0" tIns="0" rIns="0" bIns="0" rtlCol="0" anchor="ctr"/>
          <a:lstStyle/>
          <a:p>
            <a:pPr marL="0" indent="0">
              <a:buNone/>
            </a:pPr>
            <a:r>
              <a:rPr lang="en-US" sz="1300" b="1" dirty="0">
                <a:solidFill>
                  <a:srgbClr val="8E0000"/>
                </a:solidFill>
              </a:rPr>
              <a:t>🎯  What he wants</a:t>
            </a:r>
            <a:endParaRPr lang="en-US" sz="1300" dirty="0"/>
          </a:p>
        </p:txBody>
      </p:sp>
      <p:sp>
        <p:nvSpPr>
          <p:cNvPr id="13" name="Text 11"/>
          <p:cNvSpPr/>
          <p:nvPr/>
        </p:nvSpPr>
        <p:spPr>
          <a:xfrm>
            <a:off x="3291840" y="2487168"/>
            <a:ext cx="5303520" cy="658368"/>
          </a:xfrm>
          <a:prstGeom prst="rect">
            <a:avLst/>
          </a:prstGeom>
          <a:noFill/>
          <a:ln/>
        </p:spPr>
        <p:txBody>
          <a:bodyPr wrap="square" lIns="0" tIns="0" rIns="0" bIns="0" rtlCol="0" anchor="ctr"/>
          <a:lstStyle/>
          <a:p>
            <a:pPr marL="0" indent="0">
              <a:buNone/>
            </a:pPr>
            <a:r>
              <a:rPr lang="en-US" sz="1200" dirty="0">
                <a:solidFill>
                  <a:srgbClr val="1A2940"/>
                </a:solidFill>
              </a:rPr>
              <a:t>Validate and maintain the semantic mappings across FHIR, openEHR, and CARE-SM. Before any mapping is officially registered, he needs to confirm it is correct, consistent, and won't trigger unintended consequences.</a:t>
            </a:r>
            <a:endParaRPr lang="en-US" sz="1200" dirty="0"/>
          </a:p>
        </p:txBody>
      </p:sp>
      <p:sp>
        <p:nvSpPr>
          <p:cNvPr id="14" name="Shape 12"/>
          <p:cNvSpPr/>
          <p:nvPr/>
        </p:nvSpPr>
        <p:spPr>
          <a:xfrm>
            <a:off x="3108960" y="3401568"/>
            <a:ext cx="5669280" cy="1572768"/>
          </a:xfrm>
          <a:prstGeom prst="rect">
            <a:avLst/>
          </a:prstGeom>
          <a:solidFill>
            <a:srgbClr val="FFFFFF"/>
          </a:solidFill>
          <a:ln w="10160">
            <a:solidFill>
              <a:srgbClr val="DDE5EF"/>
            </a:solidFill>
            <a:prstDash val="solid"/>
          </a:ln>
          <a:effectLst>
            <a:outerShdw blurRad="101600" dist="25400" dir="8100000" algn="bl" rotWithShape="0">
              <a:srgbClr val="000000">
                <a:alpha val="12000"/>
              </a:srgbClr>
            </a:outerShdw>
          </a:effectLst>
        </p:spPr>
      </p:sp>
      <p:sp>
        <p:nvSpPr>
          <p:cNvPr id="15" name="Shape 13"/>
          <p:cNvSpPr/>
          <p:nvPr/>
        </p:nvSpPr>
        <p:spPr>
          <a:xfrm>
            <a:off x="3108960" y="3401568"/>
            <a:ext cx="64008" cy="1572768"/>
          </a:xfrm>
          <a:prstGeom prst="rect">
            <a:avLst/>
          </a:prstGeom>
          <a:solidFill>
            <a:srgbClr val="7B1FA2"/>
          </a:solidFill>
          <a:ln w="12700">
            <a:solidFill>
              <a:srgbClr val="333333"/>
            </a:solidFill>
            <a:prstDash val="solid"/>
          </a:ln>
        </p:spPr>
      </p:sp>
      <p:sp>
        <p:nvSpPr>
          <p:cNvPr id="16" name="Text 14"/>
          <p:cNvSpPr/>
          <p:nvPr/>
        </p:nvSpPr>
        <p:spPr>
          <a:xfrm>
            <a:off x="3291840" y="3493008"/>
            <a:ext cx="5303520" cy="347472"/>
          </a:xfrm>
          <a:prstGeom prst="rect">
            <a:avLst/>
          </a:prstGeom>
          <a:noFill/>
          <a:ln/>
        </p:spPr>
        <p:txBody>
          <a:bodyPr wrap="square" lIns="0" tIns="0" rIns="0" bIns="0" rtlCol="0" anchor="ctr"/>
          <a:lstStyle/>
          <a:p>
            <a:pPr marL="0" indent="0">
              <a:buNone/>
            </a:pPr>
            <a:r>
              <a:rPr lang="en-US" sz="1300" b="1" dirty="0">
                <a:solidFill>
                  <a:srgbClr val="7B1FA2"/>
                </a:solidFill>
              </a:rPr>
              <a:t>⚠️  His challenge</a:t>
            </a:r>
            <a:endParaRPr lang="en-US" sz="1300" dirty="0"/>
          </a:p>
        </p:txBody>
      </p:sp>
      <p:sp>
        <p:nvSpPr>
          <p:cNvPr id="17" name="Text 15"/>
          <p:cNvSpPr/>
          <p:nvPr/>
        </p:nvSpPr>
        <p:spPr>
          <a:xfrm>
            <a:off x="3291840" y="3858768"/>
            <a:ext cx="5303520" cy="1005840"/>
          </a:xfrm>
          <a:prstGeom prst="rect">
            <a:avLst/>
          </a:prstGeom>
          <a:noFill/>
          <a:ln/>
        </p:spPr>
        <p:txBody>
          <a:bodyPr wrap="square" lIns="0" tIns="0" rIns="0" bIns="0" rtlCol="0" anchor="ctr"/>
          <a:lstStyle/>
          <a:p>
            <a:pPr marL="0" indent="0">
              <a:buNone/>
            </a:pPr>
            <a:r>
              <a:rPr lang="en-US" sz="1200" dirty="0">
                <a:solidFill>
                  <a:srgbClr val="1A2940"/>
                </a:solidFill>
              </a:rPr>
              <a:t>Mappings between health standards have downstream consequences. One incorrect alignment can silently affect dozens of datasets. He needs a way to check consistency and simulate the full impact of a proposed mapping before committing.</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3A5C"/>
          </a:solidFill>
          <a:ln w="12700">
            <a:solidFill>
              <a:srgbClr val="333333"/>
            </a:solidFill>
            <a:prstDash val="solid"/>
          </a:ln>
        </p:spPr>
      </p:sp>
      <p:sp>
        <p:nvSpPr>
          <p:cNvPr id="3" name="Text 1"/>
          <p:cNvSpPr/>
          <p:nvPr/>
        </p:nvSpPr>
        <p:spPr>
          <a:xfrm>
            <a:off x="457200" y="73152"/>
            <a:ext cx="8229600" cy="530352"/>
          </a:xfrm>
          <a:prstGeom prst="rect">
            <a:avLst/>
          </a:prstGeom>
          <a:noFill/>
          <a:ln/>
        </p:spPr>
        <p:txBody>
          <a:bodyPr wrap="square" lIns="0" tIns="0" rIns="0" bIns="0" rtlCol="0" anchor="ctr"/>
          <a:lstStyle/>
          <a:p>
            <a:pPr marL="0" indent="0">
              <a:buNone/>
            </a:pPr>
            <a:r>
              <a:rPr lang="en-US" sz="1400" b="1" dirty="0">
                <a:solidFill>
                  <a:srgbClr val="FFFFFF"/>
                </a:solidFill>
              </a:rPr>
              <a:t>The Architecture — What We Query</a:t>
            </a:r>
            <a:endParaRPr lang="en-US" sz="1400" dirty="0"/>
          </a:p>
        </p:txBody>
      </p:sp>
      <p:sp>
        <p:nvSpPr>
          <p:cNvPr id="4" name="Shape 2"/>
          <p:cNvSpPr/>
          <p:nvPr/>
        </p:nvSpPr>
        <p:spPr>
          <a:xfrm>
            <a:off x="320040" y="777240"/>
            <a:ext cx="8503920" cy="896112"/>
          </a:xfrm>
          <a:prstGeom prst="rect">
            <a:avLst/>
          </a:prstGeom>
          <a:solidFill>
            <a:srgbClr val="E3F2FD"/>
          </a:solidFill>
          <a:ln w="12700">
            <a:solidFill>
              <a:srgbClr val="1976D2"/>
            </a:solidFill>
            <a:prstDash val="solid"/>
          </a:ln>
        </p:spPr>
      </p:sp>
      <p:sp>
        <p:nvSpPr>
          <p:cNvPr id="5" name="Shape 3"/>
          <p:cNvSpPr/>
          <p:nvPr/>
        </p:nvSpPr>
        <p:spPr>
          <a:xfrm>
            <a:off x="320040" y="777240"/>
            <a:ext cx="64008" cy="896112"/>
          </a:xfrm>
          <a:prstGeom prst="rect">
            <a:avLst/>
          </a:prstGeom>
          <a:solidFill>
            <a:srgbClr val="1976D2"/>
          </a:solidFill>
          <a:ln w="12700">
            <a:solidFill>
              <a:srgbClr val="333333"/>
            </a:solidFill>
            <a:prstDash val="solid"/>
          </a:ln>
        </p:spPr>
      </p:sp>
      <p:sp>
        <p:nvSpPr>
          <p:cNvPr id="6" name="Text 4"/>
          <p:cNvSpPr/>
          <p:nvPr/>
        </p:nvSpPr>
        <p:spPr>
          <a:xfrm>
            <a:off x="530352" y="850392"/>
            <a:ext cx="5120640" cy="310896"/>
          </a:xfrm>
          <a:prstGeom prst="rect">
            <a:avLst/>
          </a:prstGeom>
          <a:noFill/>
          <a:ln/>
        </p:spPr>
        <p:txBody>
          <a:bodyPr wrap="square" lIns="0" tIns="0" rIns="0" bIns="0" rtlCol="0" anchor="ctr"/>
          <a:lstStyle/>
          <a:p>
            <a:pPr marL="0" indent="0">
              <a:buNone/>
            </a:pPr>
            <a:r>
              <a:rPr lang="en-US" sz="1250" b="1" dirty="0">
                <a:solidFill>
                  <a:srgbClr val="1976D2"/>
                </a:solidFill>
              </a:rPr>
              <a:t>1  Patient Data</a:t>
            </a:r>
            <a:endParaRPr lang="en-US" sz="1250" dirty="0"/>
          </a:p>
        </p:txBody>
      </p:sp>
      <p:sp>
        <p:nvSpPr>
          <p:cNvPr id="7" name="Text 5"/>
          <p:cNvSpPr/>
          <p:nvPr/>
        </p:nvSpPr>
        <p:spPr>
          <a:xfrm>
            <a:off x="530352" y="1179576"/>
            <a:ext cx="5120640" cy="402336"/>
          </a:xfrm>
          <a:prstGeom prst="rect">
            <a:avLst/>
          </a:prstGeom>
          <a:noFill/>
          <a:ln/>
        </p:spPr>
        <p:txBody>
          <a:bodyPr wrap="square" lIns="0" tIns="0" rIns="0" bIns="0" rtlCol="0" anchor="ctr"/>
          <a:lstStyle/>
          <a:p>
            <a:pPr marL="0" indent="0">
              <a:buNone/>
            </a:pPr>
            <a:r>
              <a:rPr lang="en-US" sz="1050" dirty="0">
                <a:solidFill>
                  <a:srgbClr val="1A2940"/>
                </a:solidFill>
              </a:rPr>
              <a:t>Rows = patients, columns = variables, cells = values (FHIR / openEHR / CARE-SM)</a:t>
            </a:r>
            <a:endParaRPr lang="en-US" sz="1050" dirty="0"/>
          </a:p>
        </p:txBody>
      </p:sp>
      <p:sp>
        <p:nvSpPr>
          <p:cNvPr id="8" name="Text 6"/>
          <p:cNvSpPr/>
          <p:nvPr/>
        </p:nvSpPr>
        <p:spPr>
          <a:xfrm>
            <a:off x="5669280" y="850392"/>
            <a:ext cx="3017520" cy="749808"/>
          </a:xfrm>
          <a:prstGeom prst="rect">
            <a:avLst/>
          </a:prstGeom>
          <a:noFill/>
          <a:ln/>
        </p:spPr>
        <p:txBody>
          <a:bodyPr wrap="square" lIns="0" tIns="0" rIns="0" bIns="0" rtlCol="0" anchor="ctr"/>
          <a:lstStyle/>
          <a:p>
            <a:pPr marL="0" indent="0" algn="r">
              <a:buNone/>
            </a:pPr>
            <a:r>
              <a:rPr lang="en-US" sz="1000" i="1" dirty="0">
                <a:solidFill>
                  <a:srgbClr val="4A607A"/>
                </a:solidFill>
              </a:rPr>
              <a:t>🔒  Not shared — stays inside each institution</a:t>
            </a:r>
            <a:endParaRPr lang="en-US" sz="1000" dirty="0"/>
          </a:p>
        </p:txBody>
      </p:sp>
      <p:sp>
        <p:nvSpPr>
          <p:cNvPr id="9" name="Shape 7"/>
          <p:cNvSpPr/>
          <p:nvPr/>
        </p:nvSpPr>
        <p:spPr>
          <a:xfrm>
            <a:off x="320040" y="1764792"/>
            <a:ext cx="8503920" cy="896112"/>
          </a:xfrm>
          <a:prstGeom prst="rect">
            <a:avLst/>
          </a:prstGeom>
          <a:solidFill>
            <a:srgbClr val="F3E5F5"/>
          </a:solidFill>
          <a:ln w="12700">
            <a:solidFill>
              <a:srgbClr val="7B1FA2"/>
            </a:solidFill>
            <a:prstDash val="solid"/>
          </a:ln>
        </p:spPr>
      </p:sp>
      <p:sp>
        <p:nvSpPr>
          <p:cNvPr id="10" name="Shape 8"/>
          <p:cNvSpPr/>
          <p:nvPr/>
        </p:nvSpPr>
        <p:spPr>
          <a:xfrm>
            <a:off x="320040" y="1764792"/>
            <a:ext cx="64008" cy="896112"/>
          </a:xfrm>
          <a:prstGeom prst="rect">
            <a:avLst/>
          </a:prstGeom>
          <a:solidFill>
            <a:srgbClr val="7B1FA2"/>
          </a:solidFill>
          <a:ln w="12700">
            <a:solidFill>
              <a:srgbClr val="333333"/>
            </a:solidFill>
            <a:prstDash val="solid"/>
          </a:ln>
        </p:spPr>
      </p:sp>
      <p:sp>
        <p:nvSpPr>
          <p:cNvPr id="11" name="Text 9"/>
          <p:cNvSpPr/>
          <p:nvPr/>
        </p:nvSpPr>
        <p:spPr>
          <a:xfrm>
            <a:off x="530352" y="1837944"/>
            <a:ext cx="5120640" cy="310896"/>
          </a:xfrm>
          <a:prstGeom prst="rect">
            <a:avLst/>
          </a:prstGeom>
          <a:noFill/>
          <a:ln/>
        </p:spPr>
        <p:txBody>
          <a:bodyPr wrap="square" lIns="0" tIns="0" rIns="0" bIns="0" rtlCol="0" anchor="ctr"/>
          <a:lstStyle/>
          <a:p>
            <a:pPr marL="0" indent="0">
              <a:buNone/>
            </a:pPr>
            <a:r>
              <a:rPr lang="en-US" sz="1250" b="1" dirty="0">
                <a:solidFill>
                  <a:srgbClr val="7B1FA2"/>
                </a:solidFill>
              </a:rPr>
              <a:t>2  Standards Specifications</a:t>
            </a:r>
            <a:endParaRPr lang="en-US" sz="1250" dirty="0"/>
          </a:p>
        </p:txBody>
      </p:sp>
      <p:sp>
        <p:nvSpPr>
          <p:cNvPr id="12" name="Text 10"/>
          <p:cNvSpPr/>
          <p:nvPr/>
        </p:nvSpPr>
        <p:spPr>
          <a:xfrm>
            <a:off x="530352" y="2167128"/>
            <a:ext cx="5120640" cy="402336"/>
          </a:xfrm>
          <a:prstGeom prst="rect">
            <a:avLst/>
          </a:prstGeom>
          <a:noFill/>
          <a:ln/>
        </p:spPr>
        <p:txBody>
          <a:bodyPr wrap="square" lIns="0" tIns="0" rIns="0" bIns="0" rtlCol="0" anchor="ctr"/>
          <a:lstStyle/>
          <a:p>
            <a:pPr marL="0" indent="0">
              <a:buNone/>
            </a:pPr>
            <a:r>
              <a:rPr lang="en-US" sz="1050" dirty="0">
                <a:solidFill>
                  <a:srgbClr val="1A2940"/>
                </a:solidFill>
              </a:rPr>
              <a:t>FHIR R5 / openEHR / CARE-SM: what each variable is supposed to mean</a:t>
            </a:r>
            <a:endParaRPr lang="en-US" sz="1050" dirty="0"/>
          </a:p>
        </p:txBody>
      </p:sp>
      <p:sp>
        <p:nvSpPr>
          <p:cNvPr id="13" name="Text 11"/>
          <p:cNvSpPr/>
          <p:nvPr/>
        </p:nvSpPr>
        <p:spPr>
          <a:xfrm>
            <a:off x="5669280" y="1837944"/>
            <a:ext cx="3017520" cy="749808"/>
          </a:xfrm>
          <a:prstGeom prst="rect">
            <a:avLst/>
          </a:prstGeom>
          <a:noFill/>
          <a:ln/>
        </p:spPr>
        <p:txBody>
          <a:bodyPr wrap="square" lIns="0" tIns="0" rIns="0" bIns="0" rtlCol="0" anchor="ctr"/>
          <a:lstStyle/>
          <a:p>
            <a:pPr marL="0" indent="0" algn="r">
              <a:buNone/>
            </a:pPr>
            <a:r>
              <a:rPr lang="en-US" sz="1000" i="1" dirty="0">
                <a:solidFill>
                  <a:srgbClr val="4A607A"/>
                </a:solidFill>
              </a:rPr>
              <a:t>📄  Published by standards bodies</a:t>
            </a:r>
            <a:endParaRPr lang="en-US" sz="1000" dirty="0"/>
          </a:p>
        </p:txBody>
      </p:sp>
      <p:sp>
        <p:nvSpPr>
          <p:cNvPr id="14" name="Shape 12"/>
          <p:cNvSpPr/>
          <p:nvPr/>
        </p:nvSpPr>
        <p:spPr>
          <a:xfrm>
            <a:off x="320040" y="2752344"/>
            <a:ext cx="8503920" cy="896112"/>
          </a:xfrm>
          <a:prstGeom prst="rect">
            <a:avLst/>
          </a:prstGeom>
          <a:solidFill>
            <a:srgbClr val="E8F5E9"/>
          </a:solidFill>
          <a:ln w="12700">
            <a:solidFill>
              <a:srgbClr val="2E7D32"/>
            </a:solidFill>
            <a:prstDash val="solid"/>
          </a:ln>
        </p:spPr>
      </p:sp>
      <p:sp>
        <p:nvSpPr>
          <p:cNvPr id="15" name="Shape 13"/>
          <p:cNvSpPr/>
          <p:nvPr/>
        </p:nvSpPr>
        <p:spPr>
          <a:xfrm>
            <a:off x="320040" y="2752344"/>
            <a:ext cx="64008" cy="896112"/>
          </a:xfrm>
          <a:prstGeom prst="rect">
            <a:avLst/>
          </a:prstGeom>
          <a:solidFill>
            <a:srgbClr val="2E7D32"/>
          </a:solidFill>
          <a:ln w="12700">
            <a:solidFill>
              <a:srgbClr val="333333"/>
            </a:solidFill>
            <a:prstDash val="solid"/>
          </a:ln>
        </p:spPr>
      </p:sp>
      <p:sp>
        <p:nvSpPr>
          <p:cNvPr id="16" name="Text 14"/>
          <p:cNvSpPr/>
          <p:nvPr/>
        </p:nvSpPr>
        <p:spPr>
          <a:xfrm>
            <a:off x="530352" y="2825496"/>
            <a:ext cx="5120640" cy="310896"/>
          </a:xfrm>
          <a:prstGeom prst="rect">
            <a:avLst/>
          </a:prstGeom>
          <a:noFill/>
          <a:ln/>
        </p:spPr>
        <p:txBody>
          <a:bodyPr wrap="square" lIns="0" tIns="0" rIns="0" bIns="0" rtlCol="0" anchor="ctr"/>
          <a:lstStyle/>
          <a:p>
            <a:pPr marL="0" indent="0">
              <a:buNone/>
            </a:pPr>
            <a:r>
              <a:rPr lang="en-US" sz="1250" b="1" dirty="0">
                <a:solidFill>
                  <a:srgbClr val="2E7D32"/>
                </a:solidFill>
              </a:rPr>
              <a:t>3  HRIV Mappings  (instances.ttl)</a:t>
            </a:r>
            <a:endParaRPr lang="en-US" sz="1250" dirty="0"/>
          </a:p>
        </p:txBody>
      </p:sp>
      <p:sp>
        <p:nvSpPr>
          <p:cNvPr id="17" name="Text 15"/>
          <p:cNvSpPr/>
          <p:nvPr/>
        </p:nvSpPr>
        <p:spPr>
          <a:xfrm>
            <a:off x="530352" y="3154680"/>
            <a:ext cx="5120640" cy="402336"/>
          </a:xfrm>
          <a:prstGeom prst="rect">
            <a:avLst/>
          </a:prstGeom>
          <a:noFill/>
          <a:ln/>
        </p:spPr>
        <p:txBody>
          <a:bodyPr wrap="square" lIns="0" tIns="0" rIns="0" bIns="0" rtlCol="0" anchor="ctr"/>
          <a:lstStyle/>
          <a:p>
            <a:pPr marL="0" indent="0">
              <a:buNone/>
            </a:pPr>
            <a:r>
              <a:rPr lang="en-US" sz="1050" dirty="0">
                <a:solidFill>
                  <a:srgbClr val="1A2940"/>
                </a:solidFill>
              </a:rPr>
              <a:t>Data dictionaries as RDF: which variable hasExactMeaning which concept — plus horizontal alignments</a:t>
            </a:r>
            <a:endParaRPr lang="en-US" sz="1050" dirty="0"/>
          </a:p>
        </p:txBody>
      </p:sp>
      <p:sp>
        <p:nvSpPr>
          <p:cNvPr id="18" name="Text 16"/>
          <p:cNvSpPr/>
          <p:nvPr/>
        </p:nvSpPr>
        <p:spPr>
          <a:xfrm>
            <a:off x="5669280" y="2825496"/>
            <a:ext cx="3017520" cy="749808"/>
          </a:xfrm>
          <a:prstGeom prst="rect">
            <a:avLst/>
          </a:prstGeom>
          <a:noFill/>
          <a:ln/>
        </p:spPr>
        <p:txBody>
          <a:bodyPr wrap="square" lIns="0" tIns="0" rIns="0" bIns="0" rtlCol="0" anchor="ctr"/>
          <a:lstStyle/>
          <a:p>
            <a:pPr marL="0" indent="0" algn="r">
              <a:buNone/>
            </a:pPr>
            <a:r>
              <a:rPr lang="en-US" sz="1000" i="1" dirty="0">
                <a:solidFill>
                  <a:srgbClr val="4A607A"/>
                </a:solidFill>
              </a:rPr>
              <a:t>✅  Shareable — no patient data</a:t>
            </a:r>
            <a:endParaRPr lang="en-US" sz="1000" dirty="0"/>
          </a:p>
        </p:txBody>
      </p:sp>
      <p:sp>
        <p:nvSpPr>
          <p:cNvPr id="19" name="Shape 17"/>
          <p:cNvSpPr/>
          <p:nvPr/>
        </p:nvSpPr>
        <p:spPr>
          <a:xfrm>
            <a:off x="320040" y="3739896"/>
            <a:ext cx="8503920" cy="896112"/>
          </a:xfrm>
          <a:prstGeom prst="rect">
            <a:avLst/>
          </a:prstGeom>
          <a:solidFill>
            <a:srgbClr val="FFF8E1"/>
          </a:solidFill>
          <a:ln w="12700">
            <a:solidFill>
              <a:srgbClr val="E65100"/>
            </a:solidFill>
            <a:prstDash val="solid"/>
          </a:ln>
        </p:spPr>
      </p:sp>
      <p:sp>
        <p:nvSpPr>
          <p:cNvPr id="20" name="Shape 18"/>
          <p:cNvSpPr/>
          <p:nvPr/>
        </p:nvSpPr>
        <p:spPr>
          <a:xfrm>
            <a:off x="320040" y="3739896"/>
            <a:ext cx="64008" cy="896112"/>
          </a:xfrm>
          <a:prstGeom prst="rect">
            <a:avLst/>
          </a:prstGeom>
          <a:solidFill>
            <a:srgbClr val="E65100"/>
          </a:solidFill>
          <a:ln w="12700">
            <a:solidFill>
              <a:srgbClr val="333333"/>
            </a:solidFill>
            <a:prstDash val="solid"/>
          </a:ln>
        </p:spPr>
      </p:sp>
      <p:sp>
        <p:nvSpPr>
          <p:cNvPr id="21" name="Text 19"/>
          <p:cNvSpPr/>
          <p:nvPr/>
        </p:nvSpPr>
        <p:spPr>
          <a:xfrm>
            <a:off x="530352" y="3813048"/>
            <a:ext cx="5120640" cy="310896"/>
          </a:xfrm>
          <a:prstGeom prst="rect">
            <a:avLst/>
          </a:prstGeom>
          <a:noFill/>
          <a:ln/>
        </p:spPr>
        <p:txBody>
          <a:bodyPr wrap="square" lIns="0" tIns="0" rIns="0" bIns="0" rtlCol="0" anchor="ctr"/>
          <a:lstStyle/>
          <a:p>
            <a:pPr marL="0" indent="0">
              <a:buNone/>
            </a:pPr>
            <a:r>
              <a:rPr lang="en-US" sz="1250" b="1" dirty="0">
                <a:solidFill>
                  <a:srgbClr val="E65100"/>
                </a:solidFill>
              </a:rPr>
              <a:t>4  HRIO Reference Ontology</a:t>
            </a:r>
            <a:endParaRPr lang="en-US" sz="1250" dirty="0"/>
          </a:p>
        </p:txBody>
      </p:sp>
      <p:sp>
        <p:nvSpPr>
          <p:cNvPr id="22" name="Text 20"/>
          <p:cNvSpPr/>
          <p:nvPr/>
        </p:nvSpPr>
        <p:spPr>
          <a:xfrm>
            <a:off x="530352" y="4142232"/>
            <a:ext cx="5120640" cy="402336"/>
          </a:xfrm>
          <a:prstGeom prst="rect">
            <a:avLst/>
          </a:prstGeom>
          <a:noFill/>
          <a:ln/>
        </p:spPr>
        <p:txBody>
          <a:bodyPr wrap="square" lIns="0" tIns="0" rIns="0" bIns="0" rtlCol="0" anchor="ctr"/>
          <a:lstStyle/>
          <a:p>
            <a:pPr marL="0" indent="0">
              <a:buNone/>
            </a:pPr>
            <a:r>
              <a:rPr lang="en-US" sz="1050" dirty="0">
                <a:solidFill>
                  <a:srgbClr val="1A2940"/>
                </a:solidFill>
              </a:rPr>
              <a:t>Shared vocabulary: hrio:BiologicalSex · hrio:AdministrativeGender · hrio:SelfIdentifiedGender …</a:t>
            </a:r>
            <a:endParaRPr lang="en-US" sz="1050" dirty="0"/>
          </a:p>
        </p:txBody>
      </p:sp>
      <p:sp>
        <p:nvSpPr>
          <p:cNvPr id="23" name="Text 21"/>
          <p:cNvSpPr/>
          <p:nvPr/>
        </p:nvSpPr>
        <p:spPr>
          <a:xfrm>
            <a:off x="5669280" y="3813048"/>
            <a:ext cx="3017520" cy="749808"/>
          </a:xfrm>
          <a:prstGeom prst="rect">
            <a:avLst/>
          </a:prstGeom>
          <a:noFill/>
          <a:ln/>
        </p:spPr>
        <p:txBody>
          <a:bodyPr wrap="square" lIns="0" tIns="0" rIns="0" bIns="0" rtlCol="0" anchor="ctr"/>
          <a:lstStyle/>
          <a:p>
            <a:pPr marL="0" indent="0" algn="r">
              <a:buNone/>
            </a:pPr>
            <a:r>
              <a:rPr lang="en-US" sz="1000" i="1" dirty="0">
                <a:solidFill>
                  <a:srgbClr val="4A607A"/>
                </a:solidFill>
              </a:rPr>
              <a:t>🧠  The common language everything maps to</a:t>
            </a:r>
            <a:endParaRPr lang="en-US" sz="1000" dirty="0"/>
          </a:p>
        </p:txBody>
      </p:sp>
      <p:sp>
        <p:nvSpPr>
          <p:cNvPr id="24" name="Shape 22"/>
          <p:cNvSpPr/>
          <p:nvPr/>
        </p:nvSpPr>
        <p:spPr>
          <a:xfrm>
            <a:off x="320040" y="4773168"/>
            <a:ext cx="8503920" cy="36576"/>
          </a:xfrm>
          <a:prstGeom prst="rect">
            <a:avLst/>
          </a:prstGeom>
          <a:solidFill>
            <a:srgbClr val="00838F"/>
          </a:solidFill>
          <a:ln w="12700">
            <a:solidFill>
              <a:srgbClr val="333333"/>
            </a:solidFill>
            <a:prstDash val="solid"/>
          </a:ln>
        </p:spPr>
      </p:sp>
      <p:sp>
        <p:nvSpPr>
          <p:cNvPr id="25" name="Text 23"/>
          <p:cNvSpPr/>
          <p:nvPr/>
        </p:nvSpPr>
        <p:spPr>
          <a:xfrm>
            <a:off x="320040" y="4828032"/>
            <a:ext cx="8503920" cy="256032"/>
          </a:xfrm>
          <a:prstGeom prst="rect">
            <a:avLst/>
          </a:prstGeom>
          <a:noFill/>
          <a:ln/>
        </p:spPr>
        <p:txBody>
          <a:bodyPr wrap="square" lIns="0" tIns="0" rIns="0" bIns="0" rtlCol="0" anchor="ctr"/>
          <a:lstStyle/>
          <a:p>
            <a:pPr marL="0" indent="0" algn="ctr">
              <a:buNone/>
            </a:pPr>
            <a:r>
              <a:rPr lang="en-US" sz="1100" b="1" dirty="0">
                <a:solidFill>
                  <a:srgbClr val="00838F"/>
                </a:solidFill>
              </a:rPr>
              <a:t>Both personas query Layers 3 + 4  — no patient data is ever accessed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5F6A"/>
        </a:solidFill>
        <a:effectLst/>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FFFFFF">
              <a:alpha val="25000"/>
            </a:srgbClr>
          </a:solidFill>
          <a:ln w="12700">
            <a:solidFill>
              <a:srgbClr val="333333"/>
            </a:solidFill>
            <a:prstDash val="solid"/>
          </a:ln>
        </p:spPr>
      </p:sp>
      <p:sp>
        <p:nvSpPr>
          <p:cNvPr id="3" name="Shape 1"/>
          <p:cNvSpPr/>
          <p:nvPr/>
        </p:nvSpPr>
        <p:spPr>
          <a:xfrm>
            <a:off x="914400" y="1005840"/>
            <a:ext cx="1828800" cy="1828800"/>
          </a:xfrm>
          <a:prstGeom prst="ellipse">
            <a:avLst/>
          </a:prstGeom>
          <a:solidFill>
            <a:srgbClr val="FFFFFF">
              <a:alpha val="18000"/>
            </a:srgbClr>
          </a:solidFill>
          <a:ln w="25400">
            <a:solidFill>
              <a:srgbClr val="FFFFFF">
                <a:alpha val="45000"/>
              </a:srgbClr>
            </a:solidFill>
            <a:prstDash val="solid"/>
          </a:ln>
        </p:spPr>
      </p:sp>
      <p:sp>
        <p:nvSpPr>
          <p:cNvPr id="4" name="Text 2"/>
          <p:cNvSpPr/>
          <p:nvPr/>
        </p:nvSpPr>
        <p:spPr>
          <a:xfrm>
            <a:off x="914400" y="1005840"/>
            <a:ext cx="1828800" cy="1828800"/>
          </a:xfrm>
          <a:prstGeom prst="rect">
            <a:avLst/>
          </a:prstGeom>
          <a:noFill/>
          <a:ln/>
        </p:spPr>
        <p:txBody>
          <a:bodyPr wrap="square" lIns="0" tIns="0" rIns="0" bIns="0" rtlCol="0" anchor="ctr"/>
          <a:lstStyle/>
          <a:p>
            <a:pPr marL="0" indent="0" algn="ctr">
              <a:buNone/>
            </a:pPr>
            <a:r>
              <a:rPr lang="en-US" sz="7200" b="1" dirty="0">
                <a:solidFill>
                  <a:srgbClr val="FFFFFF"/>
                </a:solidFill>
              </a:rPr>
              <a:t>R</a:t>
            </a:r>
            <a:endParaRPr lang="en-US" sz="7200" dirty="0"/>
          </a:p>
        </p:txBody>
      </p:sp>
      <p:sp>
        <p:nvSpPr>
          <p:cNvPr id="5" name="Text 3"/>
          <p:cNvSpPr/>
          <p:nvPr/>
        </p:nvSpPr>
        <p:spPr>
          <a:xfrm>
            <a:off x="3108960" y="1188720"/>
            <a:ext cx="5760720" cy="822960"/>
          </a:xfrm>
          <a:prstGeom prst="rect">
            <a:avLst/>
          </a:prstGeom>
          <a:noFill/>
          <a:ln/>
        </p:spPr>
        <p:txBody>
          <a:bodyPr wrap="square" lIns="0" tIns="0" rIns="0" bIns="0" rtlCol="0" anchor="ctr"/>
          <a:lstStyle/>
          <a:p>
            <a:pPr marL="0" indent="0">
              <a:buNone/>
            </a:pPr>
            <a:r>
              <a:rPr lang="en-US" sz="4200" b="1" dirty="0">
                <a:solidFill>
                  <a:srgbClr val="FFFFFF"/>
                </a:solidFill>
              </a:rPr>
              <a:t>Roberta's Story</a:t>
            </a:r>
            <a:endParaRPr lang="en-US" sz="4200" dirty="0"/>
          </a:p>
        </p:txBody>
      </p:sp>
      <p:sp>
        <p:nvSpPr>
          <p:cNvPr id="6" name="Text 4"/>
          <p:cNvSpPr/>
          <p:nvPr/>
        </p:nvSpPr>
        <p:spPr>
          <a:xfrm>
            <a:off x="3108960" y="2103120"/>
            <a:ext cx="5760720" cy="502920"/>
          </a:xfrm>
          <a:prstGeom prst="rect">
            <a:avLst/>
          </a:prstGeom>
          <a:noFill/>
          <a:ln/>
        </p:spPr>
        <p:txBody>
          <a:bodyPr wrap="square" lIns="0" tIns="0" rIns="0" bIns="0" rtlCol="0" anchor="ctr"/>
          <a:lstStyle/>
          <a:p>
            <a:pPr marL="0" indent="0">
              <a:buNone/>
            </a:pPr>
            <a:r>
              <a:rPr lang="en-US" sz="1700" i="1" dirty="0">
                <a:solidFill>
                  <a:srgbClr val="FFFFFF"/>
                </a:solidFill>
              </a:rPr>
              <a:t>Two data-level queries to find the right variables</a:t>
            </a:r>
            <a:endParaRPr lang="en-US" sz="1700" dirty="0"/>
          </a:p>
        </p:txBody>
      </p:sp>
      <p:sp>
        <p:nvSpPr>
          <p:cNvPr id="7" name="Shape 5"/>
          <p:cNvSpPr/>
          <p:nvPr/>
        </p:nvSpPr>
        <p:spPr>
          <a:xfrm>
            <a:off x="3108960" y="2880360"/>
            <a:ext cx="5760720" cy="585216"/>
          </a:xfrm>
          <a:prstGeom prst="rect">
            <a:avLst/>
          </a:prstGeom>
          <a:solidFill>
            <a:srgbClr val="FFFFFF">
              <a:alpha val="14000"/>
            </a:srgbClr>
          </a:solidFill>
          <a:ln w="12700">
            <a:solidFill>
              <a:srgbClr val="333333"/>
            </a:solidFill>
            <a:prstDash val="solid"/>
          </a:ln>
        </p:spPr>
      </p:sp>
      <p:sp>
        <p:nvSpPr>
          <p:cNvPr id="8" name="Text 6"/>
          <p:cNvSpPr/>
          <p:nvPr/>
        </p:nvSpPr>
        <p:spPr>
          <a:xfrm>
            <a:off x="3291840" y="2898648"/>
            <a:ext cx="5394960" cy="548640"/>
          </a:xfrm>
          <a:prstGeom prst="rect">
            <a:avLst/>
          </a:prstGeom>
          <a:noFill/>
          <a:ln/>
        </p:spPr>
        <p:txBody>
          <a:bodyPr wrap="square" lIns="0" tIns="0" rIns="0" bIns="0" rtlCol="0" anchor="ctr"/>
          <a:lstStyle/>
          <a:p>
            <a:pPr marL="0" indent="0">
              <a:buNone/>
            </a:pPr>
            <a:r>
              <a:rPr lang="en-US" sz="1400" dirty="0">
                <a:solidFill>
                  <a:srgbClr val="FFFFFF"/>
                </a:solidFill>
              </a:rPr>
              <a:t>Query 1  —  Which datasets have a variable for biological sex?</a:t>
            </a:r>
            <a:endParaRPr lang="en-US" sz="1400" dirty="0"/>
          </a:p>
        </p:txBody>
      </p:sp>
      <p:sp>
        <p:nvSpPr>
          <p:cNvPr id="9" name="Shape 7"/>
          <p:cNvSpPr/>
          <p:nvPr/>
        </p:nvSpPr>
        <p:spPr>
          <a:xfrm>
            <a:off x="3108960" y="3593592"/>
            <a:ext cx="5760720" cy="585216"/>
          </a:xfrm>
          <a:prstGeom prst="rect">
            <a:avLst/>
          </a:prstGeom>
          <a:solidFill>
            <a:srgbClr val="FFFFFF">
              <a:alpha val="14000"/>
            </a:srgbClr>
          </a:solidFill>
          <a:ln w="12700">
            <a:solidFill>
              <a:srgbClr val="333333"/>
            </a:solidFill>
            <a:prstDash val="solid"/>
          </a:ln>
        </p:spPr>
      </p:sp>
      <p:sp>
        <p:nvSpPr>
          <p:cNvPr id="10" name="Text 8"/>
          <p:cNvSpPr/>
          <p:nvPr/>
        </p:nvSpPr>
        <p:spPr>
          <a:xfrm>
            <a:off x="3291840" y="3611880"/>
            <a:ext cx="5394960" cy="548640"/>
          </a:xfrm>
          <a:prstGeom prst="rect">
            <a:avLst/>
          </a:prstGeom>
          <a:noFill/>
          <a:ln/>
        </p:spPr>
        <p:txBody>
          <a:bodyPr wrap="square" lIns="0" tIns="0" rIns="0" bIns="0" rtlCol="0" anchor="ctr"/>
          <a:lstStyle/>
          <a:p>
            <a:pPr marL="0" indent="0">
              <a:buNone/>
            </a:pPr>
            <a:r>
              <a:rPr lang="en-US" sz="1400" dirty="0">
                <a:solidFill>
                  <a:srgbClr val="FFFFFF"/>
                </a:solidFill>
              </a:rPr>
              <a:t>Query 2  —  Can I combine gender-identity across both hospitals?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5F6A"/>
          </a:solidFill>
          <a:ln w="12700">
            <a:solidFill>
              <a:srgbClr val="333333"/>
            </a:solidFill>
            <a:prstDash val="solid"/>
          </a:ln>
        </p:spPr>
      </p:sp>
      <p:sp>
        <p:nvSpPr>
          <p:cNvPr id="3" name="Text 1"/>
          <p:cNvSpPr/>
          <p:nvPr/>
        </p:nvSpPr>
        <p:spPr>
          <a:xfrm>
            <a:off x="457200" y="73152"/>
            <a:ext cx="8229600" cy="530352"/>
          </a:xfrm>
          <a:prstGeom prst="rect">
            <a:avLst/>
          </a:prstGeom>
          <a:noFill/>
          <a:ln/>
        </p:spPr>
        <p:txBody>
          <a:bodyPr wrap="square" lIns="0" tIns="0" rIns="0" bIns="0" rtlCol="0" anchor="ctr"/>
          <a:lstStyle/>
          <a:p>
            <a:pPr marL="0" indent="0">
              <a:buNone/>
            </a:pPr>
            <a:r>
              <a:rPr lang="en-US" sz="1400" b="1" dirty="0">
                <a:solidFill>
                  <a:srgbClr val="FFFFFF"/>
                </a:solidFill>
              </a:rPr>
              <a:t>Roberta  ·  Query 1</a:t>
            </a:r>
            <a:endParaRPr lang="en-US" sz="1400" dirty="0"/>
          </a:p>
        </p:txBody>
      </p:sp>
      <p:sp>
        <p:nvSpPr>
          <p:cNvPr id="4" name="Shape 2"/>
          <p:cNvSpPr/>
          <p:nvPr/>
        </p:nvSpPr>
        <p:spPr>
          <a:xfrm>
            <a:off x="320040" y="777240"/>
            <a:ext cx="4160520" cy="1965960"/>
          </a:xfrm>
          <a:prstGeom prst="rect">
            <a:avLst/>
          </a:prstGeom>
          <a:solidFill>
            <a:srgbClr val="FFFFFF"/>
          </a:solidFill>
          <a:ln w="10160">
            <a:solidFill>
              <a:srgbClr val="DDE5EF"/>
            </a:solidFill>
            <a:prstDash val="solid"/>
          </a:ln>
          <a:effectLst>
            <a:outerShdw blurRad="101600" dist="25400" dir="8100000" algn="bl" rotWithShape="0">
              <a:srgbClr val="000000">
                <a:alpha val="12000"/>
              </a:srgbClr>
            </a:outerShdw>
          </a:effectLst>
        </p:spPr>
      </p:sp>
      <p:sp>
        <p:nvSpPr>
          <p:cNvPr id="5" name="Shape 3"/>
          <p:cNvSpPr/>
          <p:nvPr/>
        </p:nvSpPr>
        <p:spPr>
          <a:xfrm>
            <a:off x="320040" y="777240"/>
            <a:ext cx="64008" cy="1965960"/>
          </a:xfrm>
          <a:prstGeom prst="rect">
            <a:avLst/>
          </a:prstGeom>
          <a:solidFill>
            <a:srgbClr val="00838F"/>
          </a:solidFill>
          <a:ln w="12700">
            <a:solidFill>
              <a:srgbClr val="333333"/>
            </a:solidFill>
            <a:prstDash val="solid"/>
          </a:ln>
        </p:spPr>
      </p:sp>
      <p:sp>
        <p:nvSpPr>
          <p:cNvPr id="6" name="Text 4"/>
          <p:cNvSpPr/>
          <p:nvPr/>
        </p:nvSpPr>
        <p:spPr>
          <a:xfrm>
            <a:off x="502920" y="868680"/>
            <a:ext cx="3794760" cy="329184"/>
          </a:xfrm>
          <a:prstGeom prst="rect">
            <a:avLst/>
          </a:prstGeom>
          <a:noFill/>
          <a:ln/>
        </p:spPr>
        <p:txBody>
          <a:bodyPr wrap="square" lIns="0" tIns="0" rIns="0" bIns="0" rtlCol="0" anchor="ctr"/>
          <a:lstStyle/>
          <a:p>
            <a:pPr marL="0" indent="0">
              <a:buNone/>
            </a:pPr>
            <a:r>
              <a:rPr lang="en-US" sz="1100" b="1" kern="0" spc="80" dirty="0">
                <a:solidFill>
                  <a:srgbClr val="00838F"/>
                </a:solidFill>
              </a:rPr>
              <a:t>The question (plain language)</a:t>
            </a:r>
            <a:endParaRPr lang="en-US" sz="1100" dirty="0"/>
          </a:p>
        </p:txBody>
      </p:sp>
      <p:sp>
        <p:nvSpPr>
          <p:cNvPr id="7" name="Text 5"/>
          <p:cNvSpPr/>
          <p:nvPr/>
        </p:nvSpPr>
        <p:spPr>
          <a:xfrm>
            <a:off x="502920" y="1225296"/>
            <a:ext cx="3794760" cy="777240"/>
          </a:xfrm>
          <a:prstGeom prst="rect">
            <a:avLst/>
          </a:prstGeom>
          <a:noFill/>
          <a:ln/>
        </p:spPr>
        <p:txBody>
          <a:bodyPr wrap="square" lIns="0" tIns="0" rIns="0" bIns="0" rtlCol="0" anchor="ctr"/>
          <a:lstStyle/>
          <a:p>
            <a:pPr marL="0" indent="0">
              <a:buNone/>
            </a:pPr>
            <a:r>
              <a:rPr lang="en-US" sz="1350" b="1" i="1" dirty="0">
                <a:solidFill>
                  <a:srgbClr val="1A2940"/>
                </a:solidFill>
              </a:rPr>
              <a:t>"Which of the three datasets has a variable that captures biological sex?"</a:t>
            </a:r>
            <a:endParaRPr lang="en-US" sz="1350" dirty="0"/>
          </a:p>
        </p:txBody>
      </p:sp>
      <p:sp>
        <p:nvSpPr>
          <p:cNvPr id="8" name="Text 6"/>
          <p:cNvSpPr/>
          <p:nvPr/>
        </p:nvSpPr>
        <p:spPr>
          <a:xfrm>
            <a:off x="502920" y="2029968"/>
            <a:ext cx="3794760" cy="594360"/>
          </a:xfrm>
          <a:prstGeom prst="rect">
            <a:avLst/>
          </a:prstGeom>
          <a:noFill/>
          <a:ln/>
        </p:spPr>
        <p:txBody>
          <a:bodyPr wrap="square" lIns="0" tIns="0" rIns="0" bIns="0" rtlCol="0" anchor="ctr"/>
          <a:lstStyle/>
          <a:p>
            <a:pPr marL="0" indent="0">
              <a:buNone/>
            </a:pPr>
            <a:r>
              <a:rPr lang="en-US" sz="1100" dirty="0">
                <a:solidFill>
                  <a:srgbClr val="4A607A"/>
                </a:solidFill>
              </a:rPr>
              <a:t>She suspects FHIR Patient.gender might not mean the same as biological sex — but the label looks similar. She needs confirmation before submitting a data request.</a:t>
            </a:r>
            <a:endParaRPr lang="en-US" sz="1100" dirty="0"/>
          </a:p>
        </p:txBody>
      </p:sp>
      <p:sp>
        <p:nvSpPr>
          <p:cNvPr id="9" name="Text 7"/>
          <p:cNvSpPr/>
          <p:nvPr/>
        </p:nvSpPr>
        <p:spPr>
          <a:xfrm>
            <a:off x="4663440" y="804672"/>
            <a:ext cx="4206240" cy="301752"/>
          </a:xfrm>
          <a:prstGeom prst="rect">
            <a:avLst/>
          </a:prstGeom>
          <a:noFill/>
          <a:ln/>
        </p:spPr>
        <p:txBody>
          <a:bodyPr wrap="square" lIns="0" tIns="0" rIns="0" bIns="0" rtlCol="0" anchor="ctr"/>
          <a:lstStyle/>
          <a:p>
            <a:pPr marL="0" indent="0">
              <a:buNone/>
            </a:pPr>
            <a:r>
              <a:rPr lang="en-US" sz="1100" b="1" dirty="0">
                <a:solidFill>
                  <a:srgbClr val="4A607A"/>
                </a:solidFill>
              </a:rPr>
              <a:t>In SPARQL  (Scenario 2)</a:t>
            </a:r>
            <a:endParaRPr lang="en-US" sz="1100" dirty="0"/>
          </a:p>
        </p:txBody>
      </p:sp>
      <p:sp>
        <p:nvSpPr>
          <p:cNvPr id="10" name="Shape 8"/>
          <p:cNvSpPr/>
          <p:nvPr/>
        </p:nvSpPr>
        <p:spPr>
          <a:xfrm>
            <a:off x="4663440" y="1143000"/>
            <a:ext cx="4206240" cy="1627632"/>
          </a:xfrm>
          <a:prstGeom prst="rect">
            <a:avLst/>
          </a:prstGeom>
          <a:solidFill>
            <a:srgbClr val="1A2535"/>
          </a:solidFill>
          <a:ln w="12700">
            <a:solidFill>
              <a:srgbClr val="333333"/>
            </a:solidFill>
            <a:prstDash val="solid"/>
          </a:ln>
        </p:spPr>
      </p:sp>
      <p:sp>
        <p:nvSpPr>
          <p:cNvPr id="11" name="Text 9"/>
          <p:cNvSpPr/>
          <p:nvPr/>
        </p:nvSpPr>
        <p:spPr>
          <a:xfrm>
            <a:off x="4828032" y="1252728"/>
            <a:ext cx="3877056" cy="1408176"/>
          </a:xfrm>
          <a:prstGeom prst="rect">
            <a:avLst/>
          </a:prstGeom>
          <a:noFill/>
          <a:ln/>
        </p:spPr>
        <p:txBody>
          <a:bodyPr wrap="square" lIns="0" tIns="0" rIns="0" bIns="0" rtlCol="0" anchor="t"/>
          <a:lstStyle/>
          <a:p>
            <a:pPr marL="0" indent="0">
              <a:buNone/>
            </a:pPr>
            <a:r>
              <a:rPr lang="en-US" sz="950" dirty="0">
                <a:solidFill>
                  <a:srgbClr val="C8D8F0"/>
                </a:solidFill>
                <a:latin typeface="Courier New" pitchFamily="34" charset="0"/>
                <a:ea typeface="Courier New" pitchFamily="34" charset="-122"/>
                <a:cs typeface="Courier New" pitchFamily="34" charset="-120"/>
              </a:rPr>
              <a:t>SELECT ?concept ?label ?dataset</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WHERE {</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  ?mapping a hriv:Mapping ;</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    hriv:hasMappingObject hrio:BiologicalSex ;</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    hriv:hasMappingSubject ?concept .</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  ?concept rdfs:label ?label .</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  ?concept hriv:fromArtifact ?dataset .</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a:t>
            </a:r>
            <a:endParaRPr lang="en-US" sz="950" dirty="0"/>
          </a:p>
        </p:txBody>
      </p:sp>
      <p:sp>
        <p:nvSpPr>
          <p:cNvPr id="12" name="Text 10"/>
          <p:cNvSpPr/>
          <p:nvPr/>
        </p:nvSpPr>
        <p:spPr>
          <a:xfrm>
            <a:off x="320040" y="2834640"/>
            <a:ext cx="1920240" cy="256032"/>
          </a:xfrm>
          <a:prstGeom prst="rect">
            <a:avLst/>
          </a:prstGeom>
          <a:noFill/>
          <a:ln/>
        </p:spPr>
        <p:txBody>
          <a:bodyPr wrap="square" lIns="0" tIns="0" rIns="0" bIns="0" rtlCol="0" anchor="ctr"/>
          <a:lstStyle/>
          <a:p>
            <a:pPr marL="0" indent="0">
              <a:buNone/>
            </a:pPr>
            <a:r>
              <a:rPr lang="en-US" sz="1000" dirty="0">
                <a:solidFill>
                  <a:srgbClr val="4A607A"/>
                </a:solidFill>
              </a:rPr>
              <a:t>Standards in scope:</a:t>
            </a:r>
            <a:endParaRPr lang="en-US" sz="1000" dirty="0"/>
          </a:p>
        </p:txBody>
      </p:sp>
      <p:sp>
        <p:nvSpPr>
          <p:cNvPr id="13" name="Shape 11"/>
          <p:cNvSpPr/>
          <p:nvPr/>
        </p:nvSpPr>
        <p:spPr>
          <a:xfrm>
            <a:off x="2331720" y="2807208"/>
            <a:ext cx="1325880" cy="274320"/>
          </a:xfrm>
          <a:prstGeom prst="rect">
            <a:avLst/>
          </a:prstGeom>
          <a:solidFill>
            <a:srgbClr val="1976D2"/>
          </a:solidFill>
          <a:ln w="12700">
            <a:solidFill>
              <a:srgbClr val="333333"/>
            </a:solidFill>
            <a:prstDash val="solid"/>
          </a:ln>
        </p:spPr>
      </p:sp>
      <p:sp>
        <p:nvSpPr>
          <p:cNvPr id="14" name="Text 12"/>
          <p:cNvSpPr/>
          <p:nvPr/>
        </p:nvSpPr>
        <p:spPr>
          <a:xfrm>
            <a:off x="2404872" y="2843784"/>
            <a:ext cx="1179576" cy="201168"/>
          </a:xfrm>
          <a:prstGeom prst="rect">
            <a:avLst/>
          </a:prstGeom>
          <a:noFill/>
          <a:ln/>
        </p:spPr>
        <p:txBody>
          <a:bodyPr wrap="square" lIns="0" tIns="0" rIns="0" bIns="0" rtlCol="0" anchor="ctr"/>
          <a:lstStyle/>
          <a:p>
            <a:pPr marL="0" indent="0">
              <a:buNone/>
            </a:pPr>
            <a:r>
              <a:rPr lang="en-US" sz="950" b="1" dirty="0">
                <a:solidFill>
                  <a:srgbClr val="FFFFFF"/>
                </a:solidFill>
              </a:rPr>
              <a:t>FHIR R5</a:t>
            </a:r>
            <a:endParaRPr lang="en-US" sz="950" dirty="0"/>
          </a:p>
        </p:txBody>
      </p:sp>
      <p:sp>
        <p:nvSpPr>
          <p:cNvPr id="15" name="Shape 13"/>
          <p:cNvSpPr/>
          <p:nvPr/>
        </p:nvSpPr>
        <p:spPr>
          <a:xfrm>
            <a:off x="3730752" y="2807208"/>
            <a:ext cx="1325880" cy="274320"/>
          </a:xfrm>
          <a:prstGeom prst="rect">
            <a:avLst/>
          </a:prstGeom>
          <a:solidFill>
            <a:srgbClr val="2E7D32"/>
          </a:solidFill>
          <a:ln w="12700">
            <a:solidFill>
              <a:srgbClr val="333333"/>
            </a:solidFill>
            <a:prstDash val="solid"/>
          </a:ln>
        </p:spPr>
      </p:sp>
      <p:sp>
        <p:nvSpPr>
          <p:cNvPr id="16" name="Text 14"/>
          <p:cNvSpPr/>
          <p:nvPr/>
        </p:nvSpPr>
        <p:spPr>
          <a:xfrm>
            <a:off x="3803904" y="2843784"/>
            <a:ext cx="1179576" cy="201168"/>
          </a:xfrm>
          <a:prstGeom prst="rect">
            <a:avLst/>
          </a:prstGeom>
          <a:noFill/>
          <a:ln/>
        </p:spPr>
        <p:txBody>
          <a:bodyPr wrap="square" lIns="0" tIns="0" rIns="0" bIns="0" rtlCol="0" anchor="ctr"/>
          <a:lstStyle/>
          <a:p>
            <a:pPr marL="0" indent="0">
              <a:buNone/>
            </a:pPr>
            <a:r>
              <a:rPr lang="en-US" sz="950" b="1" dirty="0">
                <a:solidFill>
                  <a:srgbClr val="FFFFFF"/>
                </a:solidFill>
              </a:rPr>
              <a:t>openEHR</a:t>
            </a:r>
            <a:endParaRPr lang="en-US" sz="950" dirty="0"/>
          </a:p>
        </p:txBody>
      </p:sp>
      <p:sp>
        <p:nvSpPr>
          <p:cNvPr id="17" name="Shape 15"/>
          <p:cNvSpPr/>
          <p:nvPr/>
        </p:nvSpPr>
        <p:spPr>
          <a:xfrm>
            <a:off x="5129784" y="2807208"/>
            <a:ext cx="1325880" cy="274320"/>
          </a:xfrm>
          <a:prstGeom prst="rect">
            <a:avLst/>
          </a:prstGeom>
          <a:solidFill>
            <a:srgbClr val="E65100"/>
          </a:solidFill>
          <a:ln w="12700">
            <a:solidFill>
              <a:srgbClr val="333333"/>
            </a:solidFill>
            <a:prstDash val="solid"/>
          </a:ln>
        </p:spPr>
      </p:sp>
      <p:sp>
        <p:nvSpPr>
          <p:cNvPr id="18" name="Text 16"/>
          <p:cNvSpPr/>
          <p:nvPr/>
        </p:nvSpPr>
        <p:spPr>
          <a:xfrm>
            <a:off x="5202936" y="2843784"/>
            <a:ext cx="1179576" cy="201168"/>
          </a:xfrm>
          <a:prstGeom prst="rect">
            <a:avLst/>
          </a:prstGeom>
          <a:noFill/>
          <a:ln/>
        </p:spPr>
        <p:txBody>
          <a:bodyPr wrap="square" lIns="0" tIns="0" rIns="0" bIns="0" rtlCol="0" anchor="ctr"/>
          <a:lstStyle/>
          <a:p>
            <a:pPr marL="0" indent="0">
              <a:buNone/>
            </a:pPr>
            <a:r>
              <a:rPr lang="en-US" sz="950" b="1" dirty="0">
                <a:solidFill>
                  <a:srgbClr val="FFFFFF"/>
                </a:solidFill>
              </a:rPr>
              <a:t>CARE-SM</a:t>
            </a:r>
            <a:endParaRPr lang="en-US" sz="950" dirty="0"/>
          </a:p>
        </p:txBody>
      </p:sp>
      <p:sp>
        <p:nvSpPr>
          <p:cNvPr id="19" name="Shape 17"/>
          <p:cNvSpPr/>
          <p:nvPr/>
        </p:nvSpPr>
        <p:spPr>
          <a:xfrm>
            <a:off x="320040" y="3182112"/>
            <a:ext cx="8503920" cy="1847088"/>
          </a:xfrm>
          <a:prstGeom prst="rect">
            <a:avLst/>
          </a:prstGeom>
          <a:solidFill>
            <a:srgbClr val="FFFFFF"/>
          </a:solidFill>
          <a:ln w="10160">
            <a:solidFill>
              <a:srgbClr val="DDE5EF"/>
            </a:solidFill>
            <a:prstDash val="solid"/>
          </a:ln>
          <a:effectLst>
            <a:outerShdw blurRad="101600" dist="25400" dir="8100000" algn="bl" rotWithShape="0">
              <a:srgbClr val="000000">
                <a:alpha val="12000"/>
              </a:srgbClr>
            </a:outerShdw>
          </a:effectLst>
        </p:spPr>
      </p:sp>
      <p:sp>
        <p:nvSpPr>
          <p:cNvPr id="20" name="Shape 18"/>
          <p:cNvSpPr/>
          <p:nvPr/>
        </p:nvSpPr>
        <p:spPr>
          <a:xfrm>
            <a:off x="320040" y="3182112"/>
            <a:ext cx="64008" cy="1847088"/>
          </a:xfrm>
          <a:prstGeom prst="rect">
            <a:avLst/>
          </a:prstGeom>
          <a:solidFill>
            <a:srgbClr val="00838F"/>
          </a:solidFill>
          <a:ln w="12700">
            <a:solidFill>
              <a:srgbClr val="333333"/>
            </a:solidFill>
            <a:prstDash val="solid"/>
          </a:ln>
        </p:spPr>
      </p:sp>
      <p:sp>
        <p:nvSpPr>
          <p:cNvPr id="21" name="Text 19"/>
          <p:cNvSpPr/>
          <p:nvPr/>
        </p:nvSpPr>
        <p:spPr>
          <a:xfrm>
            <a:off x="502920" y="3273552"/>
            <a:ext cx="8046720" cy="310896"/>
          </a:xfrm>
          <a:prstGeom prst="rect">
            <a:avLst/>
          </a:prstGeom>
          <a:noFill/>
          <a:ln/>
        </p:spPr>
        <p:txBody>
          <a:bodyPr wrap="square" lIns="0" tIns="0" rIns="0" bIns="0" rtlCol="0" anchor="ctr"/>
          <a:lstStyle/>
          <a:p>
            <a:pPr marL="0" indent="0">
              <a:buNone/>
            </a:pPr>
            <a:r>
              <a:rPr lang="en-US" sz="1100" b="1" dirty="0">
                <a:solidFill>
                  <a:srgbClr val="4A607A"/>
                </a:solidFill>
              </a:rPr>
              <a:t>Result  (abbreviated RDF)</a:t>
            </a:r>
            <a:endParaRPr lang="en-US" sz="1100" dirty="0"/>
          </a:p>
        </p:txBody>
      </p:sp>
      <p:sp>
        <p:nvSpPr>
          <p:cNvPr id="22" name="Shape 20"/>
          <p:cNvSpPr/>
          <p:nvPr/>
        </p:nvSpPr>
        <p:spPr>
          <a:xfrm>
            <a:off x="457200" y="3621024"/>
            <a:ext cx="8229600" cy="1325880"/>
          </a:xfrm>
          <a:prstGeom prst="rect">
            <a:avLst/>
          </a:prstGeom>
          <a:solidFill>
            <a:srgbClr val="1A2535"/>
          </a:solidFill>
          <a:ln w="12700">
            <a:solidFill>
              <a:srgbClr val="333333"/>
            </a:solidFill>
            <a:prstDash val="solid"/>
          </a:ln>
        </p:spPr>
      </p:sp>
      <p:sp>
        <p:nvSpPr>
          <p:cNvPr id="23" name="Text 21"/>
          <p:cNvSpPr/>
          <p:nvPr/>
        </p:nvSpPr>
        <p:spPr>
          <a:xfrm>
            <a:off x="621792" y="3730752"/>
            <a:ext cx="7900416" cy="1106424"/>
          </a:xfrm>
          <a:prstGeom prst="rect">
            <a:avLst/>
          </a:prstGeom>
          <a:noFill/>
          <a:ln/>
        </p:spPr>
        <p:txBody>
          <a:bodyPr wrap="square" lIns="0" tIns="0" rIns="0" bIns="0" rtlCol="0" anchor="t"/>
          <a:lstStyle/>
          <a:p>
            <a:pPr marL="0" indent="0">
              <a:buNone/>
            </a:pPr>
            <a:r>
              <a:rPr lang="en-US" sz="950" dirty="0">
                <a:solidFill>
                  <a:srgbClr val="C8D8F0"/>
                </a:solidFill>
                <a:latin typeface="Courier New" pitchFamily="34" charset="0"/>
                <a:ea typeface="Courier New" pitchFamily="34" charset="-122"/>
                <a:cs typeface="Courier New" pitchFamily="34" charset="-120"/>
              </a:rPr>
              <a:t>care-sm:sio:Sex                hriv:hasExactMeaning  hrio:BiologicalSex           ← ✅  Found</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fhir:Patient.gender            hriv:hasExactMeaning  hrio:AdministrativeGender    ← ⚠️  Different!</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openehr:administrative-gender  hriv:hasExactMeaning  hrio:AdministrativeGender    ← ⚠️  Different!</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5F6A"/>
          </a:solidFill>
          <a:ln w="12700">
            <a:solidFill>
              <a:srgbClr val="333333"/>
            </a:solidFill>
            <a:prstDash val="solid"/>
          </a:ln>
        </p:spPr>
      </p:sp>
      <p:sp>
        <p:nvSpPr>
          <p:cNvPr id="3" name="Text 1"/>
          <p:cNvSpPr/>
          <p:nvPr/>
        </p:nvSpPr>
        <p:spPr>
          <a:xfrm>
            <a:off x="457200" y="73152"/>
            <a:ext cx="8229600" cy="530352"/>
          </a:xfrm>
          <a:prstGeom prst="rect">
            <a:avLst/>
          </a:prstGeom>
          <a:noFill/>
          <a:ln/>
        </p:spPr>
        <p:txBody>
          <a:bodyPr wrap="square" lIns="0" tIns="0" rIns="0" bIns="0" rtlCol="0" anchor="ctr"/>
          <a:lstStyle/>
          <a:p>
            <a:pPr marL="0" indent="0">
              <a:buNone/>
            </a:pPr>
            <a:r>
              <a:rPr lang="en-US" sz="1400" b="1" dirty="0">
                <a:solidFill>
                  <a:srgbClr val="FFFFFF"/>
                </a:solidFill>
              </a:rPr>
              <a:t>Roberta  ·  Query 1 Answer</a:t>
            </a:r>
            <a:endParaRPr lang="en-US" sz="1400" dirty="0"/>
          </a:p>
        </p:txBody>
      </p:sp>
      <p:sp>
        <p:nvSpPr>
          <p:cNvPr id="4" name="Text 2"/>
          <p:cNvSpPr/>
          <p:nvPr/>
        </p:nvSpPr>
        <p:spPr>
          <a:xfrm>
            <a:off x="457200" y="777240"/>
            <a:ext cx="8229600" cy="402336"/>
          </a:xfrm>
          <a:prstGeom prst="rect">
            <a:avLst/>
          </a:prstGeom>
          <a:noFill/>
          <a:ln/>
        </p:spPr>
        <p:txBody>
          <a:bodyPr wrap="square" lIns="0" tIns="0" rIns="0" bIns="0" rtlCol="0" anchor="ctr"/>
          <a:lstStyle/>
          <a:p>
            <a:pPr marL="0" indent="0">
              <a:buNone/>
            </a:pPr>
            <a:r>
              <a:rPr lang="en-US" sz="1600" b="1" dirty="0">
                <a:solidFill>
                  <a:srgbClr val="1A2940"/>
                </a:solidFill>
              </a:rPr>
              <a:t>What this means for Roberta:</a:t>
            </a:r>
            <a:endParaRPr lang="en-US" sz="1600" dirty="0"/>
          </a:p>
        </p:txBody>
      </p:sp>
      <p:sp>
        <p:nvSpPr>
          <p:cNvPr id="5" name="Shape 3"/>
          <p:cNvSpPr/>
          <p:nvPr/>
        </p:nvSpPr>
        <p:spPr>
          <a:xfrm>
            <a:off x="320040" y="1325880"/>
            <a:ext cx="2788920" cy="2971800"/>
          </a:xfrm>
          <a:prstGeom prst="rect">
            <a:avLst/>
          </a:prstGeom>
          <a:solidFill>
            <a:srgbClr val="FFFFFF"/>
          </a:solidFill>
          <a:ln w="10160">
            <a:solidFill>
              <a:srgbClr val="DDE5EF"/>
            </a:solidFill>
            <a:prstDash val="solid"/>
          </a:ln>
          <a:effectLst>
            <a:outerShdw blurRad="101600" dist="25400" dir="8100000" algn="bl" rotWithShape="0">
              <a:srgbClr val="000000">
                <a:alpha val="12000"/>
              </a:srgbClr>
            </a:outerShdw>
          </a:effectLst>
        </p:spPr>
      </p:sp>
      <p:sp>
        <p:nvSpPr>
          <p:cNvPr id="6" name="Shape 4"/>
          <p:cNvSpPr/>
          <p:nvPr/>
        </p:nvSpPr>
        <p:spPr>
          <a:xfrm>
            <a:off x="320040" y="1325880"/>
            <a:ext cx="2788920" cy="457200"/>
          </a:xfrm>
          <a:prstGeom prst="rect">
            <a:avLst/>
          </a:prstGeom>
          <a:solidFill>
            <a:srgbClr val="E8F5E9"/>
          </a:solidFill>
          <a:ln w="12700">
            <a:solidFill>
              <a:srgbClr val="333333"/>
            </a:solidFill>
            <a:prstDash val="solid"/>
          </a:ln>
        </p:spPr>
      </p:sp>
      <p:sp>
        <p:nvSpPr>
          <p:cNvPr id="7" name="Text 5"/>
          <p:cNvSpPr/>
          <p:nvPr/>
        </p:nvSpPr>
        <p:spPr>
          <a:xfrm>
            <a:off x="429768" y="1371600"/>
            <a:ext cx="2606040" cy="365760"/>
          </a:xfrm>
          <a:prstGeom prst="rect">
            <a:avLst/>
          </a:prstGeom>
          <a:noFill/>
          <a:ln/>
        </p:spPr>
        <p:txBody>
          <a:bodyPr wrap="square" lIns="0" tIns="0" rIns="0" bIns="0" rtlCol="0" anchor="ctr"/>
          <a:lstStyle/>
          <a:p>
            <a:pPr marL="0" indent="0">
              <a:buNone/>
            </a:pPr>
            <a:r>
              <a:rPr lang="en-US" sz="1150" b="1" dirty="0">
                <a:solidFill>
                  <a:srgbClr val="2E7D32"/>
                </a:solidFill>
              </a:rPr>
              <a:t>CARE-SM Registry</a:t>
            </a:r>
            <a:endParaRPr lang="en-US" sz="1150" dirty="0"/>
          </a:p>
        </p:txBody>
      </p:sp>
      <p:sp>
        <p:nvSpPr>
          <p:cNvPr id="8" name="Shape 6"/>
          <p:cNvSpPr/>
          <p:nvPr/>
        </p:nvSpPr>
        <p:spPr>
          <a:xfrm>
            <a:off x="429768" y="1901952"/>
            <a:ext cx="2569464" cy="310896"/>
          </a:xfrm>
          <a:prstGeom prst="rect">
            <a:avLst/>
          </a:prstGeom>
          <a:solidFill>
            <a:srgbClr val="1A2535"/>
          </a:solidFill>
          <a:ln w="12700">
            <a:solidFill>
              <a:srgbClr val="333333"/>
            </a:solidFill>
            <a:prstDash val="solid"/>
          </a:ln>
        </p:spPr>
      </p:sp>
      <p:sp>
        <p:nvSpPr>
          <p:cNvPr id="9" name="Text 7"/>
          <p:cNvSpPr/>
          <p:nvPr/>
        </p:nvSpPr>
        <p:spPr>
          <a:xfrm>
            <a:off x="502920" y="1920240"/>
            <a:ext cx="2423160" cy="274320"/>
          </a:xfrm>
          <a:prstGeom prst="rect">
            <a:avLst/>
          </a:prstGeom>
          <a:noFill/>
          <a:ln/>
        </p:spPr>
        <p:txBody>
          <a:bodyPr wrap="square" lIns="0" tIns="0" rIns="0" bIns="0" rtlCol="0" anchor="ctr"/>
          <a:lstStyle/>
          <a:p>
            <a:pPr marL="0" indent="0">
              <a:buNone/>
            </a:pPr>
            <a:r>
              <a:rPr lang="en-US" sz="1100" dirty="0">
                <a:solidFill>
                  <a:srgbClr val="82B1FF"/>
                </a:solidFill>
                <a:latin typeface="Courier New" pitchFamily="34" charset="0"/>
                <a:ea typeface="Courier New" pitchFamily="34" charset="-122"/>
                <a:cs typeface="Courier New" pitchFamily="34" charset="-120"/>
              </a:rPr>
              <a:t>sio:Sex</a:t>
            </a:r>
            <a:endParaRPr lang="en-US" sz="1100" dirty="0"/>
          </a:p>
        </p:txBody>
      </p:sp>
      <p:sp>
        <p:nvSpPr>
          <p:cNvPr id="10" name="Text 8"/>
          <p:cNvSpPr/>
          <p:nvPr/>
        </p:nvSpPr>
        <p:spPr>
          <a:xfrm>
            <a:off x="429768" y="2340864"/>
            <a:ext cx="2569464" cy="420624"/>
          </a:xfrm>
          <a:prstGeom prst="rect">
            <a:avLst/>
          </a:prstGeom>
          <a:noFill/>
          <a:ln/>
        </p:spPr>
        <p:txBody>
          <a:bodyPr wrap="square" lIns="0" tIns="0" rIns="0" bIns="0" rtlCol="0" anchor="ctr"/>
          <a:lstStyle/>
          <a:p>
            <a:pPr marL="0" indent="0">
              <a:buNone/>
            </a:pPr>
            <a:r>
              <a:rPr lang="en-US" sz="1350" b="1" dirty="0">
                <a:solidFill>
                  <a:srgbClr val="2E7D32"/>
                </a:solidFill>
              </a:rPr>
              <a:t>✅  Has biological sex</a:t>
            </a:r>
            <a:endParaRPr lang="en-US" sz="1350" dirty="0"/>
          </a:p>
        </p:txBody>
      </p:sp>
      <p:sp>
        <p:nvSpPr>
          <p:cNvPr id="11" name="Text 9"/>
          <p:cNvSpPr/>
          <p:nvPr/>
        </p:nvSpPr>
        <p:spPr>
          <a:xfrm>
            <a:off x="429768" y="2798064"/>
            <a:ext cx="2569464" cy="1417320"/>
          </a:xfrm>
          <a:prstGeom prst="rect">
            <a:avLst/>
          </a:prstGeom>
          <a:noFill/>
          <a:ln/>
        </p:spPr>
        <p:txBody>
          <a:bodyPr wrap="square" lIns="0" tIns="0" rIns="0" bIns="0" rtlCol="0" anchor="ctr"/>
          <a:lstStyle/>
          <a:p>
            <a:pPr marL="0" indent="0">
              <a:buNone/>
            </a:pPr>
            <a:r>
              <a:rPr lang="en-US" sz="1100" dirty="0">
                <a:solidFill>
                  <a:srgbClr val="1A2940"/>
                </a:solidFill>
              </a:rPr>
              <a:t>Maps to hrio:BiologicalSex — exactly what Roberta needs. She should request access to this dataset.</a:t>
            </a:r>
            <a:endParaRPr lang="en-US" sz="1100" dirty="0"/>
          </a:p>
        </p:txBody>
      </p:sp>
      <p:sp>
        <p:nvSpPr>
          <p:cNvPr id="12" name="Shape 10"/>
          <p:cNvSpPr/>
          <p:nvPr/>
        </p:nvSpPr>
        <p:spPr>
          <a:xfrm>
            <a:off x="3264408" y="1325880"/>
            <a:ext cx="2788920" cy="2971800"/>
          </a:xfrm>
          <a:prstGeom prst="rect">
            <a:avLst/>
          </a:prstGeom>
          <a:solidFill>
            <a:srgbClr val="FFFFFF"/>
          </a:solidFill>
          <a:ln w="10160">
            <a:solidFill>
              <a:srgbClr val="DDE5EF"/>
            </a:solidFill>
            <a:prstDash val="solid"/>
          </a:ln>
          <a:effectLst>
            <a:outerShdw blurRad="101600" dist="25400" dir="8100000" algn="bl" rotWithShape="0">
              <a:srgbClr val="000000">
                <a:alpha val="12000"/>
              </a:srgbClr>
            </a:outerShdw>
          </a:effectLst>
        </p:spPr>
      </p:sp>
      <p:sp>
        <p:nvSpPr>
          <p:cNvPr id="13" name="Shape 11"/>
          <p:cNvSpPr/>
          <p:nvPr/>
        </p:nvSpPr>
        <p:spPr>
          <a:xfrm>
            <a:off x="3264408" y="1325880"/>
            <a:ext cx="2788920" cy="457200"/>
          </a:xfrm>
          <a:prstGeom prst="rect">
            <a:avLst/>
          </a:prstGeom>
          <a:solidFill>
            <a:srgbClr val="FFF3E0"/>
          </a:solidFill>
          <a:ln w="12700">
            <a:solidFill>
              <a:srgbClr val="333333"/>
            </a:solidFill>
            <a:prstDash val="solid"/>
          </a:ln>
        </p:spPr>
      </p:sp>
      <p:sp>
        <p:nvSpPr>
          <p:cNvPr id="14" name="Text 12"/>
          <p:cNvSpPr/>
          <p:nvPr/>
        </p:nvSpPr>
        <p:spPr>
          <a:xfrm>
            <a:off x="3374136" y="1371600"/>
            <a:ext cx="2606040" cy="365760"/>
          </a:xfrm>
          <a:prstGeom prst="rect">
            <a:avLst/>
          </a:prstGeom>
          <a:noFill/>
          <a:ln/>
        </p:spPr>
        <p:txBody>
          <a:bodyPr wrap="square" lIns="0" tIns="0" rIns="0" bIns="0" rtlCol="0" anchor="ctr"/>
          <a:lstStyle/>
          <a:p>
            <a:pPr marL="0" indent="0">
              <a:buNone/>
            </a:pPr>
            <a:r>
              <a:rPr lang="en-US" sz="1150" b="1" dirty="0">
                <a:solidFill>
                  <a:srgbClr val="E65100"/>
                </a:solidFill>
              </a:rPr>
              <a:t>Amsterdam UMC (FHIR)</a:t>
            </a:r>
            <a:endParaRPr lang="en-US" sz="1150" dirty="0"/>
          </a:p>
        </p:txBody>
      </p:sp>
      <p:sp>
        <p:nvSpPr>
          <p:cNvPr id="15" name="Shape 13"/>
          <p:cNvSpPr/>
          <p:nvPr/>
        </p:nvSpPr>
        <p:spPr>
          <a:xfrm>
            <a:off x="3374136" y="1901952"/>
            <a:ext cx="2569464" cy="310896"/>
          </a:xfrm>
          <a:prstGeom prst="rect">
            <a:avLst/>
          </a:prstGeom>
          <a:solidFill>
            <a:srgbClr val="1A2535"/>
          </a:solidFill>
          <a:ln w="12700">
            <a:solidFill>
              <a:srgbClr val="333333"/>
            </a:solidFill>
            <a:prstDash val="solid"/>
          </a:ln>
        </p:spPr>
      </p:sp>
      <p:sp>
        <p:nvSpPr>
          <p:cNvPr id="16" name="Text 14"/>
          <p:cNvSpPr/>
          <p:nvPr/>
        </p:nvSpPr>
        <p:spPr>
          <a:xfrm>
            <a:off x="3447288" y="1920240"/>
            <a:ext cx="2423160" cy="274320"/>
          </a:xfrm>
          <a:prstGeom prst="rect">
            <a:avLst/>
          </a:prstGeom>
          <a:noFill/>
          <a:ln/>
        </p:spPr>
        <p:txBody>
          <a:bodyPr wrap="square" lIns="0" tIns="0" rIns="0" bIns="0" rtlCol="0" anchor="ctr"/>
          <a:lstStyle/>
          <a:p>
            <a:pPr marL="0" indent="0">
              <a:buNone/>
            </a:pPr>
            <a:r>
              <a:rPr lang="en-US" sz="1100" dirty="0">
                <a:solidFill>
                  <a:srgbClr val="82B1FF"/>
                </a:solidFill>
                <a:latin typeface="Courier New" pitchFamily="34" charset="0"/>
                <a:ea typeface="Courier New" pitchFamily="34" charset="-122"/>
                <a:cs typeface="Courier New" pitchFamily="34" charset="-120"/>
              </a:rPr>
              <a:t>Patient.gender</a:t>
            </a:r>
            <a:endParaRPr lang="en-US" sz="1100" dirty="0"/>
          </a:p>
        </p:txBody>
      </p:sp>
      <p:sp>
        <p:nvSpPr>
          <p:cNvPr id="17" name="Text 15"/>
          <p:cNvSpPr/>
          <p:nvPr/>
        </p:nvSpPr>
        <p:spPr>
          <a:xfrm>
            <a:off x="3374136" y="2340864"/>
            <a:ext cx="2569464" cy="420624"/>
          </a:xfrm>
          <a:prstGeom prst="rect">
            <a:avLst/>
          </a:prstGeom>
          <a:noFill/>
          <a:ln/>
        </p:spPr>
        <p:txBody>
          <a:bodyPr wrap="square" lIns="0" tIns="0" rIns="0" bIns="0" rtlCol="0" anchor="ctr"/>
          <a:lstStyle/>
          <a:p>
            <a:pPr marL="0" indent="0">
              <a:buNone/>
            </a:pPr>
            <a:r>
              <a:rPr lang="en-US" sz="1350" b="1" dirty="0">
                <a:solidFill>
                  <a:srgbClr val="E65100"/>
                </a:solidFill>
              </a:rPr>
              <a:t>⚠️  Wrong concept</a:t>
            </a:r>
            <a:endParaRPr lang="en-US" sz="1350" dirty="0"/>
          </a:p>
        </p:txBody>
      </p:sp>
      <p:sp>
        <p:nvSpPr>
          <p:cNvPr id="18" name="Text 16"/>
          <p:cNvSpPr/>
          <p:nvPr/>
        </p:nvSpPr>
        <p:spPr>
          <a:xfrm>
            <a:off x="3374136" y="2798064"/>
            <a:ext cx="2569464" cy="1417320"/>
          </a:xfrm>
          <a:prstGeom prst="rect">
            <a:avLst/>
          </a:prstGeom>
          <a:noFill/>
          <a:ln/>
        </p:spPr>
        <p:txBody>
          <a:bodyPr wrap="square" lIns="0" tIns="0" rIns="0" bIns="0" rtlCol="0" anchor="ctr"/>
          <a:lstStyle/>
          <a:p>
            <a:pPr marL="0" indent="0">
              <a:buNone/>
            </a:pPr>
            <a:r>
              <a:rPr lang="en-US" sz="1100" dirty="0">
                <a:solidFill>
                  <a:srgbClr val="1A2940"/>
                </a:solidFill>
              </a:rPr>
              <a:t>Maps to hrio:AdministrativeGender — not biological sex. Requesting this data would give the wrong variable.</a:t>
            </a:r>
            <a:endParaRPr lang="en-US" sz="1100" dirty="0"/>
          </a:p>
        </p:txBody>
      </p:sp>
      <p:sp>
        <p:nvSpPr>
          <p:cNvPr id="19" name="Shape 17"/>
          <p:cNvSpPr/>
          <p:nvPr/>
        </p:nvSpPr>
        <p:spPr>
          <a:xfrm>
            <a:off x="6208776" y="1325880"/>
            <a:ext cx="2788920" cy="2971800"/>
          </a:xfrm>
          <a:prstGeom prst="rect">
            <a:avLst/>
          </a:prstGeom>
          <a:solidFill>
            <a:srgbClr val="FFFFFF"/>
          </a:solidFill>
          <a:ln w="10160">
            <a:solidFill>
              <a:srgbClr val="DDE5EF"/>
            </a:solidFill>
            <a:prstDash val="solid"/>
          </a:ln>
          <a:effectLst>
            <a:outerShdw blurRad="101600" dist="25400" dir="8100000" algn="bl" rotWithShape="0">
              <a:srgbClr val="000000">
                <a:alpha val="12000"/>
              </a:srgbClr>
            </a:outerShdw>
          </a:effectLst>
        </p:spPr>
      </p:sp>
      <p:sp>
        <p:nvSpPr>
          <p:cNvPr id="20" name="Shape 18"/>
          <p:cNvSpPr/>
          <p:nvPr/>
        </p:nvSpPr>
        <p:spPr>
          <a:xfrm>
            <a:off x="6208776" y="1325880"/>
            <a:ext cx="2788920" cy="457200"/>
          </a:xfrm>
          <a:prstGeom prst="rect">
            <a:avLst/>
          </a:prstGeom>
          <a:solidFill>
            <a:srgbClr val="FFF3E0"/>
          </a:solidFill>
          <a:ln w="12700">
            <a:solidFill>
              <a:srgbClr val="333333"/>
            </a:solidFill>
            <a:prstDash val="solid"/>
          </a:ln>
        </p:spPr>
      </p:sp>
      <p:sp>
        <p:nvSpPr>
          <p:cNvPr id="21" name="Text 19"/>
          <p:cNvSpPr/>
          <p:nvPr/>
        </p:nvSpPr>
        <p:spPr>
          <a:xfrm>
            <a:off x="6318504" y="1371600"/>
            <a:ext cx="2606040" cy="365760"/>
          </a:xfrm>
          <a:prstGeom prst="rect">
            <a:avLst/>
          </a:prstGeom>
          <a:noFill/>
          <a:ln/>
        </p:spPr>
        <p:txBody>
          <a:bodyPr wrap="square" lIns="0" tIns="0" rIns="0" bIns="0" rtlCol="0" anchor="ctr"/>
          <a:lstStyle/>
          <a:p>
            <a:pPr marL="0" indent="0">
              <a:buNone/>
            </a:pPr>
            <a:r>
              <a:rPr lang="en-US" sz="1150" b="1" dirty="0">
                <a:solidFill>
                  <a:srgbClr val="E65100"/>
                </a:solidFill>
              </a:rPr>
              <a:t>Erasmus MC (openEHR)</a:t>
            </a:r>
            <a:endParaRPr lang="en-US" sz="1150" dirty="0"/>
          </a:p>
        </p:txBody>
      </p:sp>
      <p:sp>
        <p:nvSpPr>
          <p:cNvPr id="22" name="Shape 20"/>
          <p:cNvSpPr/>
          <p:nvPr/>
        </p:nvSpPr>
        <p:spPr>
          <a:xfrm>
            <a:off x="6318504" y="1901952"/>
            <a:ext cx="2569464" cy="310896"/>
          </a:xfrm>
          <a:prstGeom prst="rect">
            <a:avLst/>
          </a:prstGeom>
          <a:solidFill>
            <a:srgbClr val="1A2535"/>
          </a:solidFill>
          <a:ln w="12700">
            <a:solidFill>
              <a:srgbClr val="333333"/>
            </a:solidFill>
            <a:prstDash val="solid"/>
          </a:ln>
        </p:spPr>
      </p:sp>
      <p:sp>
        <p:nvSpPr>
          <p:cNvPr id="23" name="Text 21"/>
          <p:cNvSpPr/>
          <p:nvPr/>
        </p:nvSpPr>
        <p:spPr>
          <a:xfrm>
            <a:off x="6391656" y="1920240"/>
            <a:ext cx="2423160" cy="274320"/>
          </a:xfrm>
          <a:prstGeom prst="rect">
            <a:avLst/>
          </a:prstGeom>
          <a:noFill/>
          <a:ln/>
        </p:spPr>
        <p:txBody>
          <a:bodyPr wrap="square" lIns="0" tIns="0" rIns="0" bIns="0" rtlCol="0" anchor="ctr"/>
          <a:lstStyle/>
          <a:p>
            <a:pPr marL="0" indent="0">
              <a:buNone/>
            </a:pPr>
            <a:r>
              <a:rPr lang="en-US" sz="1100" dirty="0">
                <a:solidFill>
                  <a:srgbClr val="82B1FF"/>
                </a:solidFill>
                <a:latin typeface="Courier New" pitchFamily="34" charset="0"/>
                <a:ea typeface="Courier New" pitchFamily="34" charset="-122"/>
                <a:cs typeface="Courier New" pitchFamily="34" charset="-120"/>
              </a:rPr>
              <a:t>administrative-gender</a:t>
            </a:r>
            <a:endParaRPr lang="en-US" sz="1100" dirty="0"/>
          </a:p>
        </p:txBody>
      </p:sp>
      <p:sp>
        <p:nvSpPr>
          <p:cNvPr id="24" name="Text 22"/>
          <p:cNvSpPr/>
          <p:nvPr/>
        </p:nvSpPr>
        <p:spPr>
          <a:xfrm>
            <a:off x="6318504" y="2340864"/>
            <a:ext cx="2569464" cy="420624"/>
          </a:xfrm>
          <a:prstGeom prst="rect">
            <a:avLst/>
          </a:prstGeom>
          <a:noFill/>
          <a:ln/>
        </p:spPr>
        <p:txBody>
          <a:bodyPr wrap="square" lIns="0" tIns="0" rIns="0" bIns="0" rtlCol="0" anchor="ctr"/>
          <a:lstStyle/>
          <a:p>
            <a:pPr marL="0" indent="0">
              <a:buNone/>
            </a:pPr>
            <a:r>
              <a:rPr lang="en-US" sz="1350" b="1" dirty="0">
                <a:solidFill>
                  <a:srgbClr val="E65100"/>
                </a:solidFill>
              </a:rPr>
              <a:t>⚠️  Wrong concept</a:t>
            </a:r>
            <a:endParaRPr lang="en-US" sz="1350" dirty="0"/>
          </a:p>
        </p:txBody>
      </p:sp>
      <p:sp>
        <p:nvSpPr>
          <p:cNvPr id="25" name="Text 23"/>
          <p:cNvSpPr/>
          <p:nvPr/>
        </p:nvSpPr>
        <p:spPr>
          <a:xfrm>
            <a:off x="6318504" y="2798064"/>
            <a:ext cx="2569464" cy="1417320"/>
          </a:xfrm>
          <a:prstGeom prst="rect">
            <a:avLst/>
          </a:prstGeom>
          <a:noFill/>
          <a:ln/>
        </p:spPr>
        <p:txBody>
          <a:bodyPr wrap="square" lIns="0" tIns="0" rIns="0" bIns="0" rtlCol="0" anchor="ctr"/>
          <a:lstStyle/>
          <a:p>
            <a:pPr marL="0" indent="0">
              <a:buNone/>
            </a:pPr>
            <a:r>
              <a:rPr lang="en-US" sz="1100" dirty="0">
                <a:solidFill>
                  <a:srgbClr val="1A2940"/>
                </a:solidFill>
              </a:rPr>
              <a:t>Also AdministrativeGender. Cannot substitute for biological sex in Roberta's analysis.</a:t>
            </a:r>
            <a:endParaRPr lang="en-US" sz="1100" dirty="0"/>
          </a:p>
        </p:txBody>
      </p:sp>
      <p:sp>
        <p:nvSpPr>
          <p:cNvPr id="26" name="Shape 24"/>
          <p:cNvSpPr/>
          <p:nvPr/>
        </p:nvSpPr>
        <p:spPr>
          <a:xfrm>
            <a:off x="0" y="4828032"/>
            <a:ext cx="9144000" cy="315468"/>
          </a:xfrm>
          <a:prstGeom prst="rect">
            <a:avLst/>
          </a:prstGeom>
          <a:solidFill>
            <a:srgbClr val="00838F">
              <a:alpha val="18000"/>
            </a:srgbClr>
          </a:solidFill>
          <a:ln w="12700">
            <a:solidFill>
              <a:srgbClr val="333333"/>
            </a:solidFill>
            <a:prstDash val="solid"/>
          </a:ln>
        </p:spPr>
      </p:sp>
      <p:sp>
        <p:nvSpPr>
          <p:cNvPr id="27" name="Text 25"/>
          <p:cNvSpPr/>
          <p:nvPr/>
        </p:nvSpPr>
        <p:spPr>
          <a:xfrm>
            <a:off x="457200" y="4837176"/>
            <a:ext cx="8229600" cy="292608"/>
          </a:xfrm>
          <a:prstGeom prst="rect">
            <a:avLst/>
          </a:prstGeom>
          <a:noFill/>
          <a:ln/>
        </p:spPr>
        <p:txBody>
          <a:bodyPr wrap="square" lIns="0" tIns="0" rIns="0" bIns="0" rtlCol="0" anchor="ctr"/>
          <a:lstStyle/>
          <a:p>
            <a:pPr marL="0" indent="0">
              <a:buNone/>
            </a:pPr>
            <a:r>
              <a:rPr lang="en-US" sz="1150" b="1" dirty="0">
                <a:solidFill>
                  <a:srgbClr val="005F6A"/>
                </a:solidFill>
              </a:rPr>
              <a:t>💡  Roberta now requests access to the CARE-SM registry — not the FHIR or openEHR systems — for biological sex data.</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5F6A"/>
          </a:solidFill>
          <a:ln w="12700">
            <a:solidFill>
              <a:srgbClr val="333333"/>
            </a:solidFill>
            <a:prstDash val="solid"/>
          </a:ln>
        </p:spPr>
      </p:sp>
      <p:sp>
        <p:nvSpPr>
          <p:cNvPr id="3" name="Text 1"/>
          <p:cNvSpPr/>
          <p:nvPr/>
        </p:nvSpPr>
        <p:spPr>
          <a:xfrm>
            <a:off x="457200" y="73152"/>
            <a:ext cx="8229600" cy="530352"/>
          </a:xfrm>
          <a:prstGeom prst="rect">
            <a:avLst/>
          </a:prstGeom>
          <a:noFill/>
          <a:ln/>
        </p:spPr>
        <p:txBody>
          <a:bodyPr wrap="square" lIns="0" tIns="0" rIns="0" bIns="0" rtlCol="0" anchor="ctr"/>
          <a:lstStyle/>
          <a:p>
            <a:pPr marL="0" indent="0">
              <a:buNone/>
            </a:pPr>
            <a:r>
              <a:rPr lang="en-US" sz="1400" b="1" dirty="0">
                <a:solidFill>
                  <a:srgbClr val="FFFFFF"/>
                </a:solidFill>
              </a:rPr>
              <a:t>Roberta  ·  Query 2</a:t>
            </a:r>
            <a:endParaRPr lang="en-US" sz="1400" dirty="0"/>
          </a:p>
        </p:txBody>
      </p:sp>
      <p:sp>
        <p:nvSpPr>
          <p:cNvPr id="4" name="Shape 2"/>
          <p:cNvSpPr/>
          <p:nvPr/>
        </p:nvSpPr>
        <p:spPr>
          <a:xfrm>
            <a:off x="320040" y="777240"/>
            <a:ext cx="4160520" cy="1965960"/>
          </a:xfrm>
          <a:prstGeom prst="rect">
            <a:avLst/>
          </a:prstGeom>
          <a:solidFill>
            <a:srgbClr val="FFFFFF"/>
          </a:solidFill>
          <a:ln w="10160">
            <a:solidFill>
              <a:srgbClr val="DDE5EF"/>
            </a:solidFill>
            <a:prstDash val="solid"/>
          </a:ln>
          <a:effectLst>
            <a:outerShdw blurRad="101600" dist="25400" dir="8100000" algn="bl" rotWithShape="0">
              <a:srgbClr val="000000">
                <a:alpha val="12000"/>
              </a:srgbClr>
            </a:outerShdw>
          </a:effectLst>
        </p:spPr>
      </p:sp>
      <p:sp>
        <p:nvSpPr>
          <p:cNvPr id="5" name="Shape 3"/>
          <p:cNvSpPr/>
          <p:nvPr/>
        </p:nvSpPr>
        <p:spPr>
          <a:xfrm>
            <a:off x="320040" y="777240"/>
            <a:ext cx="64008" cy="1965960"/>
          </a:xfrm>
          <a:prstGeom prst="rect">
            <a:avLst/>
          </a:prstGeom>
          <a:solidFill>
            <a:srgbClr val="00838F"/>
          </a:solidFill>
          <a:ln w="12700">
            <a:solidFill>
              <a:srgbClr val="333333"/>
            </a:solidFill>
            <a:prstDash val="solid"/>
          </a:ln>
        </p:spPr>
      </p:sp>
      <p:sp>
        <p:nvSpPr>
          <p:cNvPr id="6" name="Text 4"/>
          <p:cNvSpPr/>
          <p:nvPr/>
        </p:nvSpPr>
        <p:spPr>
          <a:xfrm>
            <a:off x="502920" y="868680"/>
            <a:ext cx="3794760" cy="329184"/>
          </a:xfrm>
          <a:prstGeom prst="rect">
            <a:avLst/>
          </a:prstGeom>
          <a:noFill/>
          <a:ln/>
        </p:spPr>
        <p:txBody>
          <a:bodyPr wrap="square" lIns="0" tIns="0" rIns="0" bIns="0" rtlCol="0" anchor="ctr"/>
          <a:lstStyle/>
          <a:p>
            <a:pPr marL="0" indent="0">
              <a:buNone/>
            </a:pPr>
            <a:r>
              <a:rPr lang="en-US" sz="1100" b="1" kern="0" spc="80" dirty="0">
                <a:solidFill>
                  <a:srgbClr val="00838F"/>
                </a:solidFill>
              </a:rPr>
              <a:t>The question (plain language)</a:t>
            </a:r>
            <a:endParaRPr lang="en-US" sz="1100" dirty="0"/>
          </a:p>
        </p:txBody>
      </p:sp>
      <p:sp>
        <p:nvSpPr>
          <p:cNvPr id="7" name="Text 5"/>
          <p:cNvSpPr/>
          <p:nvPr/>
        </p:nvSpPr>
        <p:spPr>
          <a:xfrm>
            <a:off x="502920" y="1225296"/>
            <a:ext cx="3794760" cy="777240"/>
          </a:xfrm>
          <a:prstGeom prst="rect">
            <a:avLst/>
          </a:prstGeom>
          <a:noFill/>
          <a:ln/>
        </p:spPr>
        <p:txBody>
          <a:bodyPr wrap="square" lIns="0" tIns="0" rIns="0" bIns="0" rtlCol="0" anchor="ctr"/>
          <a:lstStyle/>
          <a:p>
            <a:pPr marL="0" indent="0">
              <a:buNone/>
            </a:pPr>
            <a:r>
              <a:rPr lang="en-US" sz="1350" b="1" i="1" dirty="0">
                <a:solidFill>
                  <a:srgbClr val="1A2940"/>
                </a:solidFill>
              </a:rPr>
              <a:t>"Can I combine the gender-identity variable from Amsterdam UMC and Erasmus MC in one analysis?"</a:t>
            </a:r>
            <a:endParaRPr lang="en-US" sz="1350" dirty="0"/>
          </a:p>
        </p:txBody>
      </p:sp>
      <p:sp>
        <p:nvSpPr>
          <p:cNvPr id="8" name="Text 6"/>
          <p:cNvSpPr/>
          <p:nvPr/>
        </p:nvSpPr>
        <p:spPr>
          <a:xfrm>
            <a:off x="502920" y="2029968"/>
            <a:ext cx="3794760" cy="594360"/>
          </a:xfrm>
          <a:prstGeom prst="rect">
            <a:avLst/>
          </a:prstGeom>
          <a:noFill/>
          <a:ln/>
        </p:spPr>
        <p:txBody>
          <a:bodyPr wrap="square" lIns="0" tIns="0" rIns="0" bIns="0" rtlCol="0" anchor="ctr"/>
          <a:lstStyle/>
          <a:p>
            <a:pPr marL="0" indent="0">
              <a:buNone/>
            </a:pPr>
            <a:r>
              <a:rPr lang="en-US" sz="1100" dirty="0">
                <a:solidFill>
                  <a:srgbClr val="4A607A"/>
                </a:solidFill>
              </a:rPr>
              <a:t>Both hospitals record gender identity. Are the two fields semantically equivalent — so Roberta can pool the patients? Or are they subtly different?</a:t>
            </a:r>
            <a:endParaRPr lang="en-US" sz="1100" dirty="0"/>
          </a:p>
        </p:txBody>
      </p:sp>
      <p:sp>
        <p:nvSpPr>
          <p:cNvPr id="9" name="Text 7"/>
          <p:cNvSpPr/>
          <p:nvPr/>
        </p:nvSpPr>
        <p:spPr>
          <a:xfrm>
            <a:off x="4663440" y="804672"/>
            <a:ext cx="4206240" cy="301752"/>
          </a:xfrm>
          <a:prstGeom prst="rect">
            <a:avLst/>
          </a:prstGeom>
          <a:noFill/>
          <a:ln/>
        </p:spPr>
        <p:txBody>
          <a:bodyPr wrap="square" lIns="0" tIns="0" rIns="0" bIns="0" rtlCol="0" anchor="ctr"/>
          <a:lstStyle/>
          <a:p>
            <a:pPr marL="0" indent="0">
              <a:buNone/>
            </a:pPr>
            <a:r>
              <a:rPr lang="en-US" sz="1100" b="1" dirty="0">
                <a:solidFill>
                  <a:srgbClr val="4A607A"/>
                </a:solidFill>
              </a:rPr>
              <a:t>In SPARQL  (Scenario 5)</a:t>
            </a:r>
            <a:endParaRPr lang="en-US" sz="1100" dirty="0"/>
          </a:p>
        </p:txBody>
      </p:sp>
      <p:sp>
        <p:nvSpPr>
          <p:cNvPr id="10" name="Shape 8"/>
          <p:cNvSpPr/>
          <p:nvPr/>
        </p:nvSpPr>
        <p:spPr>
          <a:xfrm>
            <a:off x="4663440" y="1143000"/>
            <a:ext cx="4206240" cy="1627632"/>
          </a:xfrm>
          <a:prstGeom prst="rect">
            <a:avLst/>
          </a:prstGeom>
          <a:solidFill>
            <a:srgbClr val="1A2535"/>
          </a:solidFill>
          <a:ln w="12700">
            <a:solidFill>
              <a:srgbClr val="333333"/>
            </a:solidFill>
            <a:prstDash val="solid"/>
          </a:ln>
        </p:spPr>
      </p:sp>
      <p:sp>
        <p:nvSpPr>
          <p:cNvPr id="11" name="Text 9"/>
          <p:cNvSpPr/>
          <p:nvPr/>
        </p:nvSpPr>
        <p:spPr>
          <a:xfrm>
            <a:off x="4828032" y="1252728"/>
            <a:ext cx="3877056" cy="1408176"/>
          </a:xfrm>
          <a:prstGeom prst="rect">
            <a:avLst/>
          </a:prstGeom>
          <a:noFill/>
          <a:ln/>
        </p:spPr>
        <p:txBody>
          <a:bodyPr wrap="square" lIns="0" tIns="0" rIns="0" bIns="0" rtlCol="0" anchor="t"/>
          <a:lstStyle/>
          <a:p>
            <a:pPr marL="0" indent="0">
              <a:buNone/>
            </a:pPr>
            <a:r>
              <a:rPr lang="en-US" sz="950" dirty="0">
                <a:solidFill>
                  <a:srgbClr val="C8D8F0"/>
                </a:solidFill>
                <a:latin typeface="Courier New" pitchFamily="34" charset="0"/>
                <a:ea typeface="Courier New" pitchFamily="34" charset="-122"/>
                <a:cs typeface="Courier New" pitchFamily="34" charset="-120"/>
              </a:rPr>
              <a:t>SELECT ?relation ?targetConcept</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WHERE {</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  hri-fhir-r5:gender-identity</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    ?relation ?targetConcept .</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  FILTER(?relation IN (</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    hriv:aligns,</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    hriv:mayAlign,</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    hriv:cannotAlign,</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    hriv:partiallyAligns</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  ))</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a:t>
            </a:r>
            <a:endParaRPr lang="en-US" sz="950" dirty="0"/>
          </a:p>
        </p:txBody>
      </p:sp>
      <p:sp>
        <p:nvSpPr>
          <p:cNvPr id="12" name="Text 10"/>
          <p:cNvSpPr/>
          <p:nvPr/>
        </p:nvSpPr>
        <p:spPr>
          <a:xfrm>
            <a:off x="320040" y="2834640"/>
            <a:ext cx="1920240" cy="256032"/>
          </a:xfrm>
          <a:prstGeom prst="rect">
            <a:avLst/>
          </a:prstGeom>
          <a:noFill/>
          <a:ln/>
        </p:spPr>
        <p:txBody>
          <a:bodyPr wrap="square" lIns="0" tIns="0" rIns="0" bIns="0" rtlCol="0" anchor="ctr"/>
          <a:lstStyle/>
          <a:p>
            <a:pPr marL="0" indent="0">
              <a:buNone/>
            </a:pPr>
            <a:r>
              <a:rPr lang="en-US" sz="1000" dirty="0">
                <a:solidFill>
                  <a:srgbClr val="4A607A"/>
                </a:solidFill>
              </a:rPr>
              <a:t>Standards in scope:</a:t>
            </a:r>
            <a:endParaRPr lang="en-US" sz="1000" dirty="0"/>
          </a:p>
        </p:txBody>
      </p:sp>
      <p:sp>
        <p:nvSpPr>
          <p:cNvPr id="13" name="Shape 11"/>
          <p:cNvSpPr/>
          <p:nvPr/>
        </p:nvSpPr>
        <p:spPr>
          <a:xfrm>
            <a:off x="2331720" y="2807208"/>
            <a:ext cx="1325880" cy="274320"/>
          </a:xfrm>
          <a:prstGeom prst="rect">
            <a:avLst/>
          </a:prstGeom>
          <a:solidFill>
            <a:srgbClr val="1976D2"/>
          </a:solidFill>
          <a:ln w="12700">
            <a:solidFill>
              <a:srgbClr val="333333"/>
            </a:solidFill>
            <a:prstDash val="solid"/>
          </a:ln>
        </p:spPr>
      </p:sp>
      <p:sp>
        <p:nvSpPr>
          <p:cNvPr id="14" name="Text 12"/>
          <p:cNvSpPr/>
          <p:nvPr/>
        </p:nvSpPr>
        <p:spPr>
          <a:xfrm>
            <a:off x="2404872" y="2843784"/>
            <a:ext cx="1179576" cy="201168"/>
          </a:xfrm>
          <a:prstGeom prst="rect">
            <a:avLst/>
          </a:prstGeom>
          <a:noFill/>
          <a:ln/>
        </p:spPr>
        <p:txBody>
          <a:bodyPr wrap="square" lIns="0" tIns="0" rIns="0" bIns="0" rtlCol="0" anchor="ctr"/>
          <a:lstStyle/>
          <a:p>
            <a:pPr marL="0" indent="0">
              <a:buNone/>
            </a:pPr>
            <a:r>
              <a:rPr lang="en-US" sz="950" b="1" dirty="0">
                <a:solidFill>
                  <a:srgbClr val="FFFFFF"/>
                </a:solidFill>
              </a:rPr>
              <a:t>FHIR R5</a:t>
            </a:r>
            <a:endParaRPr lang="en-US" sz="950" dirty="0"/>
          </a:p>
        </p:txBody>
      </p:sp>
      <p:sp>
        <p:nvSpPr>
          <p:cNvPr id="15" name="Shape 13"/>
          <p:cNvSpPr/>
          <p:nvPr/>
        </p:nvSpPr>
        <p:spPr>
          <a:xfrm>
            <a:off x="3730752" y="2807208"/>
            <a:ext cx="1325880" cy="274320"/>
          </a:xfrm>
          <a:prstGeom prst="rect">
            <a:avLst/>
          </a:prstGeom>
          <a:solidFill>
            <a:srgbClr val="2E7D32"/>
          </a:solidFill>
          <a:ln w="12700">
            <a:solidFill>
              <a:srgbClr val="333333"/>
            </a:solidFill>
            <a:prstDash val="solid"/>
          </a:ln>
        </p:spPr>
      </p:sp>
      <p:sp>
        <p:nvSpPr>
          <p:cNvPr id="16" name="Text 14"/>
          <p:cNvSpPr/>
          <p:nvPr/>
        </p:nvSpPr>
        <p:spPr>
          <a:xfrm>
            <a:off x="3803904" y="2843784"/>
            <a:ext cx="1179576" cy="201168"/>
          </a:xfrm>
          <a:prstGeom prst="rect">
            <a:avLst/>
          </a:prstGeom>
          <a:noFill/>
          <a:ln/>
        </p:spPr>
        <p:txBody>
          <a:bodyPr wrap="square" lIns="0" tIns="0" rIns="0" bIns="0" rtlCol="0" anchor="ctr"/>
          <a:lstStyle/>
          <a:p>
            <a:pPr marL="0" indent="0">
              <a:buNone/>
            </a:pPr>
            <a:r>
              <a:rPr lang="en-US" sz="950" b="1" dirty="0">
                <a:solidFill>
                  <a:srgbClr val="FFFFFF"/>
                </a:solidFill>
              </a:rPr>
              <a:t>openEHR</a:t>
            </a:r>
            <a:endParaRPr lang="en-US" sz="950" dirty="0"/>
          </a:p>
        </p:txBody>
      </p:sp>
      <p:sp>
        <p:nvSpPr>
          <p:cNvPr id="17" name="Shape 15"/>
          <p:cNvSpPr/>
          <p:nvPr/>
        </p:nvSpPr>
        <p:spPr>
          <a:xfrm>
            <a:off x="5129784" y="2807208"/>
            <a:ext cx="1325880" cy="274320"/>
          </a:xfrm>
          <a:prstGeom prst="rect">
            <a:avLst/>
          </a:prstGeom>
          <a:solidFill>
            <a:srgbClr val="E65100"/>
          </a:solidFill>
          <a:ln w="12700">
            <a:solidFill>
              <a:srgbClr val="333333"/>
            </a:solidFill>
            <a:prstDash val="solid"/>
          </a:ln>
        </p:spPr>
      </p:sp>
      <p:sp>
        <p:nvSpPr>
          <p:cNvPr id="18" name="Text 16"/>
          <p:cNvSpPr/>
          <p:nvPr/>
        </p:nvSpPr>
        <p:spPr>
          <a:xfrm>
            <a:off x="5202936" y="2843784"/>
            <a:ext cx="1179576" cy="201168"/>
          </a:xfrm>
          <a:prstGeom prst="rect">
            <a:avLst/>
          </a:prstGeom>
          <a:noFill/>
          <a:ln/>
        </p:spPr>
        <p:txBody>
          <a:bodyPr wrap="square" lIns="0" tIns="0" rIns="0" bIns="0" rtlCol="0" anchor="ctr"/>
          <a:lstStyle/>
          <a:p>
            <a:pPr marL="0" indent="0">
              <a:buNone/>
            </a:pPr>
            <a:r>
              <a:rPr lang="en-US" sz="950" b="1" dirty="0">
                <a:solidFill>
                  <a:srgbClr val="FFFFFF"/>
                </a:solidFill>
              </a:rPr>
              <a:t>CARE-SM</a:t>
            </a:r>
            <a:endParaRPr lang="en-US" sz="950" dirty="0"/>
          </a:p>
        </p:txBody>
      </p:sp>
      <p:sp>
        <p:nvSpPr>
          <p:cNvPr id="19" name="Shape 17"/>
          <p:cNvSpPr/>
          <p:nvPr/>
        </p:nvSpPr>
        <p:spPr>
          <a:xfrm>
            <a:off x="320040" y="3182112"/>
            <a:ext cx="8503920" cy="1847088"/>
          </a:xfrm>
          <a:prstGeom prst="rect">
            <a:avLst/>
          </a:prstGeom>
          <a:solidFill>
            <a:srgbClr val="FFFFFF"/>
          </a:solidFill>
          <a:ln w="10160">
            <a:solidFill>
              <a:srgbClr val="DDE5EF"/>
            </a:solidFill>
            <a:prstDash val="solid"/>
          </a:ln>
          <a:effectLst>
            <a:outerShdw blurRad="101600" dist="25400" dir="8100000" algn="bl" rotWithShape="0">
              <a:srgbClr val="000000">
                <a:alpha val="12000"/>
              </a:srgbClr>
            </a:outerShdw>
          </a:effectLst>
        </p:spPr>
      </p:sp>
      <p:sp>
        <p:nvSpPr>
          <p:cNvPr id="20" name="Shape 18"/>
          <p:cNvSpPr/>
          <p:nvPr/>
        </p:nvSpPr>
        <p:spPr>
          <a:xfrm>
            <a:off x="320040" y="3182112"/>
            <a:ext cx="64008" cy="1847088"/>
          </a:xfrm>
          <a:prstGeom prst="rect">
            <a:avLst/>
          </a:prstGeom>
          <a:solidFill>
            <a:srgbClr val="00838F"/>
          </a:solidFill>
          <a:ln w="12700">
            <a:solidFill>
              <a:srgbClr val="333333"/>
            </a:solidFill>
            <a:prstDash val="solid"/>
          </a:ln>
        </p:spPr>
      </p:sp>
      <p:sp>
        <p:nvSpPr>
          <p:cNvPr id="21" name="Text 19"/>
          <p:cNvSpPr/>
          <p:nvPr/>
        </p:nvSpPr>
        <p:spPr>
          <a:xfrm>
            <a:off x="502920" y="3273552"/>
            <a:ext cx="8046720" cy="310896"/>
          </a:xfrm>
          <a:prstGeom prst="rect">
            <a:avLst/>
          </a:prstGeom>
          <a:noFill/>
          <a:ln/>
        </p:spPr>
        <p:txBody>
          <a:bodyPr wrap="square" lIns="0" tIns="0" rIns="0" bIns="0" rtlCol="0" anchor="ctr"/>
          <a:lstStyle/>
          <a:p>
            <a:pPr marL="0" indent="0">
              <a:buNone/>
            </a:pPr>
            <a:r>
              <a:rPr lang="en-US" sz="1100" b="1" dirty="0">
                <a:solidFill>
                  <a:srgbClr val="4A607A"/>
                </a:solidFill>
              </a:rPr>
              <a:t>Result  (abbreviated RDF)</a:t>
            </a:r>
            <a:endParaRPr lang="en-US" sz="1100" dirty="0"/>
          </a:p>
        </p:txBody>
      </p:sp>
      <p:sp>
        <p:nvSpPr>
          <p:cNvPr id="22" name="Shape 20"/>
          <p:cNvSpPr/>
          <p:nvPr/>
        </p:nvSpPr>
        <p:spPr>
          <a:xfrm>
            <a:off x="457200" y="3621024"/>
            <a:ext cx="8229600" cy="1325880"/>
          </a:xfrm>
          <a:prstGeom prst="rect">
            <a:avLst/>
          </a:prstGeom>
          <a:solidFill>
            <a:srgbClr val="1A2535"/>
          </a:solidFill>
          <a:ln w="12700">
            <a:solidFill>
              <a:srgbClr val="333333"/>
            </a:solidFill>
            <a:prstDash val="solid"/>
          </a:ln>
        </p:spPr>
      </p:sp>
      <p:sp>
        <p:nvSpPr>
          <p:cNvPr id="23" name="Text 21"/>
          <p:cNvSpPr/>
          <p:nvPr/>
        </p:nvSpPr>
        <p:spPr>
          <a:xfrm>
            <a:off x="621792" y="3730752"/>
            <a:ext cx="7900416" cy="1106424"/>
          </a:xfrm>
          <a:prstGeom prst="rect">
            <a:avLst/>
          </a:prstGeom>
          <a:noFill/>
          <a:ln/>
        </p:spPr>
        <p:txBody>
          <a:bodyPr wrap="square" lIns="0" tIns="0" rIns="0" bIns="0" rtlCol="0" anchor="t"/>
          <a:lstStyle/>
          <a:p>
            <a:pPr marL="0" indent="0">
              <a:buNone/>
            </a:pPr>
            <a:r>
              <a:rPr lang="en-US" sz="950" dirty="0">
                <a:solidFill>
                  <a:srgbClr val="C8D8F0"/>
                </a:solidFill>
                <a:latin typeface="Courier New" pitchFamily="34" charset="0"/>
                <a:ea typeface="Courier New" pitchFamily="34" charset="-122"/>
                <a:cs typeface="Courier New" pitchFamily="34" charset="-120"/>
              </a:rPr>
              <a:t>hri-fhir-r5:gender-identity  hriv:aligns    hri-openehr:gender-identity  ← ✅  Exact alignment</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hri-fhir-r5:gender-identity  hriv:mayAlign  care-sm:sio:Gender           ← ⚠️  Partial — needs review</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5F6A"/>
          </a:solidFill>
          <a:ln w="12700">
            <a:solidFill>
              <a:srgbClr val="333333"/>
            </a:solidFill>
            <a:prstDash val="solid"/>
          </a:ln>
        </p:spPr>
      </p:sp>
      <p:sp>
        <p:nvSpPr>
          <p:cNvPr id="3" name="Text 1"/>
          <p:cNvSpPr/>
          <p:nvPr/>
        </p:nvSpPr>
        <p:spPr>
          <a:xfrm>
            <a:off x="457200" y="73152"/>
            <a:ext cx="8229600" cy="530352"/>
          </a:xfrm>
          <a:prstGeom prst="rect">
            <a:avLst/>
          </a:prstGeom>
          <a:noFill/>
          <a:ln/>
        </p:spPr>
        <p:txBody>
          <a:bodyPr wrap="square" lIns="0" tIns="0" rIns="0" bIns="0" rtlCol="0" anchor="ctr"/>
          <a:lstStyle/>
          <a:p>
            <a:pPr marL="0" indent="0">
              <a:buNone/>
            </a:pPr>
            <a:r>
              <a:rPr lang="en-US" sz="1400" b="1" dirty="0">
                <a:solidFill>
                  <a:srgbClr val="FFFFFF"/>
                </a:solidFill>
              </a:rPr>
              <a:t>Roberta  ·  Query 2 Answer</a:t>
            </a:r>
            <a:endParaRPr lang="en-US" sz="1400" dirty="0"/>
          </a:p>
        </p:txBody>
      </p:sp>
      <p:sp>
        <p:nvSpPr>
          <p:cNvPr id="4" name="Text 2"/>
          <p:cNvSpPr/>
          <p:nvPr/>
        </p:nvSpPr>
        <p:spPr>
          <a:xfrm>
            <a:off x="457200" y="777240"/>
            <a:ext cx="8229600" cy="402336"/>
          </a:xfrm>
          <a:prstGeom prst="rect">
            <a:avLst/>
          </a:prstGeom>
          <a:noFill/>
          <a:ln/>
        </p:spPr>
        <p:txBody>
          <a:bodyPr wrap="square" lIns="0" tIns="0" rIns="0" bIns="0" rtlCol="0" anchor="ctr"/>
          <a:lstStyle/>
          <a:p>
            <a:pPr marL="0" indent="0">
              <a:buNone/>
            </a:pPr>
            <a:r>
              <a:rPr lang="en-US" sz="1600" b="1" dirty="0">
                <a:solidFill>
                  <a:srgbClr val="1A2940"/>
                </a:solidFill>
              </a:rPr>
              <a:t>What this means for Roberta:</a:t>
            </a:r>
            <a:endParaRPr lang="en-US" sz="1600" dirty="0"/>
          </a:p>
        </p:txBody>
      </p:sp>
      <p:sp>
        <p:nvSpPr>
          <p:cNvPr id="5" name="Shape 3"/>
          <p:cNvSpPr/>
          <p:nvPr/>
        </p:nvSpPr>
        <p:spPr>
          <a:xfrm>
            <a:off x="320040" y="1325880"/>
            <a:ext cx="5394960" cy="1691640"/>
          </a:xfrm>
          <a:prstGeom prst="rect">
            <a:avLst/>
          </a:prstGeom>
          <a:solidFill>
            <a:srgbClr val="E8F5E9"/>
          </a:solidFill>
          <a:ln w="19050">
            <a:solidFill>
              <a:srgbClr val="2E7D32"/>
            </a:solidFill>
            <a:prstDash val="solid"/>
          </a:ln>
        </p:spPr>
      </p:sp>
      <p:sp>
        <p:nvSpPr>
          <p:cNvPr id="6" name="Shape 4"/>
          <p:cNvSpPr/>
          <p:nvPr/>
        </p:nvSpPr>
        <p:spPr>
          <a:xfrm>
            <a:off x="320040" y="1325880"/>
            <a:ext cx="64008" cy="1691640"/>
          </a:xfrm>
          <a:prstGeom prst="rect">
            <a:avLst/>
          </a:prstGeom>
          <a:solidFill>
            <a:srgbClr val="2E7D32"/>
          </a:solidFill>
          <a:ln w="12700">
            <a:solidFill>
              <a:srgbClr val="333333"/>
            </a:solidFill>
            <a:prstDash val="solid"/>
          </a:ln>
        </p:spPr>
      </p:sp>
      <p:sp>
        <p:nvSpPr>
          <p:cNvPr id="7" name="Text 5"/>
          <p:cNvSpPr/>
          <p:nvPr/>
        </p:nvSpPr>
        <p:spPr>
          <a:xfrm>
            <a:off x="502920" y="1417320"/>
            <a:ext cx="5029200" cy="411480"/>
          </a:xfrm>
          <a:prstGeom prst="rect">
            <a:avLst/>
          </a:prstGeom>
          <a:noFill/>
          <a:ln/>
        </p:spPr>
        <p:txBody>
          <a:bodyPr wrap="square" lIns="0" tIns="0" rIns="0" bIns="0" rtlCol="0" anchor="ctr"/>
          <a:lstStyle/>
          <a:p>
            <a:pPr marL="0" indent="0">
              <a:buNone/>
            </a:pPr>
            <a:r>
              <a:rPr lang="en-US" sz="1400" b="1" dirty="0">
                <a:solidFill>
                  <a:srgbClr val="2E7D32"/>
                </a:solidFill>
              </a:rPr>
              <a:t>✅  FHIR  ↔  openEHR: safe to combine</a:t>
            </a:r>
            <a:endParaRPr lang="en-US" sz="1400" dirty="0"/>
          </a:p>
        </p:txBody>
      </p:sp>
      <p:sp>
        <p:nvSpPr>
          <p:cNvPr id="8" name="Text 6"/>
          <p:cNvSpPr/>
          <p:nvPr/>
        </p:nvSpPr>
        <p:spPr>
          <a:xfrm>
            <a:off x="502920" y="1865376"/>
            <a:ext cx="5029200" cy="1042416"/>
          </a:xfrm>
          <a:prstGeom prst="rect">
            <a:avLst/>
          </a:prstGeom>
          <a:noFill/>
          <a:ln/>
        </p:spPr>
        <p:txBody>
          <a:bodyPr wrap="square" lIns="0" tIns="0" rIns="0" bIns="0" rtlCol="0" anchor="ctr"/>
          <a:lstStyle/>
          <a:p>
            <a:pPr marL="0" indent="0">
              <a:buNone/>
            </a:pPr>
            <a:r>
              <a:rPr lang="en-US" sz="1200" dirty="0">
                <a:solidFill>
                  <a:srgbClr val="1A2940"/>
                </a:solidFill>
              </a:rPr>
              <a:t>Both map to hrio:SelfIdentifiedGender and have an explicit aligns relation. Roberta can pool patients from Amsterdam UMC and Erasmus MC for this variable without any semantic risk.</a:t>
            </a:r>
            <a:endParaRPr lang="en-US" sz="1200" dirty="0"/>
          </a:p>
        </p:txBody>
      </p:sp>
      <p:sp>
        <p:nvSpPr>
          <p:cNvPr id="9" name="Shape 7"/>
          <p:cNvSpPr/>
          <p:nvPr/>
        </p:nvSpPr>
        <p:spPr>
          <a:xfrm>
            <a:off x="5897880" y="1325880"/>
            <a:ext cx="2926080" cy="1691640"/>
          </a:xfrm>
          <a:prstGeom prst="rect">
            <a:avLst/>
          </a:prstGeom>
          <a:solidFill>
            <a:srgbClr val="FFF3E0"/>
          </a:solidFill>
          <a:ln w="19050">
            <a:solidFill>
              <a:srgbClr val="E65100"/>
            </a:solidFill>
            <a:prstDash val="solid"/>
          </a:ln>
        </p:spPr>
      </p:sp>
      <p:sp>
        <p:nvSpPr>
          <p:cNvPr id="10" name="Shape 8"/>
          <p:cNvSpPr/>
          <p:nvPr/>
        </p:nvSpPr>
        <p:spPr>
          <a:xfrm>
            <a:off x="5897880" y="1325880"/>
            <a:ext cx="64008" cy="1691640"/>
          </a:xfrm>
          <a:prstGeom prst="rect">
            <a:avLst/>
          </a:prstGeom>
          <a:solidFill>
            <a:srgbClr val="E65100"/>
          </a:solidFill>
          <a:ln w="12700">
            <a:solidFill>
              <a:srgbClr val="333333"/>
            </a:solidFill>
            <a:prstDash val="solid"/>
          </a:ln>
        </p:spPr>
      </p:sp>
      <p:sp>
        <p:nvSpPr>
          <p:cNvPr id="11" name="Text 9"/>
          <p:cNvSpPr/>
          <p:nvPr/>
        </p:nvSpPr>
        <p:spPr>
          <a:xfrm>
            <a:off x="6080760" y="1417320"/>
            <a:ext cx="2560320" cy="411480"/>
          </a:xfrm>
          <a:prstGeom prst="rect">
            <a:avLst/>
          </a:prstGeom>
          <a:noFill/>
          <a:ln/>
        </p:spPr>
        <p:txBody>
          <a:bodyPr wrap="square" lIns="0" tIns="0" rIns="0" bIns="0" rtlCol="0" anchor="ctr"/>
          <a:lstStyle/>
          <a:p>
            <a:pPr marL="0" indent="0">
              <a:buNone/>
            </a:pPr>
            <a:r>
              <a:rPr lang="en-US" sz="1300" b="1" dirty="0">
                <a:solidFill>
                  <a:srgbClr val="E65100"/>
                </a:solidFill>
              </a:rPr>
              <a:t>⚠️  CARE-SM: not yet</a:t>
            </a:r>
            <a:endParaRPr lang="en-US" sz="1300" dirty="0"/>
          </a:p>
        </p:txBody>
      </p:sp>
      <p:sp>
        <p:nvSpPr>
          <p:cNvPr id="12" name="Text 10"/>
          <p:cNvSpPr/>
          <p:nvPr/>
        </p:nvSpPr>
        <p:spPr>
          <a:xfrm>
            <a:off x="6080760" y="1865376"/>
            <a:ext cx="2560320" cy="1042416"/>
          </a:xfrm>
          <a:prstGeom prst="rect">
            <a:avLst/>
          </a:prstGeom>
          <a:noFill/>
          <a:ln/>
        </p:spPr>
        <p:txBody>
          <a:bodyPr wrap="square" lIns="0" tIns="0" rIns="0" bIns="0" rtlCol="0" anchor="ctr"/>
          <a:lstStyle/>
          <a:p>
            <a:pPr marL="0" indent="0">
              <a:buNone/>
            </a:pPr>
            <a:r>
              <a:rPr lang="en-US" sz="1100" dirty="0">
                <a:solidFill>
                  <a:srgbClr val="1A2940"/>
                </a:solidFill>
              </a:rPr>
              <a:t>care-sm:sio:Gender has a mayAlign relation — there is overlap but no confirmed exact match. Roberta excludes the registry from this variable pending further review.</a:t>
            </a:r>
            <a:endParaRPr lang="en-US" sz="1100" dirty="0"/>
          </a:p>
        </p:txBody>
      </p:sp>
      <p:sp>
        <p:nvSpPr>
          <p:cNvPr id="13" name="Shape 11"/>
          <p:cNvSpPr/>
          <p:nvPr/>
        </p:nvSpPr>
        <p:spPr>
          <a:xfrm>
            <a:off x="320040" y="3154680"/>
            <a:ext cx="8503920" cy="1536192"/>
          </a:xfrm>
          <a:prstGeom prst="rect">
            <a:avLst/>
          </a:prstGeom>
          <a:solidFill>
            <a:srgbClr val="FFFFFF"/>
          </a:solidFill>
          <a:ln w="10160">
            <a:solidFill>
              <a:srgbClr val="DDE5EF"/>
            </a:solidFill>
            <a:prstDash val="solid"/>
          </a:ln>
          <a:effectLst>
            <a:outerShdw blurRad="101600" dist="25400" dir="8100000" algn="bl" rotWithShape="0">
              <a:srgbClr val="000000">
                <a:alpha val="12000"/>
              </a:srgbClr>
            </a:outerShdw>
          </a:effectLst>
        </p:spPr>
      </p:sp>
      <p:sp>
        <p:nvSpPr>
          <p:cNvPr id="14" name="Shape 12"/>
          <p:cNvSpPr/>
          <p:nvPr/>
        </p:nvSpPr>
        <p:spPr>
          <a:xfrm>
            <a:off x="320040" y="3154680"/>
            <a:ext cx="64008" cy="1536192"/>
          </a:xfrm>
          <a:prstGeom prst="rect">
            <a:avLst/>
          </a:prstGeom>
          <a:solidFill>
            <a:srgbClr val="00838F"/>
          </a:solidFill>
          <a:ln w="12700">
            <a:solidFill>
              <a:srgbClr val="333333"/>
            </a:solidFill>
            <a:prstDash val="solid"/>
          </a:ln>
        </p:spPr>
      </p:sp>
      <p:sp>
        <p:nvSpPr>
          <p:cNvPr id="15" name="Text 13"/>
          <p:cNvSpPr/>
          <p:nvPr/>
        </p:nvSpPr>
        <p:spPr>
          <a:xfrm>
            <a:off x="502920" y="3246120"/>
            <a:ext cx="8046720" cy="347472"/>
          </a:xfrm>
          <a:prstGeom prst="rect">
            <a:avLst/>
          </a:prstGeom>
          <a:noFill/>
          <a:ln/>
        </p:spPr>
        <p:txBody>
          <a:bodyPr wrap="square" lIns="0" tIns="0" rIns="0" bIns="0" rtlCol="0" anchor="ctr"/>
          <a:lstStyle/>
          <a:p>
            <a:pPr marL="0" indent="0">
              <a:buNone/>
            </a:pPr>
            <a:r>
              <a:rPr lang="en-US" sz="1200" b="1" dirty="0">
                <a:solidFill>
                  <a:srgbClr val="005F6A"/>
                </a:solidFill>
              </a:rPr>
              <a:t>Roberta's analysis plan — confirmed:</a:t>
            </a:r>
            <a:endParaRPr lang="en-US" sz="1200" dirty="0"/>
          </a:p>
        </p:txBody>
      </p:sp>
      <p:sp>
        <p:nvSpPr>
          <p:cNvPr id="16" name="Text 14"/>
          <p:cNvSpPr/>
          <p:nvPr/>
        </p:nvSpPr>
        <p:spPr>
          <a:xfrm>
            <a:off x="502920" y="3657600"/>
            <a:ext cx="8046720" cy="301752"/>
          </a:xfrm>
          <a:prstGeom prst="rect">
            <a:avLst/>
          </a:prstGeom>
          <a:noFill/>
          <a:ln/>
        </p:spPr>
        <p:txBody>
          <a:bodyPr wrap="square" lIns="0" tIns="0" rIns="0" bIns="0" rtlCol="0" anchor="ctr"/>
          <a:lstStyle/>
          <a:p>
            <a:pPr marL="0" indent="0">
              <a:buNone/>
            </a:pPr>
            <a:r>
              <a:rPr lang="en-US" sz="1200" dirty="0">
                <a:solidFill>
                  <a:srgbClr val="1A2940"/>
                </a:solidFill>
              </a:rPr>
              <a:t>✓  Biological sex data  →  request from CARE-SM registry only</a:t>
            </a:r>
            <a:endParaRPr lang="en-US" sz="1200" dirty="0"/>
          </a:p>
        </p:txBody>
      </p:sp>
      <p:sp>
        <p:nvSpPr>
          <p:cNvPr id="17" name="Text 15"/>
          <p:cNvSpPr/>
          <p:nvPr/>
        </p:nvSpPr>
        <p:spPr>
          <a:xfrm>
            <a:off x="502920" y="3977640"/>
            <a:ext cx="8046720" cy="301752"/>
          </a:xfrm>
          <a:prstGeom prst="rect">
            <a:avLst/>
          </a:prstGeom>
          <a:noFill/>
          <a:ln/>
        </p:spPr>
        <p:txBody>
          <a:bodyPr wrap="square" lIns="0" tIns="0" rIns="0" bIns="0" rtlCol="0" anchor="ctr"/>
          <a:lstStyle/>
          <a:p>
            <a:pPr marL="0" indent="0">
              <a:buNone/>
            </a:pPr>
            <a:r>
              <a:rPr lang="en-US" sz="1200" dirty="0">
                <a:solidFill>
                  <a:srgbClr val="1A2940"/>
                </a:solidFill>
              </a:rPr>
              <a:t>✓  Gender identity data  →  request from FHIR (Amsterdam) + openEHR (Erasmus): safe to pool</a:t>
            </a:r>
            <a:endParaRPr lang="en-US" sz="1200" dirty="0"/>
          </a:p>
        </p:txBody>
      </p:sp>
      <p:sp>
        <p:nvSpPr>
          <p:cNvPr id="18" name="Text 16"/>
          <p:cNvSpPr/>
          <p:nvPr/>
        </p:nvSpPr>
        <p:spPr>
          <a:xfrm>
            <a:off x="502920" y="4297680"/>
            <a:ext cx="8046720" cy="301752"/>
          </a:xfrm>
          <a:prstGeom prst="rect">
            <a:avLst/>
          </a:prstGeom>
          <a:noFill/>
          <a:ln/>
        </p:spPr>
        <p:txBody>
          <a:bodyPr wrap="square" lIns="0" tIns="0" rIns="0" bIns="0" rtlCol="0" anchor="ctr"/>
          <a:lstStyle/>
          <a:p>
            <a:pPr marL="0" indent="0">
              <a:buNone/>
            </a:pPr>
            <a:r>
              <a:rPr lang="en-US" sz="1200" dirty="0">
                <a:solidFill>
                  <a:srgbClr val="1A2940"/>
                </a:solidFill>
              </a:rPr>
              <a:t>✓  CARE-SM gender identity  →  exclude pending semantic clarification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8E0000"/>
        </a:solidFill>
        <a:effectLst/>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FFFFFF">
              <a:alpha val="25000"/>
            </a:srgbClr>
          </a:solidFill>
          <a:ln w="12700">
            <a:solidFill>
              <a:srgbClr val="333333"/>
            </a:solidFill>
            <a:prstDash val="solid"/>
          </a:ln>
        </p:spPr>
      </p:sp>
      <p:sp>
        <p:nvSpPr>
          <p:cNvPr id="3" name="Shape 1"/>
          <p:cNvSpPr/>
          <p:nvPr/>
        </p:nvSpPr>
        <p:spPr>
          <a:xfrm>
            <a:off x="914400" y="1005840"/>
            <a:ext cx="1828800" cy="1828800"/>
          </a:xfrm>
          <a:prstGeom prst="ellipse">
            <a:avLst/>
          </a:prstGeom>
          <a:solidFill>
            <a:srgbClr val="FFFFFF">
              <a:alpha val="18000"/>
            </a:srgbClr>
          </a:solidFill>
          <a:ln w="25400">
            <a:solidFill>
              <a:srgbClr val="FFFFFF">
                <a:alpha val="45000"/>
              </a:srgbClr>
            </a:solidFill>
            <a:prstDash val="solid"/>
          </a:ln>
        </p:spPr>
      </p:sp>
      <p:sp>
        <p:nvSpPr>
          <p:cNvPr id="4" name="Text 2"/>
          <p:cNvSpPr/>
          <p:nvPr/>
        </p:nvSpPr>
        <p:spPr>
          <a:xfrm>
            <a:off x="914400" y="1005840"/>
            <a:ext cx="1828800" cy="1828800"/>
          </a:xfrm>
          <a:prstGeom prst="rect">
            <a:avLst/>
          </a:prstGeom>
          <a:noFill/>
          <a:ln/>
        </p:spPr>
        <p:txBody>
          <a:bodyPr wrap="square" lIns="0" tIns="0" rIns="0" bIns="0" rtlCol="0" anchor="ctr"/>
          <a:lstStyle/>
          <a:p>
            <a:pPr marL="0" indent="0" algn="ctr">
              <a:buNone/>
            </a:pPr>
            <a:r>
              <a:rPr lang="en-US" sz="5800" b="1" dirty="0">
                <a:solidFill>
                  <a:srgbClr val="FFFFFF"/>
                </a:solidFill>
              </a:rPr>
              <a:t>CI</a:t>
            </a:r>
            <a:endParaRPr lang="en-US" sz="5800" dirty="0"/>
          </a:p>
        </p:txBody>
      </p:sp>
      <p:sp>
        <p:nvSpPr>
          <p:cNvPr id="5" name="Text 3"/>
          <p:cNvSpPr/>
          <p:nvPr/>
        </p:nvSpPr>
        <p:spPr>
          <a:xfrm>
            <a:off x="3108960" y="1188720"/>
            <a:ext cx="5760720" cy="777240"/>
          </a:xfrm>
          <a:prstGeom prst="rect">
            <a:avLst/>
          </a:prstGeom>
          <a:noFill/>
          <a:ln/>
        </p:spPr>
        <p:txBody>
          <a:bodyPr wrap="square" lIns="0" tIns="0" rIns="0" bIns="0" rtlCol="0" anchor="ctr"/>
          <a:lstStyle/>
          <a:p>
            <a:pPr marL="0" indent="0">
              <a:buNone/>
            </a:pPr>
            <a:r>
              <a:rPr lang="en-US" sz="3800" b="1" dirty="0">
                <a:solidFill>
                  <a:srgbClr val="FFFFFF"/>
                </a:solidFill>
              </a:rPr>
              <a:t>The Clinical Informatician</a:t>
            </a:r>
            <a:endParaRPr lang="en-US" sz="3800" dirty="0"/>
          </a:p>
        </p:txBody>
      </p:sp>
      <p:sp>
        <p:nvSpPr>
          <p:cNvPr id="6" name="Text 4"/>
          <p:cNvSpPr/>
          <p:nvPr/>
        </p:nvSpPr>
        <p:spPr>
          <a:xfrm>
            <a:off x="3108960" y="2057400"/>
            <a:ext cx="5760720" cy="502920"/>
          </a:xfrm>
          <a:prstGeom prst="rect">
            <a:avLst/>
          </a:prstGeom>
          <a:noFill/>
          <a:ln/>
        </p:spPr>
        <p:txBody>
          <a:bodyPr wrap="square" lIns="0" tIns="0" rIns="0" bIns="0" rtlCol="0" anchor="ctr"/>
          <a:lstStyle/>
          <a:p>
            <a:pPr marL="0" indent="0">
              <a:buNone/>
            </a:pPr>
            <a:r>
              <a:rPr lang="en-US" sz="1700" i="1" dirty="0">
                <a:solidFill>
                  <a:srgbClr val="FFFFFF"/>
                </a:solidFill>
              </a:rPr>
              <a:t>Two mapping-validation queries to protect data quality</a:t>
            </a:r>
            <a:endParaRPr lang="en-US" sz="1700" dirty="0"/>
          </a:p>
        </p:txBody>
      </p:sp>
      <p:sp>
        <p:nvSpPr>
          <p:cNvPr id="7" name="Shape 5"/>
          <p:cNvSpPr/>
          <p:nvPr/>
        </p:nvSpPr>
        <p:spPr>
          <a:xfrm>
            <a:off x="3108960" y="2816352"/>
            <a:ext cx="5760720" cy="585216"/>
          </a:xfrm>
          <a:prstGeom prst="rect">
            <a:avLst/>
          </a:prstGeom>
          <a:solidFill>
            <a:srgbClr val="FFFFFF">
              <a:alpha val="14000"/>
            </a:srgbClr>
          </a:solidFill>
          <a:ln w="12700">
            <a:solidFill>
              <a:srgbClr val="333333"/>
            </a:solidFill>
            <a:prstDash val="solid"/>
          </a:ln>
        </p:spPr>
      </p:sp>
      <p:sp>
        <p:nvSpPr>
          <p:cNvPr id="8" name="Text 6"/>
          <p:cNvSpPr/>
          <p:nvPr/>
        </p:nvSpPr>
        <p:spPr>
          <a:xfrm>
            <a:off x="3291840" y="2834640"/>
            <a:ext cx="5394960" cy="548640"/>
          </a:xfrm>
          <a:prstGeom prst="rect">
            <a:avLst/>
          </a:prstGeom>
          <a:noFill/>
          <a:ln/>
        </p:spPr>
        <p:txBody>
          <a:bodyPr wrap="square" lIns="0" tIns="0" rIns="0" bIns="0" rtlCol="0" anchor="ctr"/>
          <a:lstStyle/>
          <a:p>
            <a:pPr marL="0" indent="0">
              <a:buNone/>
            </a:pPr>
            <a:r>
              <a:rPr lang="en-US" sz="1400" dirty="0">
                <a:solidFill>
                  <a:srgbClr val="FFFFFF"/>
                </a:solidFill>
              </a:rPr>
              <a:t>Query 3  —  Is openEHR administrative-gender semantically consistent?</a:t>
            </a:r>
            <a:endParaRPr lang="en-US" sz="1400" dirty="0"/>
          </a:p>
        </p:txBody>
      </p:sp>
      <p:sp>
        <p:nvSpPr>
          <p:cNvPr id="9" name="Shape 7"/>
          <p:cNvSpPr/>
          <p:nvPr/>
        </p:nvSpPr>
        <p:spPr>
          <a:xfrm>
            <a:off x="3108960" y="3529584"/>
            <a:ext cx="5760720" cy="585216"/>
          </a:xfrm>
          <a:prstGeom prst="rect">
            <a:avLst/>
          </a:prstGeom>
          <a:solidFill>
            <a:srgbClr val="FFFFFF">
              <a:alpha val="14000"/>
            </a:srgbClr>
          </a:solidFill>
          <a:ln w="12700">
            <a:solidFill>
              <a:srgbClr val="333333"/>
            </a:solidFill>
            <a:prstDash val="solid"/>
          </a:ln>
        </p:spPr>
      </p:sp>
      <p:sp>
        <p:nvSpPr>
          <p:cNvPr id="10" name="Text 8"/>
          <p:cNvSpPr/>
          <p:nvPr/>
        </p:nvSpPr>
        <p:spPr>
          <a:xfrm>
            <a:off x="3291840" y="3547872"/>
            <a:ext cx="5394960" cy="548640"/>
          </a:xfrm>
          <a:prstGeom prst="rect">
            <a:avLst/>
          </a:prstGeom>
          <a:noFill/>
          <a:ln/>
        </p:spPr>
        <p:txBody>
          <a:bodyPr wrap="square" lIns="0" tIns="0" rIns="0" bIns="0" rtlCol="0" anchor="ctr"/>
          <a:lstStyle/>
          <a:p>
            <a:pPr marL="0" indent="0">
              <a:buNone/>
            </a:pPr>
            <a:r>
              <a:rPr lang="en-US" sz="1400" dirty="0">
                <a:solidFill>
                  <a:srgbClr val="FFFFFF"/>
                </a:solidFill>
              </a:rPr>
              <a:t>Query 4  —  What if I align FHIR Patient.gender with CARE-SM sio:Sex?</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8E0000"/>
          </a:solidFill>
          <a:ln w="12700">
            <a:solidFill>
              <a:srgbClr val="333333"/>
            </a:solidFill>
            <a:prstDash val="solid"/>
          </a:ln>
        </p:spPr>
      </p:sp>
      <p:sp>
        <p:nvSpPr>
          <p:cNvPr id="3" name="Text 1"/>
          <p:cNvSpPr/>
          <p:nvPr/>
        </p:nvSpPr>
        <p:spPr>
          <a:xfrm>
            <a:off x="457200" y="73152"/>
            <a:ext cx="8229600" cy="530352"/>
          </a:xfrm>
          <a:prstGeom prst="rect">
            <a:avLst/>
          </a:prstGeom>
          <a:noFill/>
          <a:ln/>
        </p:spPr>
        <p:txBody>
          <a:bodyPr wrap="square" lIns="0" tIns="0" rIns="0" bIns="0" rtlCol="0" anchor="ctr"/>
          <a:lstStyle/>
          <a:p>
            <a:pPr marL="0" indent="0">
              <a:buNone/>
            </a:pPr>
            <a:r>
              <a:rPr lang="en-US" sz="1400" b="1" dirty="0">
                <a:solidFill>
                  <a:srgbClr val="FFFFFF"/>
                </a:solidFill>
              </a:rPr>
              <a:t>Clinical Informatician  ·  Query 3</a:t>
            </a:r>
            <a:endParaRPr lang="en-US" sz="1400" dirty="0"/>
          </a:p>
        </p:txBody>
      </p:sp>
      <p:sp>
        <p:nvSpPr>
          <p:cNvPr id="4" name="Shape 2"/>
          <p:cNvSpPr/>
          <p:nvPr/>
        </p:nvSpPr>
        <p:spPr>
          <a:xfrm>
            <a:off x="320040" y="777240"/>
            <a:ext cx="4160520" cy="2148840"/>
          </a:xfrm>
          <a:prstGeom prst="rect">
            <a:avLst/>
          </a:prstGeom>
          <a:solidFill>
            <a:srgbClr val="FFFFFF"/>
          </a:solidFill>
          <a:ln w="10160">
            <a:solidFill>
              <a:srgbClr val="DDE5EF"/>
            </a:solidFill>
            <a:prstDash val="solid"/>
          </a:ln>
          <a:effectLst>
            <a:outerShdw blurRad="101600" dist="25400" dir="8100000" algn="bl" rotWithShape="0">
              <a:srgbClr val="000000">
                <a:alpha val="12000"/>
              </a:srgbClr>
            </a:outerShdw>
          </a:effectLst>
        </p:spPr>
      </p:sp>
      <p:sp>
        <p:nvSpPr>
          <p:cNvPr id="5" name="Shape 3"/>
          <p:cNvSpPr/>
          <p:nvPr/>
        </p:nvSpPr>
        <p:spPr>
          <a:xfrm>
            <a:off x="320040" y="777240"/>
            <a:ext cx="64008" cy="2148840"/>
          </a:xfrm>
          <a:prstGeom prst="rect">
            <a:avLst/>
          </a:prstGeom>
          <a:solidFill>
            <a:srgbClr val="C62828"/>
          </a:solidFill>
          <a:ln w="12700">
            <a:solidFill>
              <a:srgbClr val="333333"/>
            </a:solidFill>
            <a:prstDash val="solid"/>
          </a:ln>
        </p:spPr>
      </p:sp>
      <p:sp>
        <p:nvSpPr>
          <p:cNvPr id="6" name="Text 4"/>
          <p:cNvSpPr/>
          <p:nvPr/>
        </p:nvSpPr>
        <p:spPr>
          <a:xfrm>
            <a:off x="502920" y="868680"/>
            <a:ext cx="3794760" cy="329184"/>
          </a:xfrm>
          <a:prstGeom prst="rect">
            <a:avLst/>
          </a:prstGeom>
          <a:noFill/>
          <a:ln/>
        </p:spPr>
        <p:txBody>
          <a:bodyPr wrap="square" lIns="0" tIns="0" rIns="0" bIns="0" rtlCol="0" anchor="ctr"/>
          <a:lstStyle/>
          <a:p>
            <a:pPr marL="0" indent="0">
              <a:buNone/>
            </a:pPr>
            <a:r>
              <a:rPr lang="en-US" sz="1100" b="1" kern="0" spc="80" dirty="0">
                <a:solidFill>
                  <a:srgbClr val="C62828"/>
                </a:solidFill>
              </a:rPr>
              <a:t>The question (plain language)</a:t>
            </a:r>
            <a:endParaRPr lang="en-US" sz="1100" dirty="0"/>
          </a:p>
        </p:txBody>
      </p:sp>
      <p:sp>
        <p:nvSpPr>
          <p:cNvPr id="7" name="Text 5"/>
          <p:cNvSpPr/>
          <p:nvPr/>
        </p:nvSpPr>
        <p:spPr>
          <a:xfrm>
            <a:off x="502920" y="1225296"/>
            <a:ext cx="3794760" cy="658368"/>
          </a:xfrm>
          <a:prstGeom prst="rect">
            <a:avLst/>
          </a:prstGeom>
          <a:noFill/>
          <a:ln/>
        </p:spPr>
        <p:txBody>
          <a:bodyPr wrap="square" lIns="0" tIns="0" rIns="0" bIns="0" rtlCol="0" anchor="ctr"/>
          <a:lstStyle/>
          <a:p>
            <a:pPr marL="0" indent="0">
              <a:buNone/>
            </a:pPr>
            <a:r>
              <a:rPr lang="en-US" sz="1350" b="1" i="1" dirty="0">
                <a:solidFill>
                  <a:srgbClr val="1A2940"/>
                </a:solidFill>
              </a:rPr>
              <a:t>"Is the openEHR administrative-gender mapping semantically consistent?"</a:t>
            </a:r>
            <a:endParaRPr lang="en-US" sz="1350" dirty="0"/>
          </a:p>
        </p:txBody>
      </p:sp>
      <p:sp>
        <p:nvSpPr>
          <p:cNvPr id="8" name="Text 6"/>
          <p:cNvSpPr/>
          <p:nvPr/>
        </p:nvSpPr>
        <p:spPr>
          <a:xfrm>
            <a:off x="502920" y="1920240"/>
            <a:ext cx="3794760" cy="914400"/>
          </a:xfrm>
          <a:prstGeom prst="rect">
            <a:avLst/>
          </a:prstGeom>
          <a:noFill/>
          <a:ln/>
        </p:spPr>
        <p:txBody>
          <a:bodyPr wrap="square" lIns="0" tIns="0" rIns="0" bIns="0" rtlCol="0" anchor="ctr"/>
          <a:lstStyle/>
          <a:p>
            <a:pPr marL="0" indent="0">
              <a:buNone/>
            </a:pPr>
            <a:r>
              <a:rPr lang="en-US" sz="1100" dirty="0">
                <a:solidFill>
                  <a:srgbClr val="4A607A"/>
                </a:solidFill>
              </a:rPr>
              <a:t>Before approving the mapping, Dr. Hassan checks whether this concept has been mapped to contradictory ontology concepts — e.g. both BiologicalSex AND AdministrativeGender at the same time, which would be clinically dangerous.</a:t>
            </a:r>
            <a:endParaRPr lang="en-US" sz="1100" dirty="0"/>
          </a:p>
        </p:txBody>
      </p:sp>
      <p:sp>
        <p:nvSpPr>
          <p:cNvPr id="9" name="Text 7"/>
          <p:cNvSpPr/>
          <p:nvPr/>
        </p:nvSpPr>
        <p:spPr>
          <a:xfrm>
            <a:off x="4663440" y="804672"/>
            <a:ext cx="4206240" cy="301752"/>
          </a:xfrm>
          <a:prstGeom prst="rect">
            <a:avLst/>
          </a:prstGeom>
          <a:noFill/>
          <a:ln/>
        </p:spPr>
        <p:txBody>
          <a:bodyPr wrap="square" lIns="0" tIns="0" rIns="0" bIns="0" rtlCol="0" anchor="ctr"/>
          <a:lstStyle/>
          <a:p>
            <a:pPr marL="0" indent="0">
              <a:buNone/>
            </a:pPr>
            <a:r>
              <a:rPr lang="en-US" sz="1100" b="1" dirty="0">
                <a:solidFill>
                  <a:srgbClr val="4A607A"/>
                </a:solidFill>
              </a:rPr>
              <a:t>In SPARQL  (Scenario 6)</a:t>
            </a:r>
            <a:endParaRPr lang="en-US" sz="1100" dirty="0"/>
          </a:p>
        </p:txBody>
      </p:sp>
      <p:sp>
        <p:nvSpPr>
          <p:cNvPr id="10" name="Shape 8"/>
          <p:cNvSpPr/>
          <p:nvPr/>
        </p:nvSpPr>
        <p:spPr>
          <a:xfrm>
            <a:off x="4663440" y="1143000"/>
            <a:ext cx="4206240" cy="1810512"/>
          </a:xfrm>
          <a:prstGeom prst="rect">
            <a:avLst/>
          </a:prstGeom>
          <a:solidFill>
            <a:srgbClr val="1A2535"/>
          </a:solidFill>
          <a:ln w="12700">
            <a:solidFill>
              <a:srgbClr val="333333"/>
            </a:solidFill>
            <a:prstDash val="solid"/>
          </a:ln>
        </p:spPr>
      </p:sp>
      <p:sp>
        <p:nvSpPr>
          <p:cNvPr id="11" name="Text 9"/>
          <p:cNvSpPr/>
          <p:nvPr/>
        </p:nvSpPr>
        <p:spPr>
          <a:xfrm>
            <a:off x="4828032" y="1252728"/>
            <a:ext cx="3877056" cy="1591056"/>
          </a:xfrm>
          <a:prstGeom prst="rect">
            <a:avLst/>
          </a:prstGeom>
          <a:noFill/>
          <a:ln/>
        </p:spPr>
        <p:txBody>
          <a:bodyPr wrap="square" lIns="0" tIns="0" rIns="0" bIns="0" rtlCol="0" anchor="t"/>
          <a:lstStyle/>
          <a:p>
            <a:pPr marL="0" indent="0">
              <a:buNone/>
            </a:pPr>
            <a:r>
              <a:rPr lang="en-US" sz="950" dirty="0">
                <a:solidFill>
                  <a:srgbClr val="C8D8F0"/>
                </a:solidFill>
                <a:latin typeface="Courier New" pitchFamily="34" charset="0"/>
                <a:ea typeface="Courier New" pitchFamily="34" charset="-122"/>
                <a:cs typeface="Courier New" pitchFamily="34" charset="-120"/>
              </a:rPr>
              <a:t>SELECT ?meaning ?polarity</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WHERE {</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  ?m hriv:hasMappingSubject</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       hri-openehr:administrative-gender ;</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     hriv:hasMappingObject ?meaning ;</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     hriv:hasPolarity ?polarity .</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 Inconsistency = conflicting positive</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 meanings, or same concept mapped</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 both positive AND negative</a:t>
            </a:r>
            <a:endParaRPr lang="en-US" sz="950" dirty="0"/>
          </a:p>
        </p:txBody>
      </p:sp>
      <p:sp>
        <p:nvSpPr>
          <p:cNvPr id="12" name="Shape 10"/>
          <p:cNvSpPr/>
          <p:nvPr/>
        </p:nvSpPr>
        <p:spPr>
          <a:xfrm>
            <a:off x="320040" y="3063240"/>
            <a:ext cx="8503920" cy="1947672"/>
          </a:xfrm>
          <a:prstGeom prst="rect">
            <a:avLst/>
          </a:prstGeom>
          <a:solidFill>
            <a:srgbClr val="FFFFFF"/>
          </a:solidFill>
          <a:ln w="10160">
            <a:solidFill>
              <a:srgbClr val="DDE5EF"/>
            </a:solidFill>
            <a:prstDash val="solid"/>
          </a:ln>
          <a:effectLst>
            <a:outerShdw blurRad="101600" dist="25400" dir="8100000" algn="bl" rotWithShape="0">
              <a:srgbClr val="000000">
                <a:alpha val="12000"/>
              </a:srgbClr>
            </a:outerShdw>
          </a:effectLst>
        </p:spPr>
      </p:sp>
      <p:sp>
        <p:nvSpPr>
          <p:cNvPr id="13" name="Shape 11"/>
          <p:cNvSpPr/>
          <p:nvPr/>
        </p:nvSpPr>
        <p:spPr>
          <a:xfrm>
            <a:off x="320040" y="3063240"/>
            <a:ext cx="64008" cy="1947672"/>
          </a:xfrm>
          <a:prstGeom prst="rect">
            <a:avLst/>
          </a:prstGeom>
          <a:solidFill>
            <a:srgbClr val="C62828"/>
          </a:solidFill>
          <a:ln w="12700">
            <a:solidFill>
              <a:srgbClr val="333333"/>
            </a:solidFill>
            <a:prstDash val="solid"/>
          </a:ln>
        </p:spPr>
      </p:sp>
      <p:sp>
        <p:nvSpPr>
          <p:cNvPr id="14" name="Text 12"/>
          <p:cNvSpPr/>
          <p:nvPr/>
        </p:nvSpPr>
        <p:spPr>
          <a:xfrm>
            <a:off x="502920" y="3154680"/>
            <a:ext cx="8046720" cy="310896"/>
          </a:xfrm>
          <a:prstGeom prst="rect">
            <a:avLst/>
          </a:prstGeom>
          <a:noFill/>
          <a:ln/>
        </p:spPr>
        <p:txBody>
          <a:bodyPr wrap="square" lIns="0" tIns="0" rIns="0" bIns="0" rtlCol="0" anchor="ctr"/>
          <a:lstStyle/>
          <a:p>
            <a:pPr marL="0" indent="0">
              <a:buNone/>
            </a:pPr>
            <a:r>
              <a:rPr lang="en-US" sz="1100" b="1" dirty="0">
                <a:solidFill>
                  <a:srgbClr val="4A607A"/>
                </a:solidFill>
              </a:rPr>
              <a:t>Result  (abbreviated RDF)</a:t>
            </a:r>
            <a:endParaRPr lang="en-US" sz="1100" dirty="0"/>
          </a:p>
        </p:txBody>
      </p:sp>
      <p:sp>
        <p:nvSpPr>
          <p:cNvPr id="15" name="Shape 13"/>
          <p:cNvSpPr/>
          <p:nvPr/>
        </p:nvSpPr>
        <p:spPr>
          <a:xfrm>
            <a:off x="457200" y="3511296"/>
            <a:ext cx="8229600" cy="1417320"/>
          </a:xfrm>
          <a:prstGeom prst="rect">
            <a:avLst/>
          </a:prstGeom>
          <a:solidFill>
            <a:srgbClr val="1A2535"/>
          </a:solidFill>
          <a:ln w="12700">
            <a:solidFill>
              <a:srgbClr val="333333"/>
            </a:solidFill>
            <a:prstDash val="solid"/>
          </a:ln>
        </p:spPr>
      </p:sp>
      <p:sp>
        <p:nvSpPr>
          <p:cNvPr id="16" name="Text 14"/>
          <p:cNvSpPr/>
          <p:nvPr/>
        </p:nvSpPr>
        <p:spPr>
          <a:xfrm>
            <a:off x="621792" y="3621024"/>
            <a:ext cx="7900416" cy="1197864"/>
          </a:xfrm>
          <a:prstGeom prst="rect">
            <a:avLst/>
          </a:prstGeom>
          <a:noFill/>
          <a:ln/>
        </p:spPr>
        <p:txBody>
          <a:bodyPr wrap="square" lIns="0" tIns="0" rIns="0" bIns="0" rtlCol="0" anchor="t"/>
          <a:lstStyle/>
          <a:p>
            <a:pPr marL="0" indent="0">
              <a:buNone/>
            </a:pPr>
            <a:r>
              <a:rPr lang="en-US" sz="950" dirty="0">
                <a:solidFill>
                  <a:srgbClr val="C8D8F0"/>
                </a:solidFill>
                <a:latin typeface="Courier New" pitchFamily="34" charset="0"/>
                <a:ea typeface="Courier New" pitchFamily="34" charset="-122"/>
                <a:cs typeface="Courier New" pitchFamily="34" charset="-120"/>
              </a:rPr>
              <a:t>hri-openehr:administrative-gender  hriv:hasExactMeaning  hrio:AdministrativeGender        [polarity: positive]</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hri-openehr:administrative-gender  hriv:hasExactMeaning  hrio:AdministrativeMaleGender    [polarity: positive, value: at0007]</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hri-openehr:administrative-gender  hriv:hasExactMeaning  hrio:AdministrativeFemaleGender  [polarity: positive, value: at0006]</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  No contradictions found. Concept is internally consistent.  ✅</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8E0000"/>
          </a:solidFill>
          <a:ln w="12700">
            <a:solidFill>
              <a:srgbClr val="333333"/>
            </a:solidFill>
            <a:prstDash val="solid"/>
          </a:ln>
        </p:spPr>
      </p:sp>
      <p:sp>
        <p:nvSpPr>
          <p:cNvPr id="3" name="Text 1"/>
          <p:cNvSpPr/>
          <p:nvPr/>
        </p:nvSpPr>
        <p:spPr>
          <a:xfrm>
            <a:off x="457200" y="73152"/>
            <a:ext cx="8229600" cy="530352"/>
          </a:xfrm>
          <a:prstGeom prst="rect">
            <a:avLst/>
          </a:prstGeom>
          <a:noFill/>
          <a:ln/>
        </p:spPr>
        <p:txBody>
          <a:bodyPr wrap="square" lIns="0" tIns="0" rIns="0" bIns="0" rtlCol="0" anchor="ctr"/>
          <a:lstStyle/>
          <a:p>
            <a:pPr marL="0" indent="0">
              <a:buNone/>
            </a:pPr>
            <a:r>
              <a:rPr lang="en-US" sz="1400" b="1" dirty="0">
                <a:solidFill>
                  <a:srgbClr val="FFFFFF"/>
                </a:solidFill>
              </a:rPr>
              <a:t>Clinical Informatician  ·  Query 3 Answer</a:t>
            </a:r>
            <a:endParaRPr lang="en-US" sz="1400" dirty="0"/>
          </a:p>
        </p:txBody>
      </p:sp>
      <p:sp>
        <p:nvSpPr>
          <p:cNvPr id="4" name="Text 2"/>
          <p:cNvSpPr/>
          <p:nvPr/>
        </p:nvSpPr>
        <p:spPr>
          <a:xfrm>
            <a:off x="457200" y="777240"/>
            <a:ext cx="8229600" cy="402336"/>
          </a:xfrm>
          <a:prstGeom prst="rect">
            <a:avLst/>
          </a:prstGeom>
          <a:noFill/>
          <a:ln/>
        </p:spPr>
        <p:txBody>
          <a:bodyPr wrap="square" lIns="0" tIns="0" rIns="0" bIns="0" rtlCol="0" anchor="ctr"/>
          <a:lstStyle/>
          <a:p>
            <a:pPr marL="0" indent="0">
              <a:buNone/>
            </a:pPr>
            <a:r>
              <a:rPr lang="en-US" sz="1600" b="1" dirty="0">
                <a:solidFill>
                  <a:srgbClr val="1A2940"/>
                </a:solidFill>
              </a:rPr>
              <a:t>What this means:</a:t>
            </a:r>
            <a:endParaRPr lang="en-US" sz="1600" dirty="0"/>
          </a:p>
        </p:txBody>
      </p:sp>
      <p:sp>
        <p:nvSpPr>
          <p:cNvPr id="5" name="Shape 3"/>
          <p:cNvSpPr/>
          <p:nvPr/>
        </p:nvSpPr>
        <p:spPr>
          <a:xfrm>
            <a:off x="320040" y="1325880"/>
            <a:ext cx="8503920" cy="1325880"/>
          </a:xfrm>
          <a:prstGeom prst="rect">
            <a:avLst/>
          </a:prstGeom>
          <a:solidFill>
            <a:srgbClr val="E8F5E9"/>
          </a:solidFill>
          <a:ln w="19050">
            <a:solidFill>
              <a:srgbClr val="2E7D32"/>
            </a:solidFill>
            <a:prstDash val="solid"/>
          </a:ln>
        </p:spPr>
      </p:sp>
      <p:sp>
        <p:nvSpPr>
          <p:cNvPr id="6" name="Shape 4"/>
          <p:cNvSpPr/>
          <p:nvPr/>
        </p:nvSpPr>
        <p:spPr>
          <a:xfrm>
            <a:off x="320040" y="1325880"/>
            <a:ext cx="64008" cy="1325880"/>
          </a:xfrm>
          <a:prstGeom prst="rect">
            <a:avLst/>
          </a:prstGeom>
          <a:solidFill>
            <a:srgbClr val="2E7D32"/>
          </a:solidFill>
          <a:ln w="12700">
            <a:solidFill>
              <a:srgbClr val="333333"/>
            </a:solidFill>
            <a:prstDash val="solid"/>
          </a:ln>
        </p:spPr>
      </p:sp>
      <p:sp>
        <p:nvSpPr>
          <p:cNvPr id="7" name="Text 5"/>
          <p:cNvSpPr/>
          <p:nvPr/>
        </p:nvSpPr>
        <p:spPr>
          <a:xfrm>
            <a:off x="502920" y="1417320"/>
            <a:ext cx="8046720" cy="438912"/>
          </a:xfrm>
          <a:prstGeom prst="rect">
            <a:avLst/>
          </a:prstGeom>
          <a:noFill/>
          <a:ln/>
        </p:spPr>
        <p:txBody>
          <a:bodyPr wrap="square" lIns="0" tIns="0" rIns="0" bIns="0" rtlCol="0" anchor="ctr"/>
          <a:lstStyle/>
          <a:p>
            <a:pPr marL="0" indent="0">
              <a:buNone/>
            </a:pPr>
            <a:r>
              <a:rPr lang="en-US" sz="1800" b="1" dirty="0">
                <a:solidFill>
                  <a:srgbClr val="2E7D32"/>
                </a:solidFill>
              </a:rPr>
              <a:t>✅  Consistent — mapping is approved</a:t>
            </a:r>
            <a:endParaRPr lang="en-US" sz="1800" dirty="0"/>
          </a:p>
        </p:txBody>
      </p:sp>
      <p:sp>
        <p:nvSpPr>
          <p:cNvPr id="8" name="Text 6"/>
          <p:cNvSpPr/>
          <p:nvPr/>
        </p:nvSpPr>
        <p:spPr>
          <a:xfrm>
            <a:off x="502920" y="1883664"/>
            <a:ext cx="8046720" cy="694944"/>
          </a:xfrm>
          <a:prstGeom prst="rect">
            <a:avLst/>
          </a:prstGeom>
          <a:noFill/>
          <a:ln/>
        </p:spPr>
        <p:txBody>
          <a:bodyPr wrap="square" lIns="0" tIns="0" rIns="0" bIns="0" rtlCol="0" anchor="ctr"/>
          <a:lstStyle/>
          <a:p>
            <a:pPr marL="0" indent="0">
              <a:buNone/>
            </a:pPr>
            <a:r>
              <a:rPr lang="en-US" sz="1200" dirty="0">
                <a:solidFill>
                  <a:srgbClr val="1A2940"/>
                </a:solidFill>
              </a:rPr>
              <a:t>openEHR administrative-gender maps consistently to hrio:AdministrativeGender, with appropriate value-level mappings for each coded value (at0007 → Male, at0006 → Female). No contradictory semantic commitments were found.</a:t>
            </a:r>
            <a:endParaRPr lang="en-US" sz="1200" dirty="0"/>
          </a:p>
        </p:txBody>
      </p:sp>
      <p:sp>
        <p:nvSpPr>
          <p:cNvPr id="9" name="Text 7"/>
          <p:cNvSpPr/>
          <p:nvPr/>
        </p:nvSpPr>
        <p:spPr>
          <a:xfrm>
            <a:off x="457200" y="2798064"/>
            <a:ext cx="8229600" cy="365760"/>
          </a:xfrm>
          <a:prstGeom prst="rect">
            <a:avLst/>
          </a:prstGeom>
          <a:noFill/>
          <a:ln/>
        </p:spPr>
        <p:txBody>
          <a:bodyPr wrap="square" lIns="0" tIns="0" rIns="0" bIns="0" rtlCol="0" anchor="ctr"/>
          <a:lstStyle/>
          <a:p>
            <a:pPr marL="0" indent="0">
              <a:buNone/>
            </a:pPr>
            <a:r>
              <a:rPr lang="en-US" sz="1300" b="1" dirty="0">
                <a:solidFill>
                  <a:srgbClr val="1A2940"/>
                </a:solidFill>
              </a:rPr>
              <a:t>What this enables:</a:t>
            </a:r>
            <a:endParaRPr lang="en-US" sz="1300" dirty="0"/>
          </a:p>
        </p:txBody>
      </p:sp>
      <p:sp>
        <p:nvSpPr>
          <p:cNvPr id="10" name="Shape 8"/>
          <p:cNvSpPr/>
          <p:nvPr/>
        </p:nvSpPr>
        <p:spPr>
          <a:xfrm>
            <a:off x="320040" y="3246120"/>
            <a:ext cx="2788920" cy="1783080"/>
          </a:xfrm>
          <a:prstGeom prst="rect">
            <a:avLst/>
          </a:prstGeom>
          <a:solidFill>
            <a:srgbClr val="FFFFFF"/>
          </a:solidFill>
          <a:ln w="10160">
            <a:solidFill>
              <a:srgbClr val="DDE5EF"/>
            </a:solidFill>
            <a:prstDash val="solid"/>
          </a:ln>
          <a:effectLst>
            <a:outerShdw blurRad="101600" dist="25400" dir="8100000" algn="bl" rotWithShape="0">
              <a:srgbClr val="000000">
                <a:alpha val="12000"/>
              </a:srgbClr>
            </a:outerShdw>
          </a:effectLst>
        </p:spPr>
      </p:sp>
      <p:sp>
        <p:nvSpPr>
          <p:cNvPr id="11" name="Shape 9"/>
          <p:cNvSpPr/>
          <p:nvPr/>
        </p:nvSpPr>
        <p:spPr>
          <a:xfrm>
            <a:off x="320040" y="3246120"/>
            <a:ext cx="64008" cy="1783080"/>
          </a:xfrm>
          <a:prstGeom prst="rect">
            <a:avLst/>
          </a:prstGeom>
          <a:solidFill>
            <a:srgbClr val="2E7D32"/>
          </a:solidFill>
          <a:ln w="12700">
            <a:solidFill>
              <a:srgbClr val="333333"/>
            </a:solidFill>
            <a:prstDash val="solid"/>
          </a:ln>
        </p:spPr>
      </p:sp>
      <p:sp>
        <p:nvSpPr>
          <p:cNvPr id="12" name="Text 10"/>
          <p:cNvSpPr/>
          <p:nvPr/>
        </p:nvSpPr>
        <p:spPr>
          <a:xfrm>
            <a:off x="502920" y="3337560"/>
            <a:ext cx="2423160" cy="365760"/>
          </a:xfrm>
          <a:prstGeom prst="rect">
            <a:avLst/>
          </a:prstGeom>
          <a:noFill/>
          <a:ln/>
        </p:spPr>
        <p:txBody>
          <a:bodyPr wrap="square" lIns="0" tIns="0" rIns="0" bIns="0" rtlCol="0" anchor="ctr"/>
          <a:lstStyle/>
          <a:p>
            <a:pPr marL="0" indent="0">
              <a:buNone/>
            </a:pPr>
            <a:r>
              <a:rPr lang="en-US" sz="1300" b="1" dirty="0">
                <a:solidFill>
                  <a:srgbClr val="2E7D32"/>
                </a:solidFill>
              </a:rPr>
              <a:t>🔍  Safe reuse</a:t>
            </a:r>
            <a:endParaRPr lang="en-US" sz="1300" dirty="0"/>
          </a:p>
        </p:txBody>
      </p:sp>
      <p:sp>
        <p:nvSpPr>
          <p:cNvPr id="13" name="Text 11"/>
          <p:cNvSpPr/>
          <p:nvPr/>
        </p:nvSpPr>
        <p:spPr>
          <a:xfrm>
            <a:off x="502920" y="3749040"/>
            <a:ext cx="2423160" cy="1188720"/>
          </a:xfrm>
          <a:prstGeom prst="rect">
            <a:avLst/>
          </a:prstGeom>
          <a:noFill/>
          <a:ln/>
        </p:spPr>
        <p:txBody>
          <a:bodyPr wrap="square" lIns="0" tIns="0" rIns="0" bIns="0" rtlCol="0" anchor="ctr"/>
          <a:lstStyle/>
          <a:p>
            <a:pPr marL="0" indent="0">
              <a:buNone/>
            </a:pPr>
            <a:r>
              <a:rPr lang="en-US" sz="1100" dirty="0">
                <a:solidFill>
                  <a:srgbClr val="1A2940"/>
                </a:solidFill>
              </a:rPr>
              <a:t>Roberta can now use this mapping to query openEHR data for administrative gender values — the mapping is validated.</a:t>
            </a:r>
            <a:endParaRPr lang="en-US" sz="1100" dirty="0"/>
          </a:p>
        </p:txBody>
      </p:sp>
      <p:sp>
        <p:nvSpPr>
          <p:cNvPr id="14" name="Shape 12"/>
          <p:cNvSpPr/>
          <p:nvPr/>
        </p:nvSpPr>
        <p:spPr>
          <a:xfrm>
            <a:off x="3264408" y="3246120"/>
            <a:ext cx="2788920" cy="1783080"/>
          </a:xfrm>
          <a:prstGeom prst="rect">
            <a:avLst/>
          </a:prstGeom>
          <a:solidFill>
            <a:srgbClr val="FFFFFF"/>
          </a:solidFill>
          <a:ln w="10160">
            <a:solidFill>
              <a:srgbClr val="DDE5EF"/>
            </a:solidFill>
            <a:prstDash val="solid"/>
          </a:ln>
          <a:effectLst>
            <a:outerShdw blurRad="101600" dist="25400" dir="8100000" algn="bl" rotWithShape="0">
              <a:srgbClr val="000000">
                <a:alpha val="12000"/>
              </a:srgbClr>
            </a:outerShdw>
          </a:effectLst>
        </p:spPr>
      </p:sp>
      <p:sp>
        <p:nvSpPr>
          <p:cNvPr id="15" name="Shape 13"/>
          <p:cNvSpPr/>
          <p:nvPr/>
        </p:nvSpPr>
        <p:spPr>
          <a:xfrm>
            <a:off x="3264408" y="3246120"/>
            <a:ext cx="64008" cy="1783080"/>
          </a:xfrm>
          <a:prstGeom prst="rect">
            <a:avLst/>
          </a:prstGeom>
          <a:solidFill>
            <a:srgbClr val="2E7D32"/>
          </a:solidFill>
          <a:ln w="12700">
            <a:solidFill>
              <a:srgbClr val="333333"/>
            </a:solidFill>
            <a:prstDash val="solid"/>
          </a:ln>
        </p:spPr>
      </p:sp>
      <p:sp>
        <p:nvSpPr>
          <p:cNvPr id="16" name="Text 14"/>
          <p:cNvSpPr/>
          <p:nvPr/>
        </p:nvSpPr>
        <p:spPr>
          <a:xfrm>
            <a:off x="3447288" y="3337560"/>
            <a:ext cx="2423160" cy="365760"/>
          </a:xfrm>
          <a:prstGeom prst="rect">
            <a:avLst/>
          </a:prstGeom>
          <a:noFill/>
          <a:ln/>
        </p:spPr>
        <p:txBody>
          <a:bodyPr wrap="square" lIns="0" tIns="0" rIns="0" bIns="0" rtlCol="0" anchor="ctr"/>
          <a:lstStyle/>
          <a:p>
            <a:pPr marL="0" indent="0">
              <a:buNone/>
            </a:pPr>
            <a:r>
              <a:rPr lang="en-US" sz="1300" b="1" dirty="0">
                <a:solidFill>
                  <a:srgbClr val="2E7D32"/>
                </a:solidFill>
              </a:rPr>
              <a:t>📋  Audit trail</a:t>
            </a:r>
            <a:endParaRPr lang="en-US" sz="1300" dirty="0"/>
          </a:p>
        </p:txBody>
      </p:sp>
      <p:sp>
        <p:nvSpPr>
          <p:cNvPr id="17" name="Text 15"/>
          <p:cNvSpPr/>
          <p:nvPr/>
        </p:nvSpPr>
        <p:spPr>
          <a:xfrm>
            <a:off x="3447288" y="3749040"/>
            <a:ext cx="2423160" cy="1188720"/>
          </a:xfrm>
          <a:prstGeom prst="rect">
            <a:avLst/>
          </a:prstGeom>
          <a:noFill/>
          <a:ln/>
        </p:spPr>
        <p:txBody>
          <a:bodyPr wrap="square" lIns="0" tIns="0" rIns="0" bIns="0" rtlCol="0" anchor="ctr"/>
          <a:lstStyle/>
          <a:p>
            <a:pPr marL="0" indent="0">
              <a:buNone/>
            </a:pPr>
            <a:r>
              <a:rPr lang="en-US" sz="1100" dirty="0">
                <a:solidFill>
                  <a:srgbClr val="1A2940"/>
                </a:solidFill>
              </a:rPr>
              <a:t>The consistency check is logged. The mapping has a provenance record showing when and by whom it was validated.</a:t>
            </a:r>
            <a:endParaRPr lang="en-US" sz="1100" dirty="0"/>
          </a:p>
        </p:txBody>
      </p:sp>
      <p:sp>
        <p:nvSpPr>
          <p:cNvPr id="18" name="Shape 16"/>
          <p:cNvSpPr/>
          <p:nvPr/>
        </p:nvSpPr>
        <p:spPr>
          <a:xfrm>
            <a:off x="6208776" y="3246120"/>
            <a:ext cx="2788920" cy="1783080"/>
          </a:xfrm>
          <a:prstGeom prst="rect">
            <a:avLst/>
          </a:prstGeom>
          <a:solidFill>
            <a:srgbClr val="FFFFFF"/>
          </a:solidFill>
          <a:ln w="10160">
            <a:solidFill>
              <a:srgbClr val="DDE5EF"/>
            </a:solidFill>
            <a:prstDash val="solid"/>
          </a:ln>
          <a:effectLst>
            <a:outerShdw blurRad="101600" dist="25400" dir="8100000" algn="bl" rotWithShape="0">
              <a:srgbClr val="000000">
                <a:alpha val="12000"/>
              </a:srgbClr>
            </a:outerShdw>
          </a:effectLst>
        </p:spPr>
      </p:sp>
      <p:sp>
        <p:nvSpPr>
          <p:cNvPr id="19" name="Shape 17"/>
          <p:cNvSpPr/>
          <p:nvPr/>
        </p:nvSpPr>
        <p:spPr>
          <a:xfrm>
            <a:off x="6208776" y="3246120"/>
            <a:ext cx="64008" cy="1783080"/>
          </a:xfrm>
          <a:prstGeom prst="rect">
            <a:avLst/>
          </a:prstGeom>
          <a:solidFill>
            <a:srgbClr val="2E7D32"/>
          </a:solidFill>
          <a:ln w="12700">
            <a:solidFill>
              <a:srgbClr val="333333"/>
            </a:solidFill>
            <a:prstDash val="solid"/>
          </a:ln>
        </p:spPr>
      </p:sp>
      <p:sp>
        <p:nvSpPr>
          <p:cNvPr id="20" name="Text 18"/>
          <p:cNvSpPr/>
          <p:nvPr/>
        </p:nvSpPr>
        <p:spPr>
          <a:xfrm>
            <a:off x="6391656" y="3337560"/>
            <a:ext cx="2423160" cy="365760"/>
          </a:xfrm>
          <a:prstGeom prst="rect">
            <a:avLst/>
          </a:prstGeom>
          <a:noFill/>
          <a:ln/>
        </p:spPr>
        <p:txBody>
          <a:bodyPr wrap="square" lIns="0" tIns="0" rIns="0" bIns="0" rtlCol="0" anchor="ctr"/>
          <a:lstStyle/>
          <a:p>
            <a:pPr marL="0" indent="0">
              <a:buNone/>
            </a:pPr>
            <a:r>
              <a:rPr lang="en-US" sz="1300" b="1" dirty="0">
                <a:solidFill>
                  <a:srgbClr val="2E7D32"/>
                </a:solidFill>
              </a:rPr>
              <a:t>⚡  Inference safe</a:t>
            </a:r>
            <a:endParaRPr lang="en-US" sz="1300" dirty="0"/>
          </a:p>
        </p:txBody>
      </p:sp>
      <p:sp>
        <p:nvSpPr>
          <p:cNvPr id="21" name="Text 19"/>
          <p:cNvSpPr/>
          <p:nvPr/>
        </p:nvSpPr>
        <p:spPr>
          <a:xfrm>
            <a:off x="6391656" y="3749040"/>
            <a:ext cx="2423160" cy="1188720"/>
          </a:xfrm>
          <a:prstGeom prst="rect">
            <a:avLst/>
          </a:prstGeom>
          <a:noFill/>
          <a:ln/>
        </p:spPr>
        <p:txBody>
          <a:bodyPr wrap="square" lIns="0" tIns="0" rIns="0" bIns="0" rtlCol="0" anchor="ctr"/>
          <a:lstStyle/>
          <a:p>
            <a:pPr marL="0" indent="0">
              <a:buNone/>
            </a:pPr>
            <a:r>
              <a:rPr lang="en-US" sz="1100" dirty="0">
                <a:solidFill>
                  <a:srgbClr val="1A2940"/>
                </a:solidFill>
              </a:rPr>
              <a:t>The rules engine will not produce clinical contradictions when reasoning over this concept in downstream queries.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8E0000"/>
          </a:solidFill>
          <a:ln w="12700">
            <a:solidFill>
              <a:srgbClr val="333333"/>
            </a:solidFill>
            <a:prstDash val="solid"/>
          </a:ln>
        </p:spPr>
      </p:sp>
      <p:sp>
        <p:nvSpPr>
          <p:cNvPr id="3" name="Text 1"/>
          <p:cNvSpPr/>
          <p:nvPr/>
        </p:nvSpPr>
        <p:spPr>
          <a:xfrm>
            <a:off x="457200" y="73152"/>
            <a:ext cx="8229600" cy="530352"/>
          </a:xfrm>
          <a:prstGeom prst="rect">
            <a:avLst/>
          </a:prstGeom>
          <a:noFill/>
          <a:ln/>
        </p:spPr>
        <p:txBody>
          <a:bodyPr wrap="square" lIns="0" tIns="0" rIns="0" bIns="0" rtlCol="0" anchor="ctr"/>
          <a:lstStyle/>
          <a:p>
            <a:pPr marL="0" indent="0">
              <a:buNone/>
            </a:pPr>
            <a:r>
              <a:rPr lang="en-US" sz="1400" b="1" dirty="0">
                <a:solidFill>
                  <a:srgbClr val="FFFFFF"/>
                </a:solidFill>
              </a:rPr>
              <a:t>Clinical Informatician  ·  Query 4</a:t>
            </a:r>
            <a:endParaRPr lang="en-US" sz="1400" dirty="0"/>
          </a:p>
        </p:txBody>
      </p:sp>
      <p:sp>
        <p:nvSpPr>
          <p:cNvPr id="4" name="Shape 2"/>
          <p:cNvSpPr/>
          <p:nvPr/>
        </p:nvSpPr>
        <p:spPr>
          <a:xfrm>
            <a:off x="320040" y="777240"/>
            <a:ext cx="4160520" cy="2148840"/>
          </a:xfrm>
          <a:prstGeom prst="rect">
            <a:avLst/>
          </a:prstGeom>
          <a:solidFill>
            <a:srgbClr val="FFFFFF"/>
          </a:solidFill>
          <a:ln w="10160">
            <a:solidFill>
              <a:srgbClr val="DDE5EF"/>
            </a:solidFill>
            <a:prstDash val="solid"/>
          </a:ln>
          <a:effectLst>
            <a:outerShdw blurRad="101600" dist="25400" dir="8100000" algn="bl" rotWithShape="0">
              <a:srgbClr val="000000">
                <a:alpha val="12000"/>
              </a:srgbClr>
            </a:outerShdw>
          </a:effectLst>
        </p:spPr>
      </p:sp>
      <p:sp>
        <p:nvSpPr>
          <p:cNvPr id="5" name="Shape 3"/>
          <p:cNvSpPr/>
          <p:nvPr/>
        </p:nvSpPr>
        <p:spPr>
          <a:xfrm>
            <a:off x="320040" y="777240"/>
            <a:ext cx="64008" cy="2148840"/>
          </a:xfrm>
          <a:prstGeom prst="rect">
            <a:avLst/>
          </a:prstGeom>
          <a:solidFill>
            <a:srgbClr val="C62828"/>
          </a:solidFill>
          <a:ln w="12700">
            <a:solidFill>
              <a:srgbClr val="333333"/>
            </a:solidFill>
            <a:prstDash val="solid"/>
          </a:ln>
        </p:spPr>
      </p:sp>
      <p:sp>
        <p:nvSpPr>
          <p:cNvPr id="6" name="Text 4"/>
          <p:cNvSpPr/>
          <p:nvPr/>
        </p:nvSpPr>
        <p:spPr>
          <a:xfrm>
            <a:off x="502920" y="868680"/>
            <a:ext cx="3794760" cy="329184"/>
          </a:xfrm>
          <a:prstGeom prst="rect">
            <a:avLst/>
          </a:prstGeom>
          <a:noFill/>
          <a:ln/>
        </p:spPr>
        <p:txBody>
          <a:bodyPr wrap="square" lIns="0" tIns="0" rIns="0" bIns="0" rtlCol="0" anchor="ctr"/>
          <a:lstStyle/>
          <a:p>
            <a:pPr marL="0" indent="0">
              <a:buNone/>
            </a:pPr>
            <a:r>
              <a:rPr lang="en-US" sz="1100" b="1" kern="0" spc="80" dirty="0">
                <a:solidFill>
                  <a:srgbClr val="C62828"/>
                </a:solidFill>
              </a:rPr>
              <a:t>The question (plain language)</a:t>
            </a:r>
            <a:endParaRPr lang="en-US" sz="1100" dirty="0"/>
          </a:p>
        </p:txBody>
      </p:sp>
      <p:sp>
        <p:nvSpPr>
          <p:cNvPr id="7" name="Text 5"/>
          <p:cNvSpPr/>
          <p:nvPr/>
        </p:nvSpPr>
        <p:spPr>
          <a:xfrm>
            <a:off x="502920" y="1225296"/>
            <a:ext cx="3794760" cy="658368"/>
          </a:xfrm>
          <a:prstGeom prst="rect">
            <a:avLst/>
          </a:prstGeom>
          <a:noFill/>
          <a:ln/>
        </p:spPr>
        <p:txBody>
          <a:bodyPr wrap="square" lIns="0" tIns="0" rIns="0" bIns="0" rtlCol="0" anchor="ctr"/>
          <a:lstStyle/>
          <a:p>
            <a:pPr marL="0" indent="0">
              <a:buNone/>
            </a:pPr>
            <a:r>
              <a:rPr lang="en-US" sz="1350" b="1" i="1" dirty="0">
                <a:solidFill>
                  <a:srgbClr val="1A2940"/>
                </a:solidFill>
              </a:rPr>
              <a:t>"What would happen if I align FHIR Patient.gender with CARE-SM sio:Sex?"</a:t>
            </a:r>
            <a:endParaRPr lang="en-US" sz="1350" dirty="0"/>
          </a:p>
        </p:txBody>
      </p:sp>
      <p:sp>
        <p:nvSpPr>
          <p:cNvPr id="8" name="Text 6"/>
          <p:cNvSpPr/>
          <p:nvPr/>
        </p:nvSpPr>
        <p:spPr>
          <a:xfrm>
            <a:off x="502920" y="1920240"/>
            <a:ext cx="3794760" cy="914400"/>
          </a:xfrm>
          <a:prstGeom prst="rect">
            <a:avLst/>
          </a:prstGeom>
          <a:noFill/>
          <a:ln/>
        </p:spPr>
        <p:txBody>
          <a:bodyPr wrap="square" lIns="0" tIns="0" rIns="0" bIns="0" rtlCol="0" anchor="ctr"/>
          <a:lstStyle/>
          <a:p>
            <a:pPr marL="0" indent="0">
              <a:buNone/>
            </a:pPr>
            <a:r>
              <a:rPr lang="en-US" sz="1100" dirty="0">
                <a:solidFill>
                  <a:srgbClr val="4A607A"/>
                </a:solidFill>
              </a:rPr>
              <a:t>Someone has proposed this alignment. Before registering it, Dr. Hassan simulates the full downstream impact: what new inferences would this trigger across the entire knowledge graph?</a:t>
            </a:r>
            <a:endParaRPr lang="en-US" sz="1100" dirty="0"/>
          </a:p>
        </p:txBody>
      </p:sp>
      <p:sp>
        <p:nvSpPr>
          <p:cNvPr id="9" name="Text 7"/>
          <p:cNvSpPr/>
          <p:nvPr/>
        </p:nvSpPr>
        <p:spPr>
          <a:xfrm>
            <a:off x="4663440" y="804672"/>
            <a:ext cx="4206240" cy="301752"/>
          </a:xfrm>
          <a:prstGeom prst="rect">
            <a:avLst/>
          </a:prstGeom>
          <a:noFill/>
          <a:ln/>
        </p:spPr>
        <p:txBody>
          <a:bodyPr wrap="square" lIns="0" tIns="0" rIns="0" bIns="0" rtlCol="0" anchor="ctr"/>
          <a:lstStyle/>
          <a:p>
            <a:pPr marL="0" indent="0">
              <a:buNone/>
            </a:pPr>
            <a:r>
              <a:rPr lang="en-US" sz="1100" b="1" dirty="0">
                <a:solidFill>
                  <a:srgbClr val="4A607A"/>
                </a:solidFill>
              </a:rPr>
              <a:t>In SPARQL  (Scenario 8)</a:t>
            </a:r>
            <a:endParaRPr lang="en-US" sz="1100" dirty="0"/>
          </a:p>
        </p:txBody>
      </p:sp>
      <p:sp>
        <p:nvSpPr>
          <p:cNvPr id="10" name="Shape 8"/>
          <p:cNvSpPr/>
          <p:nvPr/>
        </p:nvSpPr>
        <p:spPr>
          <a:xfrm>
            <a:off x="4663440" y="1143000"/>
            <a:ext cx="4206240" cy="1810512"/>
          </a:xfrm>
          <a:prstGeom prst="rect">
            <a:avLst/>
          </a:prstGeom>
          <a:solidFill>
            <a:srgbClr val="1A2535"/>
          </a:solidFill>
          <a:ln w="12700">
            <a:solidFill>
              <a:srgbClr val="333333"/>
            </a:solidFill>
            <a:prstDash val="solid"/>
          </a:ln>
        </p:spPr>
      </p:sp>
      <p:sp>
        <p:nvSpPr>
          <p:cNvPr id="11" name="Text 9"/>
          <p:cNvSpPr/>
          <p:nvPr/>
        </p:nvSpPr>
        <p:spPr>
          <a:xfrm>
            <a:off x="4828032" y="1252728"/>
            <a:ext cx="3877056" cy="1591056"/>
          </a:xfrm>
          <a:prstGeom prst="rect">
            <a:avLst/>
          </a:prstGeom>
          <a:noFill/>
          <a:ln/>
        </p:spPr>
        <p:txBody>
          <a:bodyPr wrap="square" lIns="0" tIns="0" rIns="0" bIns="0" rtlCol="0" anchor="t"/>
          <a:lstStyle/>
          <a:p>
            <a:pPr marL="0" indent="0">
              <a:buNone/>
            </a:pPr>
            <a:r>
              <a:rPr lang="en-US" sz="950" dirty="0">
                <a:solidFill>
                  <a:srgbClr val="C8D8F0"/>
                </a:solidFill>
                <a:latin typeface="Courier New" pitchFamily="34" charset="0"/>
                <a:ea typeface="Courier New" pitchFamily="34" charset="-122"/>
                <a:cs typeface="Courier New" pitchFamily="34" charset="-120"/>
              </a:rPr>
              <a:t># Simulate: if we assert this alignment…</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   fhir:Patient.gender</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   hriv:aligns  care-sm:sio:Sex</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 …what NEW inferences would follow?</a:t>
            </a:r>
            <a:endParaRPr lang="en-US" sz="950" dirty="0"/>
          </a:p>
          <a:p>
            <a:pPr marL="0" indent="0">
              <a:buNone/>
            </a:pP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SELECT ?newRelation ?targetConcept</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WHERE {</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  hriv:simulateAlignment(</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    fhir:Patient.gender,</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    care-sm:sio:Sex</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  ) ?newRelation ?targetConcept .</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a:t>
            </a:r>
            <a:endParaRPr lang="en-US" sz="950" dirty="0"/>
          </a:p>
        </p:txBody>
      </p:sp>
      <p:sp>
        <p:nvSpPr>
          <p:cNvPr id="12" name="Shape 10"/>
          <p:cNvSpPr/>
          <p:nvPr/>
        </p:nvSpPr>
        <p:spPr>
          <a:xfrm>
            <a:off x="320040" y="3063240"/>
            <a:ext cx="8503920" cy="1947672"/>
          </a:xfrm>
          <a:prstGeom prst="rect">
            <a:avLst/>
          </a:prstGeom>
          <a:solidFill>
            <a:srgbClr val="FFFFFF"/>
          </a:solidFill>
          <a:ln w="10160">
            <a:solidFill>
              <a:srgbClr val="DDE5EF"/>
            </a:solidFill>
            <a:prstDash val="solid"/>
          </a:ln>
          <a:effectLst>
            <a:outerShdw blurRad="101600" dist="25400" dir="8100000" algn="bl" rotWithShape="0">
              <a:srgbClr val="000000">
                <a:alpha val="12000"/>
              </a:srgbClr>
            </a:outerShdw>
          </a:effectLst>
        </p:spPr>
      </p:sp>
      <p:sp>
        <p:nvSpPr>
          <p:cNvPr id="13" name="Shape 11"/>
          <p:cNvSpPr/>
          <p:nvPr/>
        </p:nvSpPr>
        <p:spPr>
          <a:xfrm>
            <a:off x="320040" y="3063240"/>
            <a:ext cx="64008" cy="1947672"/>
          </a:xfrm>
          <a:prstGeom prst="rect">
            <a:avLst/>
          </a:prstGeom>
          <a:solidFill>
            <a:srgbClr val="C62828"/>
          </a:solidFill>
          <a:ln w="12700">
            <a:solidFill>
              <a:srgbClr val="333333"/>
            </a:solidFill>
            <a:prstDash val="solid"/>
          </a:ln>
        </p:spPr>
      </p:sp>
      <p:sp>
        <p:nvSpPr>
          <p:cNvPr id="14" name="Text 12"/>
          <p:cNvSpPr/>
          <p:nvPr/>
        </p:nvSpPr>
        <p:spPr>
          <a:xfrm>
            <a:off x="502920" y="3154680"/>
            <a:ext cx="8046720" cy="310896"/>
          </a:xfrm>
          <a:prstGeom prst="rect">
            <a:avLst/>
          </a:prstGeom>
          <a:noFill/>
          <a:ln/>
        </p:spPr>
        <p:txBody>
          <a:bodyPr wrap="square" lIns="0" tIns="0" rIns="0" bIns="0" rtlCol="0" anchor="ctr"/>
          <a:lstStyle/>
          <a:p>
            <a:pPr marL="0" indent="0">
              <a:buNone/>
            </a:pPr>
            <a:r>
              <a:rPr lang="en-US" sz="1100" b="1" dirty="0">
                <a:solidFill>
                  <a:srgbClr val="4A607A"/>
                </a:solidFill>
              </a:rPr>
              <a:t>Result  —  what would be inferred:</a:t>
            </a:r>
            <a:endParaRPr lang="en-US" sz="1100" dirty="0"/>
          </a:p>
        </p:txBody>
      </p:sp>
      <p:sp>
        <p:nvSpPr>
          <p:cNvPr id="15" name="Shape 13"/>
          <p:cNvSpPr/>
          <p:nvPr/>
        </p:nvSpPr>
        <p:spPr>
          <a:xfrm>
            <a:off x="457200" y="3511296"/>
            <a:ext cx="8229600" cy="1417320"/>
          </a:xfrm>
          <a:prstGeom prst="rect">
            <a:avLst/>
          </a:prstGeom>
          <a:solidFill>
            <a:srgbClr val="1A2535"/>
          </a:solidFill>
          <a:ln w="12700">
            <a:solidFill>
              <a:srgbClr val="333333"/>
            </a:solidFill>
            <a:prstDash val="solid"/>
          </a:ln>
        </p:spPr>
      </p:sp>
      <p:sp>
        <p:nvSpPr>
          <p:cNvPr id="16" name="Text 14"/>
          <p:cNvSpPr/>
          <p:nvPr/>
        </p:nvSpPr>
        <p:spPr>
          <a:xfrm>
            <a:off x="621792" y="3621024"/>
            <a:ext cx="7900416" cy="1197864"/>
          </a:xfrm>
          <a:prstGeom prst="rect">
            <a:avLst/>
          </a:prstGeom>
          <a:noFill/>
          <a:ln/>
        </p:spPr>
        <p:txBody>
          <a:bodyPr wrap="square" lIns="0" tIns="0" rIns="0" bIns="0" rtlCol="0" anchor="t"/>
          <a:lstStyle/>
          <a:p>
            <a:pPr marL="0" indent="0">
              <a:buNone/>
            </a:pPr>
            <a:r>
              <a:rPr lang="en-US" sz="950" dirty="0">
                <a:solidFill>
                  <a:srgbClr val="C8D8F0"/>
                </a:solidFill>
                <a:latin typeface="Courier New" pitchFamily="34" charset="0"/>
                <a:ea typeface="Courier New" pitchFamily="34" charset="-122"/>
                <a:cs typeface="Courier New" pitchFamily="34" charset="-120"/>
              </a:rPr>
              <a:t>hrio:AdministrativeGender  owl:equivalentClass  hrio:BiologicalSex  ← ⛔  CLINICALLY WRONG</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fhir:Patient.gender  hriv:aligns  [all concepts aligned to care-sm:sio:Sex via transitivity]</a:t>
            </a:r>
            <a:endParaRPr lang="en-US" sz="950" dirty="0"/>
          </a:p>
          <a:p>
            <a:pPr marL="0" indent="0">
              <a:buNone/>
            </a:pPr>
            <a:r>
              <a:rPr lang="en-US" sz="950" dirty="0">
                <a:solidFill>
                  <a:srgbClr val="C8D8F0"/>
                </a:solidFill>
                <a:latin typeface="Courier New" pitchFamily="34" charset="0"/>
                <a:ea typeface="Courier New" pitchFamily="34" charset="-122"/>
                <a:cs typeface="Courier New" pitchFamily="34" charset="-120"/>
              </a:rPr>
              <a:t>→  Incorrect biological sex data would be silently propagated to ALL downstream FHIR queries.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E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8E0000"/>
          </a:solidFill>
          <a:ln w="12700">
            <a:solidFill>
              <a:srgbClr val="333333"/>
            </a:solidFill>
            <a:prstDash val="solid"/>
          </a:ln>
        </p:spPr>
      </p:sp>
      <p:sp>
        <p:nvSpPr>
          <p:cNvPr id="3" name="Text 1"/>
          <p:cNvSpPr/>
          <p:nvPr/>
        </p:nvSpPr>
        <p:spPr>
          <a:xfrm>
            <a:off x="457200" y="73152"/>
            <a:ext cx="8229600" cy="530352"/>
          </a:xfrm>
          <a:prstGeom prst="rect">
            <a:avLst/>
          </a:prstGeom>
          <a:noFill/>
          <a:ln/>
        </p:spPr>
        <p:txBody>
          <a:bodyPr wrap="square" lIns="0" tIns="0" rIns="0" bIns="0" rtlCol="0" anchor="ctr"/>
          <a:lstStyle/>
          <a:p>
            <a:pPr marL="0" indent="0">
              <a:buNone/>
            </a:pPr>
            <a:r>
              <a:rPr lang="en-US" sz="1400" b="1" dirty="0">
                <a:solidFill>
                  <a:srgbClr val="FFFFFF"/>
                </a:solidFill>
              </a:rPr>
              <a:t>Clinical Informatician  ·  Query 4 Answer</a:t>
            </a:r>
            <a:endParaRPr lang="en-US" sz="1400" dirty="0"/>
          </a:p>
        </p:txBody>
      </p:sp>
      <p:sp>
        <p:nvSpPr>
          <p:cNvPr id="4" name="Text 2"/>
          <p:cNvSpPr/>
          <p:nvPr/>
        </p:nvSpPr>
        <p:spPr>
          <a:xfrm>
            <a:off x="457200" y="777240"/>
            <a:ext cx="8229600" cy="402336"/>
          </a:xfrm>
          <a:prstGeom prst="rect">
            <a:avLst/>
          </a:prstGeom>
          <a:noFill/>
          <a:ln/>
        </p:spPr>
        <p:txBody>
          <a:bodyPr wrap="square" lIns="0" tIns="0" rIns="0" bIns="0" rtlCol="0" anchor="ctr"/>
          <a:lstStyle/>
          <a:p>
            <a:pPr marL="0" indent="0">
              <a:buNone/>
            </a:pPr>
            <a:r>
              <a:rPr lang="en-US" sz="1600" b="1" dirty="0">
                <a:solidFill>
                  <a:srgbClr val="1A2940"/>
                </a:solidFill>
              </a:rPr>
              <a:t>What this means:</a:t>
            </a:r>
            <a:endParaRPr lang="en-US" sz="1600" dirty="0"/>
          </a:p>
        </p:txBody>
      </p:sp>
      <p:sp>
        <p:nvSpPr>
          <p:cNvPr id="5" name="Shape 3"/>
          <p:cNvSpPr/>
          <p:nvPr/>
        </p:nvSpPr>
        <p:spPr>
          <a:xfrm>
            <a:off x="320040" y="1325880"/>
            <a:ext cx="8503920" cy="1417320"/>
          </a:xfrm>
          <a:prstGeom prst="rect">
            <a:avLst/>
          </a:prstGeom>
          <a:solidFill>
            <a:srgbClr val="FFF3E0"/>
          </a:solidFill>
          <a:ln w="25400">
            <a:solidFill>
              <a:srgbClr val="E65100"/>
            </a:solidFill>
            <a:prstDash val="solid"/>
          </a:ln>
        </p:spPr>
      </p:sp>
      <p:sp>
        <p:nvSpPr>
          <p:cNvPr id="6" name="Shape 4"/>
          <p:cNvSpPr/>
          <p:nvPr/>
        </p:nvSpPr>
        <p:spPr>
          <a:xfrm>
            <a:off x="320040" y="1325880"/>
            <a:ext cx="64008" cy="1417320"/>
          </a:xfrm>
          <a:prstGeom prst="rect">
            <a:avLst/>
          </a:prstGeom>
          <a:solidFill>
            <a:srgbClr val="E65100"/>
          </a:solidFill>
          <a:ln w="12700">
            <a:solidFill>
              <a:srgbClr val="333333"/>
            </a:solidFill>
            <a:prstDash val="solid"/>
          </a:ln>
        </p:spPr>
      </p:sp>
      <p:sp>
        <p:nvSpPr>
          <p:cNvPr id="7" name="Text 5"/>
          <p:cNvSpPr/>
          <p:nvPr/>
        </p:nvSpPr>
        <p:spPr>
          <a:xfrm>
            <a:off x="502920" y="1417320"/>
            <a:ext cx="8046720" cy="457200"/>
          </a:xfrm>
          <a:prstGeom prst="rect">
            <a:avLst/>
          </a:prstGeom>
          <a:noFill/>
          <a:ln/>
        </p:spPr>
        <p:txBody>
          <a:bodyPr wrap="square" lIns="0" tIns="0" rIns="0" bIns="0" rtlCol="0" anchor="ctr"/>
          <a:lstStyle/>
          <a:p>
            <a:pPr marL="0" indent="0">
              <a:buNone/>
            </a:pPr>
            <a:r>
              <a:rPr lang="en-US" sz="1700" b="1" dirty="0">
                <a:solidFill>
                  <a:srgbClr val="E65100"/>
                </a:solidFill>
              </a:rPr>
              <a:t>⛔  Do not register — this alignment is clinically dangerous</a:t>
            </a:r>
            <a:endParaRPr lang="en-US" sz="1700" dirty="0"/>
          </a:p>
        </p:txBody>
      </p:sp>
      <p:sp>
        <p:nvSpPr>
          <p:cNvPr id="8" name="Text 6"/>
          <p:cNvSpPr/>
          <p:nvPr/>
        </p:nvSpPr>
        <p:spPr>
          <a:xfrm>
            <a:off x="502920" y="1901952"/>
            <a:ext cx="8046720" cy="749808"/>
          </a:xfrm>
          <a:prstGeom prst="rect">
            <a:avLst/>
          </a:prstGeom>
          <a:noFill/>
          <a:ln/>
        </p:spPr>
        <p:txBody>
          <a:bodyPr wrap="square" lIns="0" tIns="0" rIns="0" bIns="0" rtlCol="0" anchor="ctr"/>
          <a:lstStyle/>
          <a:p>
            <a:pPr marL="0" indent="0">
              <a:buNone/>
            </a:pPr>
            <a:r>
              <a:rPr lang="en-US" sz="1200" dirty="0">
                <a:solidFill>
                  <a:srgbClr val="1A2940"/>
                </a:solidFill>
              </a:rPr>
              <a:t>FHIR Patient.gender means administrative gender. CARE-SM sio:Sex means biological sex. Aligning them would force the inference that AdministrativeGender ≡ BiologicalSex — factually wrong. Every downstream FHIR query about sex would silently return administrative gender data instead.</a:t>
            </a:r>
            <a:endParaRPr lang="en-US" sz="1200" dirty="0"/>
          </a:p>
        </p:txBody>
      </p:sp>
      <p:sp>
        <p:nvSpPr>
          <p:cNvPr id="9" name="Text 7"/>
          <p:cNvSpPr/>
          <p:nvPr/>
        </p:nvSpPr>
        <p:spPr>
          <a:xfrm>
            <a:off x="457200" y="2834640"/>
            <a:ext cx="8229600" cy="365760"/>
          </a:xfrm>
          <a:prstGeom prst="rect">
            <a:avLst/>
          </a:prstGeom>
          <a:noFill/>
          <a:ln/>
        </p:spPr>
        <p:txBody>
          <a:bodyPr wrap="square" lIns="0" tIns="0" rIns="0" bIns="0" rtlCol="0" anchor="ctr"/>
          <a:lstStyle/>
          <a:p>
            <a:pPr marL="0" indent="0">
              <a:buNone/>
            </a:pPr>
            <a:r>
              <a:rPr lang="en-US" sz="1300" b="1" dirty="0">
                <a:solidFill>
                  <a:srgbClr val="1A2940"/>
                </a:solidFill>
              </a:rPr>
              <a:t>What should happen instead:</a:t>
            </a:r>
            <a:endParaRPr lang="en-US" sz="1300" dirty="0"/>
          </a:p>
        </p:txBody>
      </p:sp>
      <p:sp>
        <p:nvSpPr>
          <p:cNvPr id="10" name="Shape 8"/>
          <p:cNvSpPr/>
          <p:nvPr/>
        </p:nvSpPr>
        <p:spPr>
          <a:xfrm>
            <a:off x="320040" y="3310128"/>
            <a:ext cx="2788920" cy="1664208"/>
          </a:xfrm>
          <a:prstGeom prst="rect">
            <a:avLst/>
          </a:prstGeom>
          <a:solidFill>
            <a:srgbClr val="FFFFFF"/>
          </a:solidFill>
          <a:ln w="10160">
            <a:solidFill>
              <a:srgbClr val="DDE5EF"/>
            </a:solidFill>
            <a:prstDash val="solid"/>
          </a:ln>
          <a:effectLst>
            <a:outerShdw blurRad="101600" dist="25400" dir="8100000" algn="bl" rotWithShape="0">
              <a:srgbClr val="000000">
                <a:alpha val="12000"/>
              </a:srgbClr>
            </a:outerShdw>
          </a:effectLst>
        </p:spPr>
      </p:sp>
      <p:sp>
        <p:nvSpPr>
          <p:cNvPr id="11" name="Shape 9"/>
          <p:cNvSpPr/>
          <p:nvPr/>
        </p:nvSpPr>
        <p:spPr>
          <a:xfrm>
            <a:off x="320040" y="3310128"/>
            <a:ext cx="64008" cy="1664208"/>
          </a:xfrm>
          <a:prstGeom prst="rect">
            <a:avLst/>
          </a:prstGeom>
          <a:solidFill>
            <a:srgbClr val="C62828"/>
          </a:solidFill>
          <a:ln w="12700">
            <a:solidFill>
              <a:srgbClr val="333333"/>
            </a:solidFill>
            <a:prstDash val="solid"/>
          </a:ln>
        </p:spPr>
      </p:sp>
      <p:sp>
        <p:nvSpPr>
          <p:cNvPr id="12" name="Text 10"/>
          <p:cNvSpPr/>
          <p:nvPr/>
        </p:nvSpPr>
        <p:spPr>
          <a:xfrm>
            <a:off x="502920" y="3401568"/>
            <a:ext cx="2423160" cy="365760"/>
          </a:xfrm>
          <a:prstGeom prst="rect">
            <a:avLst/>
          </a:prstGeom>
          <a:noFill/>
          <a:ln/>
        </p:spPr>
        <p:txBody>
          <a:bodyPr wrap="square" lIns="0" tIns="0" rIns="0" bIns="0" rtlCol="0" anchor="ctr"/>
          <a:lstStyle/>
          <a:p>
            <a:pPr marL="0" indent="0">
              <a:buNone/>
            </a:pPr>
            <a:r>
              <a:rPr lang="en-US" sz="1250" b="1" dirty="0">
                <a:solidFill>
                  <a:srgbClr val="C62828"/>
                </a:solidFill>
              </a:rPr>
              <a:t>🚫  Register cannotAlign</a:t>
            </a:r>
            <a:endParaRPr lang="en-US" sz="1250" dirty="0"/>
          </a:p>
        </p:txBody>
      </p:sp>
      <p:sp>
        <p:nvSpPr>
          <p:cNvPr id="13" name="Text 11"/>
          <p:cNvSpPr/>
          <p:nvPr/>
        </p:nvSpPr>
        <p:spPr>
          <a:xfrm>
            <a:off x="502920" y="3803904"/>
            <a:ext cx="2423160" cy="1097280"/>
          </a:xfrm>
          <a:prstGeom prst="rect">
            <a:avLst/>
          </a:prstGeom>
          <a:noFill/>
          <a:ln/>
        </p:spPr>
        <p:txBody>
          <a:bodyPr wrap="square" lIns="0" tIns="0" rIns="0" bIns="0" rtlCol="0" anchor="ctr"/>
          <a:lstStyle/>
          <a:p>
            <a:pPr marL="0" indent="0">
              <a:buNone/>
            </a:pPr>
            <a:r>
              <a:rPr lang="en-US" sz="1100" dirty="0">
                <a:solidFill>
                  <a:srgbClr val="1A2940"/>
                </a:solidFill>
              </a:rPr>
              <a:t>The correct relation is hriv:cannotAlign. This explicitly documents the incompatibility and prevents future mistakes.</a:t>
            </a:r>
            <a:endParaRPr lang="en-US" sz="1100" dirty="0"/>
          </a:p>
        </p:txBody>
      </p:sp>
      <p:sp>
        <p:nvSpPr>
          <p:cNvPr id="14" name="Shape 12"/>
          <p:cNvSpPr/>
          <p:nvPr/>
        </p:nvSpPr>
        <p:spPr>
          <a:xfrm>
            <a:off x="3264408" y="3310128"/>
            <a:ext cx="2788920" cy="1664208"/>
          </a:xfrm>
          <a:prstGeom prst="rect">
            <a:avLst/>
          </a:prstGeom>
          <a:solidFill>
            <a:srgbClr val="FFFFFF"/>
          </a:solidFill>
          <a:ln w="10160">
            <a:solidFill>
              <a:srgbClr val="DDE5EF"/>
            </a:solidFill>
            <a:prstDash val="solid"/>
          </a:ln>
          <a:effectLst>
            <a:outerShdw blurRad="101600" dist="25400" dir="8100000" algn="bl" rotWithShape="0">
              <a:srgbClr val="000000">
                <a:alpha val="12000"/>
              </a:srgbClr>
            </a:outerShdw>
          </a:effectLst>
        </p:spPr>
      </p:sp>
      <p:sp>
        <p:nvSpPr>
          <p:cNvPr id="15" name="Shape 13"/>
          <p:cNvSpPr/>
          <p:nvPr/>
        </p:nvSpPr>
        <p:spPr>
          <a:xfrm>
            <a:off x="3264408" y="3310128"/>
            <a:ext cx="64008" cy="1664208"/>
          </a:xfrm>
          <a:prstGeom prst="rect">
            <a:avLst/>
          </a:prstGeom>
          <a:solidFill>
            <a:srgbClr val="7B1FA2"/>
          </a:solidFill>
          <a:ln w="12700">
            <a:solidFill>
              <a:srgbClr val="333333"/>
            </a:solidFill>
            <a:prstDash val="solid"/>
          </a:ln>
        </p:spPr>
      </p:sp>
      <p:sp>
        <p:nvSpPr>
          <p:cNvPr id="16" name="Text 14"/>
          <p:cNvSpPr/>
          <p:nvPr/>
        </p:nvSpPr>
        <p:spPr>
          <a:xfrm>
            <a:off x="3447288" y="3401568"/>
            <a:ext cx="2423160" cy="365760"/>
          </a:xfrm>
          <a:prstGeom prst="rect">
            <a:avLst/>
          </a:prstGeom>
          <a:noFill/>
          <a:ln/>
        </p:spPr>
        <p:txBody>
          <a:bodyPr wrap="square" lIns="0" tIns="0" rIns="0" bIns="0" rtlCol="0" anchor="ctr"/>
          <a:lstStyle/>
          <a:p>
            <a:pPr marL="0" indent="0">
              <a:buNone/>
            </a:pPr>
            <a:r>
              <a:rPr lang="en-US" sz="1250" b="1" dirty="0">
                <a:solidFill>
                  <a:srgbClr val="7B1FA2"/>
                </a:solidFill>
              </a:rPr>
              <a:t>📝  Document the reason</a:t>
            </a:r>
            <a:endParaRPr lang="en-US" sz="1250" dirty="0"/>
          </a:p>
        </p:txBody>
      </p:sp>
      <p:sp>
        <p:nvSpPr>
          <p:cNvPr id="17" name="Text 15"/>
          <p:cNvSpPr/>
          <p:nvPr/>
        </p:nvSpPr>
        <p:spPr>
          <a:xfrm>
            <a:off x="3447288" y="3803904"/>
            <a:ext cx="2423160" cy="1097280"/>
          </a:xfrm>
          <a:prstGeom prst="rect">
            <a:avLst/>
          </a:prstGeom>
          <a:noFill/>
          <a:ln/>
        </p:spPr>
        <p:txBody>
          <a:bodyPr wrap="square" lIns="0" tIns="0" rIns="0" bIns="0" rtlCol="0" anchor="ctr"/>
          <a:lstStyle/>
          <a:p>
            <a:pPr marL="0" indent="0">
              <a:buNone/>
            </a:pPr>
            <a:r>
              <a:rPr lang="en-US" sz="1100" dirty="0">
                <a:solidFill>
                  <a:srgbClr val="1A2940"/>
                </a:solidFill>
              </a:rPr>
              <a:t>The provenance record captures why: AdministrativeGender and BiologicalSex differ in clinical meaning and must never be equated.</a:t>
            </a:r>
            <a:endParaRPr lang="en-US" sz="1100" dirty="0"/>
          </a:p>
        </p:txBody>
      </p:sp>
      <p:sp>
        <p:nvSpPr>
          <p:cNvPr id="18" name="Shape 16"/>
          <p:cNvSpPr/>
          <p:nvPr/>
        </p:nvSpPr>
        <p:spPr>
          <a:xfrm>
            <a:off x="6208776" y="3310128"/>
            <a:ext cx="2788920" cy="1664208"/>
          </a:xfrm>
          <a:prstGeom prst="rect">
            <a:avLst/>
          </a:prstGeom>
          <a:solidFill>
            <a:srgbClr val="FFFFFF"/>
          </a:solidFill>
          <a:ln w="10160">
            <a:solidFill>
              <a:srgbClr val="DDE5EF"/>
            </a:solidFill>
            <a:prstDash val="solid"/>
          </a:ln>
          <a:effectLst>
            <a:outerShdw blurRad="101600" dist="25400" dir="8100000" algn="bl" rotWithShape="0">
              <a:srgbClr val="000000">
                <a:alpha val="12000"/>
              </a:srgbClr>
            </a:outerShdw>
          </a:effectLst>
        </p:spPr>
      </p:sp>
      <p:sp>
        <p:nvSpPr>
          <p:cNvPr id="19" name="Shape 17"/>
          <p:cNvSpPr/>
          <p:nvPr/>
        </p:nvSpPr>
        <p:spPr>
          <a:xfrm>
            <a:off x="6208776" y="3310128"/>
            <a:ext cx="64008" cy="1664208"/>
          </a:xfrm>
          <a:prstGeom prst="rect">
            <a:avLst/>
          </a:prstGeom>
          <a:solidFill>
            <a:srgbClr val="2E7D32"/>
          </a:solidFill>
          <a:ln w="12700">
            <a:solidFill>
              <a:srgbClr val="333333"/>
            </a:solidFill>
            <a:prstDash val="solid"/>
          </a:ln>
        </p:spPr>
      </p:sp>
      <p:sp>
        <p:nvSpPr>
          <p:cNvPr id="20" name="Text 18"/>
          <p:cNvSpPr/>
          <p:nvPr/>
        </p:nvSpPr>
        <p:spPr>
          <a:xfrm>
            <a:off x="6391656" y="3401568"/>
            <a:ext cx="2423160" cy="365760"/>
          </a:xfrm>
          <a:prstGeom prst="rect">
            <a:avLst/>
          </a:prstGeom>
          <a:noFill/>
          <a:ln/>
        </p:spPr>
        <p:txBody>
          <a:bodyPr wrap="square" lIns="0" tIns="0" rIns="0" bIns="0" rtlCol="0" anchor="ctr"/>
          <a:lstStyle/>
          <a:p>
            <a:pPr marL="0" indent="0">
              <a:buNone/>
            </a:pPr>
            <a:r>
              <a:rPr lang="en-US" sz="1250" b="1" dirty="0">
                <a:solidFill>
                  <a:srgbClr val="2E7D32"/>
                </a:solidFill>
              </a:rPr>
              <a:t>✅  Notify data stewards</a:t>
            </a:r>
            <a:endParaRPr lang="en-US" sz="1250" dirty="0"/>
          </a:p>
        </p:txBody>
      </p:sp>
      <p:sp>
        <p:nvSpPr>
          <p:cNvPr id="21" name="Text 19"/>
          <p:cNvSpPr/>
          <p:nvPr/>
        </p:nvSpPr>
        <p:spPr>
          <a:xfrm>
            <a:off x="6391656" y="3803904"/>
            <a:ext cx="2423160" cy="1097280"/>
          </a:xfrm>
          <a:prstGeom prst="rect">
            <a:avLst/>
          </a:prstGeom>
          <a:noFill/>
          <a:ln/>
        </p:spPr>
        <p:txBody>
          <a:bodyPr wrap="square" lIns="0" tIns="0" rIns="0" bIns="0" rtlCol="0" anchor="ctr"/>
          <a:lstStyle/>
          <a:p>
            <a:pPr marL="0" indent="0">
              <a:buNone/>
            </a:pPr>
            <a:r>
              <a:rPr lang="en-US" sz="1100" dirty="0">
                <a:solidFill>
                  <a:srgbClr val="1A2940"/>
                </a:solidFill>
              </a:rPr>
              <a:t>Data stewards for FHIR and CARE-SM are notified that this proposed alignment was reviewed, tested, and rejected.</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F35"/>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marL="0" indent="0">
              <a:buNone/>
            </a:pPr>
            <a:r>
              <a:rPr lang="en-US" sz="3000" b="1" dirty="0">
                <a:solidFill>
                  <a:srgbClr val="FFFFFF"/>
                </a:solidFill>
              </a:rPr>
              <a:t>Both got what they needed.</a:t>
            </a:r>
            <a:endParaRPr lang="en-US" sz="3000" dirty="0"/>
          </a:p>
        </p:txBody>
      </p:sp>
      <p:sp>
        <p:nvSpPr>
          <p:cNvPr id="3" name="Shape 1"/>
          <p:cNvSpPr/>
          <p:nvPr/>
        </p:nvSpPr>
        <p:spPr>
          <a:xfrm>
            <a:off x="320040" y="896112"/>
            <a:ext cx="4023360" cy="2606040"/>
          </a:xfrm>
          <a:prstGeom prst="rect">
            <a:avLst/>
          </a:prstGeom>
          <a:solidFill>
            <a:srgbClr val="00838F">
              <a:alpha val="22000"/>
            </a:srgbClr>
          </a:solidFill>
          <a:ln w="19050">
            <a:solidFill>
              <a:srgbClr val="00838F"/>
            </a:solidFill>
            <a:prstDash val="solid"/>
          </a:ln>
        </p:spPr>
      </p:sp>
      <p:sp>
        <p:nvSpPr>
          <p:cNvPr id="4" name="Shape 2"/>
          <p:cNvSpPr/>
          <p:nvPr/>
        </p:nvSpPr>
        <p:spPr>
          <a:xfrm>
            <a:off x="594360" y="1005840"/>
            <a:ext cx="914400" cy="914400"/>
          </a:xfrm>
          <a:prstGeom prst="ellipse">
            <a:avLst/>
          </a:prstGeom>
          <a:solidFill>
            <a:srgbClr val="00838F"/>
          </a:solidFill>
          <a:ln w="25400">
            <a:solidFill>
              <a:srgbClr val="FFFFFF"/>
            </a:solidFill>
            <a:prstDash val="solid"/>
          </a:ln>
        </p:spPr>
      </p:sp>
      <p:sp>
        <p:nvSpPr>
          <p:cNvPr id="5" name="Text 3"/>
          <p:cNvSpPr/>
          <p:nvPr/>
        </p:nvSpPr>
        <p:spPr>
          <a:xfrm>
            <a:off x="594360" y="1005840"/>
            <a:ext cx="914400" cy="914400"/>
          </a:xfrm>
          <a:prstGeom prst="rect">
            <a:avLst/>
          </a:prstGeom>
          <a:noFill/>
          <a:ln/>
        </p:spPr>
        <p:txBody>
          <a:bodyPr wrap="square" lIns="0" tIns="0" rIns="0" bIns="0" rtlCol="0" anchor="ctr"/>
          <a:lstStyle/>
          <a:p>
            <a:pPr marL="0" indent="0" algn="ctr">
              <a:buNone/>
            </a:pPr>
            <a:r>
              <a:rPr lang="en-US" sz="3200" b="1" dirty="0">
                <a:solidFill>
                  <a:srgbClr val="FFFFFF"/>
                </a:solidFill>
              </a:rPr>
              <a:t>R</a:t>
            </a:r>
            <a:endParaRPr lang="en-US" sz="3200" dirty="0"/>
          </a:p>
        </p:txBody>
      </p:sp>
      <p:sp>
        <p:nvSpPr>
          <p:cNvPr id="6" name="Text 4"/>
          <p:cNvSpPr/>
          <p:nvPr/>
        </p:nvSpPr>
        <p:spPr>
          <a:xfrm>
            <a:off x="1645920" y="1051560"/>
            <a:ext cx="2514600" cy="411480"/>
          </a:xfrm>
          <a:prstGeom prst="rect">
            <a:avLst/>
          </a:prstGeom>
          <a:noFill/>
          <a:ln/>
        </p:spPr>
        <p:txBody>
          <a:bodyPr wrap="square" lIns="0" tIns="0" rIns="0" bIns="0" rtlCol="0" anchor="ctr"/>
          <a:lstStyle/>
          <a:p>
            <a:pPr marL="0" indent="0">
              <a:buNone/>
            </a:pPr>
            <a:r>
              <a:rPr lang="en-US" sz="1500" b="1" dirty="0">
                <a:solidFill>
                  <a:srgbClr val="FFFFFF"/>
                </a:solidFill>
              </a:rPr>
              <a:t>😊  Roberta  —  Researcher</a:t>
            </a:r>
            <a:endParaRPr lang="en-US" sz="1500" dirty="0"/>
          </a:p>
        </p:txBody>
      </p:sp>
      <p:sp>
        <p:nvSpPr>
          <p:cNvPr id="7" name="Text 5"/>
          <p:cNvSpPr/>
          <p:nvPr/>
        </p:nvSpPr>
        <p:spPr>
          <a:xfrm>
            <a:off x="502920" y="1993392"/>
            <a:ext cx="3657600" cy="301752"/>
          </a:xfrm>
          <a:prstGeom prst="rect">
            <a:avLst/>
          </a:prstGeom>
          <a:noFill/>
          <a:ln/>
        </p:spPr>
        <p:txBody>
          <a:bodyPr wrap="square" lIns="0" tIns="0" rIns="0" bIns="0" rtlCol="0" anchor="ctr"/>
          <a:lstStyle/>
          <a:p>
            <a:pPr marL="0" indent="0">
              <a:buNone/>
            </a:pPr>
            <a:r>
              <a:rPr lang="en-US" sz="1100" dirty="0">
                <a:solidFill>
                  <a:srgbClr val="FFFFFF"/>
                </a:solidFill>
              </a:rPr>
              <a:t>✓  Knows CARE-SM has biological sex data</a:t>
            </a:r>
            <a:endParaRPr lang="en-US" sz="1100" dirty="0"/>
          </a:p>
        </p:txBody>
      </p:sp>
      <p:sp>
        <p:nvSpPr>
          <p:cNvPr id="8" name="Text 6"/>
          <p:cNvSpPr/>
          <p:nvPr/>
        </p:nvSpPr>
        <p:spPr>
          <a:xfrm>
            <a:off x="502920" y="2313432"/>
            <a:ext cx="3657600" cy="301752"/>
          </a:xfrm>
          <a:prstGeom prst="rect">
            <a:avLst/>
          </a:prstGeom>
          <a:noFill/>
          <a:ln/>
        </p:spPr>
        <p:txBody>
          <a:bodyPr wrap="square" lIns="0" tIns="0" rIns="0" bIns="0" rtlCol="0" anchor="ctr"/>
          <a:lstStyle/>
          <a:p>
            <a:pPr marL="0" indent="0">
              <a:buNone/>
            </a:pPr>
            <a:r>
              <a:rPr lang="en-US" sz="1100" dirty="0">
                <a:solidFill>
                  <a:srgbClr val="FFFFFF"/>
                </a:solidFill>
              </a:rPr>
              <a:t>✓  Can pool FHIR + openEHR for gender identity</a:t>
            </a:r>
            <a:endParaRPr lang="en-US" sz="1100" dirty="0"/>
          </a:p>
        </p:txBody>
      </p:sp>
      <p:sp>
        <p:nvSpPr>
          <p:cNvPr id="9" name="Text 7"/>
          <p:cNvSpPr/>
          <p:nvPr/>
        </p:nvSpPr>
        <p:spPr>
          <a:xfrm>
            <a:off x="502920" y="2633472"/>
            <a:ext cx="3657600" cy="301752"/>
          </a:xfrm>
          <a:prstGeom prst="rect">
            <a:avLst/>
          </a:prstGeom>
          <a:noFill/>
          <a:ln/>
        </p:spPr>
        <p:txBody>
          <a:bodyPr wrap="square" lIns="0" tIns="0" rIns="0" bIns="0" rtlCol="0" anchor="ctr"/>
          <a:lstStyle/>
          <a:p>
            <a:pPr marL="0" indent="0">
              <a:buNone/>
            </a:pPr>
            <a:r>
              <a:rPr lang="en-US" sz="1100" dirty="0">
                <a:solidFill>
                  <a:srgbClr val="FFFFFF"/>
                </a:solidFill>
              </a:rPr>
              <a:t>✓  Won't waste time requesting wrong data</a:t>
            </a:r>
            <a:endParaRPr lang="en-US" sz="1100" dirty="0"/>
          </a:p>
        </p:txBody>
      </p:sp>
      <p:sp>
        <p:nvSpPr>
          <p:cNvPr id="10" name="Text 8"/>
          <p:cNvSpPr/>
          <p:nvPr/>
        </p:nvSpPr>
        <p:spPr>
          <a:xfrm>
            <a:off x="502920" y="2953512"/>
            <a:ext cx="3657600" cy="301752"/>
          </a:xfrm>
          <a:prstGeom prst="rect">
            <a:avLst/>
          </a:prstGeom>
          <a:noFill/>
          <a:ln/>
        </p:spPr>
        <p:txBody>
          <a:bodyPr wrap="square" lIns="0" tIns="0" rIns="0" bIns="0" rtlCol="0" anchor="ctr"/>
          <a:lstStyle/>
          <a:p>
            <a:pPr marL="0" indent="0">
              <a:buNone/>
            </a:pPr>
            <a:r>
              <a:rPr lang="en-US" sz="1100" dirty="0">
                <a:solidFill>
                  <a:srgbClr val="FFFFFF"/>
                </a:solidFill>
              </a:rPr>
              <a:t>✓  Ready to submit data access requests</a:t>
            </a:r>
            <a:endParaRPr lang="en-US" sz="1100" dirty="0"/>
          </a:p>
        </p:txBody>
      </p:sp>
      <p:sp>
        <p:nvSpPr>
          <p:cNvPr id="11" name="Shape 9"/>
          <p:cNvSpPr/>
          <p:nvPr/>
        </p:nvSpPr>
        <p:spPr>
          <a:xfrm>
            <a:off x="4800600" y="896112"/>
            <a:ext cx="4023360" cy="2606040"/>
          </a:xfrm>
          <a:prstGeom prst="rect">
            <a:avLst/>
          </a:prstGeom>
          <a:solidFill>
            <a:srgbClr val="C62828">
              <a:alpha val="22000"/>
            </a:srgbClr>
          </a:solidFill>
          <a:ln w="19050">
            <a:solidFill>
              <a:srgbClr val="C62828"/>
            </a:solidFill>
            <a:prstDash val="solid"/>
          </a:ln>
        </p:spPr>
      </p:sp>
      <p:sp>
        <p:nvSpPr>
          <p:cNvPr id="12" name="Shape 10"/>
          <p:cNvSpPr/>
          <p:nvPr/>
        </p:nvSpPr>
        <p:spPr>
          <a:xfrm>
            <a:off x="5074920" y="1005840"/>
            <a:ext cx="914400" cy="914400"/>
          </a:xfrm>
          <a:prstGeom prst="ellipse">
            <a:avLst/>
          </a:prstGeom>
          <a:solidFill>
            <a:srgbClr val="C62828"/>
          </a:solidFill>
          <a:ln w="25400">
            <a:solidFill>
              <a:srgbClr val="FFFFFF"/>
            </a:solidFill>
            <a:prstDash val="solid"/>
          </a:ln>
        </p:spPr>
      </p:sp>
      <p:sp>
        <p:nvSpPr>
          <p:cNvPr id="13" name="Text 11"/>
          <p:cNvSpPr/>
          <p:nvPr/>
        </p:nvSpPr>
        <p:spPr>
          <a:xfrm>
            <a:off x="5074920" y="1005840"/>
            <a:ext cx="914400" cy="914400"/>
          </a:xfrm>
          <a:prstGeom prst="rect">
            <a:avLst/>
          </a:prstGeom>
          <a:noFill/>
          <a:ln/>
        </p:spPr>
        <p:txBody>
          <a:bodyPr wrap="square" lIns="0" tIns="0" rIns="0" bIns="0" rtlCol="0" anchor="ctr"/>
          <a:lstStyle/>
          <a:p>
            <a:pPr marL="0" indent="0" algn="ctr">
              <a:buNone/>
            </a:pPr>
            <a:r>
              <a:rPr lang="en-US" sz="2600" b="1" dirty="0">
                <a:solidFill>
                  <a:srgbClr val="FFFFFF"/>
                </a:solidFill>
              </a:rPr>
              <a:t>CI</a:t>
            </a:r>
            <a:endParaRPr lang="en-US" sz="2600" dirty="0"/>
          </a:p>
        </p:txBody>
      </p:sp>
      <p:sp>
        <p:nvSpPr>
          <p:cNvPr id="14" name="Text 12"/>
          <p:cNvSpPr/>
          <p:nvPr/>
        </p:nvSpPr>
        <p:spPr>
          <a:xfrm>
            <a:off x="6126480" y="1051560"/>
            <a:ext cx="2560320" cy="411480"/>
          </a:xfrm>
          <a:prstGeom prst="rect">
            <a:avLst/>
          </a:prstGeom>
          <a:noFill/>
          <a:ln/>
        </p:spPr>
        <p:txBody>
          <a:bodyPr wrap="square" lIns="0" tIns="0" rIns="0" bIns="0" rtlCol="0" anchor="ctr"/>
          <a:lstStyle/>
          <a:p>
            <a:pPr marL="0" indent="0">
              <a:buNone/>
            </a:pPr>
            <a:r>
              <a:rPr lang="en-US" sz="1400" b="1" dirty="0">
                <a:solidFill>
                  <a:srgbClr val="FFFFFF"/>
                </a:solidFill>
              </a:rPr>
              <a:t>😊  Dr. Hassan  —  Clin. Informatician</a:t>
            </a:r>
            <a:endParaRPr lang="en-US" sz="1400" dirty="0"/>
          </a:p>
        </p:txBody>
      </p:sp>
      <p:sp>
        <p:nvSpPr>
          <p:cNvPr id="15" name="Text 13"/>
          <p:cNvSpPr/>
          <p:nvPr/>
        </p:nvSpPr>
        <p:spPr>
          <a:xfrm>
            <a:off x="4983480" y="1993392"/>
            <a:ext cx="3657600" cy="301752"/>
          </a:xfrm>
          <a:prstGeom prst="rect">
            <a:avLst/>
          </a:prstGeom>
          <a:noFill/>
          <a:ln/>
        </p:spPr>
        <p:txBody>
          <a:bodyPr wrap="square" lIns="0" tIns="0" rIns="0" bIns="0" rtlCol="0" anchor="ctr"/>
          <a:lstStyle/>
          <a:p>
            <a:pPr marL="0" indent="0">
              <a:buNone/>
            </a:pPr>
            <a:r>
              <a:rPr lang="en-US" sz="1100" dirty="0">
                <a:solidFill>
                  <a:srgbClr val="FFFFFF"/>
                </a:solidFill>
              </a:rPr>
              <a:t>✓  Validated openEHR mapping as consistent</a:t>
            </a:r>
            <a:endParaRPr lang="en-US" sz="1100" dirty="0"/>
          </a:p>
        </p:txBody>
      </p:sp>
      <p:sp>
        <p:nvSpPr>
          <p:cNvPr id="16" name="Text 14"/>
          <p:cNvSpPr/>
          <p:nvPr/>
        </p:nvSpPr>
        <p:spPr>
          <a:xfrm>
            <a:off x="4983480" y="2313432"/>
            <a:ext cx="3657600" cy="301752"/>
          </a:xfrm>
          <a:prstGeom prst="rect">
            <a:avLst/>
          </a:prstGeom>
          <a:noFill/>
          <a:ln/>
        </p:spPr>
        <p:txBody>
          <a:bodyPr wrap="square" lIns="0" tIns="0" rIns="0" bIns="0" rtlCol="0" anchor="ctr"/>
          <a:lstStyle/>
          <a:p>
            <a:pPr marL="0" indent="0">
              <a:buNone/>
            </a:pPr>
            <a:r>
              <a:rPr lang="en-US" sz="1100" dirty="0">
                <a:solidFill>
                  <a:srgbClr val="FFFFFF"/>
                </a:solidFill>
              </a:rPr>
              <a:t>✓  Blocked a dangerous FHIR ↔ CARE-SM alignment</a:t>
            </a:r>
            <a:endParaRPr lang="en-US" sz="1100" dirty="0"/>
          </a:p>
        </p:txBody>
      </p:sp>
      <p:sp>
        <p:nvSpPr>
          <p:cNvPr id="17" name="Text 15"/>
          <p:cNvSpPr/>
          <p:nvPr/>
        </p:nvSpPr>
        <p:spPr>
          <a:xfrm>
            <a:off x="4983480" y="2633472"/>
            <a:ext cx="3657600" cy="301752"/>
          </a:xfrm>
          <a:prstGeom prst="rect">
            <a:avLst/>
          </a:prstGeom>
          <a:noFill/>
          <a:ln/>
        </p:spPr>
        <p:txBody>
          <a:bodyPr wrap="square" lIns="0" tIns="0" rIns="0" bIns="0" rtlCol="0" anchor="ctr"/>
          <a:lstStyle/>
          <a:p>
            <a:pPr marL="0" indent="0">
              <a:buNone/>
            </a:pPr>
            <a:r>
              <a:rPr lang="en-US" sz="1100" dirty="0">
                <a:solidFill>
                  <a:srgbClr val="FFFFFF"/>
                </a:solidFill>
              </a:rPr>
              <a:t>✓  Provenance recorded for audit trail</a:t>
            </a:r>
            <a:endParaRPr lang="en-US" sz="1100" dirty="0"/>
          </a:p>
        </p:txBody>
      </p:sp>
      <p:sp>
        <p:nvSpPr>
          <p:cNvPr id="18" name="Text 16"/>
          <p:cNvSpPr/>
          <p:nvPr/>
        </p:nvSpPr>
        <p:spPr>
          <a:xfrm>
            <a:off x="4983480" y="2953512"/>
            <a:ext cx="3657600" cy="301752"/>
          </a:xfrm>
          <a:prstGeom prst="rect">
            <a:avLst/>
          </a:prstGeom>
          <a:noFill/>
          <a:ln/>
        </p:spPr>
        <p:txBody>
          <a:bodyPr wrap="square" lIns="0" tIns="0" rIns="0" bIns="0" rtlCol="0" anchor="ctr"/>
          <a:lstStyle/>
          <a:p>
            <a:pPr marL="0" indent="0">
              <a:buNone/>
            </a:pPr>
            <a:r>
              <a:rPr lang="en-US" sz="1100" dirty="0">
                <a:solidFill>
                  <a:srgbClr val="FFFFFF"/>
                </a:solidFill>
              </a:rPr>
              <a:t>✓  Knowledge graph integrity maintained</a:t>
            </a:r>
            <a:endParaRPr lang="en-US" sz="1100" dirty="0"/>
          </a:p>
        </p:txBody>
      </p:sp>
      <p:sp>
        <p:nvSpPr>
          <p:cNvPr id="19" name="Shape 17"/>
          <p:cNvSpPr/>
          <p:nvPr/>
        </p:nvSpPr>
        <p:spPr>
          <a:xfrm>
            <a:off x="320040" y="3639312"/>
            <a:ext cx="8503920" cy="493776"/>
          </a:xfrm>
          <a:prstGeom prst="rect">
            <a:avLst/>
          </a:prstGeom>
          <a:solidFill>
            <a:srgbClr val="FFFFFF">
              <a:alpha val="12000"/>
            </a:srgbClr>
          </a:solidFill>
          <a:ln w="12700">
            <a:solidFill>
              <a:srgbClr val="333333"/>
            </a:solidFill>
            <a:prstDash val="solid"/>
          </a:ln>
        </p:spPr>
      </p:sp>
      <p:sp>
        <p:nvSpPr>
          <p:cNvPr id="20" name="Text 18"/>
          <p:cNvSpPr/>
          <p:nvPr/>
        </p:nvSpPr>
        <p:spPr>
          <a:xfrm>
            <a:off x="502920" y="3657600"/>
            <a:ext cx="8321040" cy="457200"/>
          </a:xfrm>
          <a:prstGeom prst="rect">
            <a:avLst/>
          </a:prstGeom>
          <a:noFill/>
          <a:ln/>
        </p:spPr>
        <p:txBody>
          <a:bodyPr wrap="square" lIns="0" tIns="0" rIns="0" bIns="0" rtlCol="0" anchor="ctr"/>
          <a:lstStyle/>
          <a:p>
            <a:pPr marL="0" indent="0">
              <a:buNone/>
            </a:pPr>
            <a:r>
              <a:rPr lang="en-US" sz="1200" b="1" dirty="0">
                <a:solidFill>
                  <a:srgbClr val="FFFFFF"/>
                </a:solidFill>
              </a:rPr>
              <a:t>Made possible by: HRIV mappings (instances.ttl) + HRIO ontology + SPARQL queries — no patient data touched</a:t>
            </a:r>
            <a:endParaRPr lang="en-US" sz="1200" dirty="0"/>
          </a:p>
        </p:txBody>
      </p:sp>
      <p:sp>
        <p:nvSpPr>
          <p:cNvPr id="21" name="Text 19"/>
          <p:cNvSpPr/>
          <p:nvPr/>
        </p:nvSpPr>
        <p:spPr>
          <a:xfrm>
            <a:off x="457200" y="4251960"/>
            <a:ext cx="2011680" cy="310896"/>
          </a:xfrm>
          <a:prstGeom prst="rect">
            <a:avLst/>
          </a:prstGeom>
          <a:noFill/>
          <a:ln/>
        </p:spPr>
        <p:txBody>
          <a:bodyPr wrap="square" lIns="0" tIns="0" rIns="0" bIns="0" rtlCol="0" anchor="ctr"/>
          <a:lstStyle/>
          <a:p>
            <a:pPr marL="0" indent="0">
              <a:buNone/>
            </a:pPr>
            <a:r>
              <a:rPr lang="en-US" sz="1200" b="1" dirty="0">
                <a:solidFill>
                  <a:srgbClr val="00838F"/>
                </a:solidFill>
              </a:rPr>
              <a:t>Key takeaways  →</a:t>
            </a:r>
            <a:endParaRPr lang="en-US" sz="1200" dirty="0"/>
          </a:p>
        </p:txBody>
      </p:sp>
      <p:sp>
        <p:nvSpPr>
          <p:cNvPr id="22" name="Text 20"/>
          <p:cNvSpPr/>
          <p:nvPr/>
        </p:nvSpPr>
        <p:spPr>
          <a:xfrm>
            <a:off x="457200" y="4590288"/>
            <a:ext cx="8321040" cy="164592"/>
          </a:xfrm>
          <a:prstGeom prst="rect">
            <a:avLst/>
          </a:prstGeom>
          <a:noFill/>
          <a:ln/>
        </p:spPr>
        <p:txBody>
          <a:bodyPr wrap="square" lIns="0" tIns="0" rIns="0" bIns="0" rtlCol="0" anchor="ctr"/>
          <a:lstStyle/>
          <a:p>
            <a:pPr marL="0" indent="0">
              <a:buNone/>
            </a:pPr>
            <a:r>
              <a:rPr lang="en-US" sz="950" dirty="0">
                <a:solidFill>
                  <a:srgbClr val="8AA0B8"/>
                </a:solidFill>
              </a:rPr>
              <a:t>→  Semantic interoperability works at the metadata level — no patient data needed for variable discovery</a:t>
            </a:r>
            <a:endParaRPr lang="en-US" sz="950" dirty="0"/>
          </a:p>
        </p:txBody>
      </p:sp>
      <p:sp>
        <p:nvSpPr>
          <p:cNvPr id="23" name="Text 21"/>
          <p:cNvSpPr/>
          <p:nvPr/>
        </p:nvSpPr>
        <p:spPr>
          <a:xfrm>
            <a:off x="457200" y="4764024"/>
            <a:ext cx="8321040" cy="164592"/>
          </a:xfrm>
          <a:prstGeom prst="rect">
            <a:avLst/>
          </a:prstGeom>
          <a:noFill/>
          <a:ln/>
        </p:spPr>
        <p:txBody>
          <a:bodyPr wrap="square" lIns="0" tIns="0" rIns="0" bIns="0" rtlCol="0" anchor="ctr"/>
          <a:lstStyle/>
          <a:p>
            <a:pPr marL="0" indent="0">
              <a:buNone/>
            </a:pPr>
            <a:r>
              <a:rPr lang="en-US" sz="950" dirty="0">
                <a:solidFill>
                  <a:srgbClr val="8AA0B8"/>
                </a:solidFill>
              </a:rPr>
              <a:t>→  The same infrastructure serves researchers (find data) and clinical informaticians (validate mappings)</a:t>
            </a:r>
            <a:endParaRPr lang="en-US" sz="950" dirty="0"/>
          </a:p>
        </p:txBody>
      </p:sp>
      <p:sp>
        <p:nvSpPr>
          <p:cNvPr id="24" name="Text 22"/>
          <p:cNvSpPr/>
          <p:nvPr/>
        </p:nvSpPr>
        <p:spPr>
          <a:xfrm>
            <a:off x="457200" y="4937760"/>
            <a:ext cx="8321040" cy="164592"/>
          </a:xfrm>
          <a:prstGeom prst="rect">
            <a:avLst/>
          </a:prstGeom>
          <a:noFill/>
          <a:ln/>
        </p:spPr>
        <p:txBody>
          <a:bodyPr wrap="square" lIns="0" tIns="0" rIns="0" bIns="0" rtlCol="0" anchor="ctr"/>
          <a:lstStyle/>
          <a:p>
            <a:pPr marL="0" indent="0">
              <a:buNone/>
            </a:pPr>
            <a:r>
              <a:rPr lang="en-US" sz="950" dirty="0">
                <a:solidFill>
                  <a:srgbClr val="8AA0B8"/>
                </a:solidFill>
              </a:rPr>
              <a:t>→  Natural next step: add synthetic patient data as RDF for federated queries across all three sources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Semantic Interoperability in Health Data</dc:title>
  <dc:subject>PptxGenJS Presentation</dc:subject>
  <dc:creator>PptxGenJS</dc:creator>
  <cp:lastModifiedBy>PptxGenJS</cp:lastModifiedBy>
  <cp:revision>20</cp:revision>
  <dcterms:created xsi:type="dcterms:W3CDTF">2026-04-16T14:02:22Z</dcterms:created>
  <dcterms:modified xsi:type="dcterms:W3CDTF">2026-04-16T14:11:54Z</dcterms:modified>
</cp:coreProperties>
</file>