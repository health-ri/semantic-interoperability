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  <p15:guide id="3" pos="260" userDrawn="1">
          <p15:clr>
            <a:srgbClr val="A4A3A4"/>
          </p15:clr>
        </p15:guide>
        <p15:guide id="4" pos="18811" userDrawn="1">
          <p15:clr>
            <a:srgbClr val="A4A3A4"/>
          </p15:clr>
        </p15:guide>
        <p15:guide id="5" pos="11509" userDrawn="1">
          <p15:clr>
            <a:srgbClr val="A4A3A4"/>
          </p15:clr>
        </p15:guide>
        <p15:guide id="6" pos="9377" userDrawn="1">
          <p15:clr>
            <a:srgbClr val="A4A3A4"/>
          </p15:clr>
        </p15:guide>
        <p15:guide id="7" pos="14253" userDrawn="1">
          <p15:clr>
            <a:srgbClr val="A4A3A4"/>
          </p15:clr>
        </p15:guide>
        <p15:guide id="8" orient="horz" pos="7789" userDrawn="1">
          <p15:clr>
            <a:srgbClr val="A4A3A4"/>
          </p15:clr>
        </p15:guide>
        <p15:guide id="9" orient="horz" pos="192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2E64"/>
    <a:srgbClr val="15467B"/>
    <a:srgbClr val="D2E4F5"/>
    <a:srgbClr val="FEEFDA"/>
    <a:srgbClr val="FDE4C3"/>
    <a:srgbClr val="75ABE7"/>
    <a:srgbClr val="8A6404"/>
    <a:srgbClr val="F9B719"/>
    <a:srgbClr val="DCEAF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>
        <p:scale>
          <a:sx n="33" d="100"/>
          <a:sy n="33" d="100"/>
        </p:scale>
        <p:origin x="900" y="-2136"/>
      </p:cViewPr>
      <p:guideLst>
        <p:guide orient="horz" pos="13482"/>
        <p:guide pos="9536"/>
        <p:guide pos="260"/>
        <p:guide pos="18811"/>
        <p:guide pos="11509"/>
        <p:guide pos="9377"/>
        <p:guide pos="14253"/>
        <p:guide orient="horz" pos="7789"/>
        <p:guide orient="horz" pos="19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3B46-2E60-4845-AD21-A688B141E911}" type="datetimeFigureOut">
              <a:rPr lang="en-NL" smtClean="0"/>
              <a:t>13/05/2026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6FC9-3AE0-4B24-9C2F-0330F177997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11679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3B46-2E60-4845-AD21-A688B141E911}" type="datetimeFigureOut">
              <a:rPr lang="en-NL" smtClean="0"/>
              <a:t>13/05/2026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6FC9-3AE0-4B24-9C2F-0330F177997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91706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3B46-2E60-4845-AD21-A688B141E911}" type="datetimeFigureOut">
              <a:rPr lang="en-NL" smtClean="0"/>
              <a:t>13/05/2026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6FC9-3AE0-4B24-9C2F-0330F177997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31411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3B46-2E60-4845-AD21-A688B141E911}" type="datetimeFigureOut">
              <a:rPr lang="en-NL" smtClean="0"/>
              <a:t>13/05/2026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6FC9-3AE0-4B24-9C2F-0330F177997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35533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3B46-2E60-4845-AD21-A688B141E911}" type="datetimeFigureOut">
              <a:rPr lang="en-NL" smtClean="0"/>
              <a:t>13/05/2026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6FC9-3AE0-4B24-9C2F-0330F177997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45704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3B46-2E60-4845-AD21-A688B141E911}" type="datetimeFigureOut">
              <a:rPr lang="en-NL" smtClean="0"/>
              <a:t>13/05/2026</a:t>
            </a:fld>
            <a:endParaRPr lang="en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6FC9-3AE0-4B24-9C2F-0330F177997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15145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3B46-2E60-4845-AD21-A688B141E911}" type="datetimeFigureOut">
              <a:rPr lang="en-NL" smtClean="0"/>
              <a:t>13/05/2026</a:t>
            </a:fld>
            <a:endParaRPr lang="en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6FC9-3AE0-4B24-9C2F-0330F177997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0422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3B46-2E60-4845-AD21-A688B141E911}" type="datetimeFigureOut">
              <a:rPr lang="en-NL" smtClean="0"/>
              <a:t>13/05/2026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6FC9-3AE0-4B24-9C2F-0330F177997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6705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3B46-2E60-4845-AD21-A688B141E911}" type="datetimeFigureOut">
              <a:rPr lang="en-NL" smtClean="0"/>
              <a:t>13/05/2026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6FC9-3AE0-4B24-9C2F-0330F177997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798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3B46-2E60-4845-AD21-A688B141E911}" type="datetimeFigureOut">
              <a:rPr lang="en-NL" smtClean="0"/>
              <a:t>13/05/2026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6FC9-3AE0-4B24-9C2F-0330F177997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99510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3B46-2E60-4845-AD21-A688B141E911}" type="datetimeFigureOut">
              <a:rPr lang="en-NL" smtClean="0"/>
              <a:t>13/05/2026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26FC9-3AE0-4B24-9C2F-0330F177997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38749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E3B46-2E60-4845-AD21-A688B141E911}" type="datetimeFigureOut">
              <a:rPr lang="en-NL" smtClean="0"/>
              <a:t>13/05/2026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326FC9-3AE0-4B24-9C2F-0330F177997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24664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51791-F763-276C-7301-8EA69B084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2">
            <a:extLst>
              <a:ext uri="{FF2B5EF4-FFF2-40B4-BE49-F238E27FC236}">
                <a16:creationId xmlns:a16="http://schemas.microsoft.com/office/drawing/2014/main" id="{68EDB5D4-32CD-07F4-8439-92B75FE6F685}"/>
              </a:ext>
            </a:extLst>
          </p:cNvPr>
          <p:cNvSpPr txBox="1"/>
          <p:nvPr/>
        </p:nvSpPr>
        <p:spPr>
          <a:xfrm>
            <a:off x="439738" y="6003925"/>
            <a:ext cx="30148212" cy="34782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7200" dirty="0">
                <a:solidFill>
                  <a:schemeClr val="bg1"/>
                </a:solidFill>
              </a:rPr>
              <a:t>Building a single national comprehensive infrastructure to enable </a:t>
            </a:r>
          </a:p>
          <a:p>
            <a:pPr eaLnBrk="1" hangingPunct="1">
              <a:defRPr/>
            </a:pPr>
            <a:r>
              <a:rPr lang="en-US" sz="7200" dirty="0">
                <a:solidFill>
                  <a:schemeClr val="bg1"/>
                </a:solidFill>
              </a:rPr>
              <a:t>ground-breaking Personalized Medicine &amp; Health research: Health-RI</a:t>
            </a:r>
            <a:endParaRPr lang="de-DE" sz="7200" dirty="0">
              <a:solidFill>
                <a:schemeClr val="bg1"/>
              </a:solidFill>
            </a:endParaRPr>
          </a:p>
          <a:p>
            <a:pPr eaLnBrk="1" hangingPunct="1">
              <a:defRPr/>
            </a:pPr>
            <a:endParaRPr lang="en-US" sz="3600" b="1" dirty="0">
              <a:solidFill>
                <a:schemeClr val="bg1"/>
              </a:solidFill>
              <a:latin typeface="Arial" charset="0"/>
              <a:ea typeface="ＭＳ Ｐゴシック" charset="-128"/>
            </a:endParaRPr>
          </a:p>
          <a:p>
            <a:pPr eaLnBrk="1" hangingPunct="1">
              <a:defRPr/>
            </a:pPr>
            <a:r>
              <a:rPr lang="en-US" sz="4000" b="1" dirty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On behalf of the Dutch BBMRI node</a:t>
            </a:r>
            <a:endParaRPr lang="en-GB" sz="4000" b="1" dirty="0">
              <a:solidFill>
                <a:schemeClr val="bg1"/>
              </a:solidFill>
              <a:latin typeface="+mn-lt"/>
              <a:ea typeface="ＭＳ Ｐゴシック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195BD-4218-AF7F-4445-137C0C61D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56" y="41297523"/>
            <a:ext cx="29408437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6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1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9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9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20875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20875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20875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20875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None/>
            </a:pPr>
            <a:r>
              <a:rPr lang="de-DE" altLang="de-DE" sz="2800" baseline="30000" dirty="0">
                <a:solidFill>
                  <a:srgbClr val="15467B"/>
                </a:solidFill>
              </a:rPr>
              <a:t>1</a:t>
            </a:r>
            <a:r>
              <a:rPr lang="de-DE" altLang="de-DE" sz="2800" dirty="0">
                <a:solidFill>
                  <a:srgbClr val="15467B"/>
                </a:solidFill>
              </a:rPr>
              <a:t> Health-RI, Jaarbeursplein 6, 3521 AL, Utrecht, The Netherlands</a:t>
            </a:r>
          </a:p>
          <a:p>
            <a:pPr algn="just">
              <a:spcBef>
                <a:spcPct val="0"/>
              </a:spcBef>
              <a:buNone/>
            </a:pPr>
            <a:r>
              <a:rPr lang="de-DE" altLang="de-DE" sz="2800" baseline="30000" dirty="0">
                <a:solidFill>
                  <a:srgbClr val="15467B"/>
                </a:solidFill>
              </a:rPr>
              <a:t>2</a:t>
            </a:r>
            <a:r>
              <a:rPr lang="de-DE" altLang="de-DE" sz="2800" dirty="0">
                <a:solidFill>
                  <a:srgbClr val="15467B"/>
                </a:solidFill>
              </a:rPr>
              <a:t> Leiden University Medical Center (LUMC), Albinusdreef 2, 2333 ZA Leiden, The Netherlands</a:t>
            </a:r>
          </a:p>
          <a:p>
            <a:pPr algn="just">
              <a:spcBef>
                <a:spcPct val="0"/>
              </a:spcBef>
              <a:buNone/>
            </a:pPr>
            <a:r>
              <a:rPr lang="de-DE" altLang="de-DE" sz="2800" baseline="30000" dirty="0">
                <a:solidFill>
                  <a:srgbClr val="15467B"/>
                </a:solidFill>
              </a:rPr>
              <a:t>3</a:t>
            </a:r>
            <a:r>
              <a:rPr lang="de-DE" altLang="de-DE" sz="2800" dirty="0">
                <a:solidFill>
                  <a:srgbClr val="15467B"/>
                </a:solidFill>
              </a:rPr>
              <a:t> Amsterdam University Medical Center, Meibergdreef 9, 1105 AZ, Amsterdam-Zuidoost, The Netherlands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9E9019-F8B9-55FA-CBE6-34FD1E987B59}"/>
              </a:ext>
            </a:extLst>
          </p:cNvPr>
          <p:cNvCxnSpPr/>
          <p:nvPr/>
        </p:nvCxnSpPr>
        <p:spPr>
          <a:xfrm>
            <a:off x="174625" y="41140917"/>
            <a:ext cx="30087888" cy="0"/>
          </a:xfrm>
          <a:prstGeom prst="line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Afbeelding 11">
            <a:extLst>
              <a:ext uri="{FF2B5EF4-FFF2-40B4-BE49-F238E27FC236}">
                <a16:creationId xmlns:a16="http://schemas.microsoft.com/office/drawing/2014/main" id="{20314BBB-8C08-5060-1F3F-4DB2590B8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863" y="3182938"/>
            <a:ext cx="30318076" cy="672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hthoek 21">
            <a:extLst>
              <a:ext uri="{FF2B5EF4-FFF2-40B4-BE49-F238E27FC236}">
                <a16:creationId xmlns:a16="http://schemas.microsoft.com/office/drawing/2014/main" id="{A9932792-AD35-BA05-6B30-3976469D0AEC}"/>
              </a:ext>
            </a:extLst>
          </p:cNvPr>
          <p:cNvSpPr/>
          <p:nvPr/>
        </p:nvSpPr>
        <p:spPr>
          <a:xfrm>
            <a:off x="439738" y="-19050"/>
            <a:ext cx="3097212" cy="9344025"/>
          </a:xfrm>
          <a:prstGeom prst="rect">
            <a:avLst/>
          </a:prstGeom>
          <a:solidFill>
            <a:srgbClr val="F8AF0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Lato" charset="0"/>
              <a:ea typeface="Lato" charset="0"/>
              <a:cs typeface="Lato" charset="0"/>
            </a:endParaRPr>
          </a:p>
        </p:txBody>
      </p:sp>
      <p:sp>
        <p:nvSpPr>
          <p:cNvPr id="16" name="Textfeld 2">
            <a:extLst>
              <a:ext uri="{FF2B5EF4-FFF2-40B4-BE49-F238E27FC236}">
                <a16:creationId xmlns:a16="http://schemas.microsoft.com/office/drawing/2014/main" id="{6566B02B-F121-2677-A6B6-B906A29342A3}"/>
              </a:ext>
            </a:extLst>
          </p:cNvPr>
          <p:cNvSpPr txBox="1"/>
          <p:nvPr/>
        </p:nvSpPr>
        <p:spPr>
          <a:xfrm>
            <a:off x="4019550" y="4044950"/>
            <a:ext cx="25606375" cy="520142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9000" b="1" dirty="0">
                <a:solidFill>
                  <a:schemeClr val="bg1"/>
                </a:solidFill>
              </a:rPr>
              <a:t>Enabling Semantic Traceability in Health Data: The Health-RI Semantic Interoperability Initiative</a:t>
            </a:r>
            <a:endParaRPr lang="en-US" sz="9000" b="1" dirty="0">
              <a:solidFill>
                <a:schemeClr val="bg1"/>
              </a:solidFill>
              <a:latin typeface="Arial" charset="0"/>
              <a:ea typeface="ＭＳ Ｐゴシック" charset="-128"/>
            </a:endParaRPr>
          </a:p>
          <a:p>
            <a:pPr eaLnBrk="1" hangingPunct="1">
              <a:defRPr/>
            </a:pPr>
            <a:endParaRPr lang="en-US" sz="3600" b="1" dirty="0">
              <a:solidFill>
                <a:schemeClr val="bg1"/>
              </a:solidFill>
              <a:latin typeface="Arial" charset="0"/>
              <a:ea typeface="ＭＳ Ｐゴシック" charset="-128"/>
            </a:endParaRPr>
          </a:p>
          <a:p>
            <a:pPr algn="r" eaLnBrk="1" hangingPunct="1">
              <a:defRPr/>
            </a:pPr>
            <a:endParaRPr lang="en-US" sz="3600" b="1" dirty="0">
              <a:solidFill>
                <a:schemeClr val="bg1"/>
              </a:solidFill>
              <a:latin typeface="Arial" charset="0"/>
              <a:ea typeface="ＭＳ Ｐゴシック" charset="-128"/>
            </a:endParaRPr>
          </a:p>
          <a:p>
            <a:pPr algn="r">
              <a:defRPr/>
            </a:pPr>
            <a:r>
              <a:rPr lang="en-US" sz="4000" b="1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Pedro Paulo F. Barcelos</a:t>
            </a:r>
            <a:r>
              <a:rPr lang="en-US" sz="4000" b="1" i="1" baseline="300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000" b="1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Niek van Ulzen</a:t>
            </a:r>
            <a:r>
              <a:rPr lang="en-US" sz="4000" b="1" i="1" baseline="300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000" b="1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Reinier Groeneveld</a:t>
            </a:r>
            <a:r>
              <a:rPr lang="en-US" sz="4000" b="1" i="1" baseline="300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000" b="1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Ana Konrad</a:t>
            </a:r>
            <a:r>
              <a:rPr lang="en-US" sz="4000" b="1" i="1" baseline="300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000" b="1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r">
              <a:defRPr/>
            </a:pPr>
            <a:r>
              <a:rPr lang="en-US" sz="4000" b="1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Qasim Khalid</a:t>
            </a:r>
            <a:r>
              <a:rPr lang="en-US" sz="4000" b="1" i="1" baseline="300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4000" b="1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Shuxin</a:t>
            </a:r>
            <a:r>
              <a:rPr lang="en-US" sz="4000" b="1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Zhang</a:t>
            </a:r>
            <a:r>
              <a:rPr lang="en-US" sz="4000" b="1" i="1" baseline="300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4000" b="1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Annemarie Trompert</a:t>
            </a:r>
            <a:r>
              <a:rPr lang="en-US" sz="4000" b="1" i="1" baseline="300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000" b="1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and Janet Vos</a:t>
            </a:r>
            <a:r>
              <a:rPr lang="en-US" sz="4000" b="1" i="1" baseline="300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GB" sz="4000" b="1" dirty="0">
              <a:solidFill>
                <a:schemeClr val="bg1"/>
              </a:solidFill>
              <a:ea typeface="ＭＳ Ｐゴシック" charset="-128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BCC585ED-C59E-8A81-5388-3D3CA78710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583071" y="-95249"/>
            <a:ext cx="9679442" cy="3397194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81976CDF-34FB-AB22-36FC-CDB801E64605}"/>
              </a:ext>
            </a:extLst>
          </p:cNvPr>
          <p:cNvSpPr/>
          <p:nvPr/>
        </p:nvSpPr>
        <p:spPr>
          <a:xfrm>
            <a:off x="15389225" y="31540035"/>
            <a:ext cx="14482766" cy="1073150"/>
          </a:xfrm>
          <a:prstGeom prst="rect">
            <a:avLst/>
          </a:prstGeom>
          <a:solidFill>
            <a:srgbClr val="F9B7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15467B"/>
                </a:solidFill>
              </a:rPr>
              <a:t>REFERENCES</a:t>
            </a:r>
            <a:endParaRPr lang="en-NL" sz="4000" b="1" dirty="0">
              <a:solidFill>
                <a:srgbClr val="15467B"/>
              </a:solidFill>
            </a:endParaRPr>
          </a:p>
        </p:txBody>
      </p:sp>
      <p:sp>
        <p:nvSpPr>
          <p:cNvPr id="818" name="TextBox 817">
            <a:extLst>
              <a:ext uri="{FF2B5EF4-FFF2-40B4-BE49-F238E27FC236}">
                <a16:creationId xmlns:a16="http://schemas.microsoft.com/office/drawing/2014/main" id="{644E876D-EE45-365A-9558-8D243EE4EC60}"/>
              </a:ext>
            </a:extLst>
          </p:cNvPr>
          <p:cNvSpPr txBox="1"/>
          <p:nvPr/>
        </p:nvSpPr>
        <p:spPr>
          <a:xfrm>
            <a:off x="9097108" y="24501231"/>
            <a:ext cx="70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NL" dirty="0"/>
          </a:p>
        </p:txBody>
      </p:sp>
      <p:sp>
        <p:nvSpPr>
          <p:cNvPr id="819" name="TextBox 818">
            <a:extLst>
              <a:ext uri="{FF2B5EF4-FFF2-40B4-BE49-F238E27FC236}">
                <a16:creationId xmlns:a16="http://schemas.microsoft.com/office/drawing/2014/main" id="{D2E4195E-CA18-8390-224A-74E771AD3CEC}"/>
              </a:ext>
            </a:extLst>
          </p:cNvPr>
          <p:cNvSpPr txBox="1"/>
          <p:nvPr/>
        </p:nvSpPr>
        <p:spPr>
          <a:xfrm>
            <a:off x="20217745" y="34612001"/>
            <a:ext cx="892744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15467B"/>
                </a:solidFill>
                <a:latin typeface="Atkinson Hyperlegible Mono Semi" panose="02000009000000000000" pitchFamily="49" charset="0"/>
              </a:rPr>
              <a:t>https://w3id.</a:t>
            </a:r>
            <a:r>
              <a:rPr lang="en-US" sz="4000" b="1">
                <a:solidFill>
                  <a:srgbClr val="15467B"/>
                </a:solidFill>
                <a:latin typeface="Atkinson Hyperlegible Mono Semi" panose="02000009000000000000" pitchFamily="49" charset="0"/>
              </a:rPr>
              <a:t>org/health-ri/</a:t>
            </a:r>
          </a:p>
          <a:p>
            <a:r>
              <a:rPr lang="en-US" sz="4000" b="1" dirty="0">
                <a:solidFill>
                  <a:srgbClr val="15467B"/>
                </a:solidFill>
                <a:latin typeface="Atkinson Hyperlegible Mono Semi" panose="02000009000000000000" pitchFamily="49" charset="0"/>
              </a:rPr>
              <a:t>semantic-interoperability</a:t>
            </a:r>
            <a:endParaRPr lang="en-NL" sz="4000" dirty="0">
              <a:solidFill>
                <a:srgbClr val="15467B"/>
              </a:solidFill>
              <a:latin typeface="Atkinson Hyperlegible Mono Semi" panose="02000009000000000000" pitchFamily="49" charset="0"/>
            </a:endParaRPr>
          </a:p>
        </p:txBody>
      </p: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5F961425-2998-8BD2-13AD-C62C0A5891D8}"/>
              </a:ext>
            </a:extLst>
          </p:cNvPr>
          <p:cNvGrpSpPr/>
          <p:nvPr/>
        </p:nvGrpSpPr>
        <p:grpSpPr>
          <a:xfrm>
            <a:off x="855860" y="33829451"/>
            <a:ext cx="13679754" cy="5715788"/>
            <a:chOff x="16921684" y="21428773"/>
            <a:chExt cx="10967539" cy="4582548"/>
          </a:xfrm>
        </p:grpSpPr>
        <p:sp>
          <p:nvSpPr>
            <p:cNvPr id="1031" name="Callout: Bent Line with Border and Accent Bar 1030">
              <a:extLst>
                <a:ext uri="{FF2B5EF4-FFF2-40B4-BE49-F238E27FC236}">
                  <a16:creationId xmlns:a16="http://schemas.microsoft.com/office/drawing/2014/main" id="{3F985910-7BFD-9ABE-4342-8E122F318386}"/>
                </a:ext>
              </a:extLst>
            </p:cNvPr>
            <p:cNvSpPr/>
            <p:nvPr/>
          </p:nvSpPr>
          <p:spPr>
            <a:xfrm flipH="1">
              <a:off x="17087873" y="21428773"/>
              <a:ext cx="2757729" cy="1594014"/>
            </a:xfrm>
            <a:prstGeom prst="accent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69622"/>
                <a:gd name="adj6" fmla="val -52586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032" name="Callout: Bent Line with Border and Accent Bar 1031">
              <a:extLst>
                <a:ext uri="{FF2B5EF4-FFF2-40B4-BE49-F238E27FC236}">
                  <a16:creationId xmlns:a16="http://schemas.microsoft.com/office/drawing/2014/main" id="{85BDD3C5-D7DB-5A83-D814-8391584647C3}"/>
                </a:ext>
              </a:extLst>
            </p:cNvPr>
            <p:cNvSpPr/>
            <p:nvPr/>
          </p:nvSpPr>
          <p:spPr>
            <a:xfrm>
              <a:off x="25131493" y="24417307"/>
              <a:ext cx="2757730" cy="1594014"/>
            </a:xfrm>
            <a:prstGeom prst="accentBorderCallout2">
              <a:avLst>
                <a:gd name="adj1" fmla="val 84593"/>
                <a:gd name="adj2" fmla="val -7926"/>
                <a:gd name="adj3" fmla="val 84381"/>
                <a:gd name="adj4" fmla="val -21082"/>
                <a:gd name="adj5" fmla="val 32889"/>
                <a:gd name="adj6" fmla="val -54287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033" name="Callout: Bent Line with Border and Accent Bar 1032">
              <a:extLst>
                <a:ext uri="{FF2B5EF4-FFF2-40B4-BE49-F238E27FC236}">
                  <a16:creationId xmlns:a16="http://schemas.microsoft.com/office/drawing/2014/main" id="{5DD33BF5-04A0-6E8C-1763-4712F3A90644}"/>
                </a:ext>
              </a:extLst>
            </p:cNvPr>
            <p:cNvSpPr/>
            <p:nvPr/>
          </p:nvSpPr>
          <p:spPr>
            <a:xfrm>
              <a:off x="25131493" y="21435160"/>
              <a:ext cx="2757729" cy="1594014"/>
            </a:xfrm>
            <a:prstGeom prst="accent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69622"/>
                <a:gd name="adj6" fmla="val -52586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3E4F0C53-6F7E-F0BF-9769-06B243B098D1}"/>
                </a:ext>
              </a:extLst>
            </p:cNvPr>
            <p:cNvGrpSpPr/>
            <p:nvPr/>
          </p:nvGrpSpPr>
          <p:grpSpPr>
            <a:xfrm>
              <a:off x="20463657" y="21692383"/>
              <a:ext cx="4049782" cy="4031109"/>
              <a:chOff x="3649699" y="1620812"/>
              <a:chExt cx="4751095" cy="4729189"/>
            </a:xfrm>
          </p:grpSpPr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E9177F13-2836-959F-1805-BD2A0701373F}"/>
                  </a:ext>
                </a:extLst>
              </p:cNvPr>
              <p:cNvSpPr/>
              <p:nvPr/>
            </p:nvSpPr>
            <p:spPr>
              <a:xfrm>
                <a:off x="4068966" y="1865981"/>
                <a:ext cx="4086342" cy="4086343"/>
              </a:xfrm>
              <a:custGeom>
                <a:avLst/>
                <a:gdLst>
                  <a:gd name="connsiteX0" fmla="*/ 1920240 w 3840480"/>
                  <a:gd name="connsiteY0" fmla="*/ 0 h 3840480"/>
                  <a:gd name="connsiteX1" fmla="*/ 3583217 w 3840480"/>
                  <a:gd name="connsiteY1" fmla="*/ 960120 h 3840480"/>
                  <a:gd name="connsiteX2" fmla="*/ 3583217 w 3840480"/>
                  <a:gd name="connsiteY2" fmla="*/ 2880360 h 3840480"/>
                  <a:gd name="connsiteX3" fmla="*/ 1920240 w 3840480"/>
                  <a:gd name="connsiteY3" fmla="*/ 1920240 h 3840480"/>
                  <a:gd name="connsiteX4" fmla="*/ 1920240 w 3840480"/>
                  <a:gd name="connsiteY4" fmla="*/ 0 h 3840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40480" h="3840480">
                    <a:moveTo>
                      <a:pt x="1920240" y="0"/>
                    </a:moveTo>
                    <a:cubicBezTo>
                      <a:pt x="2606276" y="0"/>
                      <a:pt x="3240199" y="365996"/>
                      <a:pt x="3583217" y="960120"/>
                    </a:cubicBezTo>
                    <a:cubicBezTo>
                      <a:pt x="3926235" y="1554244"/>
                      <a:pt x="3926235" y="2286236"/>
                      <a:pt x="3583217" y="2880360"/>
                    </a:cubicBezTo>
                    <a:lnTo>
                      <a:pt x="1920240" y="1920240"/>
                    </a:lnTo>
                    <a:lnTo>
                      <a:pt x="1920240" y="0"/>
                    </a:lnTo>
                    <a:close/>
                  </a:path>
                </a:pathLst>
              </a:custGeom>
              <a:solidFill>
                <a:srgbClr val="F9B719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054505" tIns="844296" rIns="475335" bIns="1914144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2800" b="1" kern="1200" dirty="0">
                  <a:latin typeface="Neue Haas Grotesk Text Pro Blac" panose="020B0504020202020204" pitchFamily="34" charset="0"/>
                </a:endParaRPr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8B4A83DD-1D0F-22D8-41EF-82D1FC56905A}"/>
                  </a:ext>
                </a:extLst>
              </p:cNvPr>
              <p:cNvSpPr/>
              <p:nvPr/>
            </p:nvSpPr>
            <p:spPr>
              <a:xfrm>
                <a:off x="3989871" y="2003141"/>
                <a:ext cx="4086342" cy="4086343"/>
              </a:xfrm>
              <a:custGeom>
                <a:avLst/>
                <a:gdLst>
                  <a:gd name="connsiteX0" fmla="*/ 3583217 w 3840480"/>
                  <a:gd name="connsiteY0" fmla="*/ 2880360 h 3840480"/>
                  <a:gd name="connsiteX1" fmla="*/ 1920240 w 3840480"/>
                  <a:gd name="connsiteY1" fmla="*/ 3840480 h 3840480"/>
                  <a:gd name="connsiteX2" fmla="*/ 257263 w 3840480"/>
                  <a:gd name="connsiteY2" fmla="*/ 2880360 h 3840480"/>
                  <a:gd name="connsiteX3" fmla="*/ 1920240 w 3840480"/>
                  <a:gd name="connsiteY3" fmla="*/ 1920240 h 3840480"/>
                  <a:gd name="connsiteX4" fmla="*/ 3583217 w 3840480"/>
                  <a:gd name="connsiteY4" fmla="*/ 2880360 h 3840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40480" h="3840480">
                    <a:moveTo>
                      <a:pt x="3583217" y="2880360"/>
                    </a:moveTo>
                    <a:cubicBezTo>
                      <a:pt x="3240199" y="3474484"/>
                      <a:pt x="2606276" y="3840480"/>
                      <a:pt x="1920240" y="3840480"/>
                    </a:cubicBezTo>
                    <a:cubicBezTo>
                      <a:pt x="1234204" y="3840480"/>
                      <a:pt x="600281" y="3474484"/>
                      <a:pt x="257263" y="2880360"/>
                    </a:cubicBezTo>
                    <a:lnTo>
                      <a:pt x="1920240" y="1920240"/>
                    </a:lnTo>
                    <a:lnTo>
                      <a:pt x="3583217" y="2880360"/>
                    </a:lnTo>
                    <a:close/>
                  </a:path>
                </a:pathLst>
              </a:custGeom>
              <a:solidFill>
                <a:srgbClr val="75ABE7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44880" tIns="2522221" rIns="899160" bIns="373379" numCol="1" spcCol="1270" anchor="t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NL" sz="2800" b="1" kern="1200" dirty="0">
                  <a:latin typeface="Neue Haas Grotesk Text Pro Blac" panose="020B0504020202020204" pitchFamily="34" charset="0"/>
                </a:endParaRPr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A766871B-FC17-B1D9-E9C5-C4164A9FDA1F}"/>
                  </a:ext>
                </a:extLst>
              </p:cNvPr>
              <p:cNvSpPr/>
              <p:nvPr/>
            </p:nvSpPr>
            <p:spPr>
              <a:xfrm>
                <a:off x="3910775" y="1865981"/>
                <a:ext cx="4086342" cy="4086343"/>
              </a:xfrm>
              <a:custGeom>
                <a:avLst/>
                <a:gdLst>
                  <a:gd name="connsiteX0" fmla="*/ 257263 w 3840480"/>
                  <a:gd name="connsiteY0" fmla="*/ 2880360 h 3840480"/>
                  <a:gd name="connsiteX1" fmla="*/ 257263 w 3840480"/>
                  <a:gd name="connsiteY1" fmla="*/ 960120 h 3840480"/>
                  <a:gd name="connsiteX2" fmla="*/ 1920240 w 3840480"/>
                  <a:gd name="connsiteY2" fmla="*/ 0 h 3840480"/>
                  <a:gd name="connsiteX3" fmla="*/ 1920240 w 3840480"/>
                  <a:gd name="connsiteY3" fmla="*/ 1920240 h 3840480"/>
                  <a:gd name="connsiteX4" fmla="*/ 257263 w 3840480"/>
                  <a:gd name="connsiteY4" fmla="*/ 2880360 h 3840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40480" h="3840480">
                    <a:moveTo>
                      <a:pt x="257263" y="2880360"/>
                    </a:moveTo>
                    <a:cubicBezTo>
                      <a:pt x="-85755" y="2286236"/>
                      <a:pt x="-85755" y="1554244"/>
                      <a:pt x="257263" y="960120"/>
                    </a:cubicBezTo>
                    <a:cubicBezTo>
                      <a:pt x="600281" y="365996"/>
                      <a:pt x="1234204" y="0"/>
                      <a:pt x="1920240" y="0"/>
                    </a:cubicBezTo>
                    <a:lnTo>
                      <a:pt x="1920240" y="1920240"/>
                    </a:lnTo>
                    <a:lnTo>
                      <a:pt x="257263" y="288036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475336" tIns="844296" rIns="2054504" bIns="1914144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NL" sz="2400" kern="1200" dirty="0"/>
              </a:p>
            </p:txBody>
          </p:sp>
          <p:sp>
            <p:nvSpPr>
              <p:cNvPr id="1038" name="Arrow: Circular 1037">
                <a:extLst>
                  <a:ext uri="{FF2B5EF4-FFF2-40B4-BE49-F238E27FC236}">
                    <a16:creationId xmlns:a16="http://schemas.microsoft.com/office/drawing/2014/main" id="{F1395EB7-D8BC-35D9-138F-45A3A2ACC172}"/>
                  </a:ext>
                </a:extLst>
              </p:cNvPr>
              <p:cNvSpPr/>
              <p:nvPr/>
            </p:nvSpPr>
            <p:spPr>
              <a:xfrm>
                <a:off x="3808524" y="1620812"/>
                <a:ext cx="4592270" cy="4592271"/>
              </a:xfrm>
              <a:prstGeom prst="circularArrow">
                <a:avLst>
                  <a:gd name="adj1" fmla="val 5085"/>
                  <a:gd name="adj2" fmla="val 327528"/>
                  <a:gd name="adj3" fmla="val 1472472"/>
                  <a:gd name="adj4" fmla="val 16199432"/>
                  <a:gd name="adj5" fmla="val 5932"/>
                </a:avLst>
              </a:prstGeom>
              <a:solidFill>
                <a:srgbClr val="8A6404"/>
              </a:solidFill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NL"/>
              </a:p>
            </p:txBody>
          </p:sp>
          <p:sp>
            <p:nvSpPr>
              <p:cNvPr id="1039" name="Arrow: Circular 1038">
                <a:extLst>
                  <a:ext uri="{FF2B5EF4-FFF2-40B4-BE49-F238E27FC236}">
                    <a16:creationId xmlns:a16="http://schemas.microsoft.com/office/drawing/2014/main" id="{B43B9CA9-228D-326B-FA24-8AEEE09933DA}"/>
                  </a:ext>
                </a:extLst>
              </p:cNvPr>
              <p:cNvSpPr/>
              <p:nvPr/>
            </p:nvSpPr>
            <p:spPr>
              <a:xfrm>
                <a:off x="3729112" y="1757730"/>
                <a:ext cx="4592270" cy="4592271"/>
              </a:xfrm>
              <a:prstGeom prst="circularArrow">
                <a:avLst>
                  <a:gd name="adj1" fmla="val 5085"/>
                  <a:gd name="adj2" fmla="val 327528"/>
                  <a:gd name="adj3" fmla="val 8671970"/>
                  <a:gd name="adj4" fmla="val 1800502"/>
                  <a:gd name="adj5" fmla="val 5932"/>
                </a:avLst>
              </a:prstGeom>
              <a:solidFill>
                <a:srgbClr val="15467B"/>
              </a:solidFill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3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3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NL"/>
              </a:p>
            </p:txBody>
          </p:sp>
          <p:sp>
            <p:nvSpPr>
              <p:cNvPr id="1040" name="Arrow: Circular 1039">
                <a:extLst>
                  <a:ext uri="{FF2B5EF4-FFF2-40B4-BE49-F238E27FC236}">
                    <a16:creationId xmlns:a16="http://schemas.microsoft.com/office/drawing/2014/main" id="{8EBBB298-0276-7714-A6D2-AF078E9D326A}"/>
                  </a:ext>
                </a:extLst>
              </p:cNvPr>
              <p:cNvSpPr/>
              <p:nvPr/>
            </p:nvSpPr>
            <p:spPr>
              <a:xfrm>
                <a:off x="3649699" y="1620812"/>
                <a:ext cx="4592270" cy="4592271"/>
              </a:xfrm>
              <a:prstGeom prst="circularArrow">
                <a:avLst>
                  <a:gd name="adj1" fmla="val 5085"/>
                  <a:gd name="adj2" fmla="val 327528"/>
                  <a:gd name="adj3" fmla="val 15873039"/>
                  <a:gd name="adj4" fmla="val 9000000"/>
                  <a:gd name="adj5" fmla="val 5932"/>
                </a:avLst>
              </a:prstGeom>
              <a:solidFill>
                <a:schemeClr val="accent3"/>
              </a:solidFill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NL"/>
              </a:p>
            </p:txBody>
          </p:sp>
        </p:grpSp>
        <p:pic>
          <p:nvPicPr>
            <p:cNvPr id="1041" name="Picture 2" descr="Logo vertical | OntoUML Community Portal">
              <a:extLst>
                <a:ext uri="{FF2B5EF4-FFF2-40B4-BE49-F238E27FC236}">
                  <a16:creationId xmlns:a16="http://schemas.microsoft.com/office/drawing/2014/main" id="{3C9DF99F-1122-F5B8-16BE-40D919B18E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52763" y="21751236"/>
              <a:ext cx="2515189" cy="9618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42" name="Group 1041">
              <a:extLst>
                <a:ext uri="{FF2B5EF4-FFF2-40B4-BE49-F238E27FC236}">
                  <a16:creationId xmlns:a16="http://schemas.microsoft.com/office/drawing/2014/main" id="{744D8A24-29CB-03AB-253F-204F09F51ED4}"/>
                </a:ext>
              </a:extLst>
            </p:cNvPr>
            <p:cNvGrpSpPr/>
            <p:nvPr/>
          </p:nvGrpSpPr>
          <p:grpSpPr>
            <a:xfrm>
              <a:off x="25453015" y="24589550"/>
              <a:ext cx="2114687" cy="1200661"/>
              <a:chOff x="6119493" y="4314063"/>
              <a:chExt cx="2393775" cy="1359120"/>
            </a:xfrm>
          </p:grpSpPr>
          <p:pic>
            <p:nvPicPr>
              <p:cNvPr id="1043" name="Picture 12" descr="What is the Semantic Web? - Jean Delahousse">
                <a:extLst>
                  <a:ext uri="{FF2B5EF4-FFF2-40B4-BE49-F238E27FC236}">
                    <a16:creationId xmlns:a16="http://schemas.microsoft.com/office/drawing/2014/main" id="{8957B114-F76D-3575-0816-E0252BDB6C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19493" y="4406936"/>
                <a:ext cx="1168843" cy="12662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4" name="Picture 14" descr="What is the Semantic Web? - Jean Delahousse">
                <a:extLst>
                  <a:ext uri="{FF2B5EF4-FFF2-40B4-BE49-F238E27FC236}">
                    <a16:creationId xmlns:a16="http://schemas.microsoft.com/office/drawing/2014/main" id="{9104C08C-F080-87FB-0F37-8DEC15F169D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44425" y="4314063"/>
                <a:ext cx="1168843" cy="13591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045" name="Picture 2" descr="GitHub - mapping-commons/sssom: Simple Standard for Sharing Ontology  Mappings">
              <a:extLst>
                <a:ext uri="{FF2B5EF4-FFF2-40B4-BE49-F238E27FC236}">
                  <a16:creationId xmlns:a16="http://schemas.microsoft.com/office/drawing/2014/main" id="{2FE09557-656E-9360-24C5-8DB1A3FACF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21684" y="21583617"/>
              <a:ext cx="3090107" cy="12843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F50C4E2B-AEC5-2108-F310-4918895CBC25}"/>
                </a:ext>
              </a:extLst>
            </p:cNvPr>
            <p:cNvSpPr txBox="1"/>
            <p:nvPr/>
          </p:nvSpPr>
          <p:spPr>
            <a:xfrm>
              <a:off x="21578719" y="24190225"/>
              <a:ext cx="1841308" cy="8142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600" b="1" dirty="0"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solidFill>
                    <a:schemeClr val="bg1"/>
                  </a:solidFill>
                  <a:latin typeface="Neue Haas Grotesk Text Pro Blac" panose="020B0504020202020204" pitchFamily="34" charset="0"/>
                </a:rPr>
                <a:t>HRIO</a:t>
              </a:r>
            </a:p>
            <a:p>
              <a:pPr algn="ctr"/>
              <a:r>
                <a:rPr lang="en-US" sz="2400" b="1" dirty="0"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solidFill>
                    <a:schemeClr val="bg1"/>
                  </a:solidFill>
                </a:rPr>
                <a:t>Computational</a:t>
              </a:r>
              <a:endParaRPr lang="en-NL" sz="2400" b="1" dirty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047" name="TextBox 1046">
              <a:extLst>
                <a:ext uri="{FF2B5EF4-FFF2-40B4-BE49-F238E27FC236}">
                  <a16:creationId xmlns:a16="http://schemas.microsoft.com/office/drawing/2014/main" id="{58AE8DE3-C946-BB8E-59FF-19F81C1505BC}"/>
                </a:ext>
              </a:extLst>
            </p:cNvPr>
            <p:cNvSpPr txBox="1"/>
            <p:nvPr/>
          </p:nvSpPr>
          <p:spPr>
            <a:xfrm>
              <a:off x="22586377" y="22734407"/>
              <a:ext cx="1465366" cy="8142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600" b="1" dirty="0"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solidFill>
                    <a:schemeClr val="bg1"/>
                  </a:solidFill>
                  <a:latin typeface="Neue Haas Grotesk Text Pro Blac" panose="020B0504020202020204" pitchFamily="34" charset="0"/>
                </a:rPr>
                <a:t>HRIO</a:t>
              </a:r>
            </a:p>
            <a:p>
              <a:pPr algn="ctr"/>
              <a:r>
                <a:rPr lang="en-US" sz="2400" b="1" dirty="0"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solidFill>
                    <a:schemeClr val="bg1"/>
                  </a:solidFill>
                </a:rPr>
                <a:t>Conceptual</a:t>
              </a:r>
              <a:endParaRPr lang="en-NL" sz="2400" b="1" dirty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048" name="TextBox 1047">
              <a:extLst>
                <a:ext uri="{FF2B5EF4-FFF2-40B4-BE49-F238E27FC236}">
                  <a16:creationId xmlns:a16="http://schemas.microsoft.com/office/drawing/2014/main" id="{7B5749FA-246C-6816-302F-F864EC742A36}"/>
                </a:ext>
              </a:extLst>
            </p:cNvPr>
            <p:cNvSpPr txBox="1"/>
            <p:nvPr/>
          </p:nvSpPr>
          <p:spPr>
            <a:xfrm>
              <a:off x="20860537" y="22734407"/>
              <a:ext cx="1534766" cy="8142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600" b="1" dirty="0"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solidFill>
                    <a:schemeClr val="bg1"/>
                  </a:solidFill>
                  <a:latin typeface="Neue Haas Grotesk Text Pro Blac" panose="020B0504020202020204" pitchFamily="34" charset="0"/>
                </a:rPr>
                <a:t>HRIM</a:t>
              </a:r>
            </a:p>
            <a:p>
              <a:pPr algn="ctr"/>
              <a:r>
                <a:rPr lang="en-US" sz="2400" b="1" dirty="0"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  <a:solidFill>
                    <a:schemeClr val="bg1"/>
                  </a:solidFill>
                </a:rPr>
                <a:t>Mapping Set</a:t>
              </a:r>
              <a:endParaRPr lang="en-NL" sz="2400" b="1" dirty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7718B5A1-4DE1-375B-66E3-4F4699C6C307}"/>
              </a:ext>
            </a:extLst>
          </p:cNvPr>
          <p:cNvSpPr/>
          <p:nvPr/>
        </p:nvSpPr>
        <p:spPr>
          <a:xfrm>
            <a:off x="454354" y="31540035"/>
            <a:ext cx="14482766" cy="1073150"/>
          </a:xfrm>
          <a:prstGeom prst="rect">
            <a:avLst/>
          </a:prstGeom>
          <a:solidFill>
            <a:srgbClr val="F9B7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15467B"/>
                </a:solidFill>
              </a:rPr>
              <a:t>ARTIFACTS</a:t>
            </a:r>
            <a:endParaRPr lang="en-NL" sz="4000" b="1" dirty="0">
              <a:solidFill>
                <a:srgbClr val="15467B"/>
              </a:solidFill>
            </a:endParaRPr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909EAD49-B7FB-8B04-D5F5-A159F5765ABE}"/>
              </a:ext>
            </a:extLst>
          </p:cNvPr>
          <p:cNvSpPr/>
          <p:nvPr/>
        </p:nvSpPr>
        <p:spPr>
          <a:xfrm>
            <a:off x="15397384" y="10618815"/>
            <a:ext cx="14455208" cy="1073150"/>
          </a:xfrm>
          <a:prstGeom prst="rect">
            <a:avLst/>
          </a:prstGeom>
          <a:solidFill>
            <a:srgbClr val="F9B7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15467B"/>
                </a:solidFill>
              </a:rPr>
              <a:t>ENABLING SEMANTIC TRACEABILITY</a:t>
            </a:r>
            <a:endParaRPr lang="en-NL" sz="4000" b="1" dirty="0">
              <a:solidFill>
                <a:srgbClr val="15467B"/>
              </a:solidFill>
            </a:endParaRPr>
          </a:p>
        </p:txBody>
      </p:sp>
      <p:grpSp>
        <p:nvGrpSpPr>
          <p:cNvPr id="1096" name="Group 1095">
            <a:extLst>
              <a:ext uri="{FF2B5EF4-FFF2-40B4-BE49-F238E27FC236}">
                <a16:creationId xmlns:a16="http://schemas.microsoft.com/office/drawing/2014/main" id="{C64EDAF3-01DA-E50B-C463-3FEF06B37FFA}"/>
              </a:ext>
            </a:extLst>
          </p:cNvPr>
          <p:cNvGrpSpPr/>
          <p:nvPr/>
        </p:nvGrpSpPr>
        <p:grpSpPr>
          <a:xfrm>
            <a:off x="15400719" y="12339637"/>
            <a:ext cx="14791445" cy="18254530"/>
            <a:chOff x="15400719" y="12339637"/>
            <a:chExt cx="14791445" cy="18254530"/>
          </a:xfrm>
        </p:grpSpPr>
        <p:grpSp>
          <p:nvGrpSpPr>
            <p:cNvPr id="1029" name="Group 1028">
              <a:extLst>
                <a:ext uri="{FF2B5EF4-FFF2-40B4-BE49-F238E27FC236}">
                  <a16:creationId xmlns:a16="http://schemas.microsoft.com/office/drawing/2014/main" id="{E20AA1BC-3908-66B0-AAFF-EEB084A581EB}"/>
                </a:ext>
              </a:extLst>
            </p:cNvPr>
            <p:cNvGrpSpPr/>
            <p:nvPr/>
          </p:nvGrpSpPr>
          <p:grpSpPr>
            <a:xfrm>
              <a:off x="15410720" y="12339637"/>
              <a:ext cx="14408472" cy="6207112"/>
              <a:chOff x="990212" y="2408012"/>
              <a:chExt cx="7743414" cy="3335832"/>
            </a:xfrm>
          </p:grpSpPr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95A2DA2F-A6BC-58CB-FC49-C19AF3EBAFF8}"/>
                  </a:ext>
                </a:extLst>
              </p:cNvPr>
              <p:cNvSpPr/>
              <p:nvPr/>
            </p:nvSpPr>
            <p:spPr>
              <a:xfrm>
                <a:off x="5377193" y="2413969"/>
                <a:ext cx="2620777" cy="3326946"/>
              </a:xfrm>
              <a:custGeom>
                <a:avLst/>
                <a:gdLst>
                  <a:gd name="csX0" fmla="*/ 0 w 2620777"/>
                  <a:gd name="csY0" fmla="*/ 0 h 3326946"/>
                  <a:gd name="csX1" fmla="*/ 2620777 w 2620777"/>
                  <a:gd name="csY1" fmla="*/ 0 h 3326946"/>
                  <a:gd name="csX2" fmla="*/ 2620777 w 2620777"/>
                  <a:gd name="csY2" fmla="*/ 3326946 h 3326946"/>
                  <a:gd name="csX3" fmla="*/ 0 w 2620777"/>
                  <a:gd name="csY3" fmla="*/ 3326946 h 3326946"/>
                  <a:gd name="csX4" fmla="*/ 0 w 2620777"/>
                  <a:gd name="csY4" fmla="*/ 0 h 3326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620777" h="3326946">
                    <a:moveTo>
                      <a:pt x="0" y="0"/>
                    </a:moveTo>
                    <a:lnTo>
                      <a:pt x="2620777" y="0"/>
                    </a:lnTo>
                    <a:lnTo>
                      <a:pt x="2620777" y="3326946"/>
                    </a:lnTo>
                    <a:lnTo>
                      <a:pt x="0" y="3326946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sp3d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2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222885" rIns="0" bIns="0" numCol="1" spcCol="1270" anchor="t" anchorCtr="0">
                <a:noAutofit/>
              </a:bodyPr>
              <a:lstStyle/>
              <a:p>
                <a:pPr marL="0" lvl="0" indent="0" algn="l" defTabSz="2889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NL" sz="6500" kern="1200"/>
              </a:p>
            </p:txBody>
          </p:sp>
          <p:sp>
            <p:nvSpPr>
              <p:cNvPr id="965" name="Rectangle 964">
                <a:extLst>
                  <a:ext uri="{FF2B5EF4-FFF2-40B4-BE49-F238E27FC236}">
                    <a16:creationId xmlns:a16="http://schemas.microsoft.com/office/drawing/2014/main" id="{54FD3D96-CFC9-B976-A2C6-58504FF04C52}"/>
                  </a:ext>
                </a:extLst>
              </p:cNvPr>
              <p:cNvSpPr/>
              <p:nvPr/>
            </p:nvSpPr>
            <p:spPr>
              <a:xfrm rot="16200000">
                <a:off x="5043592" y="2047853"/>
                <a:ext cx="3326946" cy="4053123"/>
              </a:xfrm>
              <a:prstGeom prst="rect">
                <a:avLst/>
              </a:prstGeom>
              <a:solidFill>
                <a:srgbClr val="15467B">
                  <a:alpha val="10196"/>
                </a:srgb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style>
              <a:lnRef idx="2">
                <a:schemeClr val="dk2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2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598850" tIns="137159" rIns="177800" bIns="2814259" numCol="1" spcCol="1270" anchor="t" anchorCtr="0">
                <a:noAutofit/>
              </a:bodyPr>
              <a:lstStyle/>
              <a:p>
                <a:pPr marL="0" lvl="0" indent="0" algn="r" defTabSz="1778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NL" sz="4000" kern="1200" dirty="0"/>
              </a:p>
            </p:txBody>
          </p:sp>
          <p:sp>
            <p:nvSpPr>
              <p:cNvPr id="966" name="Rectangle: Rounded Corners 965">
                <a:extLst>
                  <a:ext uri="{FF2B5EF4-FFF2-40B4-BE49-F238E27FC236}">
                    <a16:creationId xmlns:a16="http://schemas.microsoft.com/office/drawing/2014/main" id="{37E380CA-11A2-0F8B-CCBF-73E2DB5CB5E6}"/>
                  </a:ext>
                </a:extLst>
              </p:cNvPr>
              <p:cNvSpPr/>
              <p:nvPr/>
            </p:nvSpPr>
            <p:spPr>
              <a:xfrm>
                <a:off x="5533097" y="4621408"/>
                <a:ext cx="1861151" cy="8892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  <a:alpha val="30000"/>
                </a:schemeClr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pic>
            <p:nvPicPr>
              <p:cNvPr id="967" name="Picture 966">
                <a:extLst>
                  <a:ext uri="{FF2B5EF4-FFF2-40B4-BE49-F238E27FC236}">
                    <a16:creationId xmlns:a16="http://schemas.microsoft.com/office/drawing/2014/main" id="{F96B7DC7-08D2-8F78-7CD6-2B63580042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alphaModFix amt="5000"/>
              </a:blip>
              <a:stretch>
                <a:fillRect/>
              </a:stretch>
            </p:blipFill>
            <p:spPr>
              <a:xfrm>
                <a:off x="6248848" y="4687135"/>
                <a:ext cx="757746" cy="757746"/>
              </a:xfrm>
              <a:prstGeom prst="rect">
                <a:avLst/>
              </a:prstGeom>
            </p:spPr>
          </p:pic>
          <p:pic>
            <p:nvPicPr>
              <p:cNvPr id="968" name="Picture 12" descr="What is the Semantic Web? - Jean Delahousse">
                <a:extLst>
                  <a:ext uri="{FF2B5EF4-FFF2-40B4-BE49-F238E27FC236}">
                    <a16:creationId xmlns:a16="http://schemas.microsoft.com/office/drawing/2014/main" id="{9452AF74-54A3-BDD1-D39E-A0BC3AB761E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00059" y="4856378"/>
                <a:ext cx="417642" cy="45244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69" name="Picture 14" descr="What is the Semantic Web? - Jean Delahousse">
                <a:extLst>
                  <a:ext uri="{FF2B5EF4-FFF2-40B4-BE49-F238E27FC236}">
                    <a16:creationId xmlns:a16="http://schemas.microsoft.com/office/drawing/2014/main" id="{3269ED4F-C676-5772-358D-5518846525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37742" y="4823193"/>
                <a:ext cx="417642" cy="4856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70" name="TextBox 969">
                <a:extLst>
                  <a:ext uri="{FF2B5EF4-FFF2-40B4-BE49-F238E27FC236}">
                    <a16:creationId xmlns:a16="http://schemas.microsoft.com/office/drawing/2014/main" id="{08C2DCC6-0F20-B827-3A78-F6A8E8E74EC2}"/>
                  </a:ext>
                </a:extLst>
              </p:cNvPr>
              <p:cNvSpPr txBox="1"/>
              <p:nvPr/>
            </p:nvSpPr>
            <p:spPr>
              <a:xfrm rot="16200000" flipH="1">
                <a:off x="5509560" y="4908872"/>
                <a:ext cx="478298" cy="31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200" b="1" dirty="0"/>
                  <a:t>PIM</a:t>
                </a:r>
                <a:endParaRPr lang="en-NL" sz="3200" b="1" dirty="0"/>
              </a:p>
            </p:txBody>
          </p:sp>
          <p:sp>
            <p:nvSpPr>
              <p:cNvPr id="971" name="Rectangle: Rounded Corners 970">
                <a:extLst>
                  <a:ext uri="{FF2B5EF4-FFF2-40B4-BE49-F238E27FC236}">
                    <a16:creationId xmlns:a16="http://schemas.microsoft.com/office/drawing/2014/main" id="{D1D3F785-E518-0FC4-A972-AF38D4ED3F5D}"/>
                  </a:ext>
                </a:extLst>
              </p:cNvPr>
              <p:cNvSpPr/>
              <p:nvPr/>
            </p:nvSpPr>
            <p:spPr>
              <a:xfrm>
                <a:off x="5533097" y="3565858"/>
                <a:ext cx="1861151" cy="888057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  <a:alpha val="30000"/>
                </a:schemeClr>
              </a:solidFill>
              <a:ln w="15875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NL">
                  <a:solidFill>
                    <a:schemeClr val="dk1"/>
                  </a:solidFill>
                </a:endParaRPr>
              </a:p>
            </p:txBody>
          </p:sp>
          <p:pic>
            <p:nvPicPr>
              <p:cNvPr id="972" name="Picture 971">
                <a:extLst>
                  <a:ext uri="{FF2B5EF4-FFF2-40B4-BE49-F238E27FC236}">
                    <a16:creationId xmlns:a16="http://schemas.microsoft.com/office/drawing/2014/main" id="{094C19AA-47C6-A45C-FB6C-3DDE5D83F1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alphaModFix amt="5000"/>
              </a:blip>
              <a:stretch>
                <a:fillRect/>
              </a:stretch>
            </p:blipFill>
            <p:spPr>
              <a:xfrm>
                <a:off x="6254519" y="3644197"/>
                <a:ext cx="757746" cy="757746"/>
              </a:xfrm>
              <a:prstGeom prst="rect">
                <a:avLst/>
              </a:prstGeom>
            </p:spPr>
          </p:pic>
          <p:pic>
            <p:nvPicPr>
              <p:cNvPr id="973" name="Picture 2" descr="Logo vertical | OntoUML Community Portal">
                <a:extLst>
                  <a:ext uri="{FF2B5EF4-FFF2-40B4-BE49-F238E27FC236}">
                    <a16:creationId xmlns:a16="http://schemas.microsoft.com/office/drawing/2014/main" id="{B8126093-8038-D53E-C093-5A60D349AC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89290" y="3817162"/>
                <a:ext cx="1076863" cy="4118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74" name="TextBox 973">
                <a:extLst>
                  <a:ext uri="{FF2B5EF4-FFF2-40B4-BE49-F238E27FC236}">
                    <a16:creationId xmlns:a16="http://schemas.microsoft.com/office/drawing/2014/main" id="{1E1067E9-0C9B-3F5E-BD08-DDF24CC55F21}"/>
                  </a:ext>
                </a:extLst>
              </p:cNvPr>
              <p:cNvSpPr txBox="1"/>
              <p:nvPr/>
            </p:nvSpPr>
            <p:spPr>
              <a:xfrm rot="16200000" flipH="1">
                <a:off x="5498360" y="3852749"/>
                <a:ext cx="500696" cy="31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200" b="1" dirty="0"/>
                  <a:t>CIM</a:t>
                </a:r>
                <a:endParaRPr lang="en-NL" sz="3200" b="1" dirty="0"/>
              </a:p>
            </p:txBody>
          </p:sp>
          <p:sp>
            <p:nvSpPr>
              <p:cNvPr id="975" name="Thought Bubble: Cloud 974">
                <a:extLst>
                  <a:ext uri="{FF2B5EF4-FFF2-40B4-BE49-F238E27FC236}">
                    <a16:creationId xmlns:a16="http://schemas.microsoft.com/office/drawing/2014/main" id="{4E15D12F-FEAC-68BD-4141-5388A9F837FD}"/>
                  </a:ext>
                </a:extLst>
              </p:cNvPr>
              <p:cNvSpPr/>
              <p:nvPr/>
            </p:nvSpPr>
            <p:spPr>
              <a:xfrm>
                <a:off x="6497240" y="2603513"/>
                <a:ext cx="757747" cy="665709"/>
              </a:xfrm>
              <a:prstGeom prst="cloudCallout">
                <a:avLst>
                  <a:gd name="adj1" fmla="val 55684"/>
                  <a:gd name="adj2" fmla="val 37436"/>
                </a:avLst>
              </a:prstGeom>
              <a:solidFill>
                <a:srgbClr val="FFD5D5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sp>
            <p:nvSpPr>
              <p:cNvPr id="976" name="TextBox 975">
                <a:extLst>
                  <a:ext uri="{FF2B5EF4-FFF2-40B4-BE49-F238E27FC236}">
                    <a16:creationId xmlns:a16="http://schemas.microsoft.com/office/drawing/2014/main" id="{ED03F776-4FD6-592D-A569-F7B115DEDC67}"/>
                  </a:ext>
                </a:extLst>
              </p:cNvPr>
              <p:cNvSpPr txBox="1"/>
              <p:nvPr/>
            </p:nvSpPr>
            <p:spPr>
              <a:xfrm>
                <a:off x="6228340" y="3217770"/>
                <a:ext cx="1006011" cy="181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/>
                  <a:t>conceptualization</a:t>
                </a:r>
                <a:endParaRPr lang="en-NL" sz="1600" b="1" dirty="0"/>
              </a:p>
            </p:txBody>
          </p:sp>
          <p:cxnSp>
            <p:nvCxnSpPr>
              <p:cNvPr id="977" name="Connector: Elbow 976">
                <a:extLst>
                  <a:ext uri="{FF2B5EF4-FFF2-40B4-BE49-F238E27FC236}">
                    <a16:creationId xmlns:a16="http://schemas.microsoft.com/office/drawing/2014/main" id="{615DEA75-FAB8-4041-DDE7-43CFE11A72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66563" y="4092310"/>
                <a:ext cx="12700" cy="897824"/>
              </a:xfrm>
              <a:prstGeom prst="bentConnector3">
                <a:avLst>
                  <a:gd name="adj1" fmla="val 1725772"/>
                </a:avLst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8" name="Connector: Elbow 977">
                <a:extLst>
                  <a:ext uri="{FF2B5EF4-FFF2-40B4-BE49-F238E27FC236}">
                    <a16:creationId xmlns:a16="http://schemas.microsoft.com/office/drawing/2014/main" id="{BD872DF8-06A9-3AE2-279D-03AFD914B8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66563" y="3097120"/>
                <a:ext cx="12700" cy="833847"/>
              </a:xfrm>
              <a:prstGeom prst="bentConnector3">
                <a:avLst>
                  <a:gd name="adj1" fmla="val 1725772"/>
                </a:avLst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9" name="Oval 978">
                <a:extLst>
                  <a:ext uri="{FF2B5EF4-FFF2-40B4-BE49-F238E27FC236}">
                    <a16:creationId xmlns:a16="http://schemas.microsoft.com/office/drawing/2014/main" id="{96EE9D25-DF9C-D22B-6655-81EF43D8D5F3}"/>
                  </a:ext>
                </a:extLst>
              </p:cNvPr>
              <p:cNvSpPr/>
              <p:nvPr/>
            </p:nvSpPr>
            <p:spPr>
              <a:xfrm>
                <a:off x="7321496" y="4016502"/>
                <a:ext cx="145067" cy="145067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980" name="Oval 979">
                <a:extLst>
                  <a:ext uri="{FF2B5EF4-FFF2-40B4-BE49-F238E27FC236}">
                    <a16:creationId xmlns:a16="http://schemas.microsoft.com/office/drawing/2014/main" id="{019A5AE5-AC8D-179F-D320-C4F610821455}"/>
                  </a:ext>
                </a:extLst>
              </p:cNvPr>
              <p:cNvSpPr/>
              <p:nvPr/>
            </p:nvSpPr>
            <p:spPr>
              <a:xfrm>
                <a:off x="7321496" y="3858204"/>
                <a:ext cx="145067" cy="145067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cxnSp>
            <p:nvCxnSpPr>
              <p:cNvPr id="981" name="Connector: Elbow 980">
                <a:extLst>
                  <a:ext uri="{FF2B5EF4-FFF2-40B4-BE49-F238E27FC236}">
                    <a16:creationId xmlns:a16="http://schemas.microsoft.com/office/drawing/2014/main" id="{F6CFD984-D030-B7BD-1749-66ECE0A3E0C6}"/>
                  </a:ext>
                </a:extLst>
              </p:cNvPr>
              <p:cNvCxnSpPr>
                <a:cxnSpLocks/>
                <a:stCxn id="982" idx="6"/>
                <a:endCxn id="985" idx="6"/>
              </p:cNvCxnSpPr>
              <p:nvPr/>
            </p:nvCxnSpPr>
            <p:spPr>
              <a:xfrm flipV="1">
                <a:off x="7466563" y="2938593"/>
                <a:ext cx="12700" cy="2206565"/>
              </a:xfrm>
              <a:prstGeom prst="bentConnector3">
                <a:avLst>
                  <a:gd name="adj1" fmla="val 6253606"/>
                </a:avLst>
              </a:prstGeom>
              <a:ln w="25400">
                <a:solidFill>
                  <a:schemeClr val="tx1"/>
                </a:solidFill>
                <a:prstDash val="sys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2" name="Oval 981">
                <a:extLst>
                  <a:ext uri="{FF2B5EF4-FFF2-40B4-BE49-F238E27FC236}">
                    <a16:creationId xmlns:a16="http://schemas.microsoft.com/office/drawing/2014/main" id="{4A489E3C-0E87-F9BB-0506-BC0976B59754}"/>
                  </a:ext>
                </a:extLst>
              </p:cNvPr>
              <p:cNvSpPr/>
              <p:nvPr/>
            </p:nvSpPr>
            <p:spPr>
              <a:xfrm>
                <a:off x="7321496" y="5072624"/>
                <a:ext cx="145067" cy="145067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983" name="Oval 982">
                <a:extLst>
                  <a:ext uri="{FF2B5EF4-FFF2-40B4-BE49-F238E27FC236}">
                    <a16:creationId xmlns:a16="http://schemas.microsoft.com/office/drawing/2014/main" id="{C0EABEC7-2C6A-84D3-015F-7ADA20530F27}"/>
                  </a:ext>
                </a:extLst>
              </p:cNvPr>
              <p:cNvSpPr/>
              <p:nvPr/>
            </p:nvSpPr>
            <p:spPr>
              <a:xfrm>
                <a:off x="7321496" y="4914326"/>
                <a:ext cx="145067" cy="145067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984" name="Oval 983">
                <a:extLst>
                  <a:ext uri="{FF2B5EF4-FFF2-40B4-BE49-F238E27FC236}">
                    <a16:creationId xmlns:a16="http://schemas.microsoft.com/office/drawing/2014/main" id="{9DB4DE71-9DE4-BDC6-E2BF-8B29BA46E39C}"/>
                  </a:ext>
                </a:extLst>
              </p:cNvPr>
              <p:cNvSpPr/>
              <p:nvPr/>
            </p:nvSpPr>
            <p:spPr>
              <a:xfrm>
                <a:off x="7321496" y="3024357"/>
                <a:ext cx="145067" cy="145067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985" name="Oval 984">
                <a:extLst>
                  <a:ext uri="{FF2B5EF4-FFF2-40B4-BE49-F238E27FC236}">
                    <a16:creationId xmlns:a16="http://schemas.microsoft.com/office/drawing/2014/main" id="{DFC50CF0-7DB7-2379-3B9C-6B363A783DD3}"/>
                  </a:ext>
                </a:extLst>
              </p:cNvPr>
              <p:cNvSpPr/>
              <p:nvPr/>
            </p:nvSpPr>
            <p:spPr>
              <a:xfrm>
                <a:off x="7321496" y="2866059"/>
                <a:ext cx="145067" cy="145067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986" name="TextBox 985">
                <a:extLst>
                  <a:ext uri="{FF2B5EF4-FFF2-40B4-BE49-F238E27FC236}">
                    <a16:creationId xmlns:a16="http://schemas.microsoft.com/office/drawing/2014/main" id="{7B636D44-59F9-3EEE-F692-B1982010A779}"/>
                  </a:ext>
                </a:extLst>
              </p:cNvPr>
              <p:cNvSpPr txBox="1"/>
              <p:nvPr/>
            </p:nvSpPr>
            <p:spPr>
              <a:xfrm rot="5400000">
                <a:off x="7558597" y="3441925"/>
                <a:ext cx="769480" cy="181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/>
                  <a:t>meaning of </a:t>
                </a:r>
                <a:r>
                  <a:rPr lang="en-US" sz="1600" dirty="0">
                    <a:sym typeface="Wingdings" panose="05000000000000000000" pitchFamily="2" charset="2"/>
                  </a:rPr>
                  <a:t></a:t>
                </a:r>
                <a:endParaRPr lang="en-NL" sz="1600" dirty="0"/>
              </a:p>
            </p:txBody>
          </p:sp>
          <p:sp>
            <p:nvSpPr>
              <p:cNvPr id="987" name="TextBox 986">
                <a:extLst>
                  <a:ext uri="{FF2B5EF4-FFF2-40B4-BE49-F238E27FC236}">
                    <a16:creationId xmlns:a16="http://schemas.microsoft.com/office/drawing/2014/main" id="{C25F3382-4C98-E74A-8E9B-DA795BAF3D9F}"/>
                  </a:ext>
                </a:extLst>
              </p:cNvPr>
              <p:cNvSpPr txBox="1"/>
              <p:nvPr/>
            </p:nvSpPr>
            <p:spPr>
              <a:xfrm rot="5400000" flipH="1">
                <a:off x="7432090" y="3423070"/>
                <a:ext cx="748771" cy="181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sym typeface="Wingdings" panose="05000000000000000000" pitchFamily="2" charset="2"/>
                  </a:rPr>
                  <a:t> </a:t>
                </a:r>
                <a:r>
                  <a:rPr lang="en-US" sz="1600" dirty="0"/>
                  <a:t>represents</a:t>
                </a:r>
                <a:endParaRPr lang="en-NL" sz="1600" dirty="0"/>
              </a:p>
            </p:txBody>
          </p:sp>
          <p:sp>
            <p:nvSpPr>
              <p:cNvPr id="988" name="TextBox 987">
                <a:extLst>
                  <a:ext uri="{FF2B5EF4-FFF2-40B4-BE49-F238E27FC236}">
                    <a16:creationId xmlns:a16="http://schemas.microsoft.com/office/drawing/2014/main" id="{4F8B85E8-2C51-738E-A3C7-E2A0AAF47842}"/>
                  </a:ext>
                </a:extLst>
              </p:cNvPr>
              <p:cNvSpPr txBox="1"/>
              <p:nvPr/>
            </p:nvSpPr>
            <p:spPr>
              <a:xfrm rot="5400000">
                <a:off x="8028909" y="3359053"/>
                <a:ext cx="769480" cy="181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/>
                  <a:t>meaning of </a:t>
                </a:r>
                <a:r>
                  <a:rPr lang="en-US" sz="1600" dirty="0">
                    <a:sym typeface="Wingdings" panose="05000000000000000000" pitchFamily="2" charset="2"/>
                  </a:rPr>
                  <a:t></a:t>
                </a:r>
                <a:endParaRPr lang="en-NL" sz="1600" dirty="0"/>
              </a:p>
            </p:txBody>
          </p:sp>
          <p:sp>
            <p:nvSpPr>
              <p:cNvPr id="989" name="TextBox 988">
                <a:extLst>
                  <a:ext uri="{FF2B5EF4-FFF2-40B4-BE49-F238E27FC236}">
                    <a16:creationId xmlns:a16="http://schemas.microsoft.com/office/drawing/2014/main" id="{31BFC4C8-B845-09D9-E503-6A55542C1941}"/>
                  </a:ext>
                </a:extLst>
              </p:cNvPr>
              <p:cNvSpPr txBox="1"/>
              <p:nvPr/>
            </p:nvSpPr>
            <p:spPr>
              <a:xfrm rot="5400000" flipH="1">
                <a:off x="8015108" y="4554709"/>
                <a:ext cx="748771" cy="181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sym typeface="Wingdings" panose="05000000000000000000" pitchFamily="2" charset="2"/>
                  </a:rPr>
                  <a:t> </a:t>
                </a:r>
                <a:r>
                  <a:rPr lang="en-US" sz="1600" dirty="0"/>
                  <a:t>represents</a:t>
                </a:r>
                <a:endParaRPr lang="en-NL" sz="1600" dirty="0"/>
              </a:p>
            </p:txBody>
          </p:sp>
          <p:sp>
            <p:nvSpPr>
              <p:cNvPr id="990" name="TextBox 989">
                <a:extLst>
                  <a:ext uri="{FF2B5EF4-FFF2-40B4-BE49-F238E27FC236}">
                    <a16:creationId xmlns:a16="http://schemas.microsoft.com/office/drawing/2014/main" id="{B45A0F49-EE13-C947-9CAD-2C8F38B687B2}"/>
                  </a:ext>
                </a:extLst>
              </p:cNvPr>
              <p:cNvSpPr txBox="1"/>
              <p:nvPr/>
            </p:nvSpPr>
            <p:spPr>
              <a:xfrm rot="5400000">
                <a:off x="7558597" y="4449496"/>
                <a:ext cx="769480" cy="181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/>
                  <a:t>meaning of </a:t>
                </a:r>
                <a:r>
                  <a:rPr lang="en-US" sz="1600" dirty="0">
                    <a:sym typeface="Wingdings" panose="05000000000000000000" pitchFamily="2" charset="2"/>
                  </a:rPr>
                  <a:t></a:t>
                </a:r>
                <a:endParaRPr lang="en-NL" sz="1600" dirty="0"/>
              </a:p>
            </p:txBody>
          </p:sp>
          <p:sp>
            <p:nvSpPr>
              <p:cNvPr id="991" name="TextBox 990">
                <a:extLst>
                  <a:ext uri="{FF2B5EF4-FFF2-40B4-BE49-F238E27FC236}">
                    <a16:creationId xmlns:a16="http://schemas.microsoft.com/office/drawing/2014/main" id="{11A36B2D-E114-ED86-A346-B43149FB911C}"/>
                  </a:ext>
                </a:extLst>
              </p:cNvPr>
              <p:cNvSpPr txBox="1"/>
              <p:nvPr/>
            </p:nvSpPr>
            <p:spPr>
              <a:xfrm rot="5400000" flipH="1">
                <a:off x="7432090" y="4430642"/>
                <a:ext cx="748771" cy="181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sym typeface="Wingdings" panose="05000000000000000000" pitchFamily="2" charset="2"/>
                  </a:rPr>
                  <a:t> </a:t>
                </a:r>
                <a:r>
                  <a:rPr lang="en-US" sz="1600" dirty="0"/>
                  <a:t>represents</a:t>
                </a:r>
                <a:endParaRPr lang="en-NL" sz="1600" dirty="0"/>
              </a:p>
            </p:txBody>
          </p:sp>
          <p:sp>
            <p:nvSpPr>
              <p:cNvPr id="992" name="TextBox 991">
                <a:extLst>
                  <a:ext uri="{FF2B5EF4-FFF2-40B4-BE49-F238E27FC236}">
                    <a16:creationId xmlns:a16="http://schemas.microsoft.com/office/drawing/2014/main" id="{83D00C47-EFCB-9B18-940E-E44E70951EF1}"/>
                  </a:ext>
                </a:extLst>
              </p:cNvPr>
              <p:cNvSpPr txBox="1"/>
              <p:nvPr/>
            </p:nvSpPr>
            <p:spPr>
              <a:xfrm>
                <a:off x="5658805" y="2743126"/>
                <a:ext cx="630540" cy="181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sym typeface="Wingdings" panose="05000000000000000000" pitchFamily="2" charset="2"/>
                  </a:rPr>
                  <a:t> </a:t>
                </a:r>
                <a:r>
                  <a:rPr lang="en-US" sz="1600" dirty="0"/>
                  <a:t>refers to</a:t>
                </a:r>
                <a:endParaRPr lang="en-NL" sz="1600" dirty="0"/>
              </a:p>
            </p:txBody>
          </p:sp>
          <p:pic>
            <p:nvPicPr>
              <p:cNvPr id="993" name="Picture 2" descr="Planet earth - Free maps and location icons">
                <a:extLst>
                  <a:ext uri="{FF2B5EF4-FFF2-40B4-BE49-F238E27FC236}">
                    <a16:creationId xmlns:a16="http://schemas.microsoft.com/office/drawing/2014/main" id="{0DE29BED-226C-CA89-6CCD-17C907EC12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13646" y="2594716"/>
                <a:ext cx="667857" cy="66785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94" name="TextBox 993">
                <a:extLst>
                  <a:ext uri="{FF2B5EF4-FFF2-40B4-BE49-F238E27FC236}">
                    <a16:creationId xmlns:a16="http://schemas.microsoft.com/office/drawing/2014/main" id="{75BF98CC-1255-F1B7-B97F-B11A40F0CD98}"/>
                  </a:ext>
                </a:extLst>
              </p:cNvPr>
              <p:cNvSpPr txBox="1"/>
              <p:nvPr/>
            </p:nvSpPr>
            <p:spPr>
              <a:xfrm>
                <a:off x="5006776" y="3226567"/>
                <a:ext cx="500800" cy="181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/>
                  <a:t>referent</a:t>
                </a:r>
                <a:endParaRPr lang="en-NL" sz="1600" b="1" dirty="0"/>
              </a:p>
            </p:txBody>
          </p:sp>
          <p:cxnSp>
            <p:nvCxnSpPr>
              <p:cNvPr id="995" name="Straight Connector 994">
                <a:extLst>
                  <a:ext uri="{FF2B5EF4-FFF2-40B4-BE49-F238E27FC236}">
                    <a16:creationId xmlns:a16="http://schemas.microsoft.com/office/drawing/2014/main" id="{4C92F611-8421-3B62-C71B-F5272D8999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48708" y="3037599"/>
                <a:ext cx="660172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6" name="Connector: Elbow 995">
                <a:extLst>
                  <a:ext uri="{FF2B5EF4-FFF2-40B4-BE49-F238E27FC236}">
                    <a16:creationId xmlns:a16="http://schemas.microsoft.com/office/drawing/2014/main" id="{710C3212-4A87-C7BC-44B8-4F82C9053968}"/>
                  </a:ext>
                </a:extLst>
              </p:cNvPr>
              <p:cNvCxnSpPr>
                <a:cxnSpLocks/>
                <a:stCxn id="999" idx="2"/>
                <a:endCxn id="998" idx="2"/>
              </p:cNvCxnSpPr>
              <p:nvPr/>
            </p:nvCxnSpPr>
            <p:spPr>
              <a:xfrm rot="10800000">
                <a:off x="5446121" y="4009887"/>
                <a:ext cx="12700" cy="1056122"/>
              </a:xfrm>
              <a:prstGeom prst="bentConnector3">
                <a:avLst>
                  <a:gd name="adj1" fmla="val 1800000"/>
                </a:avLst>
              </a:prstGeom>
              <a:ln w="25400">
                <a:solidFill>
                  <a:srgbClr val="C0000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7" name="TextBox 996">
                <a:extLst>
                  <a:ext uri="{FF2B5EF4-FFF2-40B4-BE49-F238E27FC236}">
                    <a16:creationId xmlns:a16="http://schemas.microsoft.com/office/drawing/2014/main" id="{E82E3AF9-4D85-C7AA-416D-4904DE524C52}"/>
                  </a:ext>
                </a:extLst>
              </p:cNvPr>
              <p:cNvSpPr txBox="1"/>
              <p:nvPr/>
            </p:nvSpPr>
            <p:spPr>
              <a:xfrm rot="16200000">
                <a:off x="4703043" y="4423046"/>
                <a:ext cx="809523" cy="181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C00000"/>
                    </a:solidFill>
                  </a:rPr>
                  <a:t>implements </a:t>
                </a:r>
                <a:r>
                  <a:rPr lang="en-US" sz="16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</a:t>
                </a:r>
                <a:endParaRPr lang="en-NL" sz="160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998" name="Oval 997">
                <a:extLst>
                  <a:ext uri="{FF2B5EF4-FFF2-40B4-BE49-F238E27FC236}">
                    <a16:creationId xmlns:a16="http://schemas.microsoft.com/office/drawing/2014/main" id="{7610E2C1-110C-58EE-52CE-56331A1A7B31}"/>
                  </a:ext>
                </a:extLst>
              </p:cNvPr>
              <p:cNvSpPr/>
              <p:nvPr/>
            </p:nvSpPr>
            <p:spPr>
              <a:xfrm>
                <a:off x="5446121" y="3937353"/>
                <a:ext cx="145067" cy="145067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999" name="Oval 998">
                <a:extLst>
                  <a:ext uri="{FF2B5EF4-FFF2-40B4-BE49-F238E27FC236}">
                    <a16:creationId xmlns:a16="http://schemas.microsoft.com/office/drawing/2014/main" id="{8C5BC88C-163F-AFF2-C860-740D1E4BD157}"/>
                  </a:ext>
                </a:extLst>
              </p:cNvPr>
              <p:cNvSpPr/>
              <p:nvPr/>
            </p:nvSpPr>
            <p:spPr>
              <a:xfrm>
                <a:off x="5446121" y="4993475"/>
                <a:ext cx="145067" cy="145067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80B5364A-8C7F-0738-5FB1-410C5E54DCF1}"/>
                  </a:ext>
                </a:extLst>
              </p:cNvPr>
              <p:cNvSpPr/>
              <p:nvPr/>
            </p:nvSpPr>
            <p:spPr>
              <a:xfrm>
                <a:off x="1734871" y="2408012"/>
                <a:ext cx="2620777" cy="3326946"/>
              </a:xfrm>
              <a:custGeom>
                <a:avLst/>
                <a:gdLst>
                  <a:gd name="csX0" fmla="*/ 0 w 2620777"/>
                  <a:gd name="csY0" fmla="*/ 0 h 3326946"/>
                  <a:gd name="csX1" fmla="*/ 2620777 w 2620777"/>
                  <a:gd name="csY1" fmla="*/ 0 h 3326946"/>
                  <a:gd name="csX2" fmla="*/ 2620777 w 2620777"/>
                  <a:gd name="csY2" fmla="*/ 3326946 h 3326946"/>
                  <a:gd name="csX3" fmla="*/ 0 w 2620777"/>
                  <a:gd name="csY3" fmla="*/ 3326946 h 3326946"/>
                  <a:gd name="csX4" fmla="*/ 0 w 2620777"/>
                  <a:gd name="csY4" fmla="*/ 0 h 3326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620777" h="3326946">
                    <a:moveTo>
                      <a:pt x="0" y="0"/>
                    </a:moveTo>
                    <a:lnTo>
                      <a:pt x="2620777" y="0"/>
                    </a:lnTo>
                    <a:lnTo>
                      <a:pt x="2620777" y="3326946"/>
                    </a:lnTo>
                    <a:lnTo>
                      <a:pt x="0" y="3326946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sp3d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2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222885" rIns="0" bIns="0" numCol="1" spcCol="1270" anchor="t" anchorCtr="0">
                <a:noAutofit/>
              </a:bodyPr>
              <a:lstStyle/>
              <a:p>
                <a:pPr marL="0" lvl="0" indent="0" algn="l" defTabSz="2889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NL" sz="6500" kern="1200" dirty="0"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A3E24158-376D-4E6C-B8B5-C2E6067F3B68}"/>
                  </a:ext>
                </a:extLst>
              </p:cNvPr>
              <p:cNvSpPr/>
              <p:nvPr/>
            </p:nvSpPr>
            <p:spPr>
              <a:xfrm>
                <a:off x="1692262" y="2416898"/>
                <a:ext cx="2620777" cy="3326946"/>
              </a:xfrm>
              <a:custGeom>
                <a:avLst/>
                <a:gdLst>
                  <a:gd name="csX0" fmla="*/ 0 w 2620777"/>
                  <a:gd name="csY0" fmla="*/ 0 h 3326946"/>
                  <a:gd name="csX1" fmla="*/ 2620777 w 2620777"/>
                  <a:gd name="csY1" fmla="*/ 0 h 3326946"/>
                  <a:gd name="csX2" fmla="*/ 2620777 w 2620777"/>
                  <a:gd name="csY2" fmla="*/ 3326946 h 3326946"/>
                  <a:gd name="csX3" fmla="*/ 0 w 2620777"/>
                  <a:gd name="csY3" fmla="*/ 3326946 h 3326946"/>
                  <a:gd name="csX4" fmla="*/ 0 w 2620777"/>
                  <a:gd name="csY4" fmla="*/ 0 h 3326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620777" h="3326946">
                    <a:moveTo>
                      <a:pt x="0" y="0"/>
                    </a:moveTo>
                    <a:lnTo>
                      <a:pt x="2620777" y="0"/>
                    </a:lnTo>
                    <a:lnTo>
                      <a:pt x="2620777" y="3326946"/>
                    </a:lnTo>
                    <a:lnTo>
                      <a:pt x="0" y="3326946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sp3d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2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222885" rIns="0" bIns="0" numCol="1" spcCol="1270" anchor="t" anchorCtr="0">
                <a:noAutofit/>
              </a:bodyPr>
              <a:lstStyle/>
              <a:p>
                <a:pPr marL="0" lvl="0" indent="0" algn="l" defTabSz="2889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NL" sz="6500" kern="1200" dirty="0"/>
              </a:p>
            </p:txBody>
          </p:sp>
          <p:sp>
            <p:nvSpPr>
              <p:cNvPr id="1002" name="Arrow: Pentagon 1001">
                <a:extLst>
                  <a:ext uri="{FF2B5EF4-FFF2-40B4-BE49-F238E27FC236}">
                    <a16:creationId xmlns:a16="http://schemas.microsoft.com/office/drawing/2014/main" id="{BAFC543C-0394-A681-6875-7968DF34FB7D}"/>
                  </a:ext>
                </a:extLst>
              </p:cNvPr>
              <p:cNvSpPr/>
              <p:nvPr/>
            </p:nvSpPr>
            <p:spPr>
              <a:xfrm rot="5400000">
                <a:off x="1906085" y="1506293"/>
                <a:ext cx="1702670" cy="3523875"/>
              </a:xfrm>
              <a:prstGeom prst="homePlate">
                <a:avLst>
                  <a:gd name="adj" fmla="val 39823"/>
                </a:avLst>
              </a:prstGeom>
              <a:solidFill>
                <a:srgbClr val="FDDBAD">
                  <a:alpha val="49804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1003" name="Flowchart: Manual Input 37">
                <a:extLst>
                  <a:ext uri="{FF2B5EF4-FFF2-40B4-BE49-F238E27FC236}">
                    <a16:creationId xmlns:a16="http://schemas.microsoft.com/office/drawing/2014/main" id="{BF775AA3-94E5-EE77-49BF-568832CBA722}"/>
                  </a:ext>
                </a:extLst>
              </p:cNvPr>
              <p:cNvSpPr/>
              <p:nvPr/>
            </p:nvSpPr>
            <p:spPr>
              <a:xfrm>
                <a:off x="2745120" y="3440851"/>
                <a:ext cx="1771214" cy="2300136"/>
              </a:xfrm>
              <a:custGeom>
                <a:avLst/>
                <a:gdLst>
                  <a:gd name="csX0" fmla="*/ 0 w 10000"/>
                  <a:gd name="csY0" fmla="*/ 2000 h 10000"/>
                  <a:gd name="csX1" fmla="*/ 10000 w 10000"/>
                  <a:gd name="csY1" fmla="*/ 0 h 10000"/>
                  <a:gd name="csX2" fmla="*/ 10000 w 10000"/>
                  <a:gd name="csY2" fmla="*/ 10000 h 10000"/>
                  <a:gd name="csX3" fmla="*/ 0 w 10000"/>
                  <a:gd name="csY3" fmla="*/ 10000 h 10000"/>
                  <a:gd name="csX4" fmla="*/ 0 w 10000"/>
                  <a:gd name="csY4" fmla="*/ 2000 h 10000"/>
                  <a:gd name="csX0" fmla="*/ 0 w 10000"/>
                  <a:gd name="csY0" fmla="*/ 3337 h 11337"/>
                  <a:gd name="csX1" fmla="*/ 10000 w 10000"/>
                  <a:gd name="csY1" fmla="*/ 0 h 11337"/>
                  <a:gd name="csX2" fmla="*/ 10000 w 10000"/>
                  <a:gd name="csY2" fmla="*/ 11337 h 11337"/>
                  <a:gd name="csX3" fmla="*/ 0 w 10000"/>
                  <a:gd name="csY3" fmla="*/ 11337 h 11337"/>
                  <a:gd name="csX4" fmla="*/ 0 w 10000"/>
                  <a:gd name="csY4" fmla="*/ 3337 h 11337"/>
                  <a:gd name="csX0" fmla="*/ 0 w 10000"/>
                  <a:gd name="csY0" fmla="*/ 3281 h 11281"/>
                  <a:gd name="csX1" fmla="*/ 9978 w 10000"/>
                  <a:gd name="csY1" fmla="*/ 0 h 11281"/>
                  <a:gd name="csX2" fmla="*/ 10000 w 10000"/>
                  <a:gd name="csY2" fmla="*/ 11281 h 11281"/>
                  <a:gd name="csX3" fmla="*/ 0 w 10000"/>
                  <a:gd name="csY3" fmla="*/ 11281 h 11281"/>
                  <a:gd name="csX4" fmla="*/ 0 w 10000"/>
                  <a:gd name="csY4" fmla="*/ 3281 h 11281"/>
                  <a:gd name="csX0" fmla="*/ 0 w 10000"/>
                  <a:gd name="csY0" fmla="*/ 3366 h 11366"/>
                  <a:gd name="csX1" fmla="*/ 9989 w 10000"/>
                  <a:gd name="csY1" fmla="*/ 0 h 11366"/>
                  <a:gd name="csX2" fmla="*/ 10000 w 10000"/>
                  <a:gd name="csY2" fmla="*/ 11366 h 11366"/>
                  <a:gd name="csX3" fmla="*/ 0 w 10000"/>
                  <a:gd name="csY3" fmla="*/ 11366 h 11366"/>
                  <a:gd name="csX4" fmla="*/ 0 w 10000"/>
                  <a:gd name="csY4" fmla="*/ 3366 h 11366"/>
                  <a:gd name="csX0" fmla="*/ 0 w 10044"/>
                  <a:gd name="csY0" fmla="*/ 3366 h 11366"/>
                  <a:gd name="csX1" fmla="*/ 10033 w 10044"/>
                  <a:gd name="csY1" fmla="*/ 0 h 11366"/>
                  <a:gd name="csX2" fmla="*/ 10044 w 10044"/>
                  <a:gd name="csY2" fmla="*/ 11366 h 11366"/>
                  <a:gd name="csX3" fmla="*/ 44 w 10044"/>
                  <a:gd name="csY3" fmla="*/ 11366 h 11366"/>
                  <a:gd name="csX4" fmla="*/ 0 w 10044"/>
                  <a:gd name="csY4" fmla="*/ 3366 h 11366"/>
                  <a:gd name="csX0" fmla="*/ 4 w 10048"/>
                  <a:gd name="csY0" fmla="*/ 3366 h 11366"/>
                  <a:gd name="csX1" fmla="*/ 10037 w 10048"/>
                  <a:gd name="csY1" fmla="*/ 0 h 11366"/>
                  <a:gd name="csX2" fmla="*/ 10048 w 10048"/>
                  <a:gd name="csY2" fmla="*/ 11366 h 11366"/>
                  <a:gd name="csX3" fmla="*/ 4 w 10048"/>
                  <a:gd name="csY3" fmla="*/ 11366 h 11366"/>
                  <a:gd name="csX4" fmla="*/ 4 w 10048"/>
                  <a:gd name="csY4" fmla="*/ 3366 h 11366"/>
                  <a:gd name="csX0" fmla="*/ 0 w 10077"/>
                  <a:gd name="csY0" fmla="*/ 3366 h 11366"/>
                  <a:gd name="csX1" fmla="*/ 10066 w 10077"/>
                  <a:gd name="csY1" fmla="*/ 0 h 11366"/>
                  <a:gd name="csX2" fmla="*/ 10077 w 10077"/>
                  <a:gd name="csY2" fmla="*/ 11366 h 11366"/>
                  <a:gd name="csX3" fmla="*/ 33 w 10077"/>
                  <a:gd name="csY3" fmla="*/ 11366 h 11366"/>
                  <a:gd name="csX4" fmla="*/ 0 w 10077"/>
                  <a:gd name="csY4" fmla="*/ 3366 h 11366"/>
                  <a:gd name="csX0" fmla="*/ 0 w 10077"/>
                  <a:gd name="csY0" fmla="*/ 3366 h 11366"/>
                  <a:gd name="csX1" fmla="*/ 10066 w 10077"/>
                  <a:gd name="csY1" fmla="*/ 0 h 11366"/>
                  <a:gd name="csX2" fmla="*/ 10077 w 10077"/>
                  <a:gd name="csY2" fmla="*/ 11366 h 11366"/>
                  <a:gd name="csX3" fmla="*/ 33 w 10077"/>
                  <a:gd name="csY3" fmla="*/ 11366 h 11366"/>
                  <a:gd name="csX4" fmla="*/ 0 w 10077"/>
                  <a:gd name="csY4" fmla="*/ 3366 h 11366"/>
                  <a:gd name="csX0" fmla="*/ 28 w 10047"/>
                  <a:gd name="csY0" fmla="*/ 3366 h 11366"/>
                  <a:gd name="csX1" fmla="*/ 10036 w 10047"/>
                  <a:gd name="csY1" fmla="*/ 0 h 11366"/>
                  <a:gd name="csX2" fmla="*/ 10047 w 10047"/>
                  <a:gd name="csY2" fmla="*/ 11366 h 11366"/>
                  <a:gd name="csX3" fmla="*/ 3 w 10047"/>
                  <a:gd name="csY3" fmla="*/ 11366 h 11366"/>
                  <a:gd name="csX4" fmla="*/ 28 w 10047"/>
                  <a:gd name="csY4" fmla="*/ 3366 h 11366"/>
                  <a:gd name="csX0" fmla="*/ 0 w 10077"/>
                  <a:gd name="csY0" fmla="*/ 3366 h 11366"/>
                  <a:gd name="csX1" fmla="*/ 10066 w 10077"/>
                  <a:gd name="csY1" fmla="*/ 0 h 11366"/>
                  <a:gd name="csX2" fmla="*/ 10077 w 10077"/>
                  <a:gd name="csY2" fmla="*/ 11366 h 11366"/>
                  <a:gd name="csX3" fmla="*/ 33 w 10077"/>
                  <a:gd name="csY3" fmla="*/ 11366 h 11366"/>
                  <a:gd name="csX4" fmla="*/ 0 w 10077"/>
                  <a:gd name="csY4" fmla="*/ 3366 h 11366"/>
                  <a:gd name="csX0" fmla="*/ 1 w 10049"/>
                  <a:gd name="csY0" fmla="*/ 3366 h 11366"/>
                  <a:gd name="csX1" fmla="*/ 10038 w 10049"/>
                  <a:gd name="csY1" fmla="*/ 0 h 11366"/>
                  <a:gd name="csX2" fmla="*/ 10049 w 10049"/>
                  <a:gd name="csY2" fmla="*/ 11366 h 11366"/>
                  <a:gd name="csX3" fmla="*/ 5 w 10049"/>
                  <a:gd name="csY3" fmla="*/ 11366 h 11366"/>
                  <a:gd name="csX4" fmla="*/ 1 w 10049"/>
                  <a:gd name="csY4" fmla="*/ 3366 h 11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0049" h="11366">
                    <a:moveTo>
                      <a:pt x="1" y="3366"/>
                    </a:moveTo>
                    <a:lnTo>
                      <a:pt x="10038" y="0"/>
                    </a:lnTo>
                    <a:cubicBezTo>
                      <a:pt x="10045" y="3760"/>
                      <a:pt x="10042" y="7606"/>
                      <a:pt x="10049" y="11366"/>
                    </a:cubicBezTo>
                    <a:lnTo>
                      <a:pt x="5" y="11366"/>
                    </a:lnTo>
                    <a:cubicBezTo>
                      <a:pt x="-10" y="8699"/>
                      <a:pt x="16" y="6033"/>
                      <a:pt x="1" y="3366"/>
                    </a:cubicBezTo>
                    <a:close/>
                  </a:path>
                </a:pathLst>
              </a:custGeom>
              <a:solidFill>
                <a:schemeClr val="tx2">
                  <a:lumMod val="25000"/>
                  <a:lumOff val="75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1004" name="Flowchart: Manual Input 37">
                <a:extLst>
                  <a:ext uri="{FF2B5EF4-FFF2-40B4-BE49-F238E27FC236}">
                    <a16:creationId xmlns:a16="http://schemas.microsoft.com/office/drawing/2014/main" id="{346ACFDE-DACD-7BAA-A1D0-54B753CEEC9E}"/>
                  </a:ext>
                </a:extLst>
              </p:cNvPr>
              <p:cNvSpPr/>
              <p:nvPr/>
            </p:nvSpPr>
            <p:spPr>
              <a:xfrm flipH="1">
                <a:off x="1000182" y="3440851"/>
                <a:ext cx="1747427" cy="2300136"/>
              </a:xfrm>
              <a:custGeom>
                <a:avLst/>
                <a:gdLst>
                  <a:gd name="csX0" fmla="*/ 0 w 10000"/>
                  <a:gd name="csY0" fmla="*/ 2000 h 10000"/>
                  <a:gd name="csX1" fmla="*/ 10000 w 10000"/>
                  <a:gd name="csY1" fmla="*/ 0 h 10000"/>
                  <a:gd name="csX2" fmla="*/ 10000 w 10000"/>
                  <a:gd name="csY2" fmla="*/ 10000 h 10000"/>
                  <a:gd name="csX3" fmla="*/ 0 w 10000"/>
                  <a:gd name="csY3" fmla="*/ 10000 h 10000"/>
                  <a:gd name="csX4" fmla="*/ 0 w 10000"/>
                  <a:gd name="csY4" fmla="*/ 2000 h 10000"/>
                  <a:gd name="csX0" fmla="*/ 0 w 10000"/>
                  <a:gd name="csY0" fmla="*/ 3337 h 11337"/>
                  <a:gd name="csX1" fmla="*/ 10000 w 10000"/>
                  <a:gd name="csY1" fmla="*/ 0 h 11337"/>
                  <a:gd name="csX2" fmla="*/ 10000 w 10000"/>
                  <a:gd name="csY2" fmla="*/ 11337 h 11337"/>
                  <a:gd name="csX3" fmla="*/ 0 w 10000"/>
                  <a:gd name="csY3" fmla="*/ 11337 h 11337"/>
                  <a:gd name="csX4" fmla="*/ 0 w 10000"/>
                  <a:gd name="csY4" fmla="*/ 3337 h 11337"/>
                  <a:gd name="csX0" fmla="*/ 0 w 10000"/>
                  <a:gd name="csY0" fmla="*/ 3281 h 11281"/>
                  <a:gd name="csX1" fmla="*/ 9978 w 10000"/>
                  <a:gd name="csY1" fmla="*/ 0 h 11281"/>
                  <a:gd name="csX2" fmla="*/ 10000 w 10000"/>
                  <a:gd name="csY2" fmla="*/ 11281 h 11281"/>
                  <a:gd name="csX3" fmla="*/ 0 w 10000"/>
                  <a:gd name="csY3" fmla="*/ 11281 h 11281"/>
                  <a:gd name="csX4" fmla="*/ 0 w 10000"/>
                  <a:gd name="csY4" fmla="*/ 3281 h 11281"/>
                  <a:gd name="csX0" fmla="*/ 0 w 10000"/>
                  <a:gd name="csY0" fmla="*/ 3366 h 11366"/>
                  <a:gd name="csX1" fmla="*/ 9989 w 10000"/>
                  <a:gd name="csY1" fmla="*/ 0 h 11366"/>
                  <a:gd name="csX2" fmla="*/ 10000 w 10000"/>
                  <a:gd name="csY2" fmla="*/ 11366 h 11366"/>
                  <a:gd name="csX3" fmla="*/ 0 w 10000"/>
                  <a:gd name="csY3" fmla="*/ 11366 h 11366"/>
                  <a:gd name="csX4" fmla="*/ 0 w 10000"/>
                  <a:gd name="csY4" fmla="*/ 3366 h 11366"/>
                  <a:gd name="csX0" fmla="*/ 0 w 10044"/>
                  <a:gd name="csY0" fmla="*/ 3366 h 11366"/>
                  <a:gd name="csX1" fmla="*/ 10033 w 10044"/>
                  <a:gd name="csY1" fmla="*/ 0 h 11366"/>
                  <a:gd name="csX2" fmla="*/ 10044 w 10044"/>
                  <a:gd name="csY2" fmla="*/ 11366 h 11366"/>
                  <a:gd name="csX3" fmla="*/ 44 w 10044"/>
                  <a:gd name="csY3" fmla="*/ 11366 h 11366"/>
                  <a:gd name="csX4" fmla="*/ 0 w 10044"/>
                  <a:gd name="csY4" fmla="*/ 3366 h 11366"/>
                  <a:gd name="csX0" fmla="*/ 4 w 10048"/>
                  <a:gd name="csY0" fmla="*/ 3366 h 11366"/>
                  <a:gd name="csX1" fmla="*/ 10037 w 10048"/>
                  <a:gd name="csY1" fmla="*/ 0 h 11366"/>
                  <a:gd name="csX2" fmla="*/ 10048 w 10048"/>
                  <a:gd name="csY2" fmla="*/ 11366 h 11366"/>
                  <a:gd name="csX3" fmla="*/ 4 w 10048"/>
                  <a:gd name="csY3" fmla="*/ 11366 h 11366"/>
                  <a:gd name="csX4" fmla="*/ 4 w 10048"/>
                  <a:gd name="csY4" fmla="*/ 3366 h 11366"/>
                  <a:gd name="csX0" fmla="*/ 0 w 10066"/>
                  <a:gd name="csY0" fmla="*/ 3357 h 11366"/>
                  <a:gd name="csX1" fmla="*/ 10055 w 10066"/>
                  <a:gd name="csY1" fmla="*/ 0 h 11366"/>
                  <a:gd name="csX2" fmla="*/ 10066 w 10066"/>
                  <a:gd name="csY2" fmla="*/ 11366 h 11366"/>
                  <a:gd name="csX3" fmla="*/ 22 w 10066"/>
                  <a:gd name="csY3" fmla="*/ 11366 h 11366"/>
                  <a:gd name="csX4" fmla="*/ 0 w 10066"/>
                  <a:gd name="csY4" fmla="*/ 3357 h 11366"/>
                  <a:gd name="csX0" fmla="*/ 4 w 10070"/>
                  <a:gd name="csY0" fmla="*/ 3357 h 11366"/>
                  <a:gd name="csX1" fmla="*/ 10059 w 10070"/>
                  <a:gd name="csY1" fmla="*/ 0 h 11366"/>
                  <a:gd name="csX2" fmla="*/ 10070 w 10070"/>
                  <a:gd name="csY2" fmla="*/ 11366 h 11366"/>
                  <a:gd name="csX3" fmla="*/ 4 w 10070"/>
                  <a:gd name="csY3" fmla="*/ 11366 h 11366"/>
                  <a:gd name="csX4" fmla="*/ 4 w 10070"/>
                  <a:gd name="csY4" fmla="*/ 3357 h 11366"/>
                  <a:gd name="csX0" fmla="*/ 4 w 10070"/>
                  <a:gd name="csY0" fmla="*/ 3348 h 11366"/>
                  <a:gd name="csX1" fmla="*/ 10059 w 10070"/>
                  <a:gd name="csY1" fmla="*/ 0 h 11366"/>
                  <a:gd name="csX2" fmla="*/ 10070 w 10070"/>
                  <a:gd name="csY2" fmla="*/ 11366 h 11366"/>
                  <a:gd name="csX3" fmla="*/ 4 w 10070"/>
                  <a:gd name="csY3" fmla="*/ 11366 h 11366"/>
                  <a:gd name="csX4" fmla="*/ 4 w 10070"/>
                  <a:gd name="csY4" fmla="*/ 3348 h 113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0070" h="11366">
                    <a:moveTo>
                      <a:pt x="4" y="3348"/>
                    </a:moveTo>
                    <a:lnTo>
                      <a:pt x="10059" y="0"/>
                    </a:lnTo>
                    <a:cubicBezTo>
                      <a:pt x="10066" y="3760"/>
                      <a:pt x="10063" y="7606"/>
                      <a:pt x="10070" y="11366"/>
                    </a:cubicBezTo>
                    <a:lnTo>
                      <a:pt x="4" y="11366"/>
                    </a:lnTo>
                    <a:cubicBezTo>
                      <a:pt x="-11" y="8699"/>
                      <a:pt x="19" y="6015"/>
                      <a:pt x="4" y="3348"/>
                    </a:cubicBezTo>
                    <a:close/>
                  </a:path>
                </a:pathLst>
              </a:custGeom>
              <a:solidFill>
                <a:schemeClr val="bg2">
                  <a:lumMod val="75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pic>
            <p:nvPicPr>
              <p:cNvPr id="1005" name="Picture 1004">
                <a:extLst>
                  <a:ext uri="{FF2B5EF4-FFF2-40B4-BE49-F238E27FC236}">
                    <a16:creationId xmlns:a16="http://schemas.microsoft.com/office/drawing/2014/main" id="{9359AD2C-4137-A728-817A-7E504BF2FD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alphaModFix amt="5000"/>
              </a:blip>
              <a:stretch>
                <a:fillRect/>
              </a:stretch>
            </p:blipFill>
            <p:spPr>
              <a:xfrm>
                <a:off x="1499448" y="4292531"/>
                <a:ext cx="757746" cy="757746"/>
              </a:xfrm>
              <a:prstGeom prst="rect">
                <a:avLst/>
              </a:prstGeom>
            </p:spPr>
          </p:pic>
          <p:pic>
            <p:nvPicPr>
              <p:cNvPr id="1006" name="Picture 2" descr="Logo vertical | OntoUML Community Portal">
                <a:extLst>
                  <a:ext uri="{FF2B5EF4-FFF2-40B4-BE49-F238E27FC236}">
                    <a16:creationId xmlns:a16="http://schemas.microsoft.com/office/drawing/2014/main" id="{6965C066-0E1A-8B02-AF2A-30D1FCCBFF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34219" y="4471101"/>
                <a:ext cx="1062205" cy="4062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007" name="Straight Connector 1006">
                <a:extLst>
                  <a:ext uri="{FF2B5EF4-FFF2-40B4-BE49-F238E27FC236}">
                    <a16:creationId xmlns:a16="http://schemas.microsoft.com/office/drawing/2014/main" id="{5165BC02-F9AD-2202-2A6C-DBF264DE26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81976" y="4671404"/>
                <a:ext cx="534992" cy="0"/>
              </a:xfrm>
              <a:prstGeom prst="line">
                <a:avLst/>
              </a:prstGeom>
              <a:ln w="25400"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08" name="Thought Bubble: Cloud 1007">
                <a:extLst>
                  <a:ext uri="{FF2B5EF4-FFF2-40B4-BE49-F238E27FC236}">
                    <a16:creationId xmlns:a16="http://schemas.microsoft.com/office/drawing/2014/main" id="{0490BFE4-744C-6BCE-104B-BAACE27E1331}"/>
                  </a:ext>
                </a:extLst>
              </p:cNvPr>
              <p:cNvSpPr/>
              <p:nvPr/>
            </p:nvSpPr>
            <p:spPr>
              <a:xfrm>
                <a:off x="2351144" y="3011785"/>
                <a:ext cx="795958" cy="665709"/>
              </a:xfrm>
              <a:prstGeom prst="cloudCallout">
                <a:avLst>
                  <a:gd name="adj1" fmla="val 60131"/>
                  <a:gd name="adj2" fmla="val 31691"/>
                </a:avLst>
              </a:prstGeom>
              <a:solidFill>
                <a:srgbClr val="FFD5D5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NL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endParaRPr>
              </a:p>
            </p:txBody>
          </p:sp>
          <p:cxnSp>
            <p:nvCxnSpPr>
              <p:cNvPr id="1009" name="Straight Connector 1008">
                <a:extLst>
                  <a:ext uri="{FF2B5EF4-FFF2-40B4-BE49-F238E27FC236}">
                    <a16:creationId xmlns:a16="http://schemas.microsoft.com/office/drawing/2014/main" id="{1BF4AE54-316B-D380-ACB8-85E9266FDC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87884" y="3720145"/>
                <a:ext cx="464636" cy="529734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0" name="Straight Connector 1009">
                <a:extLst>
                  <a:ext uri="{FF2B5EF4-FFF2-40B4-BE49-F238E27FC236}">
                    <a16:creationId xmlns:a16="http://schemas.microsoft.com/office/drawing/2014/main" id="{3FD98CB9-443E-1B23-BE74-1730A6BAB9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2700" y="3742618"/>
                <a:ext cx="464636" cy="529734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11" name="Rectangle 1010">
                <a:extLst>
                  <a:ext uri="{FF2B5EF4-FFF2-40B4-BE49-F238E27FC236}">
                    <a16:creationId xmlns:a16="http://schemas.microsoft.com/office/drawing/2014/main" id="{B3CB4F89-E5CA-253F-2B04-0CC46ED9F02A}"/>
                  </a:ext>
                </a:extLst>
              </p:cNvPr>
              <p:cNvSpPr/>
              <p:nvPr/>
            </p:nvSpPr>
            <p:spPr>
              <a:xfrm rot="16200000">
                <a:off x="1085650" y="2321459"/>
                <a:ext cx="3326947" cy="351782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style>
              <a:lnRef idx="2">
                <a:schemeClr val="dk2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2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598850" tIns="137161" rIns="177801" bIns="2814257" numCol="1" spcCol="1270" anchor="t" anchorCtr="0">
                <a:noAutofit/>
              </a:bodyPr>
              <a:lstStyle/>
              <a:p>
                <a:pPr marL="0" lvl="0" indent="0" algn="r" defTabSz="1778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NL" sz="4000" kern="1200" dirty="0"/>
              </a:p>
            </p:txBody>
          </p:sp>
          <p:sp>
            <p:nvSpPr>
              <p:cNvPr id="1012" name="TextBox 1011">
                <a:extLst>
                  <a:ext uri="{FF2B5EF4-FFF2-40B4-BE49-F238E27FC236}">
                    <a16:creationId xmlns:a16="http://schemas.microsoft.com/office/drawing/2014/main" id="{1A05DBED-07B8-5EAB-D1C8-35309A67470A}"/>
                  </a:ext>
                </a:extLst>
              </p:cNvPr>
              <p:cNvSpPr txBox="1"/>
              <p:nvPr/>
            </p:nvSpPr>
            <p:spPr>
              <a:xfrm>
                <a:off x="1084420" y="2487202"/>
                <a:ext cx="716068" cy="2150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MEANING</a:t>
                </a:r>
                <a:endParaRPr lang="en-NL" sz="2000" b="1" dirty="0"/>
              </a:p>
            </p:txBody>
          </p:sp>
          <p:sp>
            <p:nvSpPr>
              <p:cNvPr id="1013" name="TextBox 1012">
                <a:extLst>
                  <a:ext uri="{FF2B5EF4-FFF2-40B4-BE49-F238E27FC236}">
                    <a16:creationId xmlns:a16="http://schemas.microsoft.com/office/drawing/2014/main" id="{B60C762E-803B-7A9B-69CB-DE0EEFC14EAC}"/>
                  </a:ext>
                </a:extLst>
              </p:cNvPr>
              <p:cNvSpPr txBox="1"/>
              <p:nvPr/>
            </p:nvSpPr>
            <p:spPr>
              <a:xfrm>
                <a:off x="1258466" y="5428495"/>
                <a:ext cx="1230859" cy="2150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b="1" dirty="0"/>
                  <a:t>REPRESENTATION</a:t>
                </a:r>
                <a:endParaRPr lang="en-NL" sz="2000" b="1" dirty="0"/>
              </a:p>
            </p:txBody>
          </p:sp>
          <p:sp>
            <p:nvSpPr>
              <p:cNvPr id="1014" name="TextBox 1013">
                <a:extLst>
                  <a:ext uri="{FF2B5EF4-FFF2-40B4-BE49-F238E27FC236}">
                    <a16:creationId xmlns:a16="http://schemas.microsoft.com/office/drawing/2014/main" id="{7A2D025A-DABB-26D6-A319-1237AF76ED79}"/>
                  </a:ext>
                </a:extLst>
              </p:cNvPr>
              <p:cNvSpPr txBox="1"/>
              <p:nvPr/>
            </p:nvSpPr>
            <p:spPr>
              <a:xfrm>
                <a:off x="3253309" y="5428495"/>
                <a:ext cx="754836" cy="2150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b="1" dirty="0"/>
                  <a:t>REFERENT</a:t>
                </a:r>
                <a:endParaRPr lang="en-NL" sz="2000" b="1" dirty="0"/>
              </a:p>
            </p:txBody>
          </p:sp>
          <p:sp>
            <p:nvSpPr>
              <p:cNvPr id="1015" name="TextBox 1014">
                <a:extLst>
                  <a:ext uri="{FF2B5EF4-FFF2-40B4-BE49-F238E27FC236}">
                    <a16:creationId xmlns:a16="http://schemas.microsoft.com/office/drawing/2014/main" id="{73C957B4-E2D4-0AE3-F479-E4359B30D915}"/>
                  </a:ext>
                </a:extLst>
              </p:cNvPr>
              <p:cNvSpPr txBox="1"/>
              <p:nvPr/>
            </p:nvSpPr>
            <p:spPr>
              <a:xfrm>
                <a:off x="2254415" y="2795783"/>
                <a:ext cx="1006011" cy="181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/>
                  <a:t>conceptualization</a:t>
                </a:r>
                <a:endParaRPr lang="en-NL" sz="1600" b="1" dirty="0"/>
              </a:p>
            </p:txBody>
          </p:sp>
          <p:pic>
            <p:nvPicPr>
              <p:cNvPr id="1016" name="Picture 2" descr="Planet earth - Free maps and location icons">
                <a:extLst>
                  <a:ext uri="{FF2B5EF4-FFF2-40B4-BE49-F238E27FC236}">
                    <a16:creationId xmlns:a16="http://schemas.microsoft.com/office/drawing/2014/main" id="{FFACC40C-B74E-46DC-35AB-D206F205A5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17549" y="4337476"/>
                <a:ext cx="667857" cy="66785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17" name="TextBox 1016">
                <a:extLst>
                  <a:ext uri="{FF2B5EF4-FFF2-40B4-BE49-F238E27FC236}">
                    <a16:creationId xmlns:a16="http://schemas.microsoft.com/office/drawing/2014/main" id="{9CF811F6-31DB-27C7-2813-2808A8BB45EF}"/>
                  </a:ext>
                </a:extLst>
              </p:cNvPr>
              <p:cNvSpPr txBox="1"/>
              <p:nvPr/>
            </p:nvSpPr>
            <p:spPr>
              <a:xfrm>
                <a:off x="3401078" y="4986860"/>
                <a:ext cx="500800" cy="1819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/>
                  <a:t>referent</a:t>
                </a:r>
                <a:endParaRPr lang="en-NL" sz="1600" b="1" dirty="0"/>
              </a:p>
            </p:txBody>
          </p:sp>
          <p:sp>
            <p:nvSpPr>
              <p:cNvPr id="1018" name="TextBox 1017">
                <a:extLst>
                  <a:ext uri="{FF2B5EF4-FFF2-40B4-BE49-F238E27FC236}">
                    <a16:creationId xmlns:a16="http://schemas.microsoft.com/office/drawing/2014/main" id="{601CDB97-49B1-A091-DC7B-406C8D4D6C7E}"/>
                  </a:ext>
                </a:extLst>
              </p:cNvPr>
              <p:cNvSpPr txBox="1"/>
              <p:nvPr/>
            </p:nvSpPr>
            <p:spPr>
              <a:xfrm rot="18695261">
                <a:off x="1670649" y="3833854"/>
                <a:ext cx="831094" cy="198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represents </a:t>
                </a:r>
                <a:r>
                  <a:rPr lang="en-US" dirty="0">
                    <a:sym typeface="Wingdings" panose="05000000000000000000" pitchFamily="2" charset="2"/>
                  </a:rPr>
                  <a:t></a:t>
                </a:r>
                <a:endParaRPr lang="en-NL" dirty="0"/>
              </a:p>
            </p:txBody>
          </p:sp>
          <p:sp>
            <p:nvSpPr>
              <p:cNvPr id="1019" name="TextBox 1018">
                <a:extLst>
                  <a:ext uri="{FF2B5EF4-FFF2-40B4-BE49-F238E27FC236}">
                    <a16:creationId xmlns:a16="http://schemas.microsoft.com/office/drawing/2014/main" id="{63DFE34B-5F73-DAED-C049-8C3CB6D6483D}"/>
                  </a:ext>
                </a:extLst>
              </p:cNvPr>
              <p:cNvSpPr txBox="1"/>
              <p:nvPr/>
            </p:nvSpPr>
            <p:spPr>
              <a:xfrm rot="2912353">
                <a:off x="3049108" y="3844761"/>
                <a:ext cx="696323" cy="198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refers to </a:t>
                </a:r>
                <a:r>
                  <a:rPr lang="en-US" dirty="0">
                    <a:sym typeface="Wingdings" panose="05000000000000000000" pitchFamily="2" charset="2"/>
                  </a:rPr>
                  <a:t></a:t>
                </a:r>
                <a:endParaRPr lang="en-NL" dirty="0"/>
              </a:p>
            </p:txBody>
          </p:sp>
          <p:sp>
            <p:nvSpPr>
              <p:cNvPr id="1020" name="TextBox 1019">
                <a:extLst>
                  <a:ext uri="{FF2B5EF4-FFF2-40B4-BE49-F238E27FC236}">
                    <a16:creationId xmlns:a16="http://schemas.microsoft.com/office/drawing/2014/main" id="{807DF65F-E15F-BCDA-CB94-AC57DCD1CF11}"/>
                  </a:ext>
                </a:extLst>
              </p:cNvPr>
              <p:cNvSpPr txBox="1"/>
              <p:nvPr/>
            </p:nvSpPr>
            <p:spPr>
              <a:xfrm>
                <a:off x="2399448" y="4675972"/>
                <a:ext cx="696323" cy="198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refers to </a:t>
                </a:r>
                <a:r>
                  <a:rPr lang="en-US" dirty="0">
                    <a:sym typeface="Wingdings" panose="05000000000000000000" pitchFamily="2" charset="2"/>
                  </a:rPr>
                  <a:t></a:t>
                </a:r>
                <a:endParaRPr lang="en-NL" dirty="0"/>
              </a:p>
            </p:txBody>
          </p:sp>
          <p:sp>
            <p:nvSpPr>
              <p:cNvPr id="1021" name="TextBox 1020">
                <a:extLst>
                  <a:ext uri="{FF2B5EF4-FFF2-40B4-BE49-F238E27FC236}">
                    <a16:creationId xmlns:a16="http://schemas.microsoft.com/office/drawing/2014/main" id="{4D495256-1924-7621-8D0D-B47594204641}"/>
                  </a:ext>
                </a:extLst>
              </p:cNvPr>
              <p:cNvSpPr txBox="1"/>
              <p:nvPr/>
            </p:nvSpPr>
            <p:spPr>
              <a:xfrm>
                <a:off x="2841462" y="2408012"/>
                <a:ext cx="1525108" cy="31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70C0"/>
                    </a:solidFill>
                  </a:rPr>
                  <a:t>Semiotic View</a:t>
                </a:r>
                <a:endParaRPr lang="en-NL" sz="3200" b="1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1022" name="TextBox 1021">
                <a:extLst>
                  <a:ext uri="{FF2B5EF4-FFF2-40B4-BE49-F238E27FC236}">
                    <a16:creationId xmlns:a16="http://schemas.microsoft.com/office/drawing/2014/main" id="{AECA90D3-D4D6-D9B5-60D0-7CAD2F6C97F5}"/>
                  </a:ext>
                </a:extLst>
              </p:cNvPr>
              <p:cNvSpPr txBox="1"/>
              <p:nvPr/>
            </p:nvSpPr>
            <p:spPr>
              <a:xfrm>
                <a:off x="7502776" y="2409428"/>
                <a:ext cx="1098568" cy="31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70C0"/>
                    </a:solidFill>
                  </a:rPr>
                  <a:t>MDA View</a:t>
                </a:r>
                <a:endParaRPr lang="en-NL" sz="3200" b="1" dirty="0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1054" name="TextBox 1053">
              <a:extLst>
                <a:ext uri="{FF2B5EF4-FFF2-40B4-BE49-F238E27FC236}">
                  <a16:creationId xmlns:a16="http://schemas.microsoft.com/office/drawing/2014/main" id="{81B01EF5-62EE-11E5-B3F2-DD2EED88896B}"/>
                </a:ext>
              </a:extLst>
            </p:cNvPr>
            <p:cNvSpPr txBox="1"/>
            <p:nvPr/>
          </p:nvSpPr>
          <p:spPr>
            <a:xfrm>
              <a:off x="15400719" y="19071430"/>
              <a:ext cx="14458954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NL" sz="2800" dirty="0">
                  <a:solidFill>
                    <a:srgbClr val="15467B"/>
                  </a:solidFill>
                </a:rPr>
                <a:t>Semantic traceability in the Health-RI Semantic Interoperability Initiative’s architecture. The semiotic view (left) shows OntoUML as a representation of a shared conceptualization of the referent domain. The MDA view (right) shows HRIO OntoUML as the CIM and the HRIO </a:t>
              </a:r>
              <a:r>
                <a:rPr lang="en-NL" sz="2800" dirty="0" err="1">
                  <a:solidFill>
                    <a:srgbClr val="15467B"/>
                  </a:solidFill>
                </a:rPr>
                <a:t>gUFO</a:t>
              </a:r>
              <a:r>
                <a:rPr lang="en-NL" sz="2800" dirty="0">
                  <a:solidFill>
                    <a:srgbClr val="15467B"/>
                  </a:solidFill>
                </a:rPr>
                <a:t>/OWL ontology as the PIM, with the PIM implementing the CIM.</a:t>
              </a:r>
            </a:p>
          </p:txBody>
        </p:sp>
        <p:grpSp>
          <p:nvGrpSpPr>
            <p:cNvPr id="1090" name="Group 1089">
              <a:extLst>
                <a:ext uri="{FF2B5EF4-FFF2-40B4-BE49-F238E27FC236}">
                  <a16:creationId xmlns:a16="http://schemas.microsoft.com/office/drawing/2014/main" id="{E75B275D-4D44-106C-3B64-407D94656F49}"/>
                </a:ext>
              </a:extLst>
            </p:cNvPr>
            <p:cNvGrpSpPr/>
            <p:nvPr/>
          </p:nvGrpSpPr>
          <p:grpSpPr>
            <a:xfrm>
              <a:off x="15403509" y="21880913"/>
              <a:ext cx="14788655" cy="6372692"/>
              <a:chOff x="6696074" y="18222409"/>
              <a:chExt cx="10207479" cy="4398583"/>
            </a:xfrm>
          </p:grpSpPr>
          <p:sp>
            <p:nvSpPr>
              <p:cNvPr id="1055" name="Rectangle: Rounded Corners 1054">
                <a:extLst>
                  <a:ext uri="{FF2B5EF4-FFF2-40B4-BE49-F238E27FC236}">
                    <a16:creationId xmlns:a16="http://schemas.microsoft.com/office/drawing/2014/main" id="{1B9928C2-39D1-0C06-207A-823848F6D188}"/>
                  </a:ext>
                </a:extLst>
              </p:cNvPr>
              <p:cNvSpPr/>
              <p:nvPr/>
            </p:nvSpPr>
            <p:spPr>
              <a:xfrm>
                <a:off x="14100951" y="18830044"/>
                <a:ext cx="2802602" cy="3790948"/>
              </a:xfrm>
              <a:prstGeom prst="roundRect">
                <a:avLst>
                  <a:gd name="adj" fmla="val 6667"/>
                </a:avLst>
              </a:prstGeom>
              <a:solidFill>
                <a:schemeClr val="bg1">
                  <a:lumMod val="95000"/>
                </a:schemeClr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1056" name="Rectangle: Rounded Corners 1055">
                <a:extLst>
                  <a:ext uri="{FF2B5EF4-FFF2-40B4-BE49-F238E27FC236}">
                    <a16:creationId xmlns:a16="http://schemas.microsoft.com/office/drawing/2014/main" id="{204F9BD4-7B18-BA27-7FAE-4A203B1AE73E}"/>
                  </a:ext>
                </a:extLst>
              </p:cNvPr>
              <p:cNvSpPr/>
              <p:nvPr/>
            </p:nvSpPr>
            <p:spPr>
              <a:xfrm>
                <a:off x="6696074" y="18830044"/>
                <a:ext cx="7124701" cy="3790948"/>
              </a:xfrm>
              <a:prstGeom prst="roundRect">
                <a:avLst>
                  <a:gd name="adj" fmla="val 6667"/>
                </a:avLst>
              </a:prstGeom>
              <a:solidFill>
                <a:srgbClr val="FEEFDA"/>
              </a:solidFill>
              <a:ln w="381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en-NL" dirty="0"/>
              </a:p>
            </p:txBody>
          </p:sp>
          <p:sp>
            <p:nvSpPr>
              <p:cNvPr id="1057" name="Rectangle: Rounded Corners 1056">
                <a:extLst>
                  <a:ext uri="{FF2B5EF4-FFF2-40B4-BE49-F238E27FC236}">
                    <a16:creationId xmlns:a16="http://schemas.microsoft.com/office/drawing/2014/main" id="{CC14E41B-F92B-B829-B3F5-F9DEECCE2A58}"/>
                  </a:ext>
                </a:extLst>
              </p:cNvPr>
              <p:cNvSpPr/>
              <p:nvPr/>
            </p:nvSpPr>
            <p:spPr>
              <a:xfrm>
                <a:off x="6930461" y="19001494"/>
                <a:ext cx="3497845" cy="3429000"/>
              </a:xfrm>
              <a:prstGeom prst="roundRect">
                <a:avLst>
                  <a:gd name="adj" fmla="val 6667"/>
                </a:avLst>
              </a:prstGeom>
              <a:solidFill>
                <a:srgbClr val="FEEFDA"/>
              </a:solidFill>
              <a:ln w="38100" cap="flat" cmpd="sng" algn="ctr">
                <a:solidFill>
                  <a:srgbClr val="0070C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grpSp>
            <p:nvGrpSpPr>
              <p:cNvPr id="1059" name="Group 1058">
                <a:extLst>
                  <a:ext uri="{FF2B5EF4-FFF2-40B4-BE49-F238E27FC236}">
                    <a16:creationId xmlns:a16="http://schemas.microsoft.com/office/drawing/2014/main" id="{1E9FA9DA-8871-B192-A92A-CEE74988DF56}"/>
                  </a:ext>
                </a:extLst>
              </p:cNvPr>
              <p:cNvGrpSpPr/>
              <p:nvPr/>
            </p:nvGrpSpPr>
            <p:grpSpPr>
              <a:xfrm>
                <a:off x="11348411" y="19303012"/>
                <a:ext cx="4813109" cy="2825965"/>
                <a:chOff x="5216265" y="1919467"/>
                <a:chExt cx="4813109" cy="2825965"/>
              </a:xfrm>
            </p:grpSpPr>
            <p:cxnSp>
              <p:nvCxnSpPr>
                <p:cNvPr id="1060" name="Straight Arrow Connector 1059">
                  <a:extLst>
                    <a:ext uri="{FF2B5EF4-FFF2-40B4-BE49-F238E27FC236}">
                      <a16:creationId xmlns:a16="http://schemas.microsoft.com/office/drawing/2014/main" id="{A969ACA0-DB8C-D31F-6D41-5F910E8414D3}"/>
                    </a:ext>
                  </a:extLst>
                </p:cNvPr>
                <p:cNvCxnSpPr>
                  <a:stCxn id="1070" idx="0"/>
                  <a:endCxn id="1069" idx="2"/>
                </p:cNvCxnSpPr>
                <p:nvPr/>
              </p:nvCxnSpPr>
              <p:spPr>
                <a:xfrm flipV="1">
                  <a:off x="6492321" y="2381671"/>
                  <a:ext cx="0" cy="439966"/>
                </a:xfrm>
                <a:prstGeom prst="straightConnector1">
                  <a:avLst/>
                </a:prstGeom>
                <a:ln w="25400">
                  <a:solidFill>
                    <a:schemeClr val="accent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1" name="Connector: Elbow 1060">
                  <a:extLst>
                    <a:ext uri="{FF2B5EF4-FFF2-40B4-BE49-F238E27FC236}">
                      <a16:creationId xmlns:a16="http://schemas.microsoft.com/office/drawing/2014/main" id="{AAE72784-462F-8A96-5B38-6D10CABDEC3F}"/>
                    </a:ext>
                  </a:extLst>
                </p:cNvPr>
                <p:cNvCxnSpPr>
                  <a:cxnSpLocks/>
                  <a:stCxn id="1071" idx="1"/>
                </p:cNvCxnSpPr>
                <p:nvPr/>
              </p:nvCxnSpPr>
              <p:spPr>
                <a:xfrm rot="10800000" flipH="1">
                  <a:off x="5835091" y="3106696"/>
                  <a:ext cx="8" cy="730401"/>
                </a:xfrm>
                <a:prstGeom prst="bentConnector4">
                  <a:avLst>
                    <a:gd name="adj1" fmla="val -2857500000"/>
                    <a:gd name="adj2" fmla="val 100052"/>
                  </a:avLst>
                </a:prstGeom>
                <a:ln w="25400">
                  <a:solidFill>
                    <a:schemeClr val="accent1">
                      <a:lumMod val="50000"/>
                    </a:schemeClr>
                  </a:solidFill>
                  <a:tailEnd type="triangl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2" name="Connector: Elbow 1061">
                  <a:extLst>
                    <a:ext uri="{FF2B5EF4-FFF2-40B4-BE49-F238E27FC236}">
                      <a16:creationId xmlns:a16="http://schemas.microsoft.com/office/drawing/2014/main" id="{550872E9-BF6E-8169-AD9D-58DAE02450EF}"/>
                    </a:ext>
                  </a:extLst>
                </p:cNvPr>
                <p:cNvCxnSpPr>
                  <a:cxnSpLocks/>
                  <a:stCxn id="1072" idx="1"/>
                </p:cNvCxnSpPr>
                <p:nvPr/>
              </p:nvCxnSpPr>
              <p:spPr>
                <a:xfrm rot="10800000" flipH="1">
                  <a:off x="5834148" y="2978754"/>
                  <a:ext cx="946" cy="1535576"/>
                </a:xfrm>
                <a:prstGeom prst="bentConnector4">
                  <a:avLst>
                    <a:gd name="adj1" fmla="val -48329810"/>
                    <a:gd name="adj2" fmla="val 100170"/>
                  </a:avLst>
                </a:prstGeom>
                <a:ln w="25400">
                  <a:solidFill>
                    <a:schemeClr val="accent1">
                      <a:lumMod val="50000"/>
                    </a:schemeClr>
                  </a:solidFill>
                  <a:tailEnd type="triangl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63" name="TextBox 1062">
                  <a:extLst>
                    <a:ext uri="{FF2B5EF4-FFF2-40B4-BE49-F238E27FC236}">
                      <a16:creationId xmlns:a16="http://schemas.microsoft.com/office/drawing/2014/main" id="{047A177C-EA9B-97D8-65C5-1B9F5FAAADF4}"/>
                    </a:ext>
                  </a:extLst>
                </p:cNvPr>
                <p:cNvSpPr txBox="1"/>
                <p:nvPr/>
              </p:nvSpPr>
              <p:spPr>
                <a:xfrm rot="16200000">
                  <a:off x="4595853" y="3836701"/>
                  <a:ext cx="1400150" cy="1593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NL" sz="900" b="1" dirty="0" err="1">
                      <a:solidFill>
                        <a:schemeClr val="accent1">
                          <a:lumMod val="50000"/>
                        </a:schemeClr>
                      </a:solidFill>
                      <a:latin typeface="Atkinson Hyperlegible Mono Extr" panose="02000009000000000000" pitchFamily="49" charset="0"/>
                    </a:rPr>
                    <a:t>rdfs:subClassOf</a:t>
                  </a:r>
                  <a:endParaRPr lang="en-NL" sz="900" b="1" dirty="0">
                    <a:solidFill>
                      <a:schemeClr val="accent1">
                        <a:lumMod val="50000"/>
                      </a:schemeClr>
                    </a:solidFill>
                    <a:latin typeface="Atkinson Hyperlegible Mono Extr" panose="02000009000000000000" pitchFamily="49" charset="0"/>
                  </a:endParaRPr>
                </a:p>
              </p:txBody>
            </p:sp>
            <p:cxnSp>
              <p:nvCxnSpPr>
                <p:cNvPr id="1064" name="Straight Arrow Connector 1063">
                  <a:extLst>
                    <a:ext uri="{FF2B5EF4-FFF2-40B4-BE49-F238E27FC236}">
                      <a16:creationId xmlns:a16="http://schemas.microsoft.com/office/drawing/2014/main" id="{463E44D0-49A7-4024-F9A4-065F17AB66C8}"/>
                    </a:ext>
                  </a:extLst>
                </p:cNvPr>
                <p:cNvCxnSpPr>
                  <a:cxnSpLocks/>
                  <a:stCxn id="1075" idx="0"/>
                  <a:endCxn id="1073" idx="2"/>
                </p:cNvCxnSpPr>
                <p:nvPr/>
              </p:nvCxnSpPr>
              <p:spPr>
                <a:xfrm flipV="1">
                  <a:off x="9372374" y="2381671"/>
                  <a:ext cx="0" cy="719676"/>
                </a:xfrm>
                <a:prstGeom prst="straightConnector1">
                  <a:avLst/>
                </a:prstGeom>
                <a:ln w="25400">
                  <a:solidFill>
                    <a:schemeClr val="accent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5" name="Straight Arrow Connector 1064">
                  <a:extLst>
                    <a:ext uri="{FF2B5EF4-FFF2-40B4-BE49-F238E27FC236}">
                      <a16:creationId xmlns:a16="http://schemas.microsoft.com/office/drawing/2014/main" id="{97142DFE-452D-5BA6-C333-76353083D325}"/>
                    </a:ext>
                  </a:extLst>
                </p:cNvPr>
                <p:cNvCxnSpPr>
                  <a:cxnSpLocks/>
                  <a:stCxn id="1073" idx="1"/>
                  <a:endCxn id="1069" idx="3"/>
                </p:cNvCxnSpPr>
                <p:nvPr/>
              </p:nvCxnSpPr>
              <p:spPr>
                <a:xfrm flipH="1">
                  <a:off x="7149546" y="2150569"/>
                  <a:ext cx="1565828" cy="0"/>
                </a:xfrm>
                <a:prstGeom prst="straightConnector1">
                  <a:avLst/>
                </a:prstGeom>
                <a:ln w="25400" cap="rnd">
                  <a:solidFill>
                    <a:schemeClr val="tx1"/>
                  </a:solidFill>
                  <a:headEnd w="lg" len="med"/>
                  <a:tailEnd type="triangl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6" name="Straight Arrow Connector 1065">
                  <a:extLst>
                    <a:ext uri="{FF2B5EF4-FFF2-40B4-BE49-F238E27FC236}">
                      <a16:creationId xmlns:a16="http://schemas.microsoft.com/office/drawing/2014/main" id="{5C80510A-9AA6-544C-6479-7C5C8A63AEF4}"/>
                    </a:ext>
                  </a:extLst>
                </p:cNvPr>
                <p:cNvCxnSpPr>
                  <a:cxnSpLocks/>
                  <a:stCxn id="1075" idx="1"/>
                  <a:endCxn id="1071" idx="3"/>
                </p:cNvCxnSpPr>
                <p:nvPr/>
              </p:nvCxnSpPr>
              <p:spPr>
                <a:xfrm flipH="1">
                  <a:off x="7149541" y="3332449"/>
                  <a:ext cx="1565833" cy="504647"/>
                </a:xfrm>
                <a:prstGeom prst="straightConnector1">
                  <a:avLst/>
                </a:prstGeom>
                <a:ln w="25400" cap="rnd">
                  <a:solidFill>
                    <a:schemeClr val="tx1"/>
                  </a:solidFill>
                  <a:headEnd w="lg" len="med"/>
                  <a:tailEnd type="triangl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7" name="Straight Arrow Connector 1066">
                  <a:extLst>
                    <a:ext uri="{FF2B5EF4-FFF2-40B4-BE49-F238E27FC236}">
                      <a16:creationId xmlns:a16="http://schemas.microsoft.com/office/drawing/2014/main" id="{56A5B86A-606F-22F0-2E74-7871CF128C9C}"/>
                    </a:ext>
                  </a:extLst>
                </p:cNvPr>
                <p:cNvCxnSpPr>
                  <a:cxnSpLocks/>
                  <a:stCxn id="1074" idx="1"/>
                  <a:endCxn id="1072" idx="3"/>
                </p:cNvCxnSpPr>
                <p:nvPr/>
              </p:nvCxnSpPr>
              <p:spPr>
                <a:xfrm flipH="1">
                  <a:off x="7149537" y="4514330"/>
                  <a:ext cx="1565031" cy="0"/>
                </a:xfrm>
                <a:prstGeom prst="straightConnector1">
                  <a:avLst/>
                </a:prstGeom>
                <a:ln w="25400" cap="rnd">
                  <a:solidFill>
                    <a:schemeClr val="tx1"/>
                  </a:solidFill>
                  <a:headEnd w="lg" len="med"/>
                  <a:tailEnd type="triangl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68" name="TextBox 1067">
                  <a:extLst>
                    <a:ext uri="{FF2B5EF4-FFF2-40B4-BE49-F238E27FC236}">
                      <a16:creationId xmlns:a16="http://schemas.microsoft.com/office/drawing/2014/main" id="{7816FE21-04FF-31D7-8CEB-9A6CF4069EB8}"/>
                    </a:ext>
                  </a:extLst>
                </p:cNvPr>
                <p:cNvSpPr txBox="1"/>
                <p:nvPr/>
              </p:nvSpPr>
              <p:spPr>
                <a:xfrm>
                  <a:off x="7208320" y="1967092"/>
                  <a:ext cx="1589876" cy="17525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000" b="1" dirty="0" err="1">
                      <a:latin typeface="Atkinson Hyperlegible Mono Extr" panose="02000009000000000000" pitchFamily="49" charset="0"/>
                    </a:rPr>
                    <a:t>hriv:hasExactMeaning</a:t>
                  </a:r>
                  <a:endParaRPr lang="en-NL" sz="1000" b="1" dirty="0">
                    <a:latin typeface="Atkinson Hyperlegible Mono Extr" panose="02000009000000000000" pitchFamily="49" charset="0"/>
                  </a:endParaRPr>
                </a:p>
              </p:txBody>
            </p:sp>
            <p:sp>
              <p:nvSpPr>
                <p:cNvPr id="1069" name="Rectangle: Rounded Corners 1068">
                  <a:extLst>
                    <a:ext uri="{FF2B5EF4-FFF2-40B4-BE49-F238E27FC236}">
                      <a16:creationId xmlns:a16="http://schemas.microsoft.com/office/drawing/2014/main" id="{4FE1F1EE-D2F7-5FA2-95EA-342D7B89DCEA}"/>
                    </a:ext>
                  </a:extLst>
                </p:cNvPr>
                <p:cNvSpPr/>
                <p:nvPr/>
              </p:nvSpPr>
              <p:spPr>
                <a:xfrm>
                  <a:off x="5835096" y="1919467"/>
                  <a:ext cx="1314450" cy="462204"/>
                </a:xfrm>
                <a:prstGeom prst="roundRect">
                  <a:avLst>
                    <a:gd name="adj" fmla="val 47175"/>
                  </a:avLst>
                </a:prstGeom>
                <a:solidFill>
                  <a:schemeClr val="tx2">
                    <a:lumMod val="25000"/>
                    <a:lumOff val="75000"/>
                  </a:schemeClr>
                </a:solidFill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400" b="1" dirty="0" err="1"/>
                    <a:t>hrio:Person</a:t>
                  </a:r>
                  <a:endParaRPr lang="en-NL" sz="1400" b="1" dirty="0"/>
                </a:p>
              </p:txBody>
            </p:sp>
            <p:sp>
              <p:nvSpPr>
                <p:cNvPr id="1070" name="Rectangle: Rounded Corners 1069">
                  <a:extLst>
                    <a:ext uri="{FF2B5EF4-FFF2-40B4-BE49-F238E27FC236}">
                      <a16:creationId xmlns:a16="http://schemas.microsoft.com/office/drawing/2014/main" id="{B74ACA1D-0503-DE21-84D2-357C06DBC96F}"/>
                    </a:ext>
                  </a:extLst>
                </p:cNvPr>
                <p:cNvSpPr/>
                <p:nvPr/>
              </p:nvSpPr>
              <p:spPr>
                <a:xfrm>
                  <a:off x="5835096" y="2821637"/>
                  <a:ext cx="1314450" cy="462204"/>
                </a:xfrm>
                <a:prstGeom prst="roundRect">
                  <a:avLst>
                    <a:gd name="adj" fmla="val 47175"/>
                  </a:avLst>
                </a:prstGeom>
                <a:solidFill>
                  <a:schemeClr val="tx2">
                    <a:lumMod val="25000"/>
                    <a:lumOff val="75000"/>
                  </a:schemeClr>
                </a:solidFill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400" b="1" dirty="0" err="1"/>
                    <a:t>hrio:MalePerson</a:t>
                  </a:r>
                  <a:endParaRPr lang="en-NL" sz="1400" b="1" dirty="0"/>
                </a:p>
              </p:txBody>
            </p:sp>
            <p:sp>
              <p:nvSpPr>
                <p:cNvPr id="1071" name="Rectangle: Rounded Corners 1070">
                  <a:extLst>
                    <a:ext uri="{FF2B5EF4-FFF2-40B4-BE49-F238E27FC236}">
                      <a16:creationId xmlns:a16="http://schemas.microsoft.com/office/drawing/2014/main" id="{4580A641-97BD-8A2A-5F37-B61732E51D0A}"/>
                    </a:ext>
                  </a:extLst>
                </p:cNvPr>
                <p:cNvSpPr/>
                <p:nvPr/>
              </p:nvSpPr>
              <p:spPr>
                <a:xfrm>
                  <a:off x="5835091" y="3605994"/>
                  <a:ext cx="1314450" cy="462204"/>
                </a:xfrm>
                <a:prstGeom prst="roundRect">
                  <a:avLst>
                    <a:gd name="adj" fmla="val 47175"/>
                  </a:avLst>
                </a:prstGeom>
                <a:solidFill>
                  <a:schemeClr val="tx2">
                    <a:lumMod val="25000"/>
                    <a:lumOff val="75000"/>
                  </a:schemeClr>
                </a:solidFill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400" b="1" dirty="0" err="1"/>
                    <a:t>hrio:Karyotypical</a:t>
                  </a:r>
                  <a:endParaRPr lang="en-US" sz="1400" b="1" dirty="0"/>
                </a:p>
                <a:p>
                  <a:pPr algn="ctr"/>
                  <a:r>
                    <a:rPr lang="en-US" sz="1400" b="1" dirty="0"/>
                    <a:t>Male</a:t>
                  </a:r>
                  <a:endParaRPr lang="en-NL" sz="1400" b="1" dirty="0"/>
                </a:p>
              </p:txBody>
            </p:sp>
            <p:sp>
              <p:nvSpPr>
                <p:cNvPr id="1072" name="Rectangle: Rounded Corners 1071">
                  <a:extLst>
                    <a:ext uri="{FF2B5EF4-FFF2-40B4-BE49-F238E27FC236}">
                      <a16:creationId xmlns:a16="http://schemas.microsoft.com/office/drawing/2014/main" id="{13522628-282C-9DAE-870E-DF3D4DFBFEEC}"/>
                    </a:ext>
                  </a:extLst>
                </p:cNvPr>
                <p:cNvSpPr/>
                <p:nvPr/>
              </p:nvSpPr>
              <p:spPr>
                <a:xfrm>
                  <a:off x="5834148" y="4283228"/>
                  <a:ext cx="1315389" cy="462204"/>
                </a:xfrm>
                <a:prstGeom prst="roundRect">
                  <a:avLst>
                    <a:gd name="adj" fmla="val 47175"/>
                  </a:avLst>
                </a:prstGeom>
                <a:solidFill>
                  <a:schemeClr val="tx2">
                    <a:lumMod val="25000"/>
                    <a:lumOff val="75000"/>
                  </a:schemeClr>
                </a:solidFill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400" b="1" dirty="0" err="1"/>
                    <a:t>hrio:PersonWith</a:t>
                  </a:r>
                  <a:endParaRPr lang="en-US" sz="1400" b="1" dirty="0"/>
                </a:p>
                <a:p>
                  <a:pPr algn="ctr"/>
                  <a:r>
                    <a:rPr lang="en-US" sz="1400" b="1" dirty="0" err="1"/>
                    <a:t>MaleGender</a:t>
                  </a:r>
                  <a:endParaRPr lang="en-NL" sz="1400" b="1" dirty="0"/>
                </a:p>
              </p:txBody>
            </p:sp>
            <p:sp>
              <p:nvSpPr>
                <p:cNvPr id="1073" name="Rectangle: Rounded Corners 1072">
                  <a:extLst>
                    <a:ext uri="{FF2B5EF4-FFF2-40B4-BE49-F238E27FC236}">
                      <a16:creationId xmlns:a16="http://schemas.microsoft.com/office/drawing/2014/main" id="{749E6F8F-5C0E-5207-6491-8FAD2A0C4F98}"/>
                    </a:ext>
                  </a:extLst>
                </p:cNvPr>
                <p:cNvSpPr/>
                <p:nvPr/>
              </p:nvSpPr>
              <p:spPr>
                <a:xfrm>
                  <a:off x="8715374" y="1919467"/>
                  <a:ext cx="1314000" cy="462204"/>
                </a:xfrm>
                <a:prstGeom prst="roundRect">
                  <a:avLst>
                    <a:gd name="adj" fmla="val 47175"/>
                  </a:avLst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400" b="1" dirty="0"/>
                    <a:t>std1:Human</a:t>
                  </a:r>
                  <a:endParaRPr lang="en-NL" sz="1400" b="1" dirty="0"/>
                </a:p>
              </p:txBody>
            </p:sp>
            <p:sp>
              <p:nvSpPr>
                <p:cNvPr id="1074" name="Rectangle: Rounded Corners 1073">
                  <a:extLst>
                    <a:ext uri="{FF2B5EF4-FFF2-40B4-BE49-F238E27FC236}">
                      <a16:creationId xmlns:a16="http://schemas.microsoft.com/office/drawing/2014/main" id="{C2A97ACD-8F57-9BB3-016E-82A4CD6094DF}"/>
                    </a:ext>
                  </a:extLst>
                </p:cNvPr>
                <p:cNvSpPr/>
                <p:nvPr/>
              </p:nvSpPr>
              <p:spPr>
                <a:xfrm>
                  <a:off x="8714568" y="4283228"/>
                  <a:ext cx="1314000" cy="462204"/>
                </a:xfrm>
                <a:prstGeom prst="roundRect">
                  <a:avLst>
                    <a:gd name="adj" fmla="val 47175"/>
                  </a:avLst>
                </a:prstGeom>
                <a:solidFill>
                  <a:schemeClr val="bg1">
                    <a:lumMod val="85000"/>
                  </a:schemeClr>
                </a:solidFill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400" b="1" dirty="0"/>
                    <a:t>std2:Man</a:t>
                  </a:r>
                  <a:endParaRPr lang="en-NL" sz="1400" b="1" dirty="0"/>
                </a:p>
              </p:txBody>
            </p:sp>
            <p:sp>
              <p:nvSpPr>
                <p:cNvPr id="1075" name="Rectangle: Rounded Corners 1074">
                  <a:extLst>
                    <a:ext uri="{FF2B5EF4-FFF2-40B4-BE49-F238E27FC236}">
                      <a16:creationId xmlns:a16="http://schemas.microsoft.com/office/drawing/2014/main" id="{CA2DA7D2-E75D-8A22-F36E-4F397B160A27}"/>
                    </a:ext>
                  </a:extLst>
                </p:cNvPr>
                <p:cNvSpPr/>
                <p:nvPr/>
              </p:nvSpPr>
              <p:spPr>
                <a:xfrm>
                  <a:off x="8715374" y="3101347"/>
                  <a:ext cx="1314000" cy="462204"/>
                </a:xfrm>
                <a:prstGeom prst="roundRect">
                  <a:avLst>
                    <a:gd name="adj" fmla="val 47175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400" b="1" dirty="0"/>
                    <a:t>std1:Man</a:t>
                  </a:r>
                </a:p>
              </p:txBody>
            </p:sp>
            <p:sp>
              <p:nvSpPr>
                <p:cNvPr id="1076" name="TextBox 1075">
                  <a:extLst>
                    <a:ext uri="{FF2B5EF4-FFF2-40B4-BE49-F238E27FC236}">
                      <a16:creationId xmlns:a16="http://schemas.microsoft.com/office/drawing/2014/main" id="{37E83F19-DF4D-CA58-AF4A-A5AF08EB14BA}"/>
                    </a:ext>
                  </a:extLst>
                </p:cNvPr>
                <p:cNvSpPr txBox="1"/>
                <p:nvPr/>
              </p:nvSpPr>
              <p:spPr>
                <a:xfrm rot="20504384">
                  <a:off x="7173866" y="3395902"/>
                  <a:ext cx="1589876" cy="17525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000" b="1" dirty="0" err="1">
                      <a:latin typeface="Atkinson Hyperlegible Mono Extr" panose="02000009000000000000" pitchFamily="49" charset="0"/>
                    </a:rPr>
                    <a:t>hriv:hasExactMeaning</a:t>
                  </a:r>
                  <a:endParaRPr lang="en-NL" sz="1000" b="1" dirty="0">
                    <a:latin typeface="Atkinson Hyperlegible Mono Extr" panose="02000009000000000000" pitchFamily="49" charset="0"/>
                  </a:endParaRPr>
                </a:p>
              </p:txBody>
            </p:sp>
            <p:sp>
              <p:nvSpPr>
                <p:cNvPr id="1077" name="TextBox 1076">
                  <a:extLst>
                    <a:ext uri="{FF2B5EF4-FFF2-40B4-BE49-F238E27FC236}">
                      <a16:creationId xmlns:a16="http://schemas.microsoft.com/office/drawing/2014/main" id="{4ED29A9E-7F93-1DF3-58F1-00660DA5B2FE}"/>
                    </a:ext>
                  </a:extLst>
                </p:cNvPr>
                <p:cNvSpPr txBox="1"/>
                <p:nvPr/>
              </p:nvSpPr>
              <p:spPr>
                <a:xfrm>
                  <a:off x="7208320" y="4330757"/>
                  <a:ext cx="1589876" cy="17525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000" b="1" dirty="0" err="1">
                      <a:latin typeface="Atkinson Hyperlegible Mono Extr" panose="02000009000000000000" pitchFamily="49" charset="0"/>
                    </a:rPr>
                    <a:t>hriv:hasExactMeaning</a:t>
                  </a:r>
                  <a:endParaRPr lang="en-NL" sz="1000" b="1" dirty="0">
                    <a:latin typeface="Atkinson Hyperlegible Mono Extr" panose="02000009000000000000" pitchFamily="49" charset="0"/>
                  </a:endParaRPr>
                </a:p>
              </p:txBody>
            </p:sp>
            <p:sp>
              <p:nvSpPr>
                <p:cNvPr id="1078" name="TextBox 1077">
                  <a:extLst>
                    <a:ext uri="{FF2B5EF4-FFF2-40B4-BE49-F238E27FC236}">
                      <a16:creationId xmlns:a16="http://schemas.microsoft.com/office/drawing/2014/main" id="{F0289A87-0B04-E18B-34A8-1AB755BEFD06}"/>
                    </a:ext>
                  </a:extLst>
                </p:cNvPr>
                <p:cNvSpPr txBox="1"/>
                <p:nvPr/>
              </p:nvSpPr>
              <p:spPr>
                <a:xfrm rot="16200000">
                  <a:off x="4823323" y="3392418"/>
                  <a:ext cx="1400150" cy="1593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NL" sz="900" b="1" dirty="0" err="1">
                      <a:solidFill>
                        <a:schemeClr val="accent1">
                          <a:lumMod val="50000"/>
                        </a:schemeClr>
                      </a:solidFill>
                      <a:latin typeface="Atkinson Hyperlegible Mono Extr" panose="02000009000000000000" pitchFamily="49" charset="0"/>
                    </a:rPr>
                    <a:t>rdfs:subClassOf</a:t>
                  </a:r>
                  <a:endParaRPr lang="en-NL" sz="900" b="1" dirty="0">
                    <a:solidFill>
                      <a:schemeClr val="accent1">
                        <a:lumMod val="50000"/>
                      </a:schemeClr>
                    </a:solidFill>
                    <a:latin typeface="Atkinson Hyperlegible Mono Extr" panose="02000009000000000000" pitchFamily="49" charset="0"/>
                  </a:endParaRPr>
                </a:p>
              </p:txBody>
            </p:sp>
          </p:grpSp>
          <p:sp>
            <p:nvSpPr>
              <p:cNvPr id="1079" name="Rectangle: Rounded Corners 1078">
                <a:extLst>
                  <a:ext uri="{FF2B5EF4-FFF2-40B4-BE49-F238E27FC236}">
                    <a16:creationId xmlns:a16="http://schemas.microsoft.com/office/drawing/2014/main" id="{254B8BE5-B813-7F43-BA27-855A5B98D767}"/>
                  </a:ext>
                </a:extLst>
              </p:cNvPr>
              <p:cNvSpPr/>
              <p:nvPr/>
            </p:nvSpPr>
            <p:spPr>
              <a:xfrm>
                <a:off x="10708481" y="19001494"/>
                <a:ext cx="5950767" cy="3429000"/>
              </a:xfrm>
              <a:prstGeom prst="roundRect">
                <a:avLst>
                  <a:gd name="adj" fmla="val 5000"/>
                </a:avLst>
              </a:prstGeom>
              <a:noFill/>
              <a:ln w="38100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1080" name="Arc 1079">
                <a:extLst>
                  <a:ext uri="{FF2B5EF4-FFF2-40B4-BE49-F238E27FC236}">
                    <a16:creationId xmlns:a16="http://schemas.microsoft.com/office/drawing/2014/main" id="{3981F9C8-CED6-21A8-8083-56660B864934}"/>
                  </a:ext>
                </a:extLst>
              </p:cNvPr>
              <p:cNvSpPr/>
              <p:nvPr/>
            </p:nvSpPr>
            <p:spPr>
              <a:xfrm>
                <a:off x="8696314" y="18706631"/>
                <a:ext cx="3917947" cy="1155497"/>
              </a:xfrm>
              <a:prstGeom prst="arc">
                <a:avLst>
                  <a:gd name="adj1" fmla="val 10727879"/>
                  <a:gd name="adj2" fmla="val 0"/>
                </a:avLst>
              </a:prstGeom>
              <a:ln w="44450">
                <a:solidFill>
                  <a:srgbClr val="002060"/>
                </a:solidFill>
                <a:prstDash val="sysDash"/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1081" name="Arc 1080">
                <a:extLst>
                  <a:ext uri="{FF2B5EF4-FFF2-40B4-BE49-F238E27FC236}">
                    <a16:creationId xmlns:a16="http://schemas.microsoft.com/office/drawing/2014/main" id="{6643FA49-BC24-B3A9-614D-C62A7BD73201}"/>
                  </a:ext>
                </a:extLst>
              </p:cNvPr>
              <p:cNvSpPr/>
              <p:nvPr/>
            </p:nvSpPr>
            <p:spPr>
              <a:xfrm>
                <a:off x="8464410" y="18222409"/>
                <a:ext cx="7037272" cy="2091282"/>
              </a:xfrm>
              <a:prstGeom prst="arc">
                <a:avLst>
                  <a:gd name="adj1" fmla="val 10727879"/>
                  <a:gd name="adj2" fmla="val 0"/>
                </a:avLst>
              </a:prstGeom>
              <a:ln w="44450">
                <a:solidFill>
                  <a:srgbClr val="C00000"/>
                </a:solidFill>
                <a:prstDash val="sysDash"/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1082" name="TextBox 1081">
                <a:extLst>
                  <a:ext uri="{FF2B5EF4-FFF2-40B4-BE49-F238E27FC236}">
                    <a16:creationId xmlns:a16="http://schemas.microsoft.com/office/drawing/2014/main" id="{4A20841E-07C9-A739-0A57-8E6C3C30D404}"/>
                  </a:ext>
                </a:extLst>
              </p:cNvPr>
              <p:cNvSpPr txBox="1"/>
              <p:nvPr/>
            </p:nvSpPr>
            <p:spPr>
              <a:xfrm>
                <a:off x="11650236" y="18549931"/>
                <a:ext cx="1777149" cy="2124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002060"/>
                    </a:solidFill>
                    <a:latin typeface="Atkinson Hyperlegible Mono Extr" panose="02000009000000000000" pitchFamily="49" charset="0"/>
                  </a:rPr>
                  <a:t>(directly) represents</a:t>
                </a:r>
                <a:endParaRPr lang="en-NL" sz="1400" b="1" dirty="0">
                  <a:solidFill>
                    <a:srgbClr val="002060"/>
                  </a:solidFill>
                  <a:latin typeface="Atkinson Hyperlegible Mono Extr" panose="02000009000000000000" pitchFamily="49" charset="0"/>
                </a:endParaRPr>
              </a:p>
            </p:txBody>
          </p:sp>
          <p:sp>
            <p:nvSpPr>
              <p:cNvPr id="1083" name="TextBox 1082">
                <a:extLst>
                  <a:ext uri="{FF2B5EF4-FFF2-40B4-BE49-F238E27FC236}">
                    <a16:creationId xmlns:a16="http://schemas.microsoft.com/office/drawing/2014/main" id="{B9FF7ABA-EC1F-B351-AFFD-661693DBE690}"/>
                  </a:ext>
                </a:extLst>
              </p:cNvPr>
              <p:cNvSpPr txBox="1"/>
              <p:nvPr/>
            </p:nvSpPr>
            <p:spPr>
              <a:xfrm>
                <a:off x="14742746" y="18403113"/>
                <a:ext cx="1934262" cy="2124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C00000"/>
                    </a:solidFill>
                    <a:latin typeface="Atkinson Hyperlegible Mono Extr" panose="02000009000000000000" pitchFamily="49" charset="0"/>
                  </a:rPr>
                  <a:t>(indirectly) represents</a:t>
                </a:r>
                <a:endParaRPr lang="en-NL" sz="1400" b="1" dirty="0">
                  <a:solidFill>
                    <a:srgbClr val="C00000"/>
                  </a:solidFill>
                  <a:latin typeface="Atkinson Hyperlegible Mono Extr" panose="02000009000000000000" pitchFamily="49" charset="0"/>
                </a:endParaRPr>
              </a:p>
            </p:txBody>
          </p:sp>
          <p:pic>
            <p:nvPicPr>
              <p:cNvPr id="1084" name="Picture 2" descr="Logo vertical | OntoUML Community Portal">
                <a:extLst>
                  <a:ext uri="{FF2B5EF4-FFF2-40B4-BE49-F238E27FC236}">
                    <a16:creationId xmlns:a16="http://schemas.microsoft.com/office/drawing/2014/main" id="{D7F5901A-8BE8-751C-1D5B-74E2ADC857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>
                <a:off x="6750893" y="19474606"/>
                <a:ext cx="877064" cy="3354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085" name="Group 1084">
                <a:extLst>
                  <a:ext uri="{FF2B5EF4-FFF2-40B4-BE49-F238E27FC236}">
                    <a16:creationId xmlns:a16="http://schemas.microsoft.com/office/drawing/2014/main" id="{6F537E64-B8AC-D25F-D1F5-98DABFC8F25B}"/>
                  </a:ext>
                </a:extLst>
              </p:cNvPr>
              <p:cNvGrpSpPr/>
              <p:nvPr/>
            </p:nvGrpSpPr>
            <p:grpSpPr>
              <a:xfrm rot="16200000">
                <a:off x="10613593" y="19420659"/>
                <a:ext cx="780776" cy="443303"/>
                <a:chOff x="6119493" y="4341725"/>
                <a:chExt cx="2393775" cy="1359120"/>
              </a:xfrm>
            </p:grpSpPr>
            <p:pic>
              <p:nvPicPr>
                <p:cNvPr id="1086" name="Picture 12" descr="What is the Semantic Web? - Jean Delahousse">
                  <a:extLst>
                    <a:ext uri="{FF2B5EF4-FFF2-40B4-BE49-F238E27FC236}">
                      <a16:creationId xmlns:a16="http://schemas.microsoft.com/office/drawing/2014/main" id="{7895FA6C-BC9F-A9E6-3FAC-822CB7584D6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119493" y="4434598"/>
                  <a:ext cx="1168843" cy="126624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87" name="Picture 14" descr="What is the Semantic Web? - Jean Delahousse">
                  <a:extLst>
                    <a:ext uri="{FF2B5EF4-FFF2-40B4-BE49-F238E27FC236}">
                      <a16:creationId xmlns:a16="http://schemas.microsoft.com/office/drawing/2014/main" id="{30581D4E-1176-11AF-5E15-6E3EA23B027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344425" y="4341725"/>
                  <a:ext cx="1168843" cy="135912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1089" name="TextBox 1088">
                <a:extLst>
                  <a:ext uri="{FF2B5EF4-FFF2-40B4-BE49-F238E27FC236}">
                    <a16:creationId xmlns:a16="http://schemas.microsoft.com/office/drawing/2014/main" id="{F0C2A653-B995-3E47-9C7D-7C2B8C8F7D2B}"/>
                  </a:ext>
                </a:extLst>
              </p:cNvPr>
              <p:cNvSpPr txBox="1"/>
              <p:nvPr/>
            </p:nvSpPr>
            <p:spPr>
              <a:xfrm>
                <a:off x="15238800" y="20022579"/>
                <a:ext cx="1400150" cy="159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NL" sz="900" b="1" dirty="0" err="1">
                    <a:solidFill>
                      <a:schemeClr val="accent1">
                        <a:lumMod val="50000"/>
                      </a:schemeClr>
                    </a:solidFill>
                    <a:latin typeface="Atkinson Hyperlegible Mono Extr" panose="02000009000000000000" pitchFamily="49" charset="0"/>
                  </a:rPr>
                  <a:t>rdfs:subClassOf</a:t>
                </a:r>
                <a:endParaRPr lang="en-NL" sz="900" b="1" dirty="0">
                  <a:solidFill>
                    <a:schemeClr val="accent1">
                      <a:lumMod val="50000"/>
                    </a:schemeClr>
                  </a:solidFill>
                  <a:latin typeface="Atkinson Hyperlegible Mono Extr" panose="02000009000000000000" pitchFamily="49" charset="0"/>
                </a:endParaRPr>
              </a:p>
            </p:txBody>
          </p:sp>
        </p:grpSp>
        <p:sp>
          <p:nvSpPr>
            <p:cNvPr id="1092" name="TextBox 1091">
              <a:extLst>
                <a:ext uri="{FF2B5EF4-FFF2-40B4-BE49-F238E27FC236}">
                  <a16:creationId xmlns:a16="http://schemas.microsoft.com/office/drawing/2014/main" id="{374F8E3A-CD14-DB91-AAE6-56985D5D1898}"/>
                </a:ext>
              </a:extLst>
            </p:cNvPr>
            <p:cNvSpPr txBox="1"/>
            <p:nvPr/>
          </p:nvSpPr>
          <p:spPr>
            <a:xfrm>
              <a:off x="15402592" y="28778285"/>
              <a:ext cx="14455208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just">
                <a:defRPr sz="2800">
                  <a:solidFill>
                    <a:srgbClr val="15467B"/>
                  </a:solidFill>
                </a:defRPr>
              </a:lvl1pPr>
            </a:lstStyle>
            <a:p>
              <a:r>
                <a:rPr lang="en-NL" dirty="0"/>
                <a:t>Example of semantic traceability: a fragment of HRIO OntoUML for Person’s sex and gender is implemented in HRIO </a:t>
              </a:r>
              <a:r>
                <a:rPr lang="en-NL" dirty="0" err="1"/>
                <a:t>gUFO</a:t>
              </a:r>
              <a:r>
                <a:rPr lang="en-NL" dirty="0"/>
                <a:t>/OWL, and external ontologies’ OWL classes are aligned via HRIV mappings, distinguishing direct and indirect representation relations. The semantics of the external classes are traceable to their corresponding meanings </a:t>
              </a:r>
              <a:r>
                <a:rPr lang="en-NL" dirty="0" err="1"/>
                <a:t>modeled</a:t>
              </a:r>
              <a:r>
                <a:rPr lang="en-NL" dirty="0"/>
                <a:t> in OntoUML.</a:t>
              </a:r>
            </a:p>
          </p:txBody>
        </p:sp>
      </p:grp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9D4E2E27-A2FC-9575-858B-58B1FE1B8A53}"/>
              </a:ext>
            </a:extLst>
          </p:cNvPr>
          <p:cNvSpPr/>
          <p:nvPr/>
        </p:nvSpPr>
        <p:spPr>
          <a:xfrm>
            <a:off x="468133" y="10611584"/>
            <a:ext cx="14455208" cy="1073150"/>
          </a:xfrm>
          <a:prstGeom prst="rect">
            <a:avLst/>
          </a:prstGeom>
          <a:solidFill>
            <a:srgbClr val="F9B7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15467B"/>
                </a:solidFill>
              </a:rPr>
              <a:t>BACKGROUND AND MOTIVATION</a:t>
            </a:r>
            <a:endParaRPr lang="en-NL" sz="2000" b="1" dirty="0">
              <a:solidFill>
                <a:srgbClr val="15467B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B3E17B-4332-E6D3-96FF-FB7FF4FD5633}"/>
              </a:ext>
            </a:extLst>
          </p:cNvPr>
          <p:cNvSpPr txBox="1"/>
          <p:nvPr/>
        </p:nvSpPr>
        <p:spPr>
          <a:xfrm>
            <a:off x="15369825" y="38210820"/>
            <a:ext cx="1448276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800">
                <a:solidFill>
                  <a:srgbClr val="15467B"/>
                </a:solidFill>
              </a:defRPr>
            </a:lvl1pPr>
          </a:lstStyle>
          <a:p>
            <a:r>
              <a:rPr lang="en-US" sz="3200" dirty="0"/>
              <a:t>Barcelos, P. P. F., van </a:t>
            </a:r>
            <a:r>
              <a:rPr lang="en-US" sz="3200" dirty="0" err="1"/>
              <a:t>Ulzen</a:t>
            </a:r>
            <a:r>
              <a:rPr lang="en-US" sz="3200" dirty="0"/>
              <a:t>, N., Groeneveld, R., Konrad, A., Khalid, Q., Zhang, S., </a:t>
            </a:r>
            <a:r>
              <a:rPr lang="en-US" sz="3200" dirty="0" err="1"/>
              <a:t>Trompert</a:t>
            </a:r>
            <a:r>
              <a:rPr lang="en-US" sz="3200" dirty="0"/>
              <a:t>, A., &amp; Vos, J. (2026, March 24–25). </a:t>
            </a:r>
            <a:r>
              <a:rPr lang="en-US" sz="3200" i="1" dirty="0"/>
              <a:t>Enabling semantic traceability in health data: The Health-RI Semantic Interoperability Initiative.</a:t>
            </a:r>
            <a:r>
              <a:rPr lang="en-US" sz="3200" dirty="0"/>
              <a:t> SWAT4HCLS 2026: Semantic Web Applications and Tools for Health Care and Life Sciences, Amsterdam, the Netherlands.</a:t>
            </a:r>
            <a:endParaRPr lang="en-NL" sz="3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2A35F8C-147E-9495-9EF0-38F68AB09F54}"/>
              </a:ext>
            </a:extLst>
          </p:cNvPr>
          <p:cNvGrpSpPr/>
          <p:nvPr/>
        </p:nvGrpSpPr>
        <p:grpSpPr>
          <a:xfrm>
            <a:off x="421057" y="12350516"/>
            <a:ext cx="14473889" cy="18269184"/>
            <a:chOff x="421057" y="12350516"/>
            <a:chExt cx="14473889" cy="18076501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2A2FE48F-0DE2-FD7E-6A6A-C75BE8EA478A}"/>
                </a:ext>
              </a:extLst>
            </p:cNvPr>
            <p:cNvSpPr/>
            <p:nvPr/>
          </p:nvSpPr>
          <p:spPr>
            <a:xfrm>
              <a:off x="421057" y="12793316"/>
              <a:ext cx="14473889" cy="2598750"/>
            </a:xfrm>
            <a:custGeom>
              <a:avLst/>
              <a:gdLst>
                <a:gd name="csX0" fmla="*/ 0 w 14473889"/>
                <a:gd name="csY0" fmla="*/ 0 h 2598750"/>
                <a:gd name="csX1" fmla="*/ 14473889 w 14473889"/>
                <a:gd name="csY1" fmla="*/ 0 h 2598750"/>
                <a:gd name="csX2" fmla="*/ 14473889 w 14473889"/>
                <a:gd name="csY2" fmla="*/ 2598750 h 2598750"/>
                <a:gd name="csX3" fmla="*/ 0 w 14473889"/>
                <a:gd name="csY3" fmla="*/ 2598750 h 2598750"/>
                <a:gd name="csX4" fmla="*/ 0 w 14473889"/>
                <a:gd name="csY4" fmla="*/ 0 h 2598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473889" h="2598750">
                  <a:moveTo>
                    <a:pt x="0" y="0"/>
                  </a:moveTo>
                  <a:lnTo>
                    <a:pt x="14473889" y="0"/>
                  </a:lnTo>
                  <a:lnTo>
                    <a:pt x="14473889" y="2598750"/>
                  </a:lnTo>
                  <a:lnTo>
                    <a:pt x="0" y="25987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23335" tIns="624840" rIns="1123335" bIns="213360" numCol="1" spcCol="1270" anchor="t" anchorCtr="0">
              <a:noAutofit/>
            </a:bodyPr>
            <a:lstStyle/>
            <a:p>
              <a:pPr marL="285750" lvl="1" indent="-285750" algn="l" defTabSz="1333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US" sz="3000" b="0" kern="1200" dirty="0"/>
                <a:t>Health data are distributed across many standards, data models, and local schemas</a:t>
              </a:r>
              <a:endParaRPr lang="en-NL" sz="3000" b="0" kern="1200" dirty="0"/>
            </a:p>
            <a:p>
              <a:pPr marL="285750" lvl="1" indent="-285750" algn="l" defTabSz="1333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US" sz="3000" b="0" kern="1200" dirty="0"/>
                <a:t>The same domain concepts are represented differently across care, research, and infrastructure settings</a:t>
              </a:r>
              <a:endParaRPr lang="en-NL" sz="3000" b="0" kern="1200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543C8BD-D04E-645B-D9A6-D0E8EB0A23A4}"/>
                </a:ext>
              </a:extLst>
            </p:cNvPr>
            <p:cNvSpPr/>
            <p:nvPr/>
          </p:nvSpPr>
          <p:spPr>
            <a:xfrm>
              <a:off x="1144751" y="12350516"/>
              <a:ext cx="10131722" cy="885600"/>
            </a:xfrm>
            <a:custGeom>
              <a:avLst/>
              <a:gdLst>
                <a:gd name="csX0" fmla="*/ 0 w 10131722"/>
                <a:gd name="csY0" fmla="*/ 147603 h 885600"/>
                <a:gd name="csX1" fmla="*/ 147603 w 10131722"/>
                <a:gd name="csY1" fmla="*/ 0 h 885600"/>
                <a:gd name="csX2" fmla="*/ 9984119 w 10131722"/>
                <a:gd name="csY2" fmla="*/ 0 h 885600"/>
                <a:gd name="csX3" fmla="*/ 10131722 w 10131722"/>
                <a:gd name="csY3" fmla="*/ 147603 h 885600"/>
                <a:gd name="csX4" fmla="*/ 10131722 w 10131722"/>
                <a:gd name="csY4" fmla="*/ 737997 h 885600"/>
                <a:gd name="csX5" fmla="*/ 9984119 w 10131722"/>
                <a:gd name="csY5" fmla="*/ 885600 h 885600"/>
                <a:gd name="csX6" fmla="*/ 147603 w 10131722"/>
                <a:gd name="csY6" fmla="*/ 885600 h 885600"/>
                <a:gd name="csX7" fmla="*/ 0 w 10131722"/>
                <a:gd name="csY7" fmla="*/ 737997 h 885600"/>
                <a:gd name="csX8" fmla="*/ 0 w 10131722"/>
                <a:gd name="csY8" fmla="*/ 147603 h 885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131722" h="885600">
                  <a:moveTo>
                    <a:pt x="0" y="147603"/>
                  </a:moveTo>
                  <a:cubicBezTo>
                    <a:pt x="0" y="66084"/>
                    <a:pt x="66084" y="0"/>
                    <a:pt x="147603" y="0"/>
                  </a:cubicBezTo>
                  <a:lnTo>
                    <a:pt x="9984119" y="0"/>
                  </a:lnTo>
                  <a:cubicBezTo>
                    <a:pt x="10065638" y="0"/>
                    <a:pt x="10131722" y="66084"/>
                    <a:pt x="10131722" y="147603"/>
                  </a:cubicBezTo>
                  <a:lnTo>
                    <a:pt x="10131722" y="737997"/>
                  </a:lnTo>
                  <a:cubicBezTo>
                    <a:pt x="10131722" y="819516"/>
                    <a:pt x="10065638" y="885600"/>
                    <a:pt x="9984119" y="885600"/>
                  </a:cubicBezTo>
                  <a:lnTo>
                    <a:pt x="147603" y="885600"/>
                  </a:lnTo>
                  <a:cubicBezTo>
                    <a:pt x="66084" y="885600"/>
                    <a:pt x="0" y="819516"/>
                    <a:pt x="0" y="737997"/>
                  </a:cubicBezTo>
                  <a:lnTo>
                    <a:pt x="0" y="14760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186" tIns="43231" rIns="426186" bIns="43231" numCol="1" spcCol="1270" anchor="ctr" anchorCtr="0">
              <a:noAutofit/>
            </a:bodyPr>
            <a:lstStyle/>
            <a:p>
              <a:pPr marL="0" lvl="0" indent="0" algn="l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+mj-lt"/>
                <a:buNone/>
              </a:pPr>
              <a:r>
                <a:rPr lang="en-US" sz="3000" b="1" kern="1200" dirty="0"/>
                <a:t>Fragmented landscape</a:t>
              </a:r>
              <a:endParaRPr lang="en-NL" sz="3000" b="1" kern="1200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CC3A35A-0DFD-3C40-CDB6-47789D702D20}"/>
                </a:ext>
              </a:extLst>
            </p:cNvPr>
            <p:cNvSpPr/>
            <p:nvPr/>
          </p:nvSpPr>
          <p:spPr>
            <a:xfrm>
              <a:off x="421057" y="15996867"/>
              <a:ext cx="14473889" cy="3496500"/>
            </a:xfrm>
            <a:custGeom>
              <a:avLst/>
              <a:gdLst>
                <a:gd name="csX0" fmla="*/ 0 w 14473889"/>
                <a:gd name="csY0" fmla="*/ 0 h 3496500"/>
                <a:gd name="csX1" fmla="*/ 14473889 w 14473889"/>
                <a:gd name="csY1" fmla="*/ 0 h 3496500"/>
                <a:gd name="csX2" fmla="*/ 14473889 w 14473889"/>
                <a:gd name="csY2" fmla="*/ 3496500 h 3496500"/>
                <a:gd name="csX3" fmla="*/ 0 w 14473889"/>
                <a:gd name="csY3" fmla="*/ 3496500 h 3496500"/>
                <a:gd name="csX4" fmla="*/ 0 w 14473889"/>
                <a:gd name="csY4" fmla="*/ 0 h 3496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473889" h="3496500">
                  <a:moveTo>
                    <a:pt x="0" y="0"/>
                  </a:moveTo>
                  <a:lnTo>
                    <a:pt x="14473889" y="0"/>
                  </a:lnTo>
                  <a:lnTo>
                    <a:pt x="14473889" y="3496500"/>
                  </a:lnTo>
                  <a:lnTo>
                    <a:pt x="0" y="34965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23335" tIns="624840" rIns="1123335" bIns="213360" numCol="1" spcCol="1270" anchor="t" anchorCtr="0">
              <a:noAutofit/>
            </a:bodyPr>
            <a:lstStyle/>
            <a:p>
              <a:pPr marL="285750" lvl="1" indent="-285750" algn="l" defTabSz="1333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US" sz="3000" b="0" kern="1200" dirty="0"/>
                <a:t>Data may be exchanged syntactically while meaning is not preserved across systems</a:t>
              </a:r>
              <a:endParaRPr lang="en-NL" sz="3000" b="0" kern="1200" dirty="0"/>
            </a:p>
            <a:p>
              <a:pPr marL="285750" lvl="1" indent="-285750" algn="l" defTabSz="1333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US" sz="3000" b="0" kern="1200" dirty="0"/>
                <a:t>Similar labels, codes, or formal structures do not guarantee the same conceptualization</a:t>
              </a:r>
              <a:endParaRPr lang="en-NL" sz="3000" b="0" kern="1200" dirty="0"/>
            </a:p>
            <a:p>
              <a:pPr marL="285750" lvl="1" indent="-285750" defTabSz="1333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US" sz="3000" b="0" kern="1200" dirty="0"/>
                <a:t>This may create </a:t>
              </a:r>
              <a:r>
                <a:rPr lang="en-US" sz="3000" b="0" i="0" u="none" kern="1200" dirty="0"/>
                <a:t>false agreement</a:t>
              </a:r>
              <a:r>
                <a:rPr lang="en-US" sz="3000" b="0" i="0" kern="1200" dirty="0"/>
                <a:t>:</a:t>
              </a:r>
              <a:r>
                <a:rPr lang="en-US" sz="3000" b="0" kern="1200" dirty="0"/>
                <a:t> </a:t>
              </a:r>
              <a:r>
                <a:rPr lang="en-US" sz="3000" dirty="0"/>
                <a:t>systems may appear </a:t>
              </a:r>
              <a:r>
                <a:rPr lang="en-US" sz="3000" b="0" kern="1200" dirty="0"/>
                <a:t>aligned while remaining semantically misaligned</a:t>
              </a:r>
              <a:endParaRPr lang="en-NL" sz="3000" b="0" kern="120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7F89C67-13C9-10F8-269A-B66ECE99180F}"/>
                </a:ext>
              </a:extLst>
            </p:cNvPr>
            <p:cNvSpPr/>
            <p:nvPr/>
          </p:nvSpPr>
          <p:spPr>
            <a:xfrm>
              <a:off x="1144751" y="15554067"/>
              <a:ext cx="10131722" cy="885600"/>
            </a:xfrm>
            <a:custGeom>
              <a:avLst/>
              <a:gdLst>
                <a:gd name="csX0" fmla="*/ 0 w 10131722"/>
                <a:gd name="csY0" fmla="*/ 147603 h 885600"/>
                <a:gd name="csX1" fmla="*/ 147603 w 10131722"/>
                <a:gd name="csY1" fmla="*/ 0 h 885600"/>
                <a:gd name="csX2" fmla="*/ 9984119 w 10131722"/>
                <a:gd name="csY2" fmla="*/ 0 h 885600"/>
                <a:gd name="csX3" fmla="*/ 10131722 w 10131722"/>
                <a:gd name="csY3" fmla="*/ 147603 h 885600"/>
                <a:gd name="csX4" fmla="*/ 10131722 w 10131722"/>
                <a:gd name="csY4" fmla="*/ 737997 h 885600"/>
                <a:gd name="csX5" fmla="*/ 9984119 w 10131722"/>
                <a:gd name="csY5" fmla="*/ 885600 h 885600"/>
                <a:gd name="csX6" fmla="*/ 147603 w 10131722"/>
                <a:gd name="csY6" fmla="*/ 885600 h 885600"/>
                <a:gd name="csX7" fmla="*/ 0 w 10131722"/>
                <a:gd name="csY7" fmla="*/ 737997 h 885600"/>
                <a:gd name="csX8" fmla="*/ 0 w 10131722"/>
                <a:gd name="csY8" fmla="*/ 147603 h 885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131722" h="885600">
                  <a:moveTo>
                    <a:pt x="0" y="147603"/>
                  </a:moveTo>
                  <a:cubicBezTo>
                    <a:pt x="0" y="66084"/>
                    <a:pt x="66084" y="0"/>
                    <a:pt x="147603" y="0"/>
                  </a:cubicBezTo>
                  <a:lnTo>
                    <a:pt x="9984119" y="0"/>
                  </a:lnTo>
                  <a:cubicBezTo>
                    <a:pt x="10065638" y="0"/>
                    <a:pt x="10131722" y="66084"/>
                    <a:pt x="10131722" y="147603"/>
                  </a:cubicBezTo>
                  <a:lnTo>
                    <a:pt x="10131722" y="737997"/>
                  </a:lnTo>
                  <a:cubicBezTo>
                    <a:pt x="10131722" y="819516"/>
                    <a:pt x="10065638" y="885600"/>
                    <a:pt x="9984119" y="885600"/>
                  </a:cubicBezTo>
                  <a:lnTo>
                    <a:pt x="147603" y="885600"/>
                  </a:lnTo>
                  <a:cubicBezTo>
                    <a:pt x="66084" y="885600"/>
                    <a:pt x="0" y="819516"/>
                    <a:pt x="0" y="737997"/>
                  </a:cubicBezTo>
                  <a:lnTo>
                    <a:pt x="0" y="14760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186" tIns="43231" rIns="426186" bIns="43231" numCol="1" spcCol="1270" anchor="ctr" anchorCtr="0">
              <a:noAutofit/>
            </a:bodyPr>
            <a:lstStyle/>
            <a:p>
              <a:pPr marL="0" lvl="0" indent="0" algn="l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+mj-lt"/>
                <a:buNone/>
              </a:pPr>
              <a:r>
                <a:rPr lang="en-US" sz="3000" b="1" kern="1200"/>
                <a:t>Semantic gap</a:t>
              </a:r>
              <a:endParaRPr lang="en-NL" sz="3000" b="1" kern="120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A06E3F3-008D-879E-DFAB-DE65100E161D}"/>
                </a:ext>
              </a:extLst>
            </p:cNvPr>
            <p:cNvSpPr/>
            <p:nvPr/>
          </p:nvSpPr>
          <p:spPr>
            <a:xfrm>
              <a:off x="421057" y="20098167"/>
              <a:ext cx="14473889" cy="3496500"/>
            </a:xfrm>
            <a:custGeom>
              <a:avLst/>
              <a:gdLst>
                <a:gd name="csX0" fmla="*/ 0 w 14473889"/>
                <a:gd name="csY0" fmla="*/ 0 h 3496500"/>
                <a:gd name="csX1" fmla="*/ 14473889 w 14473889"/>
                <a:gd name="csY1" fmla="*/ 0 h 3496500"/>
                <a:gd name="csX2" fmla="*/ 14473889 w 14473889"/>
                <a:gd name="csY2" fmla="*/ 3496500 h 3496500"/>
                <a:gd name="csX3" fmla="*/ 0 w 14473889"/>
                <a:gd name="csY3" fmla="*/ 3496500 h 3496500"/>
                <a:gd name="csX4" fmla="*/ 0 w 14473889"/>
                <a:gd name="csY4" fmla="*/ 0 h 34965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473889" h="3496500">
                  <a:moveTo>
                    <a:pt x="0" y="0"/>
                  </a:moveTo>
                  <a:lnTo>
                    <a:pt x="14473889" y="0"/>
                  </a:lnTo>
                  <a:lnTo>
                    <a:pt x="14473889" y="3496500"/>
                  </a:lnTo>
                  <a:lnTo>
                    <a:pt x="0" y="34965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23335" tIns="624840" rIns="1123335" bIns="213360" numCol="1" spcCol="1270" anchor="t" anchorCtr="0">
              <a:noAutofit/>
            </a:bodyPr>
            <a:lstStyle/>
            <a:p>
              <a:pPr marL="285750" lvl="1" indent="-285750" algn="l" defTabSz="1333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US" sz="3000" b="0" kern="1200" dirty="0"/>
                <a:t>Interoperability still depends heavily on manual, case-by-case pairwise mappings</a:t>
              </a:r>
              <a:endParaRPr lang="en-NL" sz="3000" b="0" kern="1200" dirty="0"/>
            </a:p>
            <a:p>
              <a:pPr marL="285750" lvl="1" indent="-285750" algn="l" defTabSz="1333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US" sz="3000" b="0" kern="1200" dirty="0"/>
                <a:t>These mappings are difficult to scale, maintain, and revise as standards and local schemas evolve</a:t>
              </a:r>
              <a:endParaRPr lang="en-NL" sz="3000" b="0" kern="1200" dirty="0"/>
            </a:p>
            <a:p>
              <a:pPr marL="285750" lvl="1" indent="-285750" defTabSz="1333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US" sz="3000" dirty="0"/>
                <a:t>Meaning-level assumptions often remain implicit, incomplete, and hard to compare across artifacts</a:t>
              </a:r>
              <a:endParaRPr lang="en-NL" sz="3000" b="0" kern="120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596365F-2A46-6DE8-04C8-D5E431E3214C}"/>
                </a:ext>
              </a:extLst>
            </p:cNvPr>
            <p:cNvSpPr/>
            <p:nvPr/>
          </p:nvSpPr>
          <p:spPr>
            <a:xfrm>
              <a:off x="1144751" y="19655367"/>
              <a:ext cx="10131722" cy="885600"/>
            </a:xfrm>
            <a:custGeom>
              <a:avLst/>
              <a:gdLst>
                <a:gd name="csX0" fmla="*/ 0 w 10131722"/>
                <a:gd name="csY0" fmla="*/ 147603 h 885600"/>
                <a:gd name="csX1" fmla="*/ 147603 w 10131722"/>
                <a:gd name="csY1" fmla="*/ 0 h 885600"/>
                <a:gd name="csX2" fmla="*/ 9984119 w 10131722"/>
                <a:gd name="csY2" fmla="*/ 0 h 885600"/>
                <a:gd name="csX3" fmla="*/ 10131722 w 10131722"/>
                <a:gd name="csY3" fmla="*/ 147603 h 885600"/>
                <a:gd name="csX4" fmla="*/ 10131722 w 10131722"/>
                <a:gd name="csY4" fmla="*/ 737997 h 885600"/>
                <a:gd name="csX5" fmla="*/ 9984119 w 10131722"/>
                <a:gd name="csY5" fmla="*/ 885600 h 885600"/>
                <a:gd name="csX6" fmla="*/ 147603 w 10131722"/>
                <a:gd name="csY6" fmla="*/ 885600 h 885600"/>
                <a:gd name="csX7" fmla="*/ 0 w 10131722"/>
                <a:gd name="csY7" fmla="*/ 737997 h 885600"/>
                <a:gd name="csX8" fmla="*/ 0 w 10131722"/>
                <a:gd name="csY8" fmla="*/ 147603 h 885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131722" h="885600">
                  <a:moveTo>
                    <a:pt x="0" y="147603"/>
                  </a:moveTo>
                  <a:cubicBezTo>
                    <a:pt x="0" y="66084"/>
                    <a:pt x="66084" y="0"/>
                    <a:pt x="147603" y="0"/>
                  </a:cubicBezTo>
                  <a:lnTo>
                    <a:pt x="9984119" y="0"/>
                  </a:lnTo>
                  <a:cubicBezTo>
                    <a:pt x="10065638" y="0"/>
                    <a:pt x="10131722" y="66084"/>
                    <a:pt x="10131722" y="147603"/>
                  </a:cubicBezTo>
                  <a:lnTo>
                    <a:pt x="10131722" y="737997"/>
                  </a:lnTo>
                  <a:cubicBezTo>
                    <a:pt x="10131722" y="819516"/>
                    <a:pt x="10065638" y="885600"/>
                    <a:pt x="9984119" y="885600"/>
                  </a:cubicBezTo>
                  <a:lnTo>
                    <a:pt x="147603" y="885600"/>
                  </a:lnTo>
                  <a:cubicBezTo>
                    <a:pt x="66084" y="885600"/>
                    <a:pt x="0" y="819516"/>
                    <a:pt x="0" y="737997"/>
                  </a:cubicBezTo>
                  <a:lnTo>
                    <a:pt x="0" y="14760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186" tIns="43231" rIns="426186" bIns="43231" numCol="1" spcCol="1270" anchor="ctr" anchorCtr="0">
              <a:noAutofit/>
            </a:bodyPr>
            <a:lstStyle/>
            <a:p>
              <a:pPr marL="0" lvl="0" indent="0" algn="l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+mj-lt"/>
                <a:buNone/>
              </a:pPr>
              <a:r>
                <a:rPr lang="en-US" sz="3000" b="1" kern="1200" dirty="0"/>
                <a:t>Limits of current practice</a:t>
              </a:r>
              <a:endParaRPr lang="en-NL" sz="3000" b="1" kern="120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0AF8F9-5E7B-6927-428E-114AAB5E0C15}"/>
                </a:ext>
              </a:extLst>
            </p:cNvPr>
            <p:cNvSpPr/>
            <p:nvPr/>
          </p:nvSpPr>
          <p:spPr>
            <a:xfrm>
              <a:off x="421057" y="24199467"/>
              <a:ext cx="14473889" cy="3024000"/>
            </a:xfrm>
            <a:custGeom>
              <a:avLst/>
              <a:gdLst>
                <a:gd name="csX0" fmla="*/ 0 w 14473889"/>
                <a:gd name="csY0" fmla="*/ 0 h 3024000"/>
                <a:gd name="csX1" fmla="*/ 14473889 w 14473889"/>
                <a:gd name="csY1" fmla="*/ 0 h 3024000"/>
                <a:gd name="csX2" fmla="*/ 14473889 w 14473889"/>
                <a:gd name="csY2" fmla="*/ 3024000 h 3024000"/>
                <a:gd name="csX3" fmla="*/ 0 w 14473889"/>
                <a:gd name="csY3" fmla="*/ 3024000 h 3024000"/>
                <a:gd name="csX4" fmla="*/ 0 w 14473889"/>
                <a:gd name="csY4" fmla="*/ 0 h 3024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473889" h="3024000">
                  <a:moveTo>
                    <a:pt x="0" y="0"/>
                  </a:moveTo>
                  <a:lnTo>
                    <a:pt x="14473889" y="0"/>
                  </a:lnTo>
                  <a:lnTo>
                    <a:pt x="14473889" y="3024000"/>
                  </a:lnTo>
                  <a:lnTo>
                    <a:pt x="0" y="3024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23335" tIns="624840" rIns="1123335" bIns="213360" numCol="1" spcCol="1270" anchor="t" anchorCtr="0">
              <a:noAutofit/>
            </a:bodyPr>
            <a:lstStyle/>
            <a:p>
              <a:pPr marL="285750" lvl="1" indent="-285750" algn="l" defTabSz="1333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US" sz="3000" b="0" kern="1200" dirty="0"/>
                <a:t>A common semantic reference model is needed to make intended meaning explicit and traceable across artifacts</a:t>
              </a:r>
              <a:endParaRPr lang="en-NL" sz="3000" b="0" kern="1200" dirty="0"/>
            </a:p>
            <a:p>
              <a:pPr marL="285750" lvl="1" indent="-285750" algn="l" defTabSz="1333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US" sz="3000" b="0" kern="1200"/>
                <a:t>Standards and local schemas should connect to this shared reference through reusable mappings, rather than being repeatedly reconciled pairwise</a:t>
              </a:r>
              <a:endParaRPr lang="en-NL" sz="3000" b="0" kern="120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2FFC8B6-C3E4-B256-9920-0CEA9DBEFD63}"/>
                </a:ext>
              </a:extLst>
            </p:cNvPr>
            <p:cNvSpPr/>
            <p:nvPr/>
          </p:nvSpPr>
          <p:spPr>
            <a:xfrm>
              <a:off x="1144751" y="23756667"/>
              <a:ext cx="10131722" cy="885600"/>
            </a:xfrm>
            <a:custGeom>
              <a:avLst/>
              <a:gdLst>
                <a:gd name="csX0" fmla="*/ 0 w 10131722"/>
                <a:gd name="csY0" fmla="*/ 147603 h 885600"/>
                <a:gd name="csX1" fmla="*/ 147603 w 10131722"/>
                <a:gd name="csY1" fmla="*/ 0 h 885600"/>
                <a:gd name="csX2" fmla="*/ 9984119 w 10131722"/>
                <a:gd name="csY2" fmla="*/ 0 h 885600"/>
                <a:gd name="csX3" fmla="*/ 10131722 w 10131722"/>
                <a:gd name="csY3" fmla="*/ 147603 h 885600"/>
                <a:gd name="csX4" fmla="*/ 10131722 w 10131722"/>
                <a:gd name="csY4" fmla="*/ 737997 h 885600"/>
                <a:gd name="csX5" fmla="*/ 9984119 w 10131722"/>
                <a:gd name="csY5" fmla="*/ 885600 h 885600"/>
                <a:gd name="csX6" fmla="*/ 147603 w 10131722"/>
                <a:gd name="csY6" fmla="*/ 885600 h 885600"/>
                <a:gd name="csX7" fmla="*/ 0 w 10131722"/>
                <a:gd name="csY7" fmla="*/ 737997 h 885600"/>
                <a:gd name="csX8" fmla="*/ 0 w 10131722"/>
                <a:gd name="csY8" fmla="*/ 147603 h 885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131722" h="885600">
                  <a:moveTo>
                    <a:pt x="0" y="147603"/>
                  </a:moveTo>
                  <a:cubicBezTo>
                    <a:pt x="0" y="66084"/>
                    <a:pt x="66084" y="0"/>
                    <a:pt x="147603" y="0"/>
                  </a:cubicBezTo>
                  <a:lnTo>
                    <a:pt x="9984119" y="0"/>
                  </a:lnTo>
                  <a:cubicBezTo>
                    <a:pt x="10065638" y="0"/>
                    <a:pt x="10131722" y="66084"/>
                    <a:pt x="10131722" y="147603"/>
                  </a:cubicBezTo>
                  <a:lnTo>
                    <a:pt x="10131722" y="737997"/>
                  </a:lnTo>
                  <a:cubicBezTo>
                    <a:pt x="10131722" y="819516"/>
                    <a:pt x="10065638" y="885600"/>
                    <a:pt x="9984119" y="885600"/>
                  </a:cubicBezTo>
                  <a:lnTo>
                    <a:pt x="147603" y="885600"/>
                  </a:lnTo>
                  <a:cubicBezTo>
                    <a:pt x="66084" y="885600"/>
                    <a:pt x="0" y="819516"/>
                    <a:pt x="0" y="737997"/>
                  </a:cubicBezTo>
                  <a:lnTo>
                    <a:pt x="0" y="14760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186" tIns="43231" rIns="426186" bIns="43231" numCol="1" spcCol="1270" anchor="ctr" anchorCtr="0">
              <a:noAutofit/>
            </a:bodyPr>
            <a:lstStyle/>
            <a:p>
              <a:pPr marL="0" lvl="0" indent="0" algn="l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+mj-lt"/>
                <a:buNone/>
              </a:pPr>
              <a:r>
                <a:rPr lang="en-US" sz="3000" b="1" kern="1200" dirty="0"/>
                <a:t>What is needed</a:t>
              </a:r>
              <a:endParaRPr lang="en-NL" sz="3000" b="1" kern="120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FC66BB2-0304-18E6-C9F7-5AEB7B6220BF}"/>
                </a:ext>
              </a:extLst>
            </p:cNvPr>
            <p:cNvSpPr/>
            <p:nvPr/>
          </p:nvSpPr>
          <p:spPr>
            <a:xfrm>
              <a:off x="421057" y="27828267"/>
              <a:ext cx="14473889" cy="2598750"/>
            </a:xfrm>
            <a:custGeom>
              <a:avLst/>
              <a:gdLst>
                <a:gd name="csX0" fmla="*/ 0 w 14473889"/>
                <a:gd name="csY0" fmla="*/ 0 h 2598750"/>
                <a:gd name="csX1" fmla="*/ 14473889 w 14473889"/>
                <a:gd name="csY1" fmla="*/ 0 h 2598750"/>
                <a:gd name="csX2" fmla="*/ 14473889 w 14473889"/>
                <a:gd name="csY2" fmla="*/ 2598750 h 2598750"/>
                <a:gd name="csX3" fmla="*/ 0 w 14473889"/>
                <a:gd name="csY3" fmla="*/ 2598750 h 2598750"/>
                <a:gd name="csX4" fmla="*/ 0 w 14473889"/>
                <a:gd name="csY4" fmla="*/ 0 h 2598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473889" h="2598750">
                  <a:moveTo>
                    <a:pt x="0" y="0"/>
                  </a:moveTo>
                  <a:lnTo>
                    <a:pt x="14473889" y="0"/>
                  </a:lnTo>
                  <a:lnTo>
                    <a:pt x="14473889" y="2598750"/>
                  </a:lnTo>
                  <a:lnTo>
                    <a:pt x="0" y="25987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23335" tIns="624840" rIns="1123335" bIns="213360" numCol="1" spcCol="1270" anchor="t" anchorCtr="0">
              <a:noAutofit/>
            </a:bodyPr>
            <a:lstStyle/>
            <a:p>
              <a:pPr marL="285750" lvl="1" indent="-285750" defTabSz="1333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US" sz="3000" dirty="0"/>
                <a:t>Clearer semantic alignment can help reduce misinterpretation, mitigate false agreement, and support more trustworthy integration</a:t>
              </a:r>
              <a:endParaRPr lang="en-NL" sz="3000" b="0" kern="1200" dirty="0"/>
            </a:p>
            <a:p>
              <a:pPr marL="285750" lvl="1" indent="-285750" algn="l" defTabSz="1333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US" sz="3000" b="0" kern="1200"/>
                <a:t>It can improve </a:t>
              </a:r>
              <a:r>
                <a:rPr lang="en-US" sz="3000" b="0" kern="1200" dirty="0"/>
                <a:t>comparability, reuse, and FAIR-aligned interoperability across institutions and use cases</a:t>
              </a:r>
              <a:endParaRPr lang="en-NL" sz="3000" b="0" kern="120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899DF0D-E75B-CDF1-5D90-5A6C1FDF8335}"/>
                </a:ext>
              </a:extLst>
            </p:cNvPr>
            <p:cNvSpPr/>
            <p:nvPr/>
          </p:nvSpPr>
          <p:spPr>
            <a:xfrm>
              <a:off x="1144751" y="27385467"/>
              <a:ext cx="10131722" cy="885600"/>
            </a:xfrm>
            <a:custGeom>
              <a:avLst/>
              <a:gdLst>
                <a:gd name="csX0" fmla="*/ 0 w 10131722"/>
                <a:gd name="csY0" fmla="*/ 147603 h 885600"/>
                <a:gd name="csX1" fmla="*/ 147603 w 10131722"/>
                <a:gd name="csY1" fmla="*/ 0 h 885600"/>
                <a:gd name="csX2" fmla="*/ 9984119 w 10131722"/>
                <a:gd name="csY2" fmla="*/ 0 h 885600"/>
                <a:gd name="csX3" fmla="*/ 10131722 w 10131722"/>
                <a:gd name="csY3" fmla="*/ 147603 h 885600"/>
                <a:gd name="csX4" fmla="*/ 10131722 w 10131722"/>
                <a:gd name="csY4" fmla="*/ 737997 h 885600"/>
                <a:gd name="csX5" fmla="*/ 9984119 w 10131722"/>
                <a:gd name="csY5" fmla="*/ 885600 h 885600"/>
                <a:gd name="csX6" fmla="*/ 147603 w 10131722"/>
                <a:gd name="csY6" fmla="*/ 885600 h 885600"/>
                <a:gd name="csX7" fmla="*/ 0 w 10131722"/>
                <a:gd name="csY7" fmla="*/ 737997 h 885600"/>
                <a:gd name="csX8" fmla="*/ 0 w 10131722"/>
                <a:gd name="csY8" fmla="*/ 147603 h 885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131722" h="885600">
                  <a:moveTo>
                    <a:pt x="0" y="147603"/>
                  </a:moveTo>
                  <a:cubicBezTo>
                    <a:pt x="0" y="66084"/>
                    <a:pt x="66084" y="0"/>
                    <a:pt x="147603" y="0"/>
                  </a:cubicBezTo>
                  <a:lnTo>
                    <a:pt x="9984119" y="0"/>
                  </a:lnTo>
                  <a:cubicBezTo>
                    <a:pt x="10065638" y="0"/>
                    <a:pt x="10131722" y="66084"/>
                    <a:pt x="10131722" y="147603"/>
                  </a:cubicBezTo>
                  <a:lnTo>
                    <a:pt x="10131722" y="737997"/>
                  </a:lnTo>
                  <a:cubicBezTo>
                    <a:pt x="10131722" y="819516"/>
                    <a:pt x="10065638" y="885600"/>
                    <a:pt x="9984119" y="885600"/>
                  </a:cubicBezTo>
                  <a:lnTo>
                    <a:pt x="147603" y="885600"/>
                  </a:lnTo>
                  <a:cubicBezTo>
                    <a:pt x="66084" y="885600"/>
                    <a:pt x="0" y="819516"/>
                    <a:pt x="0" y="737997"/>
                  </a:cubicBezTo>
                  <a:lnTo>
                    <a:pt x="0" y="14760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26186" tIns="43231" rIns="426186" bIns="43231" numCol="1" spcCol="1270" anchor="ctr" anchorCtr="0">
              <a:noAutofit/>
            </a:bodyPr>
            <a:lstStyle/>
            <a:p>
              <a:pPr marL="0" lvl="0" indent="0" algn="l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+mj-lt"/>
                <a:buNone/>
              </a:pPr>
              <a:r>
                <a:rPr lang="en-US" sz="3000" b="1" kern="1200" dirty="0"/>
                <a:t>Why this matters</a:t>
              </a:r>
              <a:endParaRPr lang="en-NL" sz="3000" b="1" kern="1200" dirty="0"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9AB32C74-1D44-6204-EC02-27EB92EE02C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2209" y="33445625"/>
            <a:ext cx="3656190" cy="365619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0032951-E92B-D9F7-21A4-FD472DFF6A3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6124328" y="23560507"/>
            <a:ext cx="4317820" cy="396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84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206</TotalTime>
  <Words>610</Words>
  <Application>Microsoft Office PowerPoint</Application>
  <PresentationFormat>Custom</PresentationFormat>
  <Paragraphs>83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ＭＳ Ｐゴシック</vt:lpstr>
      <vt:lpstr>Aptos</vt:lpstr>
      <vt:lpstr>Aptos Display</vt:lpstr>
      <vt:lpstr>Arial</vt:lpstr>
      <vt:lpstr>Atkinson Hyperlegible Mono Extr</vt:lpstr>
      <vt:lpstr>Atkinson Hyperlegible Mono Semi</vt:lpstr>
      <vt:lpstr>Lato</vt:lpstr>
      <vt:lpstr>Neue Haas Grotesk Text Pro Blac</vt:lpstr>
      <vt:lpstr>Times New Roman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Paulo Favato Barcelos</dc:creator>
  <cp:lastModifiedBy>Pedro Paulo Favato Barcelos</cp:lastModifiedBy>
  <cp:revision>29</cp:revision>
  <dcterms:created xsi:type="dcterms:W3CDTF">2026-04-09T09:14:06Z</dcterms:created>
  <dcterms:modified xsi:type="dcterms:W3CDTF">2026-05-13T10:30:32Z</dcterms:modified>
</cp:coreProperties>
</file>